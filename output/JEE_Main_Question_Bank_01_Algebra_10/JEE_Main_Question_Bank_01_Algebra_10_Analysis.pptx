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Level</c:v>
                </c:pt>
              </c:strCache>
            </c:strRef>
          </c:tx>
          <c:dPt>
            <c:idx val="0"/>
            <c:spPr>
              <a:solidFill>
                <a:srgbClr val="FFD966"/>
              </a:solidFill>
              <a:ln w="9525">
                <a:solidFill>
                  <a:srgbClr val="111827"/>
                </a:solidFill>
              </a:ln>
            </c:spPr>
          </c:dPt>
          <c:dPt>
            <c:idx val="1"/>
            <c:spPr>
              <a:solidFill>
                <a:srgbClr val="FFD966"/>
              </a:solidFill>
              <a:ln w="9525">
                <a:solidFill>
                  <a:srgbClr val="111827"/>
                </a:solidFill>
              </a:ln>
            </c:spPr>
          </c:dPt>
          <c:dPt>
            <c:idx val="2"/>
            <c:spPr>
              <a:solidFill>
                <a:srgbClr val="FFD966"/>
              </a:solidFill>
              <a:ln w="9525">
                <a:solidFill>
                  <a:srgbClr val="111827"/>
                </a:solidFill>
              </a:ln>
            </c:spPr>
          </c:dPt>
          <c:dPt>
            <c:idx val="3"/>
            <c:spPr>
              <a:solidFill>
                <a:srgbClr val="B6D7A8"/>
              </a:solidFill>
              <a:ln w="9525">
                <a:solidFill>
                  <a:srgbClr val="111827"/>
                </a:solidFill>
              </a:ln>
            </c:spPr>
          </c:dPt>
          <c:dPt>
            <c:idx val="4"/>
            <c:spPr>
              <a:solidFill>
                <a:srgbClr val="FFD966"/>
              </a:solidFill>
              <a:ln w="9525">
                <a:solidFill>
                  <a:srgbClr val="111827"/>
                </a:solidFill>
              </a:ln>
            </c:spPr>
          </c:dPt>
          <c:dPt>
            <c:idx val="5"/>
            <c:spPr>
              <a:solidFill>
                <a:srgbClr val="B6D7A8"/>
              </a:solidFill>
              <a:ln w="9525">
                <a:solidFill>
                  <a:srgbClr val="111827"/>
                </a:solidFill>
              </a:ln>
            </c:spPr>
          </c:dPt>
          <c:dPt>
            <c:idx val="6"/>
            <c:spPr>
              <a:solidFill>
                <a:srgbClr val="FFD966"/>
              </a:solidFill>
              <a:ln w="9525">
                <a:solidFill>
                  <a:srgbClr val="111827"/>
                </a:solidFill>
              </a:ln>
            </c:spPr>
          </c:dPt>
          <c:dPt>
            <c:idx val="7"/>
            <c:spPr>
              <a:solidFill>
                <a:srgbClr val="FFD966"/>
              </a:solidFill>
              <a:ln w="9525">
                <a:solidFill>
                  <a:srgbClr val="111827"/>
                </a:solidFill>
              </a:ln>
            </c:spPr>
          </c:dPt>
          <c:dPt>
            <c:idx val="8"/>
            <c:spPr>
              <a:solidFill>
                <a:srgbClr val="FFD966"/>
              </a:solidFill>
              <a:ln w="9525">
                <a:solidFill>
                  <a:srgbClr val="111827"/>
                </a:solidFill>
              </a:ln>
            </c:spPr>
          </c:dPt>
          <c:dPt>
            <c:idx val="9"/>
            <c:spPr>
              <a:solidFill>
                <a:srgbClr val="B6D7A8"/>
              </a:solidFill>
              <a:ln w="9525">
                <a:solidFill>
                  <a:srgbClr val="111827"/>
                </a:solidFill>
              </a:ln>
            </c:spPr>
          </c:dPt>
          <c:dPt>
            <c:idx val="10"/>
            <c:spPr>
              <a:solidFill>
                <a:srgbClr val="FFD966"/>
              </a:solidFill>
              <a:ln w="9525">
                <a:solidFill>
                  <a:srgbClr val="111827"/>
                </a:solidFill>
              </a:ln>
            </c:spPr>
          </c:dPt>
          <c:dPt>
            <c:idx val="11"/>
            <c:spPr>
              <a:solidFill>
                <a:srgbClr val="B6D7A8"/>
              </a:solidFill>
              <a:ln w="9525">
                <a:solidFill>
                  <a:srgbClr val="111827"/>
                </a:solidFill>
              </a:ln>
            </c:spPr>
          </c:dPt>
          <c:dPt>
            <c:idx val="12"/>
            <c:spPr>
              <a:solidFill>
                <a:srgbClr val="B6D7A8"/>
              </a:solidFill>
              <a:ln w="9525">
                <a:solidFill>
                  <a:srgbClr val="111827"/>
                </a:solidFill>
              </a:ln>
            </c:spPr>
          </c:dPt>
          <c:dPt>
            <c:idx val="13"/>
            <c:spPr>
              <a:solidFill>
                <a:srgbClr val="FFD966"/>
              </a:solidFill>
              <a:ln w="9525">
                <a:solidFill>
                  <a:srgbClr val="111827"/>
                </a:solidFill>
              </a:ln>
            </c:spPr>
          </c:dPt>
          <c:dPt>
            <c:idx val="14"/>
            <c:spPr>
              <a:solidFill>
                <a:srgbClr val="FFD966"/>
              </a:solidFill>
              <a:ln w="9525">
                <a:solidFill>
                  <a:srgbClr val="111827"/>
                </a:solidFill>
              </a:ln>
            </c:spPr>
          </c:dPt>
          <c:dPt>
            <c:idx val="15"/>
            <c:spPr>
              <a:solidFill>
                <a:srgbClr val="B6D7A8"/>
              </a:solidFill>
              <a:ln w="9525">
                <a:solidFill>
                  <a:srgbClr val="111827"/>
                </a:solidFill>
              </a:ln>
            </c:spPr>
          </c:dPt>
          <c:dPt>
            <c:idx val="16"/>
            <c:spPr>
              <a:solidFill>
                <a:srgbClr val="B6D7A8"/>
              </a:solidFill>
              <a:ln w="9525">
                <a:solidFill>
                  <a:srgbClr val="111827"/>
                </a:solidFill>
              </a:ln>
            </c:spPr>
          </c:dPt>
          <c:dPt>
            <c:idx val="17"/>
            <c:spPr>
              <a:solidFill>
                <a:srgbClr val="FFD966"/>
              </a:solidFill>
              <a:ln w="9525">
                <a:solidFill>
                  <a:srgbClr val="111827"/>
                </a:solidFill>
              </a:ln>
            </c:spPr>
          </c:dPt>
          <c:dPt>
            <c:idx val="18"/>
            <c:spPr>
              <a:solidFill>
                <a:srgbClr val="FFD966"/>
              </a:solidFill>
              <a:ln w="9525">
                <a:solidFill>
                  <a:srgbClr val="111827"/>
                </a:solidFill>
              </a:ln>
            </c:spPr>
          </c:dPt>
          <c:dPt>
            <c:idx val="19"/>
            <c:spPr>
              <a:solidFill>
                <a:srgbClr val="B6D7A8"/>
              </a:solidFill>
              <a:ln w="9525">
                <a:solidFill>
                  <a:srgbClr val="111827"/>
                </a:solidFill>
              </a:ln>
            </c:spPr>
          </c:dPt>
          <c:cat>
            <c:strRef>
              <c:f>Sheet1!$A$2:$A$21</c:f>
              <c:strCache>
                <c:ptCount val="20"/>
                <c:pt idx="0">
                  <c:v>Q1</c:v>
                </c:pt>
                <c:pt idx="1">
                  <c:v>Q2</c:v>
                </c:pt>
                <c:pt idx="2">
                  <c:v>Q3</c:v>
                </c:pt>
                <c:pt idx="3">
                  <c:v>Q4</c:v>
                </c:pt>
                <c:pt idx="4">
                  <c:v>Q5</c:v>
                </c:pt>
                <c:pt idx="5">
                  <c:v>Q6</c:v>
                </c:pt>
                <c:pt idx="6">
                  <c:v>Q7</c:v>
                </c:pt>
                <c:pt idx="7">
                  <c:v>Q8</c:v>
                </c:pt>
                <c:pt idx="8">
                  <c:v>Q9</c:v>
                </c:pt>
                <c:pt idx="9">
                  <c:v>Q10</c:v>
                </c:pt>
                <c:pt idx="10">
                  <c:v>Q11</c:v>
                </c:pt>
                <c:pt idx="11">
                  <c:v>Q12</c:v>
                </c:pt>
                <c:pt idx="12">
                  <c:v>Q13</c:v>
                </c:pt>
                <c:pt idx="13">
                  <c:v>Q14</c:v>
                </c:pt>
                <c:pt idx="14">
                  <c:v>Q15</c:v>
                </c:pt>
                <c:pt idx="15">
                  <c:v>Q16</c:v>
                </c:pt>
                <c:pt idx="16">
                  <c:v>Q17</c:v>
                </c:pt>
                <c:pt idx="17">
                  <c:v>Q18</c:v>
                </c:pt>
                <c:pt idx="18">
                  <c:v>Q19</c:v>
                </c:pt>
                <c:pt idx="19">
                  <c:v>Q20</c:v>
                </c:pt>
              </c:strCache>
            </c:strRef>
          </c:cat>
          <c:val>
            <c:numRef>
              <c:f>Sheet1!$B$2:$B$21</c:f>
              <c:numCache>
                <c:formatCode>General</c:formatCode>
                <c:ptCount val="20"/>
                <c:pt idx="0">
                  <c:v>2.0</c:v>
                </c:pt>
                <c:pt idx="1">
                  <c:v>2.0</c:v>
                </c:pt>
                <c:pt idx="2">
                  <c:v>2.0</c:v>
                </c:pt>
                <c:pt idx="3">
                  <c:v>1.0</c:v>
                </c:pt>
                <c:pt idx="4">
                  <c:v>2.0</c:v>
                </c:pt>
                <c:pt idx="5">
                  <c:v>1.0</c:v>
                </c:pt>
                <c:pt idx="6">
                  <c:v>2.0</c:v>
                </c:pt>
                <c:pt idx="7">
                  <c:v>2.0</c:v>
                </c:pt>
                <c:pt idx="8">
                  <c:v>2.0</c:v>
                </c:pt>
                <c:pt idx="9">
                  <c:v>1.0</c:v>
                </c:pt>
                <c:pt idx="10">
                  <c:v>2.0</c:v>
                </c:pt>
                <c:pt idx="11">
                  <c:v>1.0</c:v>
                </c:pt>
                <c:pt idx="12">
                  <c:v>1.0</c:v>
                </c:pt>
                <c:pt idx="13">
                  <c:v>2.0</c:v>
                </c:pt>
                <c:pt idx="14">
                  <c:v>2.0</c:v>
                </c:pt>
                <c:pt idx="15">
                  <c:v>1.0</c:v>
                </c:pt>
                <c:pt idx="16">
                  <c:v>1.0</c:v>
                </c:pt>
                <c:pt idx="17">
                  <c:v>2.0</c:v>
                </c:pt>
                <c:pt idx="18">
                  <c:v>2.0</c:v>
                </c:pt>
                <c:pt idx="19">
                  <c:v>1.0</c:v>
                </c:pt>
              </c:numCache>
            </c:numRef>
          </c:val>
        </c:ser>
        <c:dLbls>
          <c:numFmt formatCode="0.0#" sourceLinked="0"/>
          <c:txPr>
            <a:bodyPr/>
            <a:lstStyle/>
            <a:p>
              <a:pPr>
                <a:defRPr sz="2000" b="1">
                  <a:solidFill>
                    <a:srgbClr val="111827"/>
                  </a:solidFill>
                  <a:latin typeface="Arial"/>
                </a:defRPr>
              </a:pPr>
            </a:p>
          </c:txPr>
          <c:dLblPos val="outEnd"/>
          <c:showLegendKey val="0"/>
          <c:showVal val="1"/>
          <c:showCatName val="0"/>
          <c:showSerName val="0"/>
          <c:showPercent val="0"/>
          <c:showBubbleSize val="0"/>
          <c:showLeaderLines val="1"/>
        </c:dLbls>
        <c:gapWidth val="40"/>
        <c:axId val="-2068027336"/>
        <c:axId val="-2113994440"/>
      </c:barChart>
      <c:catAx>
        <c:axId val="-2068027336"/>
        <c:scaling>
          <c:orientation val="minMax"/>
        </c:scaling>
        <c:delete val="0"/>
        <c:axPos val="b"/>
        <c:majorTickMark val="out"/>
        <c:minorTickMark val="none"/>
        <c:tickLblPos val="nextTo"/>
        <c:txPr>
          <a:bodyPr/>
          <a:lstStyle/>
          <a:p>
            <a:pPr>
              <a:defRPr sz="2000" b="1">
                <a:latin typeface="Arial"/>
              </a:defRPr>
            </a:pPr>
          </a:p>
        </c:txPr>
        <c:crossAx val="-2113994440"/>
        <c:crosses val="autoZero"/>
        <c:auto val="1"/>
        <c:lblAlgn val="ctr"/>
        <c:lblOffset val="100"/>
        <c:noMultiLvlLbl val="0"/>
      </c:catAx>
      <c:valAx>
        <c:axId val="-2113994440"/>
        <c:scaling>
          <c:max val="5.5"/>
          <c:min val="0.0"/>
        </c:scaling>
        <c:delete val="0"/>
        <c:axPos val="l"/>
        <c:majorGridlines>
          <c:spPr>
            <a:ln>
              <a:solidFill>
                <a:srgbClr val="D1D5DB"/>
              </a:solidFill>
            </a:ln>
          </c:spPr>
        </c:majorGridlines>
        <c:title>
          <c:tx>
            <c:rich>
              <a:bodyPr/>
              <a:lstStyle/>
              <a:p>
                <a:r>
                  <a:rPr sz="2000"/>
                  <a:t>Level</a:t>
                </a:r>
              </a:p>
            </c:rich>
          </c:tx>
          <c:layout/>
          <c:overlay val="0"/>
        </c:title>
        <c:majorTickMark val="out"/>
        <c:minorTickMark val="none"/>
        <c:tickLblPos val="nextTo"/>
        <c:txPr>
          <a:bodyPr/>
          <a:lstStyle/>
          <a:p>
            <a:pPr>
              <a:defRPr sz="2000">
                <a:latin typeface="Arial"/>
              </a:defRPr>
            </a:pPr>
          </a:p>
        </c:txPr>
        <c:crossAx val="-2068027336"/>
        <c:crosses val="autoZero"/>
        <c:majorUnit val="1.0"/>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The PDF writes the total as $^{15+3-1}C_3=136$. $^{17}C_3=680$; the correct form is $^{17}C_{3-1}=^{17}C_2=136$ (the value 136 is right). The PDF also uses the letters $t$ and $r$ for $x$ in the line $z=15-2t$, $r\in\{0..7\}-\{5\}$; unified to $x$. Answer 114 unchanged.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Case II is $^5C_2\times{}^2C_1\times\frac{6!}{4!2!}=10\times2\times15=300$ (the PDF shows 300 there), but the PDF's final line adds $5+75+200+900$, which is $1180$. The correct total uses 300: $5+300+200+900=1405$. Answer 1405 unchanged.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a:lstStyle>
            <a:lvl1pPr>
              <a:defRPr sz="4000">
                <a:solidFill>
                  <a:srgbClr val="FFFFFF"/>
                </a:solidFill>
              </a:defRPr>
            </a:lvl1pPr>
          </a:lstStyle>
          <a:p>
            <a:pPr algn="ctr">
              <a:defRPr sz="4000">
                <a:solidFill>
                  <a:srgbClr val="FFFFFF"/>
                </a:solidFill>
              </a:defRPr>
            </a:pPr>
            <a:r>
              <a:rPr sz="4000" b="1">
                <a:solidFill>
                  <a:srgbClr val="FFFFFF"/>
                </a:solidFill>
                <a:latin typeface="Arial"/>
              </a:rPr>
              <a:t>JEE Main Question Bank 01 Algebra 10 — Paper Analysis</a:t>
            </a:r>
            <a:endParaRPr sz="4000">
              <a:solidFill>
                <a:srgbClr val="FFFFFF"/>
              </a:solidFill>
            </a:endParaRPr>
          </a:p>
          <a:p>
            <a:pPr algn="ctr"/>
            <a:r>
              <a:rPr sz="2200">
                <a:solidFill>
                  <a:srgbClr val="FFFFFF"/>
                </a:solidFill>
                <a:latin typeface="Arial"/>
              </a:rPr>
              <a:t>Permutations, Combinations and Probability · detailed solutions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2895" cy="4114800"/>
          </a:xfrm>
          <a:prstGeom prst="rect">
            <a:avLst/>
          </a:prstGeom>
          <a:noFill/>
        </p:spPr>
        <p:txBody>
          <a:bodyPr wrap="square">
            <a:spAutoFit/>
          </a:bodyPr>
          <a:lstStyle>
            <a:lvl1pPr>
              <a:defRPr sz="2800">
                <a:solidFill>
                  <a:srgbClr val="FFFFFF"/>
                </a:solidFill>
              </a:defRPr>
            </a:lvl1pPr>
          </a:lstStyle>
          <a:p>
            <a:pPr algn="ctr">
              <a:spcAft>
                <a:spcPts val="1000"/>
              </a:spcAft>
              <a:defRPr sz="2800">
                <a:solidFill>
                  <a:srgbClr val="FFFFFF"/>
                </a:solidFill>
              </a:defRPr>
            </a:pPr>
            <a:r>
              <a:rPr sz="2800" b="0">
                <a:solidFill>
                  <a:srgbClr val="93C5FD"/>
                </a:solidFill>
                <a:latin typeface="Arial"/>
              </a:rPr>
              <a:t>Section 1</a:t>
            </a:r>
            <a:endParaRPr sz="2800">
              <a:solidFill>
                <a:srgbClr val="FFFFFF"/>
              </a:solidFill>
            </a:endParaRPr>
          </a:p>
          <a:p>
            <a:pPr algn="ctr">
              <a:spcAft>
                <a:spcPts val="1000"/>
              </a:spcAft>
              <a:defRPr sz="2800">
                <a:solidFill>
                  <a:srgbClr val="FFFFFF"/>
                </a:solidFill>
              </a:defRPr>
            </a:pPr>
            <a:r>
              <a:rPr sz="4400" b="1">
                <a:solidFill>
                  <a:srgbClr val="FFFFFF"/>
                </a:solidFill>
                <a:latin typeface="Arial"/>
              </a:rPr>
              <a:t>Single Correct Type</a:t>
            </a:r>
            <a:endParaRPr sz="2800">
              <a:solidFill>
                <a:srgbClr val="FFFFFF"/>
              </a:solidFill>
            </a:endParaRPr>
          </a:p>
          <a:p>
            <a:pPr algn="ctr">
              <a:spcAft>
                <a:spcPts val="1000"/>
              </a:spcAft>
              <a:defRPr sz="2800">
                <a:solidFill>
                  <a:srgbClr val="FFFFFF"/>
                </a:solidFill>
              </a:defRPr>
            </a:pPr>
            <a:r>
              <a:rPr sz="3200" b="1">
                <a:solidFill>
                  <a:srgbClr val="FFFFFF"/>
                </a:solidFill>
                <a:latin typeface="Arial"/>
              </a:rPr>
              <a:t>Q01 – Q03</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4 marks each (assumed: no marks printed in the paper)</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JEE Advanced default for single-correct questions</a:t>
            </a:r>
            <a:endParaRPr sz="2800">
              <a:solidFill>
                <a:srgbClr val="FFFFFF"/>
              </a:solidFill>
            </a:endParaRP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07162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is the number of ways five different employees can sit into four indistinguishable offices where any office may have any number of persons including zero, then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53</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47</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51</m:t>
                    </m:r>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43</m:t>
                    </m:r>
                  </m:oMath>
                </a14:m>
                <a:endParaRPr sz="2400">
                  <a:solidFill>
                    <a:srgbClr val="111827"/>
                  </a:solidFill>
                </a:endParaRPr>
              </a:p>
            </p:txBody>
          </p:sp>
        </mc:Choice>
        <mc:Fallback>
          <p:sp>
            <p:nvSpPr>
              <p:cNvPr id="4" name="Rounded Rectangle 3"/>
              <p:cNvSpPr/>
              <p:nvPr/>
            </p:nvSpPr>
            <p:spPr>
              <a:xfrm>
                <a:off x="731520" y="1280160"/>
                <a:ext cx="10725912" cy="207162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$n$</a:t>
                </a:r>
                <a:r>
                  <a:rPr sz="2400" b="0">
                    <a:solidFill>
                      <a:srgbClr val="111827"/>
                    </a:solidFill>
                    <a:latin typeface="Arial"/>
                  </a:rPr>
                  <a:t> is the number of ways five different employees can sit into four indistinguishable offices where any office may have any number of persons including zero, then </a:t>
                </a:r>
                <a:r>
                  <a:rPr lang="en-IN" sz="2400">
                    <a:solidFill>
                      <a:srgbClr val="111827"/>
                    </a:solidFill>
                    <a:latin typeface="Cambria Math" panose="02040503050406030204" pitchFamily="18" charset="0"/>
                  </a:rPr>
                  <a:t>$n$</a:t>
                </a:r>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$53$</a:t>
                </a:r>
                <a:r>
                  <a:rPr sz="2400" b="0">
                    <a:solidFill>
                      <a:srgbClr val="111827"/>
                    </a:solidFill>
                    <a:latin typeface="Arial"/>
                  </a:rPr>
                  <a:t>   (B) </a:t>
                </a:r>
                <a:r>
                  <a:rPr lang="en-IN" sz="2400">
                    <a:solidFill>
                      <a:srgbClr val="111827"/>
                    </a:solidFill>
                    <a:latin typeface="Cambria Math" panose="02040503050406030204" pitchFamily="18" charset="0"/>
                  </a:rPr>
                  <a:t>$47$</a:t>
                </a:r>
                <a:r>
                  <a:rPr sz="2400" b="0">
                    <a:solidFill>
                      <a:srgbClr val="111827"/>
                    </a:solidFill>
                    <a:latin typeface="Arial"/>
                  </a:rPr>
                  <a:t>   (C) </a:t>
                </a:r>
                <a:r>
                  <a:rPr lang="en-IN" sz="2400">
                    <a:solidFill>
                      <a:srgbClr val="111827"/>
                    </a:solidFill>
                    <a:latin typeface="Cambria Math" panose="02040503050406030204" pitchFamily="18" charset="0"/>
                  </a:rPr>
                  <a:t>$51$</a:t>
                </a:r>
                <a:r>
                  <a:rPr sz="2400" b="0">
                    <a:solidFill>
                      <a:srgbClr val="111827"/>
                    </a:solidFill>
                    <a:latin typeface="Arial"/>
                  </a:rPr>
                  <a:t>   (D) </a:t>
                </a:r>
                <a:r>
                  <a:rPr lang="en-IN" sz="2400">
                    <a:solidFill>
                      <a:srgbClr val="111827"/>
                    </a:solidFill>
                    <a:latin typeface="Cambria Math" panose="02040503050406030204" pitchFamily="18" charset="0"/>
                  </a:rPr>
                  <a:t>$43$</a:t>
                </a:r>
                <a:endParaRPr sz="2400">
                  <a:solidFill>
                    <a:srgbClr val="111827"/>
                  </a:solidFill>
                </a:endParaRPr>
              </a:p>
            </p:txBody>
          </p:sp>
        </mc:Fallback>
      </mc:AlternateContent>
      <p:sp>
        <p:nvSpPr>
          <p:cNvPr id="5" name="Rectangle 4"/>
          <p:cNvSpPr/>
          <p:nvPr/>
        </p:nvSpPr>
        <p:spPr>
          <a:xfrm>
            <a:off x="731520" y="3580383"/>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Distribution of distinct objects into identical boxes (set partitions)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Identical offices means only the grouping matters: count partitions of the 5 people by block sizes (at most 4 blocks).</a:t>
            </a:r>
            <a:endParaRPr sz="24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Offices are indistinguishable, so only the sizes of the groups matter: list the ways to split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into at most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parts.</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all five in one office,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way.</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ways.</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ways.</a:t>
                </a:r>
                <a:endParaRPr sz="2400">
                  <a:solidFill>
                    <a:srgbClr val="111827"/>
                  </a:solidFill>
                </a:endParaRPr>
              </a:p>
            </p:txBody>
          </p:sp>
        </mc:Choice>
        <mc:Fallback>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Offices are indistinguishable, so only the sizes of the groups matter: list the ways to split </a:t>
                </a:r>
                <a:r>
                  <a:rPr lang="en-IN" sz="2400">
                    <a:solidFill>
                      <a:srgbClr val="111827"/>
                    </a:solidFill>
                    <a:latin typeface="Cambria Math" panose="02040503050406030204" pitchFamily="18" charset="0"/>
                  </a:rPr>
                  <a:t>$5$</a:t>
                </a:r>
                <a:r>
                  <a:rPr sz="2400" b="0">
                    <a:solidFill>
                      <a:srgbClr val="111827"/>
                    </a:solidFill>
                    <a:latin typeface="Arial"/>
                  </a:rPr>
                  <a:t> into at most </a:t>
                </a:r>
                <a:r>
                  <a:rPr lang="en-IN" sz="2400">
                    <a:solidFill>
                      <a:srgbClr val="111827"/>
                    </a:solidFill>
                    <a:latin typeface="Cambria Math" panose="02040503050406030204" pitchFamily="18" charset="0"/>
                  </a:rPr>
                  <a:t>$4$</a:t>
                </a:r>
                <a:r>
                  <a:rPr sz="2400" b="0">
                    <a:solidFill>
                      <a:srgbClr val="111827"/>
                    </a:solidFill>
                    <a:latin typeface="Arial"/>
                  </a:rPr>
                  <a:t> parts.</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$(5,0,0,0)$</a:t>
                </a:r>
                <a:r>
                  <a:rPr sz="2400" b="0">
                    <a:solidFill>
                      <a:srgbClr val="111827"/>
                    </a:solidFill>
                    <a:latin typeface="Arial"/>
                  </a:rPr>
                  <a:t>: all five in one office, </a:t>
                </a:r>
                <a:r>
                  <a:rPr lang="en-IN" sz="2400">
                    <a:solidFill>
                      <a:srgbClr val="111827"/>
                    </a:solidFill>
                    <a:latin typeface="Cambria Math" panose="02040503050406030204" pitchFamily="18" charset="0"/>
                  </a:rPr>
                  <a:t>$1$</a:t>
                </a:r>
                <a:r>
                  <a:rPr sz="2400" b="0">
                    <a:solidFill>
                      <a:srgbClr val="111827"/>
                    </a:solidFill>
                    <a:latin typeface="Arial"/>
                  </a:rPr>
                  <a:t> way.</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$(4,1,0,0)$</a:t>
                </a:r>
                <a:r>
                  <a:rPr sz="2400" b="0">
                    <a:solidFill>
                      <a:srgbClr val="111827"/>
                    </a:solidFill>
                    <a:latin typeface="Arial"/>
                  </a:rPr>
                  <a:t>: </a:t>
                </a:r>
                <a:r>
                  <a:rPr lang="en-IN" sz="2400">
                    <a:solidFill>
                      <a:srgbClr val="111827"/>
                    </a:solidFill>
                    <a:latin typeface="Cambria Math" panose="02040503050406030204" pitchFamily="18" charset="0"/>
                  </a:rPr>
                  <a:t>$\dfrac{5!}{4!}=5$</a:t>
                </a:r>
                <a:r>
                  <a:rPr sz="2400" b="0">
                    <a:solidFill>
                      <a:srgbClr val="111827"/>
                    </a:solidFill>
                    <a:latin typeface="Arial"/>
                  </a:rPr>
                  <a:t> ways.</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$(3,2,0,0)$</a:t>
                </a:r>
                <a:r>
                  <a:rPr sz="2400" b="0">
                    <a:solidFill>
                      <a:srgbClr val="111827"/>
                    </a:solidFill>
                    <a:latin typeface="Arial"/>
                  </a:rPr>
                  <a:t>: </a:t>
                </a:r>
                <a:r>
                  <a:rPr lang="en-IN" sz="2400">
                    <a:solidFill>
                      <a:srgbClr val="111827"/>
                    </a:solidFill>
                    <a:latin typeface="Cambria Math" panose="02040503050406030204" pitchFamily="18" charset="0"/>
                  </a:rPr>
                  <a:t>$\dfrac{5!}{3!\,2!}=10$</a:t>
                </a:r>
                <a:r>
                  <a:rPr sz="2400" b="0">
                    <a:solidFill>
                      <a:srgbClr val="111827"/>
                    </a:solidFill>
                    <a:latin typeface="Arial"/>
                  </a:rPr>
                  <a:t> ways.</a:t>
                </a:r>
                <a:endParaRPr sz="2400">
                  <a:solidFill>
                    <a:srgbClr val="111827"/>
                  </a:solidFill>
                </a:endParaRPr>
              </a:p>
            </p:txBody>
          </p:sp>
        </mc:Fallback>
      </mc:AlternateContent>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oMath>
                </a14:m>
                <a:r>
                  <a:rPr sz="2400" b="0">
                    <a:solidFill>
                      <a:srgbClr val="111827"/>
                    </a:solidFill>
                    <a:latin typeface="Arial"/>
                  </a:rPr>
                  <a:t> ways (the last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because the two groups of size 2 are interchangeable).</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m:t>
                            </m:r>
                          </m:sup>
                        </m:sSup>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ways (the three singletons are interchangeable).</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ways (the two singletons are interchangeable).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51</m:t>
                    </m:r>
                  </m:oMath>
                </a14:m>
                <a:r>
                  <a:rPr sz="2400" b="0">
                    <a:solidFill>
                      <a:srgbClr val="111827"/>
                    </a:solidFill>
                    <a:latin typeface="Arial"/>
                  </a:rPr>
                  <a:t>, option (C).</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$(2,2,1,0)$</a:t>
                </a:r>
                <a:r>
                  <a:rPr sz="2400" b="0">
                    <a:solidFill>
                      <a:srgbClr val="111827"/>
                    </a:solidFill>
                    <a:latin typeface="Arial"/>
                  </a:rPr>
                  <a:t>: </a:t>
                </a:r>
                <a:r>
                  <a:rPr lang="en-IN" sz="2400">
                    <a:solidFill>
                      <a:srgbClr val="111827"/>
                    </a:solidFill>
                    <a:latin typeface="Cambria Math" panose="02040503050406030204" pitchFamily="18" charset="0"/>
                  </a:rPr>
                  <a:t>$\dfrac{5!}{2!\,2!\,2!}=15$</a:t>
                </a:r>
                <a:r>
                  <a:rPr sz="2400" b="0">
                    <a:solidFill>
                      <a:srgbClr val="111827"/>
                    </a:solidFill>
                    <a:latin typeface="Arial"/>
                  </a:rPr>
                  <a:t> ways (the last </a:t>
                </a:r>
                <a:r>
                  <a:rPr lang="en-IN" sz="2400">
                    <a:solidFill>
                      <a:srgbClr val="111827"/>
                    </a:solidFill>
                    <a:latin typeface="Cambria Math" panose="02040503050406030204" pitchFamily="18" charset="0"/>
                  </a:rPr>
                  <a:t>$2!$</a:t>
                </a:r>
                <a:r>
                  <a:rPr sz="2400" b="0">
                    <a:solidFill>
                      <a:srgbClr val="111827"/>
                    </a:solidFill>
                    <a:latin typeface="Arial"/>
                  </a:rPr>
                  <a:t> because the two groups of size 2 are interchangeable).</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$(2,1,1,1)$</a:t>
                </a:r>
                <a:r>
                  <a:rPr sz="2400" b="0">
                    <a:solidFill>
                      <a:srgbClr val="111827"/>
                    </a:solidFill>
                    <a:latin typeface="Arial"/>
                  </a:rPr>
                  <a:t>: </a:t>
                </a:r>
                <a:r>
                  <a:rPr lang="en-IN" sz="2400">
                    <a:solidFill>
                      <a:srgbClr val="111827"/>
                    </a:solidFill>
                    <a:latin typeface="Cambria Math" panose="02040503050406030204" pitchFamily="18" charset="0"/>
                  </a:rPr>
                  <a:t>$\dfrac{5!}{2!\,(1!)^3\,3!}=10$</a:t>
                </a:r>
                <a:r>
                  <a:rPr sz="2400" b="0">
                    <a:solidFill>
                      <a:srgbClr val="111827"/>
                    </a:solidFill>
                    <a:latin typeface="Arial"/>
                  </a:rPr>
                  <a:t> ways (the three singletons are interchangeable).</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$(3,1,1,0)$</a:t>
                </a:r>
                <a:r>
                  <a:rPr sz="2400" b="0">
                    <a:solidFill>
                      <a:srgbClr val="111827"/>
                    </a:solidFill>
                    <a:latin typeface="Arial"/>
                  </a:rPr>
                  <a:t>: </a:t>
                </a:r>
                <a:r>
                  <a:rPr lang="en-IN" sz="2400">
                    <a:solidFill>
                      <a:srgbClr val="111827"/>
                    </a:solidFill>
                    <a:latin typeface="Cambria Math" panose="02040503050406030204" pitchFamily="18" charset="0"/>
                  </a:rPr>
                  <a:t>$\dfrac{5!}{3!\,2!}=10$</a:t>
                </a:r>
                <a:r>
                  <a:rPr sz="2400" b="0">
                    <a:solidFill>
                      <a:srgbClr val="111827"/>
                    </a:solidFill>
                    <a:latin typeface="Arial"/>
                  </a:rPr>
                  <a:t> ways (the two singletons are interchangeable).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r>
                  <a:rPr lang="en-IN" sz="2400">
                    <a:solidFill>
                      <a:srgbClr val="111827"/>
                    </a:solidFill>
                    <a:latin typeface="Cambria Math" panose="02040503050406030204" pitchFamily="18" charset="0"/>
                  </a:rPr>
                  <a:t>$=1+5+10+15+10+10=51$</a:t>
                </a:r>
                <a:r>
                  <a:rPr sz="2400" b="0">
                    <a:solidFill>
                      <a:srgbClr val="111827"/>
                    </a:solidFill>
                    <a:latin typeface="Arial"/>
                  </a:rPr>
                  <a:t>, option (C).</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a:t>
                </a:r>
                <a14:m>
                  <m:oMath xmlns:m="http://schemas.openxmlformats.org/officeDocument/2006/math">
                    <m:r>
                      <a:rPr lang="en-IN" sz="2800" i="1">
                        <a:solidFill>
                          <a:srgbClr val="15803D"/>
                        </a:solidFill>
                        <a:latin typeface="Cambria Math" panose="02040503050406030204" pitchFamily="18" charset="0"/>
                      </a:rPr>
                      <m:t>51</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a:t>
                </a:r>
                <a:r>
                  <a:rPr lang="en-IN" sz="2800">
                    <a:solidFill>
                      <a:srgbClr val="15803D"/>
                    </a:solidFill>
                    <a:latin typeface="Cambria Math" panose="02040503050406030204" pitchFamily="18" charset="0"/>
                  </a:rPr>
                  <a:t>$51$</a:t>
                </a:r>
                <a:endParaRPr sz="2800">
                  <a:solidFill>
                    <a:srgbClr val="15803D"/>
                  </a:solidFill>
                </a:endParaRPr>
              </a:p>
            </p:txBody>
          </p:sp>
        </mc:Fallback>
      </mc:AlternateContent>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The count is the Bell number </a:t>
                </a:r>
                <a14:m>
                  <m:oMath xmlns:m="http://schemas.openxmlformats.org/officeDocument/2006/math">
                    <m:sSub>
                      <m:e>
                        <m:r>
                          <a:rPr lang="en-IN" sz="2400" i="1">
                            <a:solidFill>
                              <a:srgbClr val="78350F"/>
                            </a:solidFill>
                            <a:latin typeface="Cambria Math" panose="02040503050406030204" pitchFamily="18" charset="0"/>
                          </a:rPr>
                          <m:t>𝐵</m:t>
                        </m:r>
                      </m:e>
                      <m:sub>
                        <m:r>
                          <a:rPr lang="en-IN" sz="2400" i="1">
                            <a:solidFill>
                              <a:srgbClr val="78350F"/>
                            </a:solidFill>
                            <a:latin typeface="Cambria Math" panose="02040503050406030204" pitchFamily="18" charset="0"/>
                          </a:rPr>
                          <m:t>5</m:t>
                        </m:r>
                      </m:sub>
                    </m:sSub>
                  </m:oMath>
                </a14:m>
                <a:r>
                  <a:rPr sz="2400" b="0">
                    <a:solidFill>
                      <a:srgbClr val="78350F"/>
                    </a:solidFill>
                    <a:latin typeface="Arial"/>
                  </a:rPr>
                  <a:t> with the one partition into five singletons removed (it needs 5 offices).</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The count is the Bell number </a:t>
                </a:r>
                <a:r>
                  <a:rPr lang="en-IN" sz="2400">
                    <a:solidFill>
                      <a:srgbClr val="78350F"/>
                    </a:solidFill>
                    <a:latin typeface="Cambria Math" panose="02040503050406030204" pitchFamily="18" charset="0"/>
                  </a:rPr>
                  <a:t>$B_5$</a:t>
                </a:r>
                <a:r>
                  <a:rPr sz="2400" b="0">
                    <a:solidFill>
                      <a:srgbClr val="78350F"/>
                    </a:solidFill>
                    <a:latin typeface="Arial"/>
                  </a:rPr>
                  <a:t> with the one partition into five singletons removed (it needs 5 offices).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Every way of seating into indistinguishable offices is a set partition of the 5 employees into non-empty groups; empty offices are just unused.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Four offices allow at most 4 groups, so the answer is </a:t>
                </a: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with Stirling numbers of the second kind.</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(from </a:t>
                </a: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Every way of seating into indistinguishable offices is a set partition of the 5 employees into non-empty groups; empty offices are just unused.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Four offices allow at most 4 groups, so the answer is </a:t>
                </a:r>
                <a:r>
                  <a:rPr lang="en-IN" sz="2400">
                    <a:solidFill>
                      <a:srgbClr val="111827"/>
                    </a:solidFill>
                    <a:latin typeface="Cambria Math" panose="02040503050406030204" pitchFamily="18" charset="0"/>
                  </a:rPr>
                  <a:t>$S(5,1)+S(5,2)+S(5,3)+S(5,4)$</a:t>
                </a:r>
                <a:r>
                  <a:rPr sz="2400" b="0">
                    <a:solidFill>
                      <a:srgbClr val="111827"/>
                    </a:solidFill>
                    <a:latin typeface="Arial"/>
                  </a:rPr>
                  <a:t> with Stirling numbers of the second kind.</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$S(5,1)=1,\ S(5,2)=15,\ S(5,3)=25,\ S(5,4)=10$</a:t>
                </a:r>
                <a:r>
                  <a:rPr sz="2400" b="0">
                    <a:solidFill>
                      <a:srgbClr val="111827"/>
                    </a:solidFill>
                    <a:latin typeface="Arial"/>
                  </a:rPr>
                  <a:t> (from </a:t>
                </a:r>
                <a:r>
                  <a:rPr lang="en-IN" sz="2400">
                    <a:solidFill>
                      <a:srgbClr val="111827"/>
                    </a:solidFill>
                    <a:latin typeface="Cambria Math" panose="02040503050406030204" pitchFamily="18" charset="0"/>
                  </a:rPr>
                  <a:t>$S(n,k)=kS(n-1,k)+S(n-1,k-1)$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sum of all </a:t>
                </a: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is </a:t>
                </a:r>
                <a14:m>
                  <m:oMath xmlns:m="http://schemas.openxmlformats.org/officeDocument/2006/math">
                    <m:sSub>
                      <m:e>
                        <m:r>
                          <a:rPr lang="en-IN" sz="2400" i="1">
                            <a:solidFill>
                              <a:srgbClr val="111827"/>
                            </a:solidFill>
                            <a:latin typeface="Cambria Math" panose="02040503050406030204" pitchFamily="18" charset="0"/>
                          </a:rPr>
                          <m:t>𝐵</m:t>
                        </m:r>
                      </m:e>
                      <m:sub>
                        <m:r>
                          <a:rPr lang="en-IN" sz="2400" i="1">
                            <a:solidFill>
                              <a:srgbClr val="111827"/>
                            </a:solidFill>
                            <a:latin typeface="Cambria Math" panose="02040503050406030204" pitchFamily="18" charset="0"/>
                          </a:rPr>
                          <m:t>5</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52</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is the only excluded one.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51</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sum of all </a:t>
                </a:r>
                <a:r>
                  <a:rPr lang="en-IN" sz="2400">
                    <a:solidFill>
                      <a:srgbClr val="111827"/>
                    </a:solidFill>
                    <a:latin typeface="Cambria Math" panose="02040503050406030204" pitchFamily="18" charset="0"/>
                  </a:rPr>
                  <a:t>$S(5,k)$</a:t>
                </a:r>
                <a:r>
                  <a:rPr sz="2400" b="0">
                    <a:solidFill>
                      <a:srgbClr val="111827"/>
                    </a:solidFill>
                    <a:latin typeface="Arial"/>
                  </a:rPr>
                  <a:t> for </a:t>
                </a:r>
                <a:r>
                  <a:rPr lang="en-IN" sz="2400">
                    <a:solidFill>
                      <a:srgbClr val="111827"/>
                    </a:solidFill>
                    <a:latin typeface="Cambria Math" panose="02040503050406030204" pitchFamily="18" charset="0"/>
                  </a:rPr>
                  <a:t>$k=1..5$</a:t>
                </a:r>
                <a:r>
                  <a:rPr sz="2400" b="0">
                    <a:solidFill>
                      <a:srgbClr val="111827"/>
                    </a:solidFill>
                    <a:latin typeface="Arial"/>
                  </a:rPr>
                  <a:t> is </a:t>
                </a:r>
                <a:r>
                  <a:rPr lang="en-IN" sz="2400">
                    <a:solidFill>
                      <a:srgbClr val="111827"/>
                    </a:solidFill>
                    <a:latin typeface="Cambria Math" panose="02040503050406030204" pitchFamily="18" charset="0"/>
                  </a:rPr>
                  <a:t>$B_5=52$</a:t>
                </a:r>
                <a:r>
                  <a:rPr sz="2400" b="0">
                    <a:solidFill>
                      <a:srgbClr val="111827"/>
                    </a:solidFill>
                    <a:latin typeface="Arial"/>
                  </a:rPr>
                  <a:t>, and </a:t>
                </a:r>
                <a:r>
                  <a:rPr lang="en-IN" sz="2400">
                    <a:solidFill>
                      <a:srgbClr val="111827"/>
                    </a:solidFill>
                    <a:latin typeface="Cambria Math" panose="02040503050406030204" pitchFamily="18" charset="0"/>
                  </a:rPr>
                  <a:t>$S(5,5)=1$</a:t>
                </a:r>
                <a:r>
                  <a:rPr sz="2400" b="0">
                    <a:solidFill>
                      <a:srgbClr val="111827"/>
                    </a:solidFill>
                    <a:latin typeface="Arial"/>
                  </a:rPr>
                  <a:t> is the only excluded one.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$n=52-1=51$</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a:t>
                </a:r>
                <a14:m>
                  <m:oMath xmlns:m="http://schemas.openxmlformats.org/officeDocument/2006/math">
                    <m:r>
                      <a:rPr lang="en-IN" sz="2800" i="1">
                        <a:solidFill>
                          <a:srgbClr val="15803D"/>
                        </a:solidFill>
                        <a:latin typeface="Cambria Math" panose="02040503050406030204" pitchFamily="18" charset="0"/>
                      </a:rPr>
                      <m:t>51</m:t>
                    </m:r>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a:t>
                </a:r>
                <a:r>
                  <a:rPr lang="en-IN" sz="2800">
                    <a:solidFill>
                      <a:srgbClr val="15803D"/>
                    </a:solidFill>
                    <a:latin typeface="Cambria Math" panose="02040503050406030204" pitchFamily="18" charset="0"/>
                  </a:rPr>
                  <a:t>$51$</a:t>
                </a:r>
                <a:endParaRPr sz="2800">
                  <a:solidFill>
                    <a:srgbClr val="15803D"/>
                  </a:solidFill>
                </a:endParaRPr>
              </a:p>
            </p:txBody>
          </p:sp>
        </mc:Fallback>
      </mc:AlternateContent>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Indistinguishable boxes (empty allowed, </a:t>
                </a:r>
                <a14:m>
                  <m:oMath xmlns:m="http://schemas.openxmlformats.org/officeDocument/2006/math">
                    <m:r>
                      <a:rPr lang="en-IN" sz="2400" i="1">
                        <a:solidFill>
                          <a:srgbClr val="111827"/>
                        </a:solidFill>
                        <a:latin typeface="Cambria Math" panose="02040503050406030204" pitchFamily="18" charset="0"/>
                      </a:rPr>
                      <m:t>𝑟</m:t>
                    </m:r>
                  </m:oMath>
                </a14:m>
                <a:r>
                  <a:rPr sz="2400" b="0">
                    <a:solidFill>
                      <a:srgbClr val="111827"/>
                    </a:solidFill>
                    <a:latin typeface="Arial"/>
                  </a:rPr>
                  <a:t> boxes,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distinct objects): answer </a:t>
                </a:r>
                <a14:m>
                  <m:oMath xmlns:m="http://schemas.openxmlformats.org/officeDocument/2006/math">
                    <m:r>
                      <m:rPr>
                        <m:sty m:val="p"/>
                      </m:rPr>
                      <a:rPr lang="en-IN" sz="2400">
                        <a:solidFill>
                          <a:srgbClr val="111827"/>
                        </a:solidFill>
                        <a:latin typeface="Cambria Math" panose="02040503050406030204" pitchFamily="18" charset="0"/>
                      </a:rPr>
                      <m:t>=</m:t>
                    </m:r>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𝑟</m:t>
                        </m:r>
                      </m:sup>
                      <m:e>
                        <m:r>
                          <a:rPr lang="en-IN" sz="2400" i="1">
                            <a:solidFill>
                              <a:srgbClr val="111827"/>
                            </a:solidFill>
                            <a:latin typeface="Cambria Math" panose="02040503050406030204" pitchFamily="18" charset="0"/>
                          </a:rPr>
                          <m:t>𝑆</m:t>
                        </m:r>
                      </m:e>
                    </m:nary>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oMath>
                </a14:m>
                <a:r>
                  <a:rPr sz="2400" b="0">
                    <a:solidFill>
                      <a:srgbClr val="111827"/>
                    </a:solidFill>
                    <a:latin typeface="Arial"/>
                  </a:rPr>
                  <a:t> it is the Bell number </a:t>
                </a:r>
                <a14:m>
                  <m:oMath xmlns:m="http://schemas.openxmlformats.org/officeDocument/2006/math">
                    <m:sSub>
                      <m:e>
                        <m:r>
                          <a:rPr lang="en-IN" sz="2400" i="1">
                            <a:solidFill>
                              <a:srgbClr val="111827"/>
                            </a:solidFill>
                            <a:latin typeface="Cambria Math" panose="02040503050406030204" pitchFamily="18" charset="0"/>
                          </a:rPr>
                          <m:t>𝐵</m:t>
                        </m:r>
                      </m:e>
                      <m:sub>
                        <m:r>
                          <a:rPr lang="en-IN" sz="2400" i="1">
                            <a:solidFill>
                              <a:srgbClr val="111827"/>
                            </a:solidFill>
                            <a:latin typeface="Cambria Math" panose="02040503050406030204" pitchFamily="18" charset="0"/>
                          </a:rPr>
                          <m:t>𝑛</m:t>
                        </m:r>
                      </m:sub>
                    </m:sSub>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Bell numbers: </a:t>
                </a:r>
                <a14:m>
                  <m:oMath xmlns:m="http://schemas.openxmlformats.org/officeDocument/2006/math">
                    <m:sSub>
                      <m:e>
                        <m:r>
                          <a:rPr lang="en-IN" sz="2400" i="1">
                            <a:solidFill>
                              <a:srgbClr val="111827"/>
                            </a:solidFill>
                            <a:latin typeface="Cambria Math" panose="02040503050406030204" pitchFamily="18" charset="0"/>
                          </a:rPr>
                          <m:t>𝐵</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𝐵</m:t>
                        </m:r>
                      </m:e>
                      <m:sub>
                        <m:r>
                          <a:rPr lang="en-IN" sz="2400" i="1">
                            <a:solidFill>
                              <a:srgbClr val="111827"/>
                            </a:solidFill>
                            <a:latin typeface="Cambria Math" panose="02040503050406030204" pitchFamily="18" charset="0"/>
                          </a:rPr>
                          <m:t>6</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203</m:t>
                    </m:r>
                  </m:oMath>
                </a14:m>
                <a:r>
                  <a:rPr sz="2400" b="0">
                    <a:solidFill>
                      <a:srgbClr val="111827"/>
                    </a:solidFill>
                    <a:latin typeface="Arial"/>
                  </a:rPr>
                  <a:t>; Stirling row for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 block-size type, divide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by the product of the block factorials AND by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for each size repeated </a:t>
                </a:r>
                <a14:m>
                  <m:oMath xmlns:m="http://schemas.openxmlformats.org/officeDocument/2006/math">
                    <m:r>
                      <a:rPr lang="en-IN" sz="2400" i="1">
                        <a:solidFill>
                          <a:srgbClr val="111827"/>
                        </a:solidFill>
                        <a:latin typeface="Cambria Math" panose="02040503050406030204" pitchFamily="18" charset="0"/>
                      </a:rPr>
                      <m:t>𝑚</m:t>
                    </m:r>
                  </m:oMath>
                </a14:m>
                <a:r>
                  <a:rPr sz="2400" b="0">
                    <a:solidFill>
                      <a:srgbClr val="111827"/>
                    </a:solidFill>
                    <a:latin typeface="Arial"/>
                  </a:rPr>
                  <a:t> times.</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Indistinguishable boxes (empty allowed, </a:t>
                </a:r>
                <a:r>
                  <a:rPr lang="en-IN" sz="2400">
                    <a:solidFill>
                      <a:srgbClr val="111827"/>
                    </a:solidFill>
                    <a:latin typeface="Cambria Math" panose="02040503050406030204" pitchFamily="18" charset="0"/>
                  </a:rPr>
                  <a:t>$r$</a:t>
                </a:r>
                <a:r>
                  <a:rPr sz="2400" b="0">
                    <a:solidFill>
                      <a:srgbClr val="111827"/>
                    </a:solidFill>
                    <a:latin typeface="Arial"/>
                  </a:rPr>
                  <a:t> boxes, </a:t>
                </a:r>
                <a:r>
                  <a:rPr lang="en-IN" sz="2400">
                    <a:solidFill>
                      <a:srgbClr val="111827"/>
                    </a:solidFill>
                    <a:latin typeface="Cambria Math" panose="02040503050406030204" pitchFamily="18" charset="0"/>
                  </a:rPr>
                  <a:t>$n$</a:t>
                </a:r>
                <a:r>
                  <a:rPr sz="2400" b="0">
                    <a:solidFill>
                      <a:srgbClr val="111827"/>
                    </a:solidFill>
                    <a:latin typeface="Arial"/>
                  </a:rPr>
                  <a:t> distinct objects): answer </a:t>
                </a:r>
                <a:r>
                  <a:rPr lang="en-IN" sz="2400">
                    <a:solidFill>
                      <a:srgbClr val="111827"/>
                    </a:solidFill>
                    <a:latin typeface="Cambria Math" panose="02040503050406030204" pitchFamily="18" charset="0"/>
                  </a:rPr>
                  <a:t>$=\sum_{k=1}^{r}S(n,k)$</a:t>
                </a:r>
                <a:r>
                  <a:rPr sz="2400" b="0">
                    <a:solidFill>
                      <a:srgbClr val="111827"/>
                    </a:solidFill>
                    <a:latin typeface="Arial"/>
                  </a:rPr>
                  <a:t>; for </a:t>
                </a:r>
                <a:r>
                  <a:rPr lang="en-IN" sz="2400">
                    <a:solidFill>
                      <a:srgbClr val="111827"/>
                    </a:solidFill>
                    <a:latin typeface="Cambria Math" panose="02040503050406030204" pitchFamily="18" charset="0"/>
                  </a:rPr>
                  <a:t>$r\ge n$</a:t>
                </a:r>
                <a:r>
                  <a:rPr sz="2400" b="0">
                    <a:solidFill>
                      <a:srgbClr val="111827"/>
                    </a:solidFill>
                    <a:latin typeface="Arial"/>
                  </a:rPr>
                  <a:t> it is the Bell number </a:t>
                </a:r>
                <a:r>
                  <a:rPr lang="en-IN" sz="2400">
                    <a:solidFill>
                      <a:srgbClr val="111827"/>
                    </a:solidFill>
                    <a:latin typeface="Cambria Math" panose="02040503050406030204" pitchFamily="18" charset="0"/>
                  </a:rPr>
                  <a:t>$B_n$</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Bell numbers: </a:t>
                </a:r>
                <a:r>
                  <a:rPr lang="en-IN" sz="2400">
                    <a:solidFill>
                      <a:srgbClr val="111827"/>
                    </a:solidFill>
                    <a:latin typeface="Cambria Math" panose="02040503050406030204" pitchFamily="18" charset="0"/>
                  </a:rPr>
                  <a:t>$B_1..B_6=1,2,5,15,52,203$</a:t>
                </a:r>
                <a:r>
                  <a:rPr sz="2400" b="0">
                    <a:solidFill>
                      <a:srgbClr val="111827"/>
                    </a:solidFill>
                    <a:latin typeface="Arial"/>
                  </a:rPr>
                  <a:t>; Stirling row for </a:t>
                </a:r>
                <a:r>
                  <a:rPr lang="en-IN" sz="2400">
                    <a:solidFill>
                      <a:srgbClr val="111827"/>
                    </a:solidFill>
                    <a:latin typeface="Cambria Math" panose="02040503050406030204" pitchFamily="18" charset="0"/>
                  </a:rPr>
                  <a:t>$n=5$</a:t>
                </a:r>
                <a:r>
                  <a:rPr sz="2400" b="0">
                    <a:solidFill>
                      <a:srgbClr val="111827"/>
                    </a:solidFill>
                    <a:latin typeface="Arial"/>
                  </a:rPr>
                  <a:t>: </a:t>
                </a:r>
                <a:r>
                  <a:rPr lang="en-IN" sz="2400">
                    <a:solidFill>
                      <a:srgbClr val="111827"/>
                    </a:solidFill>
                    <a:latin typeface="Cambria Math" panose="02040503050406030204" pitchFamily="18" charset="0"/>
                  </a:rPr>
                  <a:t>$1,15,25,10,1$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 block-size type, divide </a:t>
                </a:r>
                <a:r>
                  <a:rPr lang="en-IN" sz="2400">
                    <a:solidFill>
                      <a:srgbClr val="111827"/>
                    </a:solidFill>
                    <a:latin typeface="Cambria Math" panose="02040503050406030204" pitchFamily="18" charset="0"/>
                  </a:rPr>
                  <a:t>$n!$</a:t>
                </a:r>
                <a:r>
                  <a:rPr sz="2400" b="0">
                    <a:solidFill>
                      <a:srgbClr val="111827"/>
                    </a:solidFill>
                    <a:latin typeface="Arial"/>
                  </a:rPr>
                  <a:t> by the product of the block factorials AND by </a:t>
                </a:r>
                <a:r>
                  <a:rPr lang="en-IN" sz="2400">
                    <a:solidFill>
                      <a:srgbClr val="111827"/>
                    </a:solidFill>
                    <a:latin typeface="Cambria Math" panose="02040503050406030204" pitchFamily="18" charset="0"/>
                  </a:rPr>
                  <a:t>$m!$</a:t>
                </a:r>
                <a:r>
                  <a:rPr sz="2400" b="0">
                    <a:solidFill>
                      <a:srgbClr val="111827"/>
                    </a:solidFill>
                    <a:latin typeface="Arial"/>
                  </a:rPr>
                  <a:t> for each size repeated </a:t>
                </a:r>
                <a:r>
                  <a:rPr lang="en-IN" sz="2400">
                    <a:solidFill>
                      <a:srgbClr val="111827"/>
                    </a:solidFill>
                    <a:latin typeface="Cambria Math" panose="02040503050406030204" pitchFamily="18" charset="0"/>
                  </a:rPr>
                  <a:t>$m$</a:t>
                </a:r>
                <a:r>
                  <a:rPr sz="2400" b="0">
                    <a:solidFill>
                      <a:srgbClr val="111827"/>
                    </a:solidFill>
                    <a:latin typeface="Arial"/>
                  </a:rPr>
                  <a:t> times.</a:t>
                </a:r>
                <a:endParaRPr sz="2400">
                  <a:solidFill>
                    <a:srgbClr val="111827"/>
                  </a:solidFill>
                </a:endParaRPr>
              </a:p>
            </p:txBody>
          </p:sp>
        </mc:Fallback>
      </mc:AlternateContent>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number of triplets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where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oMath>
                </a14:m>
                <a:r>
                  <a:rPr sz="2400" b="0">
                    <a:solidFill>
                      <a:srgbClr val="111827"/>
                    </a:solidFill>
                    <a:latin typeface="Arial"/>
                  </a:rPr>
                  <a:t> are distinct non negative integers satisfying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oMath>
                </a14:m>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136</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80</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114</m:t>
                    </m:r>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92</m:t>
                    </m:r>
                  </m:oMath>
                </a14:m>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number of triplets </a:t>
                </a:r>
                <a:r>
                  <a:rPr lang="en-IN" sz="2400">
                    <a:solidFill>
                      <a:srgbClr val="111827"/>
                    </a:solidFill>
                    <a:latin typeface="Cambria Math" panose="02040503050406030204" pitchFamily="18" charset="0"/>
                  </a:rPr>
                  <a:t>$(x, y, z)$</a:t>
                </a:r>
                <a:r>
                  <a:rPr sz="2400" b="0">
                    <a:solidFill>
                      <a:srgbClr val="111827"/>
                    </a:solidFill>
                    <a:latin typeface="Arial"/>
                  </a:rPr>
                  <a:t> where </a:t>
                </a:r>
                <a:r>
                  <a:rPr lang="en-IN" sz="2400">
                    <a:solidFill>
                      <a:srgbClr val="111827"/>
                    </a:solidFill>
                    <a:latin typeface="Cambria Math" panose="02040503050406030204" pitchFamily="18" charset="0"/>
                  </a:rPr>
                  <a:t>$x, y, z$</a:t>
                </a:r>
                <a:r>
                  <a:rPr sz="2400" b="0">
                    <a:solidFill>
                      <a:srgbClr val="111827"/>
                    </a:solidFill>
                    <a:latin typeface="Arial"/>
                  </a:rPr>
                  <a:t> are distinct non negative integers satisfying </a:t>
                </a:r>
                <a:r>
                  <a:rPr lang="en-IN" sz="2400">
                    <a:solidFill>
                      <a:srgbClr val="111827"/>
                    </a:solidFill>
                    <a:latin typeface="Cambria Math" panose="02040503050406030204" pitchFamily="18" charset="0"/>
                  </a:rPr>
                  <a:t>$x+y+z=15$</a:t>
                </a:r>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$136$</a:t>
                </a:r>
                <a:r>
                  <a:rPr sz="2400" b="0">
                    <a:solidFill>
                      <a:srgbClr val="111827"/>
                    </a:solidFill>
                    <a:latin typeface="Arial"/>
                  </a:rPr>
                  <a:t>   (B) </a:t>
                </a:r>
                <a:r>
                  <a:rPr lang="en-IN" sz="2400">
                    <a:solidFill>
                      <a:srgbClr val="111827"/>
                    </a:solidFill>
                    <a:latin typeface="Cambria Math" panose="02040503050406030204" pitchFamily="18" charset="0"/>
                  </a:rPr>
                  <a:t>$80$</a:t>
                </a:r>
                <a:r>
                  <a:rPr sz="2400" b="0">
                    <a:solidFill>
                      <a:srgbClr val="111827"/>
                    </a:solidFill>
                    <a:latin typeface="Arial"/>
                  </a:rPr>
                  <a:t>   (C) </a:t>
                </a:r>
                <a:r>
                  <a:rPr lang="en-IN" sz="2400">
                    <a:solidFill>
                      <a:srgbClr val="111827"/>
                    </a:solidFill>
                    <a:latin typeface="Cambria Math" panose="02040503050406030204" pitchFamily="18" charset="0"/>
                  </a:rPr>
                  <a:t>$114$</a:t>
                </a:r>
                <a:r>
                  <a:rPr sz="2400" b="0">
                    <a:solidFill>
                      <a:srgbClr val="111827"/>
                    </a:solidFill>
                    <a:latin typeface="Arial"/>
                  </a:rPr>
                  <a:t>   (D) </a:t>
                </a:r>
                <a:r>
                  <a:rPr lang="en-IN" sz="2400">
                    <a:solidFill>
                      <a:srgbClr val="111827"/>
                    </a:solidFill>
                    <a:latin typeface="Cambria Math" panose="02040503050406030204" pitchFamily="18" charset="0"/>
                  </a:rPr>
                  <a:t>$92$</a:t>
                </a:r>
                <a:endParaRPr sz="2400">
                  <a:solidFill>
                    <a:srgbClr val="111827"/>
                  </a:solidFill>
                </a:endParaRPr>
              </a:p>
            </p:txBody>
          </p:sp>
        </mc:Fallback>
      </mc:AlternateContent>
      <p:sp>
        <p:nvSpPr>
          <p:cNvPr id="5" name="Rectangle 4"/>
          <p:cNvSpPr/>
          <p:nvPr/>
        </p:nvSpPr>
        <p:spPr>
          <a:xfrm>
            <a:off x="731520" y="3246120"/>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Number of integral solutions of a linear equation (stars and bars)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Subtract from all non-negative solutions those with at least two equal entries.</a:t>
            </a:r>
            <a:endParaRPr sz="24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Total non-negative solutions of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17</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136</m:t>
                    </m:r>
                  </m:oMath>
                </a14:m>
                <a:r>
                  <a:rPr sz="2400" b="0">
                    <a:solidFill>
                      <a:srgbClr val="111827"/>
                    </a:solidFill>
                    <a:latin typeface="Arial"/>
                  </a:rPr>
                  <a:t> ... (1).</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Count solutions with exactly two equal: take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must be removed because it gives </a:t>
                </a:r>
                <a14:m>
                  <m:oMath xmlns:m="http://schemas.openxmlformats.org/officeDocument/2006/math">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Total non-negative solutions of </a:t>
                </a:r>
                <a:r>
                  <a:rPr lang="en-IN" sz="2400">
                    <a:solidFill>
                      <a:srgbClr val="111827"/>
                    </a:solidFill>
                    <a:latin typeface="Cambria Math" panose="02040503050406030204" pitchFamily="18" charset="0"/>
                  </a:rPr>
                  <a:t>$x+y+z=15$</a:t>
                </a:r>
                <a:r>
                  <a:rPr sz="2400" b="0">
                    <a:solidFill>
                      <a:srgbClr val="111827"/>
                    </a:solidFill>
                    <a:latin typeface="Arial"/>
                  </a:rPr>
                  <a:t>: </a:t>
                </a:r>
                <a:r>
                  <a:rPr lang="en-IN" sz="2400">
                    <a:solidFill>
                      <a:srgbClr val="111827"/>
                    </a:solidFill>
                    <a:latin typeface="Cambria Math" panose="02040503050406030204" pitchFamily="18" charset="0"/>
                  </a:rPr>
                  <a:t>$^{15+3-1}C_{3-1}={}^{17}C_{2}=136$</a:t>
                </a:r>
                <a:r>
                  <a:rPr sz="2400" b="0">
                    <a:solidFill>
                      <a:srgbClr val="111827"/>
                    </a:solidFill>
                    <a:latin typeface="Arial"/>
                  </a:rPr>
                  <a:t> ... (1).</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Count solutions with exactly two equal: take </a:t>
                </a:r>
                <a:r>
                  <a:rPr lang="en-IN" sz="2400">
                    <a:solidFill>
                      <a:srgbClr val="111827"/>
                    </a:solidFill>
                    <a:latin typeface="Cambria Math" panose="02040503050406030204" pitchFamily="18" charset="0"/>
                  </a:rPr>
                  <a:t>$x=y\ne z$</a:t>
                </a:r>
                <a:r>
                  <a:rPr sz="2400" b="0">
                    <a:solidFill>
                      <a:srgbClr val="111827"/>
                    </a:solidFill>
                    <a:latin typeface="Arial"/>
                  </a:rPr>
                  <a:t>, so </a:t>
                </a:r>
                <a:r>
                  <a:rPr lang="en-IN" sz="2400">
                    <a:solidFill>
                      <a:srgbClr val="111827"/>
                    </a:solidFill>
                    <a:latin typeface="Cambria Math" panose="02040503050406030204" pitchFamily="18" charset="0"/>
                  </a:rPr>
                  <a:t>$2x+z=15$</a:t>
                </a:r>
                <a:r>
                  <a:rPr sz="2400" b="0">
                    <a:solidFill>
                      <a:srgbClr val="111827"/>
                    </a:solidFill>
                    <a:latin typeface="Arial"/>
                  </a:rPr>
                  <a:t> and </a:t>
                </a:r>
                <a:r>
                  <a:rPr lang="en-IN" sz="2400">
                    <a:solidFill>
                      <a:srgbClr val="111827"/>
                    </a:solidFill>
                    <a:latin typeface="Cambria Math" panose="02040503050406030204" pitchFamily="18" charset="0"/>
                  </a:rPr>
                  <a:t>$z=15-2x$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$z\ge0$</a:t>
                </a:r>
                <a:r>
                  <a:rPr sz="2400" b="0">
                    <a:solidFill>
                      <a:srgbClr val="111827"/>
                    </a:solidFill>
                    <a:latin typeface="Arial"/>
                  </a:rPr>
                  <a:t> gives </a:t>
                </a:r>
                <a:r>
                  <a:rPr lang="en-IN" sz="2400">
                    <a:solidFill>
                      <a:srgbClr val="111827"/>
                    </a:solidFill>
                    <a:latin typeface="Cambria Math" panose="02040503050406030204" pitchFamily="18" charset="0"/>
                  </a:rPr>
                  <a:t>$x\in\{0,1,\dots,7\}$</a:t>
                </a:r>
                <a:r>
                  <a:rPr sz="2400" b="0">
                    <a:solidFill>
                      <a:srgbClr val="111827"/>
                    </a:solidFill>
                    <a:latin typeface="Arial"/>
                  </a:rPr>
                  <a:t>, and </a:t>
                </a:r>
                <a:r>
                  <a:rPr lang="en-IN" sz="2400">
                    <a:solidFill>
                      <a:srgbClr val="111827"/>
                    </a:solidFill>
                    <a:latin typeface="Cambria Math" panose="02040503050406030204" pitchFamily="18" charset="0"/>
                  </a:rPr>
                  <a:t>$x=5$</a:t>
                </a:r>
                <a:r>
                  <a:rPr sz="2400" b="0">
                    <a:solidFill>
                      <a:srgbClr val="111827"/>
                    </a:solidFill>
                    <a:latin typeface="Arial"/>
                  </a:rPr>
                  <a:t> must be removed because it gives </a:t>
                </a:r>
                <a:r>
                  <a:rPr lang="en-IN" sz="2400">
                    <a:solidFill>
                      <a:srgbClr val="111827"/>
                    </a:solidFill>
                    <a:latin typeface="Cambria Math" panose="02040503050406030204" pitchFamily="18" charset="0"/>
                  </a:rPr>
                  <a:t>$z=5=x$</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there are </a:t>
                </a:r>
                <a14:m>
                  <m:oMath xmlns:m="http://schemas.openxmlformats.org/officeDocument/2006/math">
                    <m:r>
                      <a:rPr lang="en-IN" sz="2400" i="1">
                        <a:solidFill>
                          <a:srgbClr val="111827"/>
                        </a:solidFill>
                        <a:latin typeface="Cambria Math" panose="02040503050406030204" pitchFamily="18" charset="0"/>
                      </a:rPr>
                      <m:t>7</m:t>
                    </m:r>
                  </m:oMath>
                </a14:m>
                <a:r>
                  <a:rPr sz="2400" b="0">
                    <a:solidFill>
                      <a:srgbClr val="111827"/>
                    </a:solidFill>
                    <a:latin typeface="Arial"/>
                  </a:rPr>
                  <a:t> values of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each choice of which two variables are equal gives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arrangements, hence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oMath>
                </a14:m>
                <a:r>
                  <a:rPr sz="2400" b="0">
                    <a:solidFill>
                      <a:srgbClr val="111827"/>
                    </a:solidFill>
                    <a:latin typeface="Arial"/>
                  </a:rPr>
                  <a:t> solutions with exactly two equal ... (2).</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Solutions with all three equal: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exactly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 (3).</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Required number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114</m:t>
                    </m:r>
                  </m:oMath>
                </a14:m>
                <a:r>
                  <a:rPr sz="2400" b="0">
                    <a:solidFill>
                      <a:srgbClr val="111827"/>
                    </a:solidFill>
                    <a:latin typeface="Arial"/>
                  </a:rPr>
                  <a:t>, option (C).</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there are </a:t>
                </a:r>
                <a:r>
                  <a:rPr lang="en-IN" sz="2400">
                    <a:solidFill>
                      <a:srgbClr val="111827"/>
                    </a:solidFill>
                    <a:latin typeface="Cambria Math" panose="02040503050406030204" pitchFamily="18" charset="0"/>
                  </a:rPr>
                  <a:t>$7$</a:t>
                </a:r>
                <a:r>
                  <a:rPr sz="2400" b="0">
                    <a:solidFill>
                      <a:srgbClr val="111827"/>
                    </a:solidFill>
                    <a:latin typeface="Arial"/>
                  </a:rPr>
                  <a:t> values of </a:t>
                </a:r>
                <a:r>
                  <a:rPr lang="en-IN" sz="2400">
                    <a:solidFill>
                      <a:srgbClr val="111827"/>
                    </a:solidFill>
                    <a:latin typeface="Cambria Math" panose="02040503050406030204" pitchFamily="18" charset="0"/>
                  </a:rPr>
                  <a:t>$x$</a:t>
                </a:r>
                <a:r>
                  <a:rPr sz="2400" b="0">
                    <a:solidFill>
                      <a:srgbClr val="111827"/>
                    </a:solidFill>
                    <a:latin typeface="Arial"/>
                  </a:rPr>
                  <a:t>; each choice of which two variables are equal gives </a:t>
                </a:r>
                <a:r>
                  <a:rPr lang="en-IN" sz="2400">
                    <a:solidFill>
                      <a:srgbClr val="111827"/>
                    </a:solidFill>
                    <a:latin typeface="Cambria Math" panose="02040503050406030204" pitchFamily="18" charset="0"/>
                  </a:rPr>
                  <a:t>$3$</a:t>
                </a:r>
                <a:r>
                  <a:rPr sz="2400" b="0">
                    <a:solidFill>
                      <a:srgbClr val="111827"/>
                    </a:solidFill>
                    <a:latin typeface="Arial"/>
                  </a:rPr>
                  <a:t> arrangements, hence </a:t>
                </a:r>
                <a:r>
                  <a:rPr lang="en-IN" sz="2400">
                    <a:solidFill>
                      <a:srgbClr val="111827"/>
                    </a:solidFill>
                    <a:latin typeface="Cambria Math" panose="02040503050406030204" pitchFamily="18" charset="0"/>
                  </a:rPr>
                  <a:t>$3\times7=21$</a:t>
                </a:r>
                <a:r>
                  <a:rPr sz="2400" b="0">
                    <a:solidFill>
                      <a:srgbClr val="111827"/>
                    </a:solidFill>
                    <a:latin typeface="Arial"/>
                  </a:rPr>
                  <a:t> solutions with exactly two equal ... (2).</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Solutions with all three equal: </a:t>
                </a:r>
                <a:r>
                  <a:rPr lang="en-IN" sz="2400">
                    <a:solidFill>
                      <a:srgbClr val="111827"/>
                    </a:solidFill>
                    <a:latin typeface="Cambria Math" panose="02040503050406030204" pitchFamily="18" charset="0"/>
                  </a:rPr>
                  <a:t>$x=y=z=5$</a:t>
                </a:r>
                <a:r>
                  <a:rPr sz="2400" b="0">
                    <a:solidFill>
                      <a:srgbClr val="111827"/>
                    </a:solidFill>
                    <a:latin typeface="Arial"/>
                  </a:rPr>
                  <a:t>, exactly </a:t>
                </a:r>
                <a:r>
                  <a:rPr lang="en-IN" sz="2400">
                    <a:solidFill>
                      <a:srgbClr val="111827"/>
                    </a:solidFill>
                    <a:latin typeface="Cambria Math" panose="02040503050406030204" pitchFamily="18" charset="0"/>
                  </a:rPr>
                  <a:t>$1$</a:t>
                </a:r>
                <a:r>
                  <a:rPr sz="2400" b="0">
                    <a:solidFill>
                      <a:srgbClr val="111827"/>
                    </a:solidFill>
                    <a:latin typeface="Arial"/>
                  </a:rPr>
                  <a:t> ... (3).</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Required number </a:t>
                </a:r>
                <a:r>
                  <a:rPr lang="en-IN" sz="2400">
                    <a:solidFill>
                      <a:srgbClr val="111827"/>
                    </a:solidFill>
                    <a:latin typeface="Cambria Math" panose="02040503050406030204" pitchFamily="18" charset="0"/>
                  </a:rPr>
                  <a:t>$=136-21-1=114$</a:t>
                </a:r>
                <a:r>
                  <a:rPr sz="2400" b="0">
                    <a:solidFill>
                      <a:srgbClr val="111827"/>
                    </a:solidFill>
                    <a:latin typeface="Arial"/>
                  </a:rPr>
                  <a:t>, option (C).</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a:t>
                </a:r>
                <a14:m>
                  <m:oMath xmlns:m="http://schemas.openxmlformats.org/officeDocument/2006/math">
                    <m:r>
                      <a:rPr lang="en-IN" sz="2800" i="1">
                        <a:solidFill>
                          <a:srgbClr val="15803D"/>
                        </a:solidFill>
                        <a:latin typeface="Cambria Math" panose="02040503050406030204" pitchFamily="18" charset="0"/>
                      </a:rPr>
                      <m:t>114</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a:t>
                </a:r>
                <a:r>
                  <a:rPr lang="en-IN" sz="2800">
                    <a:solidFill>
                      <a:srgbClr val="15803D"/>
                    </a:solidFill>
                    <a:latin typeface="Cambria Math" panose="02040503050406030204" pitchFamily="18" charset="0"/>
                  </a:rPr>
                  <a:t>$114$</a:t>
                </a:r>
                <a:endParaRPr sz="2800">
                  <a:solidFill>
                    <a:srgbClr val="15803D"/>
                  </a:solidFill>
                </a:endParaRPr>
              </a:p>
            </p:txBody>
          </p:sp>
        </mc:Fallback>
      </mc:AlternateContent>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Order the entries as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&lt;</m:t>
                    </m:r>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&lt;</m:t>
                    </m:r>
                    <m:r>
                      <a:rPr lang="en-IN" sz="2400" i="1">
                        <a:solidFill>
                          <a:srgbClr val="78350F"/>
                        </a:solidFill>
                        <a:latin typeface="Cambria Math" panose="02040503050406030204" pitchFamily="18" charset="0"/>
                      </a:rPr>
                      <m:t>𝑧</m:t>
                    </m:r>
                  </m:oMath>
                </a14:m>
                <a:r>
                  <a:rPr sz="2400" b="0">
                    <a:solidFill>
                      <a:srgbClr val="78350F"/>
                    </a:solidFill>
                    <a:latin typeface="Arial"/>
                  </a:rPr>
                  <a:t>, count the unordered triples, then multiply by </a:t>
                </a:r>
                <a14:m>
                  <m:oMath xmlns:m="http://schemas.openxmlformats.org/officeDocument/2006/math">
                    <m:r>
                      <a:rPr lang="en-IN" sz="2400" i="1">
                        <a:solidFill>
                          <a:srgbClr val="78350F"/>
                        </a:solidFill>
                        <a:latin typeface="Cambria Math" panose="02040503050406030204" pitchFamily="18" charset="0"/>
                      </a:rPr>
                      <m:t>3</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6</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Order the entries as </a:t>
                </a:r>
                <a:r>
                  <a:rPr lang="en-IN" sz="2400">
                    <a:solidFill>
                      <a:srgbClr val="78350F"/>
                    </a:solidFill>
                    <a:latin typeface="Cambria Math" panose="02040503050406030204" pitchFamily="18" charset="0"/>
                  </a:rPr>
                  <a:t>$x&lt;y&lt;z$</a:t>
                </a:r>
                <a:r>
                  <a:rPr sz="2400" b="0">
                    <a:solidFill>
                      <a:srgbClr val="78350F"/>
                    </a:solidFill>
                    <a:latin typeface="Arial"/>
                  </a:rPr>
                  <a:t>, count the unordered triples, then multiply by </a:t>
                </a:r>
                <a:r>
                  <a:rPr lang="en-IN" sz="2400">
                    <a:solidFill>
                      <a:srgbClr val="78350F"/>
                    </a:solidFill>
                    <a:latin typeface="Cambria Math" panose="02040503050406030204" pitchFamily="18" charset="0"/>
                  </a:rPr>
                  <a:t>$3!=6$</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Distinct entries can be sorted: set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for the sorted triple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𝑧</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Then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each </a:t>
                </a:r>
                <a14:m>
                  <m:oMath xmlns:m="http://schemas.openxmlformats.org/officeDocument/2006/math">
                    <m:r>
                      <a:rPr lang="en-IN" sz="2400" i="1">
                        <a:solidFill>
                          <a:srgbClr val="111827"/>
                        </a:solidFill>
                        <a:latin typeface="Cambria Math" panose="02040503050406030204" pitchFamily="18" charset="0"/>
                      </a:rPr>
                      <m:t>𝑎</m:t>
                    </m:r>
                  </m:oMath>
                </a14:m>
                <a:r>
                  <a:rPr sz="2400" b="0">
                    <a:solidFill>
                      <a:srgbClr val="111827"/>
                    </a:solidFill>
                    <a:latin typeface="Arial"/>
                  </a:rPr>
                  <a:t> count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𝑎</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Distinct entries can be sorted: set </a:t>
                </a:r>
                <a:r>
                  <a:rPr lang="en-IN" sz="2400">
                    <a:solidFill>
                      <a:srgbClr val="111827"/>
                    </a:solidFill>
                    <a:latin typeface="Cambria Math" panose="02040503050406030204" pitchFamily="18" charset="0"/>
                  </a:rPr>
                  <a:t>$a=x$</a:t>
                </a:r>
                <a:r>
                  <a:rPr sz="2400" b="0">
                    <a:solidFill>
                      <a:srgbClr val="111827"/>
                    </a:solidFill>
                    <a:latin typeface="Arial"/>
                  </a:rPr>
                  <a:t>, </a:t>
                </a:r>
                <a:r>
                  <a:rPr lang="en-IN" sz="2400">
                    <a:solidFill>
                      <a:srgbClr val="111827"/>
                    </a:solidFill>
                    <a:latin typeface="Cambria Math" panose="02040503050406030204" pitchFamily="18" charset="0"/>
                  </a:rPr>
                  <a:t>$y=x+1+b$</a:t>
                </a:r>
                <a:r>
                  <a:rPr sz="2400" b="0">
                    <a:solidFill>
                      <a:srgbClr val="111827"/>
                    </a:solidFill>
                    <a:latin typeface="Arial"/>
                  </a:rPr>
                  <a:t>, </a:t>
                </a:r>
                <a:r>
                  <a:rPr lang="en-IN" sz="2400">
                    <a:solidFill>
                      <a:srgbClr val="111827"/>
                    </a:solidFill>
                    <a:latin typeface="Cambria Math" panose="02040503050406030204" pitchFamily="18" charset="0"/>
                  </a:rPr>
                  <a:t>$z=y+1+c$</a:t>
                </a:r>
                <a:r>
                  <a:rPr sz="2400" b="0">
                    <a:solidFill>
                      <a:srgbClr val="111827"/>
                    </a:solidFill>
                    <a:latin typeface="Arial"/>
                  </a:rPr>
                  <a:t> with </a:t>
                </a:r>
                <a:r>
                  <a:rPr lang="en-IN" sz="2400">
                    <a:solidFill>
                      <a:srgbClr val="111827"/>
                    </a:solidFill>
                    <a:latin typeface="Cambria Math" panose="02040503050406030204" pitchFamily="18" charset="0"/>
                  </a:rPr>
                  <a:t>$a,b,c\ge0$</a:t>
                </a:r>
                <a:r>
                  <a:rPr sz="2400" b="0">
                    <a:solidFill>
                      <a:srgbClr val="111827"/>
                    </a:solidFill>
                    <a:latin typeface="Arial"/>
                  </a:rPr>
                  <a:t> for the sorted triple </a:t>
                </a:r>
                <a:r>
                  <a:rPr lang="en-IN" sz="2400">
                    <a:solidFill>
                      <a:srgbClr val="111827"/>
                    </a:solidFill>
                    <a:latin typeface="Cambria Math" panose="02040503050406030204" pitchFamily="18" charset="0"/>
                  </a:rPr>
                  <a:t>$x&lt;y&lt;z$</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Then </a:t>
                </a:r>
                <a:r>
                  <a:rPr lang="en-IN" sz="2400">
                    <a:solidFill>
                      <a:srgbClr val="111827"/>
                    </a:solidFill>
                    <a:latin typeface="Cambria Math" panose="02040503050406030204" pitchFamily="18" charset="0"/>
                  </a:rPr>
                  <a:t>$x+y+z=3a+2b+c+3=15$</a:t>
                </a:r>
                <a:r>
                  <a:rPr sz="2400" b="0">
                    <a:solidFill>
                      <a:srgbClr val="111827"/>
                    </a:solidFill>
                    <a:latin typeface="Arial"/>
                  </a:rPr>
                  <a:t>, i.e. </a:t>
                </a:r>
                <a:r>
                  <a:rPr lang="en-IN" sz="2400">
                    <a:solidFill>
                      <a:srgbClr val="111827"/>
                    </a:solidFill>
                    <a:latin typeface="Cambria Math" panose="02040503050406030204" pitchFamily="18" charset="0"/>
                  </a:rPr>
                  <a:t>$3a+2b+c=12$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each </a:t>
                </a:r>
                <a:r>
                  <a:rPr lang="en-IN" sz="2400">
                    <a:solidFill>
                      <a:srgbClr val="111827"/>
                    </a:solidFill>
                    <a:latin typeface="Cambria Math" panose="02040503050406030204" pitchFamily="18" charset="0"/>
                  </a:rPr>
                  <a:t>$a$</a:t>
                </a:r>
                <a:r>
                  <a:rPr sz="2400" b="0">
                    <a:solidFill>
                      <a:srgbClr val="111827"/>
                    </a:solidFill>
                    <a:latin typeface="Arial"/>
                  </a:rPr>
                  <a:t> count </a:t>
                </a:r>
                <a:r>
                  <a:rPr lang="en-IN" sz="2400">
                    <a:solidFill>
                      <a:srgbClr val="111827"/>
                    </a:solidFill>
                    <a:latin typeface="Cambria Math" panose="02040503050406030204" pitchFamily="18" charset="0"/>
                  </a:rPr>
                  <a:t>$(b,c)$</a:t>
                </a:r>
                <a:r>
                  <a:rPr sz="2400" b="0">
                    <a:solidFill>
                      <a:srgbClr val="111827"/>
                    </a:solidFill>
                    <a:latin typeface="Arial"/>
                  </a:rPr>
                  <a:t> with </a:t>
                </a:r>
                <a:r>
                  <a:rPr lang="en-IN" sz="2400">
                    <a:solidFill>
                      <a:srgbClr val="111827"/>
                    </a:solidFill>
                    <a:latin typeface="Cambria Math" panose="02040503050406030204" pitchFamily="18" charset="0"/>
                  </a:rPr>
                  <a:t>$2b+c=12-3a$</a:t>
                </a:r>
                <a:r>
                  <a:rPr sz="2400" b="0">
                    <a:solidFill>
                      <a:srgbClr val="111827"/>
                    </a:solidFill>
                    <a:latin typeface="Arial"/>
                  </a:rPr>
                  <a:t>: </a:t>
                </a:r>
                <a:r>
                  <a:rPr lang="en-IN" sz="2400">
                    <a:solidFill>
                      <a:srgbClr val="111827"/>
                    </a:solidFill>
                    <a:latin typeface="Cambria Math" panose="02040503050406030204" pitchFamily="18" charset="0"/>
                  </a:rPr>
                  <a:t>$a=0$</a:t>
                </a:r>
                <a:r>
                  <a:rPr sz="2400" b="0">
                    <a:solidFill>
                      <a:srgbClr val="111827"/>
                    </a:solidFill>
                    <a:latin typeface="Arial"/>
                  </a:rPr>
                  <a:t>: </a:t>
                </a:r>
                <a:r>
                  <a:rPr lang="en-IN" sz="2400">
                    <a:solidFill>
                      <a:srgbClr val="111827"/>
                    </a:solidFill>
                    <a:latin typeface="Cambria Math" panose="02040503050406030204" pitchFamily="18" charset="0"/>
                  </a:rPr>
                  <a:t>$b=0..6\Rightarrow7$</a:t>
                </a:r>
                <a:r>
                  <a:rPr sz="2400" b="0">
                    <a:solidFill>
                      <a:srgbClr val="111827"/>
                    </a:solidFill>
                    <a:latin typeface="Arial"/>
                  </a:rPr>
                  <a:t>; </a:t>
                </a:r>
                <a:r>
                  <a:rPr lang="en-IN" sz="2400">
                    <a:solidFill>
                      <a:srgbClr val="111827"/>
                    </a:solidFill>
                    <a:latin typeface="Cambria Math" panose="02040503050406030204" pitchFamily="18" charset="0"/>
                  </a:rPr>
                  <a:t>$a=1$</a:t>
                </a:r>
                <a:r>
                  <a:rPr sz="2400" b="0">
                    <a:solidFill>
                      <a:srgbClr val="111827"/>
                    </a:solidFill>
                    <a:latin typeface="Arial"/>
                  </a:rPr>
                  <a:t> (</a:t>
                </a:r>
                <a:r>
                  <a:rPr lang="en-IN" sz="2400">
                    <a:solidFill>
                      <a:srgbClr val="111827"/>
                    </a:solidFill>
                    <a:latin typeface="Cambria Math" panose="02040503050406030204" pitchFamily="18" charset="0"/>
                  </a:rPr>
                  <a:t>$=9$</a:t>
                </a:r>
                <a:r>
                  <a:rPr sz="2400" b="0">
                    <a:solidFill>
                      <a:srgbClr val="111827"/>
                    </a:solidFill>
                    <a:latin typeface="Arial"/>
                  </a:rPr>
                  <a:t>): </a:t>
                </a:r>
                <a:r>
                  <a:rPr lang="en-IN" sz="2400">
                    <a:solidFill>
                      <a:srgbClr val="111827"/>
                    </a:solidFill>
                    <a:latin typeface="Cambria Math" panose="02040503050406030204" pitchFamily="18" charset="0"/>
                  </a:rPr>
                  <a:t>$b=0..4\Rightarrow5$</a:t>
                </a:r>
                <a:r>
                  <a:rPr sz="2400" b="0">
                    <a:solidFill>
                      <a:srgbClr val="111827"/>
                    </a:solidFill>
                    <a:latin typeface="Arial"/>
                  </a:rPr>
                  <a:t>; </a:t>
                </a:r>
                <a:r>
                  <a:rPr lang="en-IN" sz="2400">
                    <a:solidFill>
                      <a:srgbClr val="111827"/>
                    </a:solidFill>
                    <a:latin typeface="Cambria Math" panose="02040503050406030204" pitchFamily="18" charset="0"/>
                  </a:rPr>
                  <a:t>$a=2$</a:t>
                </a:r>
                <a:r>
                  <a:rPr sz="2400" b="0">
                    <a:solidFill>
                      <a:srgbClr val="111827"/>
                    </a:solidFill>
                    <a:latin typeface="Arial"/>
                  </a:rPr>
                  <a:t> (</a:t>
                </a:r>
                <a:r>
                  <a:rPr lang="en-IN" sz="2400">
                    <a:solidFill>
                      <a:srgbClr val="111827"/>
                    </a:solidFill>
                    <a:latin typeface="Cambria Math" panose="02040503050406030204" pitchFamily="18" charset="0"/>
                  </a:rPr>
                  <a:t>$=6$</a:t>
                </a:r>
                <a:r>
                  <a:rPr sz="2400" b="0">
                    <a:solidFill>
                      <a:srgbClr val="111827"/>
                    </a:solidFill>
                    <a:latin typeface="Arial"/>
                  </a:rPr>
                  <a:t>): </a:t>
                </a:r>
                <a:r>
                  <a:rPr lang="en-IN" sz="2400">
                    <a:solidFill>
                      <a:srgbClr val="111827"/>
                    </a:solidFill>
                    <a:latin typeface="Cambria Math" panose="02040503050406030204" pitchFamily="18" charset="0"/>
                  </a:rPr>
                  <a:t>$4$</a:t>
                </a:r>
                <a:r>
                  <a:rPr sz="2400" b="0">
                    <a:solidFill>
                      <a:srgbClr val="111827"/>
                    </a:solidFill>
                    <a:latin typeface="Arial"/>
                  </a:rPr>
                  <a:t>; </a:t>
                </a:r>
                <a:r>
                  <a:rPr lang="en-IN" sz="2400">
                    <a:solidFill>
                      <a:srgbClr val="111827"/>
                    </a:solidFill>
                    <a:latin typeface="Cambria Math" panose="02040503050406030204" pitchFamily="18" charset="0"/>
                  </a:rPr>
                  <a:t>$a=3$</a:t>
                </a:r>
                <a:r>
                  <a:rPr sz="2400" b="0">
                    <a:solidFill>
                      <a:srgbClr val="111827"/>
                    </a:solidFill>
                    <a:latin typeface="Arial"/>
                  </a:rPr>
                  <a:t> (</a:t>
                </a:r>
                <a:r>
                  <a:rPr lang="en-IN" sz="2400">
                    <a:solidFill>
                      <a:srgbClr val="111827"/>
                    </a:solidFill>
                    <a:latin typeface="Cambria Math" panose="02040503050406030204" pitchFamily="18" charset="0"/>
                  </a:rPr>
                  <a:t>$=3$</a:t>
                </a:r>
                <a:r>
                  <a:rPr sz="2400" b="0">
                    <a:solidFill>
                      <a:srgbClr val="111827"/>
                    </a:solidFill>
                    <a:latin typeface="Arial"/>
                  </a:rPr>
                  <a:t>): </a:t>
                </a:r>
                <a:r>
                  <a:rPr lang="en-IN" sz="2400">
                    <a:solidFill>
                      <a:srgbClr val="111827"/>
                    </a:solidFill>
                    <a:latin typeface="Cambria Math" panose="02040503050406030204" pitchFamily="18" charset="0"/>
                  </a:rPr>
                  <a:t>$2$</a:t>
                </a:r>
                <a:r>
                  <a:rPr sz="2400" b="0">
                    <a:solidFill>
                      <a:srgbClr val="111827"/>
                    </a:solidFill>
                    <a:latin typeface="Arial"/>
                  </a:rPr>
                  <a:t>; </a:t>
                </a:r>
                <a:r>
                  <a:rPr lang="en-IN" sz="2400">
                    <a:solidFill>
                      <a:srgbClr val="111827"/>
                    </a:solidFill>
                    <a:latin typeface="Cambria Math" panose="02040503050406030204" pitchFamily="18" charset="0"/>
                  </a:rPr>
                  <a:t>$a=4$</a:t>
                </a:r>
                <a:r>
                  <a:rPr sz="2400" b="0">
                    <a:solidFill>
                      <a:srgbClr val="111827"/>
                    </a:solidFill>
                    <a:latin typeface="Arial"/>
                  </a:rPr>
                  <a:t> (</a:t>
                </a:r>
                <a:r>
                  <a:rPr lang="en-IN" sz="2400">
                    <a:solidFill>
                      <a:srgbClr val="111827"/>
                    </a:solidFill>
                    <a:latin typeface="Cambria Math" panose="02040503050406030204" pitchFamily="18" charset="0"/>
                  </a:rPr>
                  <a:t>$=0$</a:t>
                </a:r>
                <a:r>
                  <a:rPr sz="2400" b="0">
                    <a:solidFill>
                      <a:srgbClr val="111827"/>
                    </a:solidFill>
                    <a:latin typeface="Arial"/>
                  </a:rPr>
                  <a:t>): </a:t>
                </a:r>
                <a:r>
                  <a:rPr lang="en-IN" sz="2400">
                    <a:solidFill>
                      <a:srgbClr val="111827"/>
                    </a:solidFill>
                    <a:latin typeface="Cambria Math" panose="02040503050406030204" pitchFamily="18" charset="0"/>
                  </a:rPr>
                  <a:t>$1$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Number of sorted triples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Each sorted triple gives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ordered triples, so </a:t>
                </a:r>
                <a14:m>
                  <m:oMath xmlns:m="http://schemas.openxmlformats.org/officeDocument/2006/math">
                    <m:r>
                      <a:rPr lang="en-IN" sz="2400" i="1">
                        <a:solidFill>
                          <a:srgbClr val="111827"/>
                        </a:solidFill>
                        <a:latin typeface="Cambria Math" panose="02040503050406030204" pitchFamily="18" charset="0"/>
                      </a:rPr>
                      <m:t>19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114</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Number of sorted triples </a:t>
                </a:r>
                <a:r>
                  <a:rPr lang="en-IN" sz="2400">
                    <a:solidFill>
                      <a:srgbClr val="111827"/>
                    </a:solidFill>
                    <a:latin typeface="Cambria Math" panose="02040503050406030204" pitchFamily="18" charset="0"/>
                  </a:rPr>
                  <a:t>$=7+5+4+2+1=19$</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Each sorted triple gives </a:t>
                </a:r>
                <a:r>
                  <a:rPr lang="en-IN" sz="2400">
                    <a:solidFill>
                      <a:srgbClr val="111827"/>
                    </a:solidFill>
                    <a:latin typeface="Cambria Math" panose="02040503050406030204" pitchFamily="18" charset="0"/>
                  </a:rPr>
                  <a:t>$3!=6$</a:t>
                </a:r>
                <a:r>
                  <a:rPr sz="2400" b="0">
                    <a:solidFill>
                      <a:srgbClr val="111827"/>
                    </a:solidFill>
                    <a:latin typeface="Arial"/>
                  </a:rPr>
                  <a:t> ordered triples, so </a:t>
                </a:r>
                <a:r>
                  <a:rPr lang="en-IN" sz="2400">
                    <a:solidFill>
                      <a:srgbClr val="111827"/>
                    </a:solidFill>
                    <a:latin typeface="Cambria Math" panose="02040503050406030204" pitchFamily="18" charset="0"/>
                  </a:rPr>
                  <a:t>$19\times6=114$</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a:t>
                </a:r>
                <a14:m>
                  <m:oMath xmlns:m="http://schemas.openxmlformats.org/officeDocument/2006/math">
                    <m:r>
                      <a:rPr lang="en-IN" sz="2800" i="1">
                        <a:solidFill>
                          <a:srgbClr val="15803D"/>
                        </a:solidFill>
                        <a:latin typeface="Cambria Math" panose="02040503050406030204" pitchFamily="18" charset="0"/>
                      </a:rPr>
                      <m:t>114</m:t>
                    </m:r>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a:t>
                </a:r>
                <a:r>
                  <a:rPr lang="en-IN" sz="2800">
                    <a:solidFill>
                      <a:srgbClr val="15803D"/>
                    </a:solidFill>
                    <a:latin typeface="Cambria Math" panose="02040503050406030204" pitchFamily="18" charset="0"/>
                  </a:rPr>
                  <a:t>$114$</a:t>
                </a:r>
                <a:endParaRPr sz="2800">
                  <a:solidFill>
                    <a:srgbClr val="15803D"/>
                  </a:solidFill>
                </a:endParaRPr>
              </a:p>
            </p:txBody>
          </p:sp>
        </mc:Fallback>
      </mc:AlternateContent>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Non-negative solutions of </a:t>
                </a:r>
                <a14:m>
                  <m:oMath xmlns:m="http://schemas.openxmlformats.org/officeDocument/2006/math">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𝑘</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oMath>
                </a14:m>
                <a:r>
                  <a:rPr sz="2400" b="0">
                    <a:solidFill>
                      <a:srgbClr val="111827"/>
                    </a:solidFill>
                    <a:latin typeface="Arial"/>
                  </a:rPr>
                  <a:t>; positive solutions: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'Distinct' conditions are handled either by complement (subtract exactly-two-equal and all-equal, as here) or by sorting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𝑧</m:t>
                    </m:r>
                  </m:oMath>
                </a14:m>
                <a:r>
                  <a:rPr sz="2400" b="0">
                    <a:solidFill>
                      <a:srgbClr val="111827"/>
                    </a:solidFill>
                    <a:latin typeface="Arial"/>
                  </a:rPr>
                  <a:t>) and multiplying by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oMath>
                </a14:m>
                <a:r>
                  <a:rPr sz="2400" b="0">
                    <a:solidFill>
                      <a:srgbClr val="111827"/>
                    </a:solidFill>
                    <a:latin typeface="Arial"/>
                  </a:rPr>
                  <a:t>: the number with exactly two equal is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nor/>
                      </m:rPr>
                      <a:rPr lang="en-IN" sz="2400" i="1">
                        <a:solidFill>
                          <a:srgbClr val="111827"/>
                        </a:solidFill>
                        <a:latin typeface="Cambria Math" panose="02040503050406030204" pitchFamily="18" charset="0"/>
                      </a:rPr>
                      <m:t>𝑣𝑎𝑙𝑢𝑒𝑠 𝑜𝑓 𝑡ℎ𝑒 𝑟𝑒𝑝𝑒𝑎𝑡𝑒𝑑 𝑜𝑛𝑒</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the all-equal case exists only if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Non-negative solutions of </a:t>
                </a:r>
                <a:r>
                  <a:rPr lang="en-IN" sz="2400">
                    <a:solidFill>
                      <a:srgbClr val="111827"/>
                    </a:solidFill>
                    <a:latin typeface="Cambria Math" panose="02040503050406030204" pitchFamily="18" charset="0"/>
                  </a:rPr>
                  <a:t>$x_1+\dots+x_k=n$</a:t>
                </a:r>
                <a:r>
                  <a:rPr sz="2400" b="0">
                    <a:solidFill>
                      <a:srgbClr val="111827"/>
                    </a:solidFill>
                    <a:latin typeface="Arial"/>
                  </a:rPr>
                  <a:t>: </a:t>
                </a:r>
                <a:r>
                  <a:rPr lang="en-IN" sz="2400">
                    <a:solidFill>
                      <a:srgbClr val="111827"/>
                    </a:solidFill>
                    <a:latin typeface="Cambria Math" panose="02040503050406030204" pitchFamily="18" charset="0"/>
                  </a:rPr>
                  <a:t>$^{n+k-1}C_{k-1}$</a:t>
                </a:r>
                <a:r>
                  <a:rPr sz="2400" b="0">
                    <a:solidFill>
                      <a:srgbClr val="111827"/>
                    </a:solidFill>
                    <a:latin typeface="Arial"/>
                  </a:rPr>
                  <a:t>; positive solutions: </a:t>
                </a:r>
                <a:r>
                  <a:rPr lang="en-IN" sz="2400">
                    <a:solidFill>
                      <a:srgbClr val="111827"/>
                    </a:solidFill>
                    <a:latin typeface="Cambria Math" panose="02040503050406030204" pitchFamily="18" charset="0"/>
                  </a:rPr>
                  <a:t>$^{n-1}C_{k-1}$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'Distinct' conditions are handled either by complement (subtract exactly-two-equal and all-equal, as here) or by sorting (</a:t>
                </a:r>
                <a:r>
                  <a:rPr lang="en-IN" sz="2400">
                    <a:solidFill>
                      <a:srgbClr val="111827"/>
                    </a:solidFill>
                    <a:latin typeface="Cambria Math" panose="02040503050406030204" pitchFamily="18" charset="0"/>
                  </a:rPr>
                  <a:t>$x&lt;y&lt;z$</a:t>
                </a:r>
                <a:r>
                  <a:rPr sz="2400" b="0">
                    <a:solidFill>
                      <a:srgbClr val="111827"/>
                    </a:solidFill>
                    <a:latin typeface="Arial"/>
                  </a:rPr>
                  <a:t>) and multiplying by </a:t>
                </a:r>
                <a:r>
                  <a:rPr lang="en-IN" sz="2400">
                    <a:solidFill>
                      <a:srgbClr val="111827"/>
                    </a:solidFill>
                    <a:latin typeface="Cambria Math" panose="02040503050406030204" pitchFamily="18" charset="0"/>
                  </a:rPr>
                  <a:t>$k!$</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$x+y+z=n$</a:t>
                </a:r>
                <a:r>
                  <a:rPr sz="2400" b="0">
                    <a:solidFill>
                      <a:srgbClr val="111827"/>
                    </a:solidFill>
                    <a:latin typeface="Arial"/>
                  </a:rPr>
                  <a:t>: the number with exactly two equal is </a:t>
                </a:r>
                <a:r>
                  <a:rPr lang="en-IN" sz="2400">
                    <a:solidFill>
                      <a:srgbClr val="111827"/>
                    </a:solidFill>
                    <a:latin typeface="Cambria Math" panose="02040503050406030204" pitchFamily="18" charset="0"/>
                  </a:rPr>
                  <a:t>$3\times(\text{values of the repeated one})$</a:t>
                </a:r>
                <a:r>
                  <a:rPr sz="2400" b="0">
                    <a:solidFill>
                      <a:srgbClr val="111827"/>
                    </a:solidFill>
                    <a:latin typeface="Arial"/>
                  </a:rPr>
                  <a:t> and the all-equal case exists only if </a:t>
                </a:r>
                <a:r>
                  <a:rPr lang="en-IN" sz="2400">
                    <a:solidFill>
                      <a:srgbClr val="111827"/>
                    </a:solidFill>
                    <a:latin typeface="Cambria Math" panose="02040503050406030204" pitchFamily="18" charset="0"/>
                  </a:rPr>
                  <a:t>$3\mid n$</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07162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total number of three-digit numbers, divisible by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which can be formed using the digits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 if repetition of digits is allowed,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22</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21</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20</m:t>
                    </m:r>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18</m:t>
                    </m:r>
                  </m:oMath>
                </a14:m>
                <a:endParaRPr sz="2400">
                  <a:solidFill>
                    <a:srgbClr val="111827"/>
                  </a:solidFill>
                </a:endParaRPr>
              </a:p>
            </p:txBody>
          </p:sp>
        </mc:Choice>
        <mc:Fallback>
          <p:sp>
            <p:nvSpPr>
              <p:cNvPr id="4" name="Rounded Rectangle 3"/>
              <p:cNvSpPr/>
              <p:nvPr/>
            </p:nvSpPr>
            <p:spPr>
              <a:xfrm>
                <a:off x="731520" y="1280160"/>
                <a:ext cx="10725912" cy="207162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total number of three-digit numbers, divisible by </a:t>
                </a:r>
                <a:r>
                  <a:rPr lang="en-IN" sz="2400">
                    <a:solidFill>
                      <a:srgbClr val="111827"/>
                    </a:solidFill>
                    <a:latin typeface="Cambria Math" panose="02040503050406030204" pitchFamily="18" charset="0"/>
                  </a:rPr>
                  <a:t>$3$</a:t>
                </a:r>
                <a:r>
                  <a:rPr sz="2400" b="0">
                    <a:solidFill>
                      <a:srgbClr val="111827"/>
                    </a:solidFill>
                    <a:latin typeface="Arial"/>
                  </a:rPr>
                  <a:t>, which can be formed using the digits </a:t>
                </a:r>
                <a:r>
                  <a:rPr lang="en-IN" sz="2400">
                    <a:solidFill>
                      <a:srgbClr val="111827"/>
                    </a:solidFill>
                    <a:latin typeface="Cambria Math" panose="02040503050406030204" pitchFamily="18" charset="0"/>
                  </a:rPr>
                  <a:t>$1,3,5,8$</a:t>
                </a:r>
                <a:r>
                  <a:rPr sz="2400" b="0">
                    <a:solidFill>
                      <a:srgbClr val="111827"/>
                    </a:solidFill>
                    <a:latin typeface="Arial"/>
                  </a:rPr>
                  <a:t>, if repetition of digits is allowed,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$22$</a:t>
                </a:r>
                <a:r>
                  <a:rPr sz="2400" b="0">
                    <a:solidFill>
                      <a:srgbClr val="111827"/>
                    </a:solidFill>
                    <a:latin typeface="Arial"/>
                  </a:rPr>
                  <a:t>   (B) </a:t>
                </a:r>
                <a:r>
                  <a:rPr lang="en-IN" sz="2400">
                    <a:solidFill>
                      <a:srgbClr val="111827"/>
                    </a:solidFill>
                    <a:latin typeface="Cambria Math" panose="02040503050406030204" pitchFamily="18" charset="0"/>
                  </a:rPr>
                  <a:t>$21$</a:t>
                </a:r>
                <a:r>
                  <a:rPr sz="2400" b="0">
                    <a:solidFill>
                      <a:srgbClr val="111827"/>
                    </a:solidFill>
                    <a:latin typeface="Arial"/>
                  </a:rPr>
                  <a:t>   (C) </a:t>
                </a:r>
                <a:r>
                  <a:rPr lang="en-IN" sz="2400">
                    <a:solidFill>
                      <a:srgbClr val="111827"/>
                    </a:solidFill>
                    <a:latin typeface="Cambria Math" panose="02040503050406030204" pitchFamily="18" charset="0"/>
                  </a:rPr>
                  <a:t>$20$</a:t>
                </a:r>
                <a:r>
                  <a:rPr sz="2400" b="0">
                    <a:solidFill>
                      <a:srgbClr val="111827"/>
                    </a:solidFill>
                    <a:latin typeface="Arial"/>
                  </a:rPr>
                  <a:t>   (D) </a:t>
                </a:r>
                <a:r>
                  <a:rPr lang="en-IN" sz="2400">
                    <a:solidFill>
                      <a:srgbClr val="111827"/>
                    </a:solidFill>
                    <a:latin typeface="Cambria Math" panose="02040503050406030204" pitchFamily="18" charset="0"/>
                  </a:rPr>
                  <a:t>$18$</a:t>
                </a:r>
                <a:endParaRPr sz="2400">
                  <a:solidFill>
                    <a:srgbClr val="111827"/>
                  </a:solidFill>
                </a:endParaRPr>
              </a:p>
            </p:txBody>
          </p:sp>
        </mc:Fallback>
      </mc:AlternateContent>
      <p:sp>
        <p:nvSpPr>
          <p:cNvPr id="5" name="Rectangle 4"/>
          <p:cNvSpPr/>
          <p:nvPr/>
        </p:nvSpPr>
        <p:spPr>
          <a:xfrm>
            <a:off x="731520" y="3580383"/>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Forming numbers with repetition allowed; divisibility by 3</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A number is divisible by 3 iff its digit sum is, so list the digit multisets with sum </a:t>
                </a:r>
                <a14:m>
                  <m:oMath xmlns:m="http://schemas.openxmlformats.org/officeDocument/2006/math">
                    <m:r>
                      <a:rPr lang="en-IN" sz="2400" i="1">
                        <a:solidFill>
                          <a:srgbClr val="78350F"/>
                        </a:solidFill>
                        <a:latin typeface="Cambria Math" panose="02040503050406030204" pitchFamily="18" charset="0"/>
                      </a:rPr>
                      <m:t>3</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9</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12</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24</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A number is divisible by 3 iff its digit sum is, so list the digit multisets with sum </a:t>
                </a:r>
                <a:r>
                  <a:rPr lang="en-IN" sz="2400">
                    <a:solidFill>
                      <a:srgbClr val="78350F"/>
                    </a:solidFill>
                    <a:latin typeface="Cambria Math" panose="02040503050406030204" pitchFamily="18" charset="0"/>
                  </a:rPr>
                  <a:t>$3,9,12,\dots,24$</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Divisibility by 3 needs a digit sum that is a multiple of 3; list the multisets of three digits from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digits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a:t>
                </a:r>
                <a14:m>
                  <m:oMath xmlns:m="http://schemas.openxmlformats.org/officeDocument/2006/math">
                    <m:r>
                      <a:rPr lang="en-IN" sz="2400" i="1">
                        <a:solidFill>
                          <a:srgbClr val="111827"/>
                        </a:solidFill>
                        <a:latin typeface="Cambria Math" panose="02040503050406030204" pitchFamily="18" charset="0"/>
                      </a:rPr>
                      <m:t>9</m:t>
                    </m:r>
                  </m:oMath>
                </a14:m>
                <a:r>
                  <a:rPr sz="2400" b="0">
                    <a:solidFill>
                      <a:srgbClr val="111827"/>
                    </a:solidFill>
                    <a:latin typeface="Arial"/>
                  </a:rPr>
                  <a:t>: digits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a:t>
                </a:r>
                <a14:m>
                  <m:oMath xmlns:m="http://schemas.openxmlformats.org/officeDocument/2006/math">
                    <m:r>
                      <a:rPr lang="en-IN" sz="2400" i="1">
                        <a:solidFill>
                          <a:srgbClr val="111827"/>
                        </a:solidFill>
                        <a:latin typeface="Cambria Math" panose="02040503050406030204" pitchFamily="18" charset="0"/>
                      </a:rPr>
                      <m:t>12</m:t>
                    </m:r>
                  </m:oMath>
                </a14:m>
                <a:r>
                  <a:rPr sz="2400" b="0">
                    <a:solidFill>
                      <a:srgbClr val="111827"/>
                    </a:solidFill>
                    <a:latin typeface="Arial"/>
                  </a:rPr>
                  <a:t>: digits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a:t>
                </a:r>
                <a14:m>
                  <m:oMath xmlns:m="http://schemas.openxmlformats.org/officeDocument/2006/math">
                    <m:r>
                      <a:rPr lang="en-IN" sz="2400" i="1">
                        <a:solidFill>
                          <a:srgbClr val="111827"/>
                        </a:solidFill>
                        <a:latin typeface="Cambria Math" panose="02040503050406030204" pitchFamily="18" charset="0"/>
                      </a:rPr>
                      <m:t>15</m:t>
                    </m:r>
                  </m:oMath>
                </a14:m>
                <a:r>
                  <a:rPr sz="2400" b="0">
                    <a:solidFill>
                      <a:srgbClr val="111827"/>
                    </a:solidFill>
                    <a:latin typeface="Arial"/>
                  </a:rPr>
                  <a:t>: digits </a:t>
                </a:r>
                <a14:m>
                  <m:oMath xmlns:m="http://schemas.openxmlformats.org/officeDocument/2006/math">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Divisibility by 3 needs a digit sum that is a multiple of 3; list the multisets of three digits from </a:t>
                </a:r>
                <a:r>
                  <a:rPr lang="en-IN" sz="2400">
                    <a:solidFill>
                      <a:srgbClr val="111827"/>
                    </a:solidFill>
                    <a:latin typeface="Cambria Math" panose="02040503050406030204" pitchFamily="18" charset="0"/>
                  </a:rPr>
                  <a:t>$\{1,3,5,8\}$</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a:t>
                </a:r>
                <a:r>
                  <a:rPr lang="en-IN" sz="2400">
                    <a:solidFill>
                      <a:srgbClr val="111827"/>
                    </a:solidFill>
                    <a:latin typeface="Cambria Math" panose="02040503050406030204" pitchFamily="18" charset="0"/>
                  </a:rPr>
                  <a:t>$3$</a:t>
                </a:r>
                <a:r>
                  <a:rPr sz="2400" b="0">
                    <a:solidFill>
                      <a:srgbClr val="111827"/>
                    </a:solidFill>
                    <a:latin typeface="Arial"/>
                  </a:rPr>
                  <a:t>: digits </a:t>
                </a:r>
                <a:r>
                  <a:rPr lang="en-IN" sz="2400">
                    <a:solidFill>
                      <a:srgbClr val="111827"/>
                    </a:solidFill>
                    <a:latin typeface="Cambria Math" panose="02040503050406030204" pitchFamily="18" charset="0"/>
                  </a:rPr>
                  <a:t>$1,1,1$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a:t>
                </a:r>
                <a:r>
                  <a:rPr lang="en-IN" sz="2400">
                    <a:solidFill>
                      <a:srgbClr val="111827"/>
                    </a:solidFill>
                    <a:latin typeface="Cambria Math" panose="02040503050406030204" pitchFamily="18" charset="0"/>
                  </a:rPr>
                  <a:t>$9$</a:t>
                </a:r>
                <a:r>
                  <a:rPr sz="2400" b="0">
                    <a:solidFill>
                      <a:srgbClr val="111827"/>
                    </a:solidFill>
                    <a:latin typeface="Arial"/>
                  </a:rPr>
                  <a:t>: digits </a:t>
                </a:r>
                <a:r>
                  <a:rPr lang="en-IN" sz="2400">
                    <a:solidFill>
                      <a:srgbClr val="111827"/>
                    </a:solidFill>
                    <a:latin typeface="Cambria Math" panose="02040503050406030204" pitchFamily="18" charset="0"/>
                  </a:rPr>
                  <a:t>$1,3,5$</a:t>
                </a:r>
                <a:r>
                  <a:rPr sz="2400" b="0">
                    <a:solidFill>
                      <a:srgbClr val="111827"/>
                    </a:solidFill>
                    <a:latin typeface="Arial"/>
                  </a:rPr>
                  <a:t> or </a:t>
                </a:r>
                <a:r>
                  <a:rPr lang="en-IN" sz="2400">
                    <a:solidFill>
                      <a:srgbClr val="111827"/>
                    </a:solidFill>
                    <a:latin typeface="Cambria Math" panose="02040503050406030204" pitchFamily="18" charset="0"/>
                  </a:rPr>
                  <a:t>$3,3,3$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a:t>
                </a:r>
                <a:r>
                  <a:rPr lang="en-IN" sz="2400">
                    <a:solidFill>
                      <a:srgbClr val="111827"/>
                    </a:solidFill>
                    <a:latin typeface="Cambria Math" panose="02040503050406030204" pitchFamily="18" charset="0"/>
                  </a:rPr>
                  <a:t>$12$</a:t>
                </a:r>
                <a:r>
                  <a:rPr sz="2400" b="0">
                    <a:solidFill>
                      <a:srgbClr val="111827"/>
                    </a:solidFill>
                    <a:latin typeface="Arial"/>
                  </a:rPr>
                  <a:t>: digits </a:t>
                </a:r>
                <a:r>
                  <a:rPr lang="en-IN" sz="2400">
                    <a:solidFill>
                      <a:srgbClr val="111827"/>
                    </a:solidFill>
                    <a:latin typeface="Cambria Math" panose="02040503050406030204" pitchFamily="18" charset="0"/>
                  </a:rPr>
                  <a:t>$1,3,8$</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a:t>
                </a:r>
                <a:r>
                  <a:rPr lang="en-IN" sz="2400">
                    <a:solidFill>
                      <a:srgbClr val="111827"/>
                    </a:solidFill>
                    <a:latin typeface="Cambria Math" panose="02040503050406030204" pitchFamily="18" charset="0"/>
                  </a:rPr>
                  <a:t>$15$</a:t>
                </a:r>
                <a:r>
                  <a:rPr sz="2400" b="0">
                    <a:solidFill>
                      <a:srgbClr val="111827"/>
                    </a:solidFill>
                    <a:latin typeface="Arial"/>
                  </a:rPr>
                  <a:t>: digits </a:t>
                </a:r>
                <a:r>
                  <a:rPr lang="en-IN" sz="2400">
                    <a:solidFill>
                      <a:srgbClr val="111827"/>
                    </a:solidFill>
                    <a:latin typeface="Cambria Math" panose="02040503050406030204" pitchFamily="18" charset="0"/>
                  </a:rPr>
                  <a:t>$5,5,5$</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Sum </a:t>
                </a:r>
                <a14:m>
                  <m:oMath xmlns:m="http://schemas.openxmlformats.org/officeDocument/2006/math">
                    <m:r>
                      <a:rPr lang="en-IN" sz="2400" i="1">
                        <a:solidFill>
                          <a:srgbClr val="111827"/>
                        </a:solidFill>
                        <a:latin typeface="Cambria Math" panose="02040503050406030204" pitchFamily="18" charset="0"/>
                      </a:rPr>
                      <m:t>18</m:t>
                    </m:r>
                  </m:oMath>
                </a14:m>
                <a:r>
                  <a:rPr sz="2400" b="0">
                    <a:solidFill>
                      <a:srgbClr val="111827"/>
                    </a:solidFill>
                    <a:latin typeface="Arial"/>
                  </a:rPr>
                  <a:t>: digits </a:t>
                </a:r>
                <a14:m>
                  <m:oMath xmlns:m="http://schemas.openxmlformats.org/officeDocument/2006/math">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a:t>
                </a:r>
                <a14:m>
                  <m:oMath xmlns:m="http://schemas.openxmlformats.org/officeDocument/2006/math">
                    <m:r>
                      <a:rPr lang="en-IN" sz="2400" i="1">
                        <a:solidFill>
                          <a:srgbClr val="111827"/>
                        </a:solidFill>
                        <a:latin typeface="Cambria Math" panose="02040503050406030204" pitchFamily="18" charset="0"/>
                      </a:rPr>
                      <m:t>21</m:t>
                    </m:r>
                  </m:oMath>
                </a14:m>
                <a:r>
                  <a:rPr sz="2400" b="0">
                    <a:solidFill>
                      <a:srgbClr val="111827"/>
                    </a:solidFill>
                    <a:latin typeface="Arial"/>
                  </a:rPr>
                  <a:t>: digits </a:t>
                </a:r>
                <a14:m>
                  <m:oMath xmlns:m="http://schemas.openxmlformats.org/officeDocument/2006/math">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a:t>
                </a:r>
                <a14:m>
                  <m:oMath xmlns:m="http://schemas.openxmlformats.org/officeDocument/2006/math">
                    <m:r>
                      <a:rPr lang="en-IN" sz="2400" i="1">
                        <a:solidFill>
                          <a:srgbClr val="111827"/>
                        </a:solidFill>
                        <a:latin typeface="Cambria Math" panose="02040503050406030204" pitchFamily="18" charset="0"/>
                      </a:rPr>
                      <m:t>24</m:t>
                    </m:r>
                  </m:oMath>
                </a14:m>
                <a:r>
                  <a:rPr sz="2400" b="0">
                    <a:solidFill>
                      <a:srgbClr val="111827"/>
                    </a:solidFill>
                    <a:latin typeface="Arial"/>
                  </a:rPr>
                  <a:t>: digits </a:t>
                </a:r>
                <a14:m>
                  <m:oMath xmlns:m="http://schemas.openxmlformats.org/officeDocument/2006/math">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Numbers: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111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135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333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138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555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558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588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888</m:t>
                    </m:r>
                  </m:oMath>
                </a14:m>
                <a:r>
                  <a:rPr sz="2400" b="0">
                    <a:solidFill>
                      <a:srgbClr val="111827"/>
                    </a:solidFill>
                    <a:latin typeface="Arial"/>
                  </a:rPr>
                  <a:t> respectively.</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22</m:t>
                    </m:r>
                  </m:oMath>
                </a14:m>
                <a:r>
                  <a:rPr sz="2400" b="0">
                    <a:solidFill>
                      <a:srgbClr val="111827"/>
                    </a:solidFill>
                    <a:latin typeface="Arial"/>
                  </a:rPr>
                  <a:t>, option (A).</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Sum </a:t>
                </a:r>
                <a:r>
                  <a:rPr lang="en-IN" sz="2400">
                    <a:solidFill>
                      <a:srgbClr val="111827"/>
                    </a:solidFill>
                    <a:latin typeface="Cambria Math" panose="02040503050406030204" pitchFamily="18" charset="0"/>
                  </a:rPr>
                  <a:t>$18$</a:t>
                </a:r>
                <a:r>
                  <a:rPr sz="2400" b="0">
                    <a:solidFill>
                      <a:srgbClr val="111827"/>
                    </a:solidFill>
                    <a:latin typeface="Arial"/>
                  </a:rPr>
                  <a:t>: digits </a:t>
                </a:r>
                <a:r>
                  <a:rPr lang="en-IN" sz="2400">
                    <a:solidFill>
                      <a:srgbClr val="111827"/>
                    </a:solidFill>
                    <a:latin typeface="Cambria Math" panose="02040503050406030204" pitchFamily="18" charset="0"/>
                  </a:rPr>
                  <a:t>$5,5,8$</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a:t>
                </a:r>
                <a:r>
                  <a:rPr lang="en-IN" sz="2400">
                    <a:solidFill>
                      <a:srgbClr val="111827"/>
                    </a:solidFill>
                    <a:latin typeface="Cambria Math" panose="02040503050406030204" pitchFamily="18" charset="0"/>
                  </a:rPr>
                  <a:t>$21$</a:t>
                </a:r>
                <a:r>
                  <a:rPr sz="2400" b="0">
                    <a:solidFill>
                      <a:srgbClr val="111827"/>
                    </a:solidFill>
                    <a:latin typeface="Arial"/>
                  </a:rPr>
                  <a:t>: digits </a:t>
                </a:r>
                <a:r>
                  <a:rPr lang="en-IN" sz="2400">
                    <a:solidFill>
                      <a:srgbClr val="111827"/>
                    </a:solidFill>
                    <a:latin typeface="Cambria Math" panose="02040503050406030204" pitchFamily="18" charset="0"/>
                  </a:rPr>
                  <a:t>$5,8,8$</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a:t>
                </a:r>
                <a:r>
                  <a:rPr lang="en-IN" sz="2400">
                    <a:solidFill>
                      <a:srgbClr val="111827"/>
                    </a:solidFill>
                    <a:latin typeface="Cambria Math" panose="02040503050406030204" pitchFamily="18" charset="0"/>
                  </a:rPr>
                  <a:t>$24$</a:t>
                </a:r>
                <a:r>
                  <a:rPr sz="2400" b="0">
                    <a:solidFill>
                      <a:srgbClr val="111827"/>
                    </a:solidFill>
                    <a:latin typeface="Arial"/>
                  </a:rPr>
                  <a:t>: digits </a:t>
                </a:r>
                <a:r>
                  <a:rPr lang="en-IN" sz="2400">
                    <a:solidFill>
                      <a:srgbClr val="111827"/>
                    </a:solidFill>
                    <a:latin typeface="Cambria Math" panose="02040503050406030204" pitchFamily="18" charset="0"/>
                  </a:rPr>
                  <a:t>$8,8,8$</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Numbers: </a:t>
                </a:r>
                <a:r>
                  <a:rPr lang="en-IN" sz="2400">
                    <a:solidFill>
                      <a:srgbClr val="111827"/>
                    </a:solidFill>
                    <a:latin typeface="Cambria Math" panose="02040503050406030204" pitchFamily="18" charset="0"/>
                  </a:rPr>
                  <a:t>$1+3!+1+3!+1+\dfrac{3!}{2!}+\dfrac{3!}{2!}+1$</a:t>
                </a:r>
                <a:r>
                  <a:rPr sz="2400" b="0">
                    <a:solidFill>
                      <a:srgbClr val="111827"/>
                    </a:solidFill>
                    <a:latin typeface="Arial"/>
                  </a:rPr>
                  <a:t> for </a:t>
                </a:r>
                <a:r>
                  <a:rPr lang="en-IN" sz="2400">
                    <a:solidFill>
                      <a:srgbClr val="111827"/>
                    </a:solidFill>
                    <a:latin typeface="Cambria Math" panose="02040503050406030204" pitchFamily="18" charset="0"/>
                  </a:rPr>
                  <a:t>$111;\ 135;\ 333;\ 138;\ 555;\ 558;\ 588;\ 888$</a:t>
                </a:r>
                <a:r>
                  <a:rPr sz="2400" b="0">
                    <a:solidFill>
                      <a:srgbClr val="111827"/>
                    </a:solidFill>
                    <a:latin typeface="Arial"/>
                  </a:rPr>
                  <a:t> respectively.</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$=1+6+1+6+1+3+3+1=22$</a:t>
                </a:r>
                <a:r>
                  <a:rPr sz="2400" b="0">
                    <a:solidFill>
                      <a:srgbClr val="111827"/>
                    </a:solidFill>
                    <a:latin typeface="Arial"/>
                  </a:rPr>
                  <a:t>, option (A).</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a:t>
                </a:r>
                <a14:m>
                  <m:oMath xmlns:m="http://schemas.openxmlformats.org/officeDocument/2006/math">
                    <m:r>
                      <a:rPr lang="en-IN" sz="2800" i="1">
                        <a:solidFill>
                          <a:srgbClr val="15803D"/>
                        </a:solidFill>
                        <a:latin typeface="Cambria Math" panose="02040503050406030204" pitchFamily="18" charset="0"/>
                      </a:rPr>
                      <m:t>22</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a:t>
                </a:r>
                <a:r>
                  <a:rPr lang="en-IN" sz="2800">
                    <a:solidFill>
                      <a:srgbClr val="15803D"/>
                    </a:solidFill>
                    <a:latin typeface="Cambria Math" panose="02040503050406030204" pitchFamily="18" charset="0"/>
                  </a:rPr>
                  <a:t>$22$</a:t>
                </a:r>
                <a:endParaRPr sz="2800">
                  <a:solidFill>
                    <a:srgbClr val="15803D"/>
                  </a:solidFill>
                </a:endParaRPr>
              </a:p>
            </p:txBody>
          </p:sp>
        </mc:Fallback>
      </mc:AlternateContent>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Work with residues mod 3: the digits fall in classes </a:t>
                </a:r>
                <a14:m>
                  <m:oMath xmlns:m="http://schemas.openxmlformats.org/officeDocument/2006/math">
                    <m:r>
                      <a:rPr lang="en-IN" sz="2400" i="1">
                        <a:solidFill>
                          <a:srgbClr val="78350F"/>
                        </a:solidFill>
                        <a:latin typeface="Cambria Math" panose="02040503050406030204" pitchFamily="18" charset="0"/>
                      </a:rPr>
                      <m:t>0</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a:t>
                </a:r>
                <a14:m>
                  <m:oMath xmlns:m="http://schemas.openxmlformats.org/officeDocument/2006/math">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a:t>
                </a:r>
                <a14:m>
                  <m:oMath xmlns:m="http://schemas.openxmlformats.org/officeDocument/2006/math">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5</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8</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and count residue patterns.</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Work with residues mod 3: the digits fall in classes </a:t>
                </a:r>
                <a:r>
                  <a:rPr lang="en-IN" sz="2400">
                    <a:solidFill>
                      <a:srgbClr val="78350F"/>
                    </a:solidFill>
                    <a:latin typeface="Cambria Math" panose="02040503050406030204" pitchFamily="18" charset="0"/>
                  </a:rPr>
                  <a:t>$0:\{3\}$</a:t>
                </a:r>
                <a:r>
                  <a:rPr sz="2400" b="0">
                    <a:solidFill>
                      <a:srgbClr val="78350F"/>
                    </a:solidFill>
                    <a:latin typeface="Arial"/>
                  </a:rPr>
                  <a:t>, </a:t>
                </a:r>
                <a:r>
                  <a:rPr lang="en-IN" sz="2400">
                    <a:solidFill>
                      <a:srgbClr val="78350F"/>
                    </a:solidFill>
                    <a:latin typeface="Cambria Math" panose="02040503050406030204" pitchFamily="18" charset="0"/>
                  </a:rPr>
                  <a:t>$1:\{1\}$</a:t>
                </a:r>
                <a:r>
                  <a:rPr sz="2400" b="0">
                    <a:solidFill>
                      <a:srgbClr val="78350F"/>
                    </a:solidFill>
                    <a:latin typeface="Arial"/>
                  </a:rPr>
                  <a:t>, </a:t>
                </a:r>
                <a:r>
                  <a:rPr lang="en-IN" sz="2400">
                    <a:solidFill>
                      <a:srgbClr val="78350F"/>
                    </a:solidFill>
                    <a:latin typeface="Cambria Math" panose="02040503050406030204" pitchFamily="18" charset="0"/>
                  </a:rPr>
                  <a:t>$2:\{5,8\}$</a:t>
                </a:r>
                <a:r>
                  <a:rPr sz="2400" b="0">
                    <a:solidFill>
                      <a:srgbClr val="78350F"/>
                    </a:solidFill>
                    <a:latin typeface="Arial"/>
                  </a:rPr>
                  <a:t>, and count residue patterns.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Residues mod 3 of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 are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class 0 has one digit (3), class 1 has one digit (1), class 2 has two digits (5, 8).</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Residues </a:t>
                </a:r>
                <a14:m>
                  <m:oMath xmlns:m="http://schemas.openxmlformats.org/officeDocument/2006/math">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happens only for all three equal, or all three different.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All equal: class 0: </a:t>
                </a:r>
                <a14:m>
                  <m:oMath xmlns:m="http://schemas.openxmlformats.org/officeDocument/2006/math">
                    <m:sSup>
                      <m:e>
                        <m:r>
                          <a:rPr lang="en-IN" sz="2400" i="1">
                            <a:solidFill>
                              <a:srgbClr val="111827"/>
                            </a:solidFill>
                            <a:latin typeface="Cambria Math" panose="02040503050406030204" pitchFamily="18" charset="0"/>
                          </a:rPr>
                          <m:t>1</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class 1: </a:t>
                </a:r>
                <a14:m>
                  <m:oMath xmlns:m="http://schemas.openxmlformats.org/officeDocument/2006/math">
                    <m:sSup>
                      <m:e>
                        <m:r>
                          <a:rPr lang="en-IN" sz="2400" i="1">
                            <a:solidFill>
                              <a:srgbClr val="111827"/>
                            </a:solidFill>
                            <a:latin typeface="Cambria Math" panose="02040503050406030204" pitchFamily="18" charset="0"/>
                          </a:rPr>
                          <m:t>1</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class 2: </a:t>
                </a:r>
                <a14:m>
                  <m:oMath xmlns:m="http://schemas.openxmlformats.org/officeDocument/2006/math">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 total </a:t>
                </a:r>
                <a14:m>
                  <m:oMath xmlns:m="http://schemas.openxmlformats.org/officeDocument/2006/math">
                    <m:r>
                      <a:rPr lang="en-IN" sz="2400" i="1">
                        <a:solidFill>
                          <a:srgbClr val="111827"/>
                        </a:solidFill>
                        <a:latin typeface="Cambria Math" panose="02040503050406030204" pitchFamily="18" charset="0"/>
                      </a:rPr>
                      <m:t>10</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Residues mod 3 of </a:t>
                </a:r>
                <a:r>
                  <a:rPr lang="en-IN" sz="2400">
                    <a:solidFill>
                      <a:srgbClr val="111827"/>
                    </a:solidFill>
                    <a:latin typeface="Cambria Math" panose="02040503050406030204" pitchFamily="18" charset="0"/>
                  </a:rPr>
                  <a:t>$1,3,5,8$</a:t>
                </a:r>
                <a:r>
                  <a:rPr sz="2400" b="0">
                    <a:solidFill>
                      <a:srgbClr val="111827"/>
                    </a:solidFill>
                    <a:latin typeface="Arial"/>
                  </a:rPr>
                  <a:t> are </a:t>
                </a:r>
                <a:r>
                  <a:rPr lang="en-IN" sz="2400">
                    <a:solidFill>
                      <a:srgbClr val="111827"/>
                    </a:solidFill>
                    <a:latin typeface="Cambria Math" panose="02040503050406030204" pitchFamily="18" charset="0"/>
                  </a:rPr>
                  <a:t>$1,0,2,2$</a:t>
                </a:r>
                <a:r>
                  <a:rPr sz="2400" b="0">
                    <a:solidFill>
                      <a:srgbClr val="111827"/>
                    </a:solidFill>
                    <a:latin typeface="Arial"/>
                  </a:rPr>
                  <a:t>: class 0 has one digit (3), class 1 has one digit (1), class 2 has two digits (5, 8).</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Residues </a:t>
                </a:r>
                <a:r>
                  <a:rPr lang="en-IN" sz="2400">
                    <a:solidFill>
                      <a:srgbClr val="111827"/>
                    </a:solidFill>
                    <a:latin typeface="Cambria Math" panose="02040503050406030204" pitchFamily="18" charset="0"/>
                  </a:rPr>
                  <a:t>$r_1+r_2+r_3\equiv0\pmod3$</a:t>
                </a:r>
                <a:r>
                  <a:rPr sz="2400" b="0">
                    <a:solidFill>
                      <a:srgbClr val="111827"/>
                    </a:solidFill>
                    <a:latin typeface="Arial"/>
                  </a:rPr>
                  <a:t> happens only for all three equal, or all three different.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All equal: class 0: </a:t>
                </a:r>
                <a:r>
                  <a:rPr lang="en-IN" sz="2400">
                    <a:solidFill>
                      <a:srgbClr val="111827"/>
                    </a:solidFill>
                    <a:latin typeface="Cambria Math" panose="02040503050406030204" pitchFamily="18" charset="0"/>
                  </a:rPr>
                  <a:t>$1^3=1$</a:t>
                </a:r>
                <a:r>
                  <a:rPr sz="2400" b="0">
                    <a:solidFill>
                      <a:srgbClr val="111827"/>
                    </a:solidFill>
                    <a:latin typeface="Arial"/>
                  </a:rPr>
                  <a:t>; class 1: </a:t>
                </a:r>
                <a:r>
                  <a:rPr lang="en-IN" sz="2400">
                    <a:solidFill>
                      <a:srgbClr val="111827"/>
                    </a:solidFill>
                    <a:latin typeface="Cambria Math" panose="02040503050406030204" pitchFamily="18" charset="0"/>
                  </a:rPr>
                  <a:t>$1^3=1$</a:t>
                </a:r>
                <a:r>
                  <a:rPr sz="2400" b="0">
                    <a:solidFill>
                      <a:srgbClr val="111827"/>
                    </a:solidFill>
                    <a:latin typeface="Arial"/>
                  </a:rPr>
                  <a:t>; class 2: </a:t>
                </a:r>
                <a:r>
                  <a:rPr lang="en-IN" sz="2400">
                    <a:solidFill>
                      <a:srgbClr val="111827"/>
                    </a:solidFill>
                    <a:latin typeface="Cambria Math" panose="02040503050406030204" pitchFamily="18" charset="0"/>
                  </a:rPr>
                  <a:t>$2^3=8$</a:t>
                </a:r>
                <a:r>
                  <a:rPr sz="2400" b="0">
                    <a:solidFill>
                      <a:srgbClr val="111827"/>
                    </a:solidFill>
                    <a:latin typeface="Arial"/>
                  </a:rPr>
                  <a:t>, total </a:t>
                </a:r>
                <a:r>
                  <a:rPr lang="en-IN" sz="2400">
                    <a:solidFill>
                      <a:srgbClr val="111827"/>
                    </a:solidFill>
                    <a:latin typeface="Cambria Math" panose="02040503050406030204" pitchFamily="18" charset="0"/>
                  </a:rPr>
                  <a:t>$10$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All different: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orderings of the classes, with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digit choices, total </a:t>
                </a:r>
                <a14:m>
                  <m:oMath xmlns:m="http://schemas.openxmlformats.org/officeDocument/2006/math">
                    <m:r>
                      <a:rPr lang="en-IN" sz="2400" i="1">
                        <a:solidFill>
                          <a:srgbClr val="111827"/>
                        </a:solidFill>
                        <a:latin typeface="Cambria Math" panose="02040503050406030204" pitchFamily="18" charset="0"/>
                      </a:rPr>
                      <m:t>12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Required count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22</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All different: </a:t>
                </a:r>
                <a:r>
                  <a:rPr lang="en-IN" sz="2400">
                    <a:solidFill>
                      <a:srgbClr val="111827"/>
                    </a:solidFill>
                    <a:latin typeface="Cambria Math" panose="02040503050406030204" pitchFamily="18" charset="0"/>
                  </a:rPr>
                  <a:t>$3!=6$</a:t>
                </a:r>
                <a:r>
                  <a:rPr sz="2400" b="0">
                    <a:solidFill>
                      <a:srgbClr val="111827"/>
                    </a:solidFill>
                    <a:latin typeface="Arial"/>
                  </a:rPr>
                  <a:t> orderings of the classes, with </a:t>
                </a:r>
                <a:r>
                  <a:rPr lang="en-IN" sz="2400">
                    <a:solidFill>
                      <a:srgbClr val="111827"/>
                    </a:solidFill>
                    <a:latin typeface="Cambria Math" panose="02040503050406030204" pitchFamily="18" charset="0"/>
                  </a:rPr>
                  <a:t>$1\cdot1\cdot2=2$</a:t>
                </a:r>
                <a:r>
                  <a:rPr sz="2400" b="0">
                    <a:solidFill>
                      <a:srgbClr val="111827"/>
                    </a:solidFill>
                    <a:latin typeface="Arial"/>
                  </a:rPr>
                  <a:t> digit choices, total </a:t>
                </a:r>
                <a:r>
                  <a:rPr lang="en-IN" sz="2400">
                    <a:solidFill>
                      <a:srgbClr val="111827"/>
                    </a:solidFill>
                    <a:latin typeface="Cambria Math" panose="02040503050406030204" pitchFamily="18" charset="0"/>
                  </a:rPr>
                  <a:t>$12$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Required count </a:t>
                </a:r>
                <a:r>
                  <a:rPr lang="en-IN" sz="2400">
                    <a:solidFill>
                      <a:srgbClr val="111827"/>
                    </a:solidFill>
                    <a:latin typeface="Cambria Math" panose="02040503050406030204" pitchFamily="18" charset="0"/>
                  </a:rPr>
                  <a:t>$=10+12=22$</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a:t>
                </a:r>
                <a14:m>
                  <m:oMath xmlns:m="http://schemas.openxmlformats.org/officeDocument/2006/math">
                    <m:r>
                      <a:rPr lang="en-IN" sz="2800" i="1">
                        <a:solidFill>
                          <a:srgbClr val="15803D"/>
                        </a:solidFill>
                        <a:latin typeface="Cambria Math" panose="02040503050406030204" pitchFamily="18" charset="0"/>
                      </a:rPr>
                      <m:t>22</m:t>
                    </m:r>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a:t>
                </a:r>
                <a:r>
                  <a:rPr lang="en-IN" sz="2800">
                    <a:solidFill>
                      <a:srgbClr val="15803D"/>
                    </a:solidFill>
                    <a:latin typeface="Cambria Math" panose="02040503050406030204" pitchFamily="18" charset="0"/>
                  </a:rPr>
                  <a:t>$22$</a:t>
                </a:r>
                <a:endParaRPr sz="2800">
                  <a:solidFill>
                    <a:srgbClr val="15803D"/>
                  </a:solidFill>
                </a:endParaRPr>
              </a:p>
            </p:txBody>
          </p:sp>
        </mc:Fallback>
      </mc:AlternateContent>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Divisibility by 3 (or 9) depends only on the digit sum, so count multisets of digits with the right sum and multiply by arrangements.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With repetition allowed and digits sorted into residue classes mod 3 with sizes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 count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𝑐</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here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22</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Divisibility by 3 (or 9) depends only on the digit sum, so count multisets of digits with the right sum and multiply by arrangements.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With repetition allowed and digits sorted into residue classes mod 3 with sizes </a:t>
                </a:r>
                <a:r>
                  <a:rPr lang="en-IN" sz="2400">
                    <a:solidFill>
                      <a:srgbClr val="111827"/>
                    </a:solidFill>
                    <a:latin typeface="Cambria Math" panose="02040503050406030204" pitchFamily="18" charset="0"/>
                  </a:rPr>
                  <a:t>$a,b,c$</a:t>
                </a:r>
                <a:r>
                  <a:rPr sz="2400" b="0">
                    <a:solidFill>
                      <a:srgbClr val="111827"/>
                    </a:solidFill>
                    <a:latin typeface="Arial"/>
                  </a:rPr>
                  <a:t>: count </a:t>
                </a:r>
                <a:r>
                  <a:rPr lang="en-IN" sz="2400">
                    <a:solidFill>
                      <a:srgbClr val="111827"/>
                    </a:solidFill>
                    <a:latin typeface="Cambria Math" panose="02040503050406030204" pitchFamily="18" charset="0"/>
                  </a:rPr>
                  <a:t>$=a^3+b^3+c^3+6abc$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here </a:t>
                </a:r>
                <a:r>
                  <a:rPr lang="en-IN" sz="2400">
                    <a:solidFill>
                      <a:srgbClr val="111827"/>
                    </a:solidFill>
                    <a:latin typeface="Cambria Math" panose="02040503050406030204" pitchFamily="18" charset="0"/>
                  </a:rPr>
                  <a:t>$a,b,c=1,1,2$</a:t>
                </a:r>
                <a:r>
                  <a:rPr sz="2400" b="0">
                    <a:solidFill>
                      <a:srgbClr val="111827"/>
                    </a:solidFill>
                    <a:latin typeface="Arial"/>
                  </a:rPr>
                  <a:t> gives </a:t>
                </a:r>
                <a:r>
                  <a:rPr lang="en-IN" sz="2400">
                    <a:solidFill>
                      <a:srgbClr val="111827"/>
                    </a:solidFill>
                    <a:latin typeface="Cambria Math" panose="02040503050406030204" pitchFamily="18" charset="0"/>
                  </a:rPr>
                  <a:t>$1+1+8+12=22$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2895" cy="4114800"/>
          </a:xfrm>
          <a:prstGeom prst="rect">
            <a:avLst/>
          </a:prstGeom>
          <a:noFill/>
        </p:spPr>
        <p:txBody>
          <a:bodyPr wrap="square">
            <a:spAutoFit/>
          </a:bodyPr>
          <a:lstStyle>
            <a:lvl1pPr>
              <a:defRPr sz="2800">
                <a:solidFill>
                  <a:srgbClr val="FFFFFF"/>
                </a:solidFill>
              </a:defRPr>
            </a:lvl1pPr>
          </a:lstStyle>
          <a:p>
            <a:pPr algn="ctr">
              <a:spcAft>
                <a:spcPts val="1000"/>
              </a:spcAft>
              <a:defRPr sz="2800">
                <a:solidFill>
                  <a:srgbClr val="FFFFFF"/>
                </a:solidFill>
              </a:defRPr>
            </a:pPr>
            <a:r>
              <a:rPr sz="2800" b="0">
                <a:solidFill>
                  <a:srgbClr val="93C5FD"/>
                </a:solidFill>
                <a:latin typeface="Arial"/>
              </a:rPr>
              <a:t>Section 2</a:t>
            </a:r>
            <a:endParaRPr sz="2800">
              <a:solidFill>
                <a:srgbClr val="FFFFFF"/>
              </a:solidFill>
            </a:endParaRPr>
          </a:p>
          <a:p>
            <a:pPr algn="ctr">
              <a:spcAft>
                <a:spcPts val="1000"/>
              </a:spcAft>
              <a:defRPr sz="2800">
                <a:solidFill>
                  <a:srgbClr val="FFFFFF"/>
                </a:solidFill>
              </a:defRPr>
            </a:pPr>
            <a:r>
              <a:rPr sz="4400" b="1">
                <a:solidFill>
                  <a:srgbClr val="FFFFFF"/>
                </a:solidFill>
                <a:latin typeface="Arial"/>
              </a:rPr>
              <a:t>Numerical Type</a:t>
            </a:r>
            <a:endParaRPr sz="2800">
              <a:solidFill>
                <a:srgbClr val="FFFFFF"/>
              </a:solidFill>
            </a:endParaRPr>
          </a:p>
          <a:p>
            <a:pPr algn="ctr">
              <a:spcAft>
                <a:spcPts val="1000"/>
              </a:spcAft>
              <a:defRPr sz="2800">
                <a:solidFill>
                  <a:srgbClr val="FFFFFF"/>
                </a:solidFill>
              </a:defRPr>
            </a:pPr>
            <a:r>
              <a:rPr sz="3200" b="1">
                <a:solidFill>
                  <a:srgbClr val="FFFFFF"/>
                </a:solidFill>
                <a:latin typeface="Arial"/>
              </a:rPr>
              <a:t>Q04 – Q19</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4 marks each (assumed: no marks printed in the paper)</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JEE Advanced default for numerical questions</a:t>
            </a:r>
            <a:endParaRPr sz="2800">
              <a:solidFill>
                <a:srgbClr val="FFFFFF"/>
              </a:solidFill>
            </a:endParaRP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the number of seven-digit numbers, such that the sum of their digits is even, is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10</m:t>
                        </m:r>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oMath>
                </a14:m>
                <a:r>
                  <a:rPr sz="2400" b="0">
                    <a:solidFill>
                      <a:srgbClr val="111827"/>
                    </a:solidFill>
                    <a:latin typeface="Arial"/>
                  </a:rPr>
                  <a:t> is equal to ____.</a:t>
                </a:r>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the number of seven-digit numbers, such that the sum of their digits is even, is </a:t>
                </a:r>
                <a:r>
                  <a:rPr lang="en-IN" sz="2400">
                    <a:solidFill>
                      <a:srgbClr val="111827"/>
                    </a:solidFill>
                    <a:latin typeface="Cambria Math" panose="02040503050406030204" pitchFamily="18" charset="0"/>
                  </a:rPr>
                  <a:t>$m\cdot n\cdot10^{n}$</a:t>
                </a:r>
                <a:r>
                  <a:rPr sz="2400" b="0">
                    <a:solidFill>
                      <a:srgbClr val="111827"/>
                    </a:solidFill>
                    <a:latin typeface="Arial"/>
                  </a:rPr>
                  <a:t>; </a:t>
                </a:r>
                <a:r>
                  <a:rPr lang="en-IN" sz="2400">
                    <a:solidFill>
                      <a:srgbClr val="111827"/>
                    </a:solidFill>
                    <a:latin typeface="Cambria Math" panose="02040503050406030204" pitchFamily="18" charset="0"/>
                  </a:rPr>
                  <a:t>$m,n\in\{1,2,3,\dots,9\}$</a:t>
                </a:r>
                <a:r>
                  <a:rPr sz="2400" b="0">
                    <a:solidFill>
                      <a:srgbClr val="111827"/>
                    </a:solidFill>
                    <a:latin typeface="Arial"/>
                  </a:rPr>
                  <a:t>, then </a:t>
                </a:r>
                <a:r>
                  <a:rPr lang="en-IN" sz="2400">
                    <a:solidFill>
                      <a:srgbClr val="111827"/>
                    </a:solidFill>
                    <a:latin typeface="Cambria Math" panose="02040503050406030204" pitchFamily="18" charset="0"/>
                  </a:rPr>
                  <a:t>$m+n$</a:t>
                </a:r>
                <a:r>
                  <a:rPr sz="2400" b="0">
                    <a:solidFill>
                      <a:srgbClr val="111827"/>
                    </a:solidFill>
                    <a:latin typeface="Arial"/>
                  </a:rPr>
                  <a:t> is equal to ____.</a:t>
                </a:r>
                <a:endParaRPr sz="2400">
                  <a:solidFill>
                    <a:srgbClr val="111827"/>
                  </a:solidFill>
                </a:endParaRPr>
              </a:p>
            </p:txBody>
          </p:sp>
        </mc:Fallback>
      </mc:AlternateContent>
      <p:sp>
        <p:nvSpPr>
          <p:cNvPr id="5" name="Rectangle 4"/>
          <p:cNvSpPr/>
          <p:nvPr/>
        </p:nvSpPr>
        <p:spPr>
          <a:xfrm>
            <a:off x="731520" y="3246120"/>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Counting numbers with a digit-sum parity condition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Fixing the first six digits, exactly half of the ten last digits make the digit sum even.</a:t>
            </a:r>
            <a:endParaRPr sz="24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Total seven-digit numbers: </a:t>
                </a:r>
                <a14:m>
                  <m:oMath xmlns:m="http://schemas.openxmlformats.org/officeDocument/2006/math">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10</m:t>
                        </m:r>
                      </m:e>
                      <m:sup>
                        <m:r>
                          <a:rPr lang="en-IN" sz="2400" i="1">
                            <a:solidFill>
                              <a:srgbClr val="111827"/>
                            </a:solidFill>
                            <a:latin typeface="Cambria Math" panose="02040503050406030204" pitchFamily="18" charset="0"/>
                          </a:rPr>
                          <m:t>6</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9000000</m:t>
                    </m:r>
                  </m:oMath>
                </a14:m>
                <a:r>
                  <a:rPr sz="2400" b="0">
                    <a:solidFill>
                      <a:srgbClr val="111827"/>
                    </a:solidFill>
                    <a:latin typeface="Arial"/>
                  </a:rPr>
                  <a:t> (first digit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to </a:t>
                </a:r>
                <a14:m>
                  <m:oMath xmlns:m="http://schemas.openxmlformats.org/officeDocument/2006/math">
                    <m:r>
                      <a:rPr lang="en-IN" sz="2400" i="1">
                        <a:solidFill>
                          <a:srgbClr val="111827"/>
                        </a:solidFill>
                        <a:latin typeface="Cambria Math" panose="02040503050406030204" pitchFamily="18" charset="0"/>
                      </a:rPr>
                      <m:t>9</m:t>
                    </m:r>
                  </m:oMath>
                </a14:m>
                <a:r>
                  <a:rPr sz="2400" b="0">
                    <a:solidFill>
                      <a:srgbClr val="111827"/>
                    </a:solidFill>
                    <a:latin typeface="Arial"/>
                  </a:rPr>
                  <a:t>, other six digits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to </a:t>
                </a:r>
                <a14:m>
                  <m:oMath xmlns:m="http://schemas.openxmlformats.org/officeDocument/2006/math">
                    <m:r>
                      <a:rPr lang="en-IN" sz="2400" i="1">
                        <a:solidFill>
                          <a:srgbClr val="111827"/>
                        </a:solidFill>
                        <a:latin typeface="Cambria Math" panose="02040503050406030204" pitchFamily="18" charset="0"/>
                      </a:rPr>
                      <m:t>9</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any fixed first six digits, the last digit decides the parity: exactly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of the </a:t>
                </a:r>
                <a14:m>
                  <m:oMath xmlns:m="http://schemas.openxmlformats.org/officeDocument/2006/math">
                    <m:r>
                      <a:rPr lang="en-IN" sz="2400" i="1">
                        <a:solidFill>
                          <a:srgbClr val="111827"/>
                        </a:solidFill>
                        <a:latin typeface="Cambria Math" panose="02040503050406030204" pitchFamily="18" charset="0"/>
                      </a:rPr>
                      <m:t>10</m:t>
                    </m:r>
                  </m:oMath>
                </a14:m>
                <a:r>
                  <a:rPr sz="2400" b="0">
                    <a:solidFill>
                      <a:srgbClr val="111827"/>
                    </a:solidFill>
                    <a:latin typeface="Arial"/>
                  </a:rPr>
                  <a:t> digits make the sum even.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exactly half of all seven-digit numbers have an even digit sum: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9000000</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4500000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Total seven-digit numbers: </a:t>
                </a:r>
                <a:r>
                  <a:rPr lang="en-IN" sz="2400">
                    <a:solidFill>
                      <a:srgbClr val="111827"/>
                    </a:solidFill>
                    <a:latin typeface="Cambria Math" panose="02040503050406030204" pitchFamily="18" charset="0"/>
                  </a:rPr>
                  <a:t>$9\times10^6=9000000$</a:t>
                </a:r>
                <a:r>
                  <a:rPr sz="2400" b="0">
                    <a:solidFill>
                      <a:srgbClr val="111827"/>
                    </a:solidFill>
                    <a:latin typeface="Arial"/>
                  </a:rPr>
                  <a:t> (first digit </a:t>
                </a:r>
                <a:r>
                  <a:rPr lang="en-IN" sz="2400">
                    <a:solidFill>
                      <a:srgbClr val="111827"/>
                    </a:solidFill>
                    <a:latin typeface="Cambria Math" panose="02040503050406030204" pitchFamily="18" charset="0"/>
                  </a:rPr>
                  <a:t>$1$</a:t>
                </a:r>
                <a:r>
                  <a:rPr sz="2400" b="0">
                    <a:solidFill>
                      <a:srgbClr val="111827"/>
                    </a:solidFill>
                    <a:latin typeface="Arial"/>
                  </a:rPr>
                  <a:t> to </a:t>
                </a:r>
                <a:r>
                  <a:rPr lang="en-IN" sz="2400">
                    <a:solidFill>
                      <a:srgbClr val="111827"/>
                    </a:solidFill>
                    <a:latin typeface="Cambria Math" panose="02040503050406030204" pitchFamily="18" charset="0"/>
                  </a:rPr>
                  <a:t>$9$</a:t>
                </a:r>
                <a:r>
                  <a:rPr sz="2400" b="0">
                    <a:solidFill>
                      <a:srgbClr val="111827"/>
                    </a:solidFill>
                    <a:latin typeface="Arial"/>
                  </a:rPr>
                  <a:t>, other six digits </a:t>
                </a:r>
                <a:r>
                  <a:rPr lang="en-IN" sz="2400">
                    <a:solidFill>
                      <a:srgbClr val="111827"/>
                    </a:solidFill>
                    <a:latin typeface="Cambria Math" panose="02040503050406030204" pitchFamily="18" charset="0"/>
                  </a:rPr>
                  <a:t>$0$</a:t>
                </a:r>
                <a:r>
                  <a:rPr sz="2400" b="0">
                    <a:solidFill>
                      <a:srgbClr val="111827"/>
                    </a:solidFill>
                    <a:latin typeface="Arial"/>
                  </a:rPr>
                  <a:t> to </a:t>
                </a:r>
                <a:r>
                  <a:rPr lang="en-IN" sz="2400">
                    <a:solidFill>
                      <a:srgbClr val="111827"/>
                    </a:solidFill>
                    <a:latin typeface="Cambria Math" panose="02040503050406030204" pitchFamily="18" charset="0"/>
                  </a:rPr>
                  <a:t>$9$</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any fixed first six digits, the last digit decides the parity: exactly </a:t>
                </a:r>
                <a:r>
                  <a:rPr lang="en-IN" sz="2400">
                    <a:solidFill>
                      <a:srgbClr val="111827"/>
                    </a:solidFill>
                    <a:latin typeface="Cambria Math" panose="02040503050406030204" pitchFamily="18" charset="0"/>
                  </a:rPr>
                  <a:t>$5$</a:t>
                </a:r>
                <a:r>
                  <a:rPr sz="2400" b="0">
                    <a:solidFill>
                      <a:srgbClr val="111827"/>
                    </a:solidFill>
                    <a:latin typeface="Arial"/>
                  </a:rPr>
                  <a:t> of the </a:t>
                </a:r>
                <a:r>
                  <a:rPr lang="en-IN" sz="2400">
                    <a:solidFill>
                      <a:srgbClr val="111827"/>
                    </a:solidFill>
                    <a:latin typeface="Cambria Math" panose="02040503050406030204" pitchFamily="18" charset="0"/>
                  </a:rPr>
                  <a:t>$10$</a:t>
                </a:r>
                <a:r>
                  <a:rPr sz="2400" b="0">
                    <a:solidFill>
                      <a:srgbClr val="111827"/>
                    </a:solidFill>
                    <a:latin typeface="Arial"/>
                  </a:rPr>
                  <a:t> digits make the sum even.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exactly half of all seven-digit numbers have an even digit sum: </a:t>
                </a:r>
                <a:r>
                  <a:rPr lang="en-IN" sz="2400">
                    <a:solidFill>
                      <a:srgbClr val="111827"/>
                    </a:solidFill>
                    <a:latin typeface="Cambria Math" panose="02040503050406030204" pitchFamily="18" charset="0"/>
                  </a:rPr>
                  <a:t>$\dfrac{9000000}{2}=4500000$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Write </a:t>
                </a:r>
                <a14:m>
                  <m:oMath xmlns:m="http://schemas.openxmlformats.org/officeDocument/2006/math">
                    <m:r>
                      <a:rPr lang="en-IN" sz="2400" i="1">
                        <a:solidFill>
                          <a:srgbClr val="111827"/>
                        </a:solidFill>
                        <a:latin typeface="Cambria Math" panose="02040503050406030204" pitchFamily="18" charset="0"/>
                      </a:rPr>
                      <m:t>4500000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10</m:t>
                        </m:r>
                      </m:e>
                      <m:sup>
                        <m:r>
                          <a:rPr lang="en-IN" sz="2400" i="1">
                            <a:solidFill>
                              <a:srgbClr val="111827"/>
                            </a:solidFill>
                            <a:latin typeface="Cambria Math" panose="02040503050406030204" pitchFamily="18" charset="0"/>
                          </a:rPr>
                          <m:t>5</m:t>
                        </m:r>
                      </m:sup>
                    </m:sSup>
                  </m:oMath>
                </a14:m>
                <a:r>
                  <a:rPr sz="2400" b="0">
                    <a:solidFill>
                      <a:srgbClr val="111827"/>
                    </a:solidFill>
                    <a:latin typeface="Arial"/>
                  </a:rPr>
                  <a:t>, which is of the form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10</m:t>
                        </m:r>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(no other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in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works).</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Write </a:t>
                </a:r>
                <a:r>
                  <a:rPr lang="en-IN" sz="2400">
                    <a:solidFill>
                      <a:srgbClr val="111827"/>
                    </a:solidFill>
                    <a:latin typeface="Cambria Math" panose="02040503050406030204" pitchFamily="18" charset="0"/>
                  </a:rPr>
                  <a:t>$4500000=9\cdot5\cdot10^{5}$</a:t>
                </a:r>
                <a:r>
                  <a:rPr sz="2400" b="0">
                    <a:solidFill>
                      <a:srgbClr val="111827"/>
                    </a:solidFill>
                    <a:latin typeface="Arial"/>
                  </a:rPr>
                  <a:t>, which is of the form </a:t>
                </a:r>
                <a:r>
                  <a:rPr lang="en-IN" sz="2400">
                    <a:solidFill>
                      <a:srgbClr val="111827"/>
                    </a:solidFill>
                    <a:latin typeface="Cambria Math" panose="02040503050406030204" pitchFamily="18" charset="0"/>
                  </a:rPr>
                  <a:t>$m\cdot n\cdot10^{n}$</a:t>
                </a:r>
                <a:r>
                  <a:rPr sz="2400" b="0">
                    <a:solidFill>
                      <a:srgbClr val="111827"/>
                    </a:solidFill>
                    <a:latin typeface="Arial"/>
                  </a:rPr>
                  <a:t> with </a:t>
                </a:r>
                <a:r>
                  <a:rPr lang="en-IN" sz="2400">
                    <a:solidFill>
                      <a:srgbClr val="111827"/>
                    </a:solidFill>
                    <a:latin typeface="Cambria Math" panose="02040503050406030204" pitchFamily="18" charset="0"/>
                  </a:rPr>
                  <a:t>$m=9$</a:t>
                </a:r>
                <a:r>
                  <a:rPr sz="2400" b="0">
                    <a:solidFill>
                      <a:srgbClr val="111827"/>
                    </a:solidFill>
                    <a:latin typeface="Arial"/>
                  </a:rPr>
                  <a:t>, </a:t>
                </a:r>
                <a:r>
                  <a:rPr lang="en-IN" sz="2400">
                    <a:solidFill>
                      <a:srgbClr val="111827"/>
                    </a:solidFill>
                    <a:latin typeface="Cambria Math" panose="02040503050406030204" pitchFamily="18" charset="0"/>
                  </a:rPr>
                  <a:t>$n=5$</a:t>
                </a:r>
                <a:r>
                  <a:rPr sz="2400" b="0">
                    <a:solidFill>
                      <a:srgbClr val="111827"/>
                    </a:solidFill>
                    <a:latin typeface="Arial"/>
                  </a:rPr>
                  <a:t> (no other </a:t>
                </a:r>
                <a:r>
                  <a:rPr lang="en-IN" sz="2400">
                    <a:solidFill>
                      <a:srgbClr val="111827"/>
                    </a:solidFill>
                    <a:latin typeface="Cambria Math" panose="02040503050406030204" pitchFamily="18" charset="0"/>
                  </a:rPr>
                  <a:t>$n$</a:t>
                </a:r>
                <a:r>
                  <a:rPr sz="2400" b="0">
                    <a:solidFill>
                      <a:srgbClr val="111827"/>
                    </a:solidFill>
                    <a:latin typeface="Arial"/>
                  </a:rPr>
                  <a:t> in </a:t>
                </a:r>
                <a:r>
                  <a:rPr lang="en-IN" sz="2400">
                    <a:solidFill>
                      <a:srgbClr val="111827"/>
                    </a:solidFill>
                    <a:latin typeface="Cambria Math" panose="02040503050406030204" pitchFamily="18" charset="0"/>
                  </a:rPr>
                  <a:t>$1..9$</a:t>
                </a:r>
                <a:r>
                  <a:rPr sz="2400" b="0">
                    <a:solidFill>
                      <a:srgbClr val="111827"/>
                    </a:solidFill>
                    <a:latin typeface="Arial"/>
                  </a:rPr>
                  <a:t> works).</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$m+n=9+5=14$</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14</a:t>
            </a:r>
            <a:endParaRPr sz="2800">
              <a:solidFill>
                <a:srgbClr val="15803D"/>
              </a:solidFill>
            </a:endParaRP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Roots-of-unity filter: even-sum count </a:t>
                </a:r>
                <a14:m>
                  <m:oMath xmlns:m="http://schemas.openxmlformats.org/officeDocument/2006/math">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𝑓</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𝑓</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num>
                      <m:den>
                        <m:r>
                          <a:rPr lang="en-IN" sz="2400" i="1">
                            <a:solidFill>
                              <a:srgbClr val="78350F"/>
                            </a:solidFill>
                            <a:latin typeface="Cambria Math" panose="02040503050406030204" pitchFamily="18" charset="0"/>
                          </a:rPr>
                          <m:t>2</m:t>
                        </m:r>
                      </m:den>
                    </m:f>
                  </m:oMath>
                </a14:m>
                <a:r>
                  <a:rPr sz="2400" b="0">
                    <a:solidFill>
                      <a:srgbClr val="78350F"/>
                    </a:solidFill>
                    <a:latin typeface="Arial"/>
                  </a:rPr>
                  <a:t> for the digit generating function </a:t>
                </a:r>
                <a14:m>
                  <m:oMath xmlns:m="http://schemas.openxmlformats.org/officeDocument/2006/math">
                    <m:r>
                      <a:rPr lang="en-IN" sz="2400" i="1">
                        <a:solidFill>
                          <a:srgbClr val="78350F"/>
                        </a:solidFill>
                        <a:latin typeface="Cambria Math" panose="02040503050406030204" pitchFamily="18" charset="0"/>
                      </a:rPr>
                      <m:t>𝑓</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Roots-of-unity filter: even-sum count </a:t>
                </a:r>
                <a:r>
                  <a:rPr lang="en-IN" sz="2400">
                    <a:solidFill>
                      <a:srgbClr val="78350F"/>
                    </a:solidFill>
                    <a:latin typeface="Cambria Math" panose="02040503050406030204" pitchFamily="18" charset="0"/>
                  </a:rPr>
                  <a:t>$=\dfrac{f(1)+f(-1)}{2}$</a:t>
                </a:r>
                <a:r>
                  <a:rPr sz="2400" b="0">
                    <a:solidFill>
                      <a:srgbClr val="78350F"/>
                    </a:solidFill>
                    <a:latin typeface="Arial"/>
                  </a:rPr>
                  <a:t> for the digit generating function </a:t>
                </a:r>
                <a:r>
                  <a:rPr lang="en-IN" sz="2400">
                    <a:solidFill>
                      <a:srgbClr val="78350F"/>
                    </a:solidFill>
                    <a:latin typeface="Cambria Math" panose="02040503050406030204" pitchFamily="18" charset="0"/>
                  </a:rPr>
                  <a:t>$f$</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636520"/>
                <a:ext cx="10725912" cy="315163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9</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9</m:t>
                        </m:r>
                      </m:sup>
                    </m:sSup>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6</m:t>
                        </m:r>
                      </m:sup>
                    </m:sSup>
                  </m:oMath>
                </a14:m>
                <a:r>
                  <a:rPr sz="2400" b="0">
                    <a:solidFill>
                      <a:srgbClr val="111827"/>
                    </a:solidFill>
                    <a:latin typeface="Arial"/>
                  </a:rPr>
                  <a:t>; the coefficient of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𝑠</m:t>
                        </m:r>
                      </m:sup>
                    </m:sSup>
                  </m:oMath>
                </a14:m>
                <a:r>
                  <a:rPr sz="2400" b="0">
                    <a:solidFill>
                      <a:srgbClr val="111827"/>
                    </a:solidFill>
                    <a:latin typeface="Arial"/>
                  </a:rPr>
                  <a:t> counts seven-digit numbers with digit sum </a:t>
                </a:r>
                <a14:m>
                  <m:oMath xmlns:m="http://schemas.openxmlformats.org/officeDocument/2006/math">
                    <m:r>
                      <a:rPr lang="en-IN" sz="2400" i="1">
                        <a:solidFill>
                          <a:srgbClr val="111827"/>
                        </a:solidFill>
                        <a:latin typeface="Cambria Math" panose="02040503050406030204" pitchFamily="18" charset="0"/>
                      </a:rPr>
                      <m:t>𝑠</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Numbers with even digit sum: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10</m:t>
                        </m:r>
                      </m:e>
                      <m:sup>
                        <m:r>
                          <a:rPr lang="en-IN" sz="2400" i="1">
                            <a:solidFill>
                              <a:srgbClr val="111827"/>
                            </a:solidFill>
                            <a:latin typeface="Cambria Math" panose="02040503050406030204" pitchFamily="18" charset="0"/>
                          </a:rPr>
                          <m:t>6</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9</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(ten alternating terms), so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Even-sum count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10</m:t>
                            </m:r>
                          </m:e>
                          <m:sup>
                            <m:r>
                              <a:rPr lang="en-IN" sz="2400" i="1">
                                <a:solidFill>
                                  <a:srgbClr val="111827"/>
                                </a:solidFill>
                                <a:latin typeface="Cambria Math" panose="02040503050406030204" pitchFamily="18" charset="0"/>
                              </a:rPr>
                              <m:t>6</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4500000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10</m:t>
                        </m:r>
                      </m:e>
                      <m:sup>
                        <m:r>
                          <a:rPr lang="en-IN" sz="2400" i="1">
                            <a:solidFill>
                              <a:srgbClr val="111827"/>
                            </a:solidFill>
                            <a:latin typeface="Cambria Math" panose="02040503050406030204" pitchFamily="18" charset="0"/>
                          </a:rPr>
                          <m:t>5</m:t>
                        </m:r>
                      </m:sup>
                    </m:sSup>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636520"/>
                <a:ext cx="10725912" cy="315163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$f(x)=(x+x^2+\dots+x^9)(1+x+\dots+x^9)^6$</a:t>
                </a:r>
                <a:r>
                  <a:rPr sz="2400" b="0">
                    <a:solidFill>
                      <a:srgbClr val="111827"/>
                    </a:solidFill>
                    <a:latin typeface="Arial"/>
                  </a:rPr>
                  <a:t>; the coefficient of </a:t>
                </a:r>
                <a:r>
                  <a:rPr lang="en-IN" sz="2400">
                    <a:solidFill>
                      <a:srgbClr val="111827"/>
                    </a:solidFill>
                    <a:latin typeface="Cambria Math" panose="02040503050406030204" pitchFamily="18" charset="0"/>
                  </a:rPr>
                  <a:t>$x^s$</a:t>
                </a:r>
                <a:r>
                  <a:rPr sz="2400" b="0">
                    <a:solidFill>
                      <a:srgbClr val="111827"/>
                    </a:solidFill>
                    <a:latin typeface="Arial"/>
                  </a:rPr>
                  <a:t> counts seven-digit numbers with digit sum </a:t>
                </a:r>
                <a:r>
                  <a:rPr lang="en-IN" sz="2400">
                    <a:solidFill>
                      <a:srgbClr val="111827"/>
                    </a:solidFill>
                    <a:latin typeface="Cambria Math" panose="02040503050406030204" pitchFamily="18" charset="0"/>
                  </a:rPr>
                  <a:t>$s$</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Numbers with even digit sum: </a:t>
                </a:r>
                <a:r>
                  <a:rPr lang="en-IN" sz="2400">
                    <a:solidFill>
                      <a:srgbClr val="111827"/>
                    </a:solidFill>
                    <a:latin typeface="Cambria Math" panose="02040503050406030204" pitchFamily="18" charset="0"/>
                  </a:rPr>
                  <a:t>$\dfrac{f(1)+f(-1)}{2}$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$f(1)=9\times10^6$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At </a:t>
                </a:r>
                <a:r>
                  <a:rPr lang="en-IN" sz="2400">
                    <a:solidFill>
                      <a:srgbClr val="111827"/>
                    </a:solidFill>
                    <a:latin typeface="Cambria Math" panose="02040503050406030204" pitchFamily="18" charset="0"/>
                  </a:rPr>
                  <a:t>$x=-1$</a:t>
                </a:r>
                <a:r>
                  <a:rPr sz="2400" b="0">
                    <a:solidFill>
                      <a:srgbClr val="111827"/>
                    </a:solidFill>
                    <a:latin typeface="Arial"/>
                  </a:rPr>
                  <a:t>: </a:t>
                </a:r>
                <a:r>
                  <a:rPr lang="en-IN" sz="2400">
                    <a:solidFill>
                      <a:srgbClr val="111827"/>
                    </a:solidFill>
                    <a:latin typeface="Cambria Math" panose="02040503050406030204" pitchFamily="18" charset="0"/>
                  </a:rPr>
                  <a:t>$1+x+\dots+x^9=0$</a:t>
                </a:r>
                <a:r>
                  <a:rPr sz="2400" b="0">
                    <a:solidFill>
                      <a:srgbClr val="111827"/>
                    </a:solidFill>
                    <a:latin typeface="Arial"/>
                  </a:rPr>
                  <a:t> (ten alternating terms), so </a:t>
                </a:r>
                <a:r>
                  <a:rPr lang="en-IN" sz="2400">
                    <a:solidFill>
                      <a:srgbClr val="111827"/>
                    </a:solidFill>
                    <a:latin typeface="Cambria Math" panose="02040503050406030204" pitchFamily="18" charset="0"/>
                  </a:rPr>
                  <a:t>$f(-1)=0$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Even-sum count </a:t>
                </a:r>
                <a:r>
                  <a:rPr lang="en-IN" sz="2400">
                    <a:solidFill>
                      <a:srgbClr val="111827"/>
                    </a:solidFill>
                    <a:latin typeface="Cambria Math" panose="02040503050406030204" pitchFamily="18" charset="0"/>
                  </a:rPr>
                  <a:t>$=\dfrac{9\times10^6+0}{2}=4500000=9\cdot5\cdot10^5$</a:t>
                </a:r>
                <a:r>
                  <a:rPr sz="2400" b="0">
                    <a:solidFill>
                      <a:srgbClr val="111827"/>
                    </a:solidFill>
                    <a:latin typeface="Arial"/>
                  </a:rPr>
                  <a:t>, so </a:t>
                </a:r>
                <a:r>
                  <a:rPr lang="en-IN" sz="2400">
                    <a:solidFill>
                      <a:srgbClr val="111827"/>
                    </a:solidFill>
                    <a:latin typeface="Cambria Math" panose="02040503050406030204" pitchFamily="18" charset="0"/>
                  </a:rPr>
                  <a:t>$m+n=14$</a:t>
                </a:r>
                <a:r>
                  <a:rPr sz="2400" b="0">
                    <a:solidFill>
                      <a:srgbClr val="111827"/>
                    </a:solidFill>
                    <a:latin typeface="Arial"/>
                  </a:rPr>
                  <a:t>.</a:t>
                </a:r>
                <a:endParaRPr sz="2400">
                  <a:solidFill>
                    <a:srgbClr val="111827"/>
                  </a:solidFill>
                </a:endParaRPr>
              </a:p>
            </p:txBody>
          </p:sp>
        </mc:Fallback>
      </mc:AlternateContent>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14</a:t>
            </a:r>
            <a:endParaRPr sz="2800">
              <a:solidFill>
                <a:srgbClr val="15803D"/>
              </a:solidFill>
            </a:endParaRP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some digit position is free over a full set of consecutive digits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the digit-sum parity splits the numbers exactly 50-50.</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 of objects with even weight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odd weight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Same idea for other parities: a free digit over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makes the numbers with an even and with an odd digit sum equal in number.</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some digit position is free over a full set of consecutive digits </a:t>
                </a:r>
                <a:r>
                  <a:rPr lang="en-IN" sz="2400">
                    <a:solidFill>
                      <a:srgbClr val="111827"/>
                    </a:solidFill>
                    <a:latin typeface="Cambria Math" panose="02040503050406030204" pitchFamily="18" charset="0"/>
                  </a:rPr>
                  <a:t>$0..9$</a:t>
                </a:r>
                <a:r>
                  <a:rPr sz="2400" b="0">
                    <a:solidFill>
                      <a:srgbClr val="111827"/>
                    </a:solidFill>
                    <a:latin typeface="Arial"/>
                  </a:rPr>
                  <a:t>, the digit-sum parity splits the numbers exactly 50-50.</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 of objects with even weight </a:t>
                </a:r>
                <a:r>
                  <a:rPr lang="en-IN" sz="2400">
                    <a:solidFill>
                      <a:srgbClr val="111827"/>
                    </a:solidFill>
                    <a:latin typeface="Cambria Math" panose="02040503050406030204" pitchFamily="18" charset="0"/>
                  </a:rPr>
                  <a:t>$=\dfrac{f(1)+f(-1)}{2}$</a:t>
                </a:r>
                <a:r>
                  <a:rPr sz="2400" b="0">
                    <a:solidFill>
                      <a:srgbClr val="111827"/>
                    </a:solidFill>
                    <a:latin typeface="Arial"/>
                  </a:rPr>
                  <a:t>, odd weight </a:t>
                </a:r>
                <a:r>
                  <a:rPr lang="en-IN" sz="2400">
                    <a:solidFill>
                      <a:srgbClr val="111827"/>
                    </a:solidFill>
                    <a:latin typeface="Cambria Math" panose="02040503050406030204" pitchFamily="18" charset="0"/>
                  </a:rPr>
                  <a:t>$=\dfrac{f(1)-f(-1)}{2}$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Same idea for other parities: a free digit over </a:t>
                </a:r>
                <a:r>
                  <a:rPr lang="en-IN" sz="2400">
                    <a:solidFill>
                      <a:srgbClr val="111827"/>
                    </a:solidFill>
                    <a:latin typeface="Cambria Math" panose="02040503050406030204" pitchFamily="18" charset="0"/>
                  </a:rPr>
                  <a:t>$0..9$</a:t>
                </a:r>
                <a:r>
                  <a:rPr sz="2400" b="0">
                    <a:solidFill>
                      <a:srgbClr val="111827"/>
                    </a:solidFill>
                    <a:latin typeface="Arial"/>
                  </a:rPr>
                  <a:t> makes the numbers with an even and with an odd digit sum equal in number.</a:t>
                </a:r>
                <a:endParaRPr sz="2400">
                  <a:solidFill>
                    <a:srgbClr val="111827"/>
                  </a:solidFill>
                </a:endParaRPr>
              </a:p>
            </p:txBody>
          </p:sp>
        </mc:Fallback>
      </mc:AlternateContent>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𝑚</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be two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-digit numbers. Then the total number of pairs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such that </a:t>
                </a:r>
                <a14:m>
                  <m:oMath xmlns:m="http://schemas.openxmlformats.org/officeDocument/2006/math">
                    <m:r>
                      <m:rPr>
                        <m:sty m:val="p"/>
                      </m:rPr>
                      <a:rPr lang="en-IN" sz="2400">
                        <a:solidFill>
                          <a:srgbClr val="111827"/>
                        </a:solidFill>
                        <a:latin typeface="Cambria Math" panose="02040503050406030204" pitchFamily="18" charset="0"/>
                      </a:rPr>
                      <m:t>gcd</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is ____.</a:t>
                </a:r>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$m$</a:t>
                </a:r>
                <a:r>
                  <a:rPr sz="2400" b="0">
                    <a:solidFill>
                      <a:srgbClr val="111827"/>
                    </a:solidFill>
                    <a:latin typeface="Arial"/>
                  </a:rPr>
                  <a:t> and </a:t>
                </a:r>
                <a:r>
                  <a:rPr lang="en-IN" sz="2400">
                    <a:solidFill>
                      <a:srgbClr val="111827"/>
                    </a:solidFill>
                    <a:latin typeface="Cambria Math" panose="02040503050406030204" pitchFamily="18" charset="0"/>
                  </a:rPr>
                  <a:t>$n$</a:t>
                </a:r>
                <a:r>
                  <a:rPr sz="2400" b="0">
                    <a:solidFill>
                      <a:srgbClr val="111827"/>
                    </a:solidFill>
                    <a:latin typeface="Arial"/>
                  </a:rPr>
                  <a:t>, </a:t>
                </a:r>
                <a:r>
                  <a:rPr lang="en-IN" sz="2400">
                    <a:solidFill>
                      <a:srgbClr val="111827"/>
                    </a:solidFill>
                    <a:latin typeface="Cambria Math" panose="02040503050406030204" pitchFamily="18" charset="0"/>
                  </a:rPr>
                  <a:t>$(m&lt;n)$</a:t>
                </a:r>
                <a:r>
                  <a:rPr sz="2400" b="0">
                    <a:solidFill>
                      <a:srgbClr val="111827"/>
                    </a:solidFill>
                    <a:latin typeface="Arial"/>
                  </a:rPr>
                  <a:t>, be two </a:t>
                </a:r>
                <a:r>
                  <a:rPr lang="en-IN" sz="2400">
                    <a:solidFill>
                      <a:srgbClr val="111827"/>
                    </a:solidFill>
                    <a:latin typeface="Cambria Math" panose="02040503050406030204" pitchFamily="18" charset="0"/>
                  </a:rPr>
                  <a:t>$2$</a:t>
                </a:r>
                <a:r>
                  <a:rPr sz="2400" b="0">
                    <a:solidFill>
                      <a:srgbClr val="111827"/>
                    </a:solidFill>
                    <a:latin typeface="Arial"/>
                  </a:rPr>
                  <a:t>-digit numbers. Then the total number of pairs </a:t>
                </a:r>
                <a:r>
                  <a:rPr lang="en-IN" sz="2400">
                    <a:solidFill>
                      <a:srgbClr val="111827"/>
                    </a:solidFill>
                    <a:latin typeface="Cambria Math" panose="02040503050406030204" pitchFamily="18" charset="0"/>
                  </a:rPr>
                  <a:t>$(m,n)$</a:t>
                </a:r>
                <a:r>
                  <a:rPr sz="2400" b="0">
                    <a:solidFill>
                      <a:srgbClr val="111827"/>
                    </a:solidFill>
                    <a:latin typeface="Arial"/>
                  </a:rPr>
                  <a:t>, such that </a:t>
                </a:r>
                <a:r>
                  <a:rPr lang="en-IN" sz="2400">
                    <a:solidFill>
                      <a:srgbClr val="111827"/>
                    </a:solidFill>
                    <a:latin typeface="Cambria Math" panose="02040503050406030204" pitchFamily="18" charset="0"/>
                  </a:rPr>
                  <a:t>$\gcd(m,n)=6$</a:t>
                </a:r>
                <a:r>
                  <a:rPr sz="2400" b="0">
                    <a:solidFill>
                      <a:srgbClr val="111827"/>
                    </a:solidFill>
                    <a:latin typeface="Arial"/>
                  </a:rPr>
                  <a:t>, is ____.</a:t>
                </a:r>
                <a:endParaRPr sz="2400">
                  <a:solidFill>
                    <a:srgbClr val="111827"/>
                  </a:solidFill>
                </a:endParaRPr>
              </a:p>
            </p:txBody>
          </p:sp>
        </mc:Fallback>
      </mc:AlternateContent>
      <p:sp>
        <p:nvSpPr>
          <p:cNvPr id="5" name="Rectangle 4"/>
          <p:cNvSpPr/>
          <p:nvPr/>
        </p:nvSpPr>
        <p:spPr>
          <a:xfrm>
            <a:off x="731520" y="324612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Counting coprime pairs (HCF condition)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Write </a:t>
                </a:r>
                <a14:m>
                  <m:oMath xmlns:m="http://schemas.openxmlformats.org/officeDocument/2006/math">
                    <m:r>
                      <a:rPr lang="en-IN" sz="2400" i="1">
                        <a:solidFill>
                          <a:srgbClr val="78350F"/>
                        </a:solidFill>
                        <a:latin typeface="Cambria Math" panose="02040503050406030204" pitchFamily="18" charset="0"/>
                      </a:rPr>
                      <m:t>𝑚</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6</m:t>
                    </m:r>
                    <m:r>
                      <a:rPr lang="en-IN" sz="2400" i="1">
                        <a:solidFill>
                          <a:srgbClr val="78350F"/>
                        </a:solidFill>
                        <a:latin typeface="Cambria Math" panose="02040503050406030204" pitchFamily="18" charset="0"/>
                      </a:rPr>
                      <m:t>𝑝</m:t>
                    </m:r>
                  </m:oMath>
                </a14:m>
                <a:r>
                  <a:rPr sz="2400" b="0">
                    <a:solidFill>
                      <a:srgbClr val="78350F"/>
                    </a:solidFill>
                    <a:latin typeface="Arial"/>
                  </a:rPr>
                  <a:t>, </a:t>
                </a:r>
                <a14:m>
                  <m:oMath xmlns:m="http://schemas.openxmlformats.org/officeDocument/2006/math">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6</m:t>
                    </m:r>
                    <m:r>
                      <a:rPr lang="en-IN" sz="2400" i="1">
                        <a:solidFill>
                          <a:srgbClr val="78350F"/>
                        </a:solidFill>
                        <a:latin typeface="Cambria Math" panose="02040503050406030204" pitchFamily="18" charset="0"/>
                      </a:rPr>
                      <m:t>𝑞</m:t>
                    </m:r>
                  </m:oMath>
                </a14:m>
                <a:r>
                  <a:rPr sz="2400" b="0">
                    <a:solidFill>
                      <a:srgbClr val="78350F"/>
                    </a:solidFill>
                    <a:latin typeface="Arial"/>
                  </a:rPr>
                  <a:t> so the condition becomes </a:t>
                </a:r>
                <a14:m>
                  <m:oMath xmlns:m="http://schemas.openxmlformats.org/officeDocument/2006/math">
                    <m:r>
                      <m:rPr>
                        <m:sty m:val="p"/>
                      </m:rPr>
                      <a:rPr lang="en-IN" sz="2400">
                        <a:solidFill>
                          <a:srgbClr val="78350F"/>
                        </a:solidFill>
                        <a:latin typeface="Cambria Math" panose="02040503050406030204" pitchFamily="18" charset="0"/>
                      </a:rPr>
                      <m:t>gcd</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𝑝</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𝑞</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 with </a:t>
                </a:r>
                <a14:m>
                  <m:oMath xmlns:m="http://schemas.openxmlformats.org/officeDocument/2006/math">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𝑝</m:t>
                    </m:r>
                    <m:r>
                      <m:rPr>
                        <m:sty m:val="p"/>
                      </m:rPr>
                      <a:rPr lang="en-IN" sz="2400">
                        <a:solidFill>
                          <a:srgbClr val="78350F"/>
                        </a:solidFill>
                        <a:latin typeface="Cambria Math" panose="02040503050406030204" pitchFamily="18" charset="0"/>
                      </a:rPr>
                      <m:t>&lt;</m:t>
                    </m:r>
                    <m:r>
                      <a:rPr lang="en-IN" sz="2400" i="1">
                        <a:solidFill>
                          <a:srgbClr val="78350F"/>
                        </a:solidFill>
                        <a:latin typeface="Cambria Math" panose="02040503050406030204" pitchFamily="18" charset="0"/>
                      </a:rPr>
                      <m:t>𝑞</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16</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Write </a:t>
                </a:r>
                <a:r>
                  <a:rPr lang="en-IN" sz="2400">
                    <a:solidFill>
                      <a:srgbClr val="78350F"/>
                    </a:solidFill>
                    <a:latin typeface="Cambria Math" panose="02040503050406030204" pitchFamily="18" charset="0"/>
                  </a:rPr>
                  <a:t>$m=6p$</a:t>
                </a:r>
                <a:r>
                  <a:rPr sz="2400" b="0">
                    <a:solidFill>
                      <a:srgbClr val="78350F"/>
                    </a:solidFill>
                    <a:latin typeface="Arial"/>
                  </a:rPr>
                  <a:t>, </a:t>
                </a:r>
                <a:r>
                  <a:rPr lang="en-IN" sz="2400">
                    <a:solidFill>
                      <a:srgbClr val="78350F"/>
                    </a:solidFill>
                    <a:latin typeface="Cambria Math" panose="02040503050406030204" pitchFamily="18" charset="0"/>
                  </a:rPr>
                  <a:t>$n=6q$</a:t>
                </a:r>
                <a:r>
                  <a:rPr sz="2400" b="0">
                    <a:solidFill>
                      <a:srgbClr val="78350F"/>
                    </a:solidFill>
                    <a:latin typeface="Arial"/>
                  </a:rPr>
                  <a:t> so the condition becomes </a:t>
                </a:r>
                <a:r>
                  <a:rPr lang="en-IN" sz="2400">
                    <a:solidFill>
                      <a:srgbClr val="78350F"/>
                    </a:solidFill>
                    <a:latin typeface="Cambria Math" panose="02040503050406030204" pitchFamily="18" charset="0"/>
                  </a:rPr>
                  <a:t>$\gcd(p,q)=1$</a:t>
                </a:r>
                <a:r>
                  <a:rPr sz="2400" b="0">
                    <a:solidFill>
                      <a:srgbClr val="78350F"/>
                    </a:solidFill>
                    <a:latin typeface="Arial"/>
                  </a:rPr>
                  <a:t> with </a:t>
                </a:r>
                <a:r>
                  <a:rPr lang="en-IN" sz="2400">
                    <a:solidFill>
                      <a:srgbClr val="78350F"/>
                    </a:solidFill>
                    <a:latin typeface="Cambria Math" panose="02040503050406030204" pitchFamily="18" charset="0"/>
                  </a:rPr>
                  <a:t>$2\le p&lt;q\le16$</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gcd</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𝑞</m:t>
                    </m:r>
                  </m:oMath>
                </a14:m>
                <a:r>
                  <a:rPr sz="2400" b="0">
                    <a:solidFill>
                      <a:srgbClr val="111827"/>
                    </a:solidFill>
                    <a:latin typeface="Arial"/>
                  </a:rPr>
                  <a:t> with </a:t>
                </a:r>
                <a14:m>
                  <m:oMath xmlns:m="http://schemas.openxmlformats.org/officeDocument/2006/math">
                    <m:r>
                      <m:rPr>
                        <m:sty m:val="p"/>
                      </m:rPr>
                      <a:rPr lang="en-IN" sz="2400">
                        <a:solidFill>
                          <a:srgbClr val="111827"/>
                        </a:solidFill>
                        <a:latin typeface="Cambria Math" panose="02040503050406030204" pitchFamily="18" charset="0"/>
                      </a:rPr>
                      <m:t>gcd</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Both are two-digit and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𝑛</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99</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Count coprime </a:t>
                </a:r>
                <a14:m>
                  <m:oMath xmlns:m="http://schemas.openxmlformats.org/officeDocument/2006/math">
                    <m:r>
                      <a:rPr lang="en-IN" sz="2400" i="1">
                        <a:solidFill>
                          <a:srgbClr val="111827"/>
                        </a:solidFill>
                        <a:latin typeface="Cambria Math" panose="02040503050406030204" pitchFamily="18" charset="0"/>
                      </a:rPr>
                      <m:t>𝑞</m:t>
                    </m:r>
                  </m:oMath>
                </a14:m>
                <a:r>
                  <a:rPr sz="2400" b="0">
                    <a:solidFill>
                      <a:srgbClr val="111827"/>
                    </a:solidFill>
                    <a:latin typeface="Arial"/>
                  </a:rPr>
                  <a:t> for each </a:t>
                </a:r>
                <a14:m>
                  <m:oMath xmlns:m="http://schemas.openxmlformats.org/officeDocument/2006/math">
                    <m:r>
                      <a:rPr lang="en-IN" sz="2400" i="1">
                        <a:solidFill>
                          <a:srgbClr val="111827"/>
                        </a:solidFill>
                        <a:latin typeface="Cambria Math" panose="02040503050406030204" pitchFamily="18" charset="0"/>
                      </a:rPr>
                      <m:t>𝑝</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7</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9</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9</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$\gcd(m,n)=6\Rightarrow m=6p,\ n=6q$</a:t>
                </a:r>
                <a:r>
                  <a:rPr sz="2400" b="0">
                    <a:solidFill>
                      <a:srgbClr val="111827"/>
                    </a:solidFill>
                    <a:latin typeface="Arial"/>
                  </a:rPr>
                  <a:t> with </a:t>
                </a:r>
                <a:r>
                  <a:rPr lang="en-IN" sz="2400">
                    <a:solidFill>
                      <a:srgbClr val="111827"/>
                    </a:solidFill>
                    <a:latin typeface="Cambria Math" panose="02040503050406030204" pitchFamily="18" charset="0"/>
                  </a:rPr>
                  <a:t>$\gcd(p,q)=1$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Both are two-digit and </a:t>
                </a:r>
                <a:r>
                  <a:rPr lang="en-IN" sz="2400">
                    <a:solidFill>
                      <a:srgbClr val="111827"/>
                    </a:solidFill>
                    <a:latin typeface="Cambria Math" panose="02040503050406030204" pitchFamily="18" charset="0"/>
                  </a:rPr>
                  <a:t>$m&lt;n$</a:t>
                </a:r>
                <a:r>
                  <a:rPr sz="2400" b="0">
                    <a:solidFill>
                      <a:srgbClr val="111827"/>
                    </a:solidFill>
                    <a:latin typeface="Arial"/>
                  </a:rPr>
                  <a:t>: </a:t>
                </a:r>
                <a:r>
                  <a:rPr lang="en-IN" sz="2400">
                    <a:solidFill>
                      <a:srgbClr val="111827"/>
                    </a:solidFill>
                    <a:latin typeface="Cambria Math" panose="02040503050406030204" pitchFamily="18" charset="0"/>
                  </a:rPr>
                  <a:t>$10\le6p&lt;6q\le99$</a:t>
                </a:r>
                <a:r>
                  <a:rPr sz="2400" b="0">
                    <a:solidFill>
                      <a:srgbClr val="111827"/>
                    </a:solidFill>
                    <a:latin typeface="Arial"/>
                  </a:rPr>
                  <a:t>, so </a:t>
                </a:r>
                <a:r>
                  <a:rPr lang="en-IN" sz="2400">
                    <a:solidFill>
                      <a:srgbClr val="111827"/>
                    </a:solidFill>
                    <a:latin typeface="Cambria Math" panose="02040503050406030204" pitchFamily="18" charset="0"/>
                  </a:rPr>
                  <a:t>$2\le p&lt;q\le16$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Count coprime </a:t>
                </a:r>
                <a:r>
                  <a:rPr lang="en-IN" sz="2400">
                    <a:solidFill>
                      <a:srgbClr val="111827"/>
                    </a:solidFill>
                    <a:latin typeface="Cambria Math" panose="02040503050406030204" pitchFamily="18" charset="0"/>
                  </a:rPr>
                  <a:t>$q$</a:t>
                </a:r>
                <a:r>
                  <a:rPr sz="2400" b="0">
                    <a:solidFill>
                      <a:srgbClr val="111827"/>
                    </a:solidFill>
                    <a:latin typeface="Arial"/>
                  </a:rPr>
                  <a:t> for each </a:t>
                </a:r>
                <a:r>
                  <a:rPr lang="en-IN" sz="2400">
                    <a:solidFill>
                      <a:srgbClr val="111827"/>
                    </a:solidFill>
                    <a:latin typeface="Cambria Math" panose="02040503050406030204" pitchFamily="18" charset="0"/>
                  </a:rPr>
                  <a:t>$p$</a:t>
                </a:r>
                <a:r>
                  <a:rPr sz="2400" b="0">
                    <a:solidFill>
                      <a:srgbClr val="111827"/>
                    </a:solidFill>
                    <a:latin typeface="Arial"/>
                  </a:rPr>
                  <a:t>. </a:t>
                </a:r>
                <a:r>
                  <a:rPr lang="en-IN" sz="2400">
                    <a:solidFill>
                      <a:srgbClr val="111827"/>
                    </a:solidFill>
                    <a:latin typeface="Cambria Math" panose="02040503050406030204" pitchFamily="18" charset="0"/>
                  </a:rPr>
                  <a:t>$p=2$</a:t>
                </a:r>
                <a:r>
                  <a:rPr sz="2400" b="0">
                    <a:solidFill>
                      <a:srgbClr val="111827"/>
                    </a:solidFill>
                    <a:latin typeface="Arial"/>
                  </a:rPr>
                  <a:t>: </a:t>
                </a:r>
                <a:r>
                  <a:rPr lang="en-IN" sz="2400">
                    <a:solidFill>
                      <a:srgbClr val="111827"/>
                    </a:solidFill>
                    <a:latin typeface="Cambria Math" panose="02040503050406030204" pitchFamily="18" charset="0"/>
                  </a:rPr>
                  <a:t>$q=3,5,7,9,11,13,15$</a:t>
                </a:r>
                <a:r>
                  <a:rPr sz="2400" b="0">
                    <a:solidFill>
                      <a:srgbClr val="111827"/>
                    </a:solidFill>
                    <a:latin typeface="Arial"/>
                  </a:rPr>
                  <a:t> gives </a:t>
                </a:r>
                <a:r>
                  <a:rPr lang="en-IN" sz="2400">
                    <a:solidFill>
                      <a:srgbClr val="111827"/>
                    </a:solidFill>
                    <a:latin typeface="Cambria Math" panose="02040503050406030204" pitchFamily="18" charset="0"/>
                  </a:rPr>
                  <a:t>$7$</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$p=3$</a:t>
                </a:r>
                <a:r>
                  <a:rPr sz="2400" b="0">
                    <a:solidFill>
                      <a:srgbClr val="111827"/>
                    </a:solidFill>
                    <a:latin typeface="Arial"/>
                  </a:rPr>
                  <a:t>: </a:t>
                </a:r>
                <a:r>
                  <a:rPr lang="en-IN" sz="2400">
                    <a:solidFill>
                      <a:srgbClr val="111827"/>
                    </a:solidFill>
                    <a:latin typeface="Cambria Math" panose="02040503050406030204" pitchFamily="18" charset="0"/>
                  </a:rPr>
                  <a:t>$q=4,5,7,8,10,11,13,14,16$</a:t>
                </a:r>
                <a:r>
                  <a:rPr sz="2400" b="0">
                    <a:solidFill>
                      <a:srgbClr val="111827"/>
                    </a:solidFill>
                    <a:latin typeface="Arial"/>
                  </a:rPr>
                  <a:t> gives </a:t>
                </a:r>
                <a:r>
                  <a:rPr lang="en-IN" sz="2400">
                    <a:solidFill>
                      <a:srgbClr val="111827"/>
                    </a:solidFill>
                    <a:latin typeface="Cambria Math" panose="02040503050406030204" pitchFamily="18" charset="0"/>
                  </a:rPr>
                  <a:t>$9$</a:t>
                </a:r>
                <a:r>
                  <a:rPr sz="2400" b="0">
                    <a:solidFill>
                      <a:srgbClr val="111827"/>
                    </a:solidFill>
                    <a:latin typeface="Arial"/>
                  </a:rPr>
                  <a:t>. </a:t>
                </a:r>
                <a:r>
                  <a:rPr lang="en-IN" sz="2400">
                    <a:solidFill>
                      <a:srgbClr val="111827"/>
                    </a:solidFill>
                    <a:latin typeface="Cambria Math" panose="02040503050406030204" pitchFamily="18" charset="0"/>
                  </a:rPr>
                  <a:t>$p=4$</a:t>
                </a:r>
                <a:r>
                  <a:rPr sz="2400" b="0">
                    <a:solidFill>
                      <a:srgbClr val="111827"/>
                    </a:solidFill>
                    <a:latin typeface="Arial"/>
                  </a:rPr>
                  <a:t>: </a:t>
                </a:r>
                <a:r>
                  <a:rPr lang="en-IN" sz="2400">
                    <a:solidFill>
                      <a:srgbClr val="111827"/>
                    </a:solidFill>
                    <a:latin typeface="Cambria Math" panose="02040503050406030204" pitchFamily="18" charset="0"/>
                  </a:rPr>
                  <a:t>$q=5,7,9,11,13,15$</a:t>
                </a:r>
                <a:r>
                  <a:rPr sz="2400" b="0">
                    <a:solidFill>
                      <a:srgbClr val="111827"/>
                    </a:solidFill>
                    <a:latin typeface="Arial"/>
                  </a:rPr>
                  <a:t> gives </a:t>
                </a:r>
                <a:r>
                  <a:rPr lang="en-IN" sz="2400">
                    <a:solidFill>
                      <a:srgbClr val="111827"/>
                    </a:solidFill>
                    <a:latin typeface="Cambria Math" panose="02040503050406030204" pitchFamily="18" charset="0"/>
                  </a:rPr>
                  <a:t>$6$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$p=5$</a:t>
                </a:r>
                <a:r>
                  <a:rPr sz="2400" b="0">
                    <a:solidFill>
                      <a:srgbClr val="111827"/>
                    </a:solidFill>
                    <a:latin typeface="Arial"/>
                  </a:rPr>
                  <a:t>: </a:t>
                </a:r>
                <a:r>
                  <a:rPr lang="en-IN" sz="2400">
                    <a:solidFill>
                      <a:srgbClr val="111827"/>
                    </a:solidFill>
                    <a:latin typeface="Cambria Math" panose="02040503050406030204" pitchFamily="18" charset="0"/>
                  </a:rPr>
                  <a:t>$q=6,7,8,9,11,12,13,14,16$</a:t>
                </a:r>
                <a:r>
                  <a:rPr sz="2400" b="0">
                    <a:solidFill>
                      <a:srgbClr val="111827"/>
                    </a:solidFill>
                    <a:latin typeface="Arial"/>
                  </a:rPr>
                  <a:t> gives </a:t>
                </a:r>
                <a:r>
                  <a:rPr lang="en-IN" sz="2400">
                    <a:solidFill>
                      <a:srgbClr val="111827"/>
                    </a:solidFill>
                    <a:latin typeface="Cambria Math" panose="02040503050406030204" pitchFamily="18" charset="0"/>
                  </a:rPr>
                  <a:t>$9$</a:t>
                </a:r>
                <a:r>
                  <a:rPr sz="2400" b="0">
                    <a:solidFill>
                      <a:srgbClr val="111827"/>
                    </a:solidFill>
                    <a:latin typeface="Arial"/>
                  </a:rPr>
                  <a:t>. </a:t>
                </a:r>
                <a:r>
                  <a:rPr lang="en-IN" sz="2400">
                    <a:solidFill>
                      <a:srgbClr val="111827"/>
                    </a:solidFill>
                    <a:latin typeface="Cambria Math" panose="02040503050406030204" pitchFamily="18" charset="0"/>
                  </a:rPr>
                  <a:t>$p=6$</a:t>
                </a:r>
                <a:r>
                  <a:rPr sz="2400" b="0">
                    <a:solidFill>
                      <a:srgbClr val="111827"/>
                    </a:solidFill>
                    <a:latin typeface="Arial"/>
                  </a:rPr>
                  <a:t>: </a:t>
                </a:r>
                <a:r>
                  <a:rPr lang="en-IN" sz="2400">
                    <a:solidFill>
                      <a:srgbClr val="111827"/>
                    </a:solidFill>
                    <a:latin typeface="Cambria Math" panose="02040503050406030204" pitchFamily="18" charset="0"/>
                  </a:rPr>
                  <a:t>$q=7,11,13$</a:t>
                </a:r>
                <a:r>
                  <a:rPr sz="2400" b="0">
                    <a:solidFill>
                      <a:srgbClr val="111827"/>
                    </a:solidFill>
                    <a:latin typeface="Arial"/>
                  </a:rPr>
                  <a:t> gives </a:t>
                </a:r>
                <a:r>
                  <a:rPr lang="en-IN" sz="2400">
                    <a:solidFill>
                      <a:srgbClr val="111827"/>
                    </a:solidFill>
                    <a:latin typeface="Cambria Math" panose="02040503050406030204" pitchFamily="18" charset="0"/>
                  </a:rPr>
                  <a:t>$3$</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8</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ordered pairs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64</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$p=7$</a:t>
                </a:r>
                <a:r>
                  <a:rPr sz="2400" b="0">
                    <a:solidFill>
                      <a:srgbClr val="111827"/>
                    </a:solidFill>
                    <a:latin typeface="Arial"/>
                  </a:rPr>
                  <a:t>: </a:t>
                </a:r>
                <a:r>
                  <a:rPr lang="en-IN" sz="2400">
                    <a:solidFill>
                      <a:srgbClr val="111827"/>
                    </a:solidFill>
                    <a:latin typeface="Cambria Math" panose="02040503050406030204" pitchFamily="18" charset="0"/>
                  </a:rPr>
                  <a:t>$q=8,9,10,11,12,13,15,16$</a:t>
                </a:r>
                <a:r>
                  <a:rPr sz="2400" b="0">
                    <a:solidFill>
                      <a:srgbClr val="111827"/>
                    </a:solidFill>
                    <a:latin typeface="Arial"/>
                  </a:rPr>
                  <a:t> gives </a:t>
                </a:r>
                <a:r>
                  <a:rPr lang="en-IN" sz="2400">
                    <a:solidFill>
                      <a:srgbClr val="111827"/>
                    </a:solidFill>
                    <a:latin typeface="Cambria Math" panose="02040503050406030204" pitchFamily="18" charset="0"/>
                  </a:rPr>
                  <a:t>$8$</a:t>
                </a:r>
                <a:r>
                  <a:rPr sz="2400" b="0">
                    <a:solidFill>
                      <a:srgbClr val="111827"/>
                    </a:solidFill>
                    <a:latin typeface="Arial"/>
                  </a:rPr>
                  <a:t>. </a:t>
                </a:r>
                <a:r>
                  <a:rPr lang="en-IN" sz="2400">
                    <a:solidFill>
                      <a:srgbClr val="111827"/>
                    </a:solidFill>
                    <a:latin typeface="Cambria Math" panose="02040503050406030204" pitchFamily="18" charset="0"/>
                  </a:rPr>
                  <a:t>$p=8$</a:t>
                </a:r>
                <a:r>
                  <a:rPr sz="2400" b="0">
                    <a:solidFill>
                      <a:srgbClr val="111827"/>
                    </a:solidFill>
                    <a:latin typeface="Arial"/>
                  </a:rPr>
                  <a:t>: </a:t>
                </a:r>
                <a:r>
                  <a:rPr lang="en-IN" sz="2400">
                    <a:solidFill>
                      <a:srgbClr val="111827"/>
                    </a:solidFill>
                    <a:latin typeface="Cambria Math" panose="02040503050406030204" pitchFamily="18" charset="0"/>
                  </a:rPr>
                  <a:t>$q=9,11,13,15$</a:t>
                </a:r>
                <a:r>
                  <a:rPr sz="2400" b="0">
                    <a:solidFill>
                      <a:srgbClr val="111827"/>
                    </a:solidFill>
                    <a:latin typeface="Arial"/>
                  </a:rPr>
                  <a:t> gives </a:t>
                </a:r>
                <a:r>
                  <a:rPr lang="en-IN" sz="2400">
                    <a:solidFill>
                      <a:srgbClr val="111827"/>
                    </a:solidFill>
                    <a:latin typeface="Cambria Math" panose="02040503050406030204" pitchFamily="18" charset="0"/>
                  </a:rPr>
                  <a:t>$4$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$p=9$</a:t>
                </a:r>
                <a:r>
                  <a:rPr sz="2400" b="0">
                    <a:solidFill>
                      <a:srgbClr val="111827"/>
                    </a:solidFill>
                    <a:latin typeface="Arial"/>
                  </a:rPr>
                  <a:t>: </a:t>
                </a:r>
                <a:r>
                  <a:rPr lang="en-IN" sz="2400">
                    <a:solidFill>
                      <a:srgbClr val="111827"/>
                    </a:solidFill>
                    <a:latin typeface="Cambria Math" panose="02040503050406030204" pitchFamily="18" charset="0"/>
                  </a:rPr>
                  <a:t>$q=10,11,13,14,16$</a:t>
                </a:r>
                <a:r>
                  <a:rPr sz="2400" b="0">
                    <a:solidFill>
                      <a:srgbClr val="111827"/>
                    </a:solidFill>
                    <a:latin typeface="Arial"/>
                  </a:rPr>
                  <a:t> gives </a:t>
                </a:r>
                <a:r>
                  <a:rPr lang="en-IN" sz="2400">
                    <a:solidFill>
                      <a:srgbClr val="111827"/>
                    </a:solidFill>
                    <a:latin typeface="Cambria Math" panose="02040503050406030204" pitchFamily="18" charset="0"/>
                  </a:rPr>
                  <a:t>$5$</a:t>
                </a:r>
                <a:r>
                  <a:rPr sz="2400" b="0">
                    <a:solidFill>
                      <a:srgbClr val="111827"/>
                    </a:solidFill>
                    <a:latin typeface="Arial"/>
                  </a:rPr>
                  <a:t>. </a:t>
                </a:r>
                <a:r>
                  <a:rPr lang="en-IN" sz="2400">
                    <a:solidFill>
                      <a:srgbClr val="111827"/>
                    </a:solidFill>
                    <a:latin typeface="Cambria Math" panose="02040503050406030204" pitchFamily="18" charset="0"/>
                  </a:rPr>
                  <a:t>$p=10$</a:t>
                </a:r>
                <a:r>
                  <a:rPr sz="2400" b="0">
                    <a:solidFill>
                      <a:srgbClr val="111827"/>
                    </a:solidFill>
                    <a:latin typeface="Arial"/>
                  </a:rPr>
                  <a:t>: </a:t>
                </a:r>
                <a:r>
                  <a:rPr lang="en-IN" sz="2400">
                    <a:solidFill>
                      <a:srgbClr val="111827"/>
                    </a:solidFill>
                    <a:latin typeface="Cambria Math" panose="02040503050406030204" pitchFamily="18" charset="0"/>
                  </a:rPr>
                  <a:t>$q=11,13$</a:t>
                </a:r>
                <a:r>
                  <a:rPr sz="2400" b="0">
                    <a:solidFill>
                      <a:srgbClr val="111827"/>
                    </a:solidFill>
                    <a:latin typeface="Arial"/>
                  </a:rPr>
                  <a:t> gives </a:t>
                </a:r>
                <a:r>
                  <a:rPr lang="en-IN" sz="2400">
                    <a:solidFill>
                      <a:srgbClr val="111827"/>
                    </a:solidFill>
                    <a:latin typeface="Cambria Math" panose="02040503050406030204" pitchFamily="18" charset="0"/>
                  </a:rPr>
                  <a:t>$2$</a:t>
                </a:r>
                <a:r>
                  <a:rPr sz="2400" b="0">
                    <a:solidFill>
                      <a:srgbClr val="111827"/>
                    </a:solidFill>
                    <a:latin typeface="Arial"/>
                  </a:rPr>
                  <a:t>. </a:t>
                </a:r>
                <a:r>
                  <a:rPr lang="en-IN" sz="2400">
                    <a:solidFill>
                      <a:srgbClr val="111827"/>
                    </a:solidFill>
                    <a:latin typeface="Cambria Math" panose="02040503050406030204" pitchFamily="18" charset="0"/>
                  </a:rPr>
                  <a:t>$p=11$</a:t>
                </a:r>
                <a:r>
                  <a:rPr sz="2400" b="0">
                    <a:solidFill>
                      <a:srgbClr val="111827"/>
                    </a:solidFill>
                    <a:latin typeface="Arial"/>
                  </a:rPr>
                  <a:t>: </a:t>
                </a:r>
                <a:r>
                  <a:rPr lang="en-IN" sz="2400">
                    <a:solidFill>
                      <a:srgbClr val="111827"/>
                    </a:solidFill>
                    <a:latin typeface="Cambria Math" panose="02040503050406030204" pitchFamily="18" charset="0"/>
                  </a:rPr>
                  <a:t>$q=12,\dots,16$</a:t>
                </a:r>
                <a:r>
                  <a:rPr sz="2400" b="0">
                    <a:solidFill>
                      <a:srgbClr val="111827"/>
                    </a:solidFill>
                    <a:latin typeface="Arial"/>
                  </a:rPr>
                  <a:t> gives </a:t>
                </a:r>
                <a:r>
                  <a:rPr lang="en-IN" sz="2400">
                    <a:solidFill>
                      <a:srgbClr val="111827"/>
                    </a:solidFill>
                    <a:latin typeface="Cambria Math" panose="02040503050406030204" pitchFamily="18" charset="0"/>
                  </a:rPr>
                  <a:t>$5$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$p=12$</a:t>
                </a:r>
                <a:r>
                  <a:rPr sz="2400" b="0">
                    <a:solidFill>
                      <a:srgbClr val="111827"/>
                    </a:solidFill>
                    <a:latin typeface="Arial"/>
                  </a:rPr>
                  <a:t>: </a:t>
                </a:r>
                <a:r>
                  <a:rPr lang="en-IN" sz="2400">
                    <a:solidFill>
                      <a:srgbClr val="111827"/>
                    </a:solidFill>
                    <a:latin typeface="Cambria Math" panose="02040503050406030204" pitchFamily="18" charset="0"/>
                  </a:rPr>
                  <a:t>$q=13$</a:t>
                </a:r>
                <a:r>
                  <a:rPr sz="2400" b="0">
                    <a:solidFill>
                      <a:srgbClr val="111827"/>
                    </a:solidFill>
                    <a:latin typeface="Arial"/>
                  </a:rPr>
                  <a:t> gives </a:t>
                </a:r>
                <a:r>
                  <a:rPr lang="en-IN" sz="2400">
                    <a:solidFill>
                      <a:srgbClr val="111827"/>
                    </a:solidFill>
                    <a:latin typeface="Cambria Math" panose="02040503050406030204" pitchFamily="18" charset="0"/>
                  </a:rPr>
                  <a:t>$1$</a:t>
                </a:r>
                <a:r>
                  <a:rPr sz="2400" b="0">
                    <a:solidFill>
                      <a:srgbClr val="111827"/>
                    </a:solidFill>
                    <a:latin typeface="Arial"/>
                  </a:rPr>
                  <a:t>. </a:t>
                </a:r>
                <a:r>
                  <a:rPr lang="en-IN" sz="2400">
                    <a:solidFill>
                      <a:srgbClr val="111827"/>
                    </a:solidFill>
                    <a:latin typeface="Cambria Math" panose="02040503050406030204" pitchFamily="18" charset="0"/>
                  </a:rPr>
                  <a:t>$p=13$</a:t>
                </a:r>
                <a:r>
                  <a:rPr sz="2400" b="0">
                    <a:solidFill>
                      <a:srgbClr val="111827"/>
                    </a:solidFill>
                    <a:latin typeface="Arial"/>
                  </a:rPr>
                  <a:t>: </a:t>
                </a:r>
                <a:r>
                  <a:rPr lang="en-IN" sz="2400">
                    <a:solidFill>
                      <a:srgbClr val="111827"/>
                    </a:solidFill>
                    <a:latin typeface="Cambria Math" panose="02040503050406030204" pitchFamily="18" charset="0"/>
                  </a:rPr>
                  <a:t>$q=14,15,16$</a:t>
                </a:r>
                <a:r>
                  <a:rPr sz="2400" b="0">
                    <a:solidFill>
                      <a:srgbClr val="111827"/>
                    </a:solidFill>
                    <a:latin typeface="Arial"/>
                  </a:rPr>
                  <a:t> gives </a:t>
                </a:r>
                <a:r>
                  <a:rPr lang="en-IN" sz="2400">
                    <a:solidFill>
                      <a:srgbClr val="111827"/>
                    </a:solidFill>
                    <a:latin typeface="Cambria Math" panose="02040503050406030204" pitchFamily="18" charset="0"/>
                  </a:rPr>
                  <a:t>$3$</a:t>
                </a:r>
                <a:r>
                  <a:rPr sz="2400" b="0">
                    <a:solidFill>
                      <a:srgbClr val="111827"/>
                    </a:solidFill>
                    <a:latin typeface="Arial"/>
                  </a:rPr>
                  <a:t>. </a:t>
                </a:r>
                <a:r>
                  <a:rPr lang="en-IN" sz="2400">
                    <a:solidFill>
                      <a:srgbClr val="111827"/>
                    </a:solidFill>
                    <a:latin typeface="Cambria Math" panose="02040503050406030204" pitchFamily="18" charset="0"/>
                  </a:rPr>
                  <a:t>$p=14$</a:t>
                </a:r>
                <a:r>
                  <a:rPr sz="2400" b="0">
                    <a:solidFill>
                      <a:srgbClr val="111827"/>
                    </a:solidFill>
                    <a:latin typeface="Arial"/>
                  </a:rPr>
                  <a:t>: </a:t>
                </a:r>
                <a:r>
                  <a:rPr lang="en-IN" sz="2400">
                    <a:solidFill>
                      <a:srgbClr val="111827"/>
                    </a:solidFill>
                    <a:latin typeface="Cambria Math" panose="02040503050406030204" pitchFamily="18" charset="0"/>
                  </a:rPr>
                  <a:t>$q=15$</a:t>
                </a:r>
                <a:r>
                  <a:rPr sz="2400" b="0">
                    <a:solidFill>
                      <a:srgbClr val="111827"/>
                    </a:solidFill>
                    <a:latin typeface="Arial"/>
                  </a:rPr>
                  <a:t> gives </a:t>
                </a:r>
                <a:r>
                  <a:rPr lang="en-IN" sz="2400">
                    <a:solidFill>
                      <a:srgbClr val="111827"/>
                    </a:solidFill>
                    <a:latin typeface="Cambria Math" panose="02040503050406030204" pitchFamily="18" charset="0"/>
                  </a:rPr>
                  <a:t>$1$</a:t>
                </a:r>
                <a:r>
                  <a:rPr sz="2400" b="0">
                    <a:solidFill>
                      <a:srgbClr val="111827"/>
                    </a:solidFill>
                    <a:latin typeface="Arial"/>
                  </a:rPr>
                  <a:t>. </a:t>
                </a:r>
                <a:r>
                  <a:rPr lang="en-IN" sz="2400">
                    <a:solidFill>
                      <a:srgbClr val="111827"/>
                    </a:solidFill>
                    <a:latin typeface="Cambria Math" panose="02040503050406030204" pitchFamily="18" charset="0"/>
                  </a:rPr>
                  <a:t>$p=15$</a:t>
                </a:r>
                <a:r>
                  <a:rPr sz="2400" b="0">
                    <a:solidFill>
                      <a:srgbClr val="111827"/>
                    </a:solidFill>
                    <a:latin typeface="Arial"/>
                  </a:rPr>
                  <a:t>: </a:t>
                </a:r>
                <a:r>
                  <a:rPr lang="en-IN" sz="2400">
                    <a:solidFill>
                      <a:srgbClr val="111827"/>
                    </a:solidFill>
                    <a:latin typeface="Cambria Math" panose="02040503050406030204" pitchFamily="18" charset="0"/>
                  </a:rPr>
                  <a:t>$q=16$</a:t>
                </a:r>
                <a:r>
                  <a:rPr sz="2400" b="0">
                    <a:solidFill>
                      <a:srgbClr val="111827"/>
                    </a:solidFill>
                    <a:latin typeface="Arial"/>
                  </a:rPr>
                  <a:t> gives </a:t>
                </a:r>
                <a:r>
                  <a:rPr lang="en-IN" sz="2400">
                    <a:solidFill>
                      <a:srgbClr val="111827"/>
                    </a:solidFill>
                    <a:latin typeface="Cambria Math" panose="02040503050406030204" pitchFamily="18" charset="0"/>
                  </a:rPr>
                  <a:t>$1$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ordered pairs </a:t>
                </a:r>
                <a:r>
                  <a:rPr lang="en-IN" sz="2400">
                    <a:solidFill>
                      <a:srgbClr val="111827"/>
                    </a:solidFill>
                    <a:latin typeface="Cambria Math" panose="02040503050406030204" pitchFamily="18" charset="0"/>
                  </a:rPr>
                  <a:t>$=7+9+6+9+3+8+4+5+2+5+1+3+1+1=64$</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64</a:t>
            </a:r>
            <a:endParaRPr sz="2800">
              <a:solidFill>
                <a:srgbClr val="15803D"/>
              </a:solidFill>
            </a:endParaRP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Count coprime pairs </a:t>
                </a:r>
                <a14:m>
                  <m:oMath xmlns:m="http://schemas.openxmlformats.org/officeDocument/2006/math">
                    <m:r>
                      <a:rPr lang="en-IN" sz="2400" i="1">
                        <a:solidFill>
                          <a:srgbClr val="78350F"/>
                        </a:solidFill>
                        <a:latin typeface="Cambria Math" panose="02040503050406030204" pitchFamily="18" charset="0"/>
                      </a:rPr>
                      <m:t>𝑝</m:t>
                    </m:r>
                    <m:r>
                      <m:rPr>
                        <m:sty m:val="p"/>
                      </m:rPr>
                      <a:rPr lang="en-IN" sz="2400">
                        <a:solidFill>
                          <a:srgbClr val="78350F"/>
                        </a:solidFill>
                        <a:latin typeface="Cambria Math" panose="02040503050406030204" pitchFamily="18" charset="0"/>
                      </a:rPr>
                      <m:t>&lt;</m:t>
                    </m:r>
                    <m:r>
                      <a:rPr lang="en-IN" sz="2400" i="1">
                        <a:solidFill>
                          <a:srgbClr val="78350F"/>
                        </a:solidFill>
                        <a:latin typeface="Cambria Math" panose="02040503050406030204" pitchFamily="18" charset="0"/>
                      </a:rPr>
                      <m:t>𝑞</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16</m:t>
                    </m:r>
                  </m:oMath>
                </a14:m>
                <a:r>
                  <a:rPr sz="2400" b="0">
                    <a:solidFill>
                      <a:srgbClr val="78350F"/>
                    </a:solidFill>
                    <a:latin typeface="Arial"/>
                  </a:rPr>
                  <a:t> with Euler's totient: each </a:t>
                </a:r>
                <a14:m>
                  <m:oMath xmlns:m="http://schemas.openxmlformats.org/officeDocument/2006/math">
                    <m:r>
                      <a:rPr lang="en-IN" sz="2400" i="1">
                        <a:solidFill>
                          <a:srgbClr val="78350F"/>
                        </a:solidFill>
                        <a:latin typeface="Cambria Math" panose="02040503050406030204" pitchFamily="18" charset="0"/>
                      </a:rPr>
                      <m:t>𝑞</m:t>
                    </m:r>
                  </m:oMath>
                </a14:m>
                <a:r>
                  <a:rPr sz="2400" b="0">
                    <a:solidFill>
                      <a:srgbClr val="78350F"/>
                    </a:solidFill>
                    <a:latin typeface="Arial"/>
                  </a:rPr>
                  <a:t> has </a:t>
                </a:r>
                <a14:m>
                  <m:oMath xmlns:m="http://schemas.openxmlformats.org/officeDocument/2006/math">
                    <m:r>
                      <a:rPr lang="en-IN" sz="2400" i="1">
                        <a:solidFill>
                          <a:srgbClr val="78350F"/>
                        </a:solidFill>
                        <a:latin typeface="Cambria Math" panose="02040503050406030204" pitchFamily="18" charset="0"/>
                      </a:rPr>
                      <m:t>φ</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𝑞</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smaller coprime partners.</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Count coprime pairs </a:t>
                </a:r>
                <a:r>
                  <a:rPr lang="en-IN" sz="2400">
                    <a:solidFill>
                      <a:srgbClr val="78350F"/>
                    </a:solidFill>
                    <a:latin typeface="Cambria Math" panose="02040503050406030204" pitchFamily="18" charset="0"/>
                  </a:rPr>
                  <a:t>$p&lt;q\le16$</a:t>
                </a:r>
                <a:r>
                  <a:rPr sz="2400" b="0">
                    <a:solidFill>
                      <a:srgbClr val="78350F"/>
                    </a:solidFill>
                    <a:latin typeface="Arial"/>
                  </a:rPr>
                  <a:t> with Euler's totient: each </a:t>
                </a:r>
                <a:r>
                  <a:rPr lang="en-IN" sz="2400">
                    <a:solidFill>
                      <a:srgbClr val="78350F"/>
                    </a:solidFill>
                    <a:latin typeface="Cambria Math" panose="02040503050406030204" pitchFamily="18" charset="0"/>
                  </a:rPr>
                  <a:t>$q$</a:t>
                </a:r>
                <a:r>
                  <a:rPr sz="2400" b="0">
                    <a:solidFill>
                      <a:srgbClr val="78350F"/>
                    </a:solidFill>
                    <a:latin typeface="Arial"/>
                  </a:rPr>
                  <a:t> has </a:t>
                </a:r>
                <a:r>
                  <a:rPr lang="en-IN" sz="2400">
                    <a:solidFill>
                      <a:srgbClr val="78350F"/>
                    </a:solidFill>
                    <a:latin typeface="Cambria Math" panose="02040503050406030204" pitchFamily="18" charset="0"/>
                  </a:rPr>
                  <a:t>$\varphi(q)$</a:t>
                </a:r>
                <a:r>
                  <a:rPr sz="2400" b="0">
                    <a:solidFill>
                      <a:srgbClr val="78350F"/>
                    </a:solidFill>
                    <a:latin typeface="Arial"/>
                  </a:rPr>
                  <a:t> smaller coprime partners.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 fixed </a:t>
                </a:r>
                <a14:m>
                  <m:oMath xmlns:m="http://schemas.openxmlformats.org/officeDocument/2006/math">
                    <m:r>
                      <a:rPr lang="en-IN" sz="2400" i="1">
                        <a:solidFill>
                          <a:srgbClr val="111827"/>
                        </a:solidFill>
                        <a:latin typeface="Cambria Math" panose="02040503050406030204" pitchFamily="18" charset="0"/>
                      </a:rPr>
                      <m:t>𝑞</m:t>
                    </m:r>
                  </m:oMath>
                </a14:m>
                <a:r>
                  <a:rPr sz="2400" b="0">
                    <a:solidFill>
                      <a:srgbClr val="111827"/>
                    </a:solidFill>
                    <a:latin typeface="Arial"/>
                  </a:rPr>
                  <a:t>, the number of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𝑞</m:t>
                    </m:r>
                  </m:oMath>
                </a14:m>
                <a:r>
                  <a:rPr sz="2400" b="0">
                    <a:solidFill>
                      <a:srgbClr val="111827"/>
                    </a:solidFill>
                    <a:latin typeface="Arial"/>
                  </a:rPr>
                  <a:t> with </a:t>
                </a:r>
                <a14:m>
                  <m:oMath xmlns:m="http://schemas.openxmlformats.org/officeDocument/2006/math">
                    <m:r>
                      <m:rPr>
                        <m:sty m:val="p"/>
                      </m:rPr>
                      <a:rPr lang="en-IN" sz="2400">
                        <a:solidFill>
                          <a:srgbClr val="111827"/>
                        </a:solidFill>
                        <a:latin typeface="Cambria Math" panose="02040503050406030204" pitchFamily="18" charset="0"/>
                      </a:rPr>
                      <m:t>gcd</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φ</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(taking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φ</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Their sum is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79</m:t>
                    </m:r>
                  </m:oMath>
                </a14:m>
                <a:r>
                  <a:rPr sz="2400" b="0">
                    <a:solidFill>
                      <a:srgbClr val="111827"/>
                    </a:solidFill>
                    <a:latin typeface="Arial"/>
                  </a:rPr>
                  <a:t> coprime pairs with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 fixed </a:t>
                </a:r>
                <a:r>
                  <a:rPr lang="en-IN" sz="2400">
                    <a:solidFill>
                      <a:srgbClr val="111827"/>
                    </a:solidFill>
                    <a:latin typeface="Cambria Math" panose="02040503050406030204" pitchFamily="18" charset="0"/>
                  </a:rPr>
                  <a:t>$q$</a:t>
                </a:r>
                <a:r>
                  <a:rPr sz="2400" b="0">
                    <a:solidFill>
                      <a:srgbClr val="111827"/>
                    </a:solidFill>
                    <a:latin typeface="Arial"/>
                  </a:rPr>
                  <a:t>, the number of </a:t>
                </a:r>
                <a:r>
                  <a:rPr lang="en-IN" sz="2400">
                    <a:solidFill>
                      <a:srgbClr val="111827"/>
                    </a:solidFill>
                    <a:latin typeface="Cambria Math" panose="02040503050406030204" pitchFamily="18" charset="0"/>
                  </a:rPr>
                  <a:t>$p&lt;q$</a:t>
                </a:r>
                <a:r>
                  <a:rPr sz="2400" b="0">
                    <a:solidFill>
                      <a:srgbClr val="111827"/>
                    </a:solidFill>
                    <a:latin typeface="Arial"/>
                  </a:rPr>
                  <a:t> with </a:t>
                </a:r>
                <a:r>
                  <a:rPr lang="en-IN" sz="2400">
                    <a:solidFill>
                      <a:srgbClr val="111827"/>
                    </a:solidFill>
                    <a:latin typeface="Cambria Math" panose="02040503050406030204" pitchFamily="18" charset="0"/>
                  </a:rPr>
                  <a:t>$\gcd(p,q)=1$</a:t>
                </a:r>
                <a:r>
                  <a:rPr sz="2400" b="0">
                    <a:solidFill>
                      <a:srgbClr val="111827"/>
                    </a:solidFill>
                    <a:latin typeface="Arial"/>
                  </a:rPr>
                  <a:t> is </a:t>
                </a:r>
                <a:r>
                  <a:rPr lang="en-IN" sz="2400">
                    <a:solidFill>
                      <a:srgbClr val="111827"/>
                    </a:solidFill>
                    <a:latin typeface="Cambria Math" panose="02040503050406030204" pitchFamily="18" charset="0"/>
                  </a:rPr>
                  <a:t>$\varphi(q)$</a:t>
                </a:r>
                <a:r>
                  <a:rPr sz="2400" b="0">
                    <a:solidFill>
                      <a:srgbClr val="111827"/>
                    </a:solidFill>
                    <a:latin typeface="Arial"/>
                  </a:rPr>
                  <a:t> (taking </a:t>
                </a:r>
                <a:r>
                  <a:rPr lang="en-IN" sz="2400">
                    <a:solidFill>
                      <a:srgbClr val="111827"/>
                    </a:solidFill>
                    <a:latin typeface="Cambria Math" panose="02040503050406030204" pitchFamily="18" charset="0"/>
                  </a:rPr>
                  <a:t>$p\ge1$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$\varphi(2..16)=1,2,2,4,2,6,4,6,4,10,4,12,6,8,8$</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Their sum is </a:t>
                </a:r>
                <a:r>
                  <a:rPr lang="en-IN" sz="2400">
                    <a:solidFill>
                      <a:srgbClr val="111827"/>
                    </a:solidFill>
                    <a:latin typeface="Cambria Math" panose="02040503050406030204" pitchFamily="18" charset="0"/>
                  </a:rPr>
                  <a:t>$1+2+2+4+2+6+4+6+4+10+4+12+6+8+8=79$</a:t>
                </a:r>
                <a:r>
                  <a:rPr sz="2400" b="0">
                    <a:solidFill>
                      <a:srgbClr val="111827"/>
                    </a:solidFill>
                    <a:latin typeface="Arial"/>
                  </a:rPr>
                  <a:t> coprime pairs with </a:t>
                </a:r>
                <a:r>
                  <a:rPr lang="en-IN" sz="2400">
                    <a:solidFill>
                      <a:srgbClr val="111827"/>
                    </a:solidFill>
                    <a:latin typeface="Cambria Math" panose="02040503050406030204" pitchFamily="18" charset="0"/>
                  </a:rPr>
                  <a:t>$1\le p&lt;q\le16$</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Remove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(needs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not two-digit): pairs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oMath>
                </a14:m>
                <a:r>
                  <a:rPr sz="2400" b="0">
                    <a:solidFill>
                      <a:srgbClr val="111827"/>
                    </a:solidFill>
                    <a:latin typeface="Arial"/>
                  </a:rPr>
                  <a:t>, which is </a:t>
                </a:r>
                <a14:m>
                  <m:oMath xmlns:m="http://schemas.openxmlformats.org/officeDocument/2006/math">
                    <m:r>
                      <a:rPr lang="en-IN" sz="2400" i="1">
                        <a:solidFill>
                          <a:srgbClr val="111827"/>
                        </a:solidFill>
                        <a:latin typeface="Cambria Math" panose="02040503050406030204" pitchFamily="18" charset="0"/>
                      </a:rPr>
                      <m:t>15</m:t>
                    </m:r>
                  </m:oMath>
                </a14:m>
                <a:r>
                  <a:rPr sz="2400" b="0">
                    <a:solidFill>
                      <a:srgbClr val="111827"/>
                    </a:solidFill>
                    <a:latin typeface="Arial"/>
                  </a:rPr>
                  <a:t> pairs.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Required count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64</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Remove </a:t>
                </a:r>
                <a:r>
                  <a:rPr lang="en-IN" sz="2400">
                    <a:solidFill>
                      <a:srgbClr val="111827"/>
                    </a:solidFill>
                    <a:latin typeface="Cambria Math" panose="02040503050406030204" pitchFamily="18" charset="0"/>
                  </a:rPr>
                  <a:t>$p=1$</a:t>
                </a:r>
                <a:r>
                  <a:rPr sz="2400" b="0">
                    <a:solidFill>
                      <a:srgbClr val="111827"/>
                    </a:solidFill>
                    <a:latin typeface="Arial"/>
                  </a:rPr>
                  <a:t> (needs </a:t>
                </a:r>
                <a:r>
                  <a:rPr lang="en-IN" sz="2400">
                    <a:solidFill>
                      <a:srgbClr val="111827"/>
                    </a:solidFill>
                    <a:latin typeface="Cambria Math" panose="02040503050406030204" pitchFamily="18" charset="0"/>
                  </a:rPr>
                  <a:t>$m=6$</a:t>
                </a:r>
                <a:r>
                  <a:rPr sz="2400" b="0">
                    <a:solidFill>
                      <a:srgbClr val="111827"/>
                    </a:solidFill>
                    <a:latin typeface="Arial"/>
                  </a:rPr>
                  <a:t>, not two-digit): pairs </a:t>
                </a:r>
                <a:r>
                  <a:rPr lang="en-IN" sz="2400">
                    <a:solidFill>
                      <a:srgbClr val="111827"/>
                    </a:solidFill>
                    <a:latin typeface="Cambria Math" panose="02040503050406030204" pitchFamily="18" charset="0"/>
                  </a:rPr>
                  <a:t>$(1,q)$</a:t>
                </a:r>
                <a:r>
                  <a:rPr sz="2400" b="0">
                    <a:solidFill>
                      <a:srgbClr val="111827"/>
                    </a:solidFill>
                    <a:latin typeface="Arial"/>
                  </a:rPr>
                  <a:t> for </a:t>
                </a:r>
                <a:r>
                  <a:rPr lang="en-IN" sz="2400">
                    <a:solidFill>
                      <a:srgbClr val="111827"/>
                    </a:solidFill>
                    <a:latin typeface="Cambria Math" panose="02040503050406030204" pitchFamily="18" charset="0"/>
                  </a:rPr>
                  <a:t>$q=2..16$</a:t>
                </a:r>
                <a:r>
                  <a:rPr sz="2400" b="0">
                    <a:solidFill>
                      <a:srgbClr val="111827"/>
                    </a:solidFill>
                    <a:latin typeface="Arial"/>
                  </a:rPr>
                  <a:t>, which is </a:t>
                </a:r>
                <a:r>
                  <a:rPr lang="en-IN" sz="2400">
                    <a:solidFill>
                      <a:srgbClr val="111827"/>
                    </a:solidFill>
                    <a:latin typeface="Cambria Math" panose="02040503050406030204" pitchFamily="18" charset="0"/>
                  </a:rPr>
                  <a:t>$15$</a:t>
                </a:r>
                <a:r>
                  <a:rPr sz="2400" b="0">
                    <a:solidFill>
                      <a:srgbClr val="111827"/>
                    </a:solidFill>
                    <a:latin typeface="Arial"/>
                  </a:rPr>
                  <a:t> pairs.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Required count </a:t>
                </a:r>
                <a:r>
                  <a:rPr lang="en-IN" sz="2400">
                    <a:solidFill>
                      <a:srgbClr val="111827"/>
                    </a:solidFill>
                    <a:latin typeface="Cambria Math" panose="02040503050406030204" pitchFamily="18" charset="0"/>
                  </a:rPr>
                  <a:t>$=79-15=64$</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64</a:t>
            </a:r>
            <a:endParaRPr sz="2800">
              <a:solidFill>
                <a:srgbClr val="15803D"/>
              </a:solidFill>
            </a:endParaRP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Number of coprime pairs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𝑁</m:t>
                    </m:r>
                  </m:oMath>
                </a14:m>
                <a:r>
                  <a:rPr sz="2400" b="0">
                    <a:solidFill>
                      <a:srgbClr val="111827"/>
                    </a:solidFill>
                    <a:latin typeface="Arial"/>
                  </a:rPr>
                  <a:t> is </a:t>
                </a:r>
                <a14:m>
                  <m:oMath xmlns:m="http://schemas.openxmlformats.org/officeDocument/2006/math">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b>
                      <m:sup>
                        <m:r>
                          <a:rPr lang="en-IN" sz="2400" i="1">
                            <a:solidFill>
                              <a:srgbClr val="111827"/>
                            </a:solidFill>
                            <a:latin typeface="Cambria Math" panose="02040503050406030204" pitchFamily="18" charset="0"/>
                          </a:rPr>
                          <m:t>𝑁</m:t>
                        </m:r>
                      </m:sup>
                      <m:e>
                        <m:r>
                          <a:rPr lang="en-IN" sz="2400" i="1">
                            <a:solidFill>
                              <a:srgbClr val="111827"/>
                            </a:solidFill>
                            <a:latin typeface="Cambria Math" panose="02040503050406030204" pitchFamily="18" charset="0"/>
                          </a:rPr>
                          <m:t>φ</m:t>
                        </m:r>
                      </m:e>
                    </m:nary>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(e.g. </a:t>
                </a:r>
                <a14:m>
                  <m:oMath xmlns:m="http://schemas.openxmlformats.org/officeDocument/2006/math">
                    <m:r>
                      <a:rPr lang="en-IN" sz="2400" i="1">
                        <a:solidFill>
                          <a:srgbClr val="111827"/>
                        </a:solidFill>
                        <a:latin typeface="Cambria Math" panose="02040503050406030204" pitchFamily="18" charset="0"/>
                      </a:rPr>
                      <m:t>79</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gcd</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gcd</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reduce HCF problems to coprime pairs in a scaled range.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LCM conditions, use </a:t>
                </a:r>
                <a14:m>
                  <m:oMath xmlns:m="http://schemas.openxmlformats.org/officeDocument/2006/math">
                    <m:r>
                      <a:rPr lang="en-IN" sz="2400" i="1">
                        <a:solidFill>
                          <a:srgbClr val="111827"/>
                        </a:solidFill>
                        <a:latin typeface="Cambria Math" panose="02040503050406030204" pitchFamily="18" charset="0"/>
                      </a:rPr>
                      <m:t>𝑚</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gcd</m:t>
                    </m:r>
                    <m:r>
                      <m:rPr>
                        <m:sty m:val="p"/>
                      </m:rPr>
                      <a:rPr lang="en-IN" sz="2400">
                        <a:solidFill>
                          <a:srgbClr val="111827"/>
                        </a:solidFill>
                        <a:latin typeface="Cambria Math" panose="02040503050406030204" pitchFamily="18" charset="0"/>
                      </a:rPr>
                      <m:t>⋅</m:t>
                    </m:r>
                    <m:r>
                      <m:rPr>
                        <m:nor/>
                      </m:rPr>
                      <a:rPr lang="en-IN" sz="2400" i="1">
                        <a:solidFill>
                          <a:srgbClr val="111827"/>
                        </a:solidFill>
                        <a:latin typeface="Cambria Math" panose="02040503050406030204" pitchFamily="18" charset="0"/>
                      </a:rPr>
                      <m:t>𝑙𝑐𝑚</m:t>
                    </m:r>
                  </m:oMath>
                </a14:m>
                <a:r>
                  <a:rPr sz="2400" b="0">
                    <a:solidFill>
                      <a:srgbClr val="111827"/>
                    </a:solidFill>
                    <a:latin typeface="Arial"/>
                  </a:rPr>
                  <a:t> and the same scaling.</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Number of coprime pairs </a:t>
                </a:r>
                <a:r>
                  <a:rPr lang="en-IN" sz="2400">
                    <a:solidFill>
                      <a:srgbClr val="111827"/>
                    </a:solidFill>
                    <a:latin typeface="Cambria Math" panose="02040503050406030204" pitchFamily="18" charset="0"/>
                  </a:rPr>
                  <a:t>$1\le p&lt;q\le N$</a:t>
                </a:r>
                <a:r>
                  <a:rPr sz="2400" b="0">
                    <a:solidFill>
                      <a:srgbClr val="111827"/>
                    </a:solidFill>
                    <a:latin typeface="Arial"/>
                  </a:rPr>
                  <a:t> is </a:t>
                </a:r>
                <a:r>
                  <a:rPr lang="en-IN" sz="2400">
                    <a:solidFill>
                      <a:srgbClr val="111827"/>
                    </a:solidFill>
                    <a:latin typeface="Cambria Math" panose="02040503050406030204" pitchFamily="18" charset="0"/>
                  </a:rPr>
                  <a:t>$\sum_{q=2}^{N}\varphi(q)$</a:t>
                </a:r>
                <a:r>
                  <a:rPr sz="2400" b="0">
                    <a:solidFill>
                      <a:srgbClr val="111827"/>
                    </a:solidFill>
                    <a:latin typeface="Arial"/>
                  </a:rPr>
                  <a:t> (e.g. </a:t>
                </a:r>
                <a:r>
                  <a:rPr lang="en-IN" sz="2400">
                    <a:solidFill>
                      <a:srgbClr val="111827"/>
                    </a:solidFill>
                    <a:latin typeface="Cambria Math" panose="02040503050406030204" pitchFamily="18" charset="0"/>
                  </a:rPr>
                  <a:t>$79$</a:t>
                </a:r>
                <a:r>
                  <a:rPr sz="2400" b="0">
                    <a:solidFill>
                      <a:srgbClr val="111827"/>
                    </a:solidFill>
                    <a:latin typeface="Arial"/>
                  </a:rPr>
                  <a:t> for </a:t>
                </a:r>
                <a:r>
                  <a:rPr lang="en-IN" sz="2400">
                    <a:solidFill>
                      <a:srgbClr val="111827"/>
                    </a:solidFill>
                    <a:latin typeface="Cambria Math" panose="02040503050406030204" pitchFamily="18" charset="0"/>
                  </a:rPr>
                  <a:t>$N=16$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$\gcd(m,n)=d\iff m=dp,\ n=dq,\ \gcd(p,q)=1$</a:t>
                </a:r>
                <a:r>
                  <a:rPr sz="2400" b="0">
                    <a:solidFill>
                      <a:srgbClr val="111827"/>
                    </a:solidFill>
                    <a:latin typeface="Arial"/>
                  </a:rPr>
                  <a:t>: reduce HCF problems to coprime pairs in a scaled range.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LCM conditions, use </a:t>
                </a:r>
                <a:r>
                  <a:rPr lang="en-IN" sz="2400">
                    <a:solidFill>
                      <a:srgbClr val="111827"/>
                    </a:solidFill>
                    <a:latin typeface="Cambria Math" panose="02040503050406030204" pitchFamily="18" charset="0"/>
                  </a:rPr>
                  <a:t>$mn=\gcd\cdot\text{lcm}$</a:t>
                </a:r>
                <a:r>
                  <a:rPr sz="2400" b="0">
                    <a:solidFill>
                      <a:srgbClr val="111827"/>
                    </a:solidFill>
                    <a:latin typeface="Arial"/>
                  </a:rPr>
                  <a:t> and the same scaling.</a:t>
                </a:r>
                <a:endParaRPr sz="2400">
                  <a:solidFill>
                    <a:srgbClr val="111827"/>
                  </a:solidFill>
                </a:endParaRPr>
              </a:p>
            </p:txBody>
          </p:sp>
        </mc:Fallback>
      </mc:AlternateContent>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number of ways,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boys and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girls can sit in a row so that either all the boys sit together or no two boys sit together, is ____.</a:t>
                </a:r>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number of ways, </a:t>
                </a:r>
                <a:r>
                  <a:rPr lang="en-IN" sz="2400">
                    <a:solidFill>
                      <a:srgbClr val="111827"/>
                    </a:solidFill>
                    <a:latin typeface="Cambria Math" panose="02040503050406030204" pitchFamily="18" charset="0"/>
                  </a:rPr>
                  <a:t>$5$</a:t>
                </a:r>
                <a:r>
                  <a:rPr sz="2400" b="0">
                    <a:solidFill>
                      <a:srgbClr val="111827"/>
                    </a:solidFill>
                    <a:latin typeface="Arial"/>
                  </a:rPr>
                  <a:t> boys and </a:t>
                </a:r>
                <a:r>
                  <a:rPr lang="en-IN" sz="2400">
                    <a:solidFill>
                      <a:srgbClr val="111827"/>
                    </a:solidFill>
                    <a:latin typeface="Cambria Math" panose="02040503050406030204" pitchFamily="18" charset="0"/>
                  </a:rPr>
                  <a:t>$4$</a:t>
                </a:r>
                <a:r>
                  <a:rPr sz="2400" b="0">
                    <a:solidFill>
                      <a:srgbClr val="111827"/>
                    </a:solidFill>
                    <a:latin typeface="Arial"/>
                  </a:rPr>
                  <a:t> girls can sit in a row so that either all the boys sit together or no two boys sit together, is ____.</a:t>
                </a:r>
                <a:endParaRPr sz="2400">
                  <a:solidFill>
                    <a:srgbClr val="111827"/>
                  </a:solidFill>
                </a:endParaRPr>
              </a:p>
            </p:txBody>
          </p:sp>
        </mc:Fallback>
      </mc:AlternateContent>
      <p:sp>
        <p:nvSpPr>
          <p:cNvPr id="5" name="Rectangle 4"/>
          <p:cNvSpPr/>
          <p:nvPr/>
        </p:nvSpPr>
        <p:spPr>
          <a:xfrm>
            <a:off x="731520" y="324612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Arrangements with and without adjacency restrictions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'Together' and 'no two together' cannot both hold for 5 boys, so add the two counts.</a:t>
            </a:r>
            <a:endParaRPr sz="24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all boys sit together;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no two boys sit together.</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glue the boys into one block. Block plus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girls make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units: </a:t>
                </a:r>
                <a14:m>
                  <m:oMath xmlns:m="http://schemas.openxmlformats.org/officeDocument/2006/math">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arrangements, boys inside the block in </a:t>
                </a:r>
                <a14:m>
                  <m:oMath xmlns:m="http://schemas.openxmlformats.org/officeDocument/2006/math">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ways, so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14400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seat the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girls first in </a:t>
                </a:r>
                <a14:m>
                  <m:oMath xmlns:m="http://schemas.openxmlformats.org/officeDocument/2006/math">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ways, creating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gaps; the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boys fill the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gaps in </a:t>
                </a:r>
                <a14:m>
                  <m:oMath xmlns:m="http://schemas.openxmlformats.org/officeDocument/2006/math">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ways, so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2880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$A$</a:t>
                </a:r>
                <a:r>
                  <a:rPr sz="2400" b="0">
                    <a:solidFill>
                      <a:srgbClr val="111827"/>
                    </a:solidFill>
                    <a:latin typeface="Arial"/>
                  </a:rPr>
                  <a:t>: all boys sit together; </a:t>
                </a:r>
                <a:r>
                  <a:rPr lang="en-IN" sz="2400">
                    <a:solidFill>
                      <a:srgbClr val="111827"/>
                    </a:solidFill>
                    <a:latin typeface="Cambria Math" panose="02040503050406030204" pitchFamily="18" charset="0"/>
                  </a:rPr>
                  <a:t>$B$</a:t>
                </a:r>
                <a:r>
                  <a:rPr sz="2400" b="0">
                    <a:solidFill>
                      <a:srgbClr val="111827"/>
                    </a:solidFill>
                    <a:latin typeface="Arial"/>
                  </a:rPr>
                  <a:t>: no two boys sit together.</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a:t>
                </a:r>
                <a:r>
                  <a:rPr sz="2400" b="0">
                    <a:solidFill>
                      <a:srgbClr val="111827"/>
                    </a:solidFill>
                    <a:latin typeface="Arial"/>
                  </a:rPr>
                  <a:t>: glue the boys into one block. Block plus </a:t>
                </a:r>
                <a:r>
                  <a:rPr lang="en-IN" sz="2400">
                    <a:solidFill>
                      <a:srgbClr val="111827"/>
                    </a:solidFill>
                    <a:latin typeface="Cambria Math" panose="02040503050406030204" pitchFamily="18" charset="0"/>
                  </a:rPr>
                  <a:t>$4$</a:t>
                </a:r>
                <a:r>
                  <a:rPr sz="2400" b="0">
                    <a:solidFill>
                      <a:srgbClr val="111827"/>
                    </a:solidFill>
                    <a:latin typeface="Arial"/>
                  </a:rPr>
                  <a:t> girls make </a:t>
                </a:r>
                <a:r>
                  <a:rPr lang="en-IN" sz="2400">
                    <a:solidFill>
                      <a:srgbClr val="111827"/>
                    </a:solidFill>
                    <a:latin typeface="Cambria Math" panose="02040503050406030204" pitchFamily="18" charset="0"/>
                  </a:rPr>
                  <a:t>$5$</a:t>
                </a:r>
                <a:r>
                  <a:rPr sz="2400" b="0">
                    <a:solidFill>
                      <a:srgbClr val="111827"/>
                    </a:solidFill>
                    <a:latin typeface="Arial"/>
                  </a:rPr>
                  <a:t> units: </a:t>
                </a:r>
                <a:r>
                  <a:rPr lang="en-IN" sz="2400">
                    <a:solidFill>
                      <a:srgbClr val="111827"/>
                    </a:solidFill>
                    <a:latin typeface="Cambria Math" panose="02040503050406030204" pitchFamily="18" charset="0"/>
                  </a:rPr>
                  <a:t>$5!$</a:t>
                </a:r>
                <a:r>
                  <a:rPr sz="2400" b="0">
                    <a:solidFill>
                      <a:srgbClr val="111827"/>
                    </a:solidFill>
                    <a:latin typeface="Arial"/>
                  </a:rPr>
                  <a:t> arrangements, boys inside the block in </a:t>
                </a:r>
                <a:r>
                  <a:rPr lang="en-IN" sz="2400">
                    <a:solidFill>
                      <a:srgbClr val="111827"/>
                    </a:solidFill>
                    <a:latin typeface="Cambria Math" panose="02040503050406030204" pitchFamily="18" charset="0"/>
                  </a:rPr>
                  <a:t>$5!$</a:t>
                </a:r>
                <a:r>
                  <a:rPr sz="2400" b="0">
                    <a:solidFill>
                      <a:srgbClr val="111827"/>
                    </a:solidFill>
                    <a:latin typeface="Arial"/>
                  </a:rPr>
                  <a:t> ways, so </a:t>
                </a:r>
                <a:r>
                  <a:rPr lang="en-IN" sz="2400">
                    <a:solidFill>
                      <a:srgbClr val="111827"/>
                    </a:solidFill>
                    <a:latin typeface="Cambria Math" panose="02040503050406030204" pitchFamily="18" charset="0"/>
                  </a:rPr>
                  <a:t>$n(A)=5!\cdot5!=14400$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$B$</a:t>
                </a:r>
                <a:r>
                  <a:rPr sz="2400" b="0">
                    <a:solidFill>
                      <a:srgbClr val="111827"/>
                    </a:solidFill>
                    <a:latin typeface="Arial"/>
                  </a:rPr>
                  <a:t>: seat the </a:t>
                </a:r>
                <a:r>
                  <a:rPr lang="en-IN" sz="2400">
                    <a:solidFill>
                      <a:srgbClr val="111827"/>
                    </a:solidFill>
                    <a:latin typeface="Cambria Math" panose="02040503050406030204" pitchFamily="18" charset="0"/>
                  </a:rPr>
                  <a:t>$4$</a:t>
                </a:r>
                <a:r>
                  <a:rPr sz="2400" b="0">
                    <a:solidFill>
                      <a:srgbClr val="111827"/>
                    </a:solidFill>
                    <a:latin typeface="Arial"/>
                  </a:rPr>
                  <a:t> girls first in </a:t>
                </a:r>
                <a:r>
                  <a:rPr lang="en-IN" sz="2400">
                    <a:solidFill>
                      <a:srgbClr val="111827"/>
                    </a:solidFill>
                    <a:latin typeface="Cambria Math" panose="02040503050406030204" pitchFamily="18" charset="0"/>
                  </a:rPr>
                  <a:t>$4!$</a:t>
                </a:r>
                <a:r>
                  <a:rPr sz="2400" b="0">
                    <a:solidFill>
                      <a:srgbClr val="111827"/>
                    </a:solidFill>
                    <a:latin typeface="Arial"/>
                  </a:rPr>
                  <a:t> ways, creating </a:t>
                </a:r>
                <a:r>
                  <a:rPr lang="en-IN" sz="2400">
                    <a:solidFill>
                      <a:srgbClr val="111827"/>
                    </a:solidFill>
                    <a:latin typeface="Cambria Math" panose="02040503050406030204" pitchFamily="18" charset="0"/>
                  </a:rPr>
                  <a:t>$5$</a:t>
                </a:r>
                <a:r>
                  <a:rPr sz="2400" b="0">
                    <a:solidFill>
                      <a:srgbClr val="111827"/>
                    </a:solidFill>
                    <a:latin typeface="Arial"/>
                  </a:rPr>
                  <a:t> gaps; the </a:t>
                </a:r>
                <a:r>
                  <a:rPr lang="en-IN" sz="2400">
                    <a:solidFill>
                      <a:srgbClr val="111827"/>
                    </a:solidFill>
                    <a:latin typeface="Cambria Math" panose="02040503050406030204" pitchFamily="18" charset="0"/>
                  </a:rPr>
                  <a:t>$5$</a:t>
                </a:r>
                <a:r>
                  <a:rPr sz="2400" b="0">
                    <a:solidFill>
                      <a:srgbClr val="111827"/>
                    </a:solidFill>
                    <a:latin typeface="Arial"/>
                  </a:rPr>
                  <a:t> boys fill the </a:t>
                </a:r>
                <a:r>
                  <a:rPr lang="en-IN" sz="2400">
                    <a:solidFill>
                      <a:srgbClr val="111827"/>
                    </a:solidFill>
                    <a:latin typeface="Cambria Math" panose="02040503050406030204" pitchFamily="18" charset="0"/>
                  </a:rPr>
                  <a:t>$5$</a:t>
                </a:r>
                <a:r>
                  <a:rPr sz="2400" b="0">
                    <a:solidFill>
                      <a:srgbClr val="111827"/>
                    </a:solidFill>
                    <a:latin typeface="Arial"/>
                  </a:rPr>
                  <a:t> gaps in </a:t>
                </a:r>
                <a:r>
                  <a:rPr lang="en-IN" sz="2400">
                    <a:solidFill>
                      <a:srgbClr val="111827"/>
                    </a:solidFill>
                    <a:latin typeface="Cambria Math" panose="02040503050406030204" pitchFamily="18" charset="0"/>
                  </a:rPr>
                  <a:t>$5!$</a:t>
                </a:r>
                <a:r>
                  <a:rPr sz="2400" b="0">
                    <a:solidFill>
                      <a:srgbClr val="111827"/>
                    </a:solidFill>
                    <a:latin typeface="Arial"/>
                  </a:rPr>
                  <a:t> ways, so </a:t>
                </a:r>
                <a:r>
                  <a:rPr lang="en-IN" sz="2400">
                    <a:solidFill>
                      <a:srgbClr val="111827"/>
                    </a:solidFill>
                    <a:latin typeface="Cambria Math" panose="02040503050406030204" pitchFamily="18" charset="0"/>
                  </a:rPr>
                  <a:t>$n(B)=4!\cdot5!=2880$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boys a block has adjacent boys, so the two conditions contradict).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14400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2880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17280</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$A\cap B=\varnothing$</a:t>
                </a:r>
                <a:r>
                  <a:rPr sz="2400" b="0">
                    <a:solidFill>
                      <a:srgbClr val="111827"/>
                    </a:solidFill>
                    <a:latin typeface="Arial"/>
                  </a:rPr>
                  <a:t> (with </a:t>
                </a:r>
                <a:r>
                  <a:rPr lang="en-IN" sz="2400">
                    <a:solidFill>
                      <a:srgbClr val="111827"/>
                    </a:solidFill>
                    <a:latin typeface="Cambria Math" panose="02040503050406030204" pitchFamily="18" charset="0"/>
                  </a:rPr>
                  <a:t>$5$</a:t>
                </a:r>
                <a:r>
                  <a:rPr sz="2400" b="0">
                    <a:solidFill>
                      <a:srgbClr val="111827"/>
                    </a:solidFill>
                    <a:latin typeface="Arial"/>
                  </a:rPr>
                  <a:t> boys a block has adjacent boys, so the two conditions contradict).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r>
                  <a:rPr lang="en-IN" sz="2400">
                    <a:solidFill>
                      <a:srgbClr val="111827"/>
                    </a:solidFill>
                    <a:latin typeface="Cambria Math" panose="02040503050406030204" pitchFamily="18" charset="0"/>
                  </a:rPr>
                  <a:t>$=5!\cdot5!+4!\cdot5!=14400+2880=17280$</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17280</a:t>
            </a:r>
            <a:endParaRPr sz="2800">
              <a:solidFill>
                <a:srgbClr val="15803D"/>
              </a:solidFill>
            </a:endParaRP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Choose the boy/girl pattern of the row first, then fill the seats with boys and girls independently.</a:t>
            </a:r>
            <a:endParaRPr sz="2400">
              <a:solidFill>
                <a:srgbClr val="78350F"/>
              </a:solidFill>
            </a:endParaRPr>
          </a:p>
        </p:txBody>
      </p:sp>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Any seating is a pattern of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𝐺</m:t>
                    </m:r>
                  </m:oMath>
                </a14:m>
                <a:r>
                  <a:rPr sz="2400" b="0">
                    <a:solidFill>
                      <a:srgbClr val="111827"/>
                    </a:solidFill>
                    <a:latin typeface="Arial"/>
                  </a:rPr>
                  <a:t> in </a:t>
                </a:r>
                <a14:m>
                  <m:oMath xmlns:m="http://schemas.openxmlformats.org/officeDocument/2006/math">
                    <m:r>
                      <a:rPr lang="en-IN" sz="2400" i="1">
                        <a:solidFill>
                          <a:srgbClr val="111827"/>
                        </a:solidFill>
                        <a:latin typeface="Cambria Math" panose="02040503050406030204" pitchFamily="18" charset="0"/>
                      </a:rPr>
                      <m:t>9</m:t>
                    </m:r>
                  </m:oMath>
                </a14:m>
                <a:r>
                  <a:rPr sz="2400" b="0">
                    <a:solidFill>
                      <a:srgbClr val="111827"/>
                    </a:solidFill>
                    <a:latin typeface="Arial"/>
                  </a:rPr>
                  <a:t> seats (five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four </a:t>
                </a:r>
                <a14:m>
                  <m:oMath xmlns:m="http://schemas.openxmlformats.org/officeDocument/2006/math">
                    <m:r>
                      <a:rPr lang="en-IN" sz="2400" i="1">
                        <a:solidFill>
                          <a:srgbClr val="111827"/>
                        </a:solidFill>
                        <a:latin typeface="Cambria Math" panose="02040503050406030204" pitchFamily="18" charset="0"/>
                      </a:rPr>
                      <m:t>𝐺</m:t>
                    </m:r>
                  </m:oMath>
                </a14:m>
                <a:r>
                  <a:rPr sz="2400" b="0">
                    <a:solidFill>
                      <a:srgbClr val="111827"/>
                    </a:solidFill>
                    <a:latin typeface="Arial"/>
                  </a:rPr>
                  <a:t>) followed by </a:t>
                </a:r>
                <a14:m>
                  <m:oMath xmlns:m="http://schemas.openxmlformats.org/officeDocument/2006/math">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orders of boys and </a:t>
                </a:r>
                <a14:m>
                  <m:oMath xmlns:m="http://schemas.openxmlformats.org/officeDocument/2006/math">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orders of girls.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Patterns with all boys together: the block of five seats starts at seat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patterns.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Patterns with no two boys adjacent: five boys need gaps between them, which forces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𝐺</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𝐺</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𝐺</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𝐺</m:t>
                    </m:r>
                    <m:r>
                      <a:rPr lang="en-IN" sz="2400" i="1">
                        <a:solidFill>
                          <a:srgbClr val="111827"/>
                        </a:solidFill>
                        <a:latin typeface="Cambria Math" panose="02040503050406030204" pitchFamily="18" charset="0"/>
                      </a:rPr>
                      <m:t>𝐵</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pattern.</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Any seating is a pattern of </a:t>
                </a:r>
                <a:r>
                  <a:rPr lang="en-IN" sz="2400">
                    <a:solidFill>
                      <a:srgbClr val="111827"/>
                    </a:solidFill>
                    <a:latin typeface="Cambria Math" panose="02040503050406030204" pitchFamily="18" charset="0"/>
                  </a:rPr>
                  <a:t>$B$</a:t>
                </a:r>
                <a:r>
                  <a:rPr sz="2400" b="0">
                    <a:solidFill>
                      <a:srgbClr val="111827"/>
                    </a:solidFill>
                    <a:latin typeface="Arial"/>
                  </a:rPr>
                  <a:t> and </a:t>
                </a:r>
                <a:r>
                  <a:rPr lang="en-IN" sz="2400">
                    <a:solidFill>
                      <a:srgbClr val="111827"/>
                    </a:solidFill>
                    <a:latin typeface="Cambria Math" panose="02040503050406030204" pitchFamily="18" charset="0"/>
                  </a:rPr>
                  <a:t>$G$</a:t>
                </a:r>
                <a:r>
                  <a:rPr sz="2400" b="0">
                    <a:solidFill>
                      <a:srgbClr val="111827"/>
                    </a:solidFill>
                    <a:latin typeface="Arial"/>
                  </a:rPr>
                  <a:t> in </a:t>
                </a:r>
                <a:r>
                  <a:rPr lang="en-IN" sz="2400">
                    <a:solidFill>
                      <a:srgbClr val="111827"/>
                    </a:solidFill>
                    <a:latin typeface="Cambria Math" panose="02040503050406030204" pitchFamily="18" charset="0"/>
                  </a:rPr>
                  <a:t>$9$</a:t>
                </a:r>
                <a:r>
                  <a:rPr sz="2400" b="0">
                    <a:solidFill>
                      <a:srgbClr val="111827"/>
                    </a:solidFill>
                    <a:latin typeface="Arial"/>
                  </a:rPr>
                  <a:t> seats (five </a:t>
                </a:r>
                <a:r>
                  <a:rPr lang="en-IN" sz="2400">
                    <a:solidFill>
                      <a:srgbClr val="111827"/>
                    </a:solidFill>
                    <a:latin typeface="Cambria Math" panose="02040503050406030204" pitchFamily="18" charset="0"/>
                  </a:rPr>
                  <a:t>$B$</a:t>
                </a:r>
                <a:r>
                  <a:rPr sz="2400" b="0">
                    <a:solidFill>
                      <a:srgbClr val="111827"/>
                    </a:solidFill>
                    <a:latin typeface="Arial"/>
                  </a:rPr>
                  <a:t>, four </a:t>
                </a:r>
                <a:r>
                  <a:rPr lang="en-IN" sz="2400">
                    <a:solidFill>
                      <a:srgbClr val="111827"/>
                    </a:solidFill>
                    <a:latin typeface="Cambria Math" panose="02040503050406030204" pitchFamily="18" charset="0"/>
                  </a:rPr>
                  <a:t>$G$</a:t>
                </a:r>
                <a:r>
                  <a:rPr sz="2400" b="0">
                    <a:solidFill>
                      <a:srgbClr val="111827"/>
                    </a:solidFill>
                    <a:latin typeface="Arial"/>
                  </a:rPr>
                  <a:t>) followed by </a:t>
                </a:r>
                <a:r>
                  <a:rPr lang="en-IN" sz="2400">
                    <a:solidFill>
                      <a:srgbClr val="111827"/>
                    </a:solidFill>
                    <a:latin typeface="Cambria Math" panose="02040503050406030204" pitchFamily="18" charset="0"/>
                  </a:rPr>
                  <a:t>$5!$</a:t>
                </a:r>
                <a:r>
                  <a:rPr sz="2400" b="0">
                    <a:solidFill>
                      <a:srgbClr val="111827"/>
                    </a:solidFill>
                    <a:latin typeface="Arial"/>
                  </a:rPr>
                  <a:t> orders of boys and </a:t>
                </a:r>
                <a:r>
                  <a:rPr lang="en-IN" sz="2400">
                    <a:solidFill>
                      <a:srgbClr val="111827"/>
                    </a:solidFill>
                    <a:latin typeface="Cambria Math" panose="02040503050406030204" pitchFamily="18" charset="0"/>
                  </a:rPr>
                  <a:t>$4!$</a:t>
                </a:r>
                <a:r>
                  <a:rPr sz="2400" b="0">
                    <a:solidFill>
                      <a:srgbClr val="111827"/>
                    </a:solidFill>
                    <a:latin typeface="Arial"/>
                  </a:rPr>
                  <a:t> orders of girls.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Patterns with all boys together: the block of five seats starts at seat </a:t>
                </a:r>
                <a:r>
                  <a:rPr lang="en-IN" sz="2400">
                    <a:solidFill>
                      <a:srgbClr val="111827"/>
                    </a:solidFill>
                    <a:latin typeface="Cambria Math" panose="02040503050406030204" pitchFamily="18" charset="0"/>
                  </a:rPr>
                  <a:t>$1,2,3,4$</a:t>
                </a:r>
                <a:r>
                  <a:rPr sz="2400" b="0">
                    <a:solidFill>
                      <a:srgbClr val="111827"/>
                    </a:solidFill>
                    <a:latin typeface="Arial"/>
                  </a:rPr>
                  <a:t> or </a:t>
                </a:r>
                <a:r>
                  <a:rPr lang="en-IN" sz="2400">
                    <a:solidFill>
                      <a:srgbClr val="111827"/>
                    </a:solidFill>
                    <a:latin typeface="Cambria Math" panose="02040503050406030204" pitchFamily="18" charset="0"/>
                  </a:rPr>
                  <a:t>$5$</a:t>
                </a:r>
                <a:r>
                  <a:rPr sz="2400" b="0">
                    <a:solidFill>
                      <a:srgbClr val="111827"/>
                    </a:solidFill>
                    <a:latin typeface="Arial"/>
                  </a:rPr>
                  <a:t>: </a:t>
                </a:r>
                <a:r>
                  <a:rPr lang="en-IN" sz="2400">
                    <a:solidFill>
                      <a:srgbClr val="111827"/>
                    </a:solidFill>
                    <a:latin typeface="Cambria Math" panose="02040503050406030204" pitchFamily="18" charset="0"/>
                  </a:rPr>
                  <a:t>$5$</a:t>
                </a:r>
                <a:r>
                  <a:rPr sz="2400" b="0">
                    <a:solidFill>
                      <a:srgbClr val="111827"/>
                    </a:solidFill>
                    <a:latin typeface="Arial"/>
                  </a:rPr>
                  <a:t> patterns.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Patterns with no two boys adjacent: five boys need gaps between them, which forces </a:t>
                </a:r>
                <a:r>
                  <a:rPr lang="en-IN" sz="2400">
                    <a:solidFill>
                      <a:srgbClr val="111827"/>
                    </a:solidFill>
                    <a:latin typeface="Cambria Math" panose="02040503050406030204" pitchFamily="18" charset="0"/>
                  </a:rPr>
                  <a:t>$BGBGBGBGB$</a:t>
                </a:r>
                <a:r>
                  <a:rPr sz="2400" b="0">
                    <a:solidFill>
                      <a:srgbClr val="111827"/>
                    </a:solidFill>
                    <a:latin typeface="Arial"/>
                  </a:rPr>
                  <a:t>: </a:t>
                </a:r>
                <a:r>
                  <a:rPr lang="en-IN" sz="2400">
                    <a:solidFill>
                      <a:srgbClr val="111827"/>
                    </a:solidFill>
                    <a:latin typeface="Cambria Math" panose="02040503050406030204" pitchFamily="18" charset="0"/>
                  </a:rPr>
                  <a:t>$1$</a:t>
                </a:r>
                <a:r>
                  <a:rPr sz="2400" b="0">
                    <a:solidFill>
                      <a:srgbClr val="111827"/>
                    </a:solidFill>
                    <a:latin typeface="Arial"/>
                  </a:rPr>
                  <a:t> pattern.</a:t>
                </a:r>
                <a:endParaRPr sz="2400">
                  <a:solidFill>
                    <a:srgbClr val="111827"/>
                  </a:solidFill>
                </a:endParaRPr>
              </a:p>
            </p:txBody>
          </p:sp>
        </mc:Fallback>
      </mc:AlternateContent>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two sets of patterns are disjoint, so there are </a:t>
                </a:r>
                <a14:m>
                  <m:oMath xmlns:m="http://schemas.openxmlformats.org/officeDocument/2006/math">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good patterns.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 of seatings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2880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17280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two sets of patterns are disjoint, so there are </a:t>
                </a:r>
                <a:r>
                  <a:rPr lang="en-IN" sz="2400">
                    <a:solidFill>
                      <a:srgbClr val="111827"/>
                    </a:solidFill>
                    <a:latin typeface="Cambria Math" panose="02040503050406030204" pitchFamily="18" charset="0"/>
                  </a:rPr>
                  <a:t>$5+1=6$</a:t>
                </a:r>
                <a:r>
                  <a:rPr sz="2400" b="0">
                    <a:solidFill>
                      <a:srgbClr val="111827"/>
                    </a:solidFill>
                    <a:latin typeface="Arial"/>
                  </a:rPr>
                  <a:t> good patterns.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 of seatings </a:t>
                </a:r>
                <a:r>
                  <a:rPr lang="en-IN" sz="2400">
                    <a:solidFill>
                      <a:srgbClr val="111827"/>
                    </a:solidFill>
                    <a:latin typeface="Cambria Math" panose="02040503050406030204" pitchFamily="18" charset="0"/>
                  </a:rPr>
                  <a:t>$=6\times5!\times4!=6\times2880=17280$</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17280</a:t>
            </a:r>
            <a:endParaRPr sz="2800">
              <a:solidFill>
                <a:srgbClr val="15803D"/>
              </a:solidFill>
            </a:endParaRP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𝑏</m:t>
                    </m:r>
                  </m:oMath>
                </a14:m>
                <a:r>
                  <a:rPr sz="2400" b="0">
                    <a:solidFill>
                      <a:srgbClr val="111827"/>
                    </a:solidFill>
                    <a:latin typeface="Arial"/>
                  </a:rPr>
                  <a:t> boys and </a:t>
                </a:r>
                <a14:m>
                  <m:oMath xmlns:m="http://schemas.openxmlformats.org/officeDocument/2006/math">
                    <m:r>
                      <a:rPr lang="en-IN" sz="2400" i="1">
                        <a:solidFill>
                          <a:srgbClr val="111827"/>
                        </a:solidFill>
                        <a:latin typeface="Cambria Math" panose="02040503050406030204" pitchFamily="18" charset="0"/>
                      </a:rPr>
                      <m:t>𝑔</m:t>
                    </m:r>
                  </m:oMath>
                </a14:m>
                <a:r>
                  <a:rPr sz="2400" b="0">
                    <a:solidFill>
                      <a:srgbClr val="111827"/>
                    </a:solidFill>
                    <a:latin typeface="Arial"/>
                  </a:rPr>
                  <a:t> girls, 'no two boys adjacent' is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𝑏</m:t>
                        </m:r>
                      </m:sub>
                    </m:sSub>
                  </m:oMath>
                </a14:m>
                <a:r>
                  <a:rPr sz="2400" b="0">
                    <a:solidFill>
                      <a:srgbClr val="111827"/>
                    </a:solidFill>
                    <a:latin typeface="Arial"/>
                  </a:rPr>
                  <a:t>; 'boys together' is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Pattern-first thinking: number of seatings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nor/>
                      </m:rPr>
                      <a:rPr lang="en-IN" sz="2400" i="1">
                        <a:solidFill>
                          <a:srgbClr val="111827"/>
                        </a:solidFill>
                        <a:latin typeface="Cambria Math" panose="02040503050406030204" pitchFamily="18" charset="0"/>
                      </a:rPr>
                      <m:t>𝑛𝑢𝑚𝑏𝑒𝑟 𝑜𝑓 𝑔𝑜𝑜𝑑 𝐵/𝐺 𝑝𝑎𝑡𝑡𝑒𝑟𝑛𝑠</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'Either A or B' with disjoint events: add; otherwise subtract the overlap.</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$b$</a:t>
                </a:r>
                <a:r>
                  <a:rPr sz="2400" b="0">
                    <a:solidFill>
                      <a:srgbClr val="111827"/>
                    </a:solidFill>
                    <a:latin typeface="Arial"/>
                  </a:rPr>
                  <a:t> boys and </a:t>
                </a:r>
                <a:r>
                  <a:rPr lang="en-IN" sz="2400">
                    <a:solidFill>
                      <a:srgbClr val="111827"/>
                    </a:solidFill>
                    <a:latin typeface="Cambria Math" panose="02040503050406030204" pitchFamily="18" charset="0"/>
                  </a:rPr>
                  <a:t>$g$</a:t>
                </a:r>
                <a:r>
                  <a:rPr sz="2400" b="0">
                    <a:solidFill>
                      <a:srgbClr val="111827"/>
                    </a:solidFill>
                    <a:latin typeface="Arial"/>
                  </a:rPr>
                  <a:t> girls, 'no two boys adjacent' is </a:t>
                </a:r>
                <a:r>
                  <a:rPr lang="en-IN" sz="2400">
                    <a:solidFill>
                      <a:srgbClr val="111827"/>
                    </a:solidFill>
                    <a:latin typeface="Cambria Math" panose="02040503050406030204" pitchFamily="18" charset="0"/>
                  </a:rPr>
                  <a:t>$g!\cdot{}^{g+1}P_b$</a:t>
                </a:r>
                <a:r>
                  <a:rPr sz="2400" b="0">
                    <a:solidFill>
                      <a:srgbClr val="111827"/>
                    </a:solidFill>
                    <a:latin typeface="Arial"/>
                  </a:rPr>
                  <a:t>; 'boys together' is </a:t>
                </a:r>
                <a:r>
                  <a:rPr lang="en-IN" sz="2400">
                    <a:solidFill>
                      <a:srgbClr val="111827"/>
                    </a:solidFill>
                    <a:latin typeface="Cambria Math" panose="02040503050406030204" pitchFamily="18" charset="0"/>
                  </a:rPr>
                  <a:t>$(g+1)!\,b!$</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Pattern-first thinking: number of seatings </a:t>
                </a:r>
                <a:r>
                  <a:rPr lang="en-IN" sz="2400">
                    <a:solidFill>
                      <a:srgbClr val="111827"/>
                    </a:solidFill>
                    <a:latin typeface="Cambria Math" panose="02040503050406030204" pitchFamily="18" charset="0"/>
                  </a:rPr>
                  <a:t>$=(\text{number of good B/G patterns})\times b!\,g!$</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'Either A or B' with disjoint events: add; otherwise subtract the overlap.</a:t>
                </a:r>
                <a:endParaRPr sz="2400">
                  <a:solidFill>
                    <a:srgbClr val="111827"/>
                  </a:solidFill>
                </a:endParaRPr>
              </a:p>
            </p:txBody>
          </p:sp>
        </mc:Fallback>
      </mc:AlternateContent>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37997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𝑝</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𝑝</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𝑝</m:t>
                        </m:r>
                      </m:e>
                      <m:sub>
                        <m:r>
                          <a:rPr lang="en-IN" sz="2400" i="1">
                            <a:solidFill>
                              <a:srgbClr val="111827"/>
                            </a:solidFill>
                            <a:latin typeface="Cambria Math" panose="02040503050406030204" pitchFamily="18" charset="0"/>
                          </a:rPr>
                          <m:t>10</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be the set of first ten prime numbers. Let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oMath>
                </a14:m>
                <a:r>
                  <a:rPr sz="2400" b="0">
                    <a:solidFill>
                      <a:srgbClr val="111827"/>
                    </a:solidFill>
                    <a:latin typeface="Arial"/>
                  </a:rPr>
                  <a:t>, where </a:t>
                </a:r>
                <a14:m>
                  <m:oMath xmlns:m="http://schemas.openxmlformats.org/officeDocument/2006/math">
                    <m:r>
                      <a:rPr lang="en-IN" sz="2400" i="1">
                        <a:solidFill>
                          <a:srgbClr val="111827"/>
                        </a:solidFill>
                        <a:latin typeface="Cambria Math" panose="02040503050406030204" pitchFamily="18" charset="0"/>
                      </a:rPr>
                      <m:t>𝑃</m:t>
                    </m:r>
                  </m:oMath>
                </a14:m>
                <a:r>
                  <a:rPr sz="2400" b="0">
                    <a:solidFill>
                      <a:srgbClr val="111827"/>
                    </a:solidFill>
                    <a:latin typeface="Arial"/>
                  </a:rPr>
                  <a:t> is the set of all possible products of distinct elements of </a:t>
                </a:r>
                <a14:m>
                  <m:oMath xmlns:m="http://schemas.openxmlformats.org/officeDocument/2006/math">
                    <m:r>
                      <a:rPr lang="en-IN" sz="2400" i="1">
                        <a:solidFill>
                          <a:srgbClr val="111827"/>
                        </a:solidFill>
                        <a:latin typeface="Cambria Math" panose="02040503050406030204" pitchFamily="18" charset="0"/>
                      </a:rPr>
                      <m:t>𝑆</m:t>
                    </m:r>
                  </m:oMath>
                </a14:m>
                <a:r>
                  <a:rPr sz="2400" b="0">
                    <a:solidFill>
                      <a:srgbClr val="111827"/>
                    </a:solidFill>
                    <a:latin typeface="Arial"/>
                  </a:rPr>
                  <a:t>. Then the number of all ordered pairs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𝑆</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oMath>
                </a14:m>
                <a:r>
                  <a:rPr sz="2400" b="0">
                    <a:solidFill>
                      <a:srgbClr val="111827"/>
                    </a:solidFill>
                    <a:latin typeface="Arial"/>
                  </a:rPr>
                  <a:t>, such that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divides </a:t>
                </a:r>
                <a14:m>
                  <m:oMath xmlns:m="http://schemas.openxmlformats.org/officeDocument/2006/math">
                    <m:r>
                      <a:rPr lang="en-IN" sz="2400" i="1">
                        <a:solidFill>
                          <a:srgbClr val="111827"/>
                        </a:solidFill>
                        <a:latin typeface="Cambria Math" panose="02040503050406030204" pitchFamily="18" charset="0"/>
                      </a:rPr>
                      <m:t>𝑦</m:t>
                    </m:r>
                  </m:oMath>
                </a14:m>
                <a:r>
                  <a:rPr sz="2400" b="0">
                    <a:solidFill>
                      <a:srgbClr val="111827"/>
                    </a:solidFill>
                    <a:latin typeface="Arial"/>
                  </a:rPr>
                  <a:t>, is ____.</a:t>
                </a:r>
                <a:endParaRPr sz="2400">
                  <a:solidFill>
                    <a:srgbClr val="111827"/>
                  </a:solidFill>
                </a:endParaRPr>
              </a:p>
            </p:txBody>
          </p:sp>
        </mc:Choice>
        <mc:Fallback>
          <p:sp>
            <p:nvSpPr>
              <p:cNvPr id="4" name="Rounded Rectangle 3"/>
              <p:cNvSpPr/>
              <p:nvPr/>
            </p:nvSpPr>
            <p:spPr>
              <a:xfrm>
                <a:off x="731520" y="1280160"/>
                <a:ext cx="10725912" cy="237997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$S=\{p_1,p_2,\dots,p_{10}\}$</a:t>
                </a:r>
                <a:r>
                  <a:rPr sz="2400" b="0">
                    <a:solidFill>
                      <a:srgbClr val="111827"/>
                    </a:solidFill>
                    <a:latin typeface="Arial"/>
                  </a:rPr>
                  <a:t> be the set of first ten prime numbers. Let </a:t>
                </a:r>
                <a:r>
                  <a:rPr lang="en-IN" sz="2400">
                    <a:solidFill>
                      <a:srgbClr val="111827"/>
                    </a:solidFill>
                    <a:latin typeface="Cambria Math" panose="02040503050406030204" pitchFamily="18" charset="0"/>
                  </a:rPr>
                  <a:t>$A=S\cup P$</a:t>
                </a:r>
                <a:r>
                  <a:rPr sz="2400" b="0">
                    <a:solidFill>
                      <a:srgbClr val="111827"/>
                    </a:solidFill>
                    <a:latin typeface="Arial"/>
                  </a:rPr>
                  <a:t>, where </a:t>
                </a:r>
                <a:r>
                  <a:rPr lang="en-IN" sz="2400">
                    <a:solidFill>
                      <a:srgbClr val="111827"/>
                    </a:solidFill>
                    <a:latin typeface="Cambria Math" panose="02040503050406030204" pitchFamily="18" charset="0"/>
                  </a:rPr>
                  <a:t>$P$</a:t>
                </a:r>
                <a:r>
                  <a:rPr sz="2400" b="0">
                    <a:solidFill>
                      <a:srgbClr val="111827"/>
                    </a:solidFill>
                    <a:latin typeface="Arial"/>
                  </a:rPr>
                  <a:t> is the set of all possible products of distinct elements of </a:t>
                </a:r>
                <a:r>
                  <a:rPr lang="en-IN" sz="2400">
                    <a:solidFill>
                      <a:srgbClr val="111827"/>
                    </a:solidFill>
                    <a:latin typeface="Cambria Math" panose="02040503050406030204" pitchFamily="18" charset="0"/>
                  </a:rPr>
                  <a:t>$S$</a:t>
                </a:r>
                <a:r>
                  <a:rPr sz="2400" b="0">
                    <a:solidFill>
                      <a:srgbClr val="111827"/>
                    </a:solidFill>
                    <a:latin typeface="Arial"/>
                  </a:rPr>
                  <a:t>. Then the number of all ordered pairs </a:t>
                </a:r>
                <a:r>
                  <a:rPr lang="en-IN" sz="2400">
                    <a:solidFill>
                      <a:srgbClr val="111827"/>
                    </a:solidFill>
                    <a:latin typeface="Cambria Math" panose="02040503050406030204" pitchFamily="18" charset="0"/>
                  </a:rPr>
                  <a:t>$(x,y)$</a:t>
                </a:r>
                <a:r>
                  <a:rPr sz="2400" b="0">
                    <a:solidFill>
                      <a:srgbClr val="111827"/>
                    </a:solidFill>
                    <a:latin typeface="Arial"/>
                  </a:rPr>
                  <a:t>, </a:t>
                </a:r>
                <a:r>
                  <a:rPr lang="en-IN" sz="2400">
                    <a:solidFill>
                      <a:srgbClr val="111827"/>
                    </a:solidFill>
                    <a:latin typeface="Cambria Math" panose="02040503050406030204" pitchFamily="18" charset="0"/>
                  </a:rPr>
                  <a:t>$x\in S$</a:t>
                </a:r>
                <a:r>
                  <a:rPr sz="2400" b="0">
                    <a:solidFill>
                      <a:srgbClr val="111827"/>
                    </a:solidFill>
                    <a:latin typeface="Arial"/>
                  </a:rPr>
                  <a:t>, </a:t>
                </a:r>
                <a:r>
                  <a:rPr lang="en-IN" sz="2400">
                    <a:solidFill>
                      <a:srgbClr val="111827"/>
                    </a:solidFill>
                    <a:latin typeface="Cambria Math" panose="02040503050406030204" pitchFamily="18" charset="0"/>
                  </a:rPr>
                  <a:t>$y\in A$</a:t>
                </a:r>
                <a:r>
                  <a:rPr sz="2400" b="0">
                    <a:solidFill>
                      <a:srgbClr val="111827"/>
                    </a:solidFill>
                    <a:latin typeface="Arial"/>
                  </a:rPr>
                  <a:t>, such that </a:t>
                </a:r>
                <a:r>
                  <a:rPr lang="en-IN" sz="2400">
                    <a:solidFill>
                      <a:srgbClr val="111827"/>
                    </a:solidFill>
                    <a:latin typeface="Cambria Math" panose="02040503050406030204" pitchFamily="18" charset="0"/>
                  </a:rPr>
                  <a:t>$x$</a:t>
                </a:r>
                <a:r>
                  <a:rPr sz="2400" b="0">
                    <a:solidFill>
                      <a:srgbClr val="111827"/>
                    </a:solidFill>
                    <a:latin typeface="Arial"/>
                  </a:rPr>
                  <a:t> divides </a:t>
                </a:r>
                <a:r>
                  <a:rPr lang="en-IN" sz="2400">
                    <a:solidFill>
                      <a:srgbClr val="111827"/>
                    </a:solidFill>
                    <a:latin typeface="Cambria Math" panose="02040503050406030204" pitchFamily="18" charset="0"/>
                  </a:rPr>
                  <a:t>$y$</a:t>
                </a:r>
                <a:r>
                  <a:rPr sz="2400" b="0">
                    <a:solidFill>
                      <a:srgbClr val="111827"/>
                    </a:solidFill>
                    <a:latin typeface="Arial"/>
                  </a:rPr>
                  <a:t>, is ____.</a:t>
                </a:r>
                <a:endParaRPr sz="2400">
                  <a:solidFill>
                    <a:srgbClr val="111827"/>
                  </a:solidFill>
                </a:endParaRPr>
              </a:p>
            </p:txBody>
          </p:sp>
        </mc:Fallback>
      </mc:AlternateContent>
      <p:sp>
        <p:nvSpPr>
          <p:cNvPr id="5" name="Rectangle 4"/>
          <p:cNvSpPr/>
          <p:nvPr/>
        </p:nvSpPr>
        <p:spPr>
          <a:xfrm>
            <a:off x="731520" y="3888739"/>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Counting subsets and divisibility of products of primes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A product of distinct primes is a subset of </a:t>
                </a:r>
                <a14:m>
                  <m:oMath xmlns:m="http://schemas.openxmlformats.org/officeDocument/2006/math">
                    <m:r>
                      <a:rPr lang="en-IN" sz="2400" i="1">
                        <a:solidFill>
                          <a:srgbClr val="78350F"/>
                        </a:solidFill>
                        <a:latin typeface="Cambria Math" panose="02040503050406030204" pitchFamily="18" charset="0"/>
                      </a:rPr>
                      <m:t>𝑆</m:t>
                    </m:r>
                  </m:oMath>
                </a14:m>
                <a:r>
                  <a:rPr sz="2400" b="0">
                    <a:solidFill>
                      <a:srgbClr val="78350F"/>
                    </a:solidFill>
                    <a:latin typeface="Arial"/>
                  </a:rPr>
                  <a:t>;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𝑦</m:t>
                    </m:r>
                  </m:oMath>
                </a14:m>
                <a:r>
                  <a:rPr sz="2400" b="0">
                    <a:solidFill>
                      <a:srgbClr val="78350F"/>
                    </a:solidFill>
                    <a:latin typeface="Arial"/>
                  </a:rPr>
                  <a:t> exactly when </a:t>
                </a:r>
                <a14:m>
                  <m:oMath xmlns:m="http://schemas.openxmlformats.org/officeDocument/2006/math">
                    <m:r>
                      <a:rPr lang="en-IN" sz="2400" i="1">
                        <a:solidFill>
                          <a:srgbClr val="78350F"/>
                        </a:solidFill>
                        <a:latin typeface="Cambria Math" panose="02040503050406030204" pitchFamily="18" charset="0"/>
                      </a:rPr>
                      <m:t>𝑥</m:t>
                    </m:r>
                  </m:oMath>
                </a14:m>
                <a:r>
                  <a:rPr sz="2400" b="0">
                    <a:solidFill>
                      <a:srgbClr val="78350F"/>
                    </a:solidFill>
                    <a:latin typeface="Arial"/>
                  </a:rPr>
                  <a:t> lies in that subset.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A product of distinct primes is a subset of </a:t>
                </a:r>
                <a:r>
                  <a:rPr lang="en-IN" sz="2400">
                    <a:solidFill>
                      <a:srgbClr val="78350F"/>
                    </a:solidFill>
                    <a:latin typeface="Cambria Math" panose="02040503050406030204" pitchFamily="18" charset="0"/>
                  </a:rPr>
                  <a:t>$S$</a:t>
                </a:r>
                <a:r>
                  <a:rPr sz="2400" b="0">
                    <a:solidFill>
                      <a:srgbClr val="78350F"/>
                    </a:solidFill>
                    <a:latin typeface="Arial"/>
                  </a:rPr>
                  <a:t>; </a:t>
                </a:r>
                <a:r>
                  <a:rPr lang="en-IN" sz="2400">
                    <a:solidFill>
                      <a:srgbClr val="78350F"/>
                    </a:solidFill>
                    <a:latin typeface="Cambria Math" panose="02040503050406030204" pitchFamily="18" charset="0"/>
                  </a:rPr>
                  <a:t>$x\mid y$</a:t>
                </a:r>
                <a:r>
                  <a:rPr sz="2400" b="0">
                    <a:solidFill>
                      <a:srgbClr val="78350F"/>
                    </a:solidFill>
                    <a:latin typeface="Arial"/>
                  </a:rPr>
                  <a:t> exactly when </a:t>
                </a:r>
                <a:r>
                  <a:rPr lang="en-IN" sz="2400">
                    <a:solidFill>
                      <a:srgbClr val="78350F"/>
                    </a:solidFill>
                    <a:latin typeface="Cambria Math" panose="02040503050406030204" pitchFamily="18" charset="0"/>
                  </a:rPr>
                  <a:t>$x$</a:t>
                </a:r>
                <a:r>
                  <a:rPr sz="2400" b="0">
                    <a:solidFill>
                      <a:srgbClr val="78350F"/>
                    </a:solidFill>
                    <a:latin typeface="Arial"/>
                  </a:rPr>
                  <a:t> lies in that subset.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Each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oMath>
                </a14:m>
                <a:r>
                  <a:rPr sz="2400" b="0">
                    <a:solidFill>
                      <a:srgbClr val="111827"/>
                    </a:solidFill>
                    <a:latin typeface="Arial"/>
                  </a:rPr>
                  <a:t> is a product of distinct primes of </a:t>
                </a:r>
                <a14:m>
                  <m:oMath xmlns:m="http://schemas.openxmlformats.org/officeDocument/2006/math">
                    <m:r>
                      <a:rPr lang="en-IN" sz="2400" i="1">
                        <a:solidFill>
                          <a:srgbClr val="111827"/>
                        </a:solidFill>
                        <a:latin typeface="Cambria Math" panose="02040503050406030204" pitchFamily="18" charset="0"/>
                      </a:rPr>
                      <m:t>𝑆</m:t>
                    </m:r>
                  </m:oMath>
                </a14:m>
                <a:r>
                  <a:rPr sz="2400" b="0">
                    <a:solidFill>
                      <a:srgbClr val="111827"/>
                    </a:solidFill>
                    <a:latin typeface="Arial"/>
                  </a:rPr>
                  <a:t>, i.e. it corresponds to a non-empty subset of </a:t>
                </a:r>
                <a14:m>
                  <m:oMath xmlns:m="http://schemas.openxmlformats.org/officeDocument/2006/math">
                    <m:r>
                      <a:rPr lang="en-IN" sz="2400" i="1">
                        <a:solidFill>
                          <a:srgbClr val="111827"/>
                        </a:solidFill>
                        <a:latin typeface="Cambria Math" panose="02040503050406030204" pitchFamily="18" charset="0"/>
                      </a:rPr>
                      <m:t>𝑆</m:t>
                    </m:r>
                  </m:oMath>
                </a14:m>
                <a:r>
                  <a:rPr sz="2400" b="0">
                    <a:solidFill>
                      <a:srgbClr val="111827"/>
                    </a:solidFill>
                    <a:latin typeface="Arial"/>
                  </a:rPr>
                  <a:t> (single primes are the one-element subsets).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Fix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𝑝</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𝑆</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oMath>
                </a14:m>
                <a:r>
                  <a:rPr sz="2400" b="0">
                    <a:solidFill>
                      <a:srgbClr val="111827"/>
                    </a:solidFill>
                    <a:latin typeface="Arial"/>
                  </a:rPr>
                  <a:t> iff </a:t>
                </a:r>
                <a14:m>
                  <m:oMath xmlns:m="http://schemas.openxmlformats.org/officeDocument/2006/math">
                    <m:sSub>
                      <m:e>
                        <m:r>
                          <a:rPr lang="en-IN" sz="2400" i="1">
                            <a:solidFill>
                              <a:srgbClr val="111827"/>
                            </a:solidFill>
                            <a:latin typeface="Cambria Math" panose="02040503050406030204" pitchFamily="18" charset="0"/>
                          </a:rPr>
                          <m:t>𝑝</m:t>
                        </m:r>
                      </m:e>
                      <m:sub>
                        <m:r>
                          <a:rPr lang="en-IN" sz="2400" i="1">
                            <a:solidFill>
                              <a:srgbClr val="111827"/>
                            </a:solidFill>
                            <a:latin typeface="Cambria Math" panose="02040503050406030204" pitchFamily="18" charset="0"/>
                          </a:rPr>
                          <m:t>𝑖</m:t>
                        </m:r>
                      </m:sub>
                    </m:sSub>
                  </m:oMath>
                </a14:m>
                <a:r>
                  <a:rPr sz="2400" b="0">
                    <a:solidFill>
                      <a:srgbClr val="111827"/>
                    </a:solidFill>
                    <a:latin typeface="Arial"/>
                  </a:rPr>
                  <a:t> belongs to the subset of </a:t>
                </a:r>
                <a14:m>
                  <m:oMath xmlns:m="http://schemas.openxmlformats.org/officeDocument/2006/math">
                    <m:r>
                      <a:rPr lang="en-IN" sz="2400" i="1">
                        <a:solidFill>
                          <a:srgbClr val="111827"/>
                        </a:solidFill>
                        <a:latin typeface="Cambria Math" panose="02040503050406030204" pitchFamily="18" charset="0"/>
                      </a:rPr>
                      <m:t>𝑦</m:t>
                    </m:r>
                  </m:oMath>
                </a14:m>
                <a:r>
                  <a:rPr sz="2400" b="0">
                    <a:solidFill>
                      <a:srgbClr val="111827"/>
                    </a:solidFill>
                    <a:latin typeface="Arial"/>
                  </a:rPr>
                  <a:t> (distinct primes, so no other way to divide).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Subsets of </a:t>
                </a:r>
                <a14:m>
                  <m:oMath xmlns:m="http://schemas.openxmlformats.org/officeDocument/2006/math">
                    <m:r>
                      <a:rPr lang="en-IN" sz="2400" i="1">
                        <a:solidFill>
                          <a:srgbClr val="111827"/>
                        </a:solidFill>
                        <a:latin typeface="Cambria Math" panose="02040503050406030204" pitchFamily="18" charset="0"/>
                      </a:rPr>
                      <m:t>𝑆</m:t>
                    </m:r>
                  </m:oMath>
                </a14:m>
                <a:r>
                  <a:rPr sz="2400" b="0">
                    <a:solidFill>
                      <a:srgbClr val="111827"/>
                    </a:solidFill>
                    <a:latin typeface="Arial"/>
                  </a:rPr>
                  <a:t> containing </a:t>
                </a:r>
                <a14:m>
                  <m:oMath xmlns:m="http://schemas.openxmlformats.org/officeDocument/2006/math">
                    <m:sSub>
                      <m:e>
                        <m:r>
                          <a:rPr lang="en-IN" sz="2400" i="1">
                            <a:solidFill>
                              <a:srgbClr val="111827"/>
                            </a:solidFill>
                            <a:latin typeface="Cambria Math" panose="02040503050406030204" pitchFamily="18" charset="0"/>
                          </a:rPr>
                          <m:t>𝑝</m:t>
                        </m:r>
                      </m:e>
                      <m:sub>
                        <m:r>
                          <a:rPr lang="en-IN" sz="2400" i="1">
                            <a:solidFill>
                              <a:srgbClr val="111827"/>
                            </a:solidFill>
                            <a:latin typeface="Cambria Math" panose="02040503050406030204" pitchFamily="18" charset="0"/>
                          </a:rPr>
                          <m:t>𝑖</m:t>
                        </m:r>
                      </m:sub>
                    </m:sSub>
                  </m:oMath>
                </a14:m>
                <a:r>
                  <a:rPr sz="2400" b="0">
                    <a:solidFill>
                      <a:srgbClr val="111827"/>
                    </a:solidFill>
                    <a:latin typeface="Arial"/>
                  </a:rPr>
                  <a:t>: choose any subset of the other </a:t>
                </a:r>
                <a14:m>
                  <m:oMath xmlns:m="http://schemas.openxmlformats.org/officeDocument/2006/math">
                    <m:r>
                      <a:rPr lang="en-IN" sz="2400" i="1">
                        <a:solidFill>
                          <a:srgbClr val="111827"/>
                        </a:solidFill>
                        <a:latin typeface="Cambria Math" panose="02040503050406030204" pitchFamily="18" charset="0"/>
                      </a:rPr>
                      <m:t>9</m:t>
                    </m:r>
                  </m:oMath>
                </a14:m>
                <a:r>
                  <a:rPr sz="2400" b="0">
                    <a:solidFill>
                      <a:srgbClr val="111827"/>
                    </a:solidFill>
                    <a:latin typeface="Arial"/>
                  </a:rPr>
                  <a:t> primes, giving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9</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0</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9</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9</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9</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9</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512</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Each </a:t>
                </a:r>
                <a:r>
                  <a:rPr lang="en-IN" sz="2400">
                    <a:solidFill>
                      <a:srgbClr val="111827"/>
                    </a:solidFill>
                    <a:latin typeface="Cambria Math" panose="02040503050406030204" pitchFamily="18" charset="0"/>
                  </a:rPr>
                  <a:t>$y\in A$</a:t>
                </a:r>
                <a:r>
                  <a:rPr sz="2400" b="0">
                    <a:solidFill>
                      <a:srgbClr val="111827"/>
                    </a:solidFill>
                    <a:latin typeface="Arial"/>
                  </a:rPr>
                  <a:t> is a product of distinct primes of </a:t>
                </a:r>
                <a:r>
                  <a:rPr lang="en-IN" sz="2400">
                    <a:solidFill>
                      <a:srgbClr val="111827"/>
                    </a:solidFill>
                    <a:latin typeface="Cambria Math" panose="02040503050406030204" pitchFamily="18" charset="0"/>
                  </a:rPr>
                  <a:t>$S$</a:t>
                </a:r>
                <a:r>
                  <a:rPr sz="2400" b="0">
                    <a:solidFill>
                      <a:srgbClr val="111827"/>
                    </a:solidFill>
                    <a:latin typeface="Arial"/>
                  </a:rPr>
                  <a:t>, i.e. it corresponds to a non-empty subset of </a:t>
                </a:r>
                <a:r>
                  <a:rPr lang="en-IN" sz="2400">
                    <a:solidFill>
                      <a:srgbClr val="111827"/>
                    </a:solidFill>
                    <a:latin typeface="Cambria Math" panose="02040503050406030204" pitchFamily="18" charset="0"/>
                  </a:rPr>
                  <a:t>$S$</a:t>
                </a:r>
                <a:r>
                  <a:rPr sz="2400" b="0">
                    <a:solidFill>
                      <a:srgbClr val="111827"/>
                    </a:solidFill>
                    <a:latin typeface="Arial"/>
                  </a:rPr>
                  <a:t> (single primes are the one-element subsets).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Fix </a:t>
                </a:r>
                <a:r>
                  <a:rPr lang="en-IN" sz="2400">
                    <a:solidFill>
                      <a:srgbClr val="111827"/>
                    </a:solidFill>
                    <a:latin typeface="Cambria Math" panose="02040503050406030204" pitchFamily="18" charset="0"/>
                  </a:rPr>
                  <a:t>$x=p_i\in S$</a:t>
                </a:r>
                <a:r>
                  <a:rPr sz="2400" b="0">
                    <a:solidFill>
                      <a:srgbClr val="111827"/>
                    </a:solidFill>
                    <a:latin typeface="Arial"/>
                  </a:rPr>
                  <a:t>. Then </a:t>
                </a:r>
                <a:r>
                  <a:rPr lang="en-IN" sz="2400">
                    <a:solidFill>
                      <a:srgbClr val="111827"/>
                    </a:solidFill>
                    <a:latin typeface="Cambria Math" panose="02040503050406030204" pitchFamily="18" charset="0"/>
                  </a:rPr>
                  <a:t>$x\mid y$</a:t>
                </a:r>
                <a:r>
                  <a:rPr sz="2400" b="0">
                    <a:solidFill>
                      <a:srgbClr val="111827"/>
                    </a:solidFill>
                    <a:latin typeface="Arial"/>
                  </a:rPr>
                  <a:t> iff </a:t>
                </a:r>
                <a:r>
                  <a:rPr lang="en-IN" sz="2400">
                    <a:solidFill>
                      <a:srgbClr val="111827"/>
                    </a:solidFill>
                    <a:latin typeface="Cambria Math" panose="02040503050406030204" pitchFamily="18" charset="0"/>
                  </a:rPr>
                  <a:t>$p_i$</a:t>
                </a:r>
                <a:r>
                  <a:rPr sz="2400" b="0">
                    <a:solidFill>
                      <a:srgbClr val="111827"/>
                    </a:solidFill>
                    <a:latin typeface="Arial"/>
                  </a:rPr>
                  <a:t> belongs to the subset of </a:t>
                </a:r>
                <a:r>
                  <a:rPr lang="en-IN" sz="2400">
                    <a:solidFill>
                      <a:srgbClr val="111827"/>
                    </a:solidFill>
                    <a:latin typeface="Cambria Math" panose="02040503050406030204" pitchFamily="18" charset="0"/>
                  </a:rPr>
                  <a:t>$y$</a:t>
                </a:r>
                <a:r>
                  <a:rPr sz="2400" b="0">
                    <a:solidFill>
                      <a:srgbClr val="111827"/>
                    </a:solidFill>
                    <a:latin typeface="Arial"/>
                  </a:rPr>
                  <a:t> (distinct primes, so no other way to divide).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Subsets of </a:t>
                </a:r>
                <a:r>
                  <a:rPr lang="en-IN" sz="2400">
                    <a:solidFill>
                      <a:srgbClr val="111827"/>
                    </a:solidFill>
                    <a:latin typeface="Cambria Math" panose="02040503050406030204" pitchFamily="18" charset="0"/>
                  </a:rPr>
                  <a:t>$S$</a:t>
                </a:r>
                <a:r>
                  <a:rPr sz="2400" b="0">
                    <a:solidFill>
                      <a:srgbClr val="111827"/>
                    </a:solidFill>
                    <a:latin typeface="Arial"/>
                  </a:rPr>
                  <a:t> containing </a:t>
                </a:r>
                <a:r>
                  <a:rPr lang="en-IN" sz="2400">
                    <a:solidFill>
                      <a:srgbClr val="111827"/>
                    </a:solidFill>
                    <a:latin typeface="Cambria Math" panose="02040503050406030204" pitchFamily="18" charset="0"/>
                  </a:rPr>
                  <a:t>$p_i$</a:t>
                </a:r>
                <a:r>
                  <a:rPr sz="2400" b="0">
                    <a:solidFill>
                      <a:srgbClr val="111827"/>
                    </a:solidFill>
                    <a:latin typeface="Arial"/>
                  </a:rPr>
                  <a:t>: choose any subset of the other </a:t>
                </a:r>
                <a:r>
                  <a:rPr lang="en-IN" sz="2400">
                    <a:solidFill>
                      <a:srgbClr val="111827"/>
                    </a:solidFill>
                    <a:latin typeface="Cambria Math" panose="02040503050406030204" pitchFamily="18" charset="0"/>
                  </a:rPr>
                  <a:t>$9$</a:t>
                </a:r>
                <a:r>
                  <a:rPr sz="2400" b="0">
                    <a:solidFill>
                      <a:srgbClr val="111827"/>
                    </a:solidFill>
                    <a:latin typeface="Arial"/>
                  </a:rPr>
                  <a:t> primes, giving </a:t>
                </a:r>
                <a:r>
                  <a:rPr lang="en-IN" sz="2400">
                    <a:solidFill>
                      <a:srgbClr val="111827"/>
                    </a:solidFill>
                    <a:latin typeface="Cambria Math" panose="02040503050406030204" pitchFamily="18" charset="0"/>
                  </a:rPr>
                  <a:t>$^9C_0+{}^9C_1+\dots+{}^9C_9=2^9=512$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This count of </a:t>
                </a:r>
                <a14:m>
                  <m:oMath xmlns:m="http://schemas.openxmlformats.org/officeDocument/2006/math">
                    <m:r>
                      <a:rPr lang="en-IN" sz="2400" i="1">
                        <a:solidFill>
                          <a:srgbClr val="111827"/>
                        </a:solidFill>
                        <a:latin typeface="Cambria Math" panose="02040503050406030204" pitchFamily="18" charset="0"/>
                      </a:rPr>
                      <m:t>512</m:t>
                    </m:r>
                  </m:oMath>
                </a14:m>
                <a:r>
                  <a:rPr sz="2400" b="0">
                    <a:solidFill>
                      <a:srgbClr val="111827"/>
                    </a:solidFill>
                    <a:latin typeface="Arial"/>
                  </a:rPr>
                  <a:t> includes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oMath>
                </a14:m>
                <a:r>
                  <a:rPr sz="2400" b="0">
                    <a:solidFill>
                      <a:srgbClr val="111827"/>
                    </a:solidFill>
                    <a:latin typeface="Arial"/>
                  </a:rPr>
                  <a:t> itself and is the same for each of the </a:t>
                </a:r>
                <a14:m>
                  <m:oMath xmlns:m="http://schemas.openxmlformats.org/officeDocument/2006/math">
                    <m:r>
                      <a:rPr lang="en-IN" sz="2400" i="1">
                        <a:solidFill>
                          <a:srgbClr val="111827"/>
                        </a:solidFill>
                        <a:latin typeface="Cambria Math" panose="02040503050406030204" pitchFamily="18" charset="0"/>
                      </a:rPr>
                      <m:t>10</m:t>
                    </m:r>
                  </m:oMath>
                </a14:m>
                <a:r>
                  <a:rPr sz="2400" b="0">
                    <a:solidFill>
                      <a:srgbClr val="111827"/>
                    </a:solidFill>
                    <a:latin typeface="Arial"/>
                  </a:rPr>
                  <a:t> choices of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 of ordered pairs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9</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5120</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This count of </a:t>
                </a:r>
                <a:r>
                  <a:rPr lang="en-IN" sz="2400">
                    <a:solidFill>
                      <a:srgbClr val="111827"/>
                    </a:solidFill>
                    <a:latin typeface="Cambria Math" panose="02040503050406030204" pitchFamily="18" charset="0"/>
                  </a:rPr>
                  <a:t>$512$</a:t>
                </a:r>
                <a:r>
                  <a:rPr sz="2400" b="0">
                    <a:solidFill>
                      <a:srgbClr val="111827"/>
                    </a:solidFill>
                    <a:latin typeface="Arial"/>
                  </a:rPr>
                  <a:t> includes </a:t>
                </a:r>
                <a:r>
                  <a:rPr lang="en-IN" sz="2400">
                    <a:solidFill>
                      <a:srgbClr val="111827"/>
                    </a:solidFill>
                    <a:latin typeface="Cambria Math" panose="02040503050406030204" pitchFamily="18" charset="0"/>
                  </a:rPr>
                  <a:t>$y=x$</a:t>
                </a:r>
                <a:r>
                  <a:rPr sz="2400" b="0">
                    <a:solidFill>
                      <a:srgbClr val="111827"/>
                    </a:solidFill>
                    <a:latin typeface="Arial"/>
                  </a:rPr>
                  <a:t> itself and is the same for each of the </a:t>
                </a:r>
                <a:r>
                  <a:rPr lang="en-IN" sz="2400">
                    <a:solidFill>
                      <a:srgbClr val="111827"/>
                    </a:solidFill>
                    <a:latin typeface="Cambria Math" panose="02040503050406030204" pitchFamily="18" charset="0"/>
                  </a:rPr>
                  <a:t>$10$</a:t>
                </a:r>
                <a:r>
                  <a:rPr sz="2400" b="0">
                    <a:solidFill>
                      <a:srgbClr val="111827"/>
                    </a:solidFill>
                    <a:latin typeface="Arial"/>
                  </a:rPr>
                  <a:t> choices of </a:t>
                </a:r>
                <a:r>
                  <a:rPr lang="en-IN" sz="2400">
                    <a:solidFill>
                      <a:srgbClr val="111827"/>
                    </a:solidFill>
                    <a:latin typeface="Cambria Math" panose="02040503050406030204" pitchFamily="18" charset="0"/>
                  </a:rPr>
                  <a:t>$x$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 of ordered pairs </a:t>
                </a:r>
                <a:r>
                  <a:rPr lang="en-IN" sz="2400">
                    <a:solidFill>
                      <a:srgbClr val="111827"/>
                    </a:solidFill>
                    <a:latin typeface="Cambria Math" panose="02040503050406030204" pitchFamily="18" charset="0"/>
                  </a:rPr>
                  <a:t>$=10\times2^9=10\times512=5120$</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5120</a:t>
            </a:r>
            <a:endParaRPr sz="2800">
              <a:solidFill>
                <a:srgbClr val="15803D"/>
              </a:solidFill>
            </a:endParaRP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Double counting from the side of </a:t>
                </a:r>
                <a14:m>
                  <m:oMath xmlns:m="http://schemas.openxmlformats.org/officeDocument/2006/math">
                    <m:r>
                      <a:rPr lang="en-IN" sz="2400" i="1">
                        <a:solidFill>
                          <a:srgbClr val="78350F"/>
                        </a:solidFill>
                        <a:latin typeface="Cambria Math" panose="02040503050406030204" pitchFamily="18" charset="0"/>
                      </a:rPr>
                      <m:t>𝑦</m:t>
                    </m:r>
                  </m:oMath>
                </a14:m>
                <a:r>
                  <a:rPr sz="2400" b="0">
                    <a:solidFill>
                      <a:srgbClr val="78350F"/>
                    </a:solidFill>
                    <a:latin typeface="Arial"/>
                  </a:rPr>
                  <a:t>: a subset of size </a:t>
                </a:r>
                <a14:m>
                  <m:oMath xmlns:m="http://schemas.openxmlformats.org/officeDocument/2006/math">
                    <m:r>
                      <a:rPr lang="en-IN" sz="2400" i="1">
                        <a:solidFill>
                          <a:srgbClr val="78350F"/>
                        </a:solidFill>
                        <a:latin typeface="Cambria Math" panose="02040503050406030204" pitchFamily="18" charset="0"/>
                      </a:rPr>
                      <m:t>𝑘</m:t>
                    </m:r>
                  </m:oMath>
                </a14:m>
                <a:r>
                  <a:rPr sz="2400" b="0">
                    <a:solidFill>
                      <a:srgbClr val="78350F"/>
                    </a:solidFill>
                    <a:latin typeface="Arial"/>
                  </a:rPr>
                  <a:t> has exactly </a:t>
                </a:r>
                <a14:m>
                  <m:oMath xmlns:m="http://schemas.openxmlformats.org/officeDocument/2006/math">
                    <m:r>
                      <a:rPr lang="en-IN" sz="2400" i="1">
                        <a:solidFill>
                          <a:srgbClr val="78350F"/>
                        </a:solidFill>
                        <a:latin typeface="Cambria Math" panose="02040503050406030204" pitchFamily="18" charset="0"/>
                      </a:rPr>
                      <m:t>𝑘</m:t>
                    </m:r>
                  </m:oMath>
                </a14:m>
                <a:r>
                  <a:rPr sz="2400" b="0">
                    <a:solidFill>
                      <a:srgbClr val="78350F"/>
                    </a:solidFill>
                    <a:latin typeface="Arial"/>
                  </a:rPr>
                  <a:t> choices of </a:t>
                </a:r>
                <a14:m>
                  <m:oMath xmlns:m="http://schemas.openxmlformats.org/officeDocument/2006/math">
                    <m:r>
                      <a:rPr lang="en-IN" sz="2400" i="1">
                        <a:solidFill>
                          <a:srgbClr val="78350F"/>
                        </a:solidFill>
                        <a:latin typeface="Cambria Math" panose="02040503050406030204" pitchFamily="18" charset="0"/>
                      </a:rPr>
                      <m:t>𝑥</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Double counting from the side of </a:t>
                </a:r>
                <a:r>
                  <a:rPr lang="en-IN" sz="2400">
                    <a:solidFill>
                      <a:srgbClr val="78350F"/>
                    </a:solidFill>
                    <a:latin typeface="Cambria Math" panose="02040503050406030204" pitchFamily="18" charset="0"/>
                  </a:rPr>
                  <a:t>$y$</a:t>
                </a:r>
                <a:r>
                  <a:rPr sz="2400" b="0">
                    <a:solidFill>
                      <a:srgbClr val="78350F"/>
                    </a:solidFill>
                    <a:latin typeface="Arial"/>
                  </a:rPr>
                  <a:t>: a subset of size </a:t>
                </a:r>
                <a:r>
                  <a:rPr lang="en-IN" sz="2400">
                    <a:solidFill>
                      <a:srgbClr val="78350F"/>
                    </a:solidFill>
                    <a:latin typeface="Cambria Math" panose="02040503050406030204" pitchFamily="18" charset="0"/>
                  </a:rPr>
                  <a:t>$k$</a:t>
                </a:r>
                <a:r>
                  <a:rPr sz="2400" b="0">
                    <a:solidFill>
                      <a:srgbClr val="78350F"/>
                    </a:solidFill>
                    <a:latin typeface="Arial"/>
                  </a:rPr>
                  <a:t> has exactly </a:t>
                </a:r>
                <a:r>
                  <a:rPr lang="en-IN" sz="2400">
                    <a:solidFill>
                      <a:srgbClr val="78350F"/>
                    </a:solidFill>
                    <a:latin typeface="Cambria Math" panose="02040503050406030204" pitchFamily="18" charset="0"/>
                  </a:rPr>
                  <a:t>$k$</a:t>
                </a:r>
                <a:r>
                  <a:rPr sz="2400" b="0">
                    <a:solidFill>
                      <a:srgbClr val="78350F"/>
                    </a:solidFill>
                    <a:latin typeface="Arial"/>
                  </a:rPr>
                  <a:t> choices of </a:t>
                </a:r>
                <a:r>
                  <a:rPr lang="en-IN" sz="2400">
                    <a:solidFill>
                      <a:srgbClr val="78350F"/>
                    </a:solidFill>
                    <a:latin typeface="Cambria Math" panose="02040503050406030204" pitchFamily="18" charset="0"/>
                  </a:rPr>
                  <a:t>$x$</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Sum over the size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 of the subset that forms </a:t>
                </a:r>
                <a14:m>
                  <m:oMath xmlns:m="http://schemas.openxmlformats.org/officeDocument/2006/math">
                    <m:r>
                      <a:rPr lang="en-IN" sz="2400" i="1">
                        <a:solidFill>
                          <a:srgbClr val="111827"/>
                        </a:solidFill>
                        <a:latin typeface="Cambria Math" panose="02040503050406030204" pitchFamily="18" charset="0"/>
                      </a:rPr>
                      <m:t>𝑦</m:t>
                    </m:r>
                  </m:oMath>
                </a14:m>
                <a:r>
                  <a:rPr sz="2400" b="0">
                    <a:solidFill>
                      <a:srgbClr val="111827"/>
                    </a:solidFill>
                    <a:latin typeface="Arial"/>
                  </a:rPr>
                  <a:t>: there are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10</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𝑘</m:t>
                        </m:r>
                      </m:sub>
                    </m:sSub>
                  </m:oMath>
                </a14:m>
                <a:r>
                  <a:rPr sz="2400" b="0">
                    <a:solidFill>
                      <a:srgbClr val="111827"/>
                    </a:solidFill>
                    <a:latin typeface="Arial"/>
                  </a:rPr>
                  <a:t> such </a:t>
                </a:r>
                <a14:m>
                  <m:oMath xmlns:m="http://schemas.openxmlformats.org/officeDocument/2006/math">
                    <m:r>
                      <a:rPr lang="en-IN" sz="2400" i="1">
                        <a:solidFill>
                          <a:srgbClr val="111827"/>
                        </a:solidFill>
                        <a:latin typeface="Cambria Math" panose="02040503050406030204" pitchFamily="18" charset="0"/>
                      </a:rPr>
                      <m:t>𝑦</m:t>
                    </m:r>
                  </m:oMath>
                </a14:m>
                <a:r>
                  <a:rPr sz="2400" b="0">
                    <a:solidFill>
                      <a:srgbClr val="111827"/>
                    </a:solidFill>
                    <a:latin typeface="Arial"/>
                  </a:rPr>
                  <a:t>, and for each there are exactly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 primes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dividing it.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 of pairs </a:t>
                </a:r>
                <a14:m>
                  <m:oMath xmlns:m="http://schemas.openxmlformats.org/officeDocument/2006/math">
                    <m:r>
                      <m:rPr>
                        <m:sty m:val="p"/>
                      </m:rPr>
                      <a:rPr lang="en-IN" sz="2400">
                        <a:solidFill>
                          <a:srgbClr val="111827"/>
                        </a:solidFill>
                        <a:latin typeface="Cambria Math" panose="02040503050406030204" pitchFamily="18" charset="0"/>
                      </a:rPr>
                      <m:t>=</m:t>
                    </m:r>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10</m:t>
                        </m:r>
                      </m:sup>
                      <m:e>
                        <m:r>
                          <a:rPr lang="en-IN" sz="2400" i="1">
                            <a:solidFill>
                              <a:srgbClr val="111827"/>
                            </a:solidFill>
                            <a:latin typeface="Cambria Math" panose="02040503050406030204" pitchFamily="18" charset="0"/>
                          </a:rPr>
                          <m:t>𝑘</m:t>
                        </m:r>
                      </m:e>
                    </m:nary>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10</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𝑘</m:t>
                        </m:r>
                      </m:sub>
                    </m:sSub>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Use </a:t>
                </a:r>
                <a14:m>
                  <m:oMath xmlns:m="http://schemas.openxmlformats.org/officeDocument/2006/math">
                    <m:r>
                      <a:rPr lang="en-IN" sz="2400" i="1">
                        <a:solidFill>
                          <a:srgbClr val="111827"/>
                        </a:solidFill>
                        <a:latin typeface="Cambria Math" panose="02040503050406030204" pitchFamily="18" charset="0"/>
                      </a:rPr>
                      <m:t>𝑘</m:t>
                    </m:r>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10</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𝑘</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9</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oMath>
                </a14:m>
                <a:r>
                  <a:rPr sz="2400" b="0">
                    <a:solidFill>
                      <a:srgbClr val="111827"/>
                    </a:solidFill>
                    <a:latin typeface="Arial"/>
                  </a:rPr>
                  <a:t>, so the sum is </a:t>
                </a:r>
                <a14:m>
                  <m:oMath xmlns:m="http://schemas.openxmlformats.org/officeDocument/2006/math">
                    <m:r>
                      <a:rPr lang="en-IN" sz="2400" i="1">
                        <a:solidFill>
                          <a:srgbClr val="111827"/>
                        </a:solidFill>
                        <a:latin typeface="Cambria Math" panose="02040503050406030204" pitchFamily="18" charset="0"/>
                      </a:rPr>
                      <m:t>10</m:t>
                    </m:r>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10</m:t>
                        </m:r>
                      </m:sup>
                      <m:e>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9</m:t>
                            </m:r>
                          </m:sup>
                        </m:sSup>
                      </m:e>
                    </m:nary>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9</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5120</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Sum over the size </a:t>
                </a:r>
                <a:r>
                  <a:rPr lang="en-IN" sz="2400">
                    <a:solidFill>
                      <a:srgbClr val="111827"/>
                    </a:solidFill>
                    <a:latin typeface="Cambria Math" panose="02040503050406030204" pitchFamily="18" charset="0"/>
                  </a:rPr>
                  <a:t>$k$</a:t>
                </a:r>
                <a:r>
                  <a:rPr sz="2400" b="0">
                    <a:solidFill>
                      <a:srgbClr val="111827"/>
                    </a:solidFill>
                    <a:latin typeface="Arial"/>
                  </a:rPr>
                  <a:t> of the subset that forms </a:t>
                </a:r>
                <a:r>
                  <a:rPr lang="en-IN" sz="2400">
                    <a:solidFill>
                      <a:srgbClr val="111827"/>
                    </a:solidFill>
                    <a:latin typeface="Cambria Math" panose="02040503050406030204" pitchFamily="18" charset="0"/>
                  </a:rPr>
                  <a:t>$y$</a:t>
                </a:r>
                <a:r>
                  <a:rPr sz="2400" b="0">
                    <a:solidFill>
                      <a:srgbClr val="111827"/>
                    </a:solidFill>
                    <a:latin typeface="Arial"/>
                  </a:rPr>
                  <a:t>: there are </a:t>
                </a:r>
                <a:r>
                  <a:rPr lang="en-IN" sz="2400">
                    <a:solidFill>
                      <a:srgbClr val="111827"/>
                    </a:solidFill>
                    <a:latin typeface="Cambria Math" panose="02040503050406030204" pitchFamily="18" charset="0"/>
                  </a:rPr>
                  <a:t>$^{10}C_k$</a:t>
                </a:r>
                <a:r>
                  <a:rPr sz="2400" b="0">
                    <a:solidFill>
                      <a:srgbClr val="111827"/>
                    </a:solidFill>
                    <a:latin typeface="Arial"/>
                  </a:rPr>
                  <a:t> such </a:t>
                </a:r>
                <a:r>
                  <a:rPr lang="en-IN" sz="2400">
                    <a:solidFill>
                      <a:srgbClr val="111827"/>
                    </a:solidFill>
                    <a:latin typeface="Cambria Math" panose="02040503050406030204" pitchFamily="18" charset="0"/>
                  </a:rPr>
                  <a:t>$y$</a:t>
                </a:r>
                <a:r>
                  <a:rPr sz="2400" b="0">
                    <a:solidFill>
                      <a:srgbClr val="111827"/>
                    </a:solidFill>
                    <a:latin typeface="Arial"/>
                  </a:rPr>
                  <a:t>, and for each there are exactly </a:t>
                </a:r>
                <a:r>
                  <a:rPr lang="en-IN" sz="2400">
                    <a:solidFill>
                      <a:srgbClr val="111827"/>
                    </a:solidFill>
                    <a:latin typeface="Cambria Math" panose="02040503050406030204" pitchFamily="18" charset="0"/>
                  </a:rPr>
                  <a:t>$k$</a:t>
                </a:r>
                <a:r>
                  <a:rPr sz="2400" b="0">
                    <a:solidFill>
                      <a:srgbClr val="111827"/>
                    </a:solidFill>
                    <a:latin typeface="Arial"/>
                  </a:rPr>
                  <a:t> primes </a:t>
                </a:r>
                <a:r>
                  <a:rPr lang="en-IN" sz="2400">
                    <a:solidFill>
                      <a:srgbClr val="111827"/>
                    </a:solidFill>
                    <a:latin typeface="Cambria Math" panose="02040503050406030204" pitchFamily="18" charset="0"/>
                  </a:rPr>
                  <a:t>$x$</a:t>
                </a:r>
                <a:r>
                  <a:rPr sz="2400" b="0">
                    <a:solidFill>
                      <a:srgbClr val="111827"/>
                    </a:solidFill>
                    <a:latin typeface="Arial"/>
                  </a:rPr>
                  <a:t> dividing it.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 of pairs </a:t>
                </a:r>
                <a:r>
                  <a:rPr lang="en-IN" sz="2400">
                    <a:solidFill>
                      <a:srgbClr val="111827"/>
                    </a:solidFill>
                    <a:latin typeface="Cambria Math" panose="02040503050406030204" pitchFamily="18" charset="0"/>
                  </a:rPr>
                  <a:t>$=\sum_{k=1}^{10}k\,{}^{10}C_k$</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Use </a:t>
                </a:r>
                <a:r>
                  <a:rPr lang="en-IN" sz="2400">
                    <a:solidFill>
                      <a:srgbClr val="111827"/>
                    </a:solidFill>
                    <a:latin typeface="Cambria Math" panose="02040503050406030204" pitchFamily="18" charset="0"/>
                  </a:rPr>
                  <a:t>$k\,{}^{10}C_k=10\,{}^{9}C_{k-1}$</a:t>
                </a:r>
                <a:r>
                  <a:rPr sz="2400" b="0">
                    <a:solidFill>
                      <a:srgbClr val="111827"/>
                    </a:solidFill>
                    <a:latin typeface="Arial"/>
                  </a:rPr>
                  <a:t>, so the sum is </a:t>
                </a:r>
                <a:r>
                  <a:rPr lang="en-IN" sz="2400">
                    <a:solidFill>
                      <a:srgbClr val="111827"/>
                    </a:solidFill>
                    <a:latin typeface="Cambria Math" panose="02040503050406030204" pitchFamily="18" charset="0"/>
                  </a:rPr>
                  <a:t>$10\sum_{k=1}^{10}{}^9C_{k-1}=10\cdot2^9$</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$=5120$</a:t>
                </a:r>
                <a:r>
                  <a:rPr sz="2400" b="0">
                    <a:solidFill>
                      <a:srgbClr val="111827"/>
                    </a:solidFill>
                    <a:latin typeface="Arial"/>
                  </a:rPr>
                  <a:t>.</a:t>
                </a:r>
                <a:endParaRPr sz="2400">
                  <a:solidFill>
                    <a:srgbClr val="111827"/>
                  </a:solidFill>
                </a:endParaRPr>
              </a:p>
            </p:txBody>
          </p:sp>
        </mc:Fallback>
      </mc:AlternateContent>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5120</a:t>
            </a:r>
            <a:endParaRPr sz="2800">
              <a:solidFill>
                <a:srgbClr val="15803D"/>
              </a:solidFill>
            </a:endParaRP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Pairs (element, subset containing it) in an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-set: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oMath>
                </a14:m>
                <a:r>
                  <a:rPr sz="2400" b="0">
                    <a:solidFill>
                      <a:srgbClr val="111827"/>
                    </a:solidFill>
                    <a:latin typeface="Arial"/>
                  </a:rPr>
                  <a:t>; equivalently </a:t>
                </a:r>
                <a14:m>
                  <m:oMath xmlns:m="http://schemas.openxmlformats.org/officeDocument/2006/math">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𝑘</m:t>
                        </m:r>
                      </m:sub>
                      <m:sup>
                        <m:r>
                          <a:rPr lang="en-IN" sz="2400" i="1">
                            <a:solidFill>
                              <a:srgbClr val="111827"/>
                            </a:solidFill>
                            <a:latin typeface="Cambria Math" panose="02040503050406030204" pitchFamily="18" charset="0"/>
                          </a:rPr>
                          <m:t>​</m:t>
                        </m:r>
                      </m:sup>
                      <m:e>
                        <m:r>
                          <a:rPr lang="en-IN" sz="2400" i="1">
                            <a:solidFill>
                              <a:srgbClr val="111827"/>
                            </a:solidFill>
                            <a:latin typeface="Cambria Math" panose="02040503050406030204" pitchFamily="18" charset="0"/>
                          </a:rPr>
                          <m:t>𝑘</m:t>
                        </m:r>
                      </m:e>
                    </m:nary>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𝑘</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product of distinct primes is a subset of the prime set; divisibility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containment.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Divisors of </a:t>
                </a:r>
                <a14:m>
                  <m:oMath xmlns:m="http://schemas.openxmlformats.org/officeDocument/2006/math">
                    <m:sSub>
                      <m:e>
                        <m:r>
                          <a:rPr lang="en-IN" sz="2400" i="1">
                            <a:solidFill>
                              <a:srgbClr val="111827"/>
                            </a:solidFill>
                            <a:latin typeface="Cambria Math" panose="02040503050406030204" pitchFamily="18" charset="0"/>
                          </a:rPr>
                          <m:t>𝑝</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𝑝</m:t>
                        </m:r>
                      </m:e>
                      <m:sub>
                        <m:r>
                          <a:rPr lang="en-IN" sz="2400" i="1">
                            <a:solidFill>
                              <a:srgbClr val="111827"/>
                            </a:solidFill>
                            <a:latin typeface="Cambria Math" panose="02040503050406030204" pitchFamily="18" charset="0"/>
                          </a:rPr>
                          <m:t>𝑛</m:t>
                        </m:r>
                      </m:sub>
                    </m:sSub>
                  </m:oMath>
                </a14:m>
                <a:r>
                  <a:rPr sz="2400" b="0">
                    <a:solidFill>
                      <a:srgbClr val="111827"/>
                    </a:solidFill>
                    <a:latin typeface="Arial"/>
                  </a:rPr>
                  <a:t> number </a:t>
                </a:r>
                <a14:m>
                  <m:oMath xmlns:m="http://schemas.openxmlformats.org/officeDocument/2006/math">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 this bijection solves many 'products of distinct primes' counts.</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Pairs (element, subset containing it) in an </a:t>
                </a:r>
                <a:r>
                  <a:rPr lang="en-IN" sz="2400">
                    <a:solidFill>
                      <a:srgbClr val="111827"/>
                    </a:solidFill>
                    <a:latin typeface="Cambria Math" panose="02040503050406030204" pitchFamily="18" charset="0"/>
                  </a:rPr>
                  <a:t>$n$</a:t>
                </a:r>
                <a:r>
                  <a:rPr sz="2400" b="0">
                    <a:solidFill>
                      <a:srgbClr val="111827"/>
                    </a:solidFill>
                    <a:latin typeface="Arial"/>
                  </a:rPr>
                  <a:t>-set: </a:t>
                </a:r>
                <a:r>
                  <a:rPr lang="en-IN" sz="2400">
                    <a:solidFill>
                      <a:srgbClr val="111827"/>
                    </a:solidFill>
                    <a:latin typeface="Cambria Math" panose="02040503050406030204" pitchFamily="18" charset="0"/>
                  </a:rPr>
                  <a:t>$n\cdot2^{n-1}$</a:t>
                </a:r>
                <a:r>
                  <a:rPr sz="2400" b="0">
                    <a:solidFill>
                      <a:srgbClr val="111827"/>
                    </a:solidFill>
                    <a:latin typeface="Arial"/>
                  </a:rPr>
                  <a:t>; equivalently </a:t>
                </a:r>
                <a:r>
                  <a:rPr lang="en-IN" sz="2400">
                    <a:solidFill>
                      <a:srgbClr val="111827"/>
                    </a:solidFill>
                    <a:latin typeface="Cambria Math" panose="02040503050406030204" pitchFamily="18" charset="0"/>
                  </a:rPr>
                  <a:t>$\sum_k k\binom nk=n2^{n-1}$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product of distinct primes is a subset of the prime set; divisibility </a:t>
                </a:r>
                <a:r>
                  <a:rPr lang="en-IN" sz="2400">
                    <a:solidFill>
                      <a:srgbClr val="111827"/>
                    </a:solidFill>
                    <a:latin typeface="Cambria Math" panose="02040503050406030204" pitchFamily="18" charset="0"/>
                  </a:rPr>
                  <a:t>$\leftrightarrow$</a:t>
                </a:r>
                <a:r>
                  <a:rPr sz="2400" b="0">
                    <a:solidFill>
                      <a:srgbClr val="111827"/>
                    </a:solidFill>
                    <a:latin typeface="Arial"/>
                  </a:rPr>
                  <a:t> containment.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Divisors of </a:t>
                </a:r>
                <a:r>
                  <a:rPr lang="en-IN" sz="2400">
                    <a:solidFill>
                      <a:srgbClr val="111827"/>
                    </a:solidFill>
                    <a:latin typeface="Cambria Math" panose="02040503050406030204" pitchFamily="18" charset="0"/>
                  </a:rPr>
                  <a:t>$p_1\cdots p_n$</a:t>
                </a:r>
                <a:r>
                  <a:rPr sz="2400" b="0">
                    <a:solidFill>
                      <a:srgbClr val="111827"/>
                    </a:solidFill>
                    <a:latin typeface="Arial"/>
                  </a:rPr>
                  <a:t> number </a:t>
                </a:r>
                <a:r>
                  <a:rPr lang="en-IN" sz="2400">
                    <a:solidFill>
                      <a:srgbClr val="111827"/>
                    </a:solidFill>
                    <a:latin typeface="Cambria Math" panose="02040503050406030204" pitchFamily="18" charset="0"/>
                  </a:rPr>
                  <a:t>$2^n$</a:t>
                </a:r>
                <a:r>
                  <a:rPr sz="2400" b="0">
                    <a:solidFill>
                      <a:srgbClr val="111827"/>
                    </a:solidFill>
                    <a:latin typeface="Arial"/>
                  </a:rPr>
                  <a:t>; this bijection solves many 'products of distinct primes' counts.</a:t>
                </a:r>
                <a:endParaRPr sz="2400">
                  <a:solidFill>
                    <a:srgbClr val="111827"/>
                  </a:solidFill>
                </a:endParaRPr>
              </a:p>
            </p:txBody>
          </p:sp>
        </mc:Fallback>
      </mc:AlternateContent>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number of natural numbers, between </a:t>
                </a:r>
                <a14:m>
                  <m:oMath xmlns:m="http://schemas.openxmlformats.org/officeDocument/2006/math">
                    <m:r>
                      <a:rPr lang="en-IN" sz="2400" i="1">
                        <a:solidFill>
                          <a:srgbClr val="111827"/>
                        </a:solidFill>
                        <a:latin typeface="Cambria Math" panose="02040503050406030204" pitchFamily="18" charset="0"/>
                      </a:rPr>
                      <m:t>212</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999</m:t>
                    </m:r>
                  </m:oMath>
                </a14:m>
                <a:r>
                  <a:rPr sz="2400" b="0">
                    <a:solidFill>
                      <a:srgbClr val="111827"/>
                    </a:solidFill>
                    <a:latin typeface="Arial"/>
                  </a:rPr>
                  <a:t>, such that the sum of their digits is </a:t>
                </a:r>
                <a14:m>
                  <m:oMath xmlns:m="http://schemas.openxmlformats.org/officeDocument/2006/math">
                    <m:r>
                      <a:rPr lang="en-IN" sz="2400" i="1">
                        <a:solidFill>
                          <a:srgbClr val="111827"/>
                        </a:solidFill>
                        <a:latin typeface="Cambria Math" panose="02040503050406030204" pitchFamily="18" charset="0"/>
                      </a:rPr>
                      <m:t>15</m:t>
                    </m:r>
                  </m:oMath>
                </a14:m>
                <a:r>
                  <a:rPr sz="2400" b="0">
                    <a:solidFill>
                      <a:srgbClr val="111827"/>
                    </a:solidFill>
                    <a:latin typeface="Arial"/>
                  </a:rPr>
                  <a:t>, is ____.</a:t>
                </a:r>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number of natural numbers, between </a:t>
                </a:r>
                <a:r>
                  <a:rPr lang="en-IN" sz="2400">
                    <a:solidFill>
                      <a:srgbClr val="111827"/>
                    </a:solidFill>
                    <a:latin typeface="Cambria Math" panose="02040503050406030204" pitchFamily="18" charset="0"/>
                  </a:rPr>
                  <a:t>$212$</a:t>
                </a:r>
                <a:r>
                  <a:rPr sz="2400" b="0">
                    <a:solidFill>
                      <a:srgbClr val="111827"/>
                    </a:solidFill>
                    <a:latin typeface="Arial"/>
                  </a:rPr>
                  <a:t> and </a:t>
                </a:r>
                <a:r>
                  <a:rPr lang="en-IN" sz="2400">
                    <a:solidFill>
                      <a:srgbClr val="111827"/>
                    </a:solidFill>
                    <a:latin typeface="Cambria Math" panose="02040503050406030204" pitchFamily="18" charset="0"/>
                  </a:rPr>
                  <a:t>$999$</a:t>
                </a:r>
                <a:r>
                  <a:rPr sz="2400" b="0">
                    <a:solidFill>
                      <a:srgbClr val="111827"/>
                    </a:solidFill>
                    <a:latin typeface="Arial"/>
                  </a:rPr>
                  <a:t>, such that the sum of their digits is </a:t>
                </a:r>
                <a:r>
                  <a:rPr lang="en-IN" sz="2400">
                    <a:solidFill>
                      <a:srgbClr val="111827"/>
                    </a:solidFill>
                    <a:latin typeface="Cambria Math" panose="02040503050406030204" pitchFamily="18" charset="0"/>
                  </a:rPr>
                  <a:t>$15$</a:t>
                </a:r>
                <a:r>
                  <a:rPr sz="2400" b="0">
                    <a:solidFill>
                      <a:srgbClr val="111827"/>
                    </a:solidFill>
                    <a:latin typeface="Arial"/>
                  </a:rPr>
                  <a:t>, is ____.</a:t>
                </a:r>
                <a:endParaRPr sz="2400">
                  <a:solidFill>
                    <a:srgbClr val="111827"/>
                  </a:solidFill>
                </a:endParaRPr>
              </a:p>
            </p:txBody>
          </p:sp>
        </mc:Fallback>
      </mc:AlternateContent>
      <p:sp>
        <p:nvSpPr>
          <p:cNvPr id="5" name="Rectangle 4"/>
          <p:cNvSpPr/>
          <p:nvPr/>
        </p:nvSpPr>
        <p:spPr>
          <a:xfrm>
            <a:off x="731520" y="3246120"/>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Number of integers with a given digit sum (bounded solutions)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Hundreds digit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oMath>
                </a14:m>
                <a:r>
                  <a:rPr sz="2400" b="0">
                    <a:solidFill>
                      <a:srgbClr val="78350F"/>
                    </a:solidFill>
                    <a:latin typeface="Arial"/>
                  </a:rPr>
                  <a:t> handles the lower bound, and a generating function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10</m:t>
                        </m:r>
                      </m:sup>
                    </m:sSup>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2</m:t>
                        </m:r>
                      </m:sup>
                    </m:sSup>
                  </m:oMath>
                </a14:m>
                <a:r>
                  <a:rPr sz="2400" b="0">
                    <a:solidFill>
                      <a:srgbClr val="78350F"/>
                    </a:solidFill>
                    <a:latin typeface="Arial"/>
                  </a:rPr>
                  <a:t> handles the digit cap 9.</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Hundreds digit </a:t>
                </a:r>
                <a:r>
                  <a:rPr lang="en-IN" sz="2400">
                    <a:solidFill>
                      <a:srgbClr val="78350F"/>
                    </a:solidFill>
                    <a:latin typeface="Cambria Math" panose="02040503050406030204" pitchFamily="18" charset="0"/>
                  </a:rPr>
                  <a:t>$\ge2$</a:t>
                </a:r>
                <a:r>
                  <a:rPr sz="2400" b="0">
                    <a:solidFill>
                      <a:srgbClr val="78350F"/>
                    </a:solidFill>
                    <a:latin typeface="Arial"/>
                  </a:rPr>
                  <a:t> handles the lower bound, and a generating function </a:t>
                </a:r>
                <a:r>
                  <a:rPr lang="en-IN" sz="2400">
                    <a:solidFill>
                      <a:srgbClr val="78350F"/>
                    </a:solidFill>
                    <a:latin typeface="Cambria Math" panose="02040503050406030204" pitchFamily="18" charset="0"/>
                  </a:rPr>
                  <a:t>$(1-x^{10})^2/(1-x)^2$</a:t>
                </a:r>
                <a:r>
                  <a:rPr sz="2400" b="0">
                    <a:solidFill>
                      <a:srgbClr val="78350F"/>
                    </a:solidFill>
                    <a:latin typeface="Arial"/>
                  </a:rPr>
                  <a:t> handles the digit cap 9.</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Numbers between </a:t>
                </a:r>
                <a14:m>
                  <m:oMath xmlns:m="http://schemas.openxmlformats.org/officeDocument/2006/math">
                    <m:r>
                      <a:rPr lang="en-IN" sz="2400" i="1">
                        <a:solidFill>
                          <a:srgbClr val="111827"/>
                        </a:solidFill>
                        <a:latin typeface="Cambria Math" panose="02040503050406030204" pitchFamily="18" charset="0"/>
                      </a:rPr>
                      <m:t>212</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999</m:t>
                    </m:r>
                  </m:oMath>
                </a14:m>
                <a:r>
                  <a:rPr sz="2400" b="0">
                    <a:solidFill>
                      <a:srgbClr val="111827"/>
                    </a:solidFill>
                    <a:latin typeface="Arial"/>
                  </a:rPr>
                  <a:t> are three-digit </a:t>
                </a:r>
                <a14:m>
                  <m:oMath xmlns:m="http://schemas.openxmlformats.org/officeDocument/2006/math">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𝑦</m:t>
                    </m:r>
                    <m:r>
                      <a:rPr lang="en-IN" sz="2400" i="1">
                        <a:solidFill>
                          <a:srgbClr val="111827"/>
                        </a:solidFill>
                        <a:latin typeface="Cambria Math" panose="02040503050406030204" pitchFamily="18" charset="0"/>
                      </a:rPr>
                      <m:t>𝑧</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(hundreds digit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with sum 15 already gives numbers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249</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Required count is the coefficient of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15</m:t>
                        </m:r>
                      </m:sup>
                    </m:sSup>
                  </m:oMath>
                </a14:m>
                <a:r>
                  <a:rPr sz="2400" b="0">
                    <a:solidFill>
                      <a:srgbClr val="111827"/>
                    </a:solidFill>
                    <a:latin typeface="Arial"/>
                  </a:rPr>
                  <a:t> in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9</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0</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9</m:t>
                        </m:r>
                      </m:sup>
                    </m:sSup>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This equals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8</m:t>
                            </m:r>
                          </m:sup>
                        </m:sSup>
                        <m:r>
                          <m:rPr>
                            <m:sty m:val="p"/>
                          </m:rPr>
                          <a:rPr lang="en-IN" sz="2400">
                            <a:solidFill>
                              <a:srgbClr val="111827"/>
                            </a:solidFill>
                            <a:latin typeface="Cambria Math" panose="02040503050406030204" pitchFamily="18" charset="0"/>
                          </a:rPr>
                          <m:t>)</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10</m:t>
                            </m:r>
                          </m:sup>
                        </m:sSup>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8</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10</m:t>
                            </m:r>
                          </m:sup>
                        </m:sSup>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m:t>
                            </m:r>
                          </m:sup>
                        </m:sSup>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Numbers between </a:t>
                </a:r>
                <a:r>
                  <a:rPr lang="en-IN" sz="2400">
                    <a:solidFill>
                      <a:srgbClr val="111827"/>
                    </a:solidFill>
                    <a:latin typeface="Cambria Math" panose="02040503050406030204" pitchFamily="18" charset="0"/>
                  </a:rPr>
                  <a:t>$212$</a:t>
                </a:r>
                <a:r>
                  <a:rPr sz="2400" b="0">
                    <a:solidFill>
                      <a:srgbClr val="111827"/>
                    </a:solidFill>
                    <a:latin typeface="Arial"/>
                  </a:rPr>
                  <a:t> and </a:t>
                </a:r>
                <a:r>
                  <a:rPr lang="en-IN" sz="2400">
                    <a:solidFill>
                      <a:srgbClr val="111827"/>
                    </a:solidFill>
                    <a:latin typeface="Cambria Math" panose="02040503050406030204" pitchFamily="18" charset="0"/>
                  </a:rPr>
                  <a:t>$999$</a:t>
                </a:r>
                <a:r>
                  <a:rPr sz="2400" b="0">
                    <a:solidFill>
                      <a:srgbClr val="111827"/>
                    </a:solidFill>
                    <a:latin typeface="Arial"/>
                  </a:rPr>
                  <a:t> are three-digit </a:t>
                </a:r>
                <a:r>
                  <a:rPr lang="en-IN" sz="2400">
                    <a:solidFill>
                      <a:srgbClr val="111827"/>
                    </a:solidFill>
                    <a:latin typeface="Cambria Math" panose="02040503050406030204" pitchFamily="18" charset="0"/>
                  </a:rPr>
                  <a:t>$xyz$</a:t>
                </a:r>
                <a:r>
                  <a:rPr sz="2400" b="0">
                    <a:solidFill>
                      <a:srgbClr val="111827"/>
                    </a:solidFill>
                    <a:latin typeface="Arial"/>
                  </a:rPr>
                  <a:t> with </a:t>
                </a:r>
                <a:r>
                  <a:rPr lang="en-IN" sz="2400">
                    <a:solidFill>
                      <a:srgbClr val="111827"/>
                    </a:solidFill>
                    <a:latin typeface="Cambria Math" panose="02040503050406030204" pitchFamily="18" charset="0"/>
                  </a:rPr>
                  <a:t>$x+y+z=15$</a:t>
                </a:r>
                <a:r>
                  <a:rPr sz="2400" b="0">
                    <a:solidFill>
                      <a:srgbClr val="111827"/>
                    </a:solidFill>
                    <a:latin typeface="Arial"/>
                  </a:rPr>
                  <a:t>, </a:t>
                </a:r>
                <a:r>
                  <a:rPr lang="en-IN" sz="2400">
                    <a:solidFill>
                      <a:srgbClr val="111827"/>
                    </a:solidFill>
                    <a:latin typeface="Cambria Math" panose="02040503050406030204" pitchFamily="18" charset="0"/>
                  </a:rPr>
                  <a:t>$2\le x\le9$</a:t>
                </a:r>
                <a:r>
                  <a:rPr sz="2400" b="0">
                    <a:solidFill>
                      <a:srgbClr val="111827"/>
                    </a:solidFill>
                    <a:latin typeface="Arial"/>
                  </a:rPr>
                  <a:t>, </a:t>
                </a:r>
                <a:r>
                  <a:rPr lang="en-IN" sz="2400">
                    <a:solidFill>
                      <a:srgbClr val="111827"/>
                    </a:solidFill>
                    <a:latin typeface="Cambria Math" panose="02040503050406030204" pitchFamily="18" charset="0"/>
                  </a:rPr>
                  <a:t>$0\le y\le9$</a:t>
                </a:r>
                <a:r>
                  <a:rPr sz="2400" b="0">
                    <a:solidFill>
                      <a:srgbClr val="111827"/>
                    </a:solidFill>
                    <a:latin typeface="Arial"/>
                  </a:rPr>
                  <a:t>, </a:t>
                </a:r>
                <a:r>
                  <a:rPr lang="en-IN" sz="2400">
                    <a:solidFill>
                      <a:srgbClr val="111827"/>
                    </a:solidFill>
                    <a:latin typeface="Cambria Math" panose="02040503050406030204" pitchFamily="18" charset="0"/>
                  </a:rPr>
                  <a:t>$0\le z\le9$</a:t>
                </a:r>
                <a:r>
                  <a:rPr sz="2400" b="0">
                    <a:solidFill>
                      <a:srgbClr val="111827"/>
                    </a:solidFill>
                    <a:latin typeface="Arial"/>
                  </a:rPr>
                  <a:t> (hundreds digit </a:t>
                </a:r>
                <a:r>
                  <a:rPr lang="en-IN" sz="2400">
                    <a:solidFill>
                      <a:srgbClr val="111827"/>
                    </a:solidFill>
                    <a:latin typeface="Cambria Math" panose="02040503050406030204" pitchFamily="18" charset="0"/>
                  </a:rPr>
                  <a:t>$2$</a:t>
                </a:r>
                <a:r>
                  <a:rPr sz="2400" b="0">
                    <a:solidFill>
                      <a:srgbClr val="111827"/>
                    </a:solidFill>
                    <a:latin typeface="Arial"/>
                  </a:rPr>
                  <a:t> with sum 15 already gives numbers </a:t>
                </a:r>
                <a:r>
                  <a:rPr lang="en-IN" sz="2400">
                    <a:solidFill>
                      <a:srgbClr val="111827"/>
                    </a:solidFill>
                    <a:latin typeface="Cambria Math" panose="02040503050406030204" pitchFamily="18" charset="0"/>
                  </a:rPr>
                  <a:t>$\ge249$</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Required count is the coefficient of </a:t>
                </a:r>
                <a:r>
                  <a:rPr lang="en-IN" sz="2400">
                    <a:solidFill>
                      <a:srgbClr val="111827"/>
                    </a:solidFill>
                    <a:latin typeface="Cambria Math" panose="02040503050406030204" pitchFamily="18" charset="0"/>
                  </a:rPr>
                  <a:t>$x^{15}$</a:t>
                </a:r>
                <a:r>
                  <a:rPr sz="2400" b="0">
                    <a:solidFill>
                      <a:srgbClr val="111827"/>
                    </a:solidFill>
                    <a:latin typeface="Arial"/>
                  </a:rPr>
                  <a:t> in </a:t>
                </a:r>
                <a:r>
                  <a:rPr lang="en-IN" sz="2400">
                    <a:solidFill>
                      <a:srgbClr val="111827"/>
                    </a:solidFill>
                    <a:latin typeface="Cambria Math" panose="02040503050406030204" pitchFamily="18" charset="0"/>
                  </a:rPr>
                  <a:t>$(x^2+x^3+\dots+x^9)(x^0+x^1+\dots+x^9)^2$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This equals </a:t>
                </a:r>
                <a:r>
                  <a:rPr lang="en-IN" sz="2400">
                    <a:solidFill>
                      <a:srgbClr val="111827"/>
                    </a:solidFill>
                    <a:latin typeface="Cambria Math" panose="02040503050406030204" pitchFamily="18" charset="0"/>
                  </a:rPr>
                  <a:t>$x^2\dfrac{(1-x^8)}{(1-x)}\cdot\dfrac{(1-x^{10})^2}{(1-x)^2}=\dfrac{x^2(1-x^8)(1-x^{10})^2}{(1-x)^3}$</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Expand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10</m:t>
                        </m:r>
                      </m:sup>
                    </m:sSup>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10</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20</m:t>
                        </m:r>
                      </m:sup>
                    </m:sSup>
                  </m:oMath>
                </a14:m>
                <a:r>
                  <a:rPr sz="2400" b="0">
                    <a:solidFill>
                      <a:srgbClr val="111827"/>
                    </a:solidFill>
                    <a:latin typeface="Arial"/>
                  </a:rPr>
                  <a:t>; only powers up to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13</m:t>
                        </m:r>
                      </m:sup>
                    </m:sSup>
                  </m:oMath>
                </a14:m>
                <a:r>
                  <a:rPr sz="2400" b="0">
                    <a:solidFill>
                      <a:srgbClr val="111827"/>
                    </a:solidFill>
                    <a:latin typeface="Arial"/>
                  </a:rPr>
                  <a:t> of the rest matter, so use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8</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10</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8</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10</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Need the coefficient of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13</m:t>
                        </m:r>
                      </m:sup>
                    </m:sSup>
                  </m:oMath>
                </a14:m>
                <a:r>
                  <a:rPr sz="2400" b="0">
                    <a:solidFill>
                      <a:srgbClr val="111827"/>
                    </a:solidFill>
                    <a:latin typeface="Arial"/>
                  </a:rPr>
                  <a:t> 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8</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10</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up>
                    </m:sSup>
                  </m:oMath>
                </a14:m>
                <a:r>
                  <a:rPr sz="2400" b="0">
                    <a:solidFill>
                      <a:srgbClr val="111827"/>
                    </a:solidFill>
                    <a:latin typeface="Arial"/>
                  </a:rPr>
                  <a:t>, with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2</m:t>
                            </m:r>
                          </m:den>
                        </m:f>
                      </m:e>
                    </m:d>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𝑟</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𝑘</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13</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15</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𝑘</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5</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7</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𝑘</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5</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Coefficient of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15</m:t>
                        </m:r>
                      </m:sup>
                    </m:sSup>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𝑘</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𝑘</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b>
                      <m:e>
                        <m:r>
                          <a:rPr lang="en-IN" sz="2400" i="1">
                            <a:solidFill>
                              <a:srgbClr val="111827"/>
                            </a:solidFill>
                            <a:latin typeface="Cambria Math" panose="02040503050406030204" pitchFamily="18" charset="0"/>
                          </a:rPr>
                          <m:t>𝑘</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64</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Expand </a:t>
                </a:r>
                <a:r>
                  <a:rPr lang="en-IN" sz="2400">
                    <a:solidFill>
                      <a:srgbClr val="111827"/>
                    </a:solidFill>
                    <a:latin typeface="Cambria Math" panose="02040503050406030204" pitchFamily="18" charset="0"/>
                  </a:rPr>
                  <a:t>$(1-x^{10})^2=1-2x^{10}+x^{20}$</a:t>
                </a:r>
                <a:r>
                  <a:rPr sz="2400" b="0">
                    <a:solidFill>
                      <a:srgbClr val="111827"/>
                    </a:solidFill>
                    <a:latin typeface="Arial"/>
                  </a:rPr>
                  <a:t>; only powers up to </a:t>
                </a:r>
                <a:r>
                  <a:rPr lang="en-IN" sz="2400">
                    <a:solidFill>
                      <a:srgbClr val="111827"/>
                    </a:solidFill>
                    <a:latin typeface="Cambria Math" panose="02040503050406030204" pitchFamily="18" charset="0"/>
                  </a:rPr>
                  <a:t>$x^{13}$</a:t>
                </a:r>
                <a:r>
                  <a:rPr sz="2400" b="0">
                    <a:solidFill>
                      <a:srgbClr val="111827"/>
                    </a:solidFill>
                    <a:latin typeface="Arial"/>
                  </a:rPr>
                  <a:t> of the rest matter, so use </a:t>
                </a:r>
                <a:r>
                  <a:rPr lang="en-IN" sz="2400">
                    <a:solidFill>
                      <a:srgbClr val="111827"/>
                    </a:solidFill>
                    <a:latin typeface="Cambria Math" panose="02040503050406030204" pitchFamily="18" charset="0"/>
                  </a:rPr>
                  <a:t>$(1-x^8)(1-2x^{10})\approx1-x^8-2x^{10}$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Need the coefficient of </a:t>
                </a:r>
                <a:r>
                  <a:rPr lang="en-IN" sz="2400">
                    <a:solidFill>
                      <a:srgbClr val="111827"/>
                    </a:solidFill>
                    <a:latin typeface="Cambria Math" panose="02040503050406030204" pitchFamily="18" charset="0"/>
                  </a:rPr>
                  <a:t>$x^{13}$</a:t>
                </a:r>
                <a:r>
                  <a:rPr sz="2400" b="0">
                    <a:solidFill>
                      <a:srgbClr val="111827"/>
                    </a:solidFill>
                    <a:latin typeface="Arial"/>
                  </a:rPr>
                  <a:t> in </a:t>
                </a:r>
                <a:r>
                  <a:rPr lang="en-IN" sz="2400">
                    <a:solidFill>
                      <a:srgbClr val="111827"/>
                    </a:solidFill>
                    <a:latin typeface="Cambria Math" panose="02040503050406030204" pitchFamily="18" charset="0"/>
                  </a:rPr>
                  <a:t>$(1-x^8-2x^{10})(1-x)^{-3}$</a:t>
                </a:r>
                <a:r>
                  <a:rPr sz="2400" b="0">
                    <a:solidFill>
                      <a:srgbClr val="111827"/>
                    </a:solidFill>
                    <a:latin typeface="Arial"/>
                  </a:rPr>
                  <a:t>, with </a:t>
                </a:r>
                <a:r>
                  <a:rPr lang="en-IN" sz="2400">
                    <a:solidFill>
                      <a:srgbClr val="111827"/>
                    </a:solidFill>
                    <a:latin typeface="Cambria Math" panose="02040503050406030204" pitchFamily="18" charset="0"/>
                  </a:rPr>
                  <a:t>$(1-x)^{-3}=\sum\binom{r+2}{2}x^r$</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$k_1=[x^{13}](1-x)^{-3}={}^{15}C_2=\dfrac{15\cdot14}{2}=105$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$k_2=[x^{5}](1-x)^{-3}={}^{7}C_2=\dfrac{7\cdot6}{2}=21$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$k_3=[x^{3}](1-x)^{-3}={}^{5}C_2=\dfrac{5\cdot4}{2}=10$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Coefficient of </a:t>
                </a:r>
                <a:r>
                  <a:rPr lang="en-IN" sz="2400">
                    <a:solidFill>
                      <a:srgbClr val="111827"/>
                    </a:solidFill>
                    <a:latin typeface="Cambria Math" panose="02040503050406030204" pitchFamily="18" charset="0"/>
                  </a:rPr>
                  <a:t>$x^{15}=k_1-k_2-2k_3=105-21-20=64$</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64</a:t>
            </a:r>
            <a:endParaRPr sz="2800">
              <a:solidFill>
                <a:srgbClr val="15803D"/>
              </a:solidFill>
            </a:endParaRP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Fix the hundreds digit and count digit pairs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𝑧</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with a given sum directly.</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Fix the hundreds digit and count digit pairs </a:t>
                </a:r>
                <a:r>
                  <a:rPr lang="en-IN" sz="2400">
                    <a:solidFill>
                      <a:srgbClr val="78350F"/>
                    </a:solidFill>
                    <a:latin typeface="Cambria Math" panose="02040503050406030204" pitchFamily="18" charset="0"/>
                  </a:rPr>
                  <a:t>$(y,z)$</a:t>
                </a:r>
                <a:r>
                  <a:rPr sz="2400" b="0">
                    <a:solidFill>
                      <a:srgbClr val="78350F"/>
                    </a:solidFill>
                    <a:latin typeface="Arial"/>
                  </a:rPr>
                  <a:t> with a given sum directly.</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hundreds digit </a:t>
                </a:r>
                <a14:m>
                  <m:oMath xmlns:m="http://schemas.openxmlformats.org/officeDocument/2006/math">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we need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digits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the number of pairs with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if </a:t>
                </a:r>
                <a14:m>
                  <m:oMath xmlns:m="http://schemas.openxmlformats.org/officeDocument/2006/math">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19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oMath>
                </a14:m>
                <a:r>
                  <a:rPr sz="2400" b="0">
                    <a:solidFill>
                      <a:srgbClr val="111827"/>
                    </a:solidFill>
                    <a:latin typeface="Arial"/>
                  </a:rPr>
                  <a:t> if </a:t>
                </a:r>
                <a14:m>
                  <m:oMath xmlns:m="http://schemas.openxmlformats.org/officeDocument/2006/math">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give </a:t>
                </a:r>
                <a14:m>
                  <m:oMath xmlns:m="http://schemas.openxmlformats.org/officeDocument/2006/math">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give </a:t>
                </a:r>
                <a14:m>
                  <m:oMath xmlns:m="http://schemas.openxmlformats.org/officeDocument/2006/math">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64</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hundreds digit </a:t>
                </a:r>
                <a:r>
                  <a:rPr lang="en-IN" sz="2400">
                    <a:solidFill>
                      <a:srgbClr val="111827"/>
                    </a:solidFill>
                    <a:latin typeface="Cambria Math" panose="02040503050406030204" pitchFamily="18" charset="0"/>
                  </a:rPr>
                  <a:t>$h=2..9$</a:t>
                </a:r>
                <a:r>
                  <a:rPr sz="2400" b="0">
                    <a:solidFill>
                      <a:srgbClr val="111827"/>
                    </a:solidFill>
                    <a:latin typeface="Arial"/>
                  </a:rPr>
                  <a:t> we need </a:t>
                </a:r>
                <a:r>
                  <a:rPr lang="en-IN" sz="2400">
                    <a:solidFill>
                      <a:srgbClr val="111827"/>
                    </a:solidFill>
                    <a:latin typeface="Cambria Math" panose="02040503050406030204" pitchFamily="18" charset="0"/>
                  </a:rPr>
                  <a:t>$y+z=s=15-h$</a:t>
                </a:r>
                <a:r>
                  <a:rPr sz="2400" b="0">
                    <a:solidFill>
                      <a:srgbClr val="111827"/>
                    </a:solidFill>
                    <a:latin typeface="Arial"/>
                  </a:rPr>
                  <a:t>, so </a:t>
                </a:r>
                <a:r>
                  <a:rPr lang="en-IN" sz="2400">
                    <a:solidFill>
                      <a:srgbClr val="111827"/>
                    </a:solidFill>
                    <a:latin typeface="Cambria Math" panose="02040503050406030204" pitchFamily="18" charset="0"/>
                  </a:rPr>
                  <a:t>$s=13,12,\dots,6$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digits </a:t>
                </a:r>
                <a:r>
                  <a:rPr lang="en-IN" sz="2400">
                    <a:solidFill>
                      <a:srgbClr val="111827"/>
                    </a:solidFill>
                    <a:latin typeface="Cambria Math" panose="02040503050406030204" pitchFamily="18" charset="0"/>
                  </a:rPr>
                  <a:t>$0..9$</a:t>
                </a:r>
                <a:r>
                  <a:rPr sz="2400" b="0">
                    <a:solidFill>
                      <a:srgbClr val="111827"/>
                    </a:solidFill>
                    <a:latin typeface="Arial"/>
                  </a:rPr>
                  <a:t> the number of pairs with </a:t>
                </a:r>
                <a:r>
                  <a:rPr lang="en-IN" sz="2400">
                    <a:solidFill>
                      <a:srgbClr val="111827"/>
                    </a:solidFill>
                    <a:latin typeface="Cambria Math" panose="02040503050406030204" pitchFamily="18" charset="0"/>
                  </a:rPr>
                  <a:t>$y+z=s$</a:t>
                </a:r>
                <a:r>
                  <a:rPr sz="2400" b="0">
                    <a:solidFill>
                      <a:srgbClr val="111827"/>
                    </a:solidFill>
                    <a:latin typeface="Arial"/>
                  </a:rPr>
                  <a:t> is </a:t>
                </a:r>
                <a:r>
                  <a:rPr lang="en-IN" sz="2400">
                    <a:solidFill>
                      <a:srgbClr val="111827"/>
                    </a:solidFill>
                    <a:latin typeface="Cambria Math" panose="02040503050406030204" pitchFamily="18" charset="0"/>
                  </a:rPr>
                  <a:t>$s+1$</a:t>
                </a:r>
                <a:r>
                  <a:rPr sz="2400" b="0">
                    <a:solidFill>
                      <a:srgbClr val="111827"/>
                    </a:solidFill>
                    <a:latin typeface="Arial"/>
                  </a:rPr>
                  <a:t> if </a:t>
                </a:r>
                <a:r>
                  <a:rPr lang="en-IN" sz="2400">
                    <a:solidFill>
                      <a:srgbClr val="111827"/>
                    </a:solidFill>
                    <a:latin typeface="Cambria Math" panose="02040503050406030204" pitchFamily="18" charset="0"/>
                  </a:rPr>
                  <a:t>$s\le9$</a:t>
                </a:r>
                <a:r>
                  <a:rPr sz="2400" b="0">
                    <a:solidFill>
                      <a:srgbClr val="111827"/>
                    </a:solidFill>
                    <a:latin typeface="Arial"/>
                  </a:rPr>
                  <a:t> and </a:t>
                </a:r>
                <a:r>
                  <a:rPr lang="en-IN" sz="2400">
                    <a:solidFill>
                      <a:srgbClr val="111827"/>
                    </a:solidFill>
                    <a:latin typeface="Cambria Math" panose="02040503050406030204" pitchFamily="18" charset="0"/>
                  </a:rPr>
                  <a:t>$19-s$</a:t>
                </a:r>
                <a:r>
                  <a:rPr sz="2400" b="0">
                    <a:solidFill>
                      <a:srgbClr val="111827"/>
                    </a:solidFill>
                    <a:latin typeface="Arial"/>
                  </a:rPr>
                  <a:t> if </a:t>
                </a:r>
                <a:r>
                  <a:rPr lang="en-IN" sz="2400">
                    <a:solidFill>
                      <a:srgbClr val="111827"/>
                    </a:solidFill>
                    <a:latin typeface="Cambria Math" panose="02040503050406030204" pitchFamily="18" charset="0"/>
                  </a:rPr>
                  <a:t>$s\ge10$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$s=13,12,11,10$</a:t>
                </a:r>
                <a:r>
                  <a:rPr sz="2400" b="0">
                    <a:solidFill>
                      <a:srgbClr val="111827"/>
                    </a:solidFill>
                    <a:latin typeface="Arial"/>
                  </a:rPr>
                  <a:t> give </a:t>
                </a:r>
                <a:r>
                  <a:rPr lang="en-IN" sz="2400">
                    <a:solidFill>
                      <a:srgbClr val="111827"/>
                    </a:solidFill>
                    <a:latin typeface="Cambria Math" panose="02040503050406030204" pitchFamily="18" charset="0"/>
                  </a:rPr>
                  <a:t>$6,7,8,9$</a:t>
                </a:r>
                <a:r>
                  <a:rPr sz="2400" b="0">
                    <a:solidFill>
                      <a:srgbClr val="111827"/>
                    </a:solidFill>
                    <a:latin typeface="Arial"/>
                  </a:rPr>
                  <a:t>; </a:t>
                </a:r>
                <a:r>
                  <a:rPr lang="en-IN" sz="2400">
                    <a:solidFill>
                      <a:srgbClr val="111827"/>
                    </a:solidFill>
                    <a:latin typeface="Cambria Math" panose="02040503050406030204" pitchFamily="18" charset="0"/>
                  </a:rPr>
                  <a:t>$s=9,8,7,6$</a:t>
                </a:r>
                <a:r>
                  <a:rPr sz="2400" b="0">
                    <a:solidFill>
                      <a:srgbClr val="111827"/>
                    </a:solidFill>
                    <a:latin typeface="Arial"/>
                  </a:rPr>
                  <a:t> give </a:t>
                </a:r>
                <a:r>
                  <a:rPr lang="en-IN" sz="2400">
                    <a:solidFill>
                      <a:srgbClr val="111827"/>
                    </a:solidFill>
                    <a:latin typeface="Cambria Math" panose="02040503050406030204" pitchFamily="18" charset="0"/>
                  </a:rPr>
                  <a:t>$10,9,8,7$</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r>
                  <a:rPr lang="en-IN" sz="2400">
                    <a:solidFill>
                      <a:srgbClr val="111827"/>
                    </a:solidFill>
                    <a:latin typeface="Cambria Math" panose="02040503050406030204" pitchFamily="18" charset="0"/>
                  </a:rPr>
                  <a:t>$=6+7+8+9+10+9+8+7=64$</a:t>
                </a:r>
                <a:r>
                  <a:rPr sz="2400" b="0">
                    <a:solidFill>
                      <a:srgbClr val="111827"/>
                    </a:solidFill>
                    <a:latin typeface="Arial"/>
                  </a:rPr>
                  <a:t>.</a:t>
                </a:r>
                <a:endParaRPr sz="2400">
                  <a:solidFill>
                    <a:srgbClr val="111827"/>
                  </a:solidFill>
                </a:endParaRPr>
              </a:p>
            </p:txBody>
          </p:sp>
        </mc:Fallback>
      </mc:AlternateContent>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64</a:t>
            </a:r>
            <a:endParaRPr sz="2800">
              <a:solidFill>
                <a:srgbClr val="15803D"/>
              </a:solidFill>
            </a:endParaRP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Digit-sum counting with caps: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𝑠</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f>
                      <m:fPr>
                        <m:type m:val="lin"/>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10</m:t>
                            </m:r>
                          </m:sup>
                        </m:sSup>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den>
                    </m:f>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𝑘</m:t>
                        </m:r>
                      </m:sup>
                    </m:sSup>
                  </m:oMath>
                </a14:m>
                <a:r>
                  <a:rPr sz="2400" b="0">
                    <a:solidFill>
                      <a:srgbClr val="111827"/>
                    </a:solidFill>
                    <a:latin typeface="Arial"/>
                  </a:rPr>
                  <a:t>, expanded with inclusion-exclusion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𝑗</m:t>
                        </m:r>
                      </m:sup>
                    </m:sSup>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𝑘</m:t>
                            </m:r>
                          </m:num>
                          <m:den>
                            <m:r>
                              <a:rPr lang="en-IN" sz="2400" i="1">
                                <a:solidFill>
                                  <a:srgbClr val="111827"/>
                                </a:solidFill>
                                <a:latin typeface="Cambria Math" panose="02040503050406030204" pitchFamily="18" charset="0"/>
                              </a:rPr>
                              <m:t>𝑗</m:t>
                            </m:r>
                          </m:den>
                        </m:f>
                      </m:e>
                    </m:d>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a:rPr lang="en-IN" sz="2400" i="1">
                                <a:solidFill>
                                  <a:srgbClr val="111827"/>
                                </a:solidFill>
                                <a:latin typeface="Cambria Math" panose="02040503050406030204" pitchFamily="18" charset="0"/>
                              </a:rPr>
                              <m:t>𝑗</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Pairs of digits with sum </a:t>
                </a:r>
                <a14:m>
                  <m:oMath xmlns:m="http://schemas.openxmlformats.org/officeDocument/2006/math">
                    <m:r>
                      <a:rPr lang="en-IN" sz="2400" i="1">
                        <a:solidFill>
                          <a:srgbClr val="111827"/>
                        </a:solidFill>
                        <a:latin typeface="Cambria Math" panose="02040503050406030204" pitchFamily="18" charset="0"/>
                      </a:rPr>
                      <m:t>𝑠</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Always check whether the boundary values (here </a:t>
                </a:r>
                <a14:m>
                  <m:oMath xmlns:m="http://schemas.openxmlformats.org/officeDocument/2006/math">
                    <m:r>
                      <a:rPr lang="en-IN" sz="2400" i="1">
                        <a:solidFill>
                          <a:srgbClr val="111827"/>
                        </a:solidFill>
                        <a:latin typeface="Cambria Math" panose="02040503050406030204" pitchFamily="18" charset="0"/>
                      </a:rPr>
                      <m:t>212</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999</m:t>
                    </m:r>
                  </m:oMath>
                </a14:m>
                <a:r>
                  <a:rPr sz="2400" b="0">
                    <a:solidFill>
                      <a:srgbClr val="111827"/>
                    </a:solidFill>
                    <a:latin typeface="Arial"/>
                  </a:rPr>
                  <a:t>) can themselves have the required property (they do not: sums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27</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Digit-sum counting with caps: </a:t>
                </a:r>
                <a:r>
                  <a:rPr lang="en-IN" sz="2400">
                    <a:solidFill>
                      <a:srgbClr val="111827"/>
                    </a:solidFill>
                    <a:latin typeface="Cambria Math" panose="02040503050406030204" pitchFamily="18" charset="0"/>
                  </a:rPr>
                  <a:t>$[x^s]\,\big(\tfrac{1-x^{10}}{1-x}\big)^k$</a:t>
                </a:r>
                <a:r>
                  <a:rPr sz="2400" b="0">
                    <a:solidFill>
                      <a:srgbClr val="111827"/>
                    </a:solidFill>
                    <a:latin typeface="Arial"/>
                  </a:rPr>
                  <a:t>, expanded with inclusion-exclusion </a:t>
                </a:r>
                <a:r>
                  <a:rPr lang="en-IN" sz="2400">
                    <a:solidFill>
                      <a:srgbClr val="111827"/>
                    </a:solidFill>
                    <a:latin typeface="Cambria Math" panose="02040503050406030204" pitchFamily="18" charset="0"/>
                  </a:rPr>
                  <a:t>$\sum(-1)^j\binom kj\binom{s-10j+k-1}{k-1}$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Pairs of digits with sum </a:t>
                </a:r>
                <a:r>
                  <a:rPr lang="en-IN" sz="2400">
                    <a:solidFill>
                      <a:srgbClr val="111827"/>
                    </a:solidFill>
                    <a:latin typeface="Cambria Math" panose="02040503050406030204" pitchFamily="18" charset="0"/>
                  </a:rPr>
                  <a:t>$s$</a:t>
                </a:r>
                <a:r>
                  <a:rPr sz="2400" b="0">
                    <a:solidFill>
                      <a:srgbClr val="111827"/>
                    </a:solidFill>
                    <a:latin typeface="Arial"/>
                  </a:rPr>
                  <a:t>: </a:t>
                </a:r>
                <a:r>
                  <a:rPr lang="en-IN" sz="2400">
                    <a:solidFill>
                      <a:srgbClr val="111827"/>
                    </a:solidFill>
                    <a:latin typeface="Cambria Math" panose="02040503050406030204" pitchFamily="18" charset="0"/>
                  </a:rPr>
                  <a:t>$s+1$</a:t>
                </a:r>
                <a:r>
                  <a:rPr sz="2400" b="0">
                    <a:solidFill>
                      <a:srgbClr val="111827"/>
                    </a:solidFill>
                    <a:latin typeface="Arial"/>
                  </a:rPr>
                  <a:t> for </a:t>
                </a:r>
                <a:r>
                  <a:rPr lang="en-IN" sz="2400">
                    <a:solidFill>
                      <a:srgbClr val="111827"/>
                    </a:solidFill>
                    <a:latin typeface="Cambria Math" panose="02040503050406030204" pitchFamily="18" charset="0"/>
                  </a:rPr>
                  <a:t>$s\le9$</a:t>
                </a:r>
                <a:r>
                  <a:rPr sz="2400" b="0">
                    <a:solidFill>
                      <a:srgbClr val="111827"/>
                    </a:solidFill>
                    <a:latin typeface="Arial"/>
                  </a:rPr>
                  <a:t>, </a:t>
                </a:r>
                <a:r>
                  <a:rPr lang="en-IN" sz="2400">
                    <a:solidFill>
                      <a:srgbClr val="111827"/>
                    </a:solidFill>
                    <a:latin typeface="Cambria Math" panose="02040503050406030204" pitchFamily="18" charset="0"/>
                  </a:rPr>
                  <a:t>$19-s$</a:t>
                </a:r>
                <a:r>
                  <a:rPr sz="2400" b="0">
                    <a:solidFill>
                      <a:srgbClr val="111827"/>
                    </a:solidFill>
                    <a:latin typeface="Arial"/>
                  </a:rPr>
                  <a:t> for </a:t>
                </a:r>
                <a:r>
                  <a:rPr lang="en-IN" sz="2400">
                    <a:solidFill>
                      <a:srgbClr val="111827"/>
                    </a:solidFill>
                    <a:latin typeface="Cambria Math" panose="02040503050406030204" pitchFamily="18" charset="0"/>
                  </a:rPr>
                  <a:t>$10\le s\le18$</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Always check whether the boundary values (here </a:t>
                </a:r>
                <a:r>
                  <a:rPr lang="en-IN" sz="2400">
                    <a:solidFill>
                      <a:srgbClr val="111827"/>
                    </a:solidFill>
                    <a:latin typeface="Cambria Math" panose="02040503050406030204" pitchFamily="18" charset="0"/>
                  </a:rPr>
                  <a:t>$212$</a:t>
                </a:r>
                <a:r>
                  <a:rPr sz="2400" b="0">
                    <a:solidFill>
                      <a:srgbClr val="111827"/>
                    </a:solidFill>
                    <a:latin typeface="Arial"/>
                  </a:rPr>
                  <a:t> and </a:t>
                </a:r>
                <a:r>
                  <a:rPr lang="en-IN" sz="2400">
                    <a:solidFill>
                      <a:srgbClr val="111827"/>
                    </a:solidFill>
                    <a:latin typeface="Cambria Math" panose="02040503050406030204" pitchFamily="18" charset="0"/>
                  </a:rPr>
                  <a:t>$999$</a:t>
                </a:r>
                <a:r>
                  <a:rPr sz="2400" b="0">
                    <a:solidFill>
                      <a:srgbClr val="111827"/>
                    </a:solidFill>
                    <a:latin typeface="Arial"/>
                  </a:rPr>
                  <a:t>) can themselves have the required property (they do not: sums </a:t>
                </a:r>
                <a:r>
                  <a:rPr lang="en-IN" sz="2400">
                    <a:solidFill>
                      <a:srgbClr val="111827"/>
                    </a:solidFill>
                    <a:latin typeface="Cambria Math" panose="02040503050406030204" pitchFamily="18" charset="0"/>
                  </a:rPr>
                  <a:t>$5$</a:t>
                </a:r>
                <a:r>
                  <a:rPr sz="2400" b="0">
                    <a:solidFill>
                      <a:srgbClr val="111827"/>
                    </a:solidFill>
                    <a:latin typeface="Arial"/>
                  </a:rPr>
                  <a:t> and </a:t>
                </a:r>
                <a:r>
                  <a:rPr lang="en-IN" sz="2400">
                    <a:solidFill>
                      <a:srgbClr val="111827"/>
                    </a:solidFill>
                    <a:latin typeface="Cambria Math" panose="02040503050406030204" pitchFamily="18" charset="0"/>
                  </a:rPr>
                  <a:t>$27$</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00812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number of </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-letter words, with or without meaning, that can be formed using the letters of the word MATHS such that any letter that appears in the word must appear at least twice, is ____.</a:t>
                </a:r>
                <a:endParaRPr sz="2400">
                  <a:solidFill>
                    <a:srgbClr val="111827"/>
                  </a:solidFill>
                </a:endParaRPr>
              </a:p>
            </p:txBody>
          </p:sp>
        </mc:Choice>
        <mc:Fallback>
          <p:sp>
            <p:nvSpPr>
              <p:cNvPr id="4" name="Rounded Rectangle 3"/>
              <p:cNvSpPr/>
              <p:nvPr/>
            </p:nvSpPr>
            <p:spPr>
              <a:xfrm>
                <a:off x="731520" y="1280160"/>
                <a:ext cx="10725912" cy="200812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number of </a:t>
                </a:r>
                <a:r>
                  <a:rPr lang="en-IN" sz="2400">
                    <a:solidFill>
                      <a:srgbClr val="111827"/>
                    </a:solidFill>
                    <a:latin typeface="Cambria Math" panose="02040503050406030204" pitchFamily="18" charset="0"/>
                  </a:rPr>
                  <a:t>$6$</a:t>
                </a:r>
                <a:r>
                  <a:rPr sz="2400" b="0">
                    <a:solidFill>
                      <a:srgbClr val="111827"/>
                    </a:solidFill>
                    <a:latin typeface="Arial"/>
                  </a:rPr>
                  <a:t>-letter words, with or without meaning, that can be formed using the letters of the word MATHS such that any letter that appears in the word must appear at least twice, is ____.</a:t>
                </a:r>
                <a:endParaRPr sz="2400">
                  <a:solidFill>
                    <a:srgbClr val="111827"/>
                  </a:solidFill>
                </a:endParaRPr>
              </a:p>
            </p:txBody>
          </p:sp>
        </mc:Fallback>
      </mc:AlternateContent>
      <p:sp>
        <p:nvSpPr>
          <p:cNvPr id="5" name="Rectangle 4"/>
          <p:cNvSpPr/>
          <p:nvPr/>
        </p:nvSpPr>
        <p:spPr>
          <a:xfrm>
            <a:off x="731520" y="3516884"/>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Words from the letters of a word with each letter used at least twice</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Six positions with every used letter at least twice means the letter-multiplicity patterns are </a:t>
                </a:r>
                <a14:m>
                  <m:oMath xmlns:m="http://schemas.openxmlformats.org/officeDocument/2006/math">
                    <m:r>
                      <a:rPr lang="en-IN" sz="2400" i="1">
                        <a:solidFill>
                          <a:srgbClr val="78350F"/>
                        </a:solidFill>
                        <a:latin typeface="Cambria Math" panose="02040503050406030204" pitchFamily="18" charset="0"/>
                      </a:rPr>
                      <m:t>6</m:t>
                    </m:r>
                  </m:oMath>
                </a14:m>
                <a:r>
                  <a:rPr sz="2400" b="0">
                    <a:solidFill>
                      <a:srgbClr val="78350F"/>
                    </a:solidFill>
                    <a:latin typeface="Arial"/>
                  </a:rPr>
                  <a:t>, </a:t>
                </a:r>
                <a14:m>
                  <m:oMath xmlns:m="http://schemas.openxmlformats.org/officeDocument/2006/math">
                    <m:r>
                      <a:rPr lang="en-IN" sz="2400" i="1">
                        <a:solidFill>
                          <a:srgbClr val="78350F"/>
                        </a:solidFill>
                        <a:latin typeface="Cambria Math" panose="02040503050406030204" pitchFamily="18" charset="0"/>
                      </a:rPr>
                      <m:t>4</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oMath>
                </a14:m>
                <a:r>
                  <a:rPr sz="2400" b="0">
                    <a:solidFill>
                      <a:srgbClr val="78350F"/>
                    </a:solidFill>
                    <a:latin typeface="Arial"/>
                  </a:rPr>
                  <a:t>, </a:t>
                </a:r>
                <a14:m>
                  <m:oMath xmlns:m="http://schemas.openxmlformats.org/officeDocument/2006/math">
                    <m:r>
                      <a:rPr lang="en-IN" sz="2400" i="1">
                        <a:solidFill>
                          <a:srgbClr val="78350F"/>
                        </a:solidFill>
                        <a:latin typeface="Cambria Math" panose="02040503050406030204" pitchFamily="18" charset="0"/>
                      </a:rPr>
                      <m:t>3</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oMath>
                </a14:m>
                <a:r>
                  <a:rPr sz="2400" b="0">
                    <a:solidFill>
                      <a:srgbClr val="78350F"/>
                    </a:solidFill>
                    <a:latin typeface="Arial"/>
                  </a:rPr>
                  <a:t> or </a:t>
                </a:r>
                <a14:m>
                  <m:oMath xmlns:m="http://schemas.openxmlformats.org/officeDocument/2006/math">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Six positions with every used letter at least twice means the letter-multiplicity patterns are </a:t>
                </a:r>
                <a:r>
                  <a:rPr lang="en-IN" sz="2400">
                    <a:solidFill>
                      <a:srgbClr val="78350F"/>
                    </a:solidFill>
                    <a:latin typeface="Cambria Math" panose="02040503050406030204" pitchFamily="18" charset="0"/>
                  </a:rPr>
                  <a:t>$6$</a:t>
                </a:r>
                <a:r>
                  <a:rPr sz="2400" b="0">
                    <a:solidFill>
                      <a:srgbClr val="78350F"/>
                    </a:solidFill>
                    <a:latin typeface="Arial"/>
                  </a:rPr>
                  <a:t>, </a:t>
                </a:r>
                <a:r>
                  <a:rPr lang="en-IN" sz="2400">
                    <a:solidFill>
                      <a:srgbClr val="78350F"/>
                    </a:solidFill>
                    <a:latin typeface="Cambria Math" panose="02040503050406030204" pitchFamily="18" charset="0"/>
                  </a:rPr>
                  <a:t>$4{+}2$</a:t>
                </a:r>
                <a:r>
                  <a:rPr sz="2400" b="0">
                    <a:solidFill>
                      <a:srgbClr val="78350F"/>
                    </a:solidFill>
                    <a:latin typeface="Arial"/>
                  </a:rPr>
                  <a:t>, </a:t>
                </a:r>
                <a:r>
                  <a:rPr lang="en-IN" sz="2400">
                    <a:solidFill>
                      <a:srgbClr val="78350F"/>
                    </a:solidFill>
                    <a:latin typeface="Cambria Math" panose="02040503050406030204" pitchFamily="18" charset="0"/>
                  </a:rPr>
                  <a:t>$3{+}3$</a:t>
                </a:r>
                <a:r>
                  <a:rPr sz="2400" b="0">
                    <a:solidFill>
                      <a:srgbClr val="78350F"/>
                    </a:solidFill>
                    <a:latin typeface="Arial"/>
                  </a:rPr>
                  <a:t> or </a:t>
                </a:r>
                <a:r>
                  <a:rPr lang="en-IN" sz="2400">
                    <a:solidFill>
                      <a:srgbClr val="78350F"/>
                    </a:solidFill>
                    <a:latin typeface="Cambria Math" panose="02040503050406030204" pitchFamily="18" charset="0"/>
                  </a:rPr>
                  <a:t>$2{+}2{+}2$</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MATHS has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distinct letters; a </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-letter word with each used letter appearing at least twice has pattern </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Case I, one letter six times: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words.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Case II, one letter four times and another twice: choose the two letters in order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5</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arrange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MATHS has </a:t>
                </a:r>
                <a:r>
                  <a:rPr lang="en-IN" sz="2400">
                    <a:solidFill>
                      <a:srgbClr val="111827"/>
                    </a:solidFill>
                    <a:latin typeface="Cambria Math" panose="02040503050406030204" pitchFamily="18" charset="0"/>
                  </a:rPr>
                  <a:t>$5$</a:t>
                </a:r>
                <a:r>
                  <a:rPr sz="2400" b="0">
                    <a:solidFill>
                      <a:srgbClr val="111827"/>
                    </a:solidFill>
                    <a:latin typeface="Arial"/>
                  </a:rPr>
                  <a:t> distinct letters; a </a:t>
                </a:r>
                <a:r>
                  <a:rPr lang="en-IN" sz="2400">
                    <a:solidFill>
                      <a:srgbClr val="111827"/>
                    </a:solidFill>
                    <a:latin typeface="Cambria Math" panose="02040503050406030204" pitchFamily="18" charset="0"/>
                  </a:rPr>
                  <a:t>$6$</a:t>
                </a:r>
                <a:r>
                  <a:rPr sz="2400" b="0">
                    <a:solidFill>
                      <a:srgbClr val="111827"/>
                    </a:solidFill>
                    <a:latin typeface="Arial"/>
                  </a:rPr>
                  <a:t>-letter word with each used letter appearing at least twice has pattern </a:t>
                </a:r>
                <a:r>
                  <a:rPr lang="en-IN" sz="2400">
                    <a:solidFill>
                      <a:srgbClr val="111827"/>
                    </a:solidFill>
                    <a:latin typeface="Cambria Math" panose="02040503050406030204" pitchFamily="18" charset="0"/>
                  </a:rPr>
                  <a:t>$6$</a:t>
                </a:r>
                <a:r>
                  <a:rPr sz="2400" b="0">
                    <a:solidFill>
                      <a:srgbClr val="111827"/>
                    </a:solidFill>
                    <a:latin typeface="Arial"/>
                  </a:rPr>
                  <a:t>, </a:t>
                </a:r>
                <a:r>
                  <a:rPr lang="en-IN" sz="2400">
                    <a:solidFill>
                      <a:srgbClr val="111827"/>
                    </a:solidFill>
                    <a:latin typeface="Cambria Math" panose="02040503050406030204" pitchFamily="18" charset="0"/>
                  </a:rPr>
                  <a:t>$4+2$</a:t>
                </a:r>
                <a:r>
                  <a:rPr sz="2400" b="0">
                    <a:solidFill>
                      <a:srgbClr val="111827"/>
                    </a:solidFill>
                    <a:latin typeface="Arial"/>
                  </a:rPr>
                  <a:t>, </a:t>
                </a:r>
                <a:r>
                  <a:rPr lang="en-IN" sz="2400">
                    <a:solidFill>
                      <a:srgbClr val="111827"/>
                    </a:solidFill>
                    <a:latin typeface="Cambria Math" panose="02040503050406030204" pitchFamily="18" charset="0"/>
                  </a:rPr>
                  <a:t>$3+3$</a:t>
                </a:r>
                <a:r>
                  <a:rPr sz="2400" b="0">
                    <a:solidFill>
                      <a:srgbClr val="111827"/>
                    </a:solidFill>
                    <a:latin typeface="Arial"/>
                  </a:rPr>
                  <a:t> or </a:t>
                </a:r>
                <a:r>
                  <a:rPr lang="en-IN" sz="2400">
                    <a:solidFill>
                      <a:srgbClr val="111827"/>
                    </a:solidFill>
                    <a:latin typeface="Cambria Math" panose="02040503050406030204" pitchFamily="18" charset="0"/>
                  </a:rPr>
                  <a:t>$2+2+2$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Case I, one letter six times: </a:t>
                </a:r>
                <a:r>
                  <a:rPr lang="en-IN" sz="2400">
                    <a:solidFill>
                      <a:srgbClr val="111827"/>
                    </a:solidFill>
                    <a:latin typeface="Cambria Math" panose="02040503050406030204" pitchFamily="18" charset="0"/>
                  </a:rPr>
                  <a:t>$5$</a:t>
                </a:r>
                <a:r>
                  <a:rPr sz="2400" b="0">
                    <a:solidFill>
                      <a:srgbClr val="111827"/>
                    </a:solidFill>
                    <a:latin typeface="Arial"/>
                  </a:rPr>
                  <a:t> words.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Case II, one letter four times and another twice: choose the two letters in order </a:t>
                </a:r>
                <a:r>
                  <a:rPr lang="en-IN" sz="2400">
                    <a:solidFill>
                      <a:srgbClr val="111827"/>
                    </a:solidFill>
                    <a:latin typeface="Cambria Math" panose="02040503050406030204" pitchFamily="18" charset="0"/>
                  </a:rPr>
                  <a:t>$^5C_2\times{}^2C_1$</a:t>
                </a:r>
                <a:r>
                  <a:rPr sz="2400" b="0">
                    <a:solidFill>
                      <a:srgbClr val="111827"/>
                    </a:solidFill>
                    <a:latin typeface="Arial"/>
                  </a:rPr>
                  <a:t>, arrange </a:t>
                </a:r>
                <a:r>
                  <a:rPr lang="en-IN" sz="2400">
                    <a:solidFill>
                      <a:srgbClr val="111827"/>
                    </a:solidFill>
                    <a:latin typeface="Cambria Math" panose="02040503050406030204" pitchFamily="18" charset="0"/>
                  </a:rPr>
                  <a:t>$\dfrac{6!}{4!\,2!}=15$</a:t>
                </a:r>
                <a:r>
                  <a:rPr sz="2400" b="0">
                    <a:solidFill>
                      <a:srgbClr val="111827"/>
                    </a:solidFill>
                    <a:latin typeface="Arial"/>
                  </a:rPr>
                  <a:t>: </a:t>
                </a:r>
                <a:r>
                  <a:rPr lang="en-IN" sz="2400">
                    <a:solidFill>
                      <a:srgbClr val="111827"/>
                    </a:solidFill>
                    <a:latin typeface="Cambria Math" panose="02040503050406030204" pitchFamily="18" charset="0"/>
                  </a:rPr>
                  <a:t>$10\times2\times15=300$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Case III, two letters three times each: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5</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Case IV, three letters twice each: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5</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900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1405</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Case III, two letters three times each: </a:t>
                </a:r>
                <a:r>
                  <a:rPr lang="en-IN" sz="2400">
                    <a:solidFill>
                      <a:srgbClr val="111827"/>
                    </a:solidFill>
                    <a:latin typeface="Cambria Math" panose="02040503050406030204" pitchFamily="18" charset="0"/>
                  </a:rPr>
                  <a:t>$^5C_2\times\dfrac{6!}{3!\,3!}=10\times20=200$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Case IV, three letters twice each: </a:t>
                </a:r>
                <a:r>
                  <a:rPr lang="en-IN" sz="2400">
                    <a:solidFill>
                      <a:srgbClr val="111827"/>
                    </a:solidFill>
                    <a:latin typeface="Cambria Math" panose="02040503050406030204" pitchFamily="18" charset="0"/>
                  </a:rPr>
                  <a:t>$^5C_3\times\dfrac{6!}{2!\,2!\,2!}=10\times90=900$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r>
                  <a:rPr lang="en-IN" sz="2400">
                    <a:solidFill>
                      <a:srgbClr val="111827"/>
                    </a:solidFill>
                    <a:latin typeface="Cambria Math" panose="02040503050406030204" pitchFamily="18" charset="0"/>
                  </a:rPr>
                  <a:t>$=5+300+200+900=1405$</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1405</a:t>
            </a:r>
            <a:endParaRPr sz="2800">
              <a:solidFill>
                <a:srgbClr val="15803D"/>
              </a:solidFill>
            </a:endParaRP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Exponential generating function: each letter contributes </a:t>
                </a:r>
                <a14:m>
                  <m:oMath xmlns:m="http://schemas.openxmlformats.org/officeDocument/2006/math">
                    <m:r>
                      <a:rPr lang="en-IN" sz="2400" i="1">
                        <a:solidFill>
                          <a:srgbClr val="78350F"/>
                        </a:solidFill>
                        <a:latin typeface="Cambria Math" panose="02040503050406030204" pitchFamily="18" charset="0"/>
                      </a:rPr>
                      <m:t>1</m:t>
                    </m:r>
                  </m:oMath>
                </a14:m>
                <a:r>
                  <a:rPr sz="2400" b="0">
                    <a:solidFill>
                      <a:srgbClr val="78350F"/>
                    </a:solidFill>
                    <a:latin typeface="Arial"/>
                  </a:rPr>
                  <a:t> (absent) or </a:t>
                </a:r>
                <a14:m>
                  <m:oMath xmlns:m="http://schemas.openxmlformats.org/officeDocument/2006/math">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𝑒</m:t>
                        </m:r>
                      </m:e>
                      <m:sup>
                        <m:r>
                          <a:rPr lang="en-IN" sz="2400" i="1">
                            <a:solidFill>
                              <a:srgbClr val="78350F"/>
                            </a:solidFill>
                            <a:latin typeface="Cambria Math" panose="02040503050406030204" pitchFamily="18" charset="0"/>
                          </a:rPr>
                          <m:t>𝑥</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(present at least twice).</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Exponential generating function: each letter contributes </a:t>
                </a:r>
                <a:r>
                  <a:rPr lang="en-IN" sz="2400">
                    <a:solidFill>
                      <a:srgbClr val="78350F"/>
                    </a:solidFill>
                    <a:latin typeface="Cambria Math" panose="02040503050406030204" pitchFamily="18" charset="0"/>
                  </a:rPr>
                  <a:t>$1$</a:t>
                </a:r>
                <a:r>
                  <a:rPr sz="2400" b="0">
                    <a:solidFill>
                      <a:srgbClr val="78350F"/>
                    </a:solidFill>
                    <a:latin typeface="Arial"/>
                  </a:rPr>
                  <a:t> (absent) or </a:t>
                </a:r>
                <a:r>
                  <a:rPr lang="en-IN" sz="2400">
                    <a:solidFill>
                      <a:srgbClr val="78350F"/>
                    </a:solidFill>
                    <a:latin typeface="Cambria Math" panose="02040503050406030204" pitchFamily="18" charset="0"/>
                  </a:rPr>
                  <a:t>$(e^x-1-x)$</a:t>
                </a:r>
                <a:r>
                  <a:rPr sz="2400" b="0">
                    <a:solidFill>
                      <a:srgbClr val="78350F"/>
                    </a:solidFill>
                    <a:latin typeface="Arial"/>
                  </a:rPr>
                  <a:t> (present at least twice).</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one letter the EGF is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oMath>
                </a14:m>
                <a:r>
                  <a:rPr sz="2400" b="0">
                    <a:solidFill>
                      <a:srgbClr val="111827"/>
                    </a:solidFill>
                    <a:latin typeface="Arial"/>
                  </a:rPr>
                  <a:t>, so for five letters the EGF is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5</m:t>
                        </m:r>
                      </m:sup>
                    </m:sSup>
                  </m:oMath>
                </a14:m>
                <a:r>
                  <a:rPr sz="2400" b="0">
                    <a:solidFill>
                      <a:srgbClr val="111827"/>
                    </a:solidFill>
                    <a:latin typeface="Arial"/>
                  </a:rPr>
                  <a:t> and the answer is </a:t>
                </a:r>
                <a14:m>
                  <m:oMath xmlns:m="http://schemas.openxmlformats.org/officeDocument/2006/math">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6</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5</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5</m:t>
                        </m:r>
                      </m:sup>
                    </m:sSup>
                    <m:r>
                      <m:rPr>
                        <m:sty m:val="p"/>
                      </m:rPr>
                      <a:rPr lang="en-IN" sz="2400">
                        <a:solidFill>
                          <a:srgbClr val="111827"/>
                        </a:solidFill>
                        <a:latin typeface="Cambria Math" panose="02040503050406030204" pitchFamily="18" charset="0"/>
                      </a:rPr>
                      <m:t>=</m:t>
                    </m:r>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𝑗</m:t>
                        </m:r>
                      </m:sub>
                      <m:sup>
                        <m:r>
                          <a:rPr lang="en-IN" sz="2400" i="1">
                            <a:solidFill>
                              <a:srgbClr val="111827"/>
                            </a:solidFill>
                            <a:latin typeface="Cambria Math" panose="02040503050406030204" pitchFamily="18" charset="0"/>
                          </a:rPr>
                          <m:t>​</m:t>
                        </m:r>
                      </m:sup>
                      <m:e>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𝑗</m:t>
                                </m:r>
                              </m:den>
                            </m:f>
                          </m:e>
                        </m:d>
                      </m:e>
                    </m:nary>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𝑗</m:t>
                        </m:r>
                      </m:sup>
                    </m:sSup>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𝑗</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up>
                    </m:sSup>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6</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𝑗</m:t>
                        </m:r>
                      </m:sub>
                      <m:sup>
                        <m:r>
                          <a:rPr lang="en-IN" sz="2400" i="1">
                            <a:solidFill>
                              <a:srgbClr val="111827"/>
                            </a:solidFill>
                            <a:latin typeface="Cambria Math" panose="02040503050406030204" pitchFamily="18" charset="0"/>
                          </a:rPr>
                          <m:t>​</m:t>
                        </m:r>
                      </m:sup>
                      <m:e>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𝑗</m:t>
                                </m:r>
                              </m:den>
                            </m:f>
                          </m:e>
                        </m:d>
                      </m:e>
                    </m:nary>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𝑗</m:t>
                        </m:r>
                      </m:sup>
                    </m:sSup>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𝑗</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𝑗</m:t>
                            </m:r>
                          </m:sup>
                        </m:sSup>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𝑗</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Multiply by </a:t>
                </a:r>
                <a14:m>
                  <m:oMath xmlns:m="http://schemas.openxmlformats.org/officeDocument/2006/math">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𝑗</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5</m:t>
                        </m:r>
                      </m:e>
                      <m:sup>
                        <m:r>
                          <a:rPr lang="en-IN" sz="2400" i="1">
                            <a:solidFill>
                              <a:srgbClr val="111827"/>
                            </a:solidFill>
                            <a:latin typeface="Cambria Math" panose="02040503050406030204" pitchFamily="18" charset="0"/>
                          </a:rPr>
                          <m:t>6</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15625</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𝑗</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4</m:t>
                        </m:r>
                      </m:e>
                      <m:sup>
                        <m:r>
                          <a:rPr lang="en-IN" sz="2400" i="1">
                            <a:solidFill>
                              <a:srgbClr val="111827"/>
                            </a:solidFill>
                            <a:latin typeface="Cambria Math" panose="02040503050406030204" pitchFamily="18" charset="0"/>
                          </a:rPr>
                          <m:t>5</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30720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𝑗</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24300</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one letter the EGF is </a:t>
                </a:r>
                <a:r>
                  <a:rPr lang="en-IN" sz="2400">
                    <a:solidFill>
                      <a:srgbClr val="111827"/>
                    </a:solidFill>
                    <a:latin typeface="Cambria Math" panose="02040503050406030204" pitchFamily="18" charset="0"/>
                  </a:rPr>
                  <a:t>$1+(e^x-1-x)=e^x-x$</a:t>
                </a:r>
                <a:r>
                  <a:rPr sz="2400" b="0">
                    <a:solidFill>
                      <a:srgbClr val="111827"/>
                    </a:solidFill>
                    <a:latin typeface="Arial"/>
                  </a:rPr>
                  <a:t>, so for five letters the EGF is </a:t>
                </a:r>
                <a:r>
                  <a:rPr lang="en-IN" sz="2400">
                    <a:solidFill>
                      <a:srgbClr val="111827"/>
                    </a:solidFill>
                    <a:latin typeface="Cambria Math" panose="02040503050406030204" pitchFamily="18" charset="0"/>
                  </a:rPr>
                  <a:t>$(e^x-x)^5$</a:t>
                </a:r>
                <a:r>
                  <a:rPr sz="2400" b="0">
                    <a:solidFill>
                      <a:srgbClr val="111827"/>
                    </a:solidFill>
                    <a:latin typeface="Arial"/>
                  </a:rPr>
                  <a:t> and the answer is </a:t>
                </a:r>
                <a:r>
                  <a:rPr lang="en-IN" sz="2400">
                    <a:solidFill>
                      <a:srgbClr val="111827"/>
                    </a:solidFill>
                    <a:latin typeface="Cambria Math" panose="02040503050406030204" pitchFamily="18" charset="0"/>
                  </a:rPr>
                  <a:t>$6!\,[x^6](e^x-x)^5$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$(e^x-x)^5=\sum_{j}\binom5j(-x)^je^{(5-j)x}$</a:t>
                </a:r>
                <a:r>
                  <a:rPr sz="2400" b="0">
                    <a:solidFill>
                      <a:srgbClr val="111827"/>
                    </a:solidFill>
                    <a:latin typeface="Arial"/>
                  </a:rPr>
                  <a:t>, so </a:t>
                </a:r>
                <a:r>
                  <a:rPr lang="en-IN" sz="2400">
                    <a:solidFill>
                      <a:srgbClr val="111827"/>
                    </a:solidFill>
                    <a:latin typeface="Cambria Math" panose="02040503050406030204" pitchFamily="18" charset="0"/>
                  </a:rPr>
                  <a:t>$[x^6]=\sum_j\binom5j(-1)^j\dfrac{(5-j)^{6-j}}{(6-j)!}$</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Multiply by </a:t>
                </a:r>
                <a:r>
                  <a:rPr lang="en-IN" sz="2400">
                    <a:solidFill>
                      <a:srgbClr val="111827"/>
                    </a:solidFill>
                    <a:latin typeface="Cambria Math" panose="02040503050406030204" pitchFamily="18" charset="0"/>
                  </a:rPr>
                  <a:t>$6!$</a:t>
                </a:r>
                <a:r>
                  <a:rPr sz="2400" b="0">
                    <a:solidFill>
                      <a:srgbClr val="111827"/>
                    </a:solidFill>
                    <a:latin typeface="Arial"/>
                  </a:rPr>
                  <a:t>: </a:t>
                </a:r>
                <a:r>
                  <a:rPr lang="en-IN" sz="2400">
                    <a:solidFill>
                      <a:srgbClr val="111827"/>
                    </a:solidFill>
                    <a:latin typeface="Cambria Math" panose="02040503050406030204" pitchFamily="18" charset="0"/>
                  </a:rPr>
                  <a:t>$j=0$</a:t>
                </a:r>
                <a:r>
                  <a:rPr sz="2400" b="0">
                    <a:solidFill>
                      <a:srgbClr val="111827"/>
                    </a:solidFill>
                    <a:latin typeface="Arial"/>
                  </a:rPr>
                  <a:t>: </a:t>
                </a:r>
                <a:r>
                  <a:rPr lang="en-IN" sz="2400">
                    <a:solidFill>
                      <a:srgbClr val="111827"/>
                    </a:solidFill>
                    <a:latin typeface="Cambria Math" panose="02040503050406030204" pitchFamily="18" charset="0"/>
                  </a:rPr>
                  <a:t>$5^6=15625$</a:t>
                </a:r>
                <a:r>
                  <a:rPr sz="2400" b="0">
                    <a:solidFill>
                      <a:srgbClr val="111827"/>
                    </a:solidFill>
                    <a:latin typeface="Arial"/>
                  </a:rPr>
                  <a:t>; </a:t>
                </a:r>
                <a:r>
                  <a:rPr lang="en-IN" sz="2400">
                    <a:solidFill>
                      <a:srgbClr val="111827"/>
                    </a:solidFill>
                    <a:latin typeface="Cambria Math" panose="02040503050406030204" pitchFamily="18" charset="0"/>
                  </a:rPr>
                  <a:t>$j=1$</a:t>
                </a:r>
                <a:r>
                  <a:rPr sz="2400" b="0">
                    <a:solidFill>
                      <a:srgbClr val="111827"/>
                    </a:solidFill>
                    <a:latin typeface="Arial"/>
                  </a:rPr>
                  <a:t>: </a:t>
                </a:r>
                <a:r>
                  <a:rPr lang="en-IN" sz="2400">
                    <a:solidFill>
                      <a:srgbClr val="111827"/>
                    </a:solidFill>
                    <a:latin typeface="Cambria Math" panose="02040503050406030204" pitchFamily="18" charset="0"/>
                  </a:rPr>
                  <a:t>$-5\cdot4^5\cdot6=-30720$</a:t>
                </a:r>
                <a:r>
                  <a:rPr sz="2400" b="0">
                    <a:solidFill>
                      <a:srgbClr val="111827"/>
                    </a:solidFill>
                    <a:latin typeface="Arial"/>
                  </a:rPr>
                  <a:t>; </a:t>
                </a:r>
                <a:r>
                  <a:rPr lang="en-IN" sz="2400">
                    <a:solidFill>
                      <a:srgbClr val="111827"/>
                    </a:solidFill>
                    <a:latin typeface="Cambria Math" panose="02040503050406030204" pitchFamily="18" charset="0"/>
                  </a:rPr>
                  <a:t>$j=2$</a:t>
                </a:r>
                <a:r>
                  <a:rPr sz="2400" b="0">
                    <a:solidFill>
                      <a:srgbClr val="111827"/>
                    </a:solidFill>
                    <a:latin typeface="Arial"/>
                  </a:rPr>
                  <a:t>: </a:t>
                </a:r>
                <a:r>
                  <a:rPr lang="en-IN" sz="2400">
                    <a:solidFill>
                      <a:srgbClr val="111827"/>
                    </a:solidFill>
                    <a:latin typeface="Cambria Math" panose="02040503050406030204" pitchFamily="18" charset="0"/>
                  </a:rPr>
                  <a:t>$10\cdot3^4\cdot30=24300$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𝑗</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9600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𝑗</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1800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𝑗</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15625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30720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24300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9600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1405</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$j=3$</a:t>
                </a:r>
                <a:r>
                  <a:rPr sz="2400" b="0">
                    <a:solidFill>
                      <a:srgbClr val="111827"/>
                    </a:solidFill>
                    <a:latin typeface="Arial"/>
                  </a:rPr>
                  <a:t>: </a:t>
                </a:r>
                <a:r>
                  <a:rPr lang="en-IN" sz="2400">
                    <a:solidFill>
                      <a:srgbClr val="111827"/>
                    </a:solidFill>
                    <a:latin typeface="Cambria Math" panose="02040503050406030204" pitchFamily="18" charset="0"/>
                  </a:rPr>
                  <a:t>$-10\cdot2^3\cdot120=-9600$</a:t>
                </a:r>
                <a:r>
                  <a:rPr sz="2400" b="0">
                    <a:solidFill>
                      <a:srgbClr val="111827"/>
                    </a:solidFill>
                    <a:latin typeface="Arial"/>
                  </a:rPr>
                  <a:t>; </a:t>
                </a:r>
                <a:r>
                  <a:rPr lang="en-IN" sz="2400">
                    <a:solidFill>
                      <a:srgbClr val="111827"/>
                    </a:solidFill>
                    <a:latin typeface="Cambria Math" panose="02040503050406030204" pitchFamily="18" charset="0"/>
                  </a:rPr>
                  <a:t>$j=4$</a:t>
                </a:r>
                <a:r>
                  <a:rPr sz="2400" b="0">
                    <a:solidFill>
                      <a:srgbClr val="111827"/>
                    </a:solidFill>
                    <a:latin typeface="Arial"/>
                  </a:rPr>
                  <a:t>: </a:t>
                </a:r>
                <a:r>
                  <a:rPr lang="en-IN" sz="2400">
                    <a:solidFill>
                      <a:srgbClr val="111827"/>
                    </a:solidFill>
                    <a:latin typeface="Cambria Math" panose="02040503050406030204" pitchFamily="18" charset="0"/>
                  </a:rPr>
                  <a:t>$5\cdot1\cdot360=1800$</a:t>
                </a:r>
                <a:r>
                  <a:rPr sz="2400" b="0">
                    <a:solidFill>
                      <a:srgbClr val="111827"/>
                    </a:solidFill>
                    <a:latin typeface="Arial"/>
                  </a:rPr>
                  <a:t>; </a:t>
                </a:r>
                <a:r>
                  <a:rPr lang="en-IN" sz="2400">
                    <a:solidFill>
                      <a:srgbClr val="111827"/>
                    </a:solidFill>
                    <a:latin typeface="Cambria Math" panose="02040503050406030204" pitchFamily="18" charset="0"/>
                  </a:rPr>
                  <a:t>$j=5$</a:t>
                </a:r>
                <a:r>
                  <a:rPr sz="2400" b="0">
                    <a:solidFill>
                      <a:srgbClr val="111827"/>
                    </a:solidFill>
                    <a:latin typeface="Arial"/>
                  </a:rPr>
                  <a:t>: </a:t>
                </a:r>
                <a:r>
                  <a:rPr lang="en-IN" sz="2400">
                    <a:solidFill>
                      <a:srgbClr val="111827"/>
                    </a:solidFill>
                    <a:latin typeface="Cambria Math" panose="02040503050406030204" pitchFamily="18" charset="0"/>
                  </a:rPr>
                  <a:t>$0$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a:t>
                </a:r>
                <a:r>
                  <a:rPr lang="en-IN" sz="2400">
                    <a:solidFill>
                      <a:srgbClr val="111827"/>
                    </a:solidFill>
                    <a:latin typeface="Cambria Math" panose="02040503050406030204" pitchFamily="18" charset="0"/>
                  </a:rPr>
                  <a:t>$=15625-30720+24300-9600+1800=1405$</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1405</a:t>
            </a:r>
            <a:endParaRPr sz="2800">
              <a:solidFill>
                <a:srgbClr val="15803D"/>
              </a:solidFill>
            </a:endParaRP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'Each letter at least </a:t>
                </a:r>
                <a14:m>
                  <m:oMath xmlns:m="http://schemas.openxmlformats.org/officeDocument/2006/math">
                    <m:r>
                      <a:rPr lang="en-IN" sz="2400" i="1">
                        <a:solidFill>
                          <a:srgbClr val="111827"/>
                        </a:solidFill>
                        <a:latin typeface="Cambria Math" panose="02040503050406030204" pitchFamily="18" charset="0"/>
                      </a:rPr>
                      <m:t>𝑟</m:t>
                    </m:r>
                  </m:oMath>
                </a14:m>
                <a:r>
                  <a:rPr sz="2400" b="0">
                    <a:solidFill>
                      <a:srgbClr val="111827"/>
                    </a:solidFill>
                    <a:latin typeface="Arial"/>
                  </a:rPr>
                  <a:t> times'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EGF per letter </a:t>
                </a:r>
                <a14:m>
                  <m:oMath xmlns:m="http://schemas.openxmlformats.org/officeDocument/2006/math">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m:t>
                    </m:r>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𝑟</m:t>
                        </m:r>
                      </m:sub>
                      <m:sup>
                        <m:r>
                          <a:rPr lang="en-IN" sz="2400" i="1">
                            <a:solidFill>
                              <a:srgbClr val="111827"/>
                            </a:solidFill>
                            <a:latin typeface="Cambria Math" panose="02040503050406030204" pitchFamily="18" charset="0"/>
                          </a:rPr>
                          <m:t>​</m:t>
                        </m:r>
                      </m:sup>
                      <m:e>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𝑖</m:t>
                            </m:r>
                          </m:sup>
                        </m:sSup>
                      </m:e>
                    </m:nary>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that, if the letter may be absent); answer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Words with a multiset of multiplicities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𝑘</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number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num>
                      <m:den>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𝑘</m:t>
                            </m:r>
                          </m:sub>
                        </m:sSub>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 first choose which letters carry which multiplicity.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small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listing the multiplicity patterns is quickest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only </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occur); the EGF is the systematic tool for larger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'Each letter at least </a:t>
                </a:r>
                <a:r>
                  <a:rPr lang="en-IN" sz="2400">
                    <a:solidFill>
                      <a:srgbClr val="111827"/>
                    </a:solidFill>
                    <a:latin typeface="Cambria Math" panose="02040503050406030204" pitchFamily="18" charset="0"/>
                  </a:rPr>
                  <a:t>$r$</a:t>
                </a:r>
                <a:r>
                  <a:rPr sz="2400" b="0">
                    <a:solidFill>
                      <a:srgbClr val="111827"/>
                    </a:solidFill>
                    <a:latin typeface="Arial"/>
                  </a:rPr>
                  <a:t> times' </a:t>
                </a:r>
                <a:r>
                  <a:rPr lang="en-IN" sz="2400">
                    <a:solidFill>
                      <a:srgbClr val="111827"/>
                    </a:solidFill>
                    <a:latin typeface="Cambria Math" panose="02040503050406030204" pitchFamily="18" charset="0"/>
                  </a:rPr>
                  <a:t>$\Rightarrow$</a:t>
                </a:r>
                <a:r>
                  <a:rPr sz="2400" b="0">
                    <a:solidFill>
                      <a:srgbClr val="111827"/>
                    </a:solidFill>
                    <a:latin typeface="Arial"/>
                  </a:rPr>
                  <a:t> EGF per letter </a:t>
                </a:r>
                <a:r>
                  <a:rPr lang="en-IN" sz="2400">
                    <a:solidFill>
                      <a:srgbClr val="111827"/>
                    </a:solidFill>
                    <a:latin typeface="Cambria Math" panose="02040503050406030204" pitchFamily="18" charset="0"/>
                  </a:rPr>
                  <a:t>$e^x-\sum_{i&lt;r}x^i/i!$</a:t>
                </a:r>
                <a:r>
                  <a:rPr sz="2400" b="0">
                    <a:solidFill>
                      <a:srgbClr val="111827"/>
                    </a:solidFill>
                    <a:latin typeface="Arial"/>
                  </a:rPr>
                  <a:t> (or </a:t>
                </a:r>
                <a:r>
                  <a:rPr lang="en-IN" sz="2400">
                    <a:solidFill>
                      <a:srgbClr val="111827"/>
                    </a:solidFill>
                    <a:latin typeface="Cambria Math" panose="02040503050406030204" pitchFamily="18" charset="0"/>
                  </a:rPr>
                  <a:t>$1+$</a:t>
                </a:r>
                <a:r>
                  <a:rPr sz="2400" b="0">
                    <a:solidFill>
                      <a:srgbClr val="111827"/>
                    </a:solidFill>
                    <a:latin typeface="Arial"/>
                  </a:rPr>
                  <a:t> that, if the letter may be absent); answer </a:t>
                </a:r>
                <a:r>
                  <a:rPr lang="en-IN" sz="2400">
                    <a:solidFill>
                      <a:srgbClr val="111827"/>
                    </a:solidFill>
                    <a:latin typeface="Cambria Math" panose="02040503050406030204" pitchFamily="18" charset="0"/>
                  </a:rPr>
                  <a:t>$=n![x^n]$</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Words with a multiset of multiplicities </a:t>
                </a:r>
                <a:r>
                  <a:rPr lang="en-IN" sz="2400">
                    <a:solidFill>
                      <a:srgbClr val="111827"/>
                    </a:solidFill>
                    <a:latin typeface="Cambria Math" panose="02040503050406030204" pitchFamily="18" charset="0"/>
                  </a:rPr>
                  <a:t>$(a_1,\dots,a_k)$</a:t>
                </a:r>
                <a:r>
                  <a:rPr sz="2400" b="0">
                    <a:solidFill>
                      <a:srgbClr val="111827"/>
                    </a:solidFill>
                    <a:latin typeface="Arial"/>
                  </a:rPr>
                  <a:t> number </a:t>
                </a:r>
                <a:r>
                  <a:rPr lang="en-IN" sz="2400">
                    <a:solidFill>
                      <a:srgbClr val="111827"/>
                    </a:solidFill>
                    <a:latin typeface="Cambria Math" panose="02040503050406030204" pitchFamily="18" charset="0"/>
                  </a:rPr>
                  <a:t>$\dfrac{n!}{a_1!\cdots a_k!}$</a:t>
                </a:r>
                <a:r>
                  <a:rPr sz="2400" b="0">
                    <a:solidFill>
                      <a:srgbClr val="111827"/>
                    </a:solidFill>
                    <a:latin typeface="Arial"/>
                  </a:rPr>
                  <a:t>; first choose which letters carry which multiplicity.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small </a:t>
                </a:r>
                <a:r>
                  <a:rPr lang="en-IN" sz="2400">
                    <a:solidFill>
                      <a:srgbClr val="111827"/>
                    </a:solidFill>
                    <a:latin typeface="Cambria Math" panose="02040503050406030204" pitchFamily="18" charset="0"/>
                  </a:rPr>
                  <a:t>$n$</a:t>
                </a:r>
                <a:r>
                  <a:rPr sz="2400" b="0">
                    <a:solidFill>
                      <a:srgbClr val="111827"/>
                    </a:solidFill>
                    <a:latin typeface="Arial"/>
                  </a:rPr>
                  <a:t> listing the multiplicity patterns is quickest (</a:t>
                </a:r>
                <a:r>
                  <a:rPr lang="en-IN" sz="2400">
                    <a:solidFill>
                      <a:srgbClr val="111827"/>
                    </a:solidFill>
                    <a:latin typeface="Cambria Math" panose="02040503050406030204" pitchFamily="18" charset="0"/>
                  </a:rPr>
                  <a:t>$n=6$</a:t>
                </a:r>
                <a:r>
                  <a:rPr sz="2400" b="0">
                    <a:solidFill>
                      <a:srgbClr val="111827"/>
                    </a:solidFill>
                    <a:latin typeface="Arial"/>
                  </a:rPr>
                  <a:t>: only </a:t>
                </a:r>
                <a:r>
                  <a:rPr lang="en-IN" sz="2400">
                    <a:solidFill>
                      <a:srgbClr val="111827"/>
                    </a:solidFill>
                    <a:latin typeface="Cambria Math" panose="02040503050406030204" pitchFamily="18" charset="0"/>
                  </a:rPr>
                  <a:t>$6$</a:t>
                </a:r>
                <a:r>
                  <a:rPr sz="2400" b="0">
                    <a:solidFill>
                      <a:srgbClr val="111827"/>
                    </a:solidFill>
                    <a:latin typeface="Arial"/>
                  </a:rPr>
                  <a:t>, </a:t>
                </a:r>
                <a:r>
                  <a:rPr lang="en-IN" sz="2400">
                    <a:solidFill>
                      <a:srgbClr val="111827"/>
                    </a:solidFill>
                    <a:latin typeface="Cambria Math" panose="02040503050406030204" pitchFamily="18" charset="0"/>
                  </a:rPr>
                  <a:t>$4{+}2$</a:t>
                </a:r>
                <a:r>
                  <a:rPr sz="2400" b="0">
                    <a:solidFill>
                      <a:srgbClr val="111827"/>
                    </a:solidFill>
                    <a:latin typeface="Arial"/>
                  </a:rPr>
                  <a:t>, </a:t>
                </a:r>
                <a:r>
                  <a:rPr lang="en-IN" sz="2400">
                    <a:solidFill>
                      <a:srgbClr val="111827"/>
                    </a:solidFill>
                    <a:latin typeface="Cambria Math" panose="02040503050406030204" pitchFamily="18" charset="0"/>
                  </a:rPr>
                  <a:t>$3{+}3$</a:t>
                </a:r>
                <a:r>
                  <a:rPr sz="2400" b="0">
                    <a:solidFill>
                      <a:srgbClr val="111827"/>
                    </a:solidFill>
                    <a:latin typeface="Arial"/>
                  </a:rPr>
                  <a:t>, </a:t>
                </a:r>
                <a:r>
                  <a:rPr lang="en-IN" sz="2400">
                    <a:solidFill>
                      <a:srgbClr val="111827"/>
                    </a:solidFill>
                    <a:latin typeface="Cambria Math" panose="02040503050406030204" pitchFamily="18" charset="0"/>
                  </a:rPr>
                  <a:t>$2{+}2{+}2$</a:t>
                </a:r>
                <a:r>
                  <a:rPr sz="2400" b="0">
                    <a:solidFill>
                      <a:srgbClr val="111827"/>
                    </a:solidFill>
                    <a:latin typeface="Arial"/>
                  </a:rPr>
                  <a:t> occur); the EGF is the systematic tool for larger </a:t>
                </a:r>
                <a:r>
                  <a:rPr lang="en-IN" sz="2400">
                    <a:solidFill>
                      <a:srgbClr val="111827"/>
                    </a:solidFill>
                    <a:latin typeface="Cambria Math" panose="02040503050406030204" pitchFamily="18" charset="0"/>
                  </a:rPr>
                  <a:t>$n$</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00812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There are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men and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women in Group A, and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men and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women in Group B. If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persons are selected from each group, then the number of ways of selecting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men and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women is ____.</a:t>
                </a:r>
                <a:endParaRPr sz="2400">
                  <a:solidFill>
                    <a:srgbClr val="111827"/>
                  </a:solidFill>
                </a:endParaRPr>
              </a:p>
            </p:txBody>
          </p:sp>
        </mc:Choice>
        <mc:Fallback>
          <p:sp>
            <p:nvSpPr>
              <p:cNvPr id="4" name="Rounded Rectangle 3"/>
              <p:cNvSpPr/>
              <p:nvPr/>
            </p:nvSpPr>
            <p:spPr>
              <a:xfrm>
                <a:off x="731520" y="1280160"/>
                <a:ext cx="10725912" cy="200812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There are </a:t>
                </a:r>
                <a:r>
                  <a:rPr lang="en-IN" sz="2400">
                    <a:solidFill>
                      <a:srgbClr val="111827"/>
                    </a:solidFill>
                    <a:latin typeface="Cambria Math" panose="02040503050406030204" pitchFamily="18" charset="0"/>
                  </a:rPr>
                  <a:t>$4$</a:t>
                </a:r>
                <a:r>
                  <a:rPr sz="2400" b="0">
                    <a:solidFill>
                      <a:srgbClr val="111827"/>
                    </a:solidFill>
                    <a:latin typeface="Arial"/>
                  </a:rPr>
                  <a:t> men and </a:t>
                </a:r>
                <a:r>
                  <a:rPr lang="en-IN" sz="2400">
                    <a:solidFill>
                      <a:srgbClr val="111827"/>
                    </a:solidFill>
                    <a:latin typeface="Cambria Math" panose="02040503050406030204" pitchFamily="18" charset="0"/>
                  </a:rPr>
                  <a:t>$5$</a:t>
                </a:r>
                <a:r>
                  <a:rPr sz="2400" b="0">
                    <a:solidFill>
                      <a:srgbClr val="111827"/>
                    </a:solidFill>
                    <a:latin typeface="Arial"/>
                  </a:rPr>
                  <a:t> women in Group A, and </a:t>
                </a:r>
                <a:r>
                  <a:rPr lang="en-IN" sz="2400">
                    <a:solidFill>
                      <a:srgbClr val="111827"/>
                    </a:solidFill>
                    <a:latin typeface="Cambria Math" panose="02040503050406030204" pitchFamily="18" charset="0"/>
                  </a:rPr>
                  <a:t>$5$</a:t>
                </a:r>
                <a:r>
                  <a:rPr sz="2400" b="0">
                    <a:solidFill>
                      <a:srgbClr val="111827"/>
                    </a:solidFill>
                    <a:latin typeface="Arial"/>
                  </a:rPr>
                  <a:t> men and </a:t>
                </a:r>
                <a:r>
                  <a:rPr lang="en-IN" sz="2400">
                    <a:solidFill>
                      <a:srgbClr val="111827"/>
                    </a:solidFill>
                    <a:latin typeface="Cambria Math" panose="02040503050406030204" pitchFamily="18" charset="0"/>
                  </a:rPr>
                  <a:t>$4$</a:t>
                </a:r>
                <a:r>
                  <a:rPr sz="2400" b="0">
                    <a:solidFill>
                      <a:srgbClr val="111827"/>
                    </a:solidFill>
                    <a:latin typeface="Arial"/>
                  </a:rPr>
                  <a:t> women in Group B. If </a:t>
                </a:r>
                <a:r>
                  <a:rPr lang="en-IN" sz="2400">
                    <a:solidFill>
                      <a:srgbClr val="111827"/>
                    </a:solidFill>
                    <a:latin typeface="Cambria Math" panose="02040503050406030204" pitchFamily="18" charset="0"/>
                  </a:rPr>
                  <a:t>$4$</a:t>
                </a:r>
                <a:r>
                  <a:rPr sz="2400" b="0">
                    <a:solidFill>
                      <a:srgbClr val="111827"/>
                    </a:solidFill>
                    <a:latin typeface="Arial"/>
                  </a:rPr>
                  <a:t> persons are selected from each group, then the number of ways of selecting </a:t>
                </a:r>
                <a:r>
                  <a:rPr lang="en-IN" sz="2400">
                    <a:solidFill>
                      <a:srgbClr val="111827"/>
                    </a:solidFill>
                    <a:latin typeface="Cambria Math" panose="02040503050406030204" pitchFamily="18" charset="0"/>
                  </a:rPr>
                  <a:t>$4$</a:t>
                </a:r>
                <a:r>
                  <a:rPr sz="2400" b="0">
                    <a:solidFill>
                      <a:srgbClr val="111827"/>
                    </a:solidFill>
                    <a:latin typeface="Arial"/>
                  </a:rPr>
                  <a:t> men and </a:t>
                </a:r>
                <a:r>
                  <a:rPr lang="en-IN" sz="2400">
                    <a:solidFill>
                      <a:srgbClr val="111827"/>
                    </a:solidFill>
                    <a:latin typeface="Cambria Math" panose="02040503050406030204" pitchFamily="18" charset="0"/>
                  </a:rPr>
                  <a:t>$4$</a:t>
                </a:r>
                <a:r>
                  <a:rPr sz="2400" b="0">
                    <a:solidFill>
                      <a:srgbClr val="111827"/>
                    </a:solidFill>
                    <a:latin typeface="Arial"/>
                  </a:rPr>
                  <a:t> women is ____.</a:t>
                </a:r>
                <a:endParaRPr sz="2400">
                  <a:solidFill>
                    <a:srgbClr val="111827"/>
                  </a:solidFill>
                </a:endParaRPr>
              </a:p>
            </p:txBody>
          </p:sp>
        </mc:Fallback>
      </mc:AlternateContent>
      <p:sp>
        <p:nvSpPr>
          <p:cNvPr id="5" name="Rectangle 4"/>
          <p:cNvSpPr/>
          <p:nvPr/>
        </p:nvSpPr>
        <p:spPr>
          <a:xfrm>
            <a:off x="731520" y="3516884"/>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Selection with restrictions (combinations from two groups)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Split by how many men come from Group A; the number of men from Group B is then forced.</a:t>
            </a:r>
            <a:endParaRPr sz="24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Total men chosen must be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and women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(men from A plus men from B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Split by the composition of the group-A selection.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𝑀</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𝑊</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4</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4</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4</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4</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𝑀</m:t>
                    </m:r>
                    <m:r>
                      <a:rPr lang="en-IN" sz="2400" i="1">
                        <a:solidFill>
                          <a:srgbClr val="111827"/>
                        </a:solidFill>
                        <a:latin typeface="Cambria Math" panose="02040503050406030204" pitchFamily="18" charset="0"/>
                      </a:rPr>
                      <m:t>1</m:t>
                    </m:r>
                    <m:r>
                      <a:rPr lang="en-IN" sz="2400" i="1">
                        <a:solidFill>
                          <a:srgbClr val="111827"/>
                        </a:solidFill>
                        <a:latin typeface="Cambria Math" panose="02040503050406030204" pitchFamily="18" charset="0"/>
                      </a:rPr>
                      <m:t>𝑊</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1</m:t>
                    </m:r>
                    <m:r>
                      <a:rPr lang="en-IN" sz="2400" i="1">
                        <a:solidFill>
                          <a:srgbClr val="111827"/>
                        </a:solidFill>
                        <a:latin typeface="Cambria Math" panose="02040503050406030204" pitchFamily="18" charset="0"/>
                      </a:rPr>
                      <m:t>𝑀</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𝑊</m:t>
                    </m:r>
                  </m:oMath>
                </a14:m>
                <a:r>
                  <a:rPr sz="2400" b="0">
                    <a:solidFill>
                      <a:srgbClr val="111827"/>
                    </a:solidFill>
                    <a:latin typeface="Arial"/>
                  </a:rPr>
                  <a:t>: </a:t>
                </a:r>
                <a14:m>
                  <m:oMath xmlns:m="http://schemas.openxmlformats.org/officeDocument/2006/math">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4</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5</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5</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4</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400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𝑀</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𝑊</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𝑀</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𝑊</m:t>
                    </m:r>
                  </m:oMath>
                </a14:m>
                <a:r>
                  <a:rPr sz="2400" b="0">
                    <a:solidFill>
                      <a:srgbClr val="111827"/>
                    </a:solidFill>
                    <a:latin typeface="Arial"/>
                  </a:rPr>
                  <a:t>: </a:t>
                </a:r>
                <a14:m>
                  <m:oMath xmlns:m="http://schemas.openxmlformats.org/officeDocument/2006/math">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4</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5</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5</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4</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3600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Total men chosen must be </a:t>
                </a:r>
                <a:r>
                  <a:rPr lang="en-IN" sz="2400">
                    <a:solidFill>
                      <a:srgbClr val="111827"/>
                    </a:solidFill>
                    <a:latin typeface="Cambria Math" panose="02040503050406030204" pitchFamily="18" charset="0"/>
                  </a:rPr>
                  <a:t>$4$</a:t>
                </a:r>
                <a:r>
                  <a:rPr sz="2400" b="0">
                    <a:solidFill>
                      <a:srgbClr val="111827"/>
                    </a:solidFill>
                    <a:latin typeface="Arial"/>
                  </a:rPr>
                  <a:t> and women </a:t>
                </a:r>
                <a:r>
                  <a:rPr lang="en-IN" sz="2400">
                    <a:solidFill>
                      <a:srgbClr val="111827"/>
                    </a:solidFill>
                    <a:latin typeface="Cambria Math" panose="02040503050406030204" pitchFamily="18" charset="0"/>
                  </a:rPr>
                  <a:t>$4$</a:t>
                </a:r>
                <a:r>
                  <a:rPr sz="2400" b="0">
                    <a:solidFill>
                      <a:srgbClr val="111827"/>
                    </a:solidFill>
                    <a:latin typeface="Arial"/>
                  </a:rPr>
                  <a:t> (men from A plus men from B </a:t>
                </a:r>
                <a:r>
                  <a:rPr lang="en-IN" sz="2400">
                    <a:solidFill>
                      <a:srgbClr val="111827"/>
                    </a:solidFill>
                    <a:latin typeface="Cambria Math" panose="02040503050406030204" pitchFamily="18" charset="0"/>
                  </a:rPr>
                  <a:t>$=4$</a:t>
                </a:r>
                <a:r>
                  <a:rPr sz="2400" b="0">
                    <a:solidFill>
                      <a:srgbClr val="111827"/>
                    </a:solidFill>
                    <a:latin typeface="Arial"/>
                  </a:rPr>
                  <a:t>). Split by the composition of the group-A selection.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$4M$</a:t>
                </a:r>
                <a:r>
                  <a:rPr sz="2400" b="0">
                    <a:solidFill>
                      <a:srgbClr val="111827"/>
                    </a:solidFill>
                    <a:latin typeface="Arial"/>
                  </a:rPr>
                  <a:t>, B: </a:t>
                </a:r>
                <a:r>
                  <a:rPr lang="en-IN" sz="2400">
                    <a:solidFill>
                      <a:srgbClr val="111827"/>
                    </a:solidFill>
                    <a:latin typeface="Cambria Math" panose="02040503050406030204" pitchFamily="18" charset="0"/>
                  </a:rPr>
                  <a:t>$4W$</a:t>
                </a:r>
                <a:r>
                  <a:rPr sz="2400" b="0">
                    <a:solidFill>
                      <a:srgbClr val="111827"/>
                    </a:solidFill>
                    <a:latin typeface="Arial"/>
                  </a:rPr>
                  <a:t>: </a:t>
                </a:r>
                <a:r>
                  <a:rPr lang="en-IN" sz="2400">
                    <a:solidFill>
                      <a:srgbClr val="111827"/>
                    </a:solidFill>
                    <a:latin typeface="Cambria Math" panose="02040503050406030204" pitchFamily="18" charset="0"/>
                  </a:rPr>
                  <a:t>$^4C_4\cdot{}^4C_4=1$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$3M1W$</a:t>
                </a:r>
                <a:r>
                  <a:rPr sz="2400" b="0">
                    <a:solidFill>
                      <a:srgbClr val="111827"/>
                    </a:solidFill>
                    <a:latin typeface="Arial"/>
                  </a:rPr>
                  <a:t>, B: </a:t>
                </a:r>
                <a:r>
                  <a:rPr lang="en-IN" sz="2400">
                    <a:solidFill>
                      <a:srgbClr val="111827"/>
                    </a:solidFill>
                    <a:latin typeface="Cambria Math" panose="02040503050406030204" pitchFamily="18" charset="0"/>
                  </a:rPr>
                  <a:t>$1M3W$</a:t>
                </a:r>
                <a:r>
                  <a:rPr sz="2400" b="0">
                    <a:solidFill>
                      <a:srgbClr val="111827"/>
                    </a:solidFill>
                    <a:latin typeface="Arial"/>
                  </a:rPr>
                  <a:t>: </a:t>
                </a:r>
                <a:r>
                  <a:rPr lang="en-IN" sz="2400">
                    <a:solidFill>
                      <a:srgbClr val="111827"/>
                    </a:solidFill>
                    <a:latin typeface="Cambria Math" panose="02040503050406030204" pitchFamily="18" charset="0"/>
                  </a:rPr>
                  <a:t>$(^4C_3\cdot{}^5C_1)(^5C_1\cdot{}^4C_3)=20\times20=400$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$2M2W$</a:t>
                </a:r>
                <a:r>
                  <a:rPr sz="2400" b="0">
                    <a:solidFill>
                      <a:srgbClr val="111827"/>
                    </a:solidFill>
                    <a:latin typeface="Arial"/>
                  </a:rPr>
                  <a:t>, B: </a:t>
                </a:r>
                <a:r>
                  <a:rPr lang="en-IN" sz="2400">
                    <a:solidFill>
                      <a:srgbClr val="111827"/>
                    </a:solidFill>
                    <a:latin typeface="Cambria Math" panose="02040503050406030204" pitchFamily="18" charset="0"/>
                  </a:rPr>
                  <a:t>$2M2W$</a:t>
                </a:r>
                <a:r>
                  <a:rPr sz="2400" b="0">
                    <a:solidFill>
                      <a:srgbClr val="111827"/>
                    </a:solidFill>
                    <a:latin typeface="Arial"/>
                  </a:rPr>
                  <a:t>: </a:t>
                </a:r>
                <a:r>
                  <a:rPr lang="en-IN" sz="2400">
                    <a:solidFill>
                      <a:srgbClr val="111827"/>
                    </a:solidFill>
                    <a:latin typeface="Cambria Math" panose="02040503050406030204" pitchFamily="18" charset="0"/>
                  </a:rPr>
                  <a:t>$(^4C_2\cdot{}^5C_2)(^5C_2\cdot{}^4C_2)=60\times60=3600$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1</m:t>
                    </m:r>
                    <m:r>
                      <a:rPr lang="en-IN" sz="2400" i="1">
                        <a:solidFill>
                          <a:srgbClr val="111827"/>
                        </a:solidFill>
                        <a:latin typeface="Cambria Math" panose="02040503050406030204" pitchFamily="18" charset="0"/>
                      </a:rPr>
                      <m:t>𝑀</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𝑊</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𝑀</m:t>
                    </m:r>
                    <m:r>
                      <a:rPr lang="en-IN" sz="2400" i="1">
                        <a:solidFill>
                          <a:srgbClr val="111827"/>
                        </a:solidFill>
                        <a:latin typeface="Cambria Math" panose="02040503050406030204" pitchFamily="18" charset="0"/>
                      </a:rPr>
                      <m:t>1</m:t>
                    </m:r>
                    <m:r>
                      <a:rPr lang="en-IN" sz="2400" i="1">
                        <a:solidFill>
                          <a:srgbClr val="111827"/>
                        </a:solidFill>
                        <a:latin typeface="Cambria Math" panose="02040503050406030204" pitchFamily="18" charset="0"/>
                      </a:rPr>
                      <m:t>𝑊</m:t>
                    </m:r>
                  </m:oMath>
                </a14:m>
                <a:r>
                  <a:rPr sz="2400" b="0">
                    <a:solidFill>
                      <a:srgbClr val="111827"/>
                    </a:solidFill>
                    <a:latin typeface="Arial"/>
                  </a:rPr>
                  <a:t>: </a:t>
                </a:r>
                <a14:m>
                  <m:oMath xmlns:m="http://schemas.openxmlformats.org/officeDocument/2006/math">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4</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5</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5</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4</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1600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𝑊</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𝑀</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5</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4</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5</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4</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ways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5626</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$1M3W$</a:t>
                </a:r>
                <a:r>
                  <a:rPr sz="2400" b="0">
                    <a:solidFill>
                      <a:srgbClr val="111827"/>
                    </a:solidFill>
                    <a:latin typeface="Arial"/>
                  </a:rPr>
                  <a:t>, B: </a:t>
                </a:r>
                <a:r>
                  <a:rPr lang="en-IN" sz="2400">
                    <a:solidFill>
                      <a:srgbClr val="111827"/>
                    </a:solidFill>
                    <a:latin typeface="Cambria Math" panose="02040503050406030204" pitchFamily="18" charset="0"/>
                  </a:rPr>
                  <a:t>$3M1W$</a:t>
                </a:r>
                <a:r>
                  <a:rPr sz="2400" b="0">
                    <a:solidFill>
                      <a:srgbClr val="111827"/>
                    </a:solidFill>
                    <a:latin typeface="Arial"/>
                  </a:rPr>
                  <a:t>: </a:t>
                </a:r>
                <a:r>
                  <a:rPr lang="en-IN" sz="2400">
                    <a:solidFill>
                      <a:srgbClr val="111827"/>
                    </a:solidFill>
                    <a:latin typeface="Cambria Math" panose="02040503050406030204" pitchFamily="18" charset="0"/>
                  </a:rPr>
                  <a:t>$(^4C_1\cdot{}^5C_3)(^5C_3\cdot{}^4C_1)=40\times40=1600$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$4W$</a:t>
                </a:r>
                <a:r>
                  <a:rPr sz="2400" b="0">
                    <a:solidFill>
                      <a:srgbClr val="111827"/>
                    </a:solidFill>
                    <a:latin typeface="Arial"/>
                  </a:rPr>
                  <a:t>, B: </a:t>
                </a:r>
                <a:r>
                  <a:rPr lang="en-IN" sz="2400">
                    <a:solidFill>
                      <a:srgbClr val="111827"/>
                    </a:solidFill>
                    <a:latin typeface="Cambria Math" panose="02040503050406030204" pitchFamily="18" charset="0"/>
                  </a:rPr>
                  <a:t>$4M$</a:t>
                </a:r>
                <a:r>
                  <a:rPr sz="2400" b="0">
                    <a:solidFill>
                      <a:srgbClr val="111827"/>
                    </a:solidFill>
                    <a:latin typeface="Arial"/>
                  </a:rPr>
                  <a:t>: </a:t>
                </a:r>
                <a:r>
                  <a:rPr lang="en-IN" sz="2400">
                    <a:solidFill>
                      <a:srgbClr val="111827"/>
                    </a:solidFill>
                    <a:latin typeface="Cambria Math" panose="02040503050406030204" pitchFamily="18" charset="0"/>
                  </a:rPr>
                  <a:t>$^5C_4\cdot{}^5C_4=25$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ways </a:t>
                </a:r>
                <a:r>
                  <a:rPr lang="en-IN" sz="2400">
                    <a:solidFill>
                      <a:srgbClr val="111827"/>
                    </a:solidFill>
                    <a:latin typeface="Cambria Math" panose="02040503050406030204" pitchFamily="18" charset="0"/>
                  </a:rPr>
                  <a:t>$=1+400+3600+1600+25=5626$</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5626</a:t>
            </a:r>
            <a:endParaRPr sz="2800">
              <a:solidFill>
                <a:srgbClr val="15803D"/>
              </a:solidFill>
            </a:endParaRP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Group B is Group A with genders swapped, so the two factors in each case are equal and the total is a sum of squares.</a:t>
            </a:r>
            <a:endParaRPr sz="2400">
              <a:solidFill>
                <a:srgbClr val="78350F"/>
              </a:solidFill>
            </a:endParaRPr>
          </a:p>
        </p:txBody>
      </p:sp>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𝑘</m:t>
                        </m:r>
                      </m:sub>
                    </m:sSub>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𝑘</m:t>
                            </m:r>
                          </m:den>
                        </m:f>
                      </m:e>
                    </m:d>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den>
                        </m:f>
                      </m:e>
                    </m:d>
                  </m:oMath>
                </a14:m>
                <a:r>
                  <a:rPr sz="2400" b="0">
                    <a:solidFill>
                      <a:srgbClr val="111827"/>
                    </a:solidFill>
                    <a:latin typeface="Arial"/>
                  </a:rPr>
                  <a:t> be the ways to pick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 men and </a:t>
                </a:r>
                <a14:m>
                  <m:oMath xmlns:m="http://schemas.openxmlformats.org/officeDocument/2006/math">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oMath>
                </a14:m>
                <a:r>
                  <a:rPr sz="2400" b="0">
                    <a:solidFill>
                      <a:srgbClr val="111827"/>
                    </a:solidFill>
                    <a:latin typeface="Arial"/>
                  </a:rPr>
                  <a:t> women from A (4 men, 5 women).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 (5 men, 4 women) needs </a:t>
                </a:r>
                <a14:m>
                  <m:oMath xmlns:m="http://schemas.openxmlformats.org/officeDocument/2006/math">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oMath>
                </a14:m>
                <a:r>
                  <a:rPr sz="2400" b="0">
                    <a:solidFill>
                      <a:srgbClr val="111827"/>
                    </a:solidFill>
                    <a:latin typeface="Arial"/>
                  </a:rPr>
                  <a:t> men and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 women: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den>
                        </m:f>
                      </m:e>
                    </m:d>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𝑘</m:t>
                            </m:r>
                          </m:den>
                        </m:f>
                      </m:e>
                    </m:d>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𝑘</m:t>
                        </m:r>
                      </m:sub>
                    </m:sSub>
                  </m:oMath>
                </a14:m>
                <a:r>
                  <a:rPr sz="2400" b="0">
                    <a:solidFill>
                      <a:srgbClr val="111827"/>
                    </a:solidFill>
                    <a:latin typeface="Arial"/>
                  </a:rPr>
                  <a:t>, the same number.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the total is </a:t>
                </a:r>
                <a14:m>
                  <m:oMath xmlns:m="http://schemas.openxmlformats.org/officeDocument/2006/math">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𝑘</m:t>
                        </m:r>
                      </m:sub>
                      <m:sup>
                        <m:r>
                          <a:rPr lang="en-IN" sz="2400" i="1">
                            <a:solidFill>
                              <a:srgbClr val="111827"/>
                            </a:solidFill>
                            <a:latin typeface="Cambria Math" panose="02040503050406030204" pitchFamily="18" charset="0"/>
                          </a:rPr>
                          <m:t>​</m:t>
                        </m:r>
                      </m:sup>
                      <m:e>
                        <m:sSubSup>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𝑘</m:t>
                            </m:r>
                          </m:sub>
                          <m:sup>
                            <m:r>
                              <a:rPr lang="en-IN" sz="2400" i="1">
                                <a:solidFill>
                                  <a:srgbClr val="111827"/>
                                </a:solidFill>
                                <a:latin typeface="Cambria Math" panose="02040503050406030204" pitchFamily="18" charset="0"/>
                              </a:rPr>
                              <m:t>2</m:t>
                            </m:r>
                          </m:sup>
                        </m:sSubSup>
                      </m:e>
                    </m:nary>
                  </m:oMath>
                </a14:m>
                <a:r>
                  <a:rPr sz="2400" b="0">
                    <a:solidFill>
                      <a:srgbClr val="111827"/>
                    </a:solidFill>
                    <a:latin typeface="Arial"/>
                  </a:rPr>
                  <a:t> with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0</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4</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5626</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$a_k=\binom4k\binom5{4-k}$</a:t>
                </a:r>
                <a:r>
                  <a:rPr sz="2400" b="0">
                    <a:solidFill>
                      <a:srgbClr val="111827"/>
                    </a:solidFill>
                    <a:latin typeface="Arial"/>
                  </a:rPr>
                  <a:t> be the ways to pick </a:t>
                </a:r>
                <a:r>
                  <a:rPr lang="en-IN" sz="2400">
                    <a:solidFill>
                      <a:srgbClr val="111827"/>
                    </a:solidFill>
                    <a:latin typeface="Cambria Math" panose="02040503050406030204" pitchFamily="18" charset="0"/>
                  </a:rPr>
                  <a:t>$k$</a:t>
                </a:r>
                <a:r>
                  <a:rPr sz="2400" b="0">
                    <a:solidFill>
                      <a:srgbClr val="111827"/>
                    </a:solidFill>
                    <a:latin typeface="Arial"/>
                  </a:rPr>
                  <a:t> men and </a:t>
                </a:r>
                <a:r>
                  <a:rPr lang="en-IN" sz="2400">
                    <a:solidFill>
                      <a:srgbClr val="111827"/>
                    </a:solidFill>
                    <a:latin typeface="Cambria Math" panose="02040503050406030204" pitchFamily="18" charset="0"/>
                  </a:rPr>
                  <a:t>$4-k$</a:t>
                </a:r>
                <a:r>
                  <a:rPr sz="2400" b="0">
                    <a:solidFill>
                      <a:srgbClr val="111827"/>
                    </a:solidFill>
                    <a:latin typeface="Arial"/>
                  </a:rPr>
                  <a:t> women from A (4 men, 5 women).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 (5 men, 4 women) needs </a:t>
                </a:r>
                <a:r>
                  <a:rPr lang="en-IN" sz="2400">
                    <a:solidFill>
                      <a:srgbClr val="111827"/>
                    </a:solidFill>
                    <a:latin typeface="Cambria Math" panose="02040503050406030204" pitchFamily="18" charset="0"/>
                  </a:rPr>
                  <a:t>$4-k$</a:t>
                </a:r>
                <a:r>
                  <a:rPr sz="2400" b="0">
                    <a:solidFill>
                      <a:srgbClr val="111827"/>
                    </a:solidFill>
                    <a:latin typeface="Arial"/>
                  </a:rPr>
                  <a:t> men and </a:t>
                </a:r>
                <a:r>
                  <a:rPr lang="en-IN" sz="2400">
                    <a:solidFill>
                      <a:srgbClr val="111827"/>
                    </a:solidFill>
                    <a:latin typeface="Cambria Math" panose="02040503050406030204" pitchFamily="18" charset="0"/>
                  </a:rPr>
                  <a:t>$k$</a:t>
                </a:r>
                <a:r>
                  <a:rPr sz="2400" b="0">
                    <a:solidFill>
                      <a:srgbClr val="111827"/>
                    </a:solidFill>
                    <a:latin typeface="Arial"/>
                  </a:rPr>
                  <a:t> women: </a:t>
                </a:r>
                <a:r>
                  <a:rPr lang="en-IN" sz="2400">
                    <a:solidFill>
                      <a:srgbClr val="111827"/>
                    </a:solidFill>
                    <a:latin typeface="Cambria Math" panose="02040503050406030204" pitchFamily="18" charset="0"/>
                  </a:rPr>
                  <a:t>$\binom5{4-k}\binom4k=a_k$</a:t>
                </a:r>
                <a:r>
                  <a:rPr sz="2400" b="0">
                    <a:solidFill>
                      <a:srgbClr val="111827"/>
                    </a:solidFill>
                    <a:latin typeface="Arial"/>
                  </a:rPr>
                  <a:t>, the same number.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the total is </a:t>
                </a:r>
                <a:r>
                  <a:rPr lang="en-IN" sz="2400">
                    <a:solidFill>
                      <a:srgbClr val="111827"/>
                    </a:solidFill>
                    <a:latin typeface="Cambria Math" panose="02040503050406030204" pitchFamily="18" charset="0"/>
                  </a:rPr>
                  <a:t>$\sum_k a_k^2$</a:t>
                </a:r>
                <a:r>
                  <a:rPr sz="2400" b="0">
                    <a:solidFill>
                      <a:srgbClr val="111827"/>
                    </a:solidFill>
                    <a:latin typeface="Arial"/>
                  </a:rPr>
                  <a:t> with </a:t>
                </a:r>
                <a:r>
                  <a:rPr lang="en-IN" sz="2400">
                    <a:solidFill>
                      <a:srgbClr val="111827"/>
                    </a:solidFill>
                    <a:latin typeface="Cambria Math" panose="02040503050406030204" pitchFamily="18" charset="0"/>
                  </a:rPr>
                  <a:t>$(a_0,\dots,a_4)=(5,40,60,20,1)$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$25+1600+3600+400+1=5626$</a:t>
                </a:r>
                <a:r>
                  <a:rPr sz="2400" b="0">
                    <a:solidFill>
                      <a:srgbClr val="111827"/>
                    </a:solidFill>
                    <a:latin typeface="Arial"/>
                  </a:rPr>
                  <a:t>.</a:t>
                </a:r>
                <a:endParaRPr sz="2400">
                  <a:solidFill>
                    <a:srgbClr val="111827"/>
                  </a:solidFill>
                </a:endParaRPr>
              </a:p>
            </p:txBody>
          </p:sp>
        </mc:Fallback>
      </mc:AlternateContent>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5626</a:t>
            </a:r>
            <a:endParaRPr sz="2800">
              <a:solidFill>
                <a:srgbClr val="15803D"/>
              </a:solidFill>
            </a:endParaRP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the two groups mirror each other (genders swapped), the case counts are equal and the answer is </a:t>
                </a:r>
                <a14:m>
                  <m:oMath xmlns:m="http://schemas.openxmlformats.org/officeDocument/2006/math">
                    <m:r>
                      <m:rPr>
                        <m:sty m:val="p"/>
                      </m:rPr>
                      <a:rPr lang="en-IN" sz="2400">
                        <a:solidFill>
                          <a:srgbClr val="111827"/>
                        </a:solidFill>
                        <a:latin typeface="Cambria Math" panose="02040503050406030204" pitchFamily="18" charset="0"/>
                      </a:rPr>
                      <m:t>∑</m:t>
                    </m:r>
                    <m:sSubSup>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𝑘</m:t>
                        </m:r>
                      </m:sub>
                      <m:sup>
                        <m:r>
                          <a:rPr lang="en-IN" sz="2400" i="1">
                            <a:solidFill>
                              <a:srgbClr val="111827"/>
                            </a:solidFill>
                            <a:latin typeface="Cambria Math" panose="02040503050406030204" pitchFamily="18" charset="0"/>
                          </a:rPr>
                          <m:t>2</m:t>
                        </m:r>
                      </m:sup>
                    </m:sSub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Vandermonde: </a:t>
                </a:r>
                <a14:m>
                  <m:oMath xmlns:m="http://schemas.openxmlformats.org/officeDocument/2006/math">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𝑘</m:t>
                        </m:r>
                      </m:sub>
                      <m:sup>
                        <m:r>
                          <a:rPr lang="en-IN" sz="2400" i="1">
                            <a:solidFill>
                              <a:srgbClr val="111827"/>
                            </a:solidFill>
                            <a:latin typeface="Cambria Math" panose="02040503050406030204" pitchFamily="18" charset="0"/>
                          </a:rPr>
                          <m:t>​</m:t>
                        </m:r>
                      </m:sup>
                      <m:e>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𝑘</m:t>
                            </m:r>
                          </m:sub>
                        </m:sSub>
                      </m:e>
                    </m:nary>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4</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126</m:t>
                    </m:r>
                  </m:oMath>
                </a14:m>
                <a:r>
                  <a:rPr sz="2400" b="0">
                    <a:solidFill>
                      <a:srgbClr val="111827"/>
                    </a:solidFill>
                    <a:latin typeface="Arial"/>
                  </a:rPr>
                  <a:t> gives a quick check that the case list is complete (</a:t>
                </a:r>
                <a14:m>
                  <m:oMath xmlns:m="http://schemas.openxmlformats.org/officeDocument/2006/math">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Selecting a fixed number from each group: split on how the first group's selection is composed, the second is forced.</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the two groups mirror each other (genders swapped), the case counts are equal and the answer is </a:t>
                </a:r>
                <a:r>
                  <a:rPr lang="en-IN" sz="2400">
                    <a:solidFill>
                      <a:srgbClr val="111827"/>
                    </a:solidFill>
                    <a:latin typeface="Cambria Math" panose="02040503050406030204" pitchFamily="18" charset="0"/>
                  </a:rPr>
                  <a:t>$\sum a_k^2$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Vandermonde: </a:t>
                </a:r>
                <a:r>
                  <a:rPr lang="en-IN" sz="2400">
                    <a:solidFill>
                      <a:srgbClr val="111827"/>
                    </a:solidFill>
                    <a:latin typeface="Cambria Math" panose="02040503050406030204" pitchFamily="18" charset="0"/>
                  </a:rPr>
                  <a:t>$\sum_k a_k=\binom94=126$</a:t>
                </a:r>
                <a:r>
                  <a:rPr sz="2400" b="0">
                    <a:solidFill>
                      <a:srgbClr val="111827"/>
                    </a:solidFill>
                    <a:latin typeface="Arial"/>
                  </a:rPr>
                  <a:t> gives a quick check that the case list is complete (</a:t>
                </a:r>
                <a:r>
                  <a:rPr lang="en-IN" sz="2400">
                    <a:solidFill>
                      <a:srgbClr val="111827"/>
                    </a:solidFill>
                    <a:latin typeface="Cambria Math" panose="02040503050406030204" pitchFamily="18" charset="0"/>
                  </a:rPr>
                  <a:t>$5+40+60+20+1=126$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Selecting a fixed number from each group: split on how the first group's selection is composed, the second is forced.</a:t>
                </a:r>
                <a:endParaRPr sz="2400">
                  <a:solidFill>
                    <a:srgbClr val="111827"/>
                  </a:solidFill>
                </a:endParaRPr>
              </a:p>
            </p:txBody>
          </p:sp>
        </mc:Fallback>
      </mc:AlternateContent>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number of ways of getting a sum </a:t>
                </a:r>
                <a14:m>
                  <m:oMath xmlns:m="http://schemas.openxmlformats.org/officeDocument/2006/math">
                    <m:r>
                      <a:rPr lang="en-IN" sz="2400" i="1">
                        <a:solidFill>
                          <a:srgbClr val="111827"/>
                        </a:solidFill>
                        <a:latin typeface="Cambria Math" panose="02040503050406030204" pitchFamily="18" charset="0"/>
                      </a:rPr>
                      <m:t>16</m:t>
                    </m:r>
                  </m:oMath>
                </a14:m>
                <a:r>
                  <a:rPr sz="2400" b="0">
                    <a:solidFill>
                      <a:srgbClr val="111827"/>
                    </a:solidFill>
                    <a:latin typeface="Arial"/>
                  </a:rPr>
                  <a:t> on throwing a dice four times is ____.</a:t>
                </a:r>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number of ways of getting a sum </a:t>
                </a:r>
                <a:r>
                  <a:rPr lang="en-IN" sz="2400">
                    <a:solidFill>
                      <a:srgbClr val="111827"/>
                    </a:solidFill>
                    <a:latin typeface="Cambria Math" panose="02040503050406030204" pitchFamily="18" charset="0"/>
                  </a:rPr>
                  <a:t>$16$</a:t>
                </a:r>
                <a:r>
                  <a:rPr sz="2400" b="0">
                    <a:solidFill>
                      <a:srgbClr val="111827"/>
                    </a:solidFill>
                    <a:latin typeface="Arial"/>
                  </a:rPr>
                  <a:t> on throwing a dice four times is ____.</a:t>
                </a:r>
                <a:endParaRPr sz="2400">
                  <a:solidFill>
                    <a:srgbClr val="111827"/>
                  </a:solidFill>
                </a:endParaRPr>
              </a:p>
            </p:txBody>
          </p:sp>
        </mc:Fallback>
      </mc:AlternateContent>
      <p:sp>
        <p:nvSpPr>
          <p:cNvPr id="5" name="Rectangle 4"/>
          <p:cNvSpPr/>
          <p:nvPr/>
        </p:nvSpPr>
        <p:spPr>
          <a:xfrm>
            <a:off x="731520" y="3246120"/>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Number of ways of getting a given sum with dice (bounded solutions)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Shift each throw by 1, then count bounded non-negative solutions with inclusion-exclusion.</a:t>
            </a:r>
            <a:endParaRPr sz="24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4</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oMath>
                </a14:m>
                <a:r>
                  <a:rPr sz="2400" b="0">
                    <a:solidFill>
                      <a:srgbClr val="111827"/>
                    </a:solidFill>
                    <a:latin typeface="Arial"/>
                  </a:rPr>
                  <a:t> with </a:t>
                </a:r>
                <a14:m>
                  <m:oMath xmlns:m="http://schemas.openxmlformats.org/officeDocument/2006/math">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this is the coefficient of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16</m:t>
                        </m:r>
                      </m:sup>
                    </m:sSup>
                  </m:oMath>
                </a14:m>
                <a:r>
                  <a:rPr sz="2400" b="0">
                    <a:solidFill>
                      <a:srgbClr val="111827"/>
                    </a:solidFill>
                    <a:latin typeface="Arial"/>
                  </a:rPr>
                  <a:t> 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6</m:t>
                        </m:r>
                      </m:sup>
                    </m:sSup>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4</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Factor: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6</m:t>
                        </m:r>
                      </m:sup>
                    </m:sSup>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5</m:t>
                        </m:r>
                      </m:sup>
                    </m:sSup>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4</m:t>
                        </m:r>
                      </m:sup>
                    </m:sSup>
                  </m:oMath>
                </a14:m>
                <a:r>
                  <a:rPr sz="2400" b="0">
                    <a:solidFill>
                      <a:srgbClr val="111827"/>
                    </a:solidFill>
                    <a:latin typeface="Arial"/>
                  </a:rPr>
                  <a:t>, so we need the coefficient of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12</m:t>
                        </m:r>
                      </m:sup>
                    </m:sSup>
                  </m:oMath>
                </a14:m>
                <a:r>
                  <a:rPr sz="2400" b="0">
                    <a:solidFill>
                      <a:srgbClr val="111827"/>
                    </a:solidFill>
                    <a:latin typeface="Arial"/>
                  </a:rPr>
                  <a:t> in </a:t>
                </a: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6</m:t>
                                    </m:r>
                                  </m:sup>
                                </m:sSup>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den>
                            </m:f>
                          </m:e>
                        </m:d>
                      </m:e>
                      <m:sup>
                        <m:r>
                          <a:rPr lang="en-IN" sz="2400" i="1">
                            <a:solidFill>
                              <a:srgbClr val="111827"/>
                            </a:solidFill>
                            <a:latin typeface="Cambria Math" panose="02040503050406030204" pitchFamily="18" charset="0"/>
                          </a:rPr>
                          <m:t>4</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6</m:t>
                        </m:r>
                      </m:sup>
                    </m:sSup>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4</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1</m:t>
                        </m:r>
                      </m:sub>
                    </m:sSub>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6</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4</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12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up>
                    </m:sSup>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$x_1+x_2+x_3+x_4=16$</a:t>
                </a:r>
                <a:r>
                  <a:rPr sz="2400" b="0">
                    <a:solidFill>
                      <a:srgbClr val="111827"/>
                    </a:solidFill>
                    <a:latin typeface="Arial"/>
                  </a:rPr>
                  <a:t> with </a:t>
                </a:r>
                <a:r>
                  <a:rPr lang="en-IN" sz="2400">
                    <a:solidFill>
                      <a:srgbClr val="111827"/>
                    </a:solidFill>
                    <a:latin typeface="Cambria Math" panose="02040503050406030204" pitchFamily="18" charset="0"/>
                  </a:rPr>
                  <a:t>$x_i\in\{1,2,\dots,6\}$</a:t>
                </a:r>
                <a:r>
                  <a:rPr sz="2400" b="0">
                    <a:solidFill>
                      <a:srgbClr val="111827"/>
                    </a:solidFill>
                    <a:latin typeface="Arial"/>
                  </a:rPr>
                  <a:t>; this is the coefficient of </a:t>
                </a:r>
                <a:r>
                  <a:rPr lang="en-IN" sz="2400">
                    <a:solidFill>
                      <a:srgbClr val="111827"/>
                    </a:solidFill>
                    <a:latin typeface="Cambria Math" panose="02040503050406030204" pitchFamily="18" charset="0"/>
                  </a:rPr>
                  <a:t>$x^{16}$</a:t>
                </a:r>
                <a:r>
                  <a:rPr sz="2400" b="0">
                    <a:solidFill>
                      <a:srgbClr val="111827"/>
                    </a:solidFill>
                    <a:latin typeface="Arial"/>
                  </a:rPr>
                  <a:t> in </a:t>
                </a:r>
                <a:r>
                  <a:rPr lang="en-IN" sz="2400">
                    <a:solidFill>
                      <a:srgbClr val="111827"/>
                    </a:solidFill>
                    <a:latin typeface="Cambria Math" panose="02040503050406030204" pitchFamily="18" charset="0"/>
                  </a:rPr>
                  <a:t>$(x+x^2+\dots+x^6)^4$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Factor: </a:t>
                </a:r>
                <a:r>
                  <a:rPr lang="en-IN" sz="2400">
                    <a:solidFill>
                      <a:srgbClr val="111827"/>
                    </a:solidFill>
                    <a:latin typeface="Cambria Math" panose="02040503050406030204" pitchFamily="18" charset="0"/>
                  </a:rPr>
                  <a:t>$(x+\dots+x^6)^4=x^4(1+x+\dots+x^5)^4$</a:t>
                </a:r>
                <a:r>
                  <a:rPr sz="2400" b="0">
                    <a:solidFill>
                      <a:srgbClr val="111827"/>
                    </a:solidFill>
                    <a:latin typeface="Arial"/>
                  </a:rPr>
                  <a:t>, so we need the coefficient of </a:t>
                </a:r>
                <a:r>
                  <a:rPr lang="en-IN" sz="2400">
                    <a:solidFill>
                      <a:srgbClr val="111827"/>
                    </a:solidFill>
                    <a:latin typeface="Cambria Math" panose="02040503050406030204" pitchFamily="18" charset="0"/>
                  </a:rPr>
                  <a:t>$x^{12}$</a:t>
                </a:r>
                <a:r>
                  <a:rPr sz="2400" b="0">
                    <a:solidFill>
                      <a:srgbClr val="111827"/>
                    </a:solidFill>
                    <a:latin typeface="Arial"/>
                  </a:rPr>
                  <a:t> in </a:t>
                </a:r>
                <a:r>
                  <a:rPr lang="en-IN" sz="2400">
                    <a:solidFill>
                      <a:srgbClr val="111827"/>
                    </a:solidFill>
                    <a:latin typeface="Cambria Math" panose="02040503050406030204" pitchFamily="18" charset="0"/>
                  </a:rPr>
                  <a:t>$\left(\dfrac{1-x^6}{1-x}\right)^4$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$(1-x^6)^4(1-x)^{-4}=(1-{}^4C_1x^6+{}^4C_2x^{12}-\cdots)(1-x)^{-4}$</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Coefficient of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12</m:t>
                        </m:r>
                      </m:sup>
                    </m:sSup>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12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6</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0</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Using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𝑟</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3</m:t>
                        </m:r>
                      </m:sub>
                    </m:sSub>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15</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9</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3</m:t>
                        </m:r>
                      </m:sub>
                    </m:sSub>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455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455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336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125</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Coefficient of </a:t>
                </a:r>
                <a:r>
                  <a:rPr lang="en-IN" sz="2400">
                    <a:solidFill>
                      <a:srgbClr val="111827"/>
                    </a:solidFill>
                    <a:latin typeface="Cambria Math" panose="02040503050406030204" pitchFamily="18" charset="0"/>
                  </a:rPr>
                  <a:t>$x^{12}$</a:t>
                </a:r>
                <a:r>
                  <a:rPr sz="2400" b="0">
                    <a:solidFill>
                      <a:srgbClr val="111827"/>
                    </a:solidFill>
                    <a:latin typeface="Arial"/>
                  </a:rPr>
                  <a:t> </a:t>
                </a:r>
                <a:r>
                  <a:rPr lang="en-IN" sz="2400">
                    <a:solidFill>
                      <a:srgbClr val="111827"/>
                    </a:solidFill>
                    <a:latin typeface="Cambria Math" panose="02040503050406030204" pitchFamily="18" charset="0"/>
                  </a:rPr>
                  <a:t>$=[x^{12}](1-x)^{-4}-4[x^6](1-x)^{-4}+6[x^0](1-x)^{-4}$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Using </a:t>
                </a:r>
                <a:r>
                  <a:rPr lang="en-IN" sz="2400">
                    <a:solidFill>
                      <a:srgbClr val="111827"/>
                    </a:solidFill>
                    <a:latin typeface="Cambria Math" panose="02040503050406030204" pitchFamily="18" charset="0"/>
                  </a:rPr>
                  <a:t>$[x^r](1-x)^{-4}={}^{r+3}C_3$</a:t>
                </a:r>
                <a:r>
                  <a:rPr sz="2400" b="0">
                    <a:solidFill>
                      <a:srgbClr val="111827"/>
                    </a:solidFill>
                    <a:latin typeface="Arial"/>
                  </a:rPr>
                  <a:t>: </a:t>
                </a:r>
                <a:r>
                  <a:rPr lang="en-IN" sz="2400">
                    <a:solidFill>
                      <a:srgbClr val="111827"/>
                    </a:solidFill>
                    <a:latin typeface="Cambria Math" panose="02040503050406030204" pitchFamily="18" charset="0"/>
                  </a:rPr>
                  <a:t>$^{15}C_3-4\cdot{}^{9}C_3+6\cdot{}^{3}C_3$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$=455-4\times84+6=455-336+6=125$</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125</a:t>
            </a:r>
            <a:endParaRPr sz="2800">
              <a:solidFill>
                <a:srgbClr val="15803D"/>
              </a:solidFill>
            </a:endParaRP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Reflect each throw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7</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oMath>
                </a14:m>
                <a:r>
                  <a:rPr sz="2400" b="0">
                    <a:solidFill>
                      <a:srgbClr val="78350F"/>
                    </a:solidFill>
                    <a:latin typeface="Arial"/>
                  </a:rPr>
                  <a:t>: sum </a:t>
                </a:r>
                <a14:m>
                  <m:oMath xmlns:m="http://schemas.openxmlformats.org/officeDocument/2006/math">
                    <m:r>
                      <a:rPr lang="en-IN" sz="2400" i="1">
                        <a:solidFill>
                          <a:srgbClr val="78350F"/>
                        </a:solidFill>
                        <a:latin typeface="Cambria Math" panose="02040503050406030204" pitchFamily="18" charset="0"/>
                      </a:rPr>
                      <m:t>16</m:t>
                    </m:r>
                  </m:oMath>
                </a14:m>
                <a:r>
                  <a:rPr sz="2400" b="0">
                    <a:solidFill>
                      <a:srgbClr val="78350F"/>
                    </a:solidFill>
                    <a:latin typeface="Arial"/>
                  </a:rPr>
                  <a:t> becomes sum </a:t>
                </a:r>
                <a14:m>
                  <m:oMath xmlns:m="http://schemas.openxmlformats.org/officeDocument/2006/math">
                    <m:r>
                      <a:rPr lang="en-IN" sz="2400" i="1">
                        <a:solidFill>
                          <a:srgbClr val="78350F"/>
                        </a:solidFill>
                        <a:latin typeface="Cambria Math" panose="02040503050406030204" pitchFamily="18" charset="0"/>
                      </a:rPr>
                      <m:t>28</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16</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12</m:t>
                    </m:r>
                  </m:oMath>
                </a14:m>
                <a:r>
                  <a:rPr sz="2400" b="0">
                    <a:solidFill>
                      <a:srgbClr val="78350F"/>
                    </a:solidFill>
                    <a:latin typeface="Arial"/>
                  </a:rPr>
                  <a:t>, which needs only one exclusion term.</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Reflect each throw </a:t>
                </a:r>
                <a:r>
                  <a:rPr lang="en-IN" sz="2400">
                    <a:solidFill>
                      <a:srgbClr val="78350F"/>
                    </a:solidFill>
                    <a:latin typeface="Cambria Math" panose="02040503050406030204" pitchFamily="18" charset="0"/>
                  </a:rPr>
                  <a:t>$x\mapsto7-x$</a:t>
                </a:r>
                <a:r>
                  <a:rPr sz="2400" b="0">
                    <a:solidFill>
                      <a:srgbClr val="78350F"/>
                    </a:solidFill>
                    <a:latin typeface="Arial"/>
                  </a:rPr>
                  <a:t>: sum </a:t>
                </a:r>
                <a:r>
                  <a:rPr lang="en-IN" sz="2400">
                    <a:solidFill>
                      <a:srgbClr val="78350F"/>
                    </a:solidFill>
                    <a:latin typeface="Cambria Math" panose="02040503050406030204" pitchFamily="18" charset="0"/>
                  </a:rPr>
                  <a:t>$16$</a:t>
                </a:r>
                <a:r>
                  <a:rPr sz="2400" b="0">
                    <a:solidFill>
                      <a:srgbClr val="78350F"/>
                    </a:solidFill>
                    <a:latin typeface="Arial"/>
                  </a:rPr>
                  <a:t> becomes sum </a:t>
                </a:r>
                <a:r>
                  <a:rPr lang="en-IN" sz="2400">
                    <a:solidFill>
                      <a:srgbClr val="78350F"/>
                    </a:solidFill>
                    <a:latin typeface="Cambria Math" panose="02040503050406030204" pitchFamily="18" charset="0"/>
                  </a:rPr>
                  <a:t>$28-16=12$</a:t>
                </a:r>
                <a:r>
                  <a:rPr sz="2400" b="0">
                    <a:solidFill>
                      <a:srgbClr val="78350F"/>
                    </a:solidFill>
                    <a:latin typeface="Arial"/>
                  </a:rPr>
                  <a:t>, which needs only one exclusion term.</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map </a:t>
                </a:r>
                <a14:m>
                  <m:oMath xmlns:m="http://schemas.openxmlformats.org/officeDocument/2006/math">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Sub>
                  </m:oMath>
                </a14:m>
                <a:r>
                  <a:rPr sz="2400" b="0">
                    <a:solidFill>
                      <a:srgbClr val="111827"/>
                    </a:solidFill>
                    <a:latin typeface="Arial"/>
                  </a:rPr>
                  <a:t> is a bijection of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the number of ways to get sum </a:t>
                </a:r>
                <a14:m>
                  <m:oMath xmlns:m="http://schemas.openxmlformats.org/officeDocument/2006/math">
                    <m:r>
                      <a:rPr lang="en-IN" sz="2400" i="1">
                        <a:solidFill>
                          <a:srgbClr val="111827"/>
                        </a:solidFill>
                        <a:latin typeface="Cambria Math" panose="02040503050406030204" pitchFamily="18" charset="0"/>
                      </a:rPr>
                      <m:t>16</m:t>
                    </m:r>
                  </m:oMath>
                </a14:m>
                <a:r>
                  <a:rPr sz="2400" b="0">
                    <a:solidFill>
                      <a:srgbClr val="111827"/>
                    </a:solidFill>
                    <a:latin typeface="Arial"/>
                  </a:rPr>
                  <a:t> equals the number to get </a:t>
                </a:r>
                <a14:m>
                  <m:oMath xmlns:m="http://schemas.openxmlformats.org/officeDocument/2006/math">
                    <m:r>
                      <a:rPr lang="en-IN" sz="2400" i="1">
                        <a:solidFill>
                          <a:srgbClr val="111827"/>
                        </a:solidFill>
                        <a:latin typeface="Cambria Math" panose="02040503050406030204" pitchFamily="18" charset="0"/>
                      </a:rPr>
                      <m:t>28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sum </a:t>
                </a:r>
                <a14:m>
                  <m:oMath xmlns:m="http://schemas.openxmlformats.org/officeDocument/2006/math">
                    <m:r>
                      <a:rPr lang="en-IN" sz="2400" i="1">
                        <a:solidFill>
                          <a:srgbClr val="111827"/>
                        </a:solidFill>
                        <a:latin typeface="Cambria Math" panose="02040503050406030204" pitchFamily="18" charset="0"/>
                      </a:rPr>
                      <m:t>12</m:t>
                    </m:r>
                  </m:oMath>
                </a14:m>
                <a:r>
                  <a:rPr sz="2400" b="0">
                    <a:solidFill>
                      <a:srgbClr val="111827"/>
                    </a:solidFill>
                    <a:latin typeface="Arial"/>
                  </a:rPr>
                  <a:t> put </a:t>
                </a:r>
                <a14:m>
                  <m:oMath xmlns:m="http://schemas.openxmlformats.org/officeDocument/2006/math">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4</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Unrestricted: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11</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165</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map </a:t>
                </a:r>
                <a:r>
                  <a:rPr lang="en-IN" sz="2400">
                    <a:solidFill>
                      <a:srgbClr val="111827"/>
                    </a:solidFill>
                    <a:latin typeface="Cambria Math" panose="02040503050406030204" pitchFamily="18" charset="0"/>
                  </a:rPr>
                  <a:t>$x_i\mapsto7-x_i$</a:t>
                </a:r>
                <a:r>
                  <a:rPr sz="2400" b="0">
                    <a:solidFill>
                      <a:srgbClr val="111827"/>
                    </a:solidFill>
                    <a:latin typeface="Arial"/>
                  </a:rPr>
                  <a:t> is a bijection of </a:t>
                </a:r>
                <a:r>
                  <a:rPr lang="en-IN" sz="2400">
                    <a:solidFill>
                      <a:srgbClr val="111827"/>
                    </a:solidFill>
                    <a:latin typeface="Cambria Math" panose="02040503050406030204" pitchFamily="18" charset="0"/>
                  </a:rPr>
                  <a:t>$\{1..6\}$</a:t>
                </a:r>
                <a:r>
                  <a:rPr sz="2400" b="0">
                    <a:solidFill>
                      <a:srgbClr val="111827"/>
                    </a:solidFill>
                    <a:latin typeface="Arial"/>
                  </a:rPr>
                  <a:t>, so the number of ways to get sum </a:t>
                </a:r>
                <a:r>
                  <a:rPr lang="en-IN" sz="2400">
                    <a:solidFill>
                      <a:srgbClr val="111827"/>
                    </a:solidFill>
                    <a:latin typeface="Cambria Math" panose="02040503050406030204" pitchFamily="18" charset="0"/>
                  </a:rPr>
                  <a:t>$16$</a:t>
                </a:r>
                <a:r>
                  <a:rPr sz="2400" b="0">
                    <a:solidFill>
                      <a:srgbClr val="111827"/>
                    </a:solidFill>
                    <a:latin typeface="Arial"/>
                  </a:rPr>
                  <a:t> equals the number to get </a:t>
                </a:r>
                <a:r>
                  <a:rPr lang="en-IN" sz="2400">
                    <a:solidFill>
                      <a:srgbClr val="111827"/>
                    </a:solidFill>
                    <a:latin typeface="Cambria Math" panose="02040503050406030204" pitchFamily="18" charset="0"/>
                  </a:rPr>
                  <a:t>$28-16=12$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sum </a:t>
                </a:r>
                <a:r>
                  <a:rPr lang="en-IN" sz="2400">
                    <a:solidFill>
                      <a:srgbClr val="111827"/>
                    </a:solidFill>
                    <a:latin typeface="Cambria Math" panose="02040503050406030204" pitchFamily="18" charset="0"/>
                  </a:rPr>
                  <a:t>$12$</a:t>
                </a:r>
                <a:r>
                  <a:rPr sz="2400" b="0">
                    <a:solidFill>
                      <a:srgbClr val="111827"/>
                    </a:solidFill>
                    <a:latin typeface="Arial"/>
                  </a:rPr>
                  <a:t> put </a:t>
                </a:r>
                <a:r>
                  <a:rPr lang="en-IN" sz="2400">
                    <a:solidFill>
                      <a:srgbClr val="111827"/>
                    </a:solidFill>
                    <a:latin typeface="Cambria Math" panose="02040503050406030204" pitchFamily="18" charset="0"/>
                  </a:rPr>
                  <a:t>$y_i=x_i-1\in[0,5]$</a:t>
                </a:r>
                <a:r>
                  <a:rPr sz="2400" b="0">
                    <a:solidFill>
                      <a:srgbClr val="111827"/>
                    </a:solidFill>
                    <a:latin typeface="Arial"/>
                  </a:rPr>
                  <a:t>: </a:t>
                </a:r>
                <a:r>
                  <a:rPr lang="en-IN" sz="2400">
                    <a:solidFill>
                      <a:srgbClr val="111827"/>
                    </a:solidFill>
                    <a:latin typeface="Cambria Math" panose="02040503050406030204" pitchFamily="18" charset="0"/>
                  </a:rPr>
                  <a:t>$y_1+\dots+y_4=8$</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Unrestricted: </a:t>
                </a:r>
                <a:r>
                  <a:rPr lang="en-IN" sz="2400">
                    <a:solidFill>
                      <a:srgbClr val="111827"/>
                    </a:solidFill>
                    <a:latin typeface="Cambria Math" panose="02040503050406030204" pitchFamily="18" charset="0"/>
                  </a:rPr>
                  <a:t>$^{11}C_3=165$</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Violations </a:t>
                </a:r>
                <a14:m>
                  <m:oMath xmlns:m="http://schemas.openxmlformats.org/officeDocument/2006/math">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set </a:t>
                </a:r>
                <a14:m>
                  <m:oMath xmlns:m="http://schemas.openxmlformats.org/officeDocument/2006/math">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oMath>
                </a14:m>
                <a:r>
                  <a:rPr sz="2400" b="0">
                    <a:solidFill>
                      <a:srgbClr val="111827"/>
                    </a:solidFill>
                    <a:latin typeface="Arial"/>
                  </a:rPr>
                  <a:t>, the rest sums to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5</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for each of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variables, giving </a:t>
                </a:r>
                <a14:m>
                  <m:oMath xmlns:m="http://schemas.openxmlformats.org/officeDocument/2006/math">
                    <m:r>
                      <a:rPr lang="en-IN" sz="2400" i="1">
                        <a:solidFill>
                          <a:srgbClr val="111827"/>
                        </a:solidFill>
                        <a:latin typeface="Cambria Math" panose="02040503050406030204" pitchFamily="18" charset="0"/>
                      </a:rPr>
                      <m:t>40</m:t>
                    </m:r>
                  </m:oMath>
                </a14:m>
                <a:r>
                  <a:rPr sz="2400" b="0">
                    <a:solidFill>
                      <a:srgbClr val="111827"/>
                    </a:solidFill>
                    <a:latin typeface="Arial"/>
                  </a:rPr>
                  <a:t>; two violations need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8</m:t>
                    </m:r>
                  </m:oMath>
                </a14:m>
                <a:r>
                  <a:rPr sz="2400" b="0">
                    <a:solidFill>
                      <a:srgbClr val="111827"/>
                    </a:solidFill>
                    <a:latin typeface="Arial"/>
                  </a:rPr>
                  <a:t>, impossible.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Count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125</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Violations </a:t>
                </a:r>
                <a:r>
                  <a:rPr lang="en-IN" sz="2400">
                    <a:solidFill>
                      <a:srgbClr val="111827"/>
                    </a:solidFill>
                    <a:latin typeface="Cambria Math" panose="02040503050406030204" pitchFamily="18" charset="0"/>
                  </a:rPr>
                  <a:t>$y_i\ge6$</a:t>
                </a:r>
                <a:r>
                  <a:rPr sz="2400" b="0">
                    <a:solidFill>
                      <a:srgbClr val="111827"/>
                    </a:solidFill>
                    <a:latin typeface="Arial"/>
                  </a:rPr>
                  <a:t>: set </a:t>
                </a:r>
                <a:r>
                  <a:rPr lang="en-IN" sz="2400">
                    <a:solidFill>
                      <a:srgbClr val="111827"/>
                    </a:solidFill>
                    <a:latin typeface="Cambria Math" panose="02040503050406030204" pitchFamily="18" charset="0"/>
                  </a:rPr>
                  <a:t>$y_i=6+z$</a:t>
                </a:r>
                <a:r>
                  <a:rPr sz="2400" b="0">
                    <a:solidFill>
                      <a:srgbClr val="111827"/>
                    </a:solidFill>
                    <a:latin typeface="Arial"/>
                  </a:rPr>
                  <a:t>, the rest sums to </a:t>
                </a:r>
                <a:r>
                  <a:rPr lang="en-IN" sz="2400">
                    <a:solidFill>
                      <a:srgbClr val="111827"/>
                    </a:solidFill>
                    <a:latin typeface="Cambria Math" panose="02040503050406030204" pitchFamily="18" charset="0"/>
                  </a:rPr>
                  <a:t>$2$</a:t>
                </a:r>
                <a:r>
                  <a:rPr sz="2400" b="0">
                    <a:solidFill>
                      <a:srgbClr val="111827"/>
                    </a:solidFill>
                    <a:latin typeface="Arial"/>
                  </a:rPr>
                  <a:t>: </a:t>
                </a:r>
                <a:r>
                  <a:rPr lang="en-IN" sz="2400">
                    <a:solidFill>
                      <a:srgbClr val="111827"/>
                    </a:solidFill>
                    <a:latin typeface="Cambria Math" panose="02040503050406030204" pitchFamily="18" charset="0"/>
                  </a:rPr>
                  <a:t>$^5C_3=10$</a:t>
                </a:r>
                <a:r>
                  <a:rPr sz="2400" b="0">
                    <a:solidFill>
                      <a:srgbClr val="111827"/>
                    </a:solidFill>
                    <a:latin typeface="Arial"/>
                  </a:rPr>
                  <a:t> for each of </a:t>
                </a:r>
                <a:r>
                  <a:rPr lang="en-IN" sz="2400">
                    <a:solidFill>
                      <a:srgbClr val="111827"/>
                    </a:solidFill>
                    <a:latin typeface="Cambria Math" panose="02040503050406030204" pitchFamily="18" charset="0"/>
                  </a:rPr>
                  <a:t>$4$</a:t>
                </a:r>
                <a:r>
                  <a:rPr sz="2400" b="0">
                    <a:solidFill>
                      <a:srgbClr val="111827"/>
                    </a:solidFill>
                    <a:latin typeface="Arial"/>
                  </a:rPr>
                  <a:t> variables, giving </a:t>
                </a:r>
                <a:r>
                  <a:rPr lang="en-IN" sz="2400">
                    <a:solidFill>
                      <a:srgbClr val="111827"/>
                    </a:solidFill>
                    <a:latin typeface="Cambria Math" panose="02040503050406030204" pitchFamily="18" charset="0"/>
                  </a:rPr>
                  <a:t>$40$</a:t>
                </a:r>
                <a:r>
                  <a:rPr sz="2400" b="0">
                    <a:solidFill>
                      <a:srgbClr val="111827"/>
                    </a:solidFill>
                    <a:latin typeface="Arial"/>
                  </a:rPr>
                  <a:t>; two violations need </a:t>
                </a:r>
                <a:r>
                  <a:rPr lang="en-IN" sz="2400">
                    <a:solidFill>
                      <a:srgbClr val="111827"/>
                    </a:solidFill>
                    <a:latin typeface="Cambria Math" panose="02040503050406030204" pitchFamily="18" charset="0"/>
                  </a:rPr>
                  <a:t>$\ge12&gt;8$</a:t>
                </a:r>
                <a:r>
                  <a:rPr sz="2400" b="0">
                    <a:solidFill>
                      <a:srgbClr val="111827"/>
                    </a:solidFill>
                    <a:latin typeface="Arial"/>
                  </a:rPr>
                  <a:t>, impossible.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Count </a:t>
                </a:r>
                <a:r>
                  <a:rPr lang="en-IN" sz="2400">
                    <a:solidFill>
                      <a:srgbClr val="111827"/>
                    </a:solidFill>
                    <a:latin typeface="Cambria Math" panose="02040503050406030204" pitchFamily="18" charset="0"/>
                  </a:rPr>
                  <a:t>$=165-40=125$</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125</a:t>
            </a:r>
            <a:endParaRPr sz="2800">
              <a:solidFill>
                <a:srgbClr val="15803D"/>
              </a:solidFill>
            </a:endParaRP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distribution of the sum of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dice is symmetric about </a:t>
                </a:r>
                <a14:m>
                  <m:oMath xmlns:m="http://schemas.openxmlformats.org/officeDocument/2006/math">
                    <m:r>
                      <a:rPr lang="en-IN" sz="2400" i="1">
                        <a:solidFill>
                          <a:srgbClr val="111827"/>
                        </a:solidFill>
                        <a:latin typeface="Cambria Math" panose="02040503050406030204" pitchFamily="18" charset="0"/>
                      </a:rPr>
                      <m:t>3.5</m:t>
                    </m:r>
                    <m:r>
                      <a:rPr lang="en-IN" sz="2400" i="1">
                        <a:solidFill>
                          <a:srgbClr val="111827"/>
                        </a:solidFill>
                        <a:latin typeface="Cambria Math" panose="02040503050406030204" pitchFamily="18" charset="0"/>
                      </a:rPr>
                      <m:t>𝑛</m:t>
                    </m:r>
                  </m:oMath>
                </a14:m>
                <a:r>
                  <a:rPr sz="2400" b="0">
                    <a:solidFill>
                      <a:srgbClr val="111827"/>
                    </a:solidFill>
                    <a:latin typeface="Arial"/>
                  </a:rPr>
                  <a:t>: sum </a:t>
                </a:r>
                <a14:m>
                  <m:oMath xmlns:m="http://schemas.openxmlformats.org/officeDocument/2006/math">
                    <m:r>
                      <a:rPr lang="en-IN" sz="2400" i="1">
                        <a:solidFill>
                          <a:srgbClr val="111827"/>
                        </a:solidFill>
                        <a:latin typeface="Cambria Math" panose="02040503050406030204" pitchFamily="18" charset="0"/>
                      </a:rPr>
                      <m:t>𝑠</m:t>
                    </m:r>
                  </m:oMath>
                </a14:m>
                <a:r>
                  <a:rPr sz="2400" b="0">
                    <a:solidFill>
                      <a:srgbClr val="111827"/>
                    </a:solidFill>
                    <a:latin typeface="Arial"/>
                  </a:rPr>
                  <a:t> and sum </a:t>
                </a:r>
                <a14:m>
                  <m:oMath xmlns:m="http://schemas.openxmlformats.org/officeDocument/2006/math">
                    <m:r>
                      <a:rPr lang="en-IN" sz="2400" i="1">
                        <a:solidFill>
                          <a:srgbClr val="111827"/>
                        </a:solidFill>
                        <a:latin typeface="Cambria Math" panose="02040503050406030204" pitchFamily="18" charset="0"/>
                      </a:rPr>
                      <m:t>7</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oMath>
                </a14:m>
                <a:r>
                  <a:rPr sz="2400" b="0">
                    <a:solidFill>
                      <a:srgbClr val="111827"/>
                    </a:solidFill>
                    <a:latin typeface="Arial"/>
                  </a:rPr>
                  <a:t> have equal counts. Use it to move to the smaller sum.</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Bounded stars and bars: </a:t>
                </a:r>
                <a14:m>
                  <m:oMath xmlns:m="http://schemas.openxmlformats.org/officeDocument/2006/math">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𝑗</m:t>
                        </m:r>
                      </m:sub>
                      <m:sup>
                        <m:r>
                          <a:rPr lang="en-IN" sz="2400" i="1">
                            <a:solidFill>
                              <a:srgbClr val="111827"/>
                            </a:solidFill>
                            <a:latin typeface="Cambria Math" panose="02040503050406030204" pitchFamily="18" charset="0"/>
                          </a:rPr>
                          <m:t>​</m:t>
                        </m:r>
                      </m:sup>
                      <m:e>
                        <m:r>
                          <m:rPr>
                            <m:sty m:val="p"/>
                          </m:rPr>
                          <a:rPr lang="en-IN" sz="2400">
                            <a:solidFill>
                              <a:srgbClr val="111827"/>
                            </a:solidFill>
                            <a:latin typeface="Cambria Math" panose="02040503050406030204" pitchFamily="18" charset="0"/>
                          </a:rPr>
                          <m:t>(</m:t>
                        </m:r>
                      </m:e>
                    </m:nary>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𝑗</m:t>
                        </m:r>
                      </m:sup>
                    </m:sSup>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𝑘</m:t>
                            </m:r>
                          </m:num>
                          <m:den>
                            <m:r>
                              <a:rPr lang="en-IN" sz="2400" i="1">
                                <a:solidFill>
                                  <a:srgbClr val="111827"/>
                                </a:solidFill>
                                <a:latin typeface="Cambria Math" panose="02040503050406030204" pitchFamily="18" charset="0"/>
                              </a:rPr>
                              <m:t>𝑗</m:t>
                            </m:r>
                          </m:den>
                        </m:f>
                      </m:e>
                    </m:d>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𝑗</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e>
                    </m:d>
                  </m:oMath>
                </a14:m>
                <a:r>
                  <a:rPr sz="2400" b="0">
                    <a:solidFill>
                      <a:srgbClr val="111827"/>
                    </a:solidFill>
                    <a:latin typeface="Arial"/>
                  </a:rPr>
                  <a:t> where each variable is capped below </a:t>
                </a:r>
                <a14:m>
                  <m:oMath xmlns:m="http://schemas.openxmlformats.org/officeDocument/2006/math">
                    <m:r>
                      <a:rPr lang="en-IN" sz="2400" i="1">
                        <a:solidFill>
                          <a:srgbClr val="111827"/>
                        </a:solidFill>
                        <a:latin typeface="Cambria Math" panose="02040503050406030204" pitchFamily="18" charset="0"/>
                      </a:rPr>
                      <m:t>𝑚</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Four-dice distribution (total </a:t>
                </a:r>
                <a14:m>
                  <m:oMath xmlns:m="http://schemas.openxmlformats.org/officeDocument/2006/math">
                    <m:r>
                      <a:rPr lang="en-IN" sz="2400" i="1">
                        <a:solidFill>
                          <a:srgbClr val="111827"/>
                        </a:solidFill>
                        <a:latin typeface="Cambria Math" panose="02040503050406030204" pitchFamily="18" charset="0"/>
                      </a:rPr>
                      <m:t>1296</m:t>
                    </m:r>
                  </m:oMath>
                </a14:m>
                <a:r>
                  <a:rPr sz="2400" b="0">
                    <a:solidFill>
                      <a:srgbClr val="111827"/>
                    </a:solidFill>
                    <a:latin typeface="Arial"/>
                  </a:rPr>
                  <a:t>): sums </a:t>
                </a:r>
                <a14:m>
                  <m:oMath xmlns:m="http://schemas.openxmlformats.org/officeDocument/2006/math">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oMath>
                </a14:m>
                <a:r>
                  <a:rPr sz="2400" b="0">
                    <a:solidFill>
                      <a:srgbClr val="111827"/>
                    </a:solidFill>
                    <a:latin typeface="Arial"/>
                  </a:rPr>
                  <a:t> have counts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sum </a:t>
                </a:r>
                <a14:m>
                  <m:oMath xmlns:m="http://schemas.openxmlformats.org/officeDocument/2006/math">
                    <m:r>
                      <a:rPr lang="en-IN" sz="2400" i="1">
                        <a:solidFill>
                          <a:srgbClr val="111827"/>
                        </a:solidFill>
                        <a:latin typeface="Cambria Math" panose="02040503050406030204" pitchFamily="18" charset="0"/>
                      </a:rPr>
                      <m:t>16</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125</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distribution of the sum of </a:t>
                </a:r>
                <a:r>
                  <a:rPr lang="en-IN" sz="2400">
                    <a:solidFill>
                      <a:srgbClr val="111827"/>
                    </a:solidFill>
                    <a:latin typeface="Cambria Math" panose="02040503050406030204" pitchFamily="18" charset="0"/>
                  </a:rPr>
                  <a:t>$n$</a:t>
                </a:r>
                <a:r>
                  <a:rPr sz="2400" b="0">
                    <a:solidFill>
                      <a:srgbClr val="111827"/>
                    </a:solidFill>
                    <a:latin typeface="Arial"/>
                  </a:rPr>
                  <a:t> dice is symmetric about </a:t>
                </a:r>
                <a:r>
                  <a:rPr lang="en-IN" sz="2400">
                    <a:solidFill>
                      <a:srgbClr val="111827"/>
                    </a:solidFill>
                    <a:latin typeface="Cambria Math" panose="02040503050406030204" pitchFamily="18" charset="0"/>
                  </a:rPr>
                  <a:t>$3.5n$</a:t>
                </a:r>
                <a:r>
                  <a:rPr sz="2400" b="0">
                    <a:solidFill>
                      <a:srgbClr val="111827"/>
                    </a:solidFill>
                    <a:latin typeface="Arial"/>
                  </a:rPr>
                  <a:t>: sum </a:t>
                </a:r>
                <a:r>
                  <a:rPr lang="en-IN" sz="2400">
                    <a:solidFill>
                      <a:srgbClr val="111827"/>
                    </a:solidFill>
                    <a:latin typeface="Cambria Math" panose="02040503050406030204" pitchFamily="18" charset="0"/>
                  </a:rPr>
                  <a:t>$s$</a:t>
                </a:r>
                <a:r>
                  <a:rPr sz="2400" b="0">
                    <a:solidFill>
                      <a:srgbClr val="111827"/>
                    </a:solidFill>
                    <a:latin typeface="Arial"/>
                  </a:rPr>
                  <a:t> and sum </a:t>
                </a:r>
                <a:r>
                  <a:rPr lang="en-IN" sz="2400">
                    <a:solidFill>
                      <a:srgbClr val="111827"/>
                    </a:solidFill>
                    <a:latin typeface="Cambria Math" panose="02040503050406030204" pitchFamily="18" charset="0"/>
                  </a:rPr>
                  <a:t>$7n-s$</a:t>
                </a:r>
                <a:r>
                  <a:rPr sz="2400" b="0">
                    <a:solidFill>
                      <a:srgbClr val="111827"/>
                    </a:solidFill>
                    <a:latin typeface="Arial"/>
                  </a:rPr>
                  <a:t> have equal counts. Use it to move to the smaller sum.</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Bounded stars and bars: </a:t>
                </a:r>
                <a:r>
                  <a:rPr lang="en-IN" sz="2400">
                    <a:solidFill>
                      <a:srgbClr val="111827"/>
                    </a:solidFill>
                    <a:latin typeface="Cambria Math" panose="02040503050406030204" pitchFamily="18" charset="0"/>
                  </a:rPr>
                  <a:t>$\sum_j(-1)^j\binom kj\binom{s-jm+k-1}{k-1}$</a:t>
                </a:r>
                <a:r>
                  <a:rPr sz="2400" b="0">
                    <a:solidFill>
                      <a:srgbClr val="111827"/>
                    </a:solidFill>
                    <a:latin typeface="Arial"/>
                  </a:rPr>
                  <a:t> where each variable is capped below </a:t>
                </a:r>
                <a:r>
                  <a:rPr lang="en-IN" sz="2400">
                    <a:solidFill>
                      <a:srgbClr val="111827"/>
                    </a:solidFill>
                    <a:latin typeface="Cambria Math" panose="02040503050406030204" pitchFamily="18" charset="0"/>
                  </a:rPr>
                  <a:t>$m$</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Four-dice distribution (total </a:t>
                </a:r>
                <a:r>
                  <a:rPr lang="en-IN" sz="2400">
                    <a:solidFill>
                      <a:srgbClr val="111827"/>
                    </a:solidFill>
                    <a:latin typeface="Cambria Math" panose="02040503050406030204" pitchFamily="18" charset="0"/>
                  </a:rPr>
                  <a:t>$1296$</a:t>
                </a:r>
                <a:r>
                  <a:rPr sz="2400" b="0">
                    <a:solidFill>
                      <a:srgbClr val="111827"/>
                    </a:solidFill>
                    <a:latin typeface="Arial"/>
                  </a:rPr>
                  <a:t>): sums </a:t>
                </a:r>
                <a:r>
                  <a:rPr lang="en-IN" sz="2400">
                    <a:solidFill>
                      <a:srgbClr val="111827"/>
                    </a:solidFill>
                    <a:latin typeface="Cambria Math" panose="02040503050406030204" pitchFamily="18" charset="0"/>
                  </a:rPr>
                  <a:t>$4..24$</a:t>
                </a:r>
                <a:r>
                  <a:rPr sz="2400" b="0">
                    <a:solidFill>
                      <a:srgbClr val="111827"/>
                    </a:solidFill>
                    <a:latin typeface="Arial"/>
                  </a:rPr>
                  <a:t> have counts </a:t>
                </a:r>
                <a:r>
                  <a:rPr lang="en-IN" sz="2400">
                    <a:solidFill>
                      <a:srgbClr val="111827"/>
                    </a:solidFill>
                    <a:latin typeface="Cambria Math" panose="02040503050406030204" pitchFamily="18" charset="0"/>
                  </a:rPr>
                  <a:t>$1,4,10,20,35,56,80,104,125,140,146,140,125,\dots$</a:t>
                </a:r>
                <a:r>
                  <a:rPr sz="2400" b="0">
                    <a:solidFill>
                      <a:srgbClr val="111827"/>
                    </a:solidFill>
                    <a:latin typeface="Arial"/>
                  </a:rPr>
                  <a:t>; sum </a:t>
                </a:r>
                <a:r>
                  <a:rPr lang="en-IN" sz="2400">
                    <a:solidFill>
                      <a:srgbClr val="111827"/>
                    </a:solidFill>
                    <a:latin typeface="Cambria Math" panose="02040503050406030204" pitchFamily="18" charset="0"/>
                  </a:rPr>
                  <a:t>$16$</a:t>
                </a:r>
                <a:r>
                  <a:rPr sz="2400" b="0">
                    <a:solidFill>
                      <a:srgbClr val="111827"/>
                    </a:solidFill>
                    <a:latin typeface="Arial"/>
                  </a:rPr>
                  <a:t> gives </a:t>
                </a:r>
                <a:r>
                  <a:rPr lang="en-IN" sz="2400">
                    <a:solidFill>
                      <a:srgbClr val="111827"/>
                    </a:solidFill>
                    <a:latin typeface="Cambria Math" panose="02040503050406030204" pitchFamily="18" charset="0"/>
                  </a:rPr>
                  <a:t>$125$</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number of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-digit numbers, formed using the digits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7</m:t>
                    </m:r>
                  </m:oMath>
                </a14:m>
                <a:r>
                  <a:rPr sz="2400" b="0">
                    <a:solidFill>
                      <a:srgbClr val="111827"/>
                    </a:solidFill>
                    <a:latin typeface="Arial"/>
                  </a:rPr>
                  <a:t>, when the repetition of digits is not allowed, and which are not divisible by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is equal to ____.</a:t>
                </a:r>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number of </a:t>
                </a:r>
                <a:r>
                  <a:rPr lang="en-IN" sz="2400">
                    <a:solidFill>
                      <a:srgbClr val="111827"/>
                    </a:solidFill>
                    <a:latin typeface="Cambria Math" panose="02040503050406030204" pitchFamily="18" charset="0"/>
                  </a:rPr>
                  <a:t>$3$</a:t>
                </a:r>
                <a:r>
                  <a:rPr sz="2400" b="0">
                    <a:solidFill>
                      <a:srgbClr val="111827"/>
                    </a:solidFill>
                    <a:latin typeface="Arial"/>
                  </a:rPr>
                  <a:t>-digit numbers, formed using the digits </a:t>
                </a:r>
                <a:r>
                  <a:rPr lang="en-IN" sz="2400">
                    <a:solidFill>
                      <a:srgbClr val="111827"/>
                    </a:solidFill>
                    <a:latin typeface="Cambria Math" panose="02040503050406030204" pitchFamily="18" charset="0"/>
                  </a:rPr>
                  <a:t>$2,3,4,5$</a:t>
                </a:r>
                <a:r>
                  <a:rPr sz="2400" b="0">
                    <a:solidFill>
                      <a:srgbClr val="111827"/>
                    </a:solidFill>
                    <a:latin typeface="Arial"/>
                  </a:rPr>
                  <a:t> and </a:t>
                </a:r>
                <a:r>
                  <a:rPr lang="en-IN" sz="2400">
                    <a:solidFill>
                      <a:srgbClr val="111827"/>
                    </a:solidFill>
                    <a:latin typeface="Cambria Math" panose="02040503050406030204" pitchFamily="18" charset="0"/>
                  </a:rPr>
                  <a:t>$7$</a:t>
                </a:r>
                <a:r>
                  <a:rPr sz="2400" b="0">
                    <a:solidFill>
                      <a:srgbClr val="111827"/>
                    </a:solidFill>
                    <a:latin typeface="Arial"/>
                  </a:rPr>
                  <a:t>, when the repetition of digits is not allowed, and which are not divisible by </a:t>
                </a:r>
                <a:r>
                  <a:rPr lang="en-IN" sz="2400">
                    <a:solidFill>
                      <a:srgbClr val="111827"/>
                    </a:solidFill>
                    <a:latin typeface="Cambria Math" panose="02040503050406030204" pitchFamily="18" charset="0"/>
                  </a:rPr>
                  <a:t>$3$</a:t>
                </a:r>
                <a:r>
                  <a:rPr sz="2400" b="0">
                    <a:solidFill>
                      <a:srgbClr val="111827"/>
                    </a:solidFill>
                    <a:latin typeface="Arial"/>
                  </a:rPr>
                  <a:t>, is equal to ____.</a:t>
                </a:r>
                <a:endParaRPr sz="2400">
                  <a:solidFill>
                    <a:srgbClr val="111827"/>
                  </a:solidFill>
                </a:endParaRPr>
              </a:p>
            </p:txBody>
          </p:sp>
        </mc:Fallback>
      </mc:AlternateContent>
      <p:sp>
        <p:nvSpPr>
          <p:cNvPr id="5" name="Rectangle 4"/>
          <p:cNvSpPr/>
          <p:nvPr/>
        </p:nvSpPr>
        <p:spPr>
          <a:xfrm>
            <a:off x="731520" y="324612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Forming numbers without repetition; divisibility by 3</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Count all numbers and subtract those whose digit sum is a multiple of 3.</a:t>
            </a:r>
            <a:endParaRPr sz="24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Digits available: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Triples of digits with sum divisible by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(sum </a:t>
                </a:r>
                <a14:m>
                  <m:oMath xmlns:m="http://schemas.openxmlformats.org/officeDocument/2006/math">
                    <m:r>
                      <a:rPr lang="en-IN" sz="2400" i="1">
                        <a:solidFill>
                          <a:srgbClr val="111827"/>
                        </a:solidFill>
                        <a:latin typeface="Cambria Math" panose="02040503050406030204" pitchFamily="18" charset="0"/>
                      </a:rPr>
                      <m:t>9</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(sum </a:t>
                </a:r>
                <a14:m>
                  <m:oMath xmlns:m="http://schemas.openxmlformats.org/officeDocument/2006/math">
                    <m:r>
                      <a:rPr lang="en-IN" sz="2400" i="1">
                        <a:solidFill>
                          <a:srgbClr val="111827"/>
                        </a:solidFill>
                        <a:latin typeface="Cambria Math" panose="02040503050406030204" pitchFamily="18" charset="0"/>
                      </a:rPr>
                      <m:t>12</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(sum </a:t>
                </a:r>
                <a14:m>
                  <m:oMath xmlns:m="http://schemas.openxmlformats.org/officeDocument/2006/math">
                    <m:r>
                      <a:rPr lang="en-IN" sz="2400" i="1">
                        <a:solidFill>
                          <a:srgbClr val="111827"/>
                        </a:solidFill>
                        <a:latin typeface="Cambria Math" panose="02040503050406030204" pitchFamily="18" charset="0"/>
                      </a:rPr>
                      <m:t>12</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(sum </a:t>
                </a:r>
                <a14:m>
                  <m:oMath xmlns:m="http://schemas.openxmlformats.org/officeDocument/2006/math">
                    <m:r>
                      <a:rPr lang="en-IN" sz="2400" i="1">
                        <a:solidFill>
                          <a:srgbClr val="111827"/>
                        </a:solidFill>
                        <a:latin typeface="Cambria Math" panose="02040503050406030204" pitchFamily="18" charset="0"/>
                      </a:rPr>
                      <m:t>15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Each triple makes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numbers, so numbers divisible by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Digits available: </a:t>
                </a:r>
                <a:r>
                  <a:rPr lang="en-IN" sz="2400">
                    <a:solidFill>
                      <a:srgbClr val="111827"/>
                    </a:solidFill>
                    <a:latin typeface="Cambria Math" panose="02040503050406030204" pitchFamily="18" charset="0"/>
                  </a:rPr>
                  <a:t>$2,3,4,5,7$</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Triples of digits with sum divisible by </a:t>
                </a:r>
                <a:r>
                  <a:rPr lang="en-IN" sz="2400">
                    <a:solidFill>
                      <a:srgbClr val="111827"/>
                    </a:solidFill>
                    <a:latin typeface="Cambria Math" panose="02040503050406030204" pitchFamily="18" charset="0"/>
                  </a:rPr>
                  <a:t>$3$</a:t>
                </a:r>
                <a:r>
                  <a:rPr sz="2400" b="0">
                    <a:solidFill>
                      <a:srgbClr val="111827"/>
                    </a:solidFill>
                    <a:latin typeface="Arial"/>
                  </a:rPr>
                  <a:t>: </a:t>
                </a:r>
                <a:r>
                  <a:rPr lang="en-IN" sz="2400">
                    <a:solidFill>
                      <a:srgbClr val="111827"/>
                    </a:solidFill>
                    <a:latin typeface="Cambria Math" panose="02040503050406030204" pitchFamily="18" charset="0"/>
                  </a:rPr>
                  <a:t>$\{2,3,4\}$</a:t>
                </a:r>
                <a:r>
                  <a:rPr sz="2400" b="0">
                    <a:solidFill>
                      <a:srgbClr val="111827"/>
                    </a:solidFill>
                    <a:latin typeface="Arial"/>
                  </a:rPr>
                  <a:t> (sum </a:t>
                </a:r>
                <a:r>
                  <a:rPr lang="en-IN" sz="2400">
                    <a:solidFill>
                      <a:srgbClr val="111827"/>
                    </a:solidFill>
                    <a:latin typeface="Cambria Math" panose="02040503050406030204" pitchFamily="18" charset="0"/>
                  </a:rPr>
                  <a:t>$9$</a:t>
                </a:r>
                <a:r>
                  <a:rPr sz="2400" b="0">
                    <a:solidFill>
                      <a:srgbClr val="111827"/>
                    </a:solidFill>
                    <a:latin typeface="Arial"/>
                  </a:rPr>
                  <a:t>), </a:t>
                </a:r>
                <a:r>
                  <a:rPr lang="en-IN" sz="2400">
                    <a:solidFill>
                      <a:srgbClr val="111827"/>
                    </a:solidFill>
                    <a:latin typeface="Cambria Math" panose="02040503050406030204" pitchFamily="18" charset="0"/>
                  </a:rPr>
                  <a:t>$\{2,3,7\}$</a:t>
                </a:r>
                <a:r>
                  <a:rPr sz="2400" b="0">
                    <a:solidFill>
                      <a:srgbClr val="111827"/>
                    </a:solidFill>
                    <a:latin typeface="Arial"/>
                  </a:rPr>
                  <a:t> (sum </a:t>
                </a:r>
                <a:r>
                  <a:rPr lang="en-IN" sz="2400">
                    <a:solidFill>
                      <a:srgbClr val="111827"/>
                    </a:solidFill>
                    <a:latin typeface="Cambria Math" panose="02040503050406030204" pitchFamily="18" charset="0"/>
                  </a:rPr>
                  <a:t>$12$</a:t>
                </a:r>
                <a:r>
                  <a:rPr sz="2400" b="0">
                    <a:solidFill>
                      <a:srgbClr val="111827"/>
                    </a:solidFill>
                    <a:latin typeface="Arial"/>
                  </a:rPr>
                  <a:t>), </a:t>
                </a:r>
                <a:r>
                  <a:rPr lang="en-IN" sz="2400">
                    <a:solidFill>
                      <a:srgbClr val="111827"/>
                    </a:solidFill>
                    <a:latin typeface="Cambria Math" panose="02040503050406030204" pitchFamily="18" charset="0"/>
                  </a:rPr>
                  <a:t>$\{3,4,5\}$</a:t>
                </a:r>
                <a:r>
                  <a:rPr sz="2400" b="0">
                    <a:solidFill>
                      <a:srgbClr val="111827"/>
                    </a:solidFill>
                    <a:latin typeface="Arial"/>
                  </a:rPr>
                  <a:t> (sum </a:t>
                </a:r>
                <a:r>
                  <a:rPr lang="en-IN" sz="2400">
                    <a:solidFill>
                      <a:srgbClr val="111827"/>
                    </a:solidFill>
                    <a:latin typeface="Cambria Math" panose="02040503050406030204" pitchFamily="18" charset="0"/>
                  </a:rPr>
                  <a:t>$12$</a:t>
                </a:r>
                <a:r>
                  <a:rPr sz="2400" b="0">
                    <a:solidFill>
                      <a:srgbClr val="111827"/>
                    </a:solidFill>
                    <a:latin typeface="Arial"/>
                  </a:rPr>
                  <a:t>), </a:t>
                </a:r>
                <a:r>
                  <a:rPr lang="en-IN" sz="2400">
                    <a:solidFill>
                      <a:srgbClr val="111827"/>
                    </a:solidFill>
                    <a:latin typeface="Cambria Math" panose="02040503050406030204" pitchFamily="18" charset="0"/>
                  </a:rPr>
                  <a:t>$\{3,5,7\}$</a:t>
                </a:r>
                <a:r>
                  <a:rPr sz="2400" b="0">
                    <a:solidFill>
                      <a:srgbClr val="111827"/>
                    </a:solidFill>
                    <a:latin typeface="Arial"/>
                  </a:rPr>
                  <a:t> (sum </a:t>
                </a:r>
                <a:r>
                  <a:rPr lang="en-IN" sz="2400">
                    <a:solidFill>
                      <a:srgbClr val="111827"/>
                    </a:solidFill>
                    <a:latin typeface="Cambria Math" panose="02040503050406030204" pitchFamily="18" charset="0"/>
                  </a:rPr>
                  <a:t>$15$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Each triple makes </a:t>
                </a:r>
                <a:r>
                  <a:rPr lang="en-IN" sz="2400">
                    <a:solidFill>
                      <a:srgbClr val="111827"/>
                    </a:solidFill>
                    <a:latin typeface="Cambria Math" panose="02040503050406030204" pitchFamily="18" charset="0"/>
                  </a:rPr>
                  <a:t>$3!=6$</a:t>
                </a:r>
                <a:r>
                  <a:rPr sz="2400" b="0">
                    <a:solidFill>
                      <a:srgbClr val="111827"/>
                    </a:solidFill>
                    <a:latin typeface="Arial"/>
                  </a:rPr>
                  <a:t> numbers, so numbers divisible by </a:t>
                </a:r>
                <a:r>
                  <a:rPr lang="en-IN" sz="2400">
                    <a:solidFill>
                      <a:srgbClr val="111827"/>
                    </a:solidFill>
                    <a:latin typeface="Cambria Math" panose="02040503050406030204" pitchFamily="18" charset="0"/>
                  </a:rPr>
                  <a:t>$3$</a:t>
                </a:r>
                <a:r>
                  <a:rPr sz="2400" b="0">
                    <a:solidFill>
                      <a:srgbClr val="111827"/>
                    </a:solidFill>
                    <a:latin typeface="Arial"/>
                  </a:rPr>
                  <a:t> </a:t>
                </a:r>
                <a:r>
                  <a:rPr lang="en-IN" sz="2400">
                    <a:solidFill>
                      <a:srgbClr val="111827"/>
                    </a:solidFill>
                    <a:latin typeface="Cambria Math" panose="02040503050406030204" pitchFamily="18" charset="0"/>
                  </a:rPr>
                  <a:t>$=6\times4=24$</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All three-digit numbers with distinct digits from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digits: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5</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Not divisible by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All three-digit numbers with distinct digits from </a:t>
                </a:r>
                <a:r>
                  <a:rPr lang="en-IN" sz="2400">
                    <a:solidFill>
                      <a:srgbClr val="111827"/>
                    </a:solidFill>
                    <a:latin typeface="Cambria Math" panose="02040503050406030204" pitchFamily="18" charset="0"/>
                  </a:rPr>
                  <a:t>$5$</a:t>
                </a:r>
                <a:r>
                  <a:rPr sz="2400" b="0">
                    <a:solidFill>
                      <a:srgbClr val="111827"/>
                    </a:solidFill>
                    <a:latin typeface="Arial"/>
                  </a:rPr>
                  <a:t> digits: </a:t>
                </a:r>
                <a:r>
                  <a:rPr lang="en-IN" sz="2400">
                    <a:solidFill>
                      <a:srgbClr val="111827"/>
                    </a:solidFill>
                    <a:latin typeface="Cambria Math" panose="02040503050406030204" pitchFamily="18" charset="0"/>
                  </a:rPr>
                  <a:t>$^5C_3\cdot3!=10\times6=60$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Not divisible by </a:t>
                </a:r>
                <a:r>
                  <a:rPr lang="en-IN" sz="2400">
                    <a:solidFill>
                      <a:srgbClr val="111827"/>
                    </a:solidFill>
                    <a:latin typeface="Cambria Math" panose="02040503050406030204" pitchFamily="18" charset="0"/>
                  </a:rPr>
                  <a:t>$3=60-24=36$</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36</a:t>
            </a:r>
            <a:endParaRPr sz="2800">
              <a:solidFill>
                <a:srgbClr val="15803D"/>
              </a:solidFill>
            </a:endParaRP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Classify digits by residue mod 3 and count the non-zero-sum residue patterns directly.</a:t>
            </a:r>
            <a:endParaRPr sz="2400">
              <a:solidFill>
                <a:srgbClr val="78350F"/>
              </a:solidFill>
            </a:endParaRPr>
          </a:p>
        </p:txBody>
      </p:sp>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Residues mod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-subset has sum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only if its residues are all different (all equal is impossible: no class has three digits).</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Residues mod </a:t>
                </a:r>
                <a:r>
                  <a:rPr lang="en-IN" sz="2400">
                    <a:solidFill>
                      <a:srgbClr val="111827"/>
                    </a:solidFill>
                    <a:latin typeface="Cambria Math" panose="02040503050406030204" pitchFamily="18" charset="0"/>
                  </a:rPr>
                  <a:t>$3$</a:t>
                </a:r>
                <a:r>
                  <a:rPr sz="2400" b="0">
                    <a:solidFill>
                      <a:srgbClr val="111827"/>
                    </a:solidFill>
                    <a:latin typeface="Arial"/>
                  </a:rPr>
                  <a:t>: </a:t>
                </a:r>
                <a:r>
                  <a:rPr lang="en-IN" sz="2400">
                    <a:solidFill>
                      <a:srgbClr val="111827"/>
                    </a:solidFill>
                    <a:latin typeface="Cambria Math" panose="02040503050406030204" pitchFamily="18" charset="0"/>
                  </a:rPr>
                  <a:t>$\{3\}\to0$</a:t>
                </a:r>
                <a:r>
                  <a:rPr sz="2400" b="0">
                    <a:solidFill>
                      <a:srgbClr val="111827"/>
                    </a:solidFill>
                    <a:latin typeface="Arial"/>
                  </a:rPr>
                  <a:t>, </a:t>
                </a:r>
                <a:r>
                  <a:rPr lang="en-IN" sz="2400">
                    <a:solidFill>
                      <a:srgbClr val="111827"/>
                    </a:solidFill>
                    <a:latin typeface="Cambria Math" panose="02040503050406030204" pitchFamily="18" charset="0"/>
                  </a:rPr>
                  <a:t>$\{4,7\}\to1$</a:t>
                </a:r>
                <a:r>
                  <a:rPr sz="2400" b="0">
                    <a:solidFill>
                      <a:srgbClr val="111827"/>
                    </a:solidFill>
                    <a:latin typeface="Arial"/>
                  </a:rPr>
                  <a:t>, </a:t>
                </a:r>
                <a:r>
                  <a:rPr lang="en-IN" sz="2400">
                    <a:solidFill>
                      <a:srgbClr val="111827"/>
                    </a:solidFill>
                    <a:latin typeface="Cambria Math" panose="02040503050406030204" pitchFamily="18" charset="0"/>
                  </a:rPr>
                  <a:t>$\{2,5\}\to2$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$3$</a:t>
                </a:r>
                <a:r>
                  <a:rPr sz="2400" b="0">
                    <a:solidFill>
                      <a:srgbClr val="111827"/>
                    </a:solidFill>
                    <a:latin typeface="Arial"/>
                  </a:rPr>
                  <a:t>-subset has sum </a:t>
                </a:r>
                <a:r>
                  <a:rPr lang="en-IN" sz="2400">
                    <a:solidFill>
                      <a:srgbClr val="111827"/>
                    </a:solidFill>
                    <a:latin typeface="Cambria Math" panose="02040503050406030204" pitchFamily="18" charset="0"/>
                  </a:rPr>
                  <a:t>$\equiv0$</a:t>
                </a:r>
                <a:r>
                  <a:rPr sz="2400" b="0">
                    <a:solidFill>
                      <a:srgbClr val="111827"/>
                    </a:solidFill>
                    <a:latin typeface="Arial"/>
                  </a:rPr>
                  <a:t> only if its residues are all different (all equal is impossible: no class has three digits).</a:t>
                </a:r>
                <a:endParaRPr sz="2400">
                  <a:solidFill>
                    <a:srgbClr val="111827"/>
                  </a:solidFill>
                </a:endParaRPr>
              </a:p>
            </p:txBody>
          </p:sp>
        </mc:Fallback>
      </mc:AlternateContent>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Non-zero residue sum patterns: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subset;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impossible, one digit of residue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Good subsets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and each gives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numbers: </a:t>
                </a:r>
                <a14:m>
                  <m:oMath xmlns:m="http://schemas.openxmlformats.org/officeDocument/2006/math">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Non-zero residue sum patterns: </a:t>
                </a:r>
                <a:r>
                  <a:rPr lang="en-IN" sz="2400">
                    <a:solidFill>
                      <a:srgbClr val="111827"/>
                    </a:solidFill>
                    <a:latin typeface="Cambria Math" panose="02040503050406030204" pitchFamily="18" charset="0"/>
                  </a:rPr>
                  <a:t>$\{0,1,1\}$</a:t>
                </a:r>
                <a:r>
                  <a:rPr sz="2400" b="0">
                    <a:solidFill>
                      <a:srgbClr val="111827"/>
                    </a:solidFill>
                    <a:latin typeface="Arial"/>
                  </a:rPr>
                  <a:t>: </a:t>
                </a:r>
                <a:r>
                  <a:rPr lang="en-IN" sz="2400">
                    <a:solidFill>
                      <a:srgbClr val="111827"/>
                    </a:solidFill>
                    <a:latin typeface="Cambria Math" panose="02040503050406030204" pitchFamily="18" charset="0"/>
                  </a:rPr>
                  <a:t>$1\cdot1=1$</a:t>
                </a:r>
                <a:r>
                  <a:rPr sz="2400" b="0">
                    <a:solidFill>
                      <a:srgbClr val="111827"/>
                    </a:solidFill>
                    <a:latin typeface="Arial"/>
                  </a:rPr>
                  <a:t> subset; </a:t>
                </a:r>
                <a:r>
                  <a:rPr lang="en-IN" sz="2400">
                    <a:solidFill>
                      <a:srgbClr val="111827"/>
                    </a:solidFill>
                    <a:latin typeface="Cambria Math" panose="02040503050406030204" pitchFamily="18" charset="0"/>
                  </a:rPr>
                  <a:t>$\{0,2,2\}$</a:t>
                </a:r>
                <a:r>
                  <a:rPr sz="2400" b="0">
                    <a:solidFill>
                      <a:srgbClr val="111827"/>
                    </a:solidFill>
                    <a:latin typeface="Arial"/>
                  </a:rPr>
                  <a:t>: </a:t>
                </a:r>
                <a:r>
                  <a:rPr lang="en-IN" sz="2400">
                    <a:solidFill>
                      <a:srgbClr val="111827"/>
                    </a:solidFill>
                    <a:latin typeface="Cambria Math" panose="02040503050406030204" pitchFamily="18" charset="0"/>
                  </a:rPr>
                  <a:t>$1$</a:t>
                </a:r>
                <a:r>
                  <a:rPr sz="2400" b="0">
                    <a:solidFill>
                      <a:srgbClr val="111827"/>
                    </a:solidFill>
                    <a:latin typeface="Arial"/>
                  </a:rPr>
                  <a:t>; </a:t>
                </a:r>
                <a:r>
                  <a:rPr lang="en-IN" sz="2400">
                    <a:solidFill>
                      <a:srgbClr val="111827"/>
                    </a:solidFill>
                    <a:latin typeface="Cambria Math" panose="02040503050406030204" pitchFamily="18" charset="0"/>
                  </a:rPr>
                  <a:t>$\{1,1,2\}$</a:t>
                </a:r>
                <a:r>
                  <a:rPr sz="2400" b="0">
                    <a:solidFill>
                      <a:srgbClr val="111827"/>
                    </a:solidFill>
                    <a:latin typeface="Arial"/>
                  </a:rPr>
                  <a:t>: </a:t>
                </a:r>
                <a:r>
                  <a:rPr lang="en-IN" sz="2400">
                    <a:solidFill>
                      <a:srgbClr val="111827"/>
                    </a:solidFill>
                    <a:latin typeface="Cambria Math" panose="02040503050406030204" pitchFamily="18" charset="0"/>
                  </a:rPr>
                  <a:t>$1\cdot2=2$</a:t>
                </a:r>
                <a:r>
                  <a:rPr sz="2400" b="0">
                    <a:solidFill>
                      <a:srgbClr val="111827"/>
                    </a:solidFill>
                    <a:latin typeface="Arial"/>
                  </a:rPr>
                  <a:t>; </a:t>
                </a:r>
                <a:r>
                  <a:rPr lang="en-IN" sz="2400">
                    <a:solidFill>
                      <a:srgbClr val="111827"/>
                    </a:solidFill>
                    <a:latin typeface="Cambria Math" panose="02040503050406030204" pitchFamily="18" charset="0"/>
                  </a:rPr>
                  <a:t>$\{1,2,2\}$</a:t>
                </a:r>
                <a:r>
                  <a:rPr sz="2400" b="0">
                    <a:solidFill>
                      <a:srgbClr val="111827"/>
                    </a:solidFill>
                    <a:latin typeface="Arial"/>
                  </a:rPr>
                  <a:t>: </a:t>
                </a:r>
                <a:r>
                  <a:rPr lang="en-IN" sz="2400">
                    <a:solidFill>
                      <a:srgbClr val="111827"/>
                    </a:solidFill>
                    <a:latin typeface="Cambria Math" panose="02040503050406030204" pitchFamily="18" charset="0"/>
                  </a:rPr>
                  <a:t>$2\cdot1=2$</a:t>
                </a:r>
                <a:r>
                  <a:rPr sz="2400" b="0">
                    <a:solidFill>
                      <a:srgbClr val="111827"/>
                    </a:solidFill>
                    <a:latin typeface="Arial"/>
                  </a:rPr>
                  <a:t> (</a:t>
                </a:r>
                <a:r>
                  <a:rPr lang="en-IN" sz="2400">
                    <a:solidFill>
                      <a:srgbClr val="111827"/>
                    </a:solidFill>
                    <a:latin typeface="Cambria Math" panose="02040503050406030204" pitchFamily="18" charset="0"/>
                  </a:rPr>
                  <a:t>$\{0,0,x\}$</a:t>
                </a:r>
                <a:r>
                  <a:rPr sz="2400" b="0">
                    <a:solidFill>
                      <a:srgbClr val="111827"/>
                    </a:solidFill>
                    <a:latin typeface="Arial"/>
                  </a:rPr>
                  <a:t> impossible, one digit of residue </a:t>
                </a:r>
                <a:r>
                  <a:rPr lang="en-IN" sz="2400">
                    <a:solidFill>
                      <a:srgbClr val="111827"/>
                    </a:solidFill>
                    <a:latin typeface="Cambria Math" panose="02040503050406030204" pitchFamily="18" charset="0"/>
                  </a:rPr>
                  <a:t>$0$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Good subsets </a:t>
                </a:r>
                <a:r>
                  <a:rPr lang="en-IN" sz="2400">
                    <a:solidFill>
                      <a:srgbClr val="111827"/>
                    </a:solidFill>
                    <a:latin typeface="Cambria Math" panose="02040503050406030204" pitchFamily="18" charset="0"/>
                  </a:rPr>
                  <a:t>$=1+1+2+2=6$</a:t>
                </a:r>
                <a:r>
                  <a:rPr sz="2400" b="0">
                    <a:solidFill>
                      <a:srgbClr val="111827"/>
                    </a:solidFill>
                    <a:latin typeface="Arial"/>
                  </a:rPr>
                  <a:t> and each gives </a:t>
                </a:r>
                <a:r>
                  <a:rPr lang="en-IN" sz="2400">
                    <a:solidFill>
                      <a:srgbClr val="111827"/>
                    </a:solidFill>
                    <a:latin typeface="Cambria Math" panose="02040503050406030204" pitchFamily="18" charset="0"/>
                  </a:rPr>
                  <a:t>$3!=6$</a:t>
                </a:r>
                <a:r>
                  <a:rPr sz="2400" b="0">
                    <a:solidFill>
                      <a:srgbClr val="111827"/>
                    </a:solidFill>
                    <a:latin typeface="Arial"/>
                  </a:rPr>
                  <a:t> numbers: </a:t>
                </a:r>
                <a:r>
                  <a:rPr lang="en-IN" sz="2400">
                    <a:solidFill>
                      <a:srgbClr val="111827"/>
                    </a:solidFill>
                    <a:latin typeface="Cambria Math" panose="02040503050406030204" pitchFamily="18" charset="0"/>
                  </a:rPr>
                  <a:t>$6\times6=36$</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36</a:t>
            </a:r>
            <a:endParaRPr sz="2800">
              <a:solidFill>
                <a:srgbClr val="15803D"/>
              </a:solidFill>
            </a:endParaRP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'not divisible by 3' either subtract the multiples from the total or count residue patterns directly; here classes of size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3-subset has sum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iff the three residues are all equal or all different.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Digits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 4 multiples-of-3 subsets are those taking one digit from each residue class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'not divisible by 3' either subtract the multiples from the total or count residue patterns directly; here classes of size </a:t>
                </a:r>
                <a:r>
                  <a:rPr lang="en-IN" sz="2400">
                    <a:solidFill>
                      <a:srgbClr val="111827"/>
                    </a:solidFill>
                    <a:latin typeface="Cambria Math" panose="02040503050406030204" pitchFamily="18" charset="0"/>
                  </a:rPr>
                  <a:t>$1,2,2$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3-subset has sum </a:t>
                </a:r>
                <a:r>
                  <a:rPr lang="en-IN" sz="2400">
                    <a:solidFill>
                      <a:srgbClr val="111827"/>
                    </a:solidFill>
                    <a:latin typeface="Cambria Math" panose="02040503050406030204" pitchFamily="18" charset="0"/>
                  </a:rPr>
                  <a:t>$\equiv0\pmod3$</a:t>
                </a:r>
                <a:r>
                  <a:rPr sz="2400" b="0">
                    <a:solidFill>
                      <a:srgbClr val="111827"/>
                    </a:solidFill>
                    <a:latin typeface="Arial"/>
                  </a:rPr>
                  <a:t> iff the three residues are all equal or all different.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Digits </a:t>
                </a:r>
                <a:r>
                  <a:rPr lang="en-IN" sz="2400">
                    <a:solidFill>
                      <a:srgbClr val="111827"/>
                    </a:solidFill>
                    <a:latin typeface="Cambria Math" panose="02040503050406030204" pitchFamily="18" charset="0"/>
                  </a:rPr>
                  <a:t>$\{2,3,4,5,7\}$</a:t>
                </a:r>
                <a:r>
                  <a:rPr sz="2400" b="0">
                    <a:solidFill>
                      <a:srgbClr val="111827"/>
                    </a:solidFill>
                    <a:latin typeface="Arial"/>
                  </a:rPr>
                  <a:t>: the 4 multiples-of-3 subsets are those taking one digit from each residue class </a:t>
                </a:r>
                <a:r>
                  <a:rPr lang="en-IN" sz="2400">
                    <a:solidFill>
                      <a:srgbClr val="111827"/>
                    </a:solidFill>
                    <a:latin typeface="Cambria Math" panose="02040503050406030204" pitchFamily="18" charset="0"/>
                  </a:rPr>
                  <a:t>$(1)(2)(2)$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All the letters of the word "GTWENTY" are written in all possible ways with or without meaning and these words are written as in a dictionary. The serial number of the word "GTWENTY" is ____.</a:t>
            </a:r>
            <a:endParaRPr sz="2400">
              <a:solidFill>
                <a:srgbClr val="111827"/>
              </a:solidFill>
            </a:endParaRPr>
          </a:p>
        </p:txBody>
      </p:sp>
      <p:sp>
        <p:nvSpPr>
          <p:cNvPr id="5" name="Rectangle 4"/>
          <p:cNvSpPr/>
          <p:nvPr/>
        </p:nvSpPr>
        <p:spPr>
          <a:xfrm>
            <a:off x="731520" y="324612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Rank of a word in dictionary order (words with repeated letters)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Count the words that come before it letter by letter, using the alphabetical order </a:t>
                </a:r>
                <a14:m>
                  <m:oMath xmlns:m="http://schemas.openxmlformats.org/officeDocument/2006/math">
                    <m:r>
                      <a:rPr lang="en-IN" sz="2400" i="1">
                        <a:solidFill>
                          <a:srgbClr val="78350F"/>
                        </a:solidFill>
                        <a:latin typeface="Cambria Math" panose="02040503050406030204" pitchFamily="18" charset="0"/>
                      </a:rPr>
                      <m:t>𝐸</m:t>
                    </m:r>
                    <m:r>
                      <m:rPr>
                        <m:sty m:val="p"/>
                      </m:rPr>
                      <a:rPr lang="en-IN" sz="2400">
                        <a:solidFill>
                          <a:srgbClr val="78350F"/>
                        </a:solidFill>
                        <a:latin typeface="Cambria Math" panose="02040503050406030204" pitchFamily="18" charset="0"/>
                      </a:rPr>
                      <m:t>&lt;</m:t>
                    </m:r>
                    <m:r>
                      <a:rPr lang="en-IN" sz="2400" i="1">
                        <a:solidFill>
                          <a:srgbClr val="78350F"/>
                        </a:solidFill>
                        <a:latin typeface="Cambria Math" panose="02040503050406030204" pitchFamily="18" charset="0"/>
                      </a:rPr>
                      <m:t>𝐺</m:t>
                    </m:r>
                    <m:r>
                      <m:rPr>
                        <m:sty m:val="p"/>
                      </m:rPr>
                      <a:rPr lang="en-IN" sz="2400">
                        <a:solidFill>
                          <a:srgbClr val="78350F"/>
                        </a:solidFill>
                        <a:latin typeface="Cambria Math" panose="02040503050406030204" pitchFamily="18" charset="0"/>
                      </a:rPr>
                      <m:t>&lt;</m:t>
                    </m:r>
                    <m:r>
                      <a:rPr lang="en-IN" sz="2400" i="1">
                        <a:solidFill>
                          <a:srgbClr val="78350F"/>
                        </a:solidFill>
                        <a:latin typeface="Cambria Math" panose="02040503050406030204" pitchFamily="18" charset="0"/>
                      </a:rPr>
                      <m:t>𝑁</m:t>
                    </m:r>
                    <m:r>
                      <m:rPr>
                        <m:sty m:val="p"/>
                      </m:rPr>
                      <a:rPr lang="en-IN" sz="2400">
                        <a:solidFill>
                          <a:srgbClr val="78350F"/>
                        </a:solidFill>
                        <a:latin typeface="Cambria Math" panose="02040503050406030204" pitchFamily="18" charset="0"/>
                      </a:rPr>
                      <m:t>&lt;</m:t>
                    </m:r>
                    <m:r>
                      <a:rPr lang="en-IN" sz="2400" i="1">
                        <a:solidFill>
                          <a:srgbClr val="78350F"/>
                        </a:solidFill>
                        <a:latin typeface="Cambria Math" panose="02040503050406030204" pitchFamily="18" charset="0"/>
                      </a:rPr>
                      <m:t>𝑇</m:t>
                    </m:r>
                    <m:r>
                      <m:rPr>
                        <m:sty m:val="p"/>
                      </m:rPr>
                      <a:rPr lang="en-IN" sz="2400">
                        <a:solidFill>
                          <a:srgbClr val="78350F"/>
                        </a:solidFill>
                        <a:latin typeface="Cambria Math" panose="02040503050406030204" pitchFamily="18" charset="0"/>
                      </a:rPr>
                      <m:t>&lt;</m:t>
                    </m:r>
                    <m:r>
                      <a:rPr lang="en-IN" sz="2400" i="1">
                        <a:solidFill>
                          <a:srgbClr val="78350F"/>
                        </a:solidFill>
                        <a:latin typeface="Cambria Math" panose="02040503050406030204" pitchFamily="18" charset="0"/>
                      </a:rPr>
                      <m:t>𝑇</m:t>
                    </m:r>
                    <m:r>
                      <m:rPr>
                        <m:sty m:val="p"/>
                      </m:rPr>
                      <a:rPr lang="en-IN" sz="2400">
                        <a:solidFill>
                          <a:srgbClr val="78350F"/>
                        </a:solidFill>
                        <a:latin typeface="Cambria Math" panose="02040503050406030204" pitchFamily="18" charset="0"/>
                      </a:rPr>
                      <m:t>&lt;</m:t>
                    </m:r>
                    <m:r>
                      <a:rPr lang="en-IN" sz="2400" i="1">
                        <a:solidFill>
                          <a:srgbClr val="78350F"/>
                        </a:solidFill>
                        <a:latin typeface="Cambria Math" panose="02040503050406030204" pitchFamily="18" charset="0"/>
                      </a:rPr>
                      <m:t>𝑊</m:t>
                    </m:r>
                    <m:r>
                      <m:rPr>
                        <m:sty m:val="p"/>
                      </m:rPr>
                      <a:rPr lang="en-IN" sz="2400">
                        <a:solidFill>
                          <a:srgbClr val="78350F"/>
                        </a:solidFill>
                        <a:latin typeface="Cambria Math" panose="02040503050406030204" pitchFamily="18" charset="0"/>
                      </a:rPr>
                      <m:t>&lt;</m:t>
                    </m:r>
                    <m:r>
                      <a:rPr lang="en-IN" sz="2400" i="1">
                        <a:solidFill>
                          <a:srgbClr val="78350F"/>
                        </a:solidFill>
                        <a:latin typeface="Cambria Math" panose="02040503050406030204" pitchFamily="18" charset="0"/>
                      </a:rPr>
                      <m:t>𝑌</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Count the words that come before it letter by letter, using the alphabetical order </a:t>
                </a:r>
                <a:r>
                  <a:rPr lang="en-IN" sz="2400">
                    <a:solidFill>
                      <a:srgbClr val="78350F"/>
                    </a:solidFill>
                    <a:latin typeface="Cambria Math" panose="02040503050406030204" pitchFamily="18" charset="0"/>
                  </a:rPr>
                  <a:t>$E&lt;G&lt;N&lt;T&lt;T&lt;W&lt;Y$</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Letters in alphabetical order: </a:t>
                </a:r>
                <a14:m>
                  <m:oMath xmlns:m="http://schemas.openxmlformats.org/officeDocument/2006/math">
                    <m:r>
                      <a:rPr lang="en-IN" sz="2400" i="1">
                        <a:solidFill>
                          <a:srgbClr val="111827"/>
                        </a:solidFill>
                        <a:latin typeface="Cambria Math" panose="02040503050406030204" pitchFamily="18" charset="0"/>
                      </a:rPr>
                      <m:t>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𝐺</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𝑇</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𝑇</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𝑊</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𝑌</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𝑇</m:t>
                    </m:r>
                  </m:oMath>
                </a14:m>
                <a:r>
                  <a:rPr sz="2400" b="0">
                    <a:solidFill>
                      <a:srgbClr val="111827"/>
                    </a:solidFill>
                    <a:latin typeface="Arial"/>
                  </a:rPr>
                  <a:t> repeated twice).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First letter </a:t>
                </a:r>
                <a14:m>
                  <m:oMath xmlns:m="http://schemas.openxmlformats.org/officeDocument/2006/math">
                    <m:r>
                      <a:rPr lang="en-IN" sz="2400" i="1">
                        <a:solidFill>
                          <a:srgbClr val="111827"/>
                        </a:solidFill>
                        <a:latin typeface="Cambria Math" panose="02040503050406030204" pitchFamily="18" charset="0"/>
                      </a:rPr>
                      <m:t>𝐸</m:t>
                    </m:r>
                  </m:oMath>
                </a14:m>
                <a:r>
                  <a:rPr sz="2400" b="0">
                    <a:solidFill>
                      <a:srgbClr val="111827"/>
                    </a:solidFill>
                    <a:latin typeface="Arial"/>
                  </a:rPr>
                  <a:t>: remaining </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 letters with </a:t>
                </a:r>
                <a14:m>
                  <m:oMath xmlns:m="http://schemas.openxmlformats.org/officeDocument/2006/math">
                    <m:r>
                      <a:rPr lang="en-IN" sz="2400" i="1">
                        <a:solidFill>
                          <a:srgbClr val="111827"/>
                        </a:solidFill>
                        <a:latin typeface="Cambria Math" panose="02040503050406030204" pitchFamily="18" charset="0"/>
                      </a:rPr>
                      <m:t>𝑇</m:t>
                    </m:r>
                  </m:oMath>
                </a14:m>
                <a:r>
                  <a:rPr sz="2400" b="0">
                    <a:solidFill>
                      <a:srgbClr val="111827"/>
                    </a:solidFill>
                    <a:latin typeface="Arial"/>
                  </a:rPr>
                  <a:t> twice,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360</m:t>
                    </m:r>
                  </m:oMath>
                </a14:m>
                <a:r>
                  <a:rPr sz="2400" b="0">
                    <a:solidFill>
                      <a:srgbClr val="111827"/>
                    </a:solidFill>
                    <a:latin typeface="Arial"/>
                  </a:rPr>
                  <a:t> words.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 First letter </a:t>
                </a:r>
                <a14:m>
                  <m:oMath xmlns:m="http://schemas.openxmlformats.org/officeDocument/2006/math">
                    <m:r>
                      <a:rPr lang="en-IN" sz="2400" i="1">
                        <a:solidFill>
                          <a:srgbClr val="111827"/>
                        </a:solidFill>
                        <a:latin typeface="Cambria Math" panose="02040503050406030204" pitchFamily="18" charset="0"/>
                      </a:rPr>
                      <m:t>𝐺</m:t>
                    </m:r>
                  </m:oMath>
                </a14:m>
                <a:r>
                  <a:rPr sz="2400" b="0">
                    <a:solidFill>
                      <a:srgbClr val="111827"/>
                    </a:solidFill>
                    <a:latin typeface="Arial"/>
                  </a:rPr>
                  <a:t>, second letter smaller than </a:t>
                </a:r>
                <a14:m>
                  <m:oMath xmlns:m="http://schemas.openxmlformats.org/officeDocument/2006/math">
                    <m:r>
                      <a:rPr lang="en-IN" sz="2400" i="1">
                        <a:solidFill>
                          <a:srgbClr val="111827"/>
                        </a:solidFill>
                        <a:latin typeface="Cambria Math" panose="02040503050406030204" pitchFamily="18" charset="0"/>
                      </a:rPr>
                      <m:t>𝑇</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𝐺</m:t>
                    </m:r>
                    <m:r>
                      <a:rPr lang="en-IN" sz="2400" i="1">
                        <a:solidFill>
                          <a:srgbClr val="111827"/>
                        </a:solidFill>
                        <a:latin typeface="Cambria Math" panose="02040503050406030204" pitchFamily="18" charset="0"/>
                      </a:rPr>
                      <m:t>𝐸</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𝐺</m:t>
                    </m:r>
                    <m:r>
                      <a:rPr lang="en-IN" sz="2400" i="1">
                        <a:solidFill>
                          <a:srgbClr val="111827"/>
                        </a:solidFill>
                        <a:latin typeface="Cambria Math" panose="02040503050406030204" pitchFamily="18" charset="0"/>
                      </a:rPr>
                      <m:t>𝑁</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Letters in alphabetical order: </a:t>
                </a:r>
                <a:r>
                  <a:rPr lang="en-IN" sz="2400">
                    <a:solidFill>
                      <a:srgbClr val="111827"/>
                    </a:solidFill>
                    <a:latin typeface="Cambria Math" panose="02040503050406030204" pitchFamily="18" charset="0"/>
                  </a:rPr>
                  <a:t>$E,G,N,T,T,W,Y$</a:t>
                </a:r>
                <a:r>
                  <a:rPr sz="2400" b="0">
                    <a:solidFill>
                      <a:srgbClr val="111827"/>
                    </a:solidFill>
                    <a:latin typeface="Arial"/>
                  </a:rPr>
                  <a:t> (</a:t>
                </a:r>
                <a:r>
                  <a:rPr lang="en-IN" sz="2400">
                    <a:solidFill>
                      <a:srgbClr val="111827"/>
                    </a:solidFill>
                    <a:latin typeface="Cambria Math" panose="02040503050406030204" pitchFamily="18" charset="0"/>
                  </a:rPr>
                  <a:t>$T$</a:t>
                </a:r>
                <a:r>
                  <a:rPr sz="2400" b="0">
                    <a:solidFill>
                      <a:srgbClr val="111827"/>
                    </a:solidFill>
                    <a:latin typeface="Arial"/>
                  </a:rPr>
                  <a:t> repeated twice).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First letter </a:t>
                </a:r>
                <a:r>
                  <a:rPr lang="en-IN" sz="2400">
                    <a:solidFill>
                      <a:srgbClr val="111827"/>
                    </a:solidFill>
                    <a:latin typeface="Cambria Math" panose="02040503050406030204" pitchFamily="18" charset="0"/>
                  </a:rPr>
                  <a:t>$E$</a:t>
                </a:r>
                <a:r>
                  <a:rPr sz="2400" b="0">
                    <a:solidFill>
                      <a:srgbClr val="111827"/>
                    </a:solidFill>
                    <a:latin typeface="Arial"/>
                  </a:rPr>
                  <a:t>: remaining </a:t>
                </a:r>
                <a:r>
                  <a:rPr lang="en-IN" sz="2400">
                    <a:solidFill>
                      <a:srgbClr val="111827"/>
                    </a:solidFill>
                    <a:latin typeface="Cambria Math" panose="02040503050406030204" pitchFamily="18" charset="0"/>
                  </a:rPr>
                  <a:t>$6$</a:t>
                </a:r>
                <a:r>
                  <a:rPr sz="2400" b="0">
                    <a:solidFill>
                      <a:srgbClr val="111827"/>
                    </a:solidFill>
                    <a:latin typeface="Arial"/>
                  </a:rPr>
                  <a:t> letters with </a:t>
                </a:r>
                <a:r>
                  <a:rPr lang="en-IN" sz="2400">
                    <a:solidFill>
                      <a:srgbClr val="111827"/>
                    </a:solidFill>
                    <a:latin typeface="Cambria Math" panose="02040503050406030204" pitchFamily="18" charset="0"/>
                  </a:rPr>
                  <a:t>$T$</a:t>
                </a:r>
                <a:r>
                  <a:rPr sz="2400" b="0">
                    <a:solidFill>
                      <a:srgbClr val="111827"/>
                    </a:solidFill>
                    <a:latin typeface="Arial"/>
                  </a:rPr>
                  <a:t> twice, </a:t>
                </a:r>
                <a:r>
                  <a:rPr lang="en-IN" sz="2400">
                    <a:solidFill>
                      <a:srgbClr val="111827"/>
                    </a:solidFill>
                    <a:latin typeface="Cambria Math" panose="02040503050406030204" pitchFamily="18" charset="0"/>
                  </a:rPr>
                  <a:t>$\dfrac{6!}{2!}=360$</a:t>
                </a:r>
                <a:r>
                  <a:rPr sz="2400" b="0">
                    <a:solidFill>
                      <a:srgbClr val="111827"/>
                    </a:solidFill>
                    <a:latin typeface="Arial"/>
                  </a:rPr>
                  <a:t> words.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 First letter </a:t>
                </a:r>
                <a:r>
                  <a:rPr lang="en-IN" sz="2400">
                    <a:solidFill>
                      <a:srgbClr val="111827"/>
                    </a:solidFill>
                    <a:latin typeface="Cambria Math" panose="02040503050406030204" pitchFamily="18" charset="0"/>
                  </a:rPr>
                  <a:t>$G$</a:t>
                </a:r>
                <a:r>
                  <a:rPr sz="2400" b="0">
                    <a:solidFill>
                      <a:srgbClr val="111827"/>
                    </a:solidFill>
                    <a:latin typeface="Arial"/>
                  </a:rPr>
                  <a:t>, second letter smaller than </a:t>
                </a:r>
                <a:r>
                  <a:rPr lang="en-IN" sz="2400">
                    <a:solidFill>
                      <a:srgbClr val="111827"/>
                    </a:solidFill>
                    <a:latin typeface="Cambria Math" panose="02040503050406030204" pitchFamily="18" charset="0"/>
                  </a:rPr>
                  <a:t>$T$</a:t>
                </a:r>
                <a:r>
                  <a:rPr sz="2400" b="0">
                    <a:solidFill>
                      <a:srgbClr val="111827"/>
                    </a:solidFill>
                    <a:latin typeface="Arial"/>
                  </a:rPr>
                  <a:t>: </a:t>
                </a:r>
                <a:r>
                  <a:rPr lang="en-IN" sz="2400">
                    <a:solidFill>
                      <a:srgbClr val="111827"/>
                    </a:solidFill>
                    <a:latin typeface="Cambria Math" panose="02040503050406030204" pitchFamily="18" charset="0"/>
                  </a:rPr>
                  <a:t>$GE$</a:t>
                </a:r>
                <a:r>
                  <a:rPr sz="2400" b="0">
                    <a:solidFill>
                      <a:srgbClr val="111827"/>
                    </a:solidFill>
                    <a:latin typeface="Arial"/>
                  </a:rPr>
                  <a:t>: </a:t>
                </a:r>
                <a:r>
                  <a:rPr lang="en-IN" sz="2400">
                    <a:solidFill>
                      <a:srgbClr val="111827"/>
                    </a:solidFill>
                    <a:latin typeface="Cambria Math" panose="02040503050406030204" pitchFamily="18" charset="0"/>
                  </a:rPr>
                  <a:t>$\dfrac{5!}{2!}=60$</a:t>
                </a:r>
                <a:r>
                  <a:rPr sz="2400" b="0">
                    <a:solidFill>
                      <a:srgbClr val="111827"/>
                    </a:solidFill>
                    <a:latin typeface="Arial"/>
                  </a:rPr>
                  <a:t> and </a:t>
                </a:r>
                <a:r>
                  <a:rPr lang="en-IN" sz="2400">
                    <a:solidFill>
                      <a:srgbClr val="111827"/>
                    </a:solidFill>
                    <a:latin typeface="Cambria Math" panose="02040503050406030204" pitchFamily="18" charset="0"/>
                  </a:rPr>
                  <a:t>$GN$</a:t>
                </a:r>
                <a:r>
                  <a:rPr sz="2400" b="0">
                    <a:solidFill>
                      <a:srgbClr val="111827"/>
                    </a:solidFill>
                    <a:latin typeface="Arial"/>
                  </a:rPr>
                  <a:t>: </a:t>
                </a:r>
                <a:r>
                  <a:rPr lang="en-IN" sz="2400">
                    <a:solidFill>
                      <a:srgbClr val="111827"/>
                    </a:solidFill>
                    <a:latin typeface="Cambria Math" panose="02040503050406030204" pitchFamily="18" charset="0"/>
                  </a:rPr>
                  <a:t>$\dfrac{5!}{2!}=60$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 </a:t>
                </a:r>
                <a14:m>
                  <m:oMath xmlns:m="http://schemas.openxmlformats.org/officeDocument/2006/math">
                    <m:r>
                      <a:rPr lang="en-IN" sz="2400" i="1">
                        <a:solidFill>
                          <a:srgbClr val="111827"/>
                        </a:solidFill>
                        <a:latin typeface="Cambria Math" panose="02040503050406030204" pitchFamily="18" charset="0"/>
                      </a:rPr>
                      <m:t>𝐺</m:t>
                    </m:r>
                    <m:r>
                      <a:rPr lang="en-IN" sz="2400" i="1">
                        <a:solidFill>
                          <a:srgbClr val="111827"/>
                        </a:solidFill>
                        <a:latin typeface="Cambria Math" panose="02040503050406030204" pitchFamily="18" charset="0"/>
                      </a:rPr>
                      <m:t>𝑇</m:t>
                    </m:r>
                  </m:oMath>
                </a14:m>
                <a:r>
                  <a:rPr sz="2400" b="0">
                    <a:solidFill>
                      <a:srgbClr val="111827"/>
                    </a:solidFill>
                    <a:latin typeface="Arial"/>
                  </a:rPr>
                  <a:t> then third letter smaller than </a:t>
                </a:r>
                <a14:m>
                  <m:oMath xmlns:m="http://schemas.openxmlformats.org/officeDocument/2006/math">
                    <m:r>
                      <a:rPr lang="en-IN" sz="2400" i="1">
                        <a:solidFill>
                          <a:srgbClr val="111827"/>
                        </a:solidFill>
                        <a:latin typeface="Cambria Math" panose="02040503050406030204" pitchFamily="18" charset="0"/>
                      </a:rPr>
                      <m:t>𝑊</m:t>
                    </m:r>
                  </m:oMath>
                </a14:m>
                <a:r>
                  <a:rPr sz="2400" b="0">
                    <a:solidFill>
                      <a:srgbClr val="111827"/>
                    </a:solidFill>
                    <a:latin typeface="Arial"/>
                  </a:rPr>
                  <a:t> (from </a:t>
                </a:r>
                <a14:m>
                  <m:oMath xmlns:m="http://schemas.openxmlformats.org/officeDocument/2006/math">
                    <m:r>
                      <a:rPr lang="en-IN" sz="2400" i="1">
                        <a:solidFill>
                          <a:srgbClr val="111827"/>
                        </a:solidFill>
                        <a:latin typeface="Cambria Math" panose="02040503050406030204" pitchFamily="18" charset="0"/>
                      </a:rPr>
                      <m:t>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𝑇</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𝑊</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𝑌</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𝐺</m:t>
                    </m:r>
                    <m:r>
                      <a:rPr lang="en-IN" sz="2400" i="1">
                        <a:solidFill>
                          <a:srgbClr val="111827"/>
                        </a:solidFill>
                        <a:latin typeface="Cambria Math" panose="02040503050406030204" pitchFamily="18" charset="0"/>
                      </a:rPr>
                      <m:t>𝑇</m:t>
                    </m:r>
                    <m:r>
                      <a:rPr lang="en-IN" sz="2400" i="1">
                        <a:solidFill>
                          <a:srgbClr val="111827"/>
                        </a:solidFill>
                        <a:latin typeface="Cambria Math" panose="02040503050406030204" pitchFamily="18" charset="0"/>
                      </a:rPr>
                      <m:t>𝐸</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𝐺</m:t>
                    </m:r>
                    <m:r>
                      <a:rPr lang="en-IN" sz="2400" i="1">
                        <a:solidFill>
                          <a:srgbClr val="111827"/>
                        </a:solidFill>
                        <a:latin typeface="Cambria Math" panose="02040503050406030204" pitchFamily="18" charset="0"/>
                      </a:rPr>
                      <m:t>𝑇</m:t>
                    </m:r>
                    <m:r>
                      <a:rPr lang="en-IN" sz="2400" i="1">
                        <a:solidFill>
                          <a:srgbClr val="111827"/>
                        </a:solidFill>
                        <a:latin typeface="Cambria Math" panose="02040503050406030204" pitchFamily="18" charset="0"/>
                      </a:rPr>
                      <m:t>𝑁</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𝐺</m:t>
                    </m:r>
                    <m:r>
                      <a:rPr lang="en-IN" sz="2400" i="1">
                        <a:solidFill>
                          <a:srgbClr val="111827"/>
                        </a:solidFill>
                        <a:latin typeface="Cambria Math" panose="02040503050406030204" pitchFamily="18" charset="0"/>
                      </a:rPr>
                      <m:t>𝑇</m:t>
                    </m:r>
                    <m:r>
                      <a:rPr lang="en-IN" sz="2400" i="1">
                        <a:solidFill>
                          <a:srgbClr val="111827"/>
                        </a:solidFill>
                        <a:latin typeface="Cambria Math" panose="02040503050406030204" pitchFamily="18" charset="0"/>
                      </a:rPr>
                      <m:t>𝑇</m:t>
                    </m:r>
                  </m:oMath>
                </a14:m>
                <a:r>
                  <a:rPr sz="2400" b="0">
                    <a:solidFill>
                      <a:srgbClr val="111827"/>
                    </a:solidFill>
                    <a:latin typeface="Arial"/>
                  </a:rPr>
                  <a:t> each leave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distinct letters: </a:t>
                </a:r>
                <a14:m>
                  <m:oMath xmlns:m="http://schemas.openxmlformats.org/officeDocument/2006/math">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 </a:t>
                </a:r>
                <a14:m>
                  <m:oMath xmlns:m="http://schemas.openxmlformats.org/officeDocument/2006/math">
                    <m:r>
                      <a:rPr lang="en-IN" sz="2400" i="1">
                        <a:solidFill>
                          <a:srgbClr val="111827"/>
                        </a:solidFill>
                        <a:latin typeface="Cambria Math" panose="02040503050406030204" pitchFamily="18" charset="0"/>
                      </a:rPr>
                      <m:t>𝐺</m:t>
                    </m:r>
                    <m:r>
                      <a:rPr lang="en-IN" sz="2400" i="1">
                        <a:solidFill>
                          <a:srgbClr val="111827"/>
                        </a:solidFill>
                        <a:latin typeface="Cambria Math" panose="02040503050406030204" pitchFamily="18" charset="0"/>
                      </a:rPr>
                      <m:t>𝑇</m:t>
                    </m:r>
                    <m:r>
                      <a:rPr lang="en-IN" sz="2400" i="1">
                        <a:solidFill>
                          <a:srgbClr val="111827"/>
                        </a:solidFill>
                        <a:latin typeface="Cambria Math" panose="02040503050406030204" pitchFamily="18" charset="0"/>
                      </a:rPr>
                      <m:t>𝑊</m:t>
                    </m:r>
                  </m:oMath>
                </a14:m>
                <a:r>
                  <a:rPr sz="2400" b="0">
                    <a:solidFill>
                      <a:srgbClr val="111827"/>
                    </a:solidFill>
                    <a:latin typeface="Arial"/>
                  </a:rPr>
                  <a:t> then the smallest remaining arrangement </a:t>
                </a:r>
                <a14:m>
                  <m:oMath xmlns:m="http://schemas.openxmlformats.org/officeDocument/2006/math">
                    <m:r>
                      <a:rPr lang="en-IN" sz="2400" i="1">
                        <a:solidFill>
                          <a:srgbClr val="111827"/>
                        </a:solidFill>
                        <a:latin typeface="Cambria Math" panose="02040503050406030204" pitchFamily="18" charset="0"/>
                      </a:rPr>
                      <m:t>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𝑇</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𝑌</m:t>
                    </m:r>
                  </m:oMath>
                </a14:m>
                <a:r>
                  <a:rPr sz="2400" b="0">
                    <a:solidFill>
                      <a:srgbClr val="111827"/>
                    </a:solidFill>
                    <a:latin typeface="Arial"/>
                  </a:rPr>
                  <a:t> is exactly </a:t>
                </a:r>
                <a14:m>
                  <m:oMath xmlns:m="http://schemas.openxmlformats.org/officeDocument/2006/math">
                    <m:r>
                      <a:rPr lang="en-IN" sz="2400" i="1">
                        <a:solidFill>
                          <a:srgbClr val="111827"/>
                        </a:solidFill>
                        <a:latin typeface="Cambria Math" panose="02040503050406030204" pitchFamily="18" charset="0"/>
                      </a:rPr>
                      <m:t>𝐺</m:t>
                    </m:r>
                    <m:r>
                      <a:rPr lang="en-IN" sz="2400" i="1">
                        <a:solidFill>
                          <a:srgbClr val="111827"/>
                        </a:solidFill>
                        <a:latin typeface="Cambria Math" panose="02040503050406030204" pitchFamily="18" charset="0"/>
                      </a:rPr>
                      <m:t>𝑇</m:t>
                    </m:r>
                    <m:r>
                      <a:rPr lang="en-IN" sz="2400" i="1">
                        <a:solidFill>
                          <a:srgbClr val="111827"/>
                        </a:solidFill>
                        <a:latin typeface="Cambria Math" panose="02040503050406030204" pitchFamily="18" charset="0"/>
                      </a:rPr>
                      <m:t>𝑊</m:t>
                    </m:r>
                    <m:r>
                      <a:rPr lang="en-IN" sz="2400" i="1">
                        <a:solidFill>
                          <a:srgbClr val="111827"/>
                        </a:solidFill>
                        <a:latin typeface="Cambria Math" panose="02040503050406030204" pitchFamily="18" charset="0"/>
                      </a:rPr>
                      <m:t>𝐸</m:t>
                    </m:r>
                    <m:r>
                      <a:rPr lang="en-IN" sz="2400" i="1">
                        <a:solidFill>
                          <a:srgbClr val="111827"/>
                        </a:solidFill>
                        <a:latin typeface="Cambria Math" panose="02040503050406030204" pitchFamily="18" charset="0"/>
                      </a:rPr>
                      <m:t>𝑁</m:t>
                    </m:r>
                    <m:r>
                      <a:rPr lang="en-IN" sz="2400" i="1">
                        <a:solidFill>
                          <a:srgbClr val="111827"/>
                        </a:solidFill>
                        <a:latin typeface="Cambria Math" panose="02040503050406030204" pitchFamily="18" charset="0"/>
                      </a:rPr>
                      <m:t>𝑇</m:t>
                    </m:r>
                    <m:r>
                      <a:rPr lang="en-IN" sz="2400" i="1">
                        <a:solidFill>
                          <a:srgbClr val="111827"/>
                        </a:solidFill>
                        <a:latin typeface="Cambria Math" panose="02040503050406030204" pitchFamily="18" charset="0"/>
                      </a:rPr>
                      <m:t>𝑌</m:t>
                    </m:r>
                  </m:oMath>
                </a14:m>
                <a:r>
                  <a:rPr sz="2400" b="0">
                    <a:solidFill>
                      <a:srgbClr val="111827"/>
                    </a:solidFill>
                    <a:latin typeface="Arial"/>
                  </a:rPr>
                  <a:t> itself: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word.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Serial number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553</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 </a:t>
                </a:r>
                <a:r>
                  <a:rPr lang="en-IN" sz="2400">
                    <a:solidFill>
                      <a:srgbClr val="111827"/>
                    </a:solidFill>
                    <a:latin typeface="Cambria Math" panose="02040503050406030204" pitchFamily="18" charset="0"/>
                  </a:rPr>
                  <a:t>$GT$</a:t>
                </a:r>
                <a:r>
                  <a:rPr sz="2400" b="0">
                    <a:solidFill>
                      <a:srgbClr val="111827"/>
                    </a:solidFill>
                    <a:latin typeface="Arial"/>
                  </a:rPr>
                  <a:t> then third letter smaller than </a:t>
                </a:r>
                <a:r>
                  <a:rPr lang="en-IN" sz="2400">
                    <a:solidFill>
                      <a:srgbClr val="111827"/>
                    </a:solidFill>
                    <a:latin typeface="Cambria Math" panose="02040503050406030204" pitchFamily="18" charset="0"/>
                  </a:rPr>
                  <a:t>$W$</a:t>
                </a:r>
                <a:r>
                  <a:rPr sz="2400" b="0">
                    <a:solidFill>
                      <a:srgbClr val="111827"/>
                    </a:solidFill>
                    <a:latin typeface="Arial"/>
                  </a:rPr>
                  <a:t> (from </a:t>
                </a:r>
                <a:r>
                  <a:rPr lang="en-IN" sz="2400">
                    <a:solidFill>
                      <a:srgbClr val="111827"/>
                    </a:solidFill>
                    <a:latin typeface="Cambria Math" panose="02040503050406030204" pitchFamily="18" charset="0"/>
                  </a:rPr>
                  <a:t>$E,N,T,W,Y$</a:t>
                </a:r>
                <a:r>
                  <a:rPr sz="2400" b="0">
                    <a:solidFill>
                      <a:srgbClr val="111827"/>
                    </a:solidFill>
                    <a:latin typeface="Arial"/>
                  </a:rPr>
                  <a:t>): </a:t>
                </a:r>
                <a:r>
                  <a:rPr lang="en-IN" sz="2400">
                    <a:solidFill>
                      <a:srgbClr val="111827"/>
                    </a:solidFill>
                    <a:latin typeface="Cambria Math" panose="02040503050406030204" pitchFamily="18" charset="0"/>
                  </a:rPr>
                  <a:t>$GTE$</a:t>
                </a:r>
                <a:r>
                  <a:rPr sz="2400" b="0">
                    <a:solidFill>
                      <a:srgbClr val="111827"/>
                    </a:solidFill>
                    <a:latin typeface="Arial"/>
                  </a:rPr>
                  <a:t>, </a:t>
                </a:r>
                <a:r>
                  <a:rPr lang="en-IN" sz="2400">
                    <a:solidFill>
                      <a:srgbClr val="111827"/>
                    </a:solidFill>
                    <a:latin typeface="Cambria Math" panose="02040503050406030204" pitchFamily="18" charset="0"/>
                  </a:rPr>
                  <a:t>$GTN$</a:t>
                </a:r>
                <a:r>
                  <a:rPr sz="2400" b="0">
                    <a:solidFill>
                      <a:srgbClr val="111827"/>
                    </a:solidFill>
                    <a:latin typeface="Arial"/>
                  </a:rPr>
                  <a:t>, </a:t>
                </a:r>
                <a:r>
                  <a:rPr lang="en-IN" sz="2400">
                    <a:solidFill>
                      <a:srgbClr val="111827"/>
                    </a:solidFill>
                    <a:latin typeface="Cambria Math" panose="02040503050406030204" pitchFamily="18" charset="0"/>
                  </a:rPr>
                  <a:t>$GTT$</a:t>
                </a:r>
                <a:r>
                  <a:rPr sz="2400" b="0">
                    <a:solidFill>
                      <a:srgbClr val="111827"/>
                    </a:solidFill>
                    <a:latin typeface="Arial"/>
                  </a:rPr>
                  <a:t> each leave </a:t>
                </a:r>
                <a:r>
                  <a:rPr lang="en-IN" sz="2400">
                    <a:solidFill>
                      <a:srgbClr val="111827"/>
                    </a:solidFill>
                    <a:latin typeface="Cambria Math" panose="02040503050406030204" pitchFamily="18" charset="0"/>
                  </a:rPr>
                  <a:t>$4$</a:t>
                </a:r>
                <a:r>
                  <a:rPr sz="2400" b="0">
                    <a:solidFill>
                      <a:srgbClr val="111827"/>
                    </a:solidFill>
                    <a:latin typeface="Arial"/>
                  </a:rPr>
                  <a:t> distinct letters: </a:t>
                </a:r>
                <a:r>
                  <a:rPr lang="en-IN" sz="2400">
                    <a:solidFill>
                      <a:srgbClr val="111827"/>
                    </a:solidFill>
                    <a:latin typeface="Cambria Math" panose="02040503050406030204" pitchFamily="18" charset="0"/>
                  </a:rPr>
                  <a:t>$4!+4!+4!=72$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 </a:t>
                </a:r>
                <a:r>
                  <a:rPr lang="en-IN" sz="2400">
                    <a:solidFill>
                      <a:srgbClr val="111827"/>
                    </a:solidFill>
                    <a:latin typeface="Cambria Math" panose="02040503050406030204" pitchFamily="18" charset="0"/>
                  </a:rPr>
                  <a:t>$GTW$</a:t>
                </a:r>
                <a:r>
                  <a:rPr sz="2400" b="0">
                    <a:solidFill>
                      <a:srgbClr val="111827"/>
                    </a:solidFill>
                    <a:latin typeface="Arial"/>
                  </a:rPr>
                  <a:t> then the smallest remaining arrangement </a:t>
                </a:r>
                <a:r>
                  <a:rPr lang="en-IN" sz="2400">
                    <a:solidFill>
                      <a:srgbClr val="111827"/>
                    </a:solidFill>
                    <a:latin typeface="Cambria Math" panose="02040503050406030204" pitchFamily="18" charset="0"/>
                  </a:rPr>
                  <a:t>$E,N,T,Y$</a:t>
                </a:r>
                <a:r>
                  <a:rPr sz="2400" b="0">
                    <a:solidFill>
                      <a:srgbClr val="111827"/>
                    </a:solidFill>
                    <a:latin typeface="Arial"/>
                  </a:rPr>
                  <a:t> is exactly </a:t>
                </a:r>
                <a:r>
                  <a:rPr lang="en-IN" sz="2400">
                    <a:solidFill>
                      <a:srgbClr val="111827"/>
                    </a:solidFill>
                    <a:latin typeface="Cambria Math" panose="02040503050406030204" pitchFamily="18" charset="0"/>
                  </a:rPr>
                  <a:t>$GTWENTY$</a:t>
                </a:r>
                <a:r>
                  <a:rPr sz="2400" b="0">
                    <a:solidFill>
                      <a:srgbClr val="111827"/>
                    </a:solidFill>
                    <a:latin typeface="Arial"/>
                  </a:rPr>
                  <a:t> itself: </a:t>
                </a:r>
                <a:r>
                  <a:rPr lang="en-IN" sz="2400">
                    <a:solidFill>
                      <a:srgbClr val="111827"/>
                    </a:solidFill>
                    <a:latin typeface="Cambria Math" panose="02040503050406030204" pitchFamily="18" charset="0"/>
                  </a:rPr>
                  <a:t>$1$</a:t>
                </a:r>
                <a:r>
                  <a:rPr sz="2400" b="0">
                    <a:solidFill>
                      <a:srgbClr val="111827"/>
                    </a:solidFill>
                    <a:latin typeface="Arial"/>
                  </a:rPr>
                  <a:t> word.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Serial number </a:t>
                </a:r>
                <a:r>
                  <a:rPr lang="en-IN" sz="2400">
                    <a:solidFill>
                      <a:srgbClr val="111827"/>
                    </a:solidFill>
                    <a:latin typeface="Cambria Math" panose="02040503050406030204" pitchFamily="18" charset="0"/>
                  </a:rPr>
                  <a:t>$=360+60+60+24+24+24+1=553$</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553</a:t>
            </a:r>
            <a:endParaRPr sz="2800">
              <a:solidFill>
                <a:srgbClr val="15803D"/>
              </a:solidFill>
            </a:endParaRP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Count the words that come after it and subtract from the total: rank </a:t>
                </a:r>
                <a14:m>
                  <m:oMath xmlns:m="http://schemas.openxmlformats.org/officeDocument/2006/math">
                    <m:r>
                      <m:rPr>
                        <m:sty m:val="p"/>
                      </m:rPr>
                      <a:rPr lang="en-IN" sz="2400">
                        <a:solidFill>
                          <a:srgbClr val="78350F"/>
                        </a:solidFill>
                        <a:latin typeface="Cambria Math" panose="02040503050406030204" pitchFamily="18" charset="0"/>
                      </a:rPr>
                      <m:t>=</m:t>
                    </m:r>
                    <m:r>
                      <m:rPr>
                        <m:nor/>
                      </m:rPr>
                      <a:rPr lang="en-IN" sz="2400" i="1">
                        <a:solidFill>
                          <a:srgbClr val="78350F"/>
                        </a:solidFill>
                        <a:latin typeface="Cambria Math" panose="02040503050406030204" pitchFamily="18" charset="0"/>
                      </a:rPr>
                      <m:t>𝑡𝑜𝑡𝑎𝑙</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nor/>
                      </m:rPr>
                      <a:rPr lang="en-IN" sz="2400" i="1">
                        <a:solidFill>
                          <a:srgbClr val="78350F"/>
                        </a:solidFill>
                        <a:latin typeface="Cambria Math" panose="02040503050406030204" pitchFamily="18" charset="0"/>
                      </a:rPr>
                      <m:t>𝑎𝑓𝑡𝑒𝑟</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Count the words that come after it and subtract from the total: rank </a:t>
                </a:r>
                <a:r>
                  <a:rPr lang="en-IN" sz="2400">
                    <a:solidFill>
                      <a:srgbClr val="78350F"/>
                    </a:solidFill>
                    <a:latin typeface="Cambria Math" panose="02040503050406030204" pitchFamily="18" charset="0"/>
                  </a:rPr>
                  <a:t>$=\text{total}-\#\text{after}$</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Total words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2520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Words after </a:t>
                </a:r>
                <a14:m>
                  <m:oMath xmlns:m="http://schemas.openxmlformats.org/officeDocument/2006/math">
                    <m:r>
                      <a:rPr lang="en-IN" sz="2400" i="1">
                        <a:solidFill>
                          <a:srgbClr val="111827"/>
                        </a:solidFill>
                        <a:latin typeface="Cambria Math" panose="02040503050406030204" pitchFamily="18" charset="0"/>
                      </a:rPr>
                      <m:t>𝐺</m:t>
                    </m:r>
                    <m:r>
                      <a:rPr lang="en-IN" sz="2400" i="1">
                        <a:solidFill>
                          <a:srgbClr val="111827"/>
                        </a:solidFill>
                        <a:latin typeface="Cambria Math" panose="02040503050406030204" pitchFamily="18" charset="0"/>
                      </a:rPr>
                      <m:t>𝑇</m:t>
                    </m:r>
                    <m:r>
                      <a:rPr lang="en-IN" sz="2400" i="1">
                        <a:solidFill>
                          <a:srgbClr val="111827"/>
                        </a:solidFill>
                        <a:latin typeface="Cambria Math" panose="02040503050406030204" pitchFamily="18" charset="0"/>
                      </a:rPr>
                      <m:t>𝑊</m:t>
                    </m:r>
                    <m:r>
                      <a:rPr lang="en-IN" sz="2400" i="1">
                        <a:solidFill>
                          <a:srgbClr val="111827"/>
                        </a:solidFill>
                        <a:latin typeface="Cambria Math" panose="02040503050406030204" pitchFamily="18" charset="0"/>
                      </a:rPr>
                      <m:t>𝐸</m:t>
                    </m:r>
                    <m:r>
                      <a:rPr lang="en-IN" sz="2400" i="1">
                        <a:solidFill>
                          <a:srgbClr val="111827"/>
                        </a:solidFill>
                        <a:latin typeface="Cambria Math" panose="02040503050406030204" pitchFamily="18" charset="0"/>
                      </a:rPr>
                      <m:t>𝑁</m:t>
                    </m:r>
                    <m:r>
                      <a:rPr lang="en-IN" sz="2400" i="1">
                        <a:solidFill>
                          <a:srgbClr val="111827"/>
                        </a:solidFill>
                        <a:latin typeface="Cambria Math" panose="02040503050406030204" pitchFamily="18" charset="0"/>
                      </a:rPr>
                      <m:t>𝑇</m:t>
                    </m:r>
                    <m:r>
                      <a:rPr lang="en-IN" sz="2400" i="1">
                        <a:solidFill>
                          <a:srgbClr val="111827"/>
                        </a:solidFill>
                        <a:latin typeface="Cambria Math" panose="02040503050406030204" pitchFamily="18" charset="0"/>
                      </a:rPr>
                      <m:t>𝑌</m:t>
                    </m:r>
                  </m:oMath>
                </a14:m>
                <a:r>
                  <a:rPr sz="2400" b="0">
                    <a:solidFill>
                      <a:srgbClr val="111827"/>
                    </a:solidFill>
                    <a:latin typeface="Arial"/>
                  </a:rPr>
                  <a:t> with a larger first letter: </a:t>
                </a:r>
                <a14:m>
                  <m:oMath xmlns:m="http://schemas.openxmlformats.org/officeDocument/2006/math">
                    <m:r>
                      <a:rPr lang="en-IN" sz="2400" i="1">
                        <a:solidFill>
                          <a:srgbClr val="111827"/>
                        </a:solidFill>
                        <a:latin typeface="Cambria Math" panose="02040503050406030204" pitchFamily="18" charset="0"/>
                      </a:rPr>
                      <m:t>𝑁</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𝑇</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720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𝑊</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360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𝑌</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360</m:t>
                    </m:r>
                  </m:oMath>
                </a14:m>
                <a:r>
                  <a:rPr sz="2400" b="0">
                    <a:solidFill>
                      <a:srgbClr val="111827"/>
                    </a:solidFill>
                    <a:latin typeface="Arial"/>
                  </a:rPr>
                  <a:t>; sum </a:t>
                </a:r>
                <a14:m>
                  <m:oMath xmlns:m="http://schemas.openxmlformats.org/officeDocument/2006/math">
                    <m:r>
                      <a:rPr lang="en-IN" sz="2400" i="1">
                        <a:solidFill>
                          <a:srgbClr val="111827"/>
                        </a:solidFill>
                        <a:latin typeface="Cambria Math" panose="02040503050406030204" pitchFamily="18" charset="0"/>
                      </a:rPr>
                      <m:t>1800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First letter </a:t>
                </a:r>
                <a14:m>
                  <m:oMath xmlns:m="http://schemas.openxmlformats.org/officeDocument/2006/math">
                    <m:r>
                      <a:rPr lang="en-IN" sz="2400" i="1">
                        <a:solidFill>
                          <a:srgbClr val="111827"/>
                        </a:solidFill>
                        <a:latin typeface="Cambria Math" panose="02040503050406030204" pitchFamily="18" charset="0"/>
                      </a:rPr>
                      <m:t>𝐺</m:t>
                    </m:r>
                  </m:oMath>
                </a14:m>
                <a:r>
                  <a:rPr sz="2400" b="0">
                    <a:solidFill>
                      <a:srgbClr val="111827"/>
                    </a:solidFill>
                    <a:latin typeface="Arial"/>
                  </a:rPr>
                  <a:t> with larger second letter (</a:t>
                </a:r>
                <a14:m>
                  <m:oMath xmlns:m="http://schemas.openxmlformats.org/officeDocument/2006/math">
                    <m:r>
                      <a:rPr lang="en-IN" sz="2400" i="1">
                        <a:solidFill>
                          <a:srgbClr val="111827"/>
                        </a:solidFill>
                        <a:latin typeface="Cambria Math" panose="02040503050406030204" pitchFamily="18" charset="0"/>
                      </a:rPr>
                      <m:t>𝑊</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𝑌</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120</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Total words </a:t>
                </a:r>
                <a:r>
                  <a:rPr lang="en-IN" sz="2400">
                    <a:solidFill>
                      <a:srgbClr val="111827"/>
                    </a:solidFill>
                    <a:latin typeface="Cambria Math" panose="02040503050406030204" pitchFamily="18" charset="0"/>
                  </a:rPr>
                  <a:t>$=\dfrac{7!}{2!}=2520$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Words after </a:t>
                </a:r>
                <a:r>
                  <a:rPr lang="en-IN" sz="2400">
                    <a:solidFill>
                      <a:srgbClr val="111827"/>
                    </a:solidFill>
                    <a:latin typeface="Cambria Math" panose="02040503050406030204" pitchFamily="18" charset="0"/>
                  </a:rPr>
                  <a:t>$GTWENTY$</a:t>
                </a:r>
                <a:r>
                  <a:rPr sz="2400" b="0">
                    <a:solidFill>
                      <a:srgbClr val="111827"/>
                    </a:solidFill>
                    <a:latin typeface="Arial"/>
                  </a:rPr>
                  <a:t> with a larger first letter: </a:t>
                </a:r>
                <a:r>
                  <a:rPr lang="en-IN" sz="2400">
                    <a:solidFill>
                      <a:srgbClr val="111827"/>
                    </a:solidFill>
                    <a:latin typeface="Cambria Math" panose="02040503050406030204" pitchFamily="18" charset="0"/>
                  </a:rPr>
                  <a:t>$N$</a:t>
                </a:r>
                <a:r>
                  <a:rPr sz="2400" b="0">
                    <a:solidFill>
                      <a:srgbClr val="111827"/>
                    </a:solidFill>
                    <a:latin typeface="Arial"/>
                  </a:rPr>
                  <a:t>: </a:t>
                </a:r>
                <a:r>
                  <a:rPr lang="en-IN" sz="2400">
                    <a:solidFill>
                      <a:srgbClr val="111827"/>
                    </a:solidFill>
                    <a:latin typeface="Cambria Math" panose="02040503050406030204" pitchFamily="18" charset="0"/>
                  </a:rPr>
                  <a:t>$\dfrac{6!}{2!}=360$</a:t>
                </a:r>
                <a:r>
                  <a:rPr sz="2400" b="0">
                    <a:solidFill>
                      <a:srgbClr val="111827"/>
                    </a:solidFill>
                    <a:latin typeface="Arial"/>
                  </a:rPr>
                  <a:t>; </a:t>
                </a:r>
                <a:r>
                  <a:rPr lang="en-IN" sz="2400">
                    <a:solidFill>
                      <a:srgbClr val="111827"/>
                    </a:solidFill>
                    <a:latin typeface="Cambria Math" panose="02040503050406030204" pitchFamily="18" charset="0"/>
                  </a:rPr>
                  <a:t>$T$</a:t>
                </a:r>
                <a:r>
                  <a:rPr sz="2400" b="0">
                    <a:solidFill>
                      <a:srgbClr val="111827"/>
                    </a:solidFill>
                    <a:latin typeface="Arial"/>
                  </a:rPr>
                  <a:t>: </a:t>
                </a:r>
                <a:r>
                  <a:rPr lang="en-IN" sz="2400">
                    <a:solidFill>
                      <a:srgbClr val="111827"/>
                    </a:solidFill>
                    <a:latin typeface="Cambria Math" panose="02040503050406030204" pitchFamily="18" charset="0"/>
                  </a:rPr>
                  <a:t>$720$</a:t>
                </a:r>
                <a:r>
                  <a:rPr sz="2400" b="0">
                    <a:solidFill>
                      <a:srgbClr val="111827"/>
                    </a:solidFill>
                    <a:latin typeface="Arial"/>
                  </a:rPr>
                  <a:t>; </a:t>
                </a:r>
                <a:r>
                  <a:rPr lang="en-IN" sz="2400">
                    <a:solidFill>
                      <a:srgbClr val="111827"/>
                    </a:solidFill>
                    <a:latin typeface="Cambria Math" panose="02040503050406030204" pitchFamily="18" charset="0"/>
                  </a:rPr>
                  <a:t>$W$</a:t>
                </a:r>
                <a:r>
                  <a:rPr sz="2400" b="0">
                    <a:solidFill>
                      <a:srgbClr val="111827"/>
                    </a:solidFill>
                    <a:latin typeface="Arial"/>
                  </a:rPr>
                  <a:t>: </a:t>
                </a:r>
                <a:r>
                  <a:rPr lang="en-IN" sz="2400">
                    <a:solidFill>
                      <a:srgbClr val="111827"/>
                    </a:solidFill>
                    <a:latin typeface="Cambria Math" panose="02040503050406030204" pitchFamily="18" charset="0"/>
                  </a:rPr>
                  <a:t>$360$</a:t>
                </a:r>
                <a:r>
                  <a:rPr sz="2400" b="0">
                    <a:solidFill>
                      <a:srgbClr val="111827"/>
                    </a:solidFill>
                    <a:latin typeface="Arial"/>
                  </a:rPr>
                  <a:t>; </a:t>
                </a:r>
                <a:r>
                  <a:rPr lang="en-IN" sz="2400">
                    <a:solidFill>
                      <a:srgbClr val="111827"/>
                    </a:solidFill>
                    <a:latin typeface="Cambria Math" panose="02040503050406030204" pitchFamily="18" charset="0"/>
                  </a:rPr>
                  <a:t>$Y$</a:t>
                </a:r>
                <a:r>
                  <a:rPr sz="2400" b="0">
                    <a:solidFill>
                      <a:srgbClr val="111827"/>
                    </a:solidFill>
                    <a:latin typeface="Arial"/>
                  </a:rPr>
                  <a:t>: </a:t>
                </a:r>
                <a:r>
                  <a:rPr lang="en-IN" sz="2400">
                    <a:solidFill>
                      <a:srgbClr val="111827"/>
                    </a:solidFill>
                    <a:latin typeface="Cambria Math" panose="02040503050406030204" pitchFamily="18" charset="0"/>
                  </a:rPr>
                  <a:t>$360$</a:t>
                </a:r>
                <a:r>
                  <a:rPr sz="2400" b="0">
                    <a:solidFill>
                      <a:srgbClr val="111827"/>
                    </a:solidFill>
                    <a:latin typeface="Arial"/>
                  </a:rPr>
                  <a:t>; sum </a:t>
                </a:r>
                <a:r>
                  <a:rPr lang="en-IN" sz="2400">
                    <a:solidFill>
                      <a:srgbClr val="111827"/>
                    </a:solidFill>
                    <a:latin typeface="Cambria Math" panose="02040503050406030204" pitchFamily="18" charset="0"/>
                  </a:rPr>
                  <a:t>$1800$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First letter </a:t>
                </a:r>
                <a:r>
                  <a:rPr lang="en-IN" sz="2400">
                    <a:solidFill>
                      <a:srgbClr val="111827"/>
                    </a:solidFill>
                    <a:latin typeface="Cambria Math" panose="02040503050406030204" pitchFamily="18" charset="0"/>
                  </a:rPr>
                  <a:t>$G$</a:t>
                </a:r>
                <a:r>
                  <a:rPr sz="2400" b="0">
                    <a:solidFill>
                      <a:srgbClr val="111827"/>
                    </a:solidFill>
                    <a:latin typeface="Arial"/>
                  </a:rPr>
                  <a:t> with larger second letter (</a:t>
                </a:r>
                <a:r>
                  <a:rPr lang="en-IN" sz="2400">
                    <a:solidFill>
                      <a:srgbClr val="111827"/>
                    </a:solidFill>
                    <a:latin typeface="Cambria Math" panose="02040503050406030204" pitchFamily="18" charset="0"/>
                  </a:rPr>
                  <a:t>$W$</a:t>
                </a:r>
                <a:r>
                  <a:rPr sz="2400" b="0">
                    <a:solidFill>
                      <a:srgbClr val="111827"/>
                    </a:solidFill>
                    <a:latin typeface="Arial"/>
                  </a:rPr>
                  <a:t> or </a:t>
                </a:r>
                <a:r>
                  <a:rPr lang="en-IN" sz="2400">
                    <a:solidFill>
                      <a:srgbClr val="111827"/>
                    </a:solidFill>
                    <a:latin typeface="Cambria Math" panose="02040503050406030204" pitchFamily="18" charset="0"/>
                  </a:rPr>
                  <a:t>$Y$</a:t>
                </a:r>
                <a:r>
                  <a:rPr sz="2400" b="0">
                    <a:solidFill>
                      <a:srgbClr val="111827"/>
                    </a:solidFill>
                    <a:latin typeface="Arial"/>
                  </a:rPr>
                  <a:t>): </a:t>
                </a:r>
                <a:r>
                  <a:rPr lang="en-IN" sz="2400">
                    <a:solidFill>
                      <a:srgbClr val="111827"/>
                    </a:solidFill>
                    <a:latin typeface="Cambria Math" panose="02040503050406030204" pitchFamily="18" charset="0"/>
                  </a:rPr>
                  <a:t>$2\times\dfrac{5!}{2!}=120$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𝐺</m:t>
                    </m:r>
                    <m:r>
                      <a:rPr lang="en-IN" sz="2400" i="1">
                        <a:solidFill>
                          <a:srgbClr val="111827"/>
                        </a:solidFill>
                        <a:latin typeface="Cambria Math" panose="02040503050406030204" pitchFamily="18" charset="0"/>
                      </a:rPr>
                      <m:t>𝑇</m:t>
                    </m:r>
                  </m:oMath>
                </a14:m>
                <a:r>
                  <a:rPr sz="2400" b="0">
                    <a:solidFill>
                      <a:srgbClr val="111827"/>
                    </a:solidFill>
                    <a:latin typeface="Arial"/>
                  </a:rPr>
                  <a:t> with larger third letter (</a:t>
                </a:r>
                <a14:m>
                  <m:oMath xmlns:m="http://schemas.openxmlformats.org/officeDocument/2006/math">
                    <m:r>
                      <a:rPr lang="en-IN" sz="2400" i="1">
                        <a:solidFill>
                          <a:srgbClr val="111827"/>
                        </a:solidFill>
                        <a:latin typeface="Cambria Math" panose="02040503050406030204" pitchFamily="18" charset="0"/>
                      </a:rPr>
                      <m:t>𝑌</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𝐺</m:t>
                    </m:r>
                    <m:r>
                      <a:rPr lang="en-IN" sz="2400" i="1">
                        <a:solidFill>
                          <a:srgbClr val="111827"/>
                        </a:solidFill>
                        <a:latin typeface="Cambria Math" panose="02040503050406030204" pitchFamily="18" charset="0"/>
                      </a:rPr>
                      <m:t>𝑇</m:t>
                    </m:r>
                    <m:r>
                      <a:rPr lang="en-IN" sz="2400" i="1">
                        <a:solidFill>
                          <a:srgbClr val="111827"/>
                        </a:solidFill>
                        <a:latin typeface="Cambria Math" panose="02040503050406030204" pitchFamily="18" charset="0"/>
                      </a:rPr>
                      <m:t>𝑊</m:t>
                    </m:r>
                  </m:oMath>
                </a14:m>
                <a:r>
                  <a:rPr sz="2400" b="0">
                    <a:solidFill>
                      <a:srgbClr val="111827"/>
                    </a:solidFill>
                    <a:latin typeface="Arial"/>
                  </a:rPr>
                  <a:t> with remaining </a:t>
                </a:r>
                <a14:m>
                  <m:oMath xmlns:m="http://schemas.openxmlformats.org/officeDocument/2006/math">
                    <m:r>
                      <a:rPr lang="en-IN" sz="2400" i="1">
                        <a:solidFill>
                          <a:srgbClr val="111827"/>
                        </a:solidFill>
                        <a:latin typeface="Cambria Math" panose="02040503050406030204" pitchFamily="18" charset="0"/>
                      </a:rPr>
                      <m:t>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𝑇</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𝑌</m:t>
                    </m:r>
                  </m:oMath>
                </a14:m>
                <a:r>
                  <a:rPr sz="2400" b="0">
                    <a:solidFill>
                      <a:srgbClr val="111827"/>
                    </a:solidFill>
                    <a:latin typeface="Arial"/>
                  </a:rPr>
                  <a:t> arranged after </a:t>
                </a:r>
                <a14:m>
                  <m:oMath xmlns:m="http://schemas.openxmlformats.org/officeDocument/2006/math">
                    <m:r>
                      <a:rPr lang="en-IN" sz="2400" i="1">
                        <a:solidFill>
                          <a:srgbClr val="111827"/>
                        </a:solidFill>
                        <a:latin typeface="Cambria Math" panose="02040503050406030204" pitchFamily="18" charset="0"/>
                      </a:rPr>
                      <m:t>𝐸</m:t>
                    </m:r>
                    <m:r>
                      <a:rPr lang="en-IN" sz="2400" i="1">
                        <a:solidFill>
                          <a:srgbClr val="111827"/>
                        </a:solidFill>
                        <a:latin typeface="Cambria Math" panose="02040503050406030204" pitchFamily="18" charset="0"/>
                      </a:rPr>
                      <m:t>𝑁</m:t>
                    </m:r>
                    <m:r>
                      <a:rPr lang="en-IN" sz="2400" i="1">
                        <a:solidFill>
                          <a:srgbClr val="111827"/>
                        </a:solidFill>
                        <a:latin typeface="Cambria Math" panose="02040503050406030204" pitchFamily="18" charset="0"/>
                      </a:rPr>
                      <m:t>𝑇</m:t>
                    </m:r>
                    <m:r>
                      <a:rPr lang="en-IN" sz="2400" i="1">
                        <a:solidFill>
                          <a:srgbClr val="111827"/>
                        </a:solidFill>
                        <a:latin typeface="Cambria Math" panose="02040503050406030204" pitchFamily="18" charset="0"/>
                      </a:rPr>
                      <m:t>𝑌</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Words after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1967</m:t>
                    </m:r>
                  </m:oMath>
                </a14:m>
                <a:r>
                  <a:rPr sz="2400" b="0">
                    <a:solidFill>
                      <a:srgbClr val="111827"/>
                    </a:solidFill>
                    <a:latin typeface="Arial"/>
                  </a:rPr>
                  <a:t>, so rank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1967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553</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$GT$</a:t>
                </a:r>
                <a:r>
                  <a:rPr sz="2400" b="0">
                    <a:solidFill>
                      <a:srgbClr val="111827"/>
                    </a:solidFill>
                    <a:latin typeface="Arial"/>
                  </a:rPr>
                  <a:t> with larger third letter (</a:t>
                </a:r>
                <a:r>
                  <a:rPr lang="en-IN" sz="2400">
                    <a:solidFill>
                      <a:srgbClr val="111827"/>
                    </a:solidFill>
                    <a:latin typeface="Cambria Math" panose="02040503050406030204" pitchFamily="18" charset="0"/>
                  </a:rPr>
                  <a:t>$Y$</a:t>
                </a:r>
                <a:r>
                  <a:rPr sz="2400" b="0">
                    <a:solidFill>
                      <a:srgbClr val="111827"/>
                    </a:solidFill>
                    <a:latin typeface="Arial"/>
                  </a:rPr>
                  <a:t>): </a:t>
                </a:r>
                <a:r>
                  <a:rPr lang="en-IN" sz="2400">
                    <a:solidFill>
                      <a:srgbClr val="111827"/>
                    </a:solidFill>
                    <a:latin typeface="Cambria Math" panose="02040503050406030204" pitchFamily="18" charset="0"/>
                  </a:rPr>
                  <a:t>$4!=24$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$GTW$</a:t>
                </a:r>
                <a:r>
                  <a:rPr sz="2400" b="0">
                    <a:solidFill>
                      <a:srgbClr val="111827"/>
                    </a:solidFill>
                    <a:latin typeface="Arial"/>
                  </a:rPr>
                  <a:t> with remaining </a:t>
                </a:r>
                <a:r>
                  <a:rPr lang="en-IN" sz="2400">
                    <a:solidFill>
                      <a:srgbClr val="111827"/>
                    </a:solidFill>
                    <a:latin typeface="Cambria Math" panose="02040503050406030204" pitchFamily="18" charset="0"/>
                  </a:rPr>
                  <a:t>$E,N,T,Y$</a:t>
                </a:r>
                <a:r>
                  <a:rPr sz="2400" b="0">
                    <a:solidFill>
                      <a:srgbClr val="111827"/>
                    </a:solidFill>
                    <a:latin typeface="Arial"/>
                  </a:rPr>
                  <a:t> arranged after </a:t>
                </a:r>
                <a:r>
                  <a:rPr lang="en-IN" sz="2400">
                    <a:solidFill>
                      <a:srgbClr val="111827"/>
                    </a:solidFill>
                    <a:latin typeface="Cambria Math" panose="02040503050406030204" pitchFamily="18" charset="0"/>
                  </a:rPr>
                  <a:t>$ENTY$</a:t>
                </a:r>
                <a:r>
                  <a:rPr sz="2400" b="0">
                    <a:solidFill>
                      <a:srgbClr val="111827"/>
                    </a:solidFill>
                    <a:latin typeface="Arial"/>
                  </a:rPr>
                  <a:t>: </a:t>
                </a:r>
                <a:r>
                  <a:rPr lang="en-IN" sz="2400">
                    <a:solidFill>
                      <a:srgbClr val="111827"/>
                    </a:solidFill>
                    <a:latin typeface="Cambria Math" panose="02040503050406030204" pitchFamily="18" charset="0"/>
                  </a:rPr>
                  <a:t>$4!-1=23$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Words after </a:t>
                </a:r>
                <a:r>
                  <a:rPr lang="en-IN" sz="2400">
                    <a:solidFill>
                      <a:srgbClr val="111827"/>
                    </a:solidFill>
                    <a:latin typeface="Cambria Math" panose="02040503050406030204" pitchFamily="18" charset="0"/>
                  </a:rPr>
                  <a:t>$=1800+120+24+23=1967$</a:t>
                </a:r>
                <a:r>
                  <a:rPr sz="2400" b="0">
                    <a:solidFill>
                      <a:srgbClr val="111827"/>
                    </a:solidFill>
                    <a:latin typeface="Arial"/>
                  </a:rPr>
                  <a:t>, so rank </a:t>
                </a:r>
                <a:r>
                  <a:rPr lang="en-IN" sz="2400">
                    <a:solidFill>
                      <a:srgbClr val="111827"/>
                    </a:solidFill>
                    <a:latin typeface="Cambria Math" panose="02040503050406030204" pitchFamily="18" charset="0"/>
                  </a:rPr>
                  <a:t>$=2520-1967=553$</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553</a:t>
            </a:r>
            <a:endParaRPr sz="2800">
              <a:solidFill>
                <a:srgbClr val="15803D"/>
              </a:solidFill>
            </a:endParaRP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Rank of a word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ary>
                      <m:naryPr>
                        <m:chr m:val="∑"/>
                        <m:limLoc m:val="undOvr"/>
                        <m:subHide m:val="off"/>
                        <m:supHide m:val="on"/>
                        <m:ctrlPr>
                          <a:rPr lang="en-IN" sz="2400" i="1">
                            <a:solidFill>
                              <a:srgbClr val="111827"/>
                            </a:solidFill>
                            <a:latin typeface="Cambria Math" panose="02040503050406030204" pitchFamily="18" charset="0"/>
                          </a:rPr>
                        </m:ctrlPr>
                      </m:naryPr>
                      <m:sub>
                        <m:r>
                          <m:rPr>
                            <m:nor/>
                          </m:rPr>
                          <a:rPr lang="en-IN" sz="2400" i="1">
                            <a:solidFill>
                              <a:srgbClr val="111827"/>
                            </a:solidFill>
                            <a:latin typeface="Cambria Math" panose="02040503050406030204" pitchFamily="18" charset="0"/>
                          </a:rPr>
                          <m:t>𝑝𝑜𝑠𝑖𝑡𝑖𝑜𝑛𝑠</m:t>
                        </m:r>
                      </m:sub>
                      <m:sup>
                        <m:r>
                          <a:rPr lang="en-IN" sz="2400" i="1">
                            <a:solidFill>
                              <a:srgbClr val="111827"/>
                            </a:solidFill>
                            <a:latin typeface="Cambria Math" panose="02040503050406030204" pitchFamily="18" charset="0"/>
                          </a:rPr>
                          <m:t>​</m:t>
                        </m:r>
                      </m:sup>
                      <m:e>
                        <m:r>
                          <m:rPr>
                            <m:sty m:val="p"/>
                          </m:rPr>
                          <a:rPr lang="en-IN" sz="2400">
                            <a:solidFill>
                              <a:srgbClr val="111827"/>
                            </a:solidFill>
                            <a:latin typeface="Cambria Math" panose="02040503050406030204" pitchFamily="18" charset="0"/>
                          </a:rPr>
                          <m:t>(</m:t>
                        </m:r>
                      </m:e>
                    </m:nary>
                    <m:r>
                      <m:rPr>
                        <m:nor/>
                      </m:rPr>
                      <a:rPr lang="en-IN" sz="2400" i="1">
                        <a:solidFill>
                          <a:srgbClr val="111827"/>
                        </a:solidFill>
                        <a:latin typeface="Cambria Math" panose="02040503050406030204" pitchFamily="18" charset="0"/>
                      </a:rPr>
                      <m:t>𝑛𝑢𝑚𝑏𝑒𝑟 𝑜𝑓 𝑤𝑜𝑟𝑑𝑠 𝑤𝑖𝑡ℎ 𝑎 𝑠𝑚𝑎𝑙𝑙𝑒𝑟 𝑙𝑒𝑡𝑡𝑒𝑟 𝑖𝑛 𝑡ℎ𝑎𝑡 𝑝𝑜𝑠𝑖𝑡𝑖𝑜𝑛, 𝑠𝑎𝑚𝑒 𝑝𝑟𝑒𝑓𝑖𝑥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divide by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for each repeated letter among the remaining letters.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Cross-check by counting the words after it: rank </a:t>
                </a:r>
                <a14:m>
                  <m:oMath xmlns:m="http://schemas.openxmlformats.org/officeDocument/2006/math">
                    <m:r>
                      <m:rPr>
                        <m:sty m:val="p"/>
                      </m:rPr>
                      <a:rPr lang="en-IN" sz="2400">
                        <a:solidFill>
                          <a:srgbClr val="111827"/>
                        </a:solidFill>
                        <a:latin typeface="Cambria Math" panose="02040503050406030204" pitchFamily="18" charset="0"/>
                      </a:rPr>
                      <m:t>=</m:t>
                    </m:r>
                    <m:r>
                      <m:rPr>
                        <m:nor/>
                      </m:rPr>
                      <a:rPr lang="en-IN" sz="2400" i="1">
                        <a:solidFill>
                          <a:srgbClr val="111827"/>
                        </a:solidFill>
                        <a:latin typeface="Cambria Math" panose="02040503050406030204" pitchFamily="18" charset="0"/>
                      </a:rPr>
                      <m:t>𝑡𝑜𝑡𝑎𝑙</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nor/>
                      </m:rPr>
                      <a:rPr lang="en-IN" sz="2400" i="1">
                        <a:solidFill>
                          <a:srgbClr val="111827"/>
                        </a:solidFill>
                        <a:latin typeface="Cambria Math" panose="02040503050406030204" pitchFamily="18" charset="0"/>
                      </a:rPr>
                      <m:t>𝑎𝑓𝑡𝑒𝑟</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Once the remaining letters are already in alphabetical order, no more words precede (here after </a:t>
                </a:r>
                <a14:m>
                  <m:oMath xmlns:m="http://schemas.openxmlformats.org/officeDocument/2006/math">
                    <m:r>
                      <a:rPr lang="en-IN" sz="2400" i="1">
                        <a:solidFill>
                          <a:srgbClr val="111827"/>
                        </a:solidFill>
                        <a:latin typeface="Cambria Math" panose="02040503050406030204" pitchFamily="18" charset="0"/>
                      </a:rPr>
                      <m:t>𝐺</m:t>
                    </m:r>
                    <m:r>
                      <a:rPr lang="en-IN" sz="2400" i="1">
                        <a:solidFill>
                          <a:srgbClr val="111827"/>
                        </a:solidFill>
                        <a:latin typeface="Cambria Math" panose="02040503050406030204" pitchFamily="18" charset="0"/>
                      </a:rPr>
                      <m:t>𝑇</m:t>
                    </m:r>
                    <m:r>
                      <a:rPr lang="en-IN" sz="2400" i="1">
                        <a:solidFill>
                          <a:srgbClr val="111827"/>
                        </a:solidFill>
                        <a:latin typeface="Cambria Math" panose="02040503050406030204" pitchFamily="18" charset="0"/>
                      </a:rPr>
                      <m:t>𝑊</m:t>
                    </m:r>
                  </m:oMath>
                </a14:m>
                <a:r>
                  <a:rPr sz="2400" b="0">
                    <a:solidFill>
                      <a:srgbClr val="111827"/>
                    </a:solidFill>
                    <a:latin typeface="Arial"/>
                  </a:rPr>
                  <a:t> the rest </a:t>
                </a:r>
                <a14:m>
                  <m:oMath xmlns:m="http://schemas.openxmlformats.org/officeDocument/2006/math">
                    <m:r>
                      <a:rPr lang="en-IN" sz="2400" i="1">
                        <a:solidFill>
                          <a:srgbClr val="111827"/>
                        </a:solidFill>
                        <a:latin typeface="Cambria Math" panose="02040503050406030204" pitchFamily="18" charset="0"/>
                      </a:rPr>
                      <m:t>𝐸</m:t>
                    </m:r>
                    <m:r>
                      <a:rPr lang="en-IN" sz="2400" i="1">
                        <a:solidFill>
                          <a:srgbClr val="111827"/>
                        </a:solidFill>
                        <a:latin typeface="Cambria Math" panose="02040503050406030204" pitchFamily="18" charset="0"/>
                      </a:rPr>
                      <m:t>𝑁</m:t>
                    </m:r>
                    <m:r>
                      <a:rPr lang="en-IN" sz="2400" i="1">
                        <a:solidFill>
                          <a:srgbClr val="111827"/>
                        </a:solidFill>
                        <a:latin typeface="Cambria Math" panose="02040503050406030204" pitchFamily="18" charset="0"/>
                      </a:rPr>
                      <m:t>𝑇</m:t>
                    </m:r>
                    <m:r>
                      <a:rPr lang="en-IN" sz="2400" i="1">
                        <a:solidFill>
                          <a:srgbClr val="111827"/>
                        </a:solidFill>
                        <a:latin typeface="Cambria Math" panose="02040503050406030204" pitchFamily="18" charset="0"/>
                      </a:rPr>
                      <m:t>𝑌</m:t>
                    </m:r>
                  </m:oMath>
                </a14:m>
                <a:r>
                  <a:rPr sz="2400" b="0">
                    <a:solidFill>
                      <a:srgbClr val="111827"/>
                    </a:solidFill>
                    <a:latin typeface="Arial"/>
                  </a:rPr>
                  <a:t> is increasing).</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Rank of a word </a:t>
                </a:r>
                <a:r>
                  <a:rPr lang="en-IN" sz="2400">
                    <a:solidFill>
                      <a:srgbClr val="111827"/>
                    </a:solidFill>
                    <a:latin typeface="Cambria Math" panose="02040503050406030204" pitchFamily="18" charset="0"/>
                  </a:rPr>
                  <a:t>$=1+\sum_{\text{positions}}(\text{number of words with a smaller letter in that position, same prefix})$</a:t>
                </a:r>
                <a:r>
                  <a:rPr sz="2400" b="0">
                    <a:solidFill>
                      <a:srgbClr val="111827"/>
                    </a:solidFill>
                    <a:latin typeface="Arial"/>
                  </a:rPr>
                  <a:t>; divide by </a:t>
                </a:r>
                <a:r>
                  <a:rPr lang="en-IN" sz="2400">
                    <a:solidFill>
                      <a:srgbClr val="111827"/>
                    </a:solidFill>
                    <a:latin typeface="Cambria Math" panose="02040503050406030204" pitchFamily="18" charset="0"/>
                  </a:rPr>
                  <a:t>$m!$</a:t>
                </a:r>
                <a:r>
                  <a:rPr sz="2400" b="0">
                    <a:solidFill>
                      <a:srgbClr val="111827"/>
                    </a:solidFill>
                    <a:latin typeface="Arial"/>
                  </a:rPr>
                  <a:t> for each repeated letter among the remaining letters.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Cross-check by counting the words after it: rank </a:t>
                </a:r>
                <a:r>
                  <a:rPr lang="en-IN" sz="2400">
                    <a:solidFill>
                      <a:srgbClr val="111827"/>
                    </a:solidFill>
                    <a:latin typeface="Cambria Math" panose="02040503050406030204" pitchFamily="18" charset="0"/>
                  </a:rPr>
                  <a:t>$=\text{total}-\#\text{after}$</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Once the remaining letters are already in alphabetical order, no more words precede (here after </a:t>
                </a:r>
                <a:r>
                  <a:rPr lang="en-IN" sz="2400">
                    <a:solidFill>
                      <a:srgbClr val="111827"/>
                    </a:solidFill>
                    <a:latin typeface="Cambria Math" panose="02040503050406030204" pitchFamily="18" charset="0"/>
                  </a:rPr>
                  <a:t>$GTW$</a:t>
                </a:r>
                <a:r>
                  <a:rPr sz="2400" b="0">
                    <a:solidFill>
                      <a:srgbClr val="111827"/>
                    </a:solidFill>
                    <a:latin typeface="Arial"/>
                  </a:rPr>
                  <a:t> the rest </a:t>
                </a:r>
                <a:r>
                  <a:rPr lang="en-IN" sz="2400">
                    <a:solidFill>
                      <a:srgbClr val="111827"/>
                    </a:solidFill>
                    <a:latin typeface="Cambria Math" panose="02040503050406030204" pitchFamily="18" charset="0"/>
                  </a:rPr>
                  <a:t>$ENTY$</a:t>
                </a:r>
                <a:r>
                  <a:rPr sz="2400" b="0">
                    <a:solidFill>
                      <a:srgbClr val="111827"/>
                    </a:solidFill>
                    <a:latin typeface="Arial"/>
                  </a:rPr>
                  <a:t> is increasing).</a:t>
                </a:r>
                <a:endParaRPr sz="2400">
                  <a:solidFill>
                    <a:srgbClr val="111827"/>
                  </a:solidFill>
                </a:endParaRPr>
              </a:p>
            </p:txBody>
          </p:sp>
        </mc:Fallback>
      </mc:AlternateContent>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3123692"/>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In an examination of Mathematics paper, there are </a:t>
                </a:r>
                <a14:m>
                  <m:oMath xmlns:m="http://schemas.openxmlformats.org/officeDocument/2006/math">
                    <m:r>
                      <a:rPr lang="en-IN" sz="2400" i="1">
                        <a:solidFill>
                          <a:srgbClr val="111827"/>
                        </a:solidFill>
                        <a:latin typeface="Cambria Math" panose="02040503050406030204" pitchFamily="18" charset="0"/>
                      </a:rPr>
                      <m:t>20</m:t>
                    </m:r>
                  </m:oMath>
                </a14:m>
                <a:r>
                  <a:rPr sz="2400" b="0">
                    <a:solidFill>
                      <a:srgbClr val="111827"/>
                    </a:solidFill>
                    <a:latin typeface="Arial"/>
                  </a:rPr>
                  <a:t> questions of equal marks and the question paper is divided into three sections: A, B and C. A student is required to attempt total </a:t>
                </a:r>
                <a14:m>
                  <m:oMath xmlns:m="http://schemas.openxmlformats.org/officeDocument/2006/math">
                    <m:r>
                      <a:rPr lang="en-IN" sz="2400" i="1">
                        <a:solidFill>
                          <a:srgbClr val="111827"/>
                        </a:solidFill>
                        <a:latin typeface="Cambria Math" panose="02040503050406030204" pitchFamily="18" charset="0"/>
                      </a:rPr>
                      <m:t>15</m:t>
                    </m:r>
                  </m:oMath>
                </a14:m>
                <a:r>
                  <a:rPr sz="2400" b="0">
                    <a:solidFill>
                      <a:srgbClr val="111827"/>
                    </a:solidFill>
                    <a:latin typeface="Arial"/>
                  </a:rPr>
                  <a:t> questions taking at least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questions from each section. If section A has </a:t>
                </a:r>
                <a14:m>
                  <m:oMath xmlns:m="http://schemas.openxmlformats.org/officeDocument/2006/math">
                    <m:r>
                      <a:rPr lang="en-IN" sz="2400" i="1">
                        <a:solidFill>
                          <a:srgbClr val="111827"/>
                        </a:solidFill>
                        <a:latin typeface="Cambria Math" panose="02040503050406030204" pitchFamily="18" charset="0"/>
                      </a:rPr>
                      <m:t>8</m:t>
                    </m:r>
                  </m:oMath>
                </a14:m>
                <a:r>
                  <a:rPr sz="2400" b="0">
                    <a:solidFill>
                      <a:srgbClr val="111827"/>
                    </a:solidFill>
                    <a:latin typeface="Arial"/>
                  </a:rPr>
                  <a:t> questions, section B has </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 questions and section C has </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 questions, then the total number of ways a student can select </a:t>
                </a:r>
                <a14:m>
                  <m:oMath xmlns:m="http://schemas.openxmlformats.org/officeDocument/2006/math">
                    <m:r>
                      <a:rPr lang="en-IN" sz="2400" i="1">
                        <a:solidFill>
                          <a:srgbClr val="111827"/>
                        </a:solidFill>
                        <a:latin typeface="Cambria Math" panose="02040503050406030204" pitchFamily="18" charset="0"/>
                      </a:rPr>
                      <m:t>15</m:t>
                    </m:r>
                  </m:oMath>
                </a14:m>
                <a:r>
                  <a:rPr sz="2400" b="0">
                    <a:solidFill>
                      <a:srgbClr val="111827"/>
                    </a:solidFill>
                    <a:latin typeface="Arial"/>
                  </a:rPr>
                  <a:t> questions is ____.</a:t>
                </a:r>
                <a:endParaRPr sz="2400">
                  <a:solidFill>
                    <a:srgbClr val="111827"/>
                  </a:solidFill>
                </a:endParaRPr>
              </a:p>
            </p:txBody>
          </p:sp>
        </mc:Choice>
        <mc:Fallback>
          <p:sp>
            <p:nvSpPr>
              <p:cNvPr id="4" name="Rounded Rectangle 3"/>
              <p:cNvSpPr/>
              <p:nvPr/>
            </p:nvSpPr>
            <p:spPr>
              <a:xfrm>
                <a:off x="731520" y="1280160"/>
                <a:ext cx="10725912" cy="3123692"/>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In an examination of Mathematics paper, there are </a:t>
                </a:r>
                <a:r>
                  <a:rPr lang="en-IN" sz="2400">
                    <a:solidFill>
                      <a:srgbClr val="111827"/>
                    </a:solidFill>
                    <a:latin typeface="Cambria Math" panose="02040503050406030204" pitchFamily="18" charset="0"/>
                  </a:rPr>
                  <a:t>$20$</a:t>
                </a:r>
                <a:r>
                  <a:rPr sz="2400" b="0">
                    <a:solidFill>
                      <a:srgbClr val="111827"/>
                    </a:solidFill>
                    <a:latin typeface="Arial"/>
                  </a:rPr>
                  <a:t> questions of equal marks and the question paper is divided into three sections: A, B and C. A student is required to attempt total </a:t>
                </a:r>
                <a:r>
                  <a:rPr lang="en-IN" sz="2400">
                    <a:solidFill>
                      <a:srgbClr val="111827"/>
                    </a:solidFill>
                    <a:latin typeface="Cambria Math" panose="02040503050406030204" pitchFamily="18" charset="0"/>
                  </a:rPr>
                  <a:t>$15$</a:t>
                </a:r>
                <a:r>
                  <a:rPr sz="2400" b="0">
                    <a:solidFill>
                      <a:srgbClr val="111827"/>
                    </a:solidFill>
                    <a:latin typeface="Arial"/>
                  </a:rPr>
                  <a:t> questions taking at least </a:t>
                </a:r>
                <a:r>
                  <a:rPr lang="en-IN" sz="2400">
                    <a:solidFill>
                      <a:srgbClr val="111827"/>
                    </a:solidFill>
                    <a:latin typeface="Cambria Math" panose="02040503050406030204" pitchFamily="18" charset="0"/>
                  </a:rPr>
                  <a:t>$4$</a:t>
                </a:r>
                <a:r>
                  <a:rPr sz="2400" b="0">
                    <a:solidFill>
                      <a:srgbClr val="111827"/>
                    </a:solidFill>
                    <a:latin typeface="Arial"/>
                  </a:rPr>
                  <a:t> questions from each section. If section A has </a:t>
                </a:r>
                <a:r>
                  <a:rPr lang="en-IN" sz="2400">
                    <a:solidFill>
                      <a:srgbClr val="111827"/>
                    </a:solidFill>
                    <a:latin typeface="Cambria Math" panose="02040503050406030204" pitchFamily="18" charset="0"/>
                  </a:rPr>
                  <a:t>$8$</a:t>
                </a:r>
                <a:r>
                  <a:rPr sz="2400" b="0">
                    <a:solidFill>
                      <a:srgbClr val="111827"/>
                    </a:solidFill>
                    <a:latin typeface="Arial"/>
                  </a:rPr>
                  <a:t> questions, section B has </a:t>
                </a:r>
                <a:r>
                  <a:rPr lang="en-IN" sz="2400">
                    <a:solidFill>
                      <a:srgbClr val="111827"/>
                    </a:solidFill>
                    <a:latin typeface="Cambria Math" panose="02040503050406030204" pitchFamily="18" charset="0"/>
                  </a:rPr>
                  <a:t>$6$</a:t>
                </a:r>
                <a:r>
                  <a:rPr sz="2400" b="0">
                    <a:solidFill>
                      <a:srgbClr val="111827"/>
                    </a:solidFill>
                    <a:latin typeface="Arial"/>
                  </a:rPr>
                  <a:t> questions and section C has </a:t>
                </a:r>
                <a:r>
                  <a:rPr lang="en-IN" sz="2400">
                    <a:solidFill>
                      <a:srgbClr val="111827"/>
                    </a:solidFill>
                    <a:latin typeface="Cambria Math" panose="02040503050406030204" pitchFamily="18" charset="0"/>
                  </a:rPr>
                  <a:t>$6$</a:t>
                </a:r>
                <a:r>
                  <a:rPr sz="2400" b="0">
                    <a:solidFill>
                      <a:srgbClr val="111827"/>
                    </a:solidFill>
                    <a:latin typeface="Arial"/>
                  </a:rPr>
                  <a:t> questions, then the total number of ways a student can select </a:t>
                </a:r>
                <a:r>
                  <a:rPr lang="en-IN" sz="2400">
                    <a:solidFill>
                      <a:srgbClr val="111827"/>
                    </a:solidFill>
                    <a:latin typeface="Cambria Math" panose="02040503050406030204" pitchFamily="18" charset="0"/>
                  </a:rPr>
                  <a:t>$15$</a:t>
                </a:r>
                <a:r>
                  <a:rPr sz="2400" b="0">
                    <a:solidFill>
                      <a:srgbClr val="111827"/>
                    </a:solidFill>
                    <a:latin typeface="Arial"/>
                  </a:rPr>
                  <a:t> questions is ____.</a:t>
                </a:r>
                <a:endParaRPr sz="2400">
                  <a:solidFill>
                    <a:srgbClr val="111827"/>
                  </a:solidFill>
                </a:endParaRPr>
              </a:p>
            </p:txBody>
          </p:sp>
        </mc:Fallback>
      </mc:AlternateContent>
      <p:sp>
        <p:nvSpPr>
          <p:cNvPr id="5" name="Rectangle 4"/>
          <p:cNvSpPr/>
          <p:nvPr/>
        </p:nvSpPr>
        <p:spPr>
          <a:xfrm>
            <a:off x="731520" y="4632452"/>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Selection with minimum-from-each-group restrictions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Take </a:t>
                </a:r>
                <a14:m>
                  <m:oMath xmlns:m="http://schemas.openxmlformats.org/officeDocument/2006/math">
                    <m:r>
                      <a:rPr lang="en-IN" sz="2400" i="1">
                        <a:solidFill>
                          <a:srgbClr val="78350F"/>
                        </a:solidFill>
                        <a:latin typeface="Cambria Math" panose="02040503050406030204" pitchFamily="18" charset="0"/>
                      </a:rPr>
                      <m:t>4</m:t>
                    </m:r>
                  </m:oMath>
                </a14:m>
                <a:r>
                  <a:rPr sz="2400" b="0">
                    <a:solidFill>
                      <a:srgbClr val="78350F"/>
                    </a:solidFill>
                    <a:latin typeface="Arial"/>
                  </a:rPr>
                  <a:t> from each section first; the remaining </a:t>
                </a:r>
                <a14:m>
                  <m:oMath xmlns:m="http://schemas.openxmlformats.org/officeDocument/2006/math">
                    <m:r>
                      <a:rPr lang="en-IN" sz="2400" i="1">
                        <a:solidFill>
                          <a:srgbClr val="78350F"/>
                        </a:solidFill>
                        <a:latin typeface="Cambria Math" panose="02040503050406030204" pitchFamily="18" charset="0"/>
                      </a:rPr>
                      <m:t>3</m:t>
                    </m:r>
                  </m:oMath>
                </a14:m>
                <a:r>
                  <a:rPr sz="2400" b="0">
                    <a:solidFill>
                      <a:srgbClr val="78350F"/>
                    </a:solidFill>
                    <a:latin typeface="Arial"/>
                  </a:rPr>
                  <a:t> questions are distributed in the patterns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or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within the section limits.</a:t>
                </a:r>
                <a:endParaRPr sz="2400">
                  <a:solidFill>
                    <a:srgbClr val="78350F"/>
                  </a:solidFill>
                </a:endParaRPr>
              </a:p>
            </p:txBody>
          </p:sp>
        </mc:Choice>
        <mc:Fallback>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Take </a:t>
                </a:r>
                <a:r>
                  <a:rPr lang="en-IN" sz="2400">
                    <a:solidFill>
                      <a:srgbClr val="78350F"/>
                    </a:solidFill>
                    <a:latin typeface="Cambria Math" panose="02040503050406030204" pitchFamily="18" charset="0"/>
                  </a:rPr>
                  <a:t>$4$</a:t>
                </a:r>
                <a:r>
                  <a:rPr sz="2400" b="0">
                    <a:solidFill>
                      <a:srgbClr val="78350F"/>
                    </a:solidFill>
                    <a:latin typeface="Arial"/>
                  </a:rPr>
                  <a:t> from each section first; the remaining </a:t>
                </a:r>
                <a:r>
                  <a:rPr lang="en-IN" sz="2400">
                    <a:solidFill>
                      <a:srgbClr val="78350F"/>
                    </a:solidFill>
                    <a:latin typeface="Cambria Math" panose="02040503050406030204" pitchFamily="18" charset="0"/>
                  </a:rPr>
                  <a:t>$3$</a:t>
                </a:r>
                <a:r>
                  <a:rPr sz="2400" b="0">
                    <a:solidFill>
                      <a:srgbClr val="78350F"/>
                    </a:solidFill>
                    <a:latin typeface="Arial"/>
                  </a:rPr>
                  <a:t> questions are distributed in the patterns </a:t>
                </a:r>
                <a:r>
                  <a:rPr lang="en-IN" sz="2400">
                    <a:solidFill>
                      <a:srgbClr val="78350F"/>
                    </a:solidFill>
                    <a:latin typeface="Cambria Math" panose="02040503050406030204" pitchFamily="18" charset="0"/>
                  </a:rPr>
                  <a:t>$(1,1,1)$</a:t>
                </a:r>
                <a:r>
                  <a:rPr sz="2400" b="0">
                    <a:solidFill>
                      <a:srgbClr val="78350F"/>
                    </a:solidFill>
                    <a:latin typeface="Arial"/>
                  </a:rPr>
                  <a:t>, </a:t>
                </a:r>
                <a:r>
                  <a:rPr lang="en-IN" sz="2400">
                    <a:solidFill>
                      <a:srgbClr val="78350F"/>
                    </a:solidFill>
                    <a:latin typeface="Cambria Math" panose="02040503050406030204" pitchFamily="18" charset="0"/>
                  </a:rPr>
                  <a:t>$(3,0,0)$</a:t>
                </a:r>
                <a:r>
                  <a:rPr sz="2400" b="0">
                    <a:solidFill>
                      <a:srgbClr val="78350F"/>
                    </a:solidFill>
                    <a:latin typeface="Arial"/>
                  </a:rPr>
                  <a:t> or </a:t>
                </a:r>
                <a:r>
                  <a:rPr lang="en-IN" sz="2400">
                    <a:solidFill>
                      <a:srgbClr val="78350F"/>
                    </a:solidFill>
                    <a:latin typeface="Cambria Math" panose="02040503050406030204" pitchFamily="18" charset="0"/>
                  </a:rPr>
                  <a:t>$(2,1,0)$</a:t>
                </a:r>
                <a:r>
                  <a:rPr sz="2400" b="0">
                    <a:solidFill>
                      <a:srgbClr val="78350F"/>
                    </a:solidFill>
                    <a:latin typeface="Arial"/>
                  </a:rPr>
                  <a:t> within the section limits.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Take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questions from each section (</a:t>
                </a:r>
                <a14:m>
                  <m:oMath xmlns:m="http://schemas.openxmlformats.org/officeDocument/2006/math">
                    <m:r>
                      <a:rPr lang="en-IN" sz="2400" i="1">
                        <a:solidFill>
                          <a:srgbClr val="111827"/>
                        </a:solidFill>
                        <a:latin typeface="Cambria Math" panose="02040503050406030204" pitchFamily="18" charset="0"/>
                      </a:rPr>
                      <m:t>12</m:t>
                    </m:r>
                  </m:oMath>
                </a14:m>
                <a:r>
                  <a:rPr sz="2400" b="0">
                    <a:solidFill>
                      <a:srgbClr val="111827"/>
                    </a:solidFill>
                    <a:latin typeface="Arial"/>
                  </a:rPr>
                  <a:t> in all); the remaining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questions are added in the patterns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or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(counts of extra questions from A, B, C), subject to B and C having only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extra available.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Counts selected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8</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5</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6</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5</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6</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5</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2016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 </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8</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6</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6</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5</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6</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4</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5040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 </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8</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5</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6</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6</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6</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4</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1680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Take </a:t>
                </a:r>
                <a:r>
                  <a:rPr lang="en-IN" sz="2400">
                    <a:solidFill>
                      <a:srgbClr val="111827"/>
                    </a:solidFill>
                    <a:latin typeface="Cambria Math" panose="02040503050406030204" pitchFamily="18" charset="0"/>
                  </a:rPr>
                  <a:t>$4$</a:t>
                </a:r>
                <a:r>
                  <a:rPr sz="2400" b="0">
                    <a:solidFill>
                      <a:srgbClr val="111827"/>
                    </a:solidFill>
                    <a:latin typeface="Arial"/>
                  </a:rPr>
                  <a:t> questions from each section (</a:t>
                </a:r>
                <a:r>
                  <a:rPr lang="en-IN" sz="2400">
                    <a:solidFill>
                      <a:srgbClr val="111827"/>
                    </a:solidFill>
                    <a:latin typeface="Cambria Math" panose="02040503050406030204" pitchFamily="18" charset="0"/>
                  </a:rPr>
                  <a:t>$12$</a:t>
                </a:r>
                <a:r>
                  <a:rPr sz="2400" b="0">
                    <a:solidFill>
                      <a:srgbClr val="111827"/>
                    </a:solidFill>
                    <a:latin typeface="Arial"/>
                  </a:rPr>
                  <a:t> in all); the remaining </a:t>
                </a:r>
                <a:r>
                  <a:rPr lang="en-IN" sz="2400">
                    <a:solidFill>
                      <a:srgbClr val="111827"/>
                    </a:solidFill>
                    <a:latin typeface="Cambria Math" panose="02040503050406030204" pitchFamily="18" charset="0"/>
                  </a:rPr>
                  <a:t>$3$</a:t>
                </a:r>
                <a:r>
                  <a:rPr sz="2400" b="0">
                    <a:solidFill>
                      <a:srgbClr val="111827"/>
                    </a:solidFill>
                    <a:latin typeface="Arial"/>
                  </a:rPr>
                  <a:t> questions are added in the patterns </a:t>
                </a:r>
                <a:r>
                  <a:rPr lang="en-IN" sz="2400">
                    <a:solidFill>
                      <a:srgbClr val="111827"/>
                    </a:solidFill>
                    <a:latin typeface="Cambria Math" panose="02040503050406030204" pitchFamily="18" charset="0"/>
                  </a:rPr>
                  <a:t>$(1,1,1)$</a:t>
                </a:r>
                <a:r>
                  <a:rPr sz="2400" b="0">
                    <a:solidFill>
                      <a:srgbClr val="111827"/>
                    </a:solidFill>
                    <a:latin typeface="Arial"/>
                  </a:rPr>
                  <a:t>, </a:t>
                </a:r>
                <a:r>
                  <a:rPr lang="en-IN" sz="2400">
                    <a:solidFill>
                      <a:srgbClr val="111827"/>
                    </a:solidFill>
                    <a:latin typeface="Cambria Math" panose="02040503050406030204" pitchFamily="18" charset="0"/>
                  </a:rPr>
                  <a:t>$(3,0,0)$</a:t>
                </a:r>
                <a:r>
                  <a:rPr sz="2400" b="0">
                    <a:solidFill>
                      <a:srgbClr val="111827"/>
                    </a:solidFill>
                    <a:latin typeface="Arial"/>
                  </a:rPr>
                  <a:t> or </a:t>
                </a:r>
                <a:r>
                  <a:rPr lang="en-IN" sz="2400">
                    <a:solidFill>
                      <a:srgbClr val="111827"/>
                    </a:solidFill>
                    <a:latin typeface="Cambria Math" panose="02040503050406030204" pitchFamily="18" charset="0"/>
                  </a:rPr>
                  <a:t>$(2,1,0)$</a:t>
                </a:r>
                <a:r>
                  <a:rPr sz="2400" b="0">
                    <a:solidFill>
                      <a:srgbClr val="111827"/>
                    </a:solidFill>
                    <a:latin typeface="Arial"/>
                  </a:rPr>
                  <a:t> (counts of extra questions from A, B, C), subject to B and C having only </a:t>
                </a:r>
                <a:r>
                  <a:rPr lang="en-IN" sz="2400">
                    <a:solidFill>
                      <a:srgbClr val="111827"/>
                    </a:solidFill>
                    <a:latin typeface="Cambria Math" panose="02040503050406030204" pitchFamily="18" charset="0"/>
                  </a:rPr>
                  <a:t>$2$</a:t>
                </a:r>
                <a:r>
                  <a:rPr sz="2400" b="0">
                    <a:solidFill>
                      <a:srgbClr val="111827"/>
                    </a:solidFill>
                    <a:latin typeface="Arial"/>
                  </a:rPr>
                  <a:t> extra available.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Counts selected </a:t>
                </a:r>
                <a:r>
                  <a:rPr lang="en-IN" sz="2400">
                    <a:solidFill>
                      <a:srgbClr val="111827"/>
                    </a:solidFill>
                    <a:latin typeface="Cambria Math" panose="02040503050406030204" pitchFamily="18" charset="0"/>
                  </a:rPr>
                  <a:t>$(a,b,c)$</a:t>
                </a:r>
                <a:r>
                  <a:rPr sz="2400" b="0">
                    <a:solidFill>
                      <a:srgbClr val="111827"/>
                    </a:solidFill>
                    <a:latin typeface="Arial"/>
                  </a:rPr>
                  <a:t>: </a:t>
                </a:r>
                <a:r>
                  <a:rPr lang="en-IN" sz="2400">
                    <a:solidFill>
                      <a:srgbClr val="111827"/>
                    </a:solidFill>
                    <a:latin typeface="Cambria Math" panose="02040503050406030204" pitchFamily="18" charset="0"/>
                  </a:rPr>
                  <a:t>$(5,5,5)$</a:t>
                </a:r>
                <a:r>
                  <a:rPr sz="2400" b="0">
                    <a:solidFill>
                      <a:srgbClr val="111827"/>
                    </a:solidFill>
                    <a:latin typeface="Arial"/>
                  </a:rPr>
                  <a:t>: </a:t>
                </a:r>
                <a:r>
                  <a:rPr lang="en-IN" sz="2400">
                    <a:solidFill>
                      <a:srgbClr val="111827"/>
                    </a:solidFill>
                    <a:latin typeface="Cambria Math" panose="02040503050406030204" pitchFamily="18" charset="0"/>
                  </a:rPr>
                  <a:t>$^8C_5\cdot{}^6C_5\cdot{}^6C_5=56\cdot6\cdot6=2016$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$(6,5,4)$</a:t>
                </a:r>
                <a:r>
                  <a:rPr sz="2400" b="0">
                    <a:solidFill>
                      <a:srgbClr val="111827"/>
                    </a:solidFill>
                    <a:latin typeface="Arial"/>
                  </a:rPr>
                  <a:t> and </a:t>
                </a:r>
                <a:r>
                  <a:rPr lang="en-IN" sz="2400">
                    <a:solidFill>
                      <a:srgbClr val="111827"/>
                    </a:solidFill>
                    <a:latin typeface="Cambria Math" panose="02040503050406030204" pitchFamily="18" charset="0"/>
                  </a:rPr>
                  <a:t>$(6,4,5)$</a:t>
                </a:r>
                <a:r>
                  <a:rPr sz="2400" b="0">
                    <a:solidFill>
                      <a:srgbClr val="111827"/>
                    </a:solidFill>
                    <a:latin typeface="Arial"/>
                  </a:rPr>
                  <a:t>: </a:t>
                </a:r>
                <a:r>
                  <a:rPr lang="en-IN" sz="2400">
                    <a:solidFill>
                      <a:srgbClr val="111827"/>
                    </a:solidFill>
                    <a:latin typeface="Cambria Math" panose="02040503050406030204" pitchFamily="18" charset="0"/>
                  </a:rPr>
                  <a:t>$2\,(^8C_6\cdot{}^6C_5\cdot{}^6C_4)=2\cdot28\cdot6\cdot15=5040$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$(5,6,4)$</a:t>
                </a:r>
                <a:r>
                  <a:rPr sz="2400" b="0">
                    <a:solidFill>
                      <a:srgbClr val="111827"/>
                    </a:solidFill>
                    <a:latin typeface="Arial"/>
                  </a:rPr>
                  <a:t> and </a:t>
                </a:r>
                <a:r>
                  <a:rPr lang="en-IN" sz="2400">
                    <a:solidFill>
                      <a:srgbClr val="111827"/>
                    </a:solidFill>
                    <a:latin typeface="Cambria Math" panose="02040503050406030204" pitchFamily="18" charset="0"/>
                  </a:rPr>
                  <a:t>$(5,4,6)$</a:t>
                </a:r>
                <a:r>
                  <a:rPr sz="2400" b="0">
                    <a:solidFill>
                      <a:srgbClr val="111827"/>
                    </a:solidFill>
                    <a:latin typeface="Arial"/>
                  </a:rPr>
                  <a:t>: </a:t>
                </a:r>
                <a:r>
                  <a:rPr lang="en-IN" sz="2400">
                    <a:solidFill>
                      <a:srgbClr val="111827"/>
                    </a:solidFill>
                    <a:latin typeface="Cambria Math" panose="02040503050406030204" pitchFamily="18" charset="0"/>
                  </a:rPr>
                  <a:t>$2\,(^8C_5\cdot{}^6C_6\cdot{}^6C_4)=2\cdot56\cdot15=1680$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 </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8</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4</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6</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6</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6</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5</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840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8</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7</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6</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4</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6</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4</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1800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5040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1680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840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11376</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$(4,6,5)$</a:t>
                </a:r>
                <a:r>
                  <a:rPr sz="2400" b="0">
                    <a:solidFill>
                      <a:srgbClr val="111827"/>
                    </a:solidFill>
                    <a:latin typeface="Arial"/>
                  </a:rPr>
                  <a:t> and </a:t>
                </a:r>
                <a:r>
                  <a:rPr lang="en-IN" sz="2400">
                    <a:solidFill>
                      <a:srgbClr val="111827"/>
                    </a:solidFill>
                    <a:latin typeface="Cambria Math" panose="02040503050406030204" pitchFamily="18" charset="0"/>
                  </a:rPr>
                  <a:t>$(4,5,6)$</a:t>
                </a:r>
                <a:r>
                  <a:rPr sz="2400" b="0">
                    <a:solidFill>
                      <a:srgbClr val="111827"/>
                    </a:solidFill>
                    <a:latin typeface="Arial"/>
                  </a:rPr>
                  <a:t>: </a:t>
                </a:r>
                <a:r>
                  <a:rPr lang="en-IN" sz="2400">
                    <a:solidFill>
                      <a:srgbClr val="111827"/>
                    </a:solidFill>
                    <a:latin typeface="Cambria Math" panose="02040503050406030204" pitchFamily="18" charset="0"/>
                  </a:rPr>
                  <a:t>$2\,(^8C_4\cdot{}^6C_6\cdot{}^6C_5)=2\cdot70\cdot6=840$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$(7,4,4)$</a:t>
                </a:r>
                <a:r>
                  <a:rPr sz="2400" b="0">
                    <a:solidFill>
                      <a:srgbClr val="111827"/>
                    </a:solidFill>
                    <a:latin typeface="Arial"/>
                  </a:rPr>
                  <a:t>: </a:t>
                </a:r>
                <a:r>
                  <a:rPr lang="en-IN" sz="2400">
                    <a:solidFill>
                      <a:srgbClr val="111827"/>
                    </a:solidFill>
                    <a:latin typeface="Cambria Math" panose="02040503050406030204" pitchFamily="18" charset="0"/>
                  </a:rPr>
                  <a:t>$^8C_7\cdot{}^6C_4\cdot{}^6C_4=8\cdot15\cdot15=1800$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r>
                  <a:rPr lang="en-IN" sz="2400">
                    <a:solidFill>
                      <a:srgbClr val="111827"/>
                    </a:solidFill>
                    <a:latin typeface="Cambria Math" panose="02040503050406030204" pitchFamily="18" charset="0"/>
                  </a:rPr>
                  <a:t>$=2016+5040+1680+840+1800=11376$</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11376</a:t>
            </a:r>
            <a:endParaRPr sz="2800">
              <a:solidFill>
                <a:srgbClr val="15803D"/>
              </a:solidFill>
            </a:endParaRP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Complement: all </a:t>
                </a:r>
                <a14:m>
                  <m:oMath xmlns:m="http://schemas.openxmlformats.org/officeDocument/2006/math">
                    <m:d>
                      <m:dPr>
                        <m:begChr m:val="("/>
                        <m:sepChr m:val=""/>
                        <m:endChr m:val=")"/>
                        <m:grow/>
                        <m:ctrlPr>
                          <a:rPr lang="en-IN" sz="2400" i="1">
                            <a:solidFill>
                              <a:srgbClr val="78350F"/>
                            </a:solidFill>
                            <a:latin typeface="Cambria Math" panose="02040503050406030204" pitchFamily="18" charset="0"/>
                          </a:rPr>
                        </m:ctrlPr>
                      </m:dPr>
                      <m:e>
                        <m:f>
                          <m:fPr>
                            <m:type m:val="no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20</m:t>
                            </m:r>
                          </m:num>
                          <m:den>
                            <m:r>
                              <a:rPr lang="en-IN" sz="2400" i="1">
                                <a:solidFill>
                                  <a:srgbClr val="78350F"/>
                                </a:solidFill>
                                <a:latin typeface="Cambria Math" panose="02040503050406030204" pitchFamily="18" charset="0"/>
                              </a:rPr>
                              <m:t>15</m:t>
                            </m:r>
                          </m:den>
                        </m:f>
                      </m:e>
                    </m:d>
                  </m:oMath>
                </a14:m>
                <a:r>
                  <a:rPr sz="2400" b="0">
                    <a:solidFill>
                      <a:srgbClr val="78350F"/>
                    </a:solidFill>
                    <a:latin typeface="Arial"/>
                  </a:rPr>
                  <a:t> selections minus those where some section has fewer than </a:t>
                </a:r>
                <a14:m>
                  <m:oMath xmlns:m="http://schemas.openxmlformats.org/officeDocument/2006/math">
                    <m:r>
                      <a:rPr lang="en-IN" sz="2400" i="1">
                        <a:solidFill>
                          <a:srgbClr val="78350F"/>
                        </a:solidFill>
                        <a:latin typeface="Cambria Math" panose="02040503050406030204" pitchFamily="18" charset="0"/>
                      </a:rPr>
                      <m:t>4</m:t>
                    </m:r>
                  </m:oMath>
                </a14:m>
                <a:r>
                  <a:rPr sz="2400" b="0">
                    <a:solidFill>
                      <a:srgbClr val="78350F"/>
                    </a:solidFill>
                    <a:latin typeface="Arial"/>
                  </a:rPr>
                  <a:t> chosen (inclusion-exclusion).</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Complement: all </a:t>
                </a:r>
                <a:r>
                  <a:rPr lang="en-IN" sz="2400">
                    <a:solidFill>
                      <a:srgbClr val="78350F"/>
                    </a:solidFill>
                    <a:latin typeface="Cambria Math" panose="02040503050406030204" pitchFamily="18" charset="0"/>
                  </a:rPr>
                  <a:t>$\binom{20}{15}$</a:t>
                </a:r>
                <a:r>
                  <a:rPr sz="2400" b="0">
                    <a:solidFill>
                      <a:srgbClr val="78350F"/>
                    </a:solidFill>
                    <a:latin typeface="Arial"/>
                  </a:rPr>
                  <a:t> selections minus those where some section has fewer than </a:t>
                </a:r>
                <a:r>
                  <a:rPr lang="en-IN" sz="2400">
                    <a:solidFill>
                      <a:srgbClr val="78350F"/>
                    </a:solidFill>
                    <a:latin typeface="Cambria Math" panose="02040503050406030204" pitchFamily="18" charset="0"/>
                  </a:rPr>
                  <a:t>$4$</a:t>
                </a:r>
                <a:r>
                  <a:rPr sz="2400" b="0">
                    <a:solidFill>
                      <a:srgbClr val="78350F"/>
                    </a:solidFill>
                    <a:latin typeface="Arial"/>
                  </a:rPr>
                  <a:t> chosen (inclusion-exclusion).</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All selections: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20</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15</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15504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Section A with at most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chosen: only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from A and all </a:t>
                </a:r>
                <a14:m>
                  <m:oMath xmlns:m="http://schemas.openxmlformats.org/officeDocument/2006/math">
                    <m:r>
                      <a:rPr lang="en-IN" sz="2400" i="1">
                        <a:solidFill>
                          <a:srgbClr val="111827"/>
                        </a:solidFill>
                        <a:latin typeface="Cambria Math" panose="02040503050406030204" pitchFamily="18" charset="0"/>
                      </a:rPr>
                      <m:t>12</m:t>
                    </m:r>
                  </m:oMath>
                </a14:m>
                <a:r>
                  <a:rPr sz="2400" b="0">
                    <a:solidFill>
                      <a:srgbClr val="111827"/>
                    </a:solidFill>
                    <a:latin typeface="Arial"/>
                  </a:rPr>
                  <a:t> of B,C works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8</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56</m:t>
                    </m:r>
                  </m:oMath>
                </a14:m>
                <a:r>
                  <a:rPr sz="2400" b="0">
                    <a:solidFill>
                      <a:srgbClr val="111827"/>
                    </a:solidFill>
                    <a:latin typeface="Arial"/>
                  </a:rPr>
                  <a:t> (fewer than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from A cannot reach </a:t>
                </a:r>
                <a14:m>
                  <m:oMath xmlns:m="http://schemas.openxmlformats.org/officeDocument/2006/math">
                    <m:r>
                      <a:rPr lang="en-IN" sz="2400" i="1">
                        <a:solidFill>
                          <a:srgbClr val="111827"/>
                        </a:solidFill>
                        <a:latin typeface="Cambria Math" panose="02040503050406030204" pitchFamily="18" charset="0"/>
                      </a:rPr>
                      <m:t>15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Section B with at most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chosen: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6</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14</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12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1820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6</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14</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13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6</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14</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14</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total </a:t>
                </a:r>
                <a14:m>
                  <m:oMath xmlns:m="http://schemas.openxmlformats.org/officeDocument/2006/math">
                    <m:r>
                      <a:rPr lang="en-IN" sz="2400" i="1">
                        <a:solidFill>
                          <a:srgbClr val="111827"/>
                        </a:solidFill>
                        <a:latin typeface="Cambria Math" panose="02040503050406030204" pitchFamily="18" charset="0"/>
                      </a:rPr>
                      <m:t>2036</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All selections: </a:t>
                </a:r>
                <a:r>
                  <a:rPr lang="en-IN" sz="2400">
                    <a:solidFill>
                      <a:srgbClr val="111827"/>
                    </a:solidFill>
                    <a:latin typeface="Cambria Math" panose="02040503050406030204" pitchFamily="18" charset="0"/>
                  </a:rPr>
                  <a:t>$^{20}C_{15}=15504$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Section A with at most </a:t>
                </a:r>
                <a:r>
                  <a:rPr lang="en-IN" sz="2400">
                    <a:solidFill>
                      <a:srgbClr val="111827"/>
                    </a:solidFill>
                    <a:latin typeface="Cambria Math" panose="02040503050406030204" pitchFamily="18" charset="0"/>
                  </a:rPr>
                  <a:t>$3$</a:t>
                </a:r>
                <a:r>
                  <a:rPr sz="2400" b="0">
                    <a:solidFill>
                      <a:srgbClr val="111827"/>
                    </a:solidFill>
                    <a:latin typeface="Arial"/>
                  </a:rPr>
                  <a:t> chosen: only </a:t>
                </a:r>
                <a:r>
                  <a:rPr lang="en-IN" sz="2400">
                    <a:solidFill>
                      <a:srgbClr val="111827"/>
                    </a:solidFill>
                    <a:latin typeface="Cambria Math" panose="02040503050406030204" pitchFamily="18" charset="0"/>
                  </a:rPr>
                  <a:t>$3$</a:t>
                </a:r>
                <a:r>
                  <a:rPr sz="2400" b="0">
                    <a:solidFill>
                      <a:srgbClr val="111827"/>
                    </a:solidFill>
                    <a:latin typeface="Arial"/>
                  </a:rPr>
                  <a:t> from A and all </a:t>
                </a:r>
                <a:r>
                  <a:rPr lang="en-IN" sz="2400">
                    <a:solidFill>
                      <a:srgbClr val="111827"/>
                    </a:solidFill>
                    <a:latin typeface="Cambria Math" panose="02040503050406030204" pitchFamily="18" charset="0"/>
                  </a:rPr>
                  <a:t>$12$</a:t>
                </a:r>
                <a:r>
                  <a:rPr sz="2400" b="0">
                    <a:solidFill>
                      <a:srgbClr val="111827"/>
                    </a:solidFill>
                    <a:latin typeface="Arial"/>
                  </a:rPr>
                  <a:t> of B,C works (</a:t>
                </a:r>
                <a:r>
                  <a:rPr lang="en-IN" sz="2400">
                    <a:solidFill>
                      <a:srgbClr val="111827"/>
                    </a:solidFill>
                    <a:latin typeface="Cambria Math" panose="02040503050406030204" pitchFamily="18" charset="0"/>
                  </a:rPr>
                  <a:t>$3+12=15$</a:t>
                </a:r>
                <a:r>
                  <a:rPr sz="2400" b="0">
                    <a:solidFill>
                      <a:srgbClr val="111827"/>
                    </a:solidFill>
                    <a:latin typeface="Arial"/>
                  </a:rPr>
                  <a:t>): </a:t>
                </a:r>
                <a:r>
                  <a:rPr lang="en-IN" sz="2400">
                    <a:solidFill>
                      <a:srgbClr val="111827"/>
                    </a:solidFill>
                    <a:latin typeface="Cambria Math" panose="02040503050406030204" pitchFamily="18" charset="0"/>
                  </a:rPr>
                  <a:t>$^8C_3=56$</a:t>
                </a:r>
                <a:r>
                  <a:rPr sz="2400" b="0">
                    <a:solidFill>
                      <a:srgbClr val="111827"/>
                    </a:solidFill>
                    <a:latin typeface="Arial"/>
                  </a:rPr>
                  <a:t> (fewer than </a:t>
                </a:r>
                <a:r>
                  <a:rPr lang="en-IN" sz="2400">
                    <a:solidFill>
                      <a:srgbClr val="111827"/>
                    </a:solidFill>
                    <a:latin typeface="Cambria Math" panose="02040503050406030204" pitchFamily="18" charset="0"/>
                  </a:rPr>
                  <a:t>$3$</a:t>
                </a:r>
                <a:r>
                  <a:rPr sz="2400" b="0">
                    <a:solidFill>
                      <a:srgbClr val="111827"/>
                    </a:solidFill>
                    <a:latin typeface="Arial"/>
                  </a:rPr>
                  <a:t> from A cannot reach </a:t>
                </a:r>
                <a:r>
                  <a:rPr lang="en-IN" sz="2400">
                    <a:solidFill>
                      <a:srgbClr val="111827"/>
                    </a:solidFill>
                    <a:latin typeface="Cambria Math" panose="02040503050406030204" pitchFamily="18" charset="0"/>
                  </a:rPr>
                  <a:t>$15$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Section B with at most </a:t>
                </a:r>
                <a:r>
                  <a:rPr lang="en-IN" sz="2400">
                    <a:solidFill>
                      <a:srgbClr val="111827"/>
                    </a:solidFill>
                    <a:latin typeface="Cambria Math" panose="02040503050406030204" pitchFamily="18" charset="0"/>
                  </a:rPr>
                  <a:t>$3$</a:t>
                </a:r>
                <a:r>
                  <a:rPr sz="2400" b="0">
                    <a:solidFill>
                      <a:srgbClr val="111827"/>
                    </a:solidFill>
                    <a:latin typeface="Arial"/>
                  </a:rPr>
                  <a:t> chosen: </a:t>
                </a:r>
                <a:r>
                  <a:rPr lang="en-IN" sz="2400">
                    <a:solidFill>
                      <a:srgbClr val="111827"/>
                    </a:solidFill>
                    <a:latin typeface="Cambria Math" panose="02040503050406030204" pitchFamily="18" charset="0"/>
                  </a:rPr>
                  <a:t>$b=3$</a:t>
                </a:r>
                <a:r>
                  <a:rPr sz="2400" b="0">
                    <a:solidFill>
                      <a:srgbClr val="111827"/>
                    </a:solidFill>
                    <a:latin typeface="Arial"/>
                  </a:rPr>
                  <a:t>: </a:t>
                </a:r>
                <a:r>
                  <a:rPr lang="en-IN" sz="2400">
                    <a:solidFill>
                      <a:srgbClr val="111827"/>
                    </a:solidFill>
                    <a:latin typeface="Cambria Math" panose="02040503050406030204" pitchFamily="18" charset="0"/>
                  </a:rPr>
                  <a:t>$^6C_3\cdot{}^{14}C_{12}=20\cdot91=1820$</a:t>
                </a:r>
                <a:r>
                  <a:rPr sz="2400" b="0">
                    <a:solidFill>
                      <a:srgbClr val="111827"/>
                    </a:solidFill>
                    <a:latin typeface="Arial"/>
                  </a:rPr>
                  <a:t>; </a:t>
                </a:r>
                <a:r>
                  <a:rPr lang="en-IN" sz="2400">
                    <a:solidFill>
                      <a:srgbClr val="111827"/>
                    </a:solidFill>
                    <a:latin typeface="Cambria Math" panose="02040503050406030204" pitchFamily="18" charset="0"/>
                  </a:rPr>
                  <a:t>$b=2$</a:t>
                </a:r>
                <a:r>
                  <a:rPr sz="2400" b="0">
                    <a:solidFill>
                      <a:srgbClr val="111827"/>
                    </a:solidFill>
                    <a:latin typeface="Arial"/>
                  </a:rPr>
                  <a:t>: </a:t>
                </a:r>
                <a:r>
                  <a:rPr lang="en-IN" sz="2400">
                    <a:solidFill>
                      <a:srgbClr val="111827"/>
                    </a:solidFill>
                    <a:latin typeface="Cambria Math" panose="02040503050406030204" pitchFamily="18" charset="0"/>
                  </a:rPr>
                  <a:t>$^6C_2\cdot{}^{14}C_{13}=15\cdot14=210$</a:t>
                </a:r>
                <a:r>
                  <a:rPr sz="2400" b="0">
                    <a:solidFill>
                      <a:srgbClr val="111827"/>
                    </a:solidFill>
                    <a:latin typeface="Arial"/>
                  </a:rPr>
                  <a:t>; </a:t>
                </a:r>
                <a:r>
                  <a:rPr lang="en-IN" sz="2400">
                    <a:solidFill>
                      <a:srgbClr val="111827"/>
                    </a:solidFill>
                    <a:latin typeface="Cambria Math" panose="02040503050406030204" pitchFamily="18" charset="0"/>
                  </a:rPr>
                  <a:t>$b=1$</a:t>
                </a:r>
                <a:r>
                  <a:rPr sz="2400" b="0">
                    <a:solidFill>
                      <a:srgbClr val="111827"/>
                    </a:solidFill>
                    <a:latin typeface="Arial"/>
                  </a:rPr>
                  <a:t>: </a:t>
                </a:r>
                <a:r>
                  <a:rPr lang="en-IN" sz="2400">
                    <a:solidFill>
                      <a:srgbClr val="111827"/>
                    </a:solidFill>
                    <a:latin typeface="Cambria Math" panose="02040503050406030204" pitchFamily="18" charset="0"/>
                  </a:rPr>
                  <a:t>$^6C_1\cdot{}^{14}C_{14}=6$</a:t>
                </a:r>
                <a:r>
                  <a:rPr sz="2400" b="0">
                    <a:solidFill>
                      <a:srgbClr val="111827"/>
                    </a:solidFill>
                    <a:latin typeface="Arial"/>
                  </a:rPr>
                  <a:t>; total </a:t>
                </a:r>
                <a:r>
                  <a:rPr lang="en-IN" sz="2400">
                    <a:solidFill>
                      <a:srgbClr val="111827"/>
                    </a:solidFill>
                    <a:latin typeface="Cambria Math" panose="02040503050406030204" pitchFamily="18" charset="0"/>
                  </a:rPr>
                  <a:t>$2036$</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Section C with at most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2036</m:t>
                    </m:r>
                  </m:oMath>
                </a14:m>
                <a:r>
                  <a:rPr sz="2400" b="0">
                    <a:solidFill>
                      <a:srgbClr val="111827"/>
                    </a:solidFill>
                    <a:latin typeface="Arial"/>
                  </a:rPr>
                  <a:t> by symmetry.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Two sections both short of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is impossible (at most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15</m:t>
                    </m:r>
                  </m:oMath>
                </a14:m>
                <a:r>
                  <a:rPr sz="2400" b="0">
                    <a:solidFill>
                      <a:srgbClr val="111827"/>
                    </a:solidFill>
                    <a:latin typeface="Arial"/>
                  </a:rPr>
                  <a:t>), so no overlaps.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Valid selections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15504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2036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2036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11376</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Section C with at most </a:t>
                </a:r>
                <a:r>
                  <a:rPr lang="en-IN" sz="2400">
                    <a:solidFill>
                      <a:srgbClr val="111827"/>
                    </a:solidFill>
                    <a:latin typeface="Cambria Math" panose="02040503050406030204" pitchFamily="18" charset="0"/>
                  </a:rPr>
                  <a:t>$3$</a:t>
                </a:r>
                <a:r>
                  <a:rPr sz="2400" b="0">
                    <a:solidFill>
                      <a:srgbClr val="111827"/>
                    </a:solidFill>
                    <a:latin typeface="Arial"/>
                  </a:rPr>
                  <a:t>: </a:t>
                </a:r>
                <a:r>
                  <a:rPr lang="en-IN" sz="2400">
                    <a:solidFill>
                      <a:srgbClr val="111827"/>
                    </a:solidFill>
                    <a:latin typeface="Cambria Math" panose="02040503050406030204" pitchFamily="18" charset="0"/>
                  </a:rPr>
                  <a:t>$2036$</a:t>
                </a:r>
                <a:r>
                  <a:rPr sz="2400" b="0">
                    <a:solidFill>
                      <a:srgbClr val="111827"/>
                    </a:solidFill>
                    <a:latin typeface="Arial"/>
                  </a:rPr>
                  <a:t> by symmetry.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Two sections both short of </a:t>
                </a:r>
                <a:r>
                  <a:rPr lang="en-IN" sz="2400">
                    <a:solidFill>
                      <a:srgbClr val="111827"/>
                    </a:solidFill>
                    <a:latin typeface="Cambria Math" panose="02040503050406030204" pitchFamily="18" charset="0"/>
                  </a:rPr>
                  <a:t>$4$</a:t>
                </a:r>
                <a:r>
                  <a:rPr sz="2400" b="0">
                    <a:solidFill>
                      <a:srgbClr val="111827"/>
                    </a:solidFill>
                    <a:latin typeface="Arial"/>
                  </a:rPr>
                  <a:t> is impossible (at most </a:t>
                </a:r>
                <a:r>
                  <a:rPr lang="en-IN" sz="2400">
                    <a:solidFill>
                      <a:srgbClr val="111827"/>
                    </a:solidFill>
                    <a:latin typeface="Cambria Math" panose="02040503050406030204" pitchFamily="18" charset="0"/>
                  </a:rPr>
                  <a:t>$3+3+6=12&lt;15$</a:t>
                </a:r>
                <a:r>
                  <a:rPr sz="2400" b="0">
                    <a:solidFill>
                      <a:srgbClr val="111827"/>
                    </a:solidFill>
                    <a:latin typeface="Arial"/>
                  </a:rPr>
                  <a:t>), so no overlaps.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Valid selections </a:t>
                </a:r>
                <a:r>
                  <a:rPr lang="en-IN" sz="2400">
                    <a:solidFill>
                      <a:srgbClr val="111827"/>
                    </a:solidFill>
                    <a:latin typeface="Cambria Math" panose="02040503050406030204" pitchFamily="18" charset="0"/>
                  </a:rPr>
                  <a:t>$=15504-56-2036-2036=11376$</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11376</a:t>
            </a:r>
            <a:endParaRPr sz="2800">
              <a:solidFill>
                <a:srgbClr val="15803D"/>
              </a:solidFill>
            </a:endParaRP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'Select </a:t>
                </a:r>
                <a14:m>
                  <m:oMath xmlns:m="http://schemas.openxmlformats.org/officeDocument/2006/math">
                    <m:r>
                      <a:rPr lang="en-IN" sz="2400" i="1">
                        <a:solidFill>
                          <a:srgbClr val="111827"/>
                        </a:solidFill>
                        <a:latin typeface="Cambria Math" panose="02040503050406030204" pitchFamily="18" charset="0"/>
                      </a:rPr>
                      <m:t>𝑚</m:t>
                    </m:r>
                  </m:oMath>
                </a14:m>
                <a:r>
                  <a:rPr sz="2400" b="0">
                    <a:solidFill>
                      <a:srgbClr val="111827"/>
                    </a:solidFill>
                    <a:latin typeface="Arial"/>
                  </a:rPr>
                  <a:t> items with at least </a:t>
                </a:r>
                <a14:m>
                  <m:oMath xmlns:m="http://schemas.openxmlformats.org/officeDocument/2006/math">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𝑖</m:t>
                        </m:r>
                      </m:sub>
                    </m:sSub>
                  </m:oMath>
                </a14:m>
                <a:r>
                  <a:rPr sz="2400" b="0">
                    <a:solidFill>
                      <a:srgbClr val="111827"/>
                    </a:solidFill>
                    <a:latin typeface="Arial"/>
                  </a:rPr>
                  <a:t> from group </a:t>
                </a:r>
                <a14:m>
                  <m:oMath xmlns:m="http://schemas.openxmlformats.org/officeDocument/2006/math">
                    <m:r>
                      <a:rPr lang="en-IN" sz="2400" i="1">
                        <a:solidFill>
                          <a:srgbClr val="111827"/>
                        </a:solidFill>
                        <a:latin typeface="Cambria Math" panose="02040503050406030204" pitchFamily="18" charset="0"/>
                      </a:rPr>
                      <m:t>𝑖</m:t>
                    </m:r>
                  </m:oMath>
                </a14:m>
                <a:r>
                  <a:rPr sz="2400" b="0">
                    <a:solidFill>
                      <a:srgbClr val="111827"/>
                    </a:solidFill>
                    <a:latin typeface="Arial"/>
                  </a:rPr>
                  <a:t>': first take the minimum from each, then distribute the leftover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𝑖</m:t>
                        </m:r>
                      </m:sub>
                    </m:sSub>
                  </m:oMath>
                </a14:m>
                <a:r>
                  <a:rPr sz="2400" b="0">
                    <a:solidFill>
                      <a:srgbClr val="111827"/>
                    </a:solidFill>
                    <a:latin typeface="Arial"/>
                  </a:rPr>
                  <a:t> with the remaining capacities.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Complement view: a violation in two groups at once is often impossible, so inclusion-exclusion collapses to a plain subtraction.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Choosing </a:t>
                </a:r>
                <a14:m>
                  <m:oMath xmlns:m="http://schemas.openxmlformats.org/officeDocument/2006/math">
                    <m:r>
                      <a:rPr lang="en-IN" sz="2400" i="1">
                        <a:solidFill>
                          <a:srgbClr val="111827"/>
                        </a:solidFill>
                        <a:latin typeface="Cambria Math" panose="02040503050406030204" pitchFamily="18" charset="0"/>
                      </a:rPr>
                      <m:t>15</m:t>
                    </m:r>
                  </m:oMath>
                </a14:m>
                <a:r>
                  <a:rPr sz="2400" b="0">
                    <a:solidFill>
                      <a:srgbClr val="111827"/>
                    </a:solidFill>
                    <a:latin typeface="Arial"/>
                  </a:rPr>
                  <a:t> of </a:t>
                </a:r>
                <a14:m>
                  <m:oMath xmlns:m="http://schemas.openxmlformats.org/officeDocument/2006/math">
                    <m:r>
                      <a:rPr lang="en-IN" sz="2400" i="1">
                        <a:solidFill>
                          <a:srgbClr val="111827"/>
                        </a:solidFill>
                        <a:latin typeface="Cambria Math" panose="02040503050406030204" pitchFamily="18" charset="0"/>
                      </a:rPr>
                      <m:t>20</m:t>
                    </m:r>
                  </m:oMath>
                </a14:m>
                <a:r>
                  <a:rPr sz="2400" b="0">
                    <a:solidFill>
                      <a:srgbClr val="111827"/>
                    </a:solidFill>
                    <a:latin typeface="Arial"/>
                  </a:rPr>
                  <a:t> equals choosing the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to omit; the same count arises from omission patterns.</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'Select </a:t>
                </a:r>
                <a:r>
                  <a:rPr lang="en-IN" sz="2400">
                    <a:solidFill>
                      <a:srgbClr val="111827"/>
                    </a:solidFill>
                    <a:latin typeface="Cambria Math" panose="02040503050406030204" pitchFamily="18" charset="0"/>
                  </a:rPr>
                  <a:t>$m$</a:t>
                </a:r>
                <a:r>
                  <a:rPr sz="2400" b="0">
                    <a:solidFill>
                      <a:srgbClr val="111827"/>
                    </a:solidFill>
                    <a:latin typeface="Arial"/>
                  </a:rPr>
                  <a:t> items with at least </a:t>
                </a:r>
                <a:r>
                  <a:rPr lang="en-IN" sz="2400">
                    <a:solidFill>
                      <a:srgbClr val="111827"/>
                    </a:solidFill>
                    <a:latin typeface="Cambria Math" panose="02040503050406030204" pitchFamily="18" charset="0"/>
                  </a:rPr>
                  <a:t>$r_i$</a:t>
                </a:r>
                <a:r>
                  <a:rPr sz="2400" b="0">
                    <a:solidFill>
                      <a:srgbClr val="111827"/>
                    </a:solidFill>
                    <a:latin typeface="Arial"/>
                  </a:rPr>
                  <a:t> from group </a:t>
                </a:r>
                <a:r>
                  <a:rPr lang="en-IN" sz="2400">
                    <a:solidFill>
                      <a:srgbClr val="111827"/>
                    </a:solidFill>
                    <a:latin typeface="Cambria Math" panose="02040503050406030204" pitchFamily="18" charset="0"/>
                  </a:rPr>
                  <a:t>$i$</a:t>
                </a:r>
                <a:r>
                  <a:rPr sz="2400" b="0">
                    <a:solidFill>
                      <a:srgbClr val="111827"/>
                    </a:solidFill>
                    <a:latin typeface="Arial"/>
                  </a:rPr>
                  <a:t>': first take the minimum from each, then distribute the leftover </a:t>
                </a:r>
                <a:r>
                  <a:rPr lang="en-IN" sz="2400">
                    <a:solidFill>
                      <a:srgbClr val="111827"/>
                    </a:solidFill>
                    <a:latin typeface="Cambria Math" panose="02040503050406030204" pitchFamily="18" charset="0"/>
                  </a:rPr>
                  <a:t>$m-\sum r_i$</a:t>
                </a:r>
                <a:r>
                  <a:rPr sz="2400" b="0">
                    <a:solidFill>
                      <a:srgbClr val="111827"/>
                    </a:solidFill>
                    <a:latin typeface="Arial"/>
                  </a:rPr>
                  <a:t> with the remaining capacities.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Complement view: a violation in two groups at once is often impossible, so inclusion-exclusion collapses to a plain subtraction.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Choosing </a:t>
                </a:r>
                <a:r>
                  <a:rPr lang="en-IN" sz="2400">
                    <a:solidFill>
                      <a:srgbClr val="111827"/>
                    </a:solidFill>
                    <a:latin typeface="Cambria Math" panose="02040503050406030204" pitchFamily="18" charset="0"/>
                  </a:rPr>
                  <a:t>$15$</a:t>
                </a:r>
                <a:r>
                  <a:rPr sz="2400" b="0">
                    <a:solidFill>
                      <a:srgbClr val="111827"/>
                    </a:solidFill>
                    <a:latin typeface="Arial"/>
                  </a:rPr>
                  <a:t> of </a:t>
                </a:r>
                <a:r>
                  <a:rPr lang="en-IN" sz="2400">
                    <a:solidFill>
                      <a:srgbClr val="111827"/>
                    </a:solidFill>
                    <a:latin typeface="Cambria Math" panose="02040503050406030204" pitchFamily="18" charset="0"/>
                  </a:rPr>
                  <a:t>$20$</a:t>
                </a:r>
                <a:r>
                  <a:rPr sz="2400" b="0">
                    <a:solidFill>
                      <a:srgbClr val="111827"/>
                    </a:solidFill>
                    <a:latin typeface="Arial"/>
                  </a:rPr>
                  <a:t> equals choosing the </a:t>
                </a:r>
                <a:r>
                  <a:rPr lang="en-IN" sz="2400">
                    <a:solidFill>
                      <a:srgbClr val="111827"/>
                    </a:solidFill>
                    <a:latin typeface="Cambria Math" panose="02040503050406030204" pitchFamily="18" charset="0"/>
                  </a:rPr>
                  <a:t>$5$</a:t>
                </a:r>
                <a:r>
                  <a:rPr sz="2400" b="0">
                    <a:solidFill>
                      <a:srgbClr val="111827"/>
                    </a:solidFill>
                    <a:latin typeface="Arial"/>
                  </a:rPr>
                  <a:t> to omit; the same count arises from omission patterns.</a:t>
                </a:r>
                <a:endParaRPr sz="2400">
                  <a:solidFill>
                    <a:srgbClr val="111827"/>
                  </a:solidFill>
                </a:endParaRPr>
              </a:p>
            </p:txBody>
          </p:sp>
        </mc:Fallback>
      </mc:AlternateContent>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number of elements in the set </a:t>
                </a: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Z</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equals ____.</a:t>
                </a:r>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number of elements in the set </a:t>
                </a:r>
                <a:r>
                  <a:rPr lang="en-IN" sz="2400">
                    <a:solidFill>
                      <a:srgbClr val="111827"/>
                    </a:solidFill>
                    <a:latin typeface="Cambria Math" panose="02040503050406030204" pitchFamily="18" charset="0"/>
                  </a:rPr>
                  <a:t>$S=\{(x,y,z):x,y,z\in\mathbb{Z},\ x+2y+3z=42,\ x,y,z\ge0\}$</a:t>
                </a:r>
                <a:r>
                  <a:rPr sz="2400" b="0">
                    <a:solidFill>
                      <a:srgbClr val="111827"/>
                    </a:solidFill>
                    <a:latin typeface="Arial"/>
                  </a:rPr>
                  <a:t> equals ____.</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3246120"/>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Number of non-negative integral solutions of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oMath>
                </a14:m>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mc:Choice>
        <mc:Fallback>
          <p:sp>
            <p:nvSpPr>
              <p:cNvPr id="5" name="Rectangle 4"/>
              <p:cNvSpPr/>
              <p:nvPr/>
            </p:nvSpPr>
            <p:spPr>
              <a:xfrm>
                <a:off x="731520" y="3246120"/>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Number of non-negative integral solutions of </a:t>
                </a:r>
                <a:r>
                  <a:rPr lang="en-IN" sz="2400">
                    <a:solidFill>
                      <a:srgbClr val="111827"/>
                    </a:solidFill>
                    <a:latin typeface="Cambria Math" panose="02040503050406030204" pitchFamily="18" charset="0"/>
                  </a:rPr>
                  <a:t>$x+2y+3z=n$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mc:Fallback>
      </mc:AlternateContent>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Fix </a:t>
                </a:r>
                <a14:m>
                  <m:oMath xmlns:m="http://schemas.openxmlformats.org/officeDocument/2006/math">
                    <m:r>
                      <a:rPr lang="en-IN" sz="2400" i="1">
                        <a:solidFill>
                          <a:srgbClr val="78350F"/>
                        </a:solidFill>
                        <a:latin typeface="Cambria Math" panose="02040503050406030204" pitchFamily="18" charset="0"/>
                      </a:rPr>
                      <m:t>𝑧</m:t>
                    </m:r>
                  </m:oMath>
                </a14:m>
                <a:r>
                  <a:rPr sz="2400" b="0">
                    <a:solidFill>
                      <a:srgbClr val="78350F"/>
                    </a:solidFill>
                    <a:latin typeface="Arial"/>
                  </a:rPr>
                  <a:t> and count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with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42</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r>
                      <a:rPr lang="en-IN" sz="2400" i="1">
                        <a:solidFill>
                          <a:srgbClr val="78350F"/>
                        </a:solidFill>
                        <a:latin typeface="Cambria Math" panose="02040503050406030204" pitchFamily="18" charset="0"/>
                      </a:rPr>
                      <m:t>𝑧</m:t>
                    </m:r>
                  </m:oMath>
                </a14:m>
                <a:r>
                  <a:rPr sz="2400" b="0">
                    <a:solidFill>
                      <a:srgbClr val="78350F"/>
                    </a:solidFill>
                    <a:latin typeface="Arial"/>
                  </a:rPr>
                  <a:t>, each giving </a:t>
                </a:r>
                <a14:m>
                  <m:oMath xmlns:m="http://schemas.openxmlformats.org/officeDocument/2006/math">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42</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r>
                      <a:rPr lang="en-IN" sz="2400" i="1">
                        <a:solidFill>
                          <a:srgbClr val="78350F"/>
                        </a:solidFill>
                        <a:latin typeface="Cambria Math" panose="02040503050406030204" pitchFamily="18" charset="0"/>
                      </a:rPr>
                      <m:t>𝑧</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 solutions.</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Fix </a:t>
                </a:r>
                <a:r>
                  <a:rPr lang="en-IN" sz="2400">
                    <a:solidFill>
                      <a:srgbClr val="78350F"/>
                    </a:solidFill>
                    <a:latin typeface="Cambria Math" panose="02040503050406030204" pitchFamily="18" charset="0"/>
                  </a:rPr>
                  <a:t>$z$</a:t>
                </a:r>
                <a:r>
                  <a:rPr sz="2400" b="0">
                    <a:solidFill>
                      <a:srgbClr val="78350F"/>
                    </a:solidFill>
                    <a:latin typeface="Arial"/>
                  </a:rPr>
                  <a:t> and count </a:t>
                </a:r>
                <a:r>
                  <a:rPr lang="en-IN" sz="2400">
                    <a:solidFill>
                      <a:srgbClr val="78350F"/>
                    </a:solidFill>
                    <a:latin typeface="Cambria Math" panose="02040503050406030204" pitchFamily="18" charset="0"/>
                  </a:rPr>
                  <a:t>$(x,y)$</a:t>
                </a:r>
                <a:r>
                  <a:rPr sz="2400" b="0">
                    <a:solidFill>
                      <a:srgbClr val="78350F"/>
                    </a:solidFill>
                    <a:latin typeface="Arial"/>
                  </a:rPr>
                  <a:t> with </a:t>
                </a:r>
                <a:r>
                  <a:rPr lang="en-IN" sz="2400">
                    <a:solidFill>
                      <a:srgbClr val="78350F"/>
                    </a:solidFill>
                    <a:latin typeface="Cambria Math" panose="02040503050406030204" pitchFamily="18" charset="0"/>
                  </a:rPr>
                  <a:t>$x+2y=42-3z$</a:t>
                </a:r>
                <a:r>
                  <a:rPr sz="2400" b="0">
                    <a:solidFill>
                      <a:srgbClr val="78350F"/>
                    </a:solidFill>
                    <a:latin typeface="Arial"/>
                  </a:rPr>
                  <a:t>, each giving </a:t>
                </a:r>
                <a:r>
                  <a:rPr lang="en-IN" sz="2400">
                    <a:solidFill>
                      <a:srgbClr val="78350F"/>
                    </a:solidFill>
                    <a:latin typeface="Cambria Math" panose="02040503050406030204" pitchFamily="18" charset="0"/>
                  </a:rPr>
                  <a:t>$\lfloor(42-3z)/2\rfloor+1$</a:t>
                </a:r>
                <a:r>
                  <a:rPr sz="2400" b="0">
                    <a:solidFill>
                      <a:srgbClr val="78350F"/>
                    </a:solidFill>
                    <a:latin typeface="Arial"/>
                  </a:rPr>
                  <a:t> solutions.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Fix </a:t>
                </a:r>
                <a14:m>
                  <m:oMath xmlns:m="http://schemas.openxmlformats.org/officeDocument/2006/math">
                    <m:r>
                      <a:rPr lang="en-IN" sz="2400" i="1">
                        <a:solidFill>
                          <a:srgbClr val="111827"/>
                        </a:solidFill>
                        <a:latin typeface="Cambria Math" panose="02040503050406030204" pitchFamily="18" charset="0"/>
                      </a:rPr>
                      <m:t>𝑧</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𝑧</m:t>
                    </m:r>
                  </m:oMath>
                </a14:m>
                <a:r>
                  <a:rPr sz="2400" b="0">
                    <a:solidFill>
                      <a:srgbClr val="111827"/>
                    </a:solidFill>
                    <a:latin typeface="Arial"/>
                  </a:rPr>
                  <a:t> has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𝑧</m:t>
                            </m:r>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solutions with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𝑧</m:t>
                    </m:r>
                  </m:oMath>
                </a14:m>
                <a:r>
                  <a:rPr sz="2400" b="0">
                    <a:solidFill>
                      <a:srgbClr val="111827"/>
                    </a:solidFill>
                    <a:latin typeface="Arial"/>
                  </a:rPr>
                  <a:t> runs from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to </a:t>
                </a:r>
                <a14:m>
                  <m:oMath xmlns:m="http://schemas.openxmlformats.org/officeDocument/2006/math">
                    <m:r>
                      <a:rPr lang="en-IN" sz="2400" i="1">
                        <a:solidFill>
                          <a:srgbClr val="111827"/>
                        </a:solidFill>
                        <a:latin typeface="Cambria Math" panose="02040503050406030204" pitchFamily="18" charset="0"/>
                      </a:rPr>
                      <m:t>14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42</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22</m:t>
                    </m:r>
                  </m:oMath>
                </a14:m>
                <a:r>
                  <a:rPr sz="2400" b="0">
                    <a:solidFill>
                      <a:srgbClr val="111827"/>
                    </a:solidFill>
                    <a:latin typeface="Arial"/>
                  </a:rPr>
                  <a:t> solutions; </a:t>
                </a:r>
                <a14:m>
                  <m:oMath xmlns:m="http://schemas.openxmlformats.org/officeDocument/2006/math">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39</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20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19</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Continuing, </a:t>
                </a:r>
                <a14:m>
                  <m:oMath xmlns:m="http://schemas.openxmlformats.org/officeDocument/2006/math">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oMath>
                </a14:m>
                <a:r>
                  <a:rPr sz="2400" b="0">
                    <a:solidFill>
                      <a:srgbClr val="111827"/>
                    </a:solidFill>
                    <a:latin typeface="Arial"/>
                  </a:rPr>
                  <a:t> give </a:t>
                </a:r>
                <a14:m>
                  <m:oMath xmlns:m="http://schemas.openxmlformats.org/officeDocument/2006/math">
                    <m:r>
                      <a:rPr lang="en-IN" sz="2400" i="1">
                        <a:solidFill>
                          <a:srgbClr val="111827"/>
                        </a:solidFill>
                        <a:latin typeface="Cambria Math" panose="02040503050406030204" pitchFamily="18" charset="0"/>
                      </a:rPr>
                      <m:t>17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solution (the sequence is </a:t>
                </a:r>
                <a14:m>
                  <m:oMath xmlns:m="http://schemas.openxmlformats.org/officeDocument/2006/math">
                    <m:r>
                      <a:rPr lang="en-IN" sz="2400" i="1">
                        <a:solidFill>
                          <a:srgbClr val="111827"/>
                        </a:solidFill>
                        <a:latin typeface="Cambria Math" panose="02040503050406030204" pitchFamily="18" charset="0"/>
                      </a:rPr>
                      <m:t>22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Fix </a:t>
                </a:r>
                <a:r>
                  <a:rPr lang="en-IN" sz="2400">
                    <a:solidFill>
                      <a:srgbClr val="111827"/>
                    </a:solidFill>
                    <a:latin typeface="Cambria Math" panose="02040503050406030204" pitchFamily="18" charset="0"/>
                  </a:rPr>
                  <a:t>$z$</a:t>
                </a:r>
                <a:r>
                  <a:rPr sz="2400" b="0">
                    <a:solidFill>
                      <a:srgbClr val="111827"/>
                    </a:solidFill>
                    <a:latin typeface="Arial"/>
                  </a:rPr>
                  <a:t>; then </a:t>
                </a:r>
                <a:r>
                  <a:rPr lang="en-IN" sz="2400">
                    <a:solidFill>
                      <a:srgbClr val="111827"/>
                    </a:solidFill>
                    <a:latin typeface="Cambria Math" panose="02040503050406030204" pitchFamily="18" charset="0"/>
                  </a:rPr>
                  <a:t>$x+2y=42-3z$</a:t>
                </a:r>
                <a:r>
                  <a:rPr sz="2400" b="0">
                    <a:solidFill>
                      <a:srgbClr val="111827"/>
                    </a:solidFill>
                    <a:latin typeface="Arial"/>
                  </a:rPr>
                  <a:t> has </a:t>
                </a:r>
                <a:r>
                  <a:rPr lang="en-IN" sz="2400">
                    <a:solidFill>
                      <a:srgbClr val="111827"/>
                    </a:solidFill>
                    <a:latin typeface="Cambria Math" panose="02040503050406030204" pitchFamily="18" charset="0"/>
                  </a:rPr>
                  <a:t>$\left\lfloor\dfrac{42-3z}{2}\right\rfloor+1$</a:t>
                </a:r>
                <a:r>
                  <a:rPr sz="2400" b="0">
                    <a:solidFill>
                      <a:srgbClr val="111827"/>
                    </a:solidFill>
                    <a:latin typeface="Arial"/>
                  </a:rPr>
                  <a:t> solutions with </a:t>
                </a:r>
                <a:r>
                  <a:rPr lang="en-IN" sz="2400">
                    <a:solidFill>
                      <a:srgbClr val="111827"/>
                    </a:solidFill>
                    <a:latin typeface="Cambria Math" panose="02040503050406030204" pitchFamily="18" charset="0"/>
                  </a:rPr>
                  <a:t>$x,y\ge0$</a:t>
                </a:r>
                <a:r>
                  <a:rPr sz="2400" b="0">
                    <a:solidFill>
                      <a:srgbClr val="111827"/>
                    </a:solidFill>
                    <a:latin typeface="Arial"/>
                  </a:rPr>
                  <a:t>, and </a:t>
                </a:r>
                <a:r>
                  <a:rPr lang="en-IN" sz="2400">
                    <a:solidFill>
                      <a:srgbClr val="111827"/>
                    </a:solidFill>
                    <a:latin typeface="Cambria Math" panose="02040503050406030204" pitchFamily="18" charset="0"/>
                  </a:rPr>
                  <a:t>$z$</a:t>
                </a:r>
                <a:r>
                  <a:rPr sz="2400" b="0">
                    <a:solidFill>
                      <a:srgbClr val="111827"/>
                    </a:solidFill>
                    <a:latin typeface="Arial"/>
                  </a:rPr>
                  <a:t> runs from </a:t>
                </a:r>
                <a:r>
                  <a:rPr lang="en-IN" sz="2400">
                    <a:solidFill>
                      <a:srgbClr val="111827"/>
                    </a:solidFill>
                    <a:latin typeface="Cambria Math" panose="02040503050406030204" pitchFamily="18" charset="0"/>
                  </a:rPr>
                  <a:t>$0$</a:t>
                </a:r>
                <a:r>
                  <a:rPr sz="2400" b="0">
                    <a:solidFill>
                      <a:srgbClr val="111827"/>
                    </a:solidFill>
                    <a:latin typeface="Arial"/>
                  </a:rPr>
                  <a:t> to </a:t>
                </a:r>
                <a:r>
                  <a:rPr lang="en-IN" sz="2400">
                    <a:solidFill>
                      <a:srgbClr val="111827"/>
                    </a:solidFill>
                    <a:latin typeface="Cambria Math" panose="02040503050406030204" pitchFamily="18" charset="0"/>
                  </a:rPr>
                  <a:t>$14$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$z=0$</a:t>
                </a:r>
                <a:r>
                  <a:rPr sz="2400" b="0">
                    <a:solidFill>
                      <a:srgbClr val="111827"/>
                    </a:solidFill>
                    <a:latin typeface="Arial"/>
                  </a:rPr>
                  <a:t>: </a:t>
                </a:r>
                <a:r>
                  <a:rPr lang="en-IN" sz="2400">
                    <a:solidFill>
                      <a:srgbClr val="111827"/>
                    </a:solidFill>
                    <a:latin typeface="Cambria Math" panose="02040503050406030204" pitchFamily="18" charset="0"/>
                  </a:rPr>
                  <a:t>$x+2y=42$</a:t>
                </a:r>
                <a:r>
                  <a:rPr sz="2400" b="0">
                    <a:solidFill>
                      <a:srgbClr val="111827"/>
                    </a:solidFill>
                    <a:latin typeface="Arial"/>
                  </a:rPr>
                  <a:t> gives </a:t>
                </a:r>
                <a:r>
                  <a:rPr lang="en-IN" sz="2400">
                    <a:solidFill>
                      <a:srgbClr val="111827"/>
                    </a:solidFill>
                    <a:latin typeface="Cambria Math" panose="02040503050406030204" pitchFamily="18" charset="0"/>
                  </a:rPr>
                  <a:t>$22$</a:t>
                </a:r>
                <a:r>
                  <a:rPr sz="2400" b="0">
                    <a:solidFill>
                      <a:srgbClr val="111827"/>
                    </a:solidFill>
                    <a:latin typeface="Arial"/>
                  </a:rPr>
                  <a:t> solutions; </a:t>
                </a:r>
                <a:r>
                  <a:rPr lang="en-IN" sz="2400">
                    <a:solidFill>
                      <a:srgbClr val="111827"/>
                    </a:solidFill>
                    <a:latin typeface="Cambria Math" panose="02040503050406030204" pitchFamily="18" charset="0"/>
                  </a:rPr>
                  <a:t>$z=1$</a:t>
                </a:r>
                <a:r>
                  <a:rPr sz="2400" b="0">
                    <a:solidFill>
                      <a:srgbClr val="111827"/>
                    </a:solidFill>
                    <a:latin typeface="Arial"/>
                  </a:rPr>
                  <a:t>: </a:t>
                </a:r>
                <a:r>
                  <a:rPr lang="en-IN" sz="2400">
                    <a:solidFill>
                      <a:srgbClr val="111827"/>
                    </a:solidFill>
                    <a:latin typeface="Cambria Math" panose="02040503050406030204" pitchFamily="18" charset="0"/>
                  </a:rPr>
                  <a:t>$x+2y=39$</a:t>
                </a:r>
                <a:r>
                  <a:rPr sz="2400" b="0">
                    <a:solidFill>
                      <a:srgbClr val="111827"/>
                    </a:solidFill>
                    <a:latin typeface="Arial"/>
                  </a:rPr>
                  <a:t> gives </a:t>
                </a:r>
                <a:r>
                  <a:rPr lang="en-IN" sz="2400">
                    <a:solidFill>
                      <a:srgbClr val="111827"/>
                    </a:solidFill>
                    <a:latin typeface="Cambria Math" panose="02040503050406030204" pitchFamily="18" charset="0"/>
                  </a:rPr>
                  <a:t>$20$</a:t>
                </a:r>
                <a:r>
                  <a:rPr sz="2400" b="0">
                    <a:solidFill>
                      <a:srgbClr val="111827"/>
                    </a:solidFill>
                    <a:latin typeface="Arial"/>
                  </a:rPr>
                  <a:t>; </a:t>
                </a:r>
                <a:r>
                  <a:rPr lang="en-IN" sz="2400">
                    <a:solidFill>
                      <a:srgbClr val="111827"/>
                    </a:solidFill>
                    <a:latin typeface="Cambria Math" panose="02040503050406030204" pitchFamily="18" charset="0"/>
                  </a:rPr>
                  <a:t>$z=2$</a:t>
                </a:r>
                <a:r>
                  <a:rPr sz="2400" b="0">
                    <a:solidFill>
                      <a:srgbClr val="111827"/>
                    </a:solidFill>
                    <a:latin typeface="Arial"/>
                  </a:rPr>
                  <a:t>: </a:t>
                </a:r>
                <a:r>
                  <a:rPr lang="en-IN" sz="2400">
                    <a:solidFill>
                      <a:srgbClr val="111827"/>
                    </a:solidFill>
                    <a:latin typeface="Cambria Math" panose="02040503050406030204" pitchFamily="18" charset="0"/>
                  </a:rPr>
                  <a:t>$x+2y=36$</a:t>
                </a:r>
                <a:r>
                  <a:rPr sz="2400" b="0">
                    <a:solidFill>
                      <a:srgbClr val="111827"/>
                    </a:solidFill>
                    <a:latin typeface="Arial"/>
                  </a:rPr>
                  <a:t> gives </a:t>
                </a:r>
                <a:r>
                  <a:rPr lang="en-IN" sz="2400">
                    <a:solidFill>
                      <a:srgbClr val="111827"/>
                    </a:solidFill>
                    <a:latin typeface="Cambria Math" panose="02040503050406030204" pitchFamily="18" charset="0"/>
                  </a:rPr>
                  <a:t>$19$</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Continuing, </a:t>
                </a:r>
                <a:r>
                  <a:rPr lang="en-IN" sz="2400">
                    <a:solidFill>
                      <a:srgbClr val="111827"/>
                    </a:solidFill>
                    <a:latin typeface="Cambria Math" panose="02040503050406030204" pitchFamily="18" charset="0"/>
                  </a:rPr>
                  <a:t>$z=3,4,\dots,14$</a:t>
                </a:r>
                <a:r>
                  <a:rPr sz="2400" b="0">
                    <a:solidFill>
                      <a:srgbClr val="111827"/>
                    </a:solidFill>
                    <a:latin typeface="Arial"/>
                  </a:rPr>
                  <a:t> give </a:t>
                </a:r>
                <a:r>
                  <a:rPr lang="en-IN" sz="2400">
                    <a:solidFill>
                      <a:srgbClr val="111827"/>
                    </a:solidFill>
                    <a:latin typeface="Cambria Math" panose="02040503050406030204" pitchFamily="18" charset="0"/>
                  </a:rPr>
                  <a:t>$17,16,14,13,11,10,8,7,5,4,2$</a:t>
                </a:r>
                <a:r>
                  <a:rPr sz="2400" b="0">
                    <a:solidFill>
                      <a:srgbClr val="111827"/>
                    </a:solidFill>
                    <a:latin typeface="Arial"/>
                  </a:rPr>
                  <a:t> and </a:t>
                </a:r>
                <a:r>
                  <a:rPr lang="en-IN" sz="2400">
                    <a:solidFill>
                      <a:srgbClr val="111827"/>
                    </a:solidFill>
                    <a:latin typeface="Cambria Math" panose="02040503050406030204" pitchFamily="18" charset="0"/>
                  </a:rPr>
                  <a:t>$z=14$</a:t>
                </a:r>
                <a:r>
                  <a:rPr sz="2400" b="0">
                    <a:solidFill>
                      <a:srgbClr val="111827"/>
                    </a:solidFill>
                    <a:latin typeface="Arial"/>
                  </a:rPr>
                  <a:t>: </a:t>
                </a:r>
                <a:r>
                  <a:rPr lang="en-IN" sz="2400">
                    <a:solidFill>
                      <a:srgbClr val="111827"/>
                    </a:solidFill>
                    <a:latin typeface="Cambria Math" panose="02040503050406030204" pitchFamily="18" charset="0"/>
                  </a:rPr>
                  <a:t>$x+2y=0$</a:t>
                </a:r>
                <a:r>
                  <a:rPr sz="2400" b="0">
                    <a:solidFill>
                      <a:srgbClr val="111827"/>
                    </a:solidFill>
                    <a:latin typeface="Arial"/>
                  </a:rPr>
                  <a:t> gives </a:t>
                </a:r>
                <a:r>
                  <a:rPr lang="en-IN" sz="2400">
                    <a:solidFill>
                      <a:srgbClr val="111827"/>
                    </a:solidFill>
                    <a:latin typeface="Cambria Math" panose="02040503050406030204" pitchFamily="18" charset="0"/>
                  </a:rPr>
                  <a:t>$1$</a:t>
                </a:r>
                <a:r>
                  <a:rPr sz="2400" b="0">
                    <a:solidFill>
                      <a:srgbClr val="111827"/>
                    </a:solidFill>
                    <a:latin typeface="Arial"/>
                  </a:rPr>
                  <a:t> solution (the sequence is </a:t>
                </a:r>
                <a:r>
                  <a:rPr lang="en-IN" sz="2400">
                    <a:solidFill>
                      <a:srgbClr val="111827"/>
                    </a:solidFill>
                    <a:latin typeface="Cambria Math" panose="02040503050406030204" pitchFamily="18" charset="0"/>
                  </a:rPr>
                  <a:t>$22,20,19,17,16,14,13,11,10,8,7,5,4,2,1$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This list is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22</m:t>
                    </m:r>
                  </m:oMath>
                </a14:m>
                <a:r>
                  <a:rPr sz="2400" b="0">
                    <a:solidFill>
                      <a:srgbClr val="111827"/>
                    </a:solidFill>
                    <a:latin typeface="Arial"/>
                  </a:rPr>
                  <a:t> with the numbers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oMath>
                </a14:m>
                <a:r>
                  <a:rPr sz="2400" b="0">
                    <a:solidFill>
                      <a:srgbClr val="111827"/>
                    </a:solidFill>
                    <a:latin typeface="Arial"/>
                  </a:rPr>
                  <a:t> missing.</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23</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253</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 of solutions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169</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This list is </a:t>
                </a:r>
                <a:r>
                  <a:rPr lang="en-IN" sz="2400">
                    <a:solidFill>
                      <a:srgbClr val="111827"/>
                    </a:solidFill>
                    <a:latin typeface="Cambria Math" panose="02040503050406030204" pitchFamily="18" charset="0"/>
                  </a:rPr>
                  <a:t>$1+2+3+\dots+22$</a:t>
                </a:r>
                <a:r>
                  <a:rPr sz="2400" b="0">
                    <a:solidFill>
                      <a:srgbClr val="111827"/>
                    </a:solidFill>
                    <a:latin typeface="Arial"/>
                  </a:rPr>
                  <a:t> with the numbers </a:t>
                </a:r>
                <a:r>
                  <a:rPr lang="en-IN" sz="2400">
                    <a:solidFill>
                      <a:srgbClr val="111827"/>
                    </a:solidFill>
                    <a:latin typeface="Cambria Math" panose="02040503050406030204" pitchFamily="18" charset="0"/>
                  </a:rPr>
                  <a:t>$3,6,9,\dots,21$</a:t>
                </a:r>
                <a:r>
                  <a:rPr sz="2400" b="0">
                    <a:solidFill>
                      <a:srgbClr val="111827"/>
                    </a:solidFill>
                    <a:latin typeface="Arial"/>
                  </a:rPr>
                  <a:t> missing.</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$\dfrac{22\cdot23}{2}=253$</a:t>
                </a:r>
                <a:r>
                  <a:rPr sz="2400" b="0">
                    <a:solidFill>
                      <a:srgbClr val="111827"/>
                    </a:solidFill>
                    <a:latin typeface="Arial"/>
                  </a:rPr>
                  <a:t> and </a:t>
                </a:r>
                <a:r>
                  <a:rPr lang="en-IN" sz="2400">
                    <a:solidFill>
                      <a:srgbClr val="111827"/>
                    </a:solidFill>
                    <a:latin typeface="Cambria Math" panose="02040503050406030204" pitchFamily="18" charset="0"/>
                  </a:rPr>
                  <a:t>$3+6+\dots+21=3(1+2+\dots+7)=84$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 of solutions </a:t>
                </a:r>
                <a:r>
                  <a:rPr lang="en-IN" sz="2400">
                    <a:solidFill>
                      <a:srgbClr val="111827"/>
                    </a:solidFill>
                    <a:latin typeface="Cambria Math" panose="02040503050406030204" pitchFamily="18" charset="0"/>
                  </a:rPr>
                  <a:t>$=253-84=169$</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169</a:t>
            </a:r>
            <a:endParaRPr sz="2800">
              <a:solidFill>
                <a:srgbClr val="15803D"/>
              </a:solidFill>
            </a:endParaRP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Partitions of </a:t>
                </a:r>
                <a14:m>
                  <m:oMath xmlns:m="http://schemas.openxmlformats.org/officeDocument/2006/math">
                    <m:r>
                      <a:rPr lang="en-IN" sz="2400" i="1">
                        <a:solidFill>
                          <a:srgbClr val="78350F"/>
                        </a:solidFill>
                        <a:latin typeface="Cambria Math" panose="02040503050406030204" pitchFamily="18" charset="0"/>
                      </a:rPr>
                      <m:t>42</m:t>
                    </m:r>
                  </m:oMath>
                </a14:m>
                <a:r>
                  <a:rPr sz="2400" b="0">
                    <a:solidFill>
                      <a:srgbClr val="78350F"/>
                    </a:solidFill>
                    <a:latin typeface="Arial"/>
                  </a:rPr>
                  <a:t> into parts </a:t>
                </a:r>
                <a14:m>
                  <m:oMath xmlns:m="http://schemas.openxmlformats.org/officeDocument/2006/math">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oMath>
                </a14:m>
                <a:r>
                  <a:rPr sz="2400" b="0">
                    <a:solidFill>
                      <a:srgbClr val="78350F"/>
                    </a:solidFill>
                    <a:latin typeface="Arial"/>
                  </a:rPr>
                  <a:t>: the number is the integer nearest to </a:t>
                </a:r>
                <a14:m>
                  <m:oMath xmlns:m="http://schemas.openxmlformats.org/officeDocument/2006/math">
                    <m:f>
                      <m:fPr>
                        <m:type m:val="bar"/>
                        <m:ctrlPr>
                          <a:rPr lang="en-IN" sz="2400" i="1">
                            <a:solidFill>
                              <a:srgbClr val="78350F"/>
                            </a:solidFill>
                            <a:latin typeface="Cambria Math" panose="02040503050406030204" pitchFamily="18" charset="0"/>
                          </a:rPr>
                        </m:ctrlPr>
                      </m:fPr>
                      <m:num>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2</m:t>
                            </m:r>
                          </m:sup>
                        </m:sSup>
                      </m:num>
                      <m:den>
                        <m:r>
                          <a:rPr lang="en-IN" sz="2400" i="1">
                            <a:solidFill>
                              <a:srgbClr val="78350F"/>
                            </a:solidFill>
                            <a:latin typeface="Cambria Math" panose="02040503050406030204" pitchFamily="18" charset="0"/>
                          </a:rPr>
                          <m:t>12</m:t>
                        </m:r>
                      </m:den>
                    </m:f>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Partitions of </a:t>
                </a:r>
                <a:r>
                  <a:rPr lang="en-IN" sz="2400">
                    <a:solidFill>
                      <a:srgbClr val="78350F"/>
                    </a:solidFill>
                    <a:latin typeface="Cambria Math" panose="02040503050406030204" pitchFamily="18" charset="0"/>
                  </a:rPr>
                  <a:t>$42$</a:t>
                </a:r>
                <a:r>
                  <a:rPr sz="2400" b="0">
                    <a:solidFill>
                      <a:srgbClr val="78350F"/>
                    </a:solidFill>
                    <a:latin typeface="Arial"/>
                  </a:rPr>
                  <a:t> into parts </a:t>
                </a:r>
                <a:r>
                  <a:rPr lang="en-IN" sz="2400">
                    <a:solidFill>
                      <a:srgbClr val="78350F"/>
                    </a:solidFill>
                    <a:latin typeface="Cambria Math" panose="02040503050406030204" pitchFamily="18" charset="0"/>
                  </a:rPr>
                  <a:t>$1,2,3$</a:t>
                </a:r>
                <a:r>
                  <a:rPr sz="2400" b="0">
                    <a:solidFill>
                      <a:srgbClr val="78350F"/>
                    </a:solidFill>
                    <a:latin typeface="Arial"/>
                  </a:rPr>
                  <a:t>: the number is the integer nearest to </a:t>
                </a:r>
                <a:r>
                  <a:rPr lang="en-IN" sz="2400">
                    <a:solidFill>
                      <a:srgbClr val="78350F"/>
                    </a:solidFill>
                    <a:latin typeface="Cambria Math" panose="02040503050406030204" pitchFamily="18" charset="0"/>
                  </a:rPr>
                  <a:t>$\dfrac{(n+3)^2}{12}$</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636520"/>
                <a:ext cx="10725912" cy="315163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Solutions of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oMath>
                </a14:m>
                <a:r>
                  <a:rPr sz="2400" b="0">
                    <a:solidFill>
                      <a:srgbClr val="111827"/>
                    </a:solidFill>
                    <a:latin typeface="Arial"/>
                  </a:rPr>
                  <a:t> correspond to partitions of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into parts of size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oMath>
                </a14:m>
                <a:r>
                  <a:rPr sz="2400" b="0">
                    <a:solidFill>
                      <a:srgbClr val="111827"/>
                    </a:solidFill>
                    <a:latin typeface="Arial"/>
                  </a:rPr>
                  <a:t> = how many of each).</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number of partitions of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into parts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is the integer nearest to </a:t>
                </a:r>
                <a14:m>
                  <m:oMath xmlns:m="http://schemas.openxmlformats.org/officeDocument/2006/math">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12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42</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45</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12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2025</m:t>
                        </m:r>
                      </m:num>
                      <m:den>
                        <m:r>
                          <a:rPr lang="en-IN" sz="2400" i="1">
                            <a:solidFill>
                              <a:srgbClr val="111827"/>
                            </a:solidFill>
                            <a:latin typeface="Cambria Math" panose="02040503050406030204" pitchFamily="18" charset="0"/>
                          </a:rPr>
                          <m:t>12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168.75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Nearest integer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169</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636520"/>
                <a:ext cx="10725912" cy="315163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Solutions of </a:t>
                </a:r>
                <a:r>
                  <a:rPr lang="en-IN" sz="2400">
                    <a:solidFill>
                      <a:srgbClr val="111827"/>
                    </a:solidFill>
                    <a:latin typeface="Cambria Math" panose="02040503050406030204" pitchFamily="18" charset="0"/>
                  </a:rPr>
                  <a:t>$x+2y+3z=n$</a:t>
                </a:r>
                <a:r>
                  <a:rPr sz="2400" b="0">
                    <a:solidFill>
                      <a:srgbClr val="111827"/>
                    </a:solidFill>
                    <a:latin typeface="Arial"/>
                  </a:rPr>
                  <a:t> correspond to partitions of </a:t>
                </a:r>
                <a:r>
                  <a:rPr lang="en-IN" sz="2400">
                    <a:solidFill>
                      <a:srgbClr val="111827"/>
                    </a:solidFill>
                    <a:latin typeface="Cambria Math" panose="02040503050406030204" pitchFamily="18" charset="0"/>
                  </a:rPr>
                  <a:t>$n$</a:t>
                </a:r>
                <a:r>
                  <a:rPr sz="2400" b="0">
                    <a:solidFill>
                      <a:srgbClr val="111827"/>
                    </a:solidFill>
                    <a:latin typeface="Arial"/>
                  </a:rPr>
                  <a:t> into parts of size </a:t>
                </a:r>
                <a:r>
                  <a:rPr lang="en-IN" sz="2400">
                    <a:solidFill>
                      <a:srgbClr val="111827"/>
                    </a:solidFill>
                    <a:latin typeface="Cambria Math" panose="02040503050406030204" pitchFamily="18" charset="0"/>
                  </a:rPr>
                  <a:t>$1$</a:t>
                </a:r>
                <a:r>
                  <a:rPr sz="2400" b="0">
                    <a:solidFill>
                      <a:srgbClr val="111827"/>
                    </a:solidFill>
                    <a:latin typeface="Arial"/>
                  </a:rPr>
                  <a:t>, </a:t>
                </a:r>
                <a:r>
                  <a:rPr lang="en-IN" sz="2400">
                    <a:solidFill>
                      <a:srgbClr val="111827"/>
                    </a:solidFill>
                    <a:latin typeface="Cambria Math" panose="02040503050406030204" pitchFamily="18" charset="0"/>
                  </a:rPr>
                  <a:t>$2$</a:t>
                </a:r>
                <a:r>
                  <a:rPr sz="2400" b="0">
                    <a:solidFill>
                      <a:srgbClr val="111827"/>
                    </a:solidFill>
                    <a:latin typeface="Arial"/>
                  </a:rPr>
                  <a:t>, </a:t>
                </a:r>
                <a:r>
                  <a:rPr lang="en-IN" sz="2400">
                    <a:solidFill>
                      <a:srgbClr val="111827"/>
                    </a:solidFill>
                    <a:latin typeface="Cambria Math" panose="02040503050406030204" pitchFamily="18" charset="0"/>
                  </a:rPr>
                  <a:t>$3$</a:t>
                </a:r>
                <a:r>
                  <a:rPr sz="2400" b="0">
                    <a:solidFill>
                      <a:srgbClr val="111827"/>
                    </a:solidFill>
                    <a:latin typeface="Arial"/>
                  </a:rPr>
                  <a:t> (</a:t>
                </a:r>
                <a:r>
                  <a:rPr lang="en-IN" sz="2400">
                    <a:solidFill>
                      <a:srgbClr val="111827"/>
                    </a:solidFill>
                    <a:latin typeface="Cambria Math" panose="02040503050406030204" pitchFamily="18" charset="0"/>
                  </a:rPr>
                  <a:t>$x,y,z$</a:t>
                </a:r>
                <a:r>
                  <a:rPr sz="2400" b="0">
                    <a:solidFill>
                      <a:srgbClr val="111827"/>
                    </a:solidFill>
                    <a:latin typeface="Arial"/>
                  </a:rPr>
                  <a:t> = how many of each).</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number of partitions of </a:t>
                </a:r>
                <a:r>
                  <a:rPr lang="en-IN" sz="2400">
                    <a:solidFill>
                      <a:srgbClr val="111827"/>
                    </a:solidFill>
                    <a:latin typeface="Cambria Math" panose="02040503050406030204" pitchFamily="18" charset="0"/>
                  </a:rPr>
                  <a:t>$n$</a:t>
                </a:r>
                <a:r>
                  <a:rPr sz="2400" b="0">
                    <a:solidFill>
                      <a:srgbClr val="111827"/>
                    </a:solidFill>
                    <a:latin typeface="Arial"/>
                  </a:rPr>
                  <a:t> into parts </a:t>
                </a:r>
                <a:r>
                  <a:rPr lang="en-IN" sz="2400">
                    <a:solidFill>
                      <a:srgbClr val="111827"/>
                    </a:solidFill>
                    <a:latin typeface="Cambria Math" panose="02040503050406030204" pitchFamily="18" charset="0"/>
                  </a:rPr>
                  <a:t>$\le3$</a:t>
                </a:r>
                <a:r>
                  <a:rPr sz="2400" b="0">
                    <a:solidFill>
                      <a:srgbClr val="111827"/>
                    </a:solidFill>
                    <a:latin typeface="Arial"/>
                  </a:rPr>
                  <a:t> is the integer nearest to </a:t>
                </a:r>
                <a:r>
                  <a:rPr lang="en-IN" sz="2400">
                    <a:solidFill>
                      <a:srgbClr val="111827"/>
                    </a:solidFill>
                    <a:latin typeface="Cambria Math" panose="02040503050406030204" pitchFamily="18" charset="0"/>
                  </a:rPr>
                  <a:t>$\dfrac{(n+3)^2}{12}$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$n=42$</a:t>
                </a:r>
                <a:r>
                  <a:rPr sz="2400" b="0">
                    <a:solidFill>
                      <a:srgbClr val="111827"/>
                    </a:solidFill>
                    <a:latin typeface="Arial"/>
                  </a:rPr>
                  <a:t>: </a:t>
                </a:r>
                <a:r>
                  <a:rPr lang="en-IN" sz="2400">
                    <a:solidFill>
                      <a:srgbClr val="111827"/>
                    </a:solidFill>
                    <a:latin typeface="Cambria Math" panose="02040503050406030204" pitchFamily="18" charset="0"/>
                  </a:rPr>
                  <a:t>$\dfrac{45^2}{12}=\dfrac{2025}{12}=168.75$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Nearest integer </a:t>
                </a:r>
                <a:r>
                  <a:rPr lang="en-IN" sz="2400">
                    <a:solidFill>
                      <a:srgbClr val="111827"/>
                    </a:solidFill>
                    <a:latin typeface="Cambria Math" panose="02040503050406030204" pitchFamily="18" charset="0"/>
                  </a:rPr>
                  <a:t>$=169$</a:t>
                </a:r>
                <a:r>
                  <a:rPr sz="2400" b="0">
                    <a:solidFill>
                      <a:srgbClr val="111827"/>
                    </a:solidFill>
                    <a:latin typeface="Arial"/>
                  </a:rPr>
                  <a:t>.</a:t>
                </a:r>
                <a:endParaRPr sz="2400">
                  <a:solidFill>
                    <a:srgbClr val="111827"/>
                  </a:solidFill>
                </a:endParaRPr>
              </a:p>
            </p:txBody>
          </p:sp>
        </mc:Fallback>
      </mc:AlternateContent>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169</a:t>
            </a:r>
            <a:endParaRPr sz="2800">
              <a:solidFill>
                <a:srgbClr val="15803D"/>
              </a:solidFill>
            </a:endParaRP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Partitions of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into parts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𝑝</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nor/>
                      </m:rPr>
                      <a:rPr lang="en-IN" sz="2400" i="1">
                        <a:solidFill>
                          <a:srgbClr val="111827"/>
                        </a:solidFill>
                        <a:latin typeface="Cambria Math" panose="02040503050406030204" pitchFamily="18" charset="0"/>
                      </a:rPr>
                      <m:t>𝑟𝑜𝑢𝑛𝑑</m:t>
                    </m:r>
                    <m:r>
                      <a:rPr lang="en-IN" sz="2400" i="1">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e>
                    </m:d>
                  </m:oMath>
                </a14:m>
                <a:r>
                  <a:rPr sz="2400" b="0">
                    <a:solidFill>
                      <a:srgbClr val="111827"/>
                    </a:solidFill>
                    <a:latin typeface="Arial"/>
                  </a:rPr>
                  <a:t> (checked: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7</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42</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169</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Fix the largest coefficient variable, count the rest with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Generating function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 the coefficient of </a:t>
                </a:r>
                <a14:m>
                  <m:oMath xmlns:m="http://schemas.openxmlformats.org/officeDocument/2006/math">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 is the answer.</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Partitions of </a:t>
                </a:r>
                <a:r>
                  <a:rPr lang="en-IN" sz="2400">
                    <a:solidFill>
                      <a:srgbClr val="111827"/>
                    </a:solidFill>
                    <a:latin typeface="Cambria Math" panose="02040503050406030204" pitchFamily="18" charset="0"/>
                  </a:rPr>
                  <a:t>$n$</a:t>
                </a:r>
                <a:r>
                  <a:rPr sz="2400" b="0">
                    <a:solidFill>
                      <a:srgbClr val="111827"/>
                    </a:solidFill>
                    <a:latin typeface="Arial"/>
                  </a:rPr>
                  <a:t> into parts </a:t>
                </a:r>
                <a:r>
                  <a:rPr lang="en-IN" sz="2400">
                    <a:solidFill>
                      <a:srgbClr val="111827"/>
                    </a:solidFill>
                    <a:latin typeface="Cambria Math" panose="02040503050406030204" pitchFamily="18" charset="0"/>
                  </a:rPr>
                  <a:t>$\le3$</a:t>
                </a:r>
                <a:r>
                  <a:rPr sz="2400" b="0">
                    <a:solidFill>
                      <a:srgbClr val="111827"/>
                    </a:solidFill>
                    <a:latin typeface="Arial"/>
                  </a:rPr>
                  <a:t>: </a:t>
                </a:r>
                <a:r>
                  <a:rPr lang="en-IN" sz="2400">
                    <a:solidFill>
                      <a:srgbClr val="111827"/>
                    </a:solidFill>
                    <a:latin typeface="Cambria Math" panose="02040503050406030204" pitchFamily="18" charset="0"/>
                  </a:rPr>
                  <a:t>$p_3(n)=\text{round}\!\big((n+3)^2/12\big)$</a:t>
                </a:r>
                <a:r>
                  <a:rPr sz="2400" b="0">
                    <a:solidFill>
                      <a:srgbClr val="111827"/>
                    </a:solidFill>
                    <a:latin typeface="Arial"/>
                  </a:rPr>
                  <a:t> (checked: </a:t>
                </a:r>
                <a:r>
                  <a:rPr lang="en-IN" sz="2400">
                    <a:solidFill>
                      <a:srgbClr val="111827"/>
                    </a:solidFill>
                    <a:latin typeface="Cambria Math" panose="02040503050406030204" pitchFamily="18" charset="0"/>
                  </a:rPr>
                  <a:t>$n=6$</a:t>
                </a:r>
                <a:r>
                  <a:rPr sz="2400" b="0">
                    <a:solidFill>
                      <a:srgbClr val="111827"/>
                    </a:solidFill>
                    <a:latin typeface="Arial"/>
                  </a:rPr>
                  <a:t> gives </a:t>
                </a:r>
                <a:r>
                  <a:rPr lang="en-IN" sz="2400">
                    <a:solidFill>
                      <a:srgbClr val="111827"/>
                    </a:solidFill>
                    <a:latin typeface="Cambria Math" panose="02040503050406030204" pitchFamily="18" charset="0"/>
                  </a:rPr>
                  <a:t>$7$</a:t>
                </a:r>
                <a:r>
                  <a:rPr sz="2400" b="0">
                    <a:solidFill>
                      <a:srgbClr val="111827"/>
                    </a:solidFill>
                    <a:latin typeface="Arial"/>
                  </a:rPr>
                  <a:t>, </a:t>
                </a:r>
                <a:r>
                  <a:rPr lang="en-IN" sz="2400">
                    <a:solidFill>
                      <a:srgbClr val="111827"/>
                    </a:solidFill>
                    <a:latin typeface="Cambria Math" panose="02040503050406030204" pitchFamily="18" charset="0"/>
                  </a:rPr>
                  <a:t>$n=42$</a:t>
                </a:r>
                <a:r>
                  <a:rPr sz="2400" b="0">
                    <a:solidFill>
                      <a:srgbClr val="111827"/>
                    </a:solidFill>
                    <a:latin typeface="Arial"/>
                  </a:rPr>
                  <a:t> gives </a:t>
                </a:r>
                <a:r>
                  <a:rPr lang="en-IN" sz="2400">
                    <a:solidFill>
                      <a:srgbClr val="111827"/>
                    </a:solidFill>
                    <a:latin typeface="Cambria Math" panose="02040503050406030204" pitchFamily="18" charset="0"/>
                  </a:rPr>
                  <a:t>$169$</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Fix the largest coefficient variable, count the rest with </a:t>
                </a:r>
                <a:r>
                  <a:rPr lang="en-IN" sz="2400">
                    <a:solidFill>
                      <a:srgbClr val="111827"/>
                    </a:solidFill>
                    <a:latin typeface="Cambria Math" panose="02040503050406030204" pitchFamily="18" charset="0"/>
                  </a:rPr>
                  <a:t>$\lfloor\cdot/2\rfloor+1$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Generating function </a:t>
                </a:r>
                <a:r>
                  <a:rPr lang="en-IN" sz="2400">
                    <a:solidFill>
                      <a:srgbClr val="111827"/>
                    </a:solidFill>
                    <a:latin typeface="Cambria Math" panose="02040503050406030204" pitchFamily="18" charset="0"/>
                  </a:rPr>
                  <a:t>$\dfrac1{(1-t)(1-t^2)(1-t^3)}$</a:t>
                </a:r>
                <a:r>
                  <a:rPr sz="2400" b="0">
                    <a:solidFill>
                      <a:srgbClr val="111827"/>
                    </a:solidFill>
                    <a:latin typeface="Arial"/>
                  </a:rPr>
                  <a:t>; the coefficient of </a:t>
                </a:r>
                <a:r>
                  <a:rPr lang="en-IN" sz="2400">
                    <a:solidFill>
                      <a:srgbClr val="111827"/>
                    </a:solidFill>
                    <a:latin typeface="Cambria Math" panose="02040503050406030204" pitchFamily="18" charset="0"/>
                  </a:rPr>
                  <a:t>$t^{n}$</a:t>
                </a:r>
                <a:r>
                  <a:rPr sz="2400" b="0">
                    <a:solidFill>
                      <a:srgbClr val="111827"/>
                    </a:solidFill>
                    <a:latin typeface="Arial"/>
                  </a:rPr>
                  <a:t> is the answer.</a:t>
                </a:r>
                <a:endParaRPr sz="2400">
                  <a:solidFill>
                    <a:srgbClr val="111827"/>
                  </a:solidFill>
                </a:endParaRPr>
              </a:p>
            </p:txBody>
          </p:sp>
        </mc:Fallback>
      </mc:AlternateContent>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37997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lines </a:t>
                </a:r>
                <a14:m>
                  <m:oMath xmlns:m="http://schemas.openxmlformats.org/officeDocument/2006/math">
                    <m:sSub>
                      <m:e>
                        <m:r>
                          <a:rPr lang="en-IN" sz="2400" i="1">
                            <a:solidFill>
                              <a:srgbClr val="111827"/>
                            </a:solidFill>
                            <a:latin typeface="Cambria Math" panose="02040503050406030204" pitchFamily="18" charset="0"/>
                          </a:rPr>
                          <m:t>𝐿</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𝐿</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𝐿</m:t>
                        </m:r>
                      </m:e>
                      <m:sub>
                        <m:r>
                          <a:rPr lang="en-IN" sz="2400" i="1">
                            <a:solidFill>
                              <a:srgbClr val="111827"/>
                            </a:solidFill>
                            <a:latin typeface="Cambria Math" panose="02040503050406030204" pitchFamily="18" charset="0"/>
                          </a:rPr>
                          <m:t>20</m:t>
                        </m:r>
                      </m:sub>
                    </m:sSub>
                  </m:oMath>
                </a14:m>
                <a:r>
                  <a:rPr sz="2400" b="0">
                    <a:solidFill>
                      <a:srgbClr val="111827"/>
                    </a:solidFill>
                    <a:latin typeface="Arial"/>
                  </a:rPr>
                  <a:t> are distinct. For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all the lines </a:t>
                </a:r>
                <a14:m>
                  <m:oMath xmlns:m="http://schemas.openxmlformats.org/officeDocument/2006/math">
                    <m:sSub>
                      <m:e>
                        <m:r>
                          <a:rPr lang="en-IN" sz="2400" i="1">
                            <a:solidFill>
                              <a:srgbClr val="111827"/>
                            </a:solidFill>
                            <a:latin typeface="Cambria Math" panose="02040503050406030204" pitchFamily="18" charset="0"/>
                          </a:rPr>
                          <m:t>𝐿</m:t>
                        </m:r>
                      </m:e>
                      <m:sub>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oMath>
                </a14:m>
                <a:r>
                  <a:rPr sz="2400" b="0">
                    <a:solidFill>
                      <a:srgbClr val="111827"/>
                    </a:solidFill>
                    <a:latin typeface="Arial"/>
                  </a:rPr>
                  <a:t> are parallel to each other and all the lines </a:t>
                </a:r>
                <a14:m>
                  <m:oMath xmlns:m="http://schemas.openxmlformats.org/officeDocument/2006/math">
                    <m:sSub>
                      <m:e>
                        <m:r>
                          <a:rPr lang="en-IN" sz="2400" i="1">
                            <a:solidFill>
                              <a:srgbClr val="111827"/>
                            </a:solidFill>
                            <a:latin typeface="Cambria Math" panose="02040503050406030204" pitchFamily="18" charset="0"/>
                          </a:rPr>
                          <m:t>𝐿</m:t>
                        </m:r>
                      </m:e>
                      <m:sub>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sub>
                    </m:sSub>
                  </m:oMath>
                </a14:m>
                <a:r>
                  <a:rPr sz="2400" b="0">
                    <a:solidFill>
                      <a:srgbClr val="111827"/>
                    </a:solidFill>
                    <a:latin typeface="Arial"/>
                  </a:rPr>
                  <a:t> pass through a given point </a:t>
                </a:r>
                <a14:m>
                  <m:oMath xmlns:m="http://schemas.openxmlformats.org/officeDocument/2006/math">
                    <m:r>
                      <a:rPr lang="en-IN" sz="2400" i="1">
                        <a:solidFill>
                          <a:srgbClr val="111827"/>
                        </a:solidFill>
                        <a:latin typeface="Cambria Math" panose="02040503050406030204" pitchFamily="18" charset="0"/>
                      </a:rPr>
                      <m:t>𝑃</m:t>
                    </m:r>
                  </m:oMath>
                </a14:m>
                <a:r>
                  <a:rPr sz="2400" b="0">
                    <a:solidFill>
                      <a:srgbClr val="111827"/>
                    </a:solidFill>
                    <a:latin typeface="Arial"/>
                  </a:rPr>
                  <a:t>. The maximum number of points of intersection of pairs of lines from the set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𝐿</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𝐿</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𝐿</m:t>
                        </m:r>
                      </m:e>
                      <m:sub>
                        <m:r>
                          <a:rPr lang="en-IN" sz="2400" i="1">
                            <a:solidFill>
                              <a:srgbClr val="111827"/>
                            </a:solidFill>
                            <a:latin typeface="Cambria Math" panose="02040503050406030204" pitchFamily="18" charset="0"/>
                          </a:rPr>
                          <m:t>20</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equal to ____.</a:t>
                </a:r>
                <a:endParaRPr sz="2400">
                  <a:solidFill>
                    <a:srgbClr val="111827"/>
                  </a:solidFill>
                </a:endParaRPr>
              </a:p>
            </p:txBody>
          </p:sp>
        </mc:Choice>
        <mc:Fallback>
          <p:sp>
            <p:nvSpPr>
              <p:cNvPr id="4" name="Rounded Rectangle 3"/>
              <p:cNvSpPr/>
              <p:nvPr/>
            </p:nvSpPr>
            <p:spPr>
              <a:xfrm>
                <a:off x="731520" y="1280160"/>
                <a:ext cx="10725912" cy="237997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lines </a:t>
                </a:r>
                <a:r>
                  <a:rPr lang="en-IN" sz="2400">
                    <a:solidFill>
                      <a:srgbClr val="111827"/>
                    </a:solidFill>
                    <a:latin typeface="Cambria Math" panose="02040503050406030204" pitchFamily="18" charset="0"/>
                  </a:rPr>
                  <a:t>$L_1,L_2,\dots,L_{20}$</a:t>
                </a:r>
                <a:r>
                  <a:rPr sz="2400" b="0">
                    <a:solidFill>
                      <a:srgbClr val="111827"/>
                    </a:solidFill>
                    <a:latin typeface="Arial"/>
                  </a:rPr>
                  <a:t> are distinct. For </a:t>
                </a:r>
                <a:r>
                  <a:rPr lang="en-IN" sz="2400">
                    <a:solidFill>
                      <a:srgbClr val="111827"/>
                    </a:solidFill>
                    <a:latin typeface="Cambria Math" panose="02040503050406030204" pitchFamily="18" charset="0"/>
                  </a:rPr>
                  <a:t>$n=1,2,3,\dots,10$</a:t>
                </a:r>
                <a:r>
                  <a:rPr sz="2400" b="0">
                    <a:solidFill>
                      <a:srgbClr val="111827"/>
                    </a:solidFill>
                    <a:latin typeface="Arial"/>
                  </a:rPr>
                  <a:t> all the lines </a:t>
                </a:r>
                <a:r>
                  <a:rPr lang="en-IN" sz="2400">
                    <a:solidFill>
                      <a:srgbClr val="111827"/>
                    </a:solidFill>
                    <a:latin typeface="Cambria Math" panose="02040503050406030204" pitchFamily="18" charset="0"/>
                  </a:rPr>
                  <a:t>$L_{2n-1}$</a:t>
                </a:r>
                <a:r>
                  <a:rPr sz="2400" b="0">
                    <a:solidFill>
                      <a:srgbClr val="111827"/>
                    </a:solidFill>
                    <a:latin typeface="Arial"/>
                  </a:rPr>
                  <a:t> are parallel to each other and all the lines </a:t>
                </a:r>
                <a:r>
                  <a:rPr lang="en-IN" sz="2400">
                    <a:solidFill>
                      <a:srgbClr val="111827"/>
                    </a:solidFill>
                    <a:latin typeface="Cambria Math" panose="02040503050406030204" pitchFamily="18" charset="0"/>
                  </a:rPr>
                  <a:t>$L_{2n}$</a:t>
                </a:r>
                <a:r>
                  <a:rPr sz="2400" b="0">
                    <a:solidFill>
                      <a:srgbClr val="111827"/>
                    </a:solidFill>
                    <a:latin typeface="Arial"/>
                  </a:rPr>
                  <a:t> pass through a given point </a:t>
                </a:r>
                <a:r>
                  <a:rPr lang="en-IN" sz="2400">
                    <a:solidFill>
                      <a:srgbClr val="111827"/>
                    </a:solidFill>
                    <a:latin typeface="Cambria Math" panose="02040503050406030204" pitchFamily="18" charset="0"/>
                  </a:rPr>
                  <a:t>$P$</a:t>
                </a:r>
                <a:r>
                  <a:rPr sz="2400" b="0">
                    <a:solidFill>
                      <a:srgbClr val="111827"/>
                    </a:solidFill>
                    <a:latin typeface="Arial"/>
                  </a:rPr>
                  <a:t>. The maximum number of points of intersection of pairs of lines from the set </a:t>
                </a:r>
                <a:r>
                  <a:rPr lang="en-IN" sz="2400">
                    <a:solidFill>
                      <a:srgbClr val="111827"/>
                    </a:solidFill>
                    <a:latin typeface="Cambria Math" panose="02040503050406030204" pitchFamily="18" charset="0"/>
                  </a:rPr>
                  <a:t>$\{L_1,L_2,\dots,L_{20}\}$</a:t>
                </a:r>
                <a:r>
                  <a:rPr sz="2400" b="0">
                    <a:solidFill>
                      <a:srgbClr val="111827"/>
                    </a:solidFill>
                    <a:latin typeface="Arial"/>
                  </a:rPr>
                  <a:t> is equal to ____.</a:t>
                </a:r>
                <a:endParaRPr sz="2400">
                  <a:solidFill>
                    <a:srgbClr val="111827"/>
                  </a:solidFill>
                </a:endParaRPr>
              </a:p>
            </p:txBody>
          </p:sp>
        </mc:Fallback>
      </mc:AlternateContent>
      <p:sp>
        <p:nvSpPr>
          <p:cNvPr id="5" name="Rectangle 4"/>
          <p:cNvSpPr/>
          <p:nvPr/>
        </p:nvSpPr>
        <p:spPr>
          <a:xfrm>
            <a:off x="731520" y="3888739"/>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Maximum points of intersection of lines (parallel and concurrent families)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Parallel lines never meet, concurrent lines all share one point, and each odd-even pair gives a distinct new point.</a:t>
            </a:r>
            <a:endParaRPr sz="24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There are </a:t>
                </a:r>
                <a14:m>
                  <m:oMath xmlns:m="http://schemas.openxmlformats.org/officeDocument/2006/math">
                    <m:r>
                      <a:rPr lang="en-IN" sz="2400" i="1">
                        <a:solidFill>
                          <a:srgbClr val="111827"/>
                        </a:solidFill>
                        <a:latin typeface="Cambria Math" panose="02040503050406030204" pitchFamily="18" charset="0"/>
                      </a:rPr>
                      <m:t>10</m:t>
                    </m:r>
                  </m:oMath>
                </a14:m>
                <a:r>
                  <a:rPr sz="2400" b="0">
                    <a:solidFill>
                      <a:srgbClr val="111827"/>
                    </a:solidFill>
                    <a:latin typeface="Arial"/>
                  </a:rPr>
                  <a:t> odd lines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𝐿</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𝐿</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𝐿</m:t>
                        </m:r>
                      </m:e>
                      <m:sub>
                        <m:r>
                          <a:rPr lang="en-IN" sz="2400" i="1">
                            <a:solidFill>
                              <a:srgbClr val="111827"/>
                            </a:solidFill>
                            <a:latin typeface="Cambria Math" panose="02040503050406030204" pitchFamily="18" charset="0"/>
                          </a:rPr>
                          <m:t>19</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(parallel) and </a:t>
                </a:r>
                <a14:m>
                  <m:oMath xmlns:m="http://schemas.openxmlformats.org/officeDocument/2006/math">
                    <m:r>
                      <a:rPr lang="en-IN" sz="2400" i="1">
                        <a:solidFill>
                          <a:srgbClr val="111827"/>
                        </a:solidFill>
                        <a:latin typeface="Cambria Math" panose="02040503050406030204" pitchFamily="18" charset="0"/>
                      </a:rPr>
                      <m:t>10</m:t>
                    </m:r>
                  </m:oMath>
                </a14:m>
                <a:r>
                  <a:rPr sz="2400" b="0">
                    <a:solidFill>
                      <a:srgbClr val="111827"/>
                    </a:solidFill>
                    <a:latin typeface="Arial"/>
                  </a:rPr>
                  <a:t> even lines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𝐿</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𝐿</m:t>
                        </m:r>
                      </m:e>
                      <m:sub>
                        <m:r>
                          <a:rPr lang="en-IN" sz="2400" i="1">
                            <a:solidFill>
                              <a:srgbClr val="111827"/>
                            </a:solidFill>
                            <a:latin typeface="Cambria Math" panose="02040503050406030204" pitchFamily="18" charset="0"/>
                          </a:rPr>
                          <m:t>4</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𝐿</m:t>
                        </m:r>
                      </m:e>
                      <m:sub>
                        <m:r>
                          <a:rPr lang="en-IN" sz="2400" i="1">
                            <a:solidFill>
                              <a:srgbClr val="111827"/>
                            </a:solidFill>
                            <a:latin typeface="Cambria Math" panose="02040503050406030204" pitchFamily="18" charset="0"/>
                          </a:rPr>
                          <m:t>20</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(all through </a:t>
                </a:r>
                <a14:m>
                  <m:oMath xmlns:m="http://schemas.openxmlformats.org/officeDocument/2006/math">
                    <m:r>
                      <a:rPr lang="en-IN" sz="2400" i="1">
                        <a:solidFill>
                          <a:srgbClr val="111827"/>
                        </a:solidFill>
                        <a:latin typeface="Cambria Math" panose="02040503050406030204" pitchFamily="18" charset="0"/>
                      </a:rPr>
                      <m:t>𝑃</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Pairs of odd lines are parallel: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10</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points.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All even lines pass through </a:t>
                </a:r>
                <a14:m>
                  <m:oMath xmlns:m="http://schemas.openxmlformats.org/officeDocument/2006/math">
                    <m:r>
                      <a:rPr lang="en-IN" sz="2400" i="1">
                        <a:solidFill>
                          <a:srgbClr val="111827"/>
                        </a:solidFill>
                        <a:latin typeface="Cambria Math" panose="02040503050406030204" pitchFamily="18" charset="0"/>
                      </a:rPr>
                      <m:t>𝑃</m:t>
                    </m:r>
                  </m:oMath>
                </a14:m>
                <a:r>
                  <a:rPr sz="2400" b="0">
                    <a:solidFill>
                      <a:srgbClr val="111827"/>
                    </a:solidFill>
                    <a:latin typeface="Arial"/>
                  </a:rPr>
                  <a:t>: their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10</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pairs give just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point of intersection.</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There are </a:t>
                </a:r>
                <a:r>
                  <a:rPr lang="en-IN" sz="2400">
                    <a:solidFill>
                      <a:srgbClr val="111827"/>
                    </a:solidFill>
                    <a:latin typeface="Cambria Math" panose="02040503050406030204" pitchFamily="18" charset="0"/>
                  </a:rPr>
                  <a:t>$10$</a:t>
                </a:r>
                <a:r>
                  <a:rPr sz="2400" b="0">
                    <a:solidFill>
                      <a:srgbClr val="111827"/>
                    </a:solidFill>
                    <a:latin typeface="Arial"/>
                  </a:rPr>
                  <a:t> odd lines </a:t>
                </a:r>
                <a:r>
                  <a:rPr lang="en-IN" sz="2400">
                    <a:solidFill>
                      <a:srgbClr val="111827"/>
                    </a:solidFill>
                    <a:latin typeface="Cambria Math" panose="02040503050406030204" pitchFamily="18" charset="0"/>
                  </a:rPr>
                  <a:t>$\{L_1,L_3,\dots,L_{19}\}$</a:t>
                </a:r>
                <a:r>
                  <a:rPr sz="2400" b="0">
                    <a:solidFill>
                      <a:srgbClr val="111827"/>
                    </a:solidFill>
                    <a:latin typeface="Arial"/>
                  </a:rPr>
                  <a:t> (parallel) and </a:t>
                </a:r>
                <a:r>
                  <a:rPr lang="en-IN" sz="2400">
                    <a:solidFill>
                      <a:srgbClr val="111827"/>
                    </a:solidFill>
                    <a:latin typeface="Cambria Math" panose="02040503050406030204" pitchFamily="18" charset="0"/>
                  </a:rPr>
                  <a:t>$10$</a:t>
                </a:r>
                <a:r>
                  <a:rPr sz="2400" b="0">
                    <a:solidFill>
                      <a:srgbClr val="111827"/>
                    </a:solidFill>
                    <a:latin typeface="Arial"/>
                  </a:rPr>
                  <a:t> even lines </a:t>
                </a:r>
                <a:r>
                  <a:rPr lang="en-IN" sz="2400">
                    <a:solidFill>
                      <a:srgbClr val="111827"/>
                    </a:solidFill>
                    <a:latin typeface="Cambria Math" panose="02040503050406030204" pitchFamily="18" charset="0"/>
                  </a:rPr>
                  <a:t>$\{L_2,L_4,\dots,L_{20}\}$</a:t>
                </a:r>
                <a:r>
                  <a:rPr sz="2400" b="0">
                    <a:solidFill>
                      <a:srgbClr val="111827"/>
                    </a:solidFill>
                    <a:latin typeface="Arial"/>
                  </a:rPr>
                  <a:t> (all through </a:t>
                </a:r>
                <a:r>
                  <a:rPr lang="en-IN" sz="2400">
                    <a:solidFill>
                      <a:srgbClr val="111827"/>
                    </a:solidFill>
                    <a:latin typeface="Cambria Math" panose="02040503050406030204" pitchFamily="18" charset="0"/>
                  </a:rPr>
                  <a:t>$P$</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Pairs of odd lines are parallel: </a:t>
                </a:r>
                <a:r>
                  <a:rPr lang="en-IN" sz="2400">
                    <a:solidFill>
                      <a:srgbClr val="111827"/>
                    </a:solidFill>
                    <a:latin typeface="Cambria Math" panose="02040503050406030204" pitchFamily="18" charset="0"/>
                  </a:rPr>
                  <a:t>$^{10}C_2\times0=0$</a:t>
                </a:r>
                <a:r>
                  <a:rPr sz="2400" b="0">
                    <a:solidFill>
                      <a:srgbClr val="111827"/>
                    </a:solidFill>
                    <a:latin typeface="Arial"/>
                  </a:rPr>
                  <a:t> points.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All even lines pass through </a:t>
                </a:r>
                <a:r>
                  <a:rPr lang="en-IN" sz="2400">
                    <a:solidFill>
                      <a:srgbClr val="111827"/>
                    </a:solidFill>
                    <a:latin typeface="Cambria Math" panose="02040503050406030204" pitchFamily="18" charset="0"/>
                  </a:rPr>
                  <a:t>$P$</a:t>
                </a:r>
                <a:r>
                  <a:rPr sz="2400" b="0">
                    <a:solidFill>
                      <a:srgbClr val="111827"/>
                    </a:solidFill>
                    <a:latin typeface="Arial"/>
                  </a:rPr>
                  <a:t>: their </a:t>
                </a:r>
                <a:r>
                  <a:rPr lang="en-IN" sz="2400">
                    <a:solidFill>
                      <a:srgbClr val="111827"/>
                    </a:solidFill>
                    <a:latin typeface="Cambria Math" panose="02040503050406030204" pitchFamily="18" charset="0"/>
                  </a:rPr>
                  <a:t>$^{10}C_2$</a:t>
                </a:r>
                <a:r>
                  <a:rPr sz="2400" b="0">
                    <a:solidFill>
                      <a:srgbClr val="111827"/>
                    </a:solidFill>
                    <a:latin typeface="Arial"/>
                  </a:rPr>
                  <a:t> pairs give just </a:t>
                </a:r>
                <a:r>
                  <a:rPr lang="en-IN" sz="2400">
                    <a:solidFill>
                      <a:srgbClr val="111827"/>
                    </a:solidFill>
                    <a:latin typeface="Cambria Math" panose="02040503050406030204" pitchFamily="18" charset="0"/>
                  </a:rPr>
                  <a:t>$1$</a:t>
                </a:r>
                <a:r>
                  <a:rPr sz="2400" b="0">
                    <a:solidFill>
                      <a:srgbClr val="111827"/>
                    </a:solidFill>
                    <a:latin typeface="Arial"/>
                  </a:rPr>
                  <a:t> point of intersection.</a:t>
                </a:r>
                <a:endParaRPr sz="2400">
                  <a:solidFill>
                    <a:srgbClr val="111827"/>
                  </a:solidFill>
                </a:endParaRPr>
              </a:p>
            </p:txBody>
          </p:sp>
        </mc:Fallback>
      </mc:AlternateContent>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One odd line with one even line: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10</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10</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m:t>
                    </m:r>
                  </m:oMath>
                </a14:m>
                <a:r>
                  <a:rPr sz="2400" b="0">
                    <a:solidFill>
                      <a:srgbClr val="111827"/>
                    </a:solidFill>
                    <a:latin typeface="Arial"/>
                  </a:rPr>
                  <a:t> pairs, and for maximum all these points are distinct (and none equals </a:t>
                </a:r>
                <a14:m>
                  <m:oMath xmlns:m="http://schemas.openxmlformats.org/officeDocument/2006/math">
                    <m:r>
                      <a:rPr lang="en-IN" sz="2400" i="1">
                        <a:solidFill>
                          <a:srgbClr val="111827"/>
                        </a:solidFill>
                        <a:latin typeface="Cambria Math" panose="02040503050406030204" pitchFamily="18" charset="0"/>
                      </a:rPr>
                      <m:t>𝑃</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Maximum number of points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101</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One odd line with one even line: </a:t>
                </a:r>
                <a:r>
                  <a:rPr lang="en-IN" sz="2400">
                    <a:solidFill>
                      <a:srgbClr val="111827"/>
                    </a:solidFill>
                    <a:latin typeface="Cambria Math" panose="02040503050406030204" pitchFamily="18" charset="0"/>
                  </a:rPr>
                  <a:t>$^{10}C_1\times{}^{10}C_1=100$</a:t>
                </a:r>
                <a:r>
                  <a:rPr sz="2400" b="0">
                    <a:solidFill>
                      <a:srgbClr val="111827"/>
                    </a:solidFill>
                    <a:latin typeface="Arial"/>
                  </a:rPr>
                  <a:t> pairs, and for maximum all these points are distinct (and none equals </a:t>
                </a:r>
                <a:r>
                  <a:rPr lang="en-IN" sz="2400">
                    <a:solidFill>
                      <a:srgbClr val="111827"/>
                    </a:solidFill>
                    <a:latin typeface="Cambria Math" panose="02040503050406030204" pitchFamily="18" charset="0"/>
                  </a:rPr>
                  <a:t>$P$</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Maximum number of points </a:t>
                </a:r>
                <a:r>
                  <a:rPr lang="en-IN" sz="2400">
                    <a:solidFill>
                      <a:srgbClr val="111827"/>
                    </a:solidFill>
                    <a:latin typeface="Cambria Math" panose="02040503050406030204" pitchFamily="18" charset="0"/>
                  </a:rPr>
                  <a:t>$=0+100+1=101$</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101</a:t>
            </a:r>
            <a:endParaRPr sz="2800">
              <a:solidFill>
                <a:srgbClr val="15803D"/>
              </a:solidFill>
            </a:endParaRP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lines in general position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lines give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2</m:t>
                            </m:r>
                          </m:den>
                        </m:f>
                      </m:e>
                    </m:d>
                  </m:oMath>
                </a14:m>
                <a:r>
                  <a:rPr sz="2400" b="0">
                    <a:solidFill>
                      <a:srgbClr val="111827"/>
                    </a:solidFill>
                    <a:latin typeface="Arial"/>
                  </a:rPr>
                  <a:t> points; each parallel family of size </a:t>
                </a:r>
                <a14:m>
                  <m:oMath xmlns:m="http://schemas.openxmlformats.org/officeDocument/2006/math">
                    <m:r>
                      <a:rPr lang="en-IN" sz="2400" i="1">
                        <a:solidFill>
                          <a:srgbClr val="111827"/>
                        </a:solidFill>
                        <a:latin typeface="Cambria Math" panose="02040503050406030204" pitchFamily="18" charset="0"/>
                      </a:rPr>
                      <m:t>𝑎</m:t>
                    </m:r>
                  </m:oMath>
                </a14:m>
                <a:r>
                  <a:rPr sz="2400" b="0">
                    <a:solidFill>
                      <a:srgbClr val="111827"/>
                    </a:solidFill>
                    <a:latin typeface="Arial"/>
                  </a:rPr>
                  <a:t> loses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2</m:t>
                            </m:r>
                          </m:den>
                        </m:f>
                      </m:e>
                    </m:d>
                  </m:oMath>
                </a14:m>
                <a:r>
                  <a:rPr sz="2400" b="0">
                    <a:solidFill>
                      <a:srgbClr val="111827"/>
                    </a:solidFill>
                    <a:latin typeface="Arial"/>
                  </a:rPr>
                  <a:t> and each concurrent family of size </a:t>
                </a:r>
                <a14:m>
                  <m:oMath xmlns:m="http://schemas.openxmlformats.org/officeDocument/2006/math">
                    <m:r>
                      <a:rPr lang="en-IN" sz="2400" i="1">
                        <a:solidFill>
                          <a:srgbClr val="111827"/>
                        </a:solidFill>
                        <a:latin typeface="Cambria Math" panose="02040503050406030204" pitchFamily="18" charset="0"/>
                      </a:rPr>
                      <m:t>𝑐</m:t>
                    </m:r>
                  </m:oMath>
                </a14:m>
                <a:r>
                  <a:rPr sz="2400" b="0">
                    <a:solidFill>
                      <a:srgbClr val="111827"/>
                    </a:solidFill>
                    <a:latin typeface="Arial"/>
                  </a:rPr>
                  <a:t> loses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𝑐</m:t>
                            </m:r>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Here: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20</m:t>
                            </m:r>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Same bookkeeping for the maximum number of regions or intersection points of circles and lines.</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lines in general position </a:t>
                </a:r>
                <a:r>
                  <a:rPr lang="en-IN" sz="2400">
                    <a:solidFill>
                      <a:srgbClr val="111827"/>
                    </a:solidFill>
                    <a:latin typeface="Cambria Math" panose="02040503050406030204" pitchFamily="18" charset="0"/>
                  </a:rPr>
                  <a:t>$n$</a:t>
                </a:r>
                <a:r>
                  <a:rPr sz="2400" b="0">
                    <a:solidFill>
                      <a:srgbClr val="111827"/>
                    </a:solidFill>
                    <a:latin typeface="Arial"/>
                  </a:rPr>
                  <a:t> lines give </a:t>
                </a:r>
                <a:r>
                  <a:rPr lang="en-IN" sz="2400">
                    <a:solidFill>
                      <a:srgbClr val="111827"/>
                    </a:solidFill>
                    <a:latin typeface="Cambria Math" panose="02040503050406030204" pitchFamily="18" charset="0"/>
                  </a:rPr>
                  <a:t>$\binom n2$</a:t>
                </a:r>
                <a:r>
                  <a:rPr sz="2400" b="0">
                    <a:solidFill>
                      <a:srgbClr val="111827"/>
                    </a:solidFill>
                    <a:latin typeface="Arial"/>
                  </a:rPr>
                  <a:t> points; each parallel family of size </a:t>
                </a:r>
                <a:r>
                  <a:rPr lang="en-IN" sz="2400">
                    <a:solidFill>
                      <a:srgbClr val="111827"/>
                    </a:solidFill>
                    <a:latin typeface="Cambria Math" panose="02040503050406030204" pitchFamily="18" charset="0"/>
                  </a:rPr>
                  <a:t>$a$</a:t>
                </a:r>
                <a:r>
                  <a:rPr sz="2400" b="0">
                    <a:solidFill>
                      <a:srgbClr val="111827"/>
                    </a:solidFill>
                    <a:latin typeface="Arial"/>
                  </a:rPr>
                  <a:t> loses </a:t>
                </a:r>
                <a:r>
                  <a:rPr lang="en-IN" sz="2400">
                    <a:solidFill>
                      <a:srgbClr val="111827"/>
                    </a:solidFill>
                    <a:latin typeface="Cambria Math" panose="02040503050406030204" pitchFamily="18" charset="0"/>
                  </a:rPr>
                  <a:t>$\binom a2$</a:t>
                </a:r>
                <a:r>
                  <a:rPr sz="2400" b="0">
                    <a:solidFill>
                      <a:srgbClr val="111827"/>
                    </a:solidFill>
                    <a:latin typeface="Arial"/>
                  </a:rPr>
                  <a:t> and each concurrent family of size </a:t>
                </a:r>
                <a:r>
                  <a:rPr lang="en-IN" sz="2400">
                    <a:solidFill>
                      <a:srgbClr val="111827"/>
                    </a:solidFill>
                    <a:latin typeface="Cambria Math" panose="02040503050406030204" pitchFamily="18" charset="0"/>
                  </a:rPr>
                  <a:t>$c$</a:t>
                </a:r>
                <a:r>
                  <a:rPr sz="2400" b="0">
                    <a:solidFill>
                      <a:srgbClr val="111827"/>
                    </a:solidFill>
                    <a:latin typeface="Arial"/>
                  </a:rPr>
                  <a:t> loses </a:t>
                </a:r>
                <a:r>
                  <a:rPr lang="en-IN" sz="2400">
                    <a:solidFill>
                      <a:srgbClr val="111827"/>
                    </a:solidFill>
                    <a:latin typeface="Cambria Math" panose="02040503050406030204" pitchFamily="18" charset="0"/>
                  </a:rPr>
                  <a:t>$\binom c2-1$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Here: </a:t>
                </a:r>
                <a:r>
                  <a:rPr lang="en-IN" sz="2400">
                    <a:solidFill>
                      <a:srgbClr val="111827"/>
                    </a:solidFill>
                    <a:latin typeface="Cambria Math" panose="02040503050406030204" pitchFamily="18" charset="0"/>
                  </a:rPr>
                  <a:t>$\binom{20}2-\binom{10}2-\big(\binom{10}2-1\big)=190-45-44=101$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Same bookkeeping for the maximum number of regions or intersection points of circles and lines.</a:t>
                </a:r>
                <a:endParaRPr sz="2400">
                  <a:solidFill>
                    <a:srgbClr val="111827"/>
                  </a:solidFill>
                </a:endParaRPr>
              </a:p>
            </p:txBody>
          </p:sp>
        </mc:Fallback>
      </mc:AlternateContent>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number of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-letter words, with or without meaning, each consisting of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vowels and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consonants, which can be formed from the letters of the word UNIVERSE without repetition is ____.</a:t>
                </a:r>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number of </a:t>
                </a:r>
                <a:r>
                  <a:rPr lang="en-IN" sz="2400">
                    <a:solidFill>
                      <a:srgbClr val="111827"/>
                    </a:solidFill>
                    <a:latin typeface="Cambria Math" panose="02040503050406030204" pitchFamily="18" charset="0"/>
                  </a:rPr>
                  <a:t>$4$</a:t>
                </a:r>
                <a:r>
                  <a:rPr sz="2400" b="0">
                    <a:solidFill>
                      <a:srgbClr val="111827"/>
                    </a:solidFill>
                    <a:latin typeface="Arial"/>
                  </a:rPr>
                  <a:t>-letter words, with or without meaning, each consisting of </a:t>
                </a:r>
                <a:r>
                  <a:rPr lang="en-IN" sz="2400">
                    <a:solidFill>
                      <a:srgbClr val="111827"/>
                    </a:solidFill>
                    <a:latin typeface="Cambria Math" panose="02040503050406030204" pitchFamily="18" charset="0"/>
                  </a:rPr>
                  <a:t>$2$</a:t>
                </a:r>
                <a:r>
                  <a:rPr sz="2400" b="0">
                    <a:solidFill>
                      <a:srgbClr val="111827"/>
                    </a:solidFill>
                    <a:latin typeface="Arial"/>
                  </a:rPr>
                  <a:t> vowels and </a:t>
                </a:r>
                <a:r>
                  <a:rPr lang="en-IN" sz="2400">
                    <a:solidFill>
                      <a:srgbClr val="111827"/>
                    </a:solidFill>
                    <a:latin typeface="Cambria Math" panose="02040503050406030204" pitchFamily="18" charset="0"/>
                  </a:rPr>
                  <a:t>$2$</a:t>
                </a:r>
                <a:r>
                  <a:rPr sz="2400" b="0">
                    <a:solidFill>
                      <a:srgbClr val="111827"/>
                    </a:solidFill>
                    <a:latin typeface="Arial"/>
                  </a:rPr>
                  <a:t> consonants, which can be formed from the letters of the word UNIVERSE without repetition is ____.</a:t>
                </a:r>
                <a:endParaRPr sz="2400">
                  <a:solidFill>
                    <a:srgbClr val="111827"/>
                  </a:solidFill>
                </a:endParaRPr>
              </a:p>
            </p:txBody>
          </p:sp>
        </mc:Fallback>
      </mc:AlternateContent>
      <p:sp>
        <p:nvSpPr>
          <p:cNvPr id="5" name="Rectangle 4"/>
          <p:cNvSpPr/>
          <p:nvPr/>
        </p:nvSpPr>
        <p:spPr>
          <a:xfrm>
            <a:off x="731520" y="324612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Words formed from letters of a word without repetition (vowels and consonants)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'Without repetition' means no letter appears twice in the word, so the repeated E counts as one vowel.</a:t>
            </a:r>
            <a:endParaRPr sz="24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UNIVERSE: vowels </a:t>
                </a:r>
                <a14:m>
                  <m:oMath xmlns:m="http://schemas.openxmlformats.org/officeDocument/2006/math">
                    <m:r>
                      <a:rPr lang="en-IN" sz="2400" i="1">
                        <a:solidFill>
                          <a:srgbClr val="111827"/>
                        </a:solidFill>
                        <a:latin typeface="Cambria Math" panose="02040503050406030204" pitchFamily="18" charset="0"/>
                      </a:rPr>
                      <m:t>𝑈</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𝐼</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𝐸</m:t>
                    </m:r>
                  </m:oMath>
                </a14:m>
                <a:r>
                  <a:rPr sz="2400" b="0">
                    <a:solidFill>
                      <a:srgbClr val="111827"/>
                    </a:solidFill>
                    <a:latin typeface="Arial"/>
                  </a:rPr>
                  <a:t> and consonants </a:t>
                </a:r>
                <a14:m>
                  <m:oMath xmlns:m="http://schemas.openxmlformats.org/officeDocument/2006/math">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𝑉</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𝑆</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Without repetition, no letter occurs twice in a word, so the distinct vowels are </a:t>
                </a:r>
                <a14:m>
                  <m:oMath xmlns:m="http://schemas.openxmlformats.org/officeDocument/2006/math">
                    <m:r>
                      <a:rPr lang="en-IN" sz="2400" i="1">
                        <a:solidFill>
                          <a:srgbClr val="111827"/>
                        </a:solidFill>
                        <a:latin typeface="Cambria Math" panose="02040503050406030204" pitchFamily="18" charset="0"/>
                      </a:rPr>
                      <m:t>𝑈</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𝐼</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𝐸</m:t>
                    </m:r>
                  </m:oMath>
                </a14:m>
                <a:r>
                  <a:rPr sz="2400" b="0">
                    <a:solidFill>
                      <a:srgbClr val="111827"/>
                    </a:solidFill>
                    <a:latin typeface="Arial"/>
                  </a:rPr>
                  <a:t> and the distinct consonants are </a:t>
                </a:r>
                <a14:m>
                  <m:oMath xmlns:m="http://schemas.openxmlformats.org/officeDocument/2006/math">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𝑉</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𝑆</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Choose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different vowels from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choose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consonants from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4</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UNIVERSE: vowels </a:t>
                </a:r>
                <a:r>
                  <a:rPr lang="en-IN" sz="2400">
                    <a:solidFill>
                      <a:srgbClr val="111827"/>
                    </a:solidFill>
                    <a:latin typeface="Cambria Math" panose="02040503050406030204" pitchFamily="18" charset="0"/>
                  </a:rPr>
                  <a:t>$U,I,E,E$</a:t>
                </a:r>
                <a:r>
                  <a:rPr sz="2400" b="0">
                    <a:solidFill>
                      <a:srgbClr val="111827"/>
                    </a:solidFill>
                    <a:latin typeface="Arial"/>
                  </a:rPr>
                  <a:t> and consonants </a:t>
                </a:r>
                <a:r>
                  <a:rPr lang="en-IN" sz="2400">
                    <a:solidFill>
                      <a:srgbClr val="111827"/>
                    </a:solidFill>
                    <a:latin typeface="Cambria Math" panose="02040503050406030204" pitchFamily="18" charset="0"/>
                  </a:rPr>
                  <a:t>$N,V,R,S$</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Without repetition, no letter occurs twice in a word, so the distinct vowels are </a:t>
                </a:r>
                <a:r>
                  <a:rPr lang="en-IN" sz="2400">
                    <a:solidFill>
                      <a:srgbClr val="111827"/>
                    </a:solidFill>
                    <a:latin typeface="Cambria Math" panose="02040503050406030204" pitchFamily="18" charset="0"/>
                  </a:rPr>
                  <a:t>$U,I,E$</a:t>
                </a:r>
                <a:r>
                  <a:rPr sz="2400" b="0">
                    <a:solidFill>
                      <a:srgbClr val="111827"/>
                    </a:solidFill>
                    <a:latin typeface="Arial"/>
                  </a:rPr>
                  <a:t> and the distinct consonants are </a:t>
                </a:r>
                <a:r>
                  <a:rPr lang="en-IN" sz="2400">
                    <a:solidFill>
                      <a:srgbClr val="111827"/>
                    </a:solidFill>
                    <a:latin typeface="Cambria Math" panose="02040503050406030204" pitchFamily="18" charset="0"/>
                  </a:rPr>
                  <a:t>$N,V,R,S$</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Choose </a:t>
                </a:r>
                <a:r>
                  <a:rPr lang="en-IN" sz="2400">
                    <a:solidFill>
                      <a:srgbClr val="111827"/>
                    </a:solidFill>
                    <a:latin typeface="Cambria Math" panose="02040503050406030204" pitchFamily="18" charset="0"/>
                  </a:rPr>
                  <a:t>$2$</a:t>
                </a:r>
                <a:r>
                  <a:rPr sz="2400" b="0">
                    <a:solidFill>
                      <a:srgbClr val="111827"/>
                    </a:solidFill>
                    <a:latin typeface="Arial"/>
                  </a:rPr>
                  <a:t> different vowels from </a:t>
                </a:r>
                <a:r>
                  <a:rPr lang="en-IN" sz="2400">
                    <a:solidFill>
                      <a:srgbClr val="111827"/>
                    </a:solidFill>
                    <a:latin typeface="Cambria Math" panose="02040503050406030204" pitchFamily="18" charset="0"/>
                  </a:rPr>
                  <a:t>$3$</a:t>
                </a:r>
                <a:r>
                  <a:rPr sz="2400" b="0">
                    <a:solidFill>
                      <a:srgbClr val="111827"/>
                    </a:solidFill>
                    <a:latin typeface="Arial"/>
                  </a:rPr>
                  <a:t>: </a:t>
                </a:r>
                <a:r>
                  <a:rPr lang="en-IN" sz="2400">
                    <a:solidFill>
                      <a:srgbClr val="111827"/>
                    </a:solidFill>
                    <a:latin typeface="Cambria Math" panose="02040503050406030204" pitchFamily="18" charset="0"/>
                  </a:rPr>
                  <a:t>$^3C_2=3$</a:t>
                </a:r>
                <a:r>
                  <a:rPr sz="2400" b="0">
                    <a:solidFill>
                      <a:srgbClr val="111827"/>
                    </a:solidFill>
                    <a:latin typeface="Arial"/>
                  </a:rPr>
                  <a:t>; choose </a:t>
                </a:r>
                <a:r>
                  <a:rPr lang="en-IN" sz="2400">
                    <a:solidFill>
                      <a:srgbClr val="111827"/>
                    </a:solidFill>
                    <a:latin typeface="Cambria Math" panose="02040503050406030204" pitchFamily="18" charset="0"/>
                  </a:rPr>
                  <a:t>$2$</a:t>
                </a:r>
                <a:r>
                  <a:rPr sz="2400" b="0">
                    <a:solidFill>
                      <a:srgbClr val="111827"/>
                    </a:solidFill>
                    <a:latin typeface="Arial"/>
                  </a:rPr>
                  <a:t> consonants from </a:t>
                </a:r>
                <a:r>
                  <a:rPr lang="en-IN" sz="2400">
                    <a:solidFill>
                      <a:srgbClr val="111827"/>
                    </a:solidFill>
                    <a:latin typeface="Cambria Math" panose="02040503050406030204" pitchFamily="18" charset="0"/>
                  </a:rPr>
                  <a:t>$4$</a:t>
                </a:r>
                <a:r>
                  <a:rPr sz="2400" b="0">
                    <a:solidFill>
                      <a:srgbClr val="111827"/>
                    </a:solidFill>
                    <a:latin typeface="Arial"/>
                  </a:rPr>
                  <a:t>: </a:t>
                </a:r>
                <a:r>
                  <a:rPr lang="en-IN" sz="2400">
                    <a:solidFill>
                      <a:srgbClr val="111827"/>
                    </a:solidFill>
                    <a:latin typeface="Cambria Math" panose="02040503050406030204" pitchFamily="18" charset="0"/>
                  </a:rPr>
                  <a:t>$^4C_2=6$</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Arrange the four chosen letters in </a:t>
                </a:r>
                <a14:m>
                  <m:oMath xmlns:m="http://schemas.openxmlformats.org/officeDocument/2006/math">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oMath>
                </a14:m>
                <a:r>
                  <a:rPr sz="2400" b="0">
                    <a:solidFill>
                      <a:srgbClr val="111827"/>
                    </a:solidFill>
                    <a:latin typeface="Arial"/>
                  </a:rPr>
                  <a:t> ways.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 of words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432</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Arrange the four chosen letters in </a:t>
                </a:r>
                <a:r>
                  <a:rPr lang="en-IN" sz="2400">
                    <a:solidFill>
                      <a:srgbClr val="111827"/>
                    </a:solidFill>
                    <a:latin typeface="Cambria Math" panose="02040503050406030204" pitchFamily="18" charset="0"/>
                  </a:rPr>
                  <a:t>$4!=24$</a:t>
                </a:r>
                <a:r>
                  <a:rPr sz="2400" b="0">
                    <a:solidFill>
                      <a:srgbClr val="111827"/>
                    </a:solidFill>
                    <a:latin typeface="Arial"/>
                  </a:rPr>
                  <a:t> ways.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 of words </a:t>
                </a:r>
                <a:r>
                  <a:rPr lang="en-IN" sz="2400">
                    <a:solidFill>
                      <a:srgbClr val="111827"/>
                    </a:solidFill>
                    <a:latin typeface="Cambria Math" panose="02040503050406030204" pitchFamily="18" charset="0"/>
                  </a:rPr>
                  <a:t>$=3\times6\times24=432$</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432</a:t>
            </a:r>
            <a:endParaRPr sz="2800">
              <a:solidFill>
                <a:srgbClr val="15803D"/>
              </a:solidFill>
            </a:endParaRP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Choose the positions first: which two of the four places hold vowels, then fill them in order.</a:t>
            </a:r>
            <a:endParaRPr sz="2400">
              <a:solidFill>
                <a:srgbClr val="78350F"/>
              </a:solidFill>
            </a:endParaRPr>
          </a:p>
        </p:txBody>
      </p:sp>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Choose the two places for vowels: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4</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Fill the vowel places with an ordered choice of two different vowels from </a:t>
                </a:r>
                <a14:m>
                  <m:oMath xmlns:m="http://schemas.openxmlformats.org/officeDocument/2006/math">
                    <m:r>
                      <a:rPr lang="en-IN" sz="2400" i="1">
                        <a:solidFill>
                          <a:srgbClr val="111827"/>
                        </a:solidFill>
                        <a:latin typeface="Cambria Math" panose="02040503050406030204" pitchFamily="18" charset="0"/>
                      </a:rPr>
                      <m:t>𝑈</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𝐼</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𝐸</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m:t>
                        </m:r>
                      </m:sup>
                    </m:sSup>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Fill the consonant places with an ordered choice of two of </a:t>
                </a:r>
                <a14:m>
                  <m:oMath xmlns:m="http://schemas.openxmlformats.org/officeDocument/2006/math">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𝑉</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𝑆</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4</m:t>
                        </m:r>
                      </m:sup>
                    </m:sSup>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 of words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432</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Choose the two places for vowels: </a:t>
                </a:r>
                <a:r>
                  <a:rPr lang="en-IN" sz="2400">
                    <a:solidFill>
                      <a:srgbClr val="111827"/>
                    </a:solidFill>
                    <a:latin typeface="Cambria Math" panose="02040503050406030204" pitchFamily="18" charset="0"/>
                  </a:rPr>
                  <a:t>$^4C_2=6$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Fill the vowel places with an ordered choice of two different vowels from </a:t>
                </a:r>
                <a:r>
                  <a:rPr lang="en-IN" sz="2400">
                    <a:solidFill>
                      <a:srgbClr val="111827"/>
                    </a:solidFill>
                    <a:latin typeface="Cambria Math" panose="02040503050406030204" pitchFamily="18" charset="0"/>
                  </a:rPr>
                  <a:t>$U,I,E$</a:t>
                </a:r>
                <a:r>
                  <a:rPr sz="2400" b="0">
                    <a:solidFill>
                      <a:srgbClr val="111827"/>
                    </a:solidFill>
                    <a:latin typeface="Arial"/>
                  </a:rPr>
                  <a:t>: </a:t>
                </a:r>
                <a:r>
                  <a:rPr lang="en-IN" sz="2400">
                    <a:solidFill>
                      <a:srgbClr val="111827"/>
                    </a:solidFill>
                    <a:latin typeface="Cambria Math" panose="02040503050406030204" pitchFamily="18" charset="0"/>
                  </a:rPr>
                  <a:t>$^3P_2=6$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Fill the consonant places with an ordered choice of two of </a:t>
                </a:r>
                <a:r>
                  <a:rPr lang="en-IN" sz="2400">
                    <a:solidFill>
                      <a:srgbClr val="111827"/>
                    </a:solidFill>
                    <a:latin typeface="Cambria Math" panose="02040503050406030204" pitchFamily="18" charset="0"/>
                  </a:rPr>
                  <a:t>$N,V,R,S$</a:t>
                </a:r>
                <a:r>
                  <a:rPr sz="2400" b="0">
                    <a:solidFill>
                      <a:srgbClr val="111827"/>
                    </a:solidFill>
                    <a:latin typeface="Arial"/>
                  </a:rPr>
                  <a:t>: </a:t>
                </a:r>
                <a:r>
                  <a:rPr lang="en-IN" sz="2400">
                    <a:solidFill>
                      <a:srgbClr val="111827"/>
                    </a:solidFill>
                    <a:latin typeface="Cambria Math" panose="02040503050406030204" pitchFamily="18" charset="0"/>
                  </a:rPr>
                  <a:t>$^4P_2=12$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 of words </a:t>
                </a:r>
                <a:r>
                  <a:rPr lang="en-IN" sz="2400">
                    <a:solidFill>
                      <a:srgbClr val="111827"/>
                    </a:solidFill>
                    <a:latin typeface="Cambria Math" panose="02040503050406030204" pitchFamily="18" charset="0"/>
                  </a:rPr>
                  <a:t>$=6\times6\times12=432$</a:t>
                </a:r>
                <a:r>
                  <a:rPr sz="2400" b="0">
                    <a:solidFill>
                      <a:srgbClr val="111827"/>
                    </a:solidFill>
                    <a:latin typeface="Arial"/>
                  </a:rPr>
                  <a:t>.</a:t>
                </a:r>
                <a:endParaRPr sz="2400">
                  <a:solidFill>
                    <a:srgbClr val="111827"/>
                  </a:solidFill>
                </a:endParaRPr>
              </a:p>
            </p:txBody>
          </p:sp>
        </mc:Fallback>
      </mc:AlternateContent>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432</a:t>
            </a:r>
            <a:endParaRPr sz="2800">
              <a:solidFill>
                <a:srgbClr val="15803D"/>
              </a:solidFill>
            </a:endParaRP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'Without repetition' means no letter occurs twice in the formed word, so a repeated letter of the source word (here E) counts as one available letter. (If words with EE were allowed there would be </a:t>
                </a:r>
                <a14:m>
                  <m:oMath xmlns:m="http://schemas.openxmlformats.org/officeDocument/2006/math">
                    <m:r>
                      <a:rPr lang="en-IN" sz="2400" i="1">
                        <a:solidFill>
                          <a:srgbClr val="111827"/>
                        </a:solidFill>
                        <a:latin typeface="Cambria Math" panose="02040503050406030204" pitchFamily="18" charset="0"/>
                      </a:rPr>
                      <m:t>72</m:t>
                    </m:r>
                  </m:oMath>
                </a14:m>
                <a:r>
                  <a:rPr sz="2400" b="0">
                    <a:solidFill>
                      <a:srgbClr val="111827"/>
                    </a:solidFill>
                    <a:latin typeface="Arial"/>
                  </a:rPr>
                  <a:t> extra: total </a:t>
                </a:r>
                <a14:m>
                  <m:oMath xmlns:m="http://schemas.openxmlformats.org/officeDocument/2006/math">
                    <m:r>
                      <a:rPr lang="en-IN" sz="2400" i="1">
                        <a:solidFill>
                          <a:srgbClr val="111827"/>
                        </a:solidFill>
                        <a:latin typeface="Cambria Math" panose="02040503050406030204" pitchFamily="18" charset="0"/>
                      </a:rPr>
                      <m:t>504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Structured words: choose positions for each type, then ordered selections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𝑟</m:t>
                        </m:r>
                      </m:sub>
                    </m:sSub>
                  </m:oMath>
                </a14:m>
                <a:r>
                  <a:rPr sz="2400" b="0">
                    <a:solidFill>
                      <a:srgbClr val="111827"/>
                    </a:solidFill>
                    <a:latin typeface="Arial"/>
                  </a:rPr>
                  <a:t> for each type.</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 of type A and </a:t>
                </a:r>
                <a14:m>
                  <m:oMath xmlns:m="http://schemas.openxmlformats.org/officeDocument/2006/math">
                    <m:r>
                      <a:rPr lang="en-IN" sz="2400" i="1">
                        <a:solidFill>
                          <a:srgbClr val="111827"/>
                        </a:solidFill>
                        <a:latin typeface="Cambria Math" panose="02040503050406030204" pitchFamily="18" charset="0"/>
                      </a:rPr>
                      <m:t>𝑚</m:t>
                    </m:r>
                  </m:oMath>
                </a14:m>
                <a:r>
                  <a:rPr sz="2400" b="0">
                    <a:solidFill>
                      <a:srgbClr val="111827"/>
                    </a:solidFill>
                    <a:latin typeface="Arial"/>
                  </a:rPr>
                  <a:t> of type B in a word of length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oMath>
                </a14:m>
                <a:r>
                  <a:rPr sz="2400" b="0">
                    <a:solidFill>
                      <a:srgbClr val="111827"/>
                    </a:solidFill>
                    <a:latin typeface="Arial"/>
                  </a:rPr>
                  <a:t>: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num>
                          <m:den>
                            <m:r>
                              <a:rPr lang="en-IN" sz="2400" i="1">
                                <a:solidFill>
                                  <a:srgbClr val="111827"/>
                                </a:solidFill>
                                <a:latin typeface="Cambria Math" panose="02040503050406030204" pitchFamily="18" charset="0"/>
                              </a:rPr>
                              <m:t>𝑘</m:t>
                            </m:r>
                          </m:den>
                        </m:f>
                      </m:e>
                    </m:d>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𝑎</m:t>
                        </m:r>
                      </m:sup>
                    </m:sSup>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𝑘</m:t>
                        </m:r>
                      </m:sub>
                    </m:sSub>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𝑏</m:t>
                        </m:r>
                      </m:sup>
                    </m:sSup>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𝑚</m:t>
                        </m:r>
                      </m:sub>
                    </m:sSub>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'Without repetition' means no letter occurs twice in the formed word, so a repeated letter of the source word (here E) counts as one available letter. (If words with EE were allowed there would be </a:t>
                </a:r>
                <a:r>
                  <a:rPr lang="en-IN" sz="2400">
                    <a:solidFill>
                      <a:srgbClr val="111827"/>
                    </a:solidFill>
                    <a:latin typeface="Cambria Math" panose="02040503050406030204" pitchFamily="18" charset="0"/>
                  </a:rPr>
                  <a:t>$72$</a:t>
                </a:r>
                <a:r>
                  <a:rPr sz="2400" b="0">
                    <a:solidFill>
                      <a:srgbClr val="111827"/>
                    </a:solidFill>
                    <a:latin typeface="Arial"/>
                  </a:rPr>
                  <a:t> extra: total </a:t>
                </a:r>
                <a:r>
                  <a:rPr lang="en-IN" sz="2400">
                    <a:solidFill>
                      <a:srgbClr val="111827"/>
                    </a:solidFill>
                    <a:latin typeface="Cambria Math" panose="02040503050406030204" pitchFamily="18" charset="0"/>
                  </a:rPr>
                  <a:t>$504$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Structured words: choose positions for each type, then ordered selections </a:t>
                </a:r>
                <a:r>
                  <a:rPr lang="en-IN" sz="2400">
                    <a:solidFill>
                      <a:srgbClr val="111827"/>
                    </a:solidFill>
                    <a:latin typeface="Cambria Math" panose="02040503050406030204" pitchFamily="18" charset="0"/>
                  </a:rPr>
                  <a:t>$^nP_r$</a:t>
                </a:r>
                <a:r>
                  <a:rPr sz="2400" b="0">
                    <a:solidFill>
                      <a:srgbClr val="111827"/>
                    </a:solidFill>
                    <a:latin typeface="Arial"/>
                  </a:rPr>
                  <a:t> for each type.</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$k$</a:t>
                </a:r>
                <a:r>
                  <a:rPr sz="2400" b="0">
                    <a:solidFill>
                      <a:srgbClr val="111827"/>
                    </a:solidFill>
                    <a:latin typeface="Arial"/>
                  </a:rPr>
                  <a:t> of type A and </a:t>
                </a:r>
                <a:r>
                  <a:rPr lang="en-IN" sz="2400">
                    <a:solidFill>
                      <a:srgbClr val="111827"/>
                    </a:solidFill>
                    <a:latin typeface="Cambria Math" panose="02040503050406030204" pitchFamily="18" charset="0"/>
                  </a:rPr>
                  <a:t>$m$</a:t>
                </a:r>
                <a:r>
                  <a:rPr sz="2400" b="0">
                    <a:solidFill>
                      <a:srgbClr val="111827"/>
                    </a:solidFill>
                    <a:latin typeface="Arial"/>
                  </a:rPr>
                  <a:t> of type B in a word of length </a:t>
                </a:r>
                <a:r>
                  <a:rPr lang="en-IN" sz="2400">
                    <a:solidFill>
                      <a:srgbClr val="111827"/>
                    </a:solidFill>
                    <a:latin typeface="Cambria Math" panose="02040503050406030204" pitchFamily="18" charset="0"/>
                  </a:rPr>
                  <a:t>$k+m$</a:t>
                </a:r>
                <a:r>
                  <a:rPr sz="2400" b="0">
                    <a:solidFill>
                      <a:srgbClr val="111827"/>
                    </a:solidFill>
                    <a:latin typeface="Arial"/>
                  </a:rPr>
                  <a:t>: </a:t>
                </a:r>
                <a:r>
                  <a:rPr lang="en-IN" sz="2400">
                    <a:solidFill>
                      <a:srgbClr val="111827"/>
                    </a:solidFill>
                    <a:latin typeface="Cambria Math" panose="02040503050406030204" pitchFamily="18" charset="0"/>
                  </a:rPr>
                  <a:t>$\binom{k+m}{k}\,{}^{a}P_k\,{}^{b}P_m$</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00812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Some couples participated in a mixed doubles badminton tournament. If the number of matches played, so that no couple played in a match, is </a:t>
                </a:r>
                <a14:m>
                  <m:oMath xmlns:m="http://schemas.openxmlformats.org/officeDocument/2006/math">
                    <m:r>
                      <a:rPr lang="en-IN" sz="2400" i="1">
                        <a:solidFill>
                          <a:srgbClr val="111827"/>
                        </a:solidFill>
                        <a:latin typeface="Cambria Math" panose="02040503050406030204" pitchFamily="18" charset="0"/>
                      </a:rPr>
                      <m:t>840</m:t>
                    </m:r>
                  </m:oMath>
                </a14:m>
                <a:r>
                  <a:rPr sz="2400" b="0">
                    <a:solidFill>
                      <a:srgbClr val="111827"/>
                    </a:solidFill>
                    <a:latin typeface="Arial"/>
                  </a:rPr>
                  <a:t>, then the total number of persons, who participated in the tournament, is ____.</a:t>
                </a:r>
                <a:endParaRPr sz="2400">
                  <a:solidFill>
                    <a:srgbClr val="111827"/>
                  </a:solidFill>
                </a:endParaRPr>
              </a:p>
            </p:txBody>
          </p:sp>
        </mc:Choice>
        <mc:Fallback>
          <p:sp>
            <p:nvSpPr>
              <p:cNvPr id="4" name="Rounded Rectangle 3"/>
              <p:cNvSpPr/>
              <p:nvPr/>
            </p:nvSpPr>
            <p:spPr>
              <a:xfrm>
                <a:off x="731520" y="1280160"/>
                <a:ext cx="10725912" cy="200812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Some couples participated in a mixed doubles badminton tournament. If the number of matches played, so that no couple played in a match, is </a:t>
                </a:r>
                <a:r>
                  <a:rPr lang="en-IN" sz="2400">
                    <a:solidFill>
                      <a:srgbClr val="111827"/>
                    </a:solidFill>
                    <a:latin typeface="Cambria Math" panose="02040503050406030204" pitchFamily="18" charset="0"/>
                  </a:rPr>
                  <a:t>$840$</a:t>
                </a:r>
                <a:r>
                  <a:rPr sz="2400" b="0">
                    <a:solidFill>
                      <a:srgbClr val="111827"/>
                    </a:solidFill>
                    <a:latin typeface="Arial"/>
                  </a:rPr>
                  <a:t>, then the total number of persons, who participated in the tournament, is ____.</a:t>
                </a:r>
                <a:endParaRPr sz="2400">
                  <a:solidFill>
                    <a:srgbClr val="111827"/>
                  </a:solidFill>
                </a:endParaRPr>
              </a:p>
            </p:txBody>
          </p:sp>
        </mc:Fallback>
      </mc:AlternateContent>
      <p:sp>
        <p:nvSpPr>
          <p:cNvPr id="5" name="Rectangle 4"/>
          <p:cNvSpPr/>
          <p:nvPr/>
        </p:nvSpPr>
        <p:spPr>
          <a:xfrm>
            <a:off x="731520" y="3516884"/>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Selection of players with exclusion of couples (mixed doubles)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A mixed doubles match is two men, two women (none a married pair) and </a:t>
                </a:r>
                <a14:m>
                  <m:oMath xmlns:m="http://schemas.openxmlformats.org/officeDocument/2006/math">
                    <m:r>
                      <a:rPr lang="en-IN" sz="2400" i="1">
                        <a:solidFill>
                          <a:srgbClr val="78350F"/>
                        </a:solidFill>
                        <a:latin typeface="Cambria Math" panose="02040503050406030204" pitchFamily="18" charset="0"/>
                      </a:rPr>
                      <m:t>2</m:t>
                    </m:r>
                  </m:oMath>
                </a14:m>
                <a:r>
                  <a:rPr sz="2400" b="0">
                    <a:solidFill>
                      <a:srgbClr val="78350F"/>
                    </a:solidFill>
                    <a:latin typeface="Arial"/>
                  </a:rPr>
                  <a:t> ways to pair them off.</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A mixed doubles match is two men, two women (none a married pair) and </a:t>
                </a:r>
                <a:r>
                  <a:rPr lang="en-IN" sz="2400">
                    <a:solidFill>
                      <a:srgbClr val="78350F"/>
                    </a:solidFill>
                    <a:latin typeface="Cambria Math" panose="02040503050406030204" pitchFamily="18" charset="0"/>
                  </a:rPr>
                  <a:t>$2$</a:t>
                </a:r>
                <a:r>
                  <a:rPr sz="2400" b="0">
                    <a:solidFill>
                      <a:srgbClr val="78350F"/>
                    </a:solidFill>
                    <a:latin typeface="Arial"/>
                  </a:rPr>
                  <a:t> ways to pair them off.</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there be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couples, so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oMath>
                </a14:m>
                <a:r>
                  <a:rPr sz="2400" b="0">
                    <a:solidFill>
                      <a:srgbClr val="111827"/>
                    </a:solidFill>
                    <a:latin typeface="Arial"/>
                  </a:rPr>
                  <a:t> persons.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Choose the two men: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ways.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Choose the two women from those who are not wives of the chosen men: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ways.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Pair the men with the women in the match: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ways.</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there be </a:t>
                </a:r>
                <a:r>
                  <a:rPr lang="en-IN" sz="2400">
                    <a:solidFill>
                      <a:srgbClr val="111827"/>
                    </a:solidFill>
                    <a:latin typeface="Cambria Math" panose="02040503050406030204" pitchFamily="18" charset="0"/>
                  </a:rPr>
                  <a:t>$n$</a:t>
                </a:r>
                <a:r>
                  <a:rPr sz="2400" b="0">
                    <a:solidFill>
                      <a:srgbClr val="111827"/>
                    </a:solidFill>
                    <a:latin typeface="Arial"/>
                  </a:rPr>
                  <a:t> couples, so </a:t>
                </a:r>
                <a:r>
                  <a:rPr lang="en-IN" sz="2400">
                    <a:solidFill>
                      <a:srgbClr val="111827"/>
                    </a:solidFill>
                    <a:latin typeface="Cambria Math" panose="02040503050406030204" pitchFamily="18" charset="0"/>
                  </a:rPr>
                  <a:t>$2n$</a:t>
                </a:r>
                <a:r>
                  <a:rPr sz="2400" b="0">
                    <a:solidFill>
                      <a:srgbClr val="111827"/>
                    </a:solidFill>
                    <a:latin typeface="Arial"/>
                  </a:rPr>
                  <a:t> persons.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Choose the two men: </a:t>
                </a:r>
                <a:r>
                  <a:rPr lang="en-IN" sz="2400">
                    <a:solidFill>
                      <a:srgbClr val="111827"/>
                    </a:solidFill>
                    <a:latin typeface="Cambria Math" panose="02040503050406030204" pitchFamily="18" charset="0"/>
                  </a:rPr>
                  <a:t>$^nC_2$</a:t>
                </a:r>
                <a:r>
                  <a:rPr sz="2400" b="0">
                    <a:solidFill>
                      <a:srgbClr val="111827"/>
                    </a:solidFill>
                    <a:latin typeface="Arial"/>
                  </a:rPr>
                  <a:t> ways.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Choose the two women from those who are not wives of the chosen men: </a:t>
                </a:r>
                <a:r>
                  <a:rPr lang="en-IN" sz="2400">
                    <a:solidFill>
                      <a:srgbClr val="111827"/>
                    </a:solidFill>
                    <a:latin typeface="Cambria Math" panose="02040503050406030204" pitchFamily="18" charset="0"/>
                  </a:rPr>
                  <a:t>$^{n-2}C_2$</a:t>
                </a:r>
                <a:r>
                  <a:rPr sz="2400" b="0">
                    <a:solidFill>
                      <a:srgbClr val="111827"/>
                    </a:solidFill>
                    <a:latin typeface="Arial"/>
                  </a:rPr>
                  <a:t> ways.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Pair the men with the women in the match: </a:t>
                </a:r>
                <a:r>
                  <a:rPr lang="en-IN" sz="2400">
                    <a:solidFill>
                      <a:srgbClr val="111827"/>
                    </a:solidFill>
                    <a:latin typeface="Cambria Math" panose="02040503050406030204" pitchFamily="18" charset="0"/>
                  </a:rPr>
                  <a:t>$2$</a:t>
                </a:r>
                <a:r>
                  <a:rPr sz="2400" b="0">
                    <a:solidFill>
                      <a:srgbClr val="111827"/>
                    </a:solidFill>
                    <a:latin typeface="Arial"/>
                  </a:rPr>
                  <a:t> ways.</a:t>
                </a:r>
                <a:endParaRPr sz="2400">
                  <a:solidFill>
                    <a:srgbClr val="111827"/>
                  </a:solidFill>
                </a:endParaRPr>
              </a:p>
            </p:txBody>
          </p:sp>
        </mc:Fallback>
      </mc:AlternateContent>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Number of matches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 </m:t>
                        </m:r>
                      </m:e>
                      <m:sup>
                        <m:r>
                          <a:rPr lang="en-IN" sz="2400" i="1">
                            <a:solidFill>
                              <a:srgbClr val="111827"/>
                            </a:solidFill>
                            <a:latin typeface="Cambria Math" panose="02040503050406030204" pitchFamily="18" charset="0"/>
                          </a:rPr>
                          <m:t>𝑛</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840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This gives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1680</m:t>
                    </m:r>
                  </m:oMath>
                </a14:m>
                <a:r>
                  <a:rPr sz="2400" b="0">
                    <a:solidFill>
                      <a:srgbClr val="111827"/>
                    </a:solidFill>
                    <a:latin typeface="Arial"/>
                  </a:rPr>
                  <a:t>, hence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persons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Number of matches </a:t>
                </a:r>
                <a:r>
                  <a:rPr lang="en-IN" sz="2400">
                    <a:solidFill>
                      <a:srgbClr val="111827"/>
                    </a:solidFill>
                    <a:latin typeface="Cambria Math" panose="02040503050406030204" pitchFamily="18" charset="0"/>
                  </a:rPr>
                  <a:t>$=\ ^nC_2\cdot{}^{n-2}C_2\cdot2=840$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This gives </a:t>
                </a:r>
                <a:r>
                  <a:rPr lang="en-IN" sz="2400">
                    <a:solidFill>
                      <a:srgbClr val="111827"/>
                    </a:solidFill>
                    <a:latin typeface="Cambria Math" panose="02040503050406030204" pitchFamily="18" charset="0"/>
                  </a:rPr>
                  <a:t>$n(n-1)(n-2)(n-3)=5\cdot6\cdot7\cdot8=1680$</a:t>
                </a:r>
                <a:r>
                  <a:rPr sz="2400" b="0">
                    <a:solidFill>
                      <a:srgbClr val="111827"/>
                    </a:solidFill>
                    <a:latin typeface="Arial"/>
                  </a:rPr>
                  <a:t>, hence </a:t>
                </a:r>
                <a:r>
                  <a:rPr lang="en-IN" sz="2400">
                    <a:solidFill>
                      <a:srgbClr val="111827"/>
                    </a:solidFill>
                    <a:latin typeface="Cambria Math" panose="02040503050406030204" pitchFamily="18" charset="0"/>
                  </a:rPr>
                  <a:t>$n=8$</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persons </a:t>
                </a:r>
                <a:r>
                  <a:rPr lang="en-IN" sz="2400">
                    <a:solidFill>
                      <a:srgbClr val="111827"/>
                    </a:solidFill>
                    <a:latin typeface="Cambria Math" panose="02040503050406030204" pitchFamily="18" charset="0"/>
                  </a:rPr>
                  <a:t>$=2n=16$</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16</a:t>
            </a:r>
            <a:endParaRPr sz="2800">
              <a:solidFill>
                <a:srgbClr val="15803D"/>
              </a:solidFill>
            </a:endParaRP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Both pairs of players come from four different couples: choose four couples, then which two supply the men.</a:t>
            </a:r>
            <a:endParaRPr sz="2400">
              <a:solidFill>
                <a:srgbClr val="78350F"/>
              </a:solidFill>
            </a:endParaRPr>
          </a:p>
        </p:txBody>
      </p:sp>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Neither woman is the wife of a playing man, so the two men and the two women belong to four different couples.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Choose the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couples: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4</m:t>
                        </m:r>
                      </m:sub>
                    </m:sSub>
                  </m:oMath>
                </a14:m>
                <a:r>
                  <a:rPr sz="2400" b="0">
                    <a:solidFill>
                      <a:srgbClr val="111827"/>
                    </a:solidFill>
                    <a:latin typeface="Arial"/>
                  </a:rPr>
                  <a:t>; choose the two whose husbands play: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4</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the wives of the other two couples are the women.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Pair the two men with the two women: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ways, so matches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4</m:t>
                        </m:r>
                      </m:sub>
                    </m:sSub>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4</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840</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4</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70</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8</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4</m:t>
                        </m:r>
                      </m:sub>
                    </m:sSub>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 and persons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Neither woman is the wife of a playing man, so the two men and the two women belong to four different couples.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Choose the </a:t>
                </a:r>
                <a:r>
                  <a:rPr lang="en-IN" sz="2400">
                    <a:solidFill>
                      <a:srgbClr val="111827"/>
                    </a:solidFill>
                    <a:latin typeface="Cambria Math" panose="02040503050406030204" pitchFamily="18" charset="0"/>
                  </a:rPr>
                  <a:t>$4$</a:t>
                </a:r>
                <a:r>
                  <a:rPr sz="2400" b="0">
                    <a:solidFill>
                      <a:srgbClr val="111827"/>
                    </a:solidFill>
                    <a:latin typeface="Arial"/>
                  </a:rPr>
                  <a:t> couples: </a:t>
                </a:r>
                <a:r>
                  <a:rPr lang="en-IN" sz="2400">
                    <a:solidFill>
                      <a:srgbClr val="111827"/>
                    </a:solidFill>
                    <a:latin typeface="Cambria Math" panose="02040503050406030204" pitchFamily="18" charset="0"/>
                  </a:rPr>
                  <a:t>$^nC_4$</a:t>
                </a:r>
                <a:r>
                  <a:rPr sz="2400" b="0">
                    <a:solidFill>
                      <a:srgbClr val="111827"/>
                    </a:solidFill>
                    <a:latin typeface="Arial"/>
                  </a:rPr>
                  <a:t>; choose the two whose husbands play: </a:t>
                </a:r>
                <a:r>
                  <a:rPr lang="en-IN" sz="2400">
                    <a:solidFill>
                      <a:srgbClr val="111827"/>
                    </a:solidFill>
                    <a:latin typeface="Cambria Math" panose="02040503050406030204" pitchFamily="18" charset="0"/>
                  </a:rPr>
                  <a:t>$^4C_2=6$</a:t>
                </a:r>
                <a:r>
                  <a:rPr sz="2400" b="0">
                    <a:solidFill>
                      <a:srgbClr val="111827"/>
                    </a:solidFill>
                    <a:latin typeface="Arial"/>
                  </a:rPr>
                  <a:t>; the wives of the other two couples are the women.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Pair the two men with the two women: </a:t>
                </a:r>
                <a:r>
                  <a:rPr lang="en-IN" sz="2400">
                    <a:solidFill>
                      <a:srgbClr val="111827"/>
                    </a:solidFill>
                    <a:latin typeface="Cambria Math" panose="02040503050406030204" pitchFamily="18" charset="0"/>
                  </a:rPr>
                  <a:t>$2$</a:t>
                </a:r>
                <a:r>
                  <a:rPr sz="2400" b="0">
                    <a:solidFill>
                      <a:srgbClr val="111827"/>
                    </a:solidFill>
                    <a:latin typeface="Arial"/>
                  </a:rPr>
                  <a:t> ways, so matches </a:t>
                </a:r>
                <a:r>
                  <a:rPr lang="en-IN" sz="2400">
                    <a:solidFill>
                      <a:srgbClr val="111827"/>
                    </a:solidFill>
                    <a:latin typeface="Cambria Math" panose="02040503050406030204" pitchFamily="18" charset="0"/>
                  </a:rPr>
                  <a:t>$=12\cdot{}^nC_4$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$12\cdot{}^nC_4=840\Rightarrow{}^nC_4=70={}^8C_4$</a:t>
                </a:r>
                <a:r>
                  <a:rPr sz="2400" b="0">
                    <a:solidFill>
                      <a:srgbClr val="111827"/>
                    </a:solidFill>
                    <a:latin typeface="Arial"/>
                  </a:rPr>
                  <a:t>, so </a:t>
                </a:r>
                <a:r>
                  <a:rPr lang="en-IN" sz="2400">
                    <a:solidFill>
                      <a:srgbClr val="111827"/>
                    </a:solidFill>
                    <a:latin typeface="Cambria Math" panose="02040503050406030204" pitchFamily="18" charset="0"/>
                  </a:rPr>
                  <a:t>$n=8$</a:t>
                </a:r>
                <a:r>
                  <a:rPr sz="2400" b="0">
                    <a:solidFill>
                      <a:srgbClr val="111827"/>
                    </a:solidFill>
                    <a:latin typeface="Arial"/>
                  </a:rPr>
                  <a:t> and persons </a:t>
                </a:r>
                <a:r>
                  <a:rPr lang="en-IN" sz="2400">
                    <a:solidFill>
                      <a:srgbClr val="111827"/>
                    </a:solidFill>
                    <a:latin typeface="Cambria Math" panose="02040503050406030204" pitchFamily="18" charset="0"/>
                  </a:rPr>
                  <a:t>$=16$</a:t>
                </a:r>
                <a:r>
                  <a:rPr sz="2400" b="0">
                    <a:solidFill>
                      <a:srgbClr val="111827"/>
                    </a:solidFill>
                    <a:latin typeface="Arial"/>
                  </a:rPr>
                  <a:t>.</a:t>
                </a:r>
                <a:endParaRPr sz="2400">
                  <a:solidFill>
                    <a:srgbClr val="111827"/>
                  </a:solidFill>
                </a:endParaRPr>
              </a:p>
            </p:txBody>
          </p:sp>
        </mc:Fallback>
      </mc:AlternateContent>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16</a:t>
            </a:r>
            <a:endParaRPr sz="2800">
              <a:solidFill>
                <a:srgbClr val="15803D"/>
              </a:solidFill>
            </a:endParaRP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Mixed doubles with no couple in a match: </a:t>
                </a:r>
                <a14:m>
                  <m:oMath xmlns:m="http://schemas.openxmlformats.org/officeDocument/2006/math">
                    <m:r>
                      <a:rPr lang="en-IN" sz="2400" i="1">
                        <a:solidFill>
                          <a:srgbClr val="111827"/>
                        </a:solidFill>
                        <a:latin typeface="Cambria Math" panose="02040503050406030204" pitchFamily="18" charset="0"/>
                      </a:rPr>
                      <m:t>2</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2</m:t>
                            </m:r>
                          </m:den>
                        </m:f>
                      </m:e>
                    </m:d>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4</m:t>
                            </m:r>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Counting 'unordered' sets of pairs: remember the factor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for pairing two men with two women.</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840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4</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70</m:t>
                    </m:r>
                  </m:oMath>
                </a14:m>
                <a:r>
                  <a:rPr sz="2400" b="0">
                    <a:solidFill>
                      <a:srgbClr val="111827"/>
                    </a:solidFill>
                    <a:latin typeface="Arial"/>
                  </a:rPr>
                  <a:t> is the quick recognition.</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Mixed doubles with no couple in a match: </a:t>
                </a:r>
                <a:r>
                  <a:rPr lang="en-IN" sz="2400">
                    <a:solidFill>
                      <a:srgbClr val="111827"/>
                    </a:solidFill>
                    <a:latin typeface="Cambria Math" panose="02040503050406030204" pitchFamily="18" charset="0"/>
                  </a:rPr>
                  <a:t>$2\binom n2\binom{n-2}2=12\binom n4$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Counting 'unordered' sets of pairs: remember the factor </a:t>
                </a:r>
                <a:r>
                  <a:rPr lang="en-IN" sz="2400">
                    <a:solidFill>
                      <a:srgbClr val="111827"/>
                    </a:solidFill>
                    <a:latin typeface="Cambria Math" panose="02040503050406030204" pitchFamily="18" charset="0"/>
                  </a:rPr>
                  <a:t>$2$</a:t>
                </a:r>
                <a:r>
                  <a:rPr sz="2400" b="0">
                    <a:solidFill>
                      <a:srgbClr val="111827"/>
                    </a:solidFill>
                    <a:latin typeface="Arial"/>
                  </a:rPr>
                  <a:t> for pairing two men with two women.</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$840=\,7\cdot8\cdot3\cdot5$</a:t>
                </a:r>
                <a:r>
                  <a:rPr sz="2400" b="0">
                    <a:solidFill>
                      <a:srgbClr val="111827"/>
                    </a:solidFill>
                    <a:latin typeface="Arial"/>
                  </a:rPr>
                  <a:t>; </a:t>
                </a:r>
                <a:r>
                  <a:rPr lang="en-IN" sz="2400">
                    <a:solidFill>
                      <a:srgbClr val="111827"/>
                    </a:solidFill>
                    <a:latin typeface="Cambria Math" panose="02040503050406030204" pitchFamily="18" charset="0"/>
                  </a:rPr>
                  <a:t>$\binom84=70$</a:t>
                </a:r>
                <a:r>
                  <a:rPr sz="2400" b="0">
                    <a:solidFill>
                      <a:srgbClr val="111827"/>
                    </a:solidFill>
                    <a:latin typeface="Arial"/>
                  </a:rPr>
                  <a:t> is the quick recognition.</a:t>
                </a:r>
                <a:endParaRPr sz="2400">
                  <a:solidFill>
                    <a:srgbClr val="111827"/>
                  </a:solidFill>
                </a:endParaRPr>
              </a:p>
            </p:txBody>
          </p:sp>
        </mc:Fallback>
      </mc:AlternateContent>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number of permutations, of the digits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 without repetition, which neither contain the string </a:t>
                </a:r>
                <a14:m>
                  <m:oMath xmlns:m="http://schemas.openxmlformats.org/officeDocument/2006/math">
                    <m:r>
                      <a:rPr lang="en-IN" sz="2400" i="1">
                        <a:solidFill>
                          <a:srgbClr val="111827"/>
                        </a:solidFill>
                        <a:latin typeface="Cambria Math" panose="02040503050406030204" pitchFamily="18" charset="0"/>
                      </a:rPr>
                      <m:t>153</m:t>
                    </m:r>
                  </m:oMath>
                </a14:m>
                <a:r>
                  <a:rPr sz="2400" b="0">
                    <a:solidFill>
                      <a:srgbClr val="111827"/>
                    </a:solidFill>
                    <a:latin typeface="Arial"/>
                  </a:rPr>
                  <a:t> nor the string </a:t>
                </a:r>
                <a14:m>
                  <m:oMath xmlns:m="http://schemas.openxmlformats.org/officeDocument/2006/math">
                    <m:r>
                      <a:rPr lang="en-IN" sz="2400" i="1">
                        <a:solidFill>
                          <a:srgbClr val="111827"/>
                        </a:solidFill>
                        <a:latin typeface="Cambria Math" panose="02040503050406030204" pitchFamily="18" charset="0"/>
                      </a:rPr>
                      <m:t>2467</m:t>
                    </m:r>
                  </m:oMath>
                </a14:m>
                <a:r>
                  <a:rPr sz="2400" b="0">
                    <a:solidFill>
                      <a:srgbClr val="111827"/>
                    </a:solidFill>
                    <a:latin typeface="Arial"/>
                  </a:rPr>
                  <a:t>, is ____.</a:t>
                </a:r>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number of permutations, of the digits </a:t>
                </a:r>
                <a:r>
                  <a:rPr lang="en-IN" sz="2400">
                    <a:solidFill>
                      <a:srgbClr val="111827"/>
                    </a:solidFill>
                    <a:latin typeface="Cambria Math" panose="02040503050406030204" pitchFamily="18" charset="0"/>
                  </a:rPr>
                  <a:t>$1,2,3,\dots,7$</a:t>
                </a:r>
                <a:r>
                  <a:rPr sz="2400" b="0">
                    <a:solidFill>
                      <a:srgbClr val="111827"/>
                    </a:solidFill>
                    <a:latin typeface="Arial"/>
                  </a:rPr>
                  <a:t> without repetition, which neither contain the string </a:t>
                </a:r>
                <a:r>
                  <a:rPr lang="en-IN" sz="2400">
                    <a:solidFill>
                      <a:srgbClr val="111827"/>
                    </a:solidFill>
                    <a:latin typeface="Cambria Math" panose="02040503050406030204" pitchFamily="18" charset="0"/>
                  </a:rPr>
                  <a:t>$153$</a:t>
                </a:r>
                <a:r>
                  <a:rPr sz="2400" b="0">
                    <a:solidFill>
                      <a:srgbClr val="111827"/>
                    </a:solidFill>
                    <a:latin typeface="Arial"/>
                  </a:rPr>
                  <a:t> nor the string </a:t>
                </a:r>
                <a:r>
                  <a:rPr lang="en-IN" sz="2400">
                    <a:solidFill>
                      <a:srgbClr val="111827"/>
                    </a:solidFill>
                    <a:latin typeface="Cambria Math" panose="02040503050406030204" pitchFamily="18" charset="0"/>
                  </a:rPr>
                  <a:t>$2467$</a:t>
                </a:r>
                <a:r>
                  <a:rPr sz="2400" b="0">
                    <a:solidFill>
                      <a:srgbClr val="111827"/>
                    </a:solidFill>
                    <a:latin typeface="Arial"/>
                  </a:rPr>
                  <a:t>, is ____.</a:t>
                </a:r>
                <a:endParaRPr sz="2400">
                  <a:solidFill>
                    <a:srgbClr val="111827"/>
                  </a:solidFill>
                </a:endParaRPr>
              </a:p>
            </p:txBody>
          </p:sp>
        </mc:Fallback>
      </mc:AlternateContent>
      <p:sp>
        <p:nvSpPr>
          <p:cNvPr id="5" name="Rectangle 4"/>
          <p:cNvSpPr/>
          <p:nvPr/>
        </p:nvSpPr>
        <p:spPr>
          <a:xfrm>
            <a:off x="731520" y="3246120"/>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Permutations avoiding given strings (inclusion-exclusion)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Treat a forbidden string as one block and apply inclusion-exclusion; the two strings use disjoint digits so both can occur together.</a:t>
            </a:r>
            <a:endParaRPr sz="24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permutations containing </a:t>
                </a:r>
                <a14:m>
                  <m:oMath xmlns:m="http://schemas.openxmlformats.org/officeDocument/2006/math">
                    <m:r>
                      <a:rPr lang="en-IN" sz="2400" i="1">
                        <a:solidFill>
                          <a:srgbClr val="111827"/>
                        </a:solidFill>
                        <a:latin typeface="Cambria Math" panose="02040503050406030204" pitchFamily="18" charset="0"/>
                      </a:rPr>
                      <m:t>153</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permutations containing </a:t>
                </a:r>
                <a14:m>
                  <m:oMath xmlns:m="http://schemas.openxmlformats.org/officeDocument/2006/math">
                    <m:r>
                      <a:rPr lang="en-IN" sz="2400" i="1">
                        <a:solidFill>
                          <a:srgbClr val="111827"/>
                        </a:solidFill>
                        <a:latin typeface="Cambria Math" panose="02040503050406030204" pitchFamily="18" charset="0"/>
                      </a:rPr>
                      <m:t>2467</m:t>
                    </m:r>
                  </m:oMath>
                </a14:m>
                <a:r>
                  <a:rPr sz="2400" b="0">
                    <a:solidFill>
                      <a:srgbClr val="111827"/>
                    </a:solidFill>
                    <a:latin typeface="Arial"/>
                  </a:rPr>
                  <a:t>. Required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𝑈</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glue </a:t>
                </a:r>
                <a14:m>
                  <m:oMath xmlns:m="http://schemas.openxmlformats.org/officeDocument/2006/math">
                    <m:r>
                      <a:rPr lang="en-IN" sz="2400" i="1">
                        <a:solidFill>
                          <a:srgbClr val="111827"/>
                        </a:solidFill>
                        <a:latin typeface="Cambria Math" panose="02040503050406030204" pitchFamily="18" charset="0"/>
                      </a:rPr>
                      <m:t>153</m:t>
                    </m:r>
                  </m:oMath>
                </a14:m>
                <a:r>
                  <a:rPr sz="2400" b="0">
                    <a:solidFill>
                      <a:srgbClr val="111827"/>
                    </a:solidFill>
                    <a:latin typeface="Arial"/>
                  </a:rPr>
                  <a:t> into one block; blocks </a:t>
                </a:r>
                <a14:m>
                  <m:oMath xmlns:m="http://schemas.openxmlformats.org/officeDocument/2006/math">
                    <m:r>
                      <a:rPr lang="en-IN" sz="2400" i="1">
                        <a:solidFill>
                          <a:srgbClr val="111827"/>
                        </a:solidFill>
                        <a:latin typeface="Cambria Math" panose="02040503050406030204" pitchFamily="18" charset="0"/>
                      </a:rPr>
                      <m:t>153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 give </a:t>
                </a:r>
                <a14:m>
                  <m:oMath xmlns:m="http://schemas.openxmlformats.org/officeDocument/2006/math">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120</m:t>
                    </m:r>
                  </m:oMath>
                </a14:m>
                <a:r>
                  <a:rPr sz="2400" b="0">
                    <a:solidFill>
                      <a:srgbClr val="111827"/>
                    </a:solidFill>
                    <a:latin typeface="Arial"/>
                  </a:rPr>
                  <a:t> arrangements.</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glue </a:t>
                </a:r>
                <a14:m>
                  <m:oMath xmlns:m="http://schemas.openxmlformats.org/officeDocument/2006/math">
                    <m:r>
                      <a:rPr lang="en-IN" sz="2400" i="1">
                        <a:solidFill>
                          <a:srgbClr val="111827"/>
                        </a:solidFill>
                        <a:latin typeface="Cambria Math" panose="02040503050406030204" pitchFamily="18" charset="0"/>
                      </a:rPr>
                      <m:t>2467</m:t>
                    </m:r>
                  </m:oMath>
                </a14:m>
                <a:r>
                  <a:rPr sz="2400" b="0">
                    <a:solidFill>
                      <a:srgbClr val="111827"/>
                    </a:solidFill>
                    <a:latin typeface="Arial"/>
                  </a:rPr>
                  <a:t>; blocks </a:t>
                </a:r>
                <a14:m>
                  <m:oMath xmlns:m="http://schemas.openxmlformats.org/officeDocument/2006/math">
                    <m:r>
                      <a:rPr lang="en-IN" sz="2400" i="1">
                        <a:solidFill>
                          <a:srgbClr val="111827"/>
                        </a:solidFill>
                        <a:latin typeface="Cambria Math" panose="02040503050406030204" pitchFamily="18" charset="0"/>
                      </a:rPr>
                      <m:t>2467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give </a:t>
                </a:r>
                <a14:m>
                  <m:oMath xmlns:m="http://schemas.openxmlformats.org/officeDocument/2006/math">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oMath>
                </a14:m>
                <a:r>
                  <a:rPr sz="2400" b="0">
                    <a:solidFill>
                      <a:srgbClr val="111827"/>
                    </a:solidFill>
                    <a:latin typeface="Arial"/>
                  </a:rPr>
                  <a:t> arrangements.</a:t>
                </a:r>
                <a:endParaRPr sz="2400">
                  <a:solidFill>
                    <a:srgbClr val="111827"/>
                  </a:solidFill>
                </a:endParaRPr>
              </a:p>
            </p:txBody>
          </p:sp>
        </mc:Choice>
        <mc:Fallback>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$A$</a:t>
                </a:r>
                <a:r>
                  <a:rPr sz="2400" b="0">
                    <a:solidFill>
                      <a:srgbClr val="111827"/>
                    </a:solidFill>
                    <a:latin typeface="Arial"/>
                  </a:rPr>
                  <a:t>: permutations containing </a:t>
                </a:r>
                <a:r>
                  <a:rPr lang="en-IN" sz="2400">
                    <a:solidFill>
                      <a:srgbClr val="111827"/>
                    </a:solidFill>
                    <a:latin typeface="Cambria Math" panose="02040503050406030204" pitchFamily="18" charset="0"/>
                  </a:rPr>
                  <a:t>$153$</a:t>
                </a:r>
                <a:r>
                  <a:rPr sz="2400" b="0">
                    <a:solidFill>
                      <a:srgbClr val="111827"/>
                    </a:solidFill>
                    <a:latin typeface="Arial"/>
                  </a:rPr>
                  <a:t>, </a:t>
                </a:r>
                <a:r>
                  <a:rPr lang="en-IN" sz="2400">
                    <a:solidFill>
                      <a:srgbClr val="111827"/>
                    </a:solidFill>
                    <a:latin typeface="Cambria Math" panose="02040503050406030204" pitchFamily="18" charset="0"/>
                  </a:rPr>
                  <a:t>$B$</a:t>
                </a:r>
                <a:r>
                  <a:rPr sz="2400" b="0">
                    <a:solidFill>
                      <a:srgbClr val="111827"/>
                    </a:solidFill>
                    <a:latin typeface="Arial"/>
                  </a:rPr>
                  <a:t>: permutations containing </a:t>
                </a:r>
                <a:r>
                  <a:rPr lang="en-IN" sz="2400">
                    <a:solidFill>
                      <a:srgbClr val="111827"/>
                    </a:solidFill>
                    <a:latin typeface="Cambria Math" panose="02040503050406030204" pitchFamily="18" charset="0"/>
                  </a:rPr>
                  <a:t>$2467$</a:t>
                </a:r>
                <a:r>
                  <a:rPr sz="2400" b="0">
                    <a:solidFill>
                      <a:srgbClr val="111827"/>
                    </a:solidFill>
                    <a:latin typeface="Arial"/>
                  </a:rPr>
                  <a:t>. Required </a:t>
                </a:r>
                <a:r>
                  <a:rPr lang="en-IN" sz="2400">
                    <a:solidFill>
                      <a:srgbClr val="111827"/>
                    </a:solidFill>
                    <a:latin typeface="Cambria Math" panose="02040503050406030204" pitchFamily="18" charset="0"/>
                  </a:rPr>
                  <a:t>$=n(U)-n(A\cup B)=7!-\big(n(A)+n(B)-n(A\cap B)\big)$</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$n(A)$</a:t>
                </a:r>
                <a:r>
                  <a:rPr sz="2400" b="0">
                    <a:solidFill>
                      <a:srgbClr val="111827"/>
                    </a:solidFill>
                    <a:latin typeface="Arial"/>
                  </a:rPr>
                  <a:t>: glue </a:t>
                </a:r>
                <a:r>
                  <a:rPr lang="en-IN" sz="2400">
                    <a:solidFill>
                      <a:srgbClr val="111827"/>
                    </a:solidFill>
                    <a:latin typeface="Cambria Math" panose="02040503050406030204" pitchFamily="18" charset="0"/>
                  </a:rPr>
                  <a:t>$153$</a:t>
                </a:r>
                <a:r>
                  <a:rPr sz="2400" b="0">
                    <a:solidFill>
                      <a:srgbClr val="111827"/>
                    </a:solidFill>
                    <a:latin typeface="Arial"/>
                  </a:rPr>
                  <a:t> into one block; blocks </a:t>
                </a:r>
                <a:r>
                  <a:rPr lang="en-IN" sz="2400">
                    <a:solidFill>
                      <a:srgbClr val="111827"/>
                    </a:solidFill>
                    <a:latin typeface="Cambria Math" panose="02040503050406030204" pitchFamily="18" charset="0"/>
                  </a:rPr>
                  <a:t>$153,2,4,6,7$</a:t>
                </a:r>
                <a:r>
                  <a:rPr sz="2400" b="0">
                    <a:solidFill>
                      <a:srgbClr val="111827"/>
                    </a:solidFill>
                    <a:latin typeface="Arial"/>
                  </a:rPr>
                  <a:t> give </a:t>
                </a:r>
                <a:r>
                  <a:rPr lang="en-IN" sz="2400">
                    <a:solidFill>
                      <a:srgbClr val="111827"/>
                    </a:solidFill>
                    <a:latin typeface="Cambria Math" panose="02040503050406030204" pitchFamily="18" charset="0"/>
                  </a:rPr>
                  <a:t>$5!=120$</a:t>
                </a:r>
                <a:r>
                  <a:rPr sz="2400" b="0">
                    <a:solidFill>
                      <a:srgbClr val="111827"/>
                    </a:solidFill>
                    <a:latin typeface="Arial"/>
                  </a:rPr>
                  <a:t> arrangements.</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$n(B)$</a:t>
                </a:r>
                <a:r>
                  <a:rPr sz="2400" b="0">
                    <a:solidFill>
                      <a:srgbClr val="111827"/>
                    </a:solidFill>
                    <a:latin typeface="Arial"/>
                  </a:rPr>
                  <a:t>: glue </a:t>
                </a:r>
                <a:r>
                  <a:rPr lang="en-IN" sz="2400">
                    <a:solidFill>
                      <a:srgbClr val="111827"/>
                    </a:solidFill>
                    <a:latin typeface="Cambria Math" panose="02040503050406030204" pitchFamily="18" charset="0"/>
                  </a:rPr>
                  <a:t>$2467$</a:t>
                </a:r>
                <a:r>
                  <a:rPr sz="2400" b="0">
                    <a:solidFill>
                      <a:srgbClr val="111827"/>
                    </a:solidFill>
                    <a:latin typeface="Arial"/>
                  </a:rPr>
                  <a:t>; blocks </a:t>
                </a:r>
                <a:r>
                  <a:rPr lang="en-IN" sz="2400">
                    <a:solidFill>
                      <a:srgbClr val="111827"/>
                    </a:solidFill>
                    <a:latin typeface="Cambria Math" panose="02040503050406030204" pitchFamily="18" charset="0"/>
                  </a:rPr>
                  <a:t>$2467,1,3,5$</a:t>
                </a:r>
                <a:r>
                  <a:rPr sz="2400" b="0">
                    <a:solidFill>
                      <a:srgbClr val="111827"/>
                    </a:solidFill>
                    <a:latin typeface="Arial"/>
                  </a:rPr>
                  <a:t> give </a:t>
                </a:r>
                <a:r>
                  <a:rPr lang="en-IN" sz="2400">
                    <a:solidFill>
                      <a:srgbClr val="111827"/>
                    </a:solidFill>
                    <a:latin typeface="Cambria Math" panose="02040503050406030204" pitchFamily="18" charset="0"/>
                  </a:rPr>
                  <a:t>$4!=24$</a:t>
                </a:r>
                <a:r>
                  <a:rPr sz="2400" b="0">
                    <a:solidFill>
                      <a:srgbClr val="111827"/>
                    </a:solidFill>
                    <a:latin typeface="Arial"/>
                  </a:rPr>
                  <a:t> arrangements.</a:t>
                </a:r>
                <a:endParaRPr sz="2400">
                  <a:solidFill>
                    <a:srgbClr val="111827"/>
                  </a:solidFill>
                </a:endParaRPr>
              </a:p>
            </p:txBody>
          </p:sp>
        </mc:Fallback>
      </mc:AlternateContent>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both blocks use disjoint digits, leaving two blocks </a:t>
                </a:r>
                <a14:m>
                  <m:oMath xmlns:m="http://schemas.openxmlformats.org/officeDocument/2006/math">
                    <m:r>
                      <a:rPr lang="en-IN" sz="2400" i="1">
                        <a:solidFill>
                          <a:srgbClr val="111827"/>
                        </a:solidFill>
                        <a:latin typeface="Cambria Math" panose="02040503050406030204" pitchFamily="18" charset="0"/>
                      </a:rPr>
                      <m:t>153</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2467</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arrangements.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Required number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5040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5040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4898</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$n(A\cap B)$</a:t>
                </a:r>
                <a:r>
                  <a:rPr sz="2400" b="0">
                    <a:solidFill>
                      <a:srgbClr val="111827"/>
                    </a:solidFill>
                    <a:latin typeface="Arial"/>
                  </a:rPr>
                  <a:t>: both blocks use disjoint digits, leaving two blocks </a:t>
                </a:r>
                <a:r>
                  <a:rPr lang="en-IN" sz="2400">
                    <a:solidFill>
                      <a:srgbClr val="111827"/>
                    </a:solidFill>
                    <a:latin typeface="Cambria Math" panose="02040503050406030204" pitchFamily="18" charset="0"/>
                  </a:rPr>
                  <a:t>$153$</a:t>
                </a:r>
                <a:r>
                  <a:rPr sz="2400" b="0">
                    <a:solidFill>
                      <a:srgbClr val="111827"/>
                    </a:solidFill>
                    <a:latin typeface="Arial"/>
                  </a:rPr>
                  <a:t> and </a:t>
                </a:r>
                <a:r>
                  <a:rPr lang="en-IN" sz="2400">
                    <a:solidFill>
                      <a:srgbClr val="111827"/>
                    </a:solidFill>
                    <a:latin typeface="Cambria Math" panose="02040503050406030204" pitchFamily="18" charset="0"/>
                  </a:rPr>
                  <a:t>$2467$</a:t>
                </a:r>
                <a:r>
                  <a:rPr sz="2400" b="0">
                    <a:solidFill>
                      <a:srgbClr val="111827"/>
                    </a:solidFill>
                    <a:latin typeface="Arial"/>
                  </a:rPr>
                  <a:t>: </a:t>
                </a:r>
                <a:r>
                  <a:rPr lang="en-IN" sz="2400">
                    <a:solidFill>
                      <a:srgbClr val="111827"/>
                    </a:solidFill>
                    <a:latin typeface="Cambria Math" panose="02040503050406030204" pitchFamily="18" charset="0"/>
                  </a:rPr>
                  <a:t>$2!=2$</a:t>
                </a:r>
                <a:r>
                  <a:rPr sz="2400" b="0">
                    <a:solidFill>
                      <a:srgbClr val="111827"/>
                    </a:solidFill>
                    <a:latin typeface="Arial"/>
                  </a:rPr>
                  <a:t> arrangements.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Required number </a:t>
                </a:r>
                <a:r>
                  <a:rPr lang="en-IN" sz="2400">
                    <a:solidFill>
                      <a:srgbClr val="111827"/>
                    </a:solidFill>
                    <a:latin typeface="Cambria Math" panose="02040503050406030204" pitchFamily="18" charset="0"/>
                  </a:rPr>
                  <a:t>$=7!-(5!+4!-2!)=5040-(120+24-2)=5040-142=4898$</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4898</a:t>
            </a:r>
            <a:endParaRPr sz="2800">
              <a:solidFill>
                <a:srgbClr val="15803D"/>
              </a:solidFill>
            </a:endParaRP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Permutations containing a given string: glue it into one object.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the forbidden strings share a digit, their intersection requires overlapping (e.g. string </a:t>
                </a:r>
                <a14:m>
                  <m:oMath xmlns:m="http://schemas.openxmlformats.org/officeDocument/2006/math">
                    <m:r>
                      <a:rPr lang="en-IN" sz="2400" i="1">
                        <a:solidFill>
                          <a:srgbClr val="111827"/>
                        </a:solidFill>
                        <a:latin typeface="Cambria Math" panose="02040503050406030204" pitchFamily="18" charset="0"/>
                      </a:rPr>
                      <m:t>153</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356</m:t>
                    </m:r>
                  </m:oMath>
                </a14:m>
                <a:r>
                  <a:rPr sz="2400" b="0">
                    <a:solidFill>
                      <a:srgbClr val="111827"/>
                    </a:solidFill>
                    <a:latin typeface="Arial"/>
                  </a:rPr>
                  <a:t> would overlap in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disjoint digit sets give a simple block count.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General block formula: containing strings of lengths </a:t>
                </a:r>
                <a14:m>
                  <m:oMath xmlns:m="http://schemas.openxmlformats.org/officeDocument/2006/math">
                    <m:sSub>
                      <m:e>
                        <m:r>
                          <a:rPr lang="en-IN" sz="2400" i="1">
                            <a:solidFill>
                              <a:srgbClr val="111827"/>
                            </a:solidFill>
                            <a:latin typeface="Cambria Math" panose="02040503050406030204" pitchFamily="18" charset="0"/>
                          </a:rPr>
                          <m:t>ℓ</m:t>
                        </m:r>
                      </m:e>
                      <m:sub>
                        <m:r>
                          <a:rPr lang="en-IN" sz="2400" i="1">
                            <a:solidFill>
                              <a:srgbClr val="111827"/>
                            </a:solidFill>
                            <a:latin typeface="Cambria Math" panose="02040503050406030204" pitchFamily="18" charset="0"/>
                          </a:rPr>
                          <m:t>𝑖</m:t>
                        </m:r>
                      </m:sub>
                    </m:sSub>
                  </m:oMath>
                </a14:m>
                <a:r>
                  <a:rPr sz="2400" b="0">
                    <a:solidFill>
                      <a:srgbClr val="111827"/>
                    </a:solidFill>
                    <a:latin typeface="Arial"/>
                  </a:rPr>
                  <a:t> on disjoint digits: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ℓ</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arrangements.</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Permutations containing a given string: glue it into one object. </a:t>
                </a:r>
                <a:r>
                  <a:rPr lang="en-IN" sz="2400">
                    <a:solidFill>
                      <a:srgbClr val="111827"/>
                    </a:solidFill>
                    <a:latin typeface="Cambria Math" panose="02040503050406030204" pitchFamily="18" charset="0"/>
                  </a:rPr>
                  <a:t>$|A\cup B|=|A|+|B|-|A\cap B|$</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the forbidden strings share a digit, their intersection requires overlapping (e.g. string </a:t>
                </a:r>
                <a:r>
                  <a:rPr lang="en-IN" sz="2400">
                    <a:solidFill>
                      <a:srgbClr val="111827"/>
                    </a:solidFill>
                    <a:latin typeface="Cambria Math" panose="02040503050406030204" pitchFamily="18" charset="0"/>
                  </a:rPr>
                  <a:t>$153$</a:t>
                </a:r>
                <a:r>
                  <a:rPr sz="2400" b="0">
                    <a:solidFill>
                      <a:srgbClr val="111827"/>
                    </a:solidFill>
                    <a:latin typeface="Arial"/>
                  </a:rPr>
                  <a:t> and </a:t>
                </a:r>
                <a:r>
                  <a:rPr lang="en-IN" sz="2400">
                    <a:solidFill>
                      <a:srgbClr val="111827"/>
                    </a:solidFill>
                    <a:latin typeface="Cambria Math" panose="02040503050406030204" pitchFamily="18" charset="0"/>
                  </a:rPr>
                  <a:t>$356$</a:t>
                </a:r>
                <a:r>
                  <a:rPr sz="2400" b="0">
                    <a:solidFill>
                      <a:srgbClr val="111827"/>
                    </a:solidFill>
                    <a:latin typeface="Arial"/>
                  </a:rPr>
                  <a:t> would overlap in </a:t>
                </a:r>
                <a:r>
                  <a:rPr lang="en-IN" sz="2400">
                    <a:solidFill>
                      <a:srgbClr val="111827"/>
                    </a:solidFill>
                    <a:latin typeface="Cambria Math" panose="02040503050406030204" pitchFamily="18" charset="0"/>
                  </a:rPr>
                  <a:t>$3$</a:t>
                </a:r>
                <a:r>
                  <a:rPr sz="2400" b="0">
                    <a:solidFill>
                      <a:srgbClr val="111827"/>
                    </a:solidFill>
                    <a:latin typeface="Arial"/>
                  </a:rPr>
                  <a:t>); disjoint digit sets give a simple block count.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General block formula: containing strings of lengths </a:t>
                </a:r>
                <a:r>
                  <a:rPr lang="en-IN" sz="2400">
                    <a:solidFill>
                      <a:srgbClr val="111827"/>
                    </a:solidFill>
                    <a:latin typeface="Cambria Math" panose="02040503050406030204" pitchFamily="18" charset="0"/>
                  </a:rPr>
                  <a:t>$\ell_i$</a:t>
                </a:r>
                <a:r>
                  <a:rPr sz="2400" b="0">
                    <a:solidFill>
                      <a:srgbClr val="111827"/>
                    </a:solidFill>
                    <a:latin typeface="Arial"/>
                  </a:rPr>
                  <a:t> on disjoint digits: </a:t>
                </a:r>
                <a:r>
                  <a:rPr lang="en-IN" sz="2400">
                    <a:solidFill>
                      <a:srgbClr val="111827"/>
                    </a:solidFill>
                    <a:latin typeface="Cambria Math" panose="02040503050406030204" pitchFamily="18" charset="0"/>
                  </a:rPr>
                  <a:t>$(n-\sum(\ell_i-1))!$</a:t>
                </a:r>
                <a:r>
                  <a:rPr sz="2400" b="0">
                    <a:solidFill>
                      <a:srgbClr val="111827"/>
                    </a:solidFill>
                    <a:latin typeface="Arial"/>
                  </a:rPr>
                  <a:t> arrangements.</a:t>
                </a:r>
                <a:endParaRPr sz="2400">
                  <a:solidFill>
                    <a:srgbClr val="111827"/>
                  </a:solidFill>
                </a:endParaRPr>
              </a:p>
            </p:txBody>
          </p:sp>
        </mc:Fallback>
      </mc:AlternateContent>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2895" cy="4114800"/>
          </a:xfrm>
          <a:prstGeom prst="rect">
            <a:avLst/>
          </a:prstGeom>
          <a:noFill/>
        </p:spPr>
        <p:txBody>
          <a:bodyPr wrap="square">
            <a:spAutoFit/>
          </a:bodyPr>
          <a:lstStyle>
            <a:lvl1pPr>
              <a:defRPr sz="2800">
                <a:solidFill>
                  <a:srgbClr val="FFFFFF"/>
                </a:solidFill>
              </a:defRPr>
            </a:lvl1pPr>
          </a:lstStyle>
          <a:p>
            <a:pPr algn="ctr">
              <a:spcAft>
                <a:spcPts val="1000"/>
              </a:spcAft>
              <a:defRPr sz="2800">
                <a:solidFill>
                  <a:srgbClr val="FFFFFF"/>
                </a:solidFill>
              </a:defRPr>
            </a:pPr>
            <a:r>
              <a:rPr sz="2800" b="0">
                <a:solidFill>
                  <a:srgbClr val="93C5FD"/>
                </a:solidFill>
                <a:latin typeface="Arial"/>
              </a:rPr>
              <a:t>Section 3</a:t>
            </a:r>
            <a:endParaRPr sz="2800">
              <a:solidFill>
                <a:srgbClr val="FFFFFF"/>
              </a:solidFill>
            </a:endParaRPr>
          </a:p>
          <a:p>
            <a:pPr algn="ctr">
              <a:spcAft>
                <a:spcPts val="1000"/>
              </a:spcAft>
              <a:defRPr sz="2800">
                <a:solidFill>
                  <a:srgbClr val="FFFFFF"/>
                </a:solidFill>
              </a:defRPr>
            </a:pPr>
            <a:r>
              <a:rPr sz="4400" b="1">
                <a:solidFill>
                  <a:srgbClr val="FFFFFF"/>
                </a:solidFill>
                <a:latin typeface="Arial"/>
              </a:rPr>
              <a:t>Single Correct Type</a:t>
            </a:r>
            <a:endParaRPr sz="2800">
              <a:solidFill>
                <a:srgbClr val="FFFFFF"/>
              </a:solidFill>
            </a:endParaRPr>
          </a:p>
          <a:p>
            <a:pPr algn="ctr">
              <a:spcAft>
                <a:spcPts val="1000"/>
              </a:spcAft>
              <a:defRPr sz="2800">
                <a:solidFill>
                  <a:srgbClr val="FFFFFF"/>
                </a:solidFill>
              </a:defRPr>
            </a:pPr>
            <a:r>
              <a:rPr sz="3200" b="1">
                <a:solidFill>
                  <a:srgbClr val="FFFFFF"/>
                </a:solidFill>
                <a:latin typeface="Arial"/>
              </a:rPr>
              <a:t>Q20</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4 marks (assumed: no marks printed in the paper)</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JEE Advanced default for single-correct questions</a:t>
            </a:r>
            <a:endParaRPr sz="2800">
              <a:solidFill>
                <a:srgbClr val="FFFFFF"/>
              </a:solidFill>
            </a:endParaRP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303479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𝑆</m:t>
                    </m:r>
                  </m:oMath>
                </a14:m>
                <a:r>
                  <a:rPr sz="2400" b="0">
                    <a:solidFill>
                      <a:srgbClr val="111827"/>
                    </a:solidFill>
                    <a:latin typeface="Arial"/>
                  </a:rPr>
                  <a:t> be the set of all the words that can be formed by arranging all the letters of the word GARDEN. From the set </a:t>
                </a:r>
                <a14:m>
                  <m:oMath xmlns:m="http://schemas.openxmlformats.org/officeDocument/2006/math">
                    <m:r>
                      <a:rPr lang="en-IN" sz="2400" i="1">
                        <a:solidFill>
                          <a:srgbClr val="111827"/>
                        </a:solidFill>
                        <a:latin typeface="Cambria Math" panose="02040503050406030204" pitchFamily="18" charset="0"/>
                      </a:rPr>
                      <m:t>𝑆</m:t>
                    </m:r>
                  </m:oMath>
                </a14:m>
                <a:r>
                  <a:rPr sz="2400" b="0">
                    <a:solidFill>
                      <a:srgbClr val="111827"/>
                    </a:solidFill>
                    <a:latin typeface="Arial"/>
                  </a:rPr>
                  <a:t>, one word is selected at random. The probability that the selected word will NOT have vowels in alphabetical order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(B)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(C)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oMath>
                </a14:m>
                <a:endParaRPr sz="2400">
                  <a:solidFill>
                    <a:srgbClr val="111827"/>
                  </a:solidFill>
                </a:endParaRPr>
              </a:p>
            </p:txBody>
          </p:sp>
        </mc:Choice>
        <mc:Fallback>
          <p:sp>
            <p:nvSpPr>
              <p:cNvPr id="4" name="Rounded Rectangle 3"/>
              <p:cNvSpPr/>
              <p:nvPr/>
            </p:nvSpPr>
            <p:spPr>
              <a:xfrm>
                <a:off x="731520" y="1280160"/>
                <a:ext cx="10725912" cy="303479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$S$</a:t>
                </a:r>
                <a:r>
                  <a:rPr sz="2400" b="0">
                    <a:solidFill>
                      <a:srgbClr val="111827"/>
                    </a:solidFill>
                    <a:latin typeface="Arial"/>
                  </a:rPr>
                  <a:t> be the set of all the words that can be formed by arranging all the letters of the word GARDEN. From the set </a:t>
                </a:r>
                <a:r>
                  <a:rPr lang="en-IN" sz="2400">
                    <a:solidFill>
                      <a:srgbClr val="111827"/>
                    </a:solidFill>
                    <a:latin typeface="Cambria Math" panose="02040503050406030204" pitchFamily="18" charset="0"/>
                  </a:rPr>
                  <a:t>$S$</a:t>
                </a:r>
                <a:r>
                  <a:rPr sz="2400" b="0">
                    <a:solidFill>
                      <a:srgbClr val="111827"/>
                    </a:solidFill>
                    <a:latin typeface="Arial"/>
                  </a:rPr>
                  <a:t>, one word is selected at random. The probability that the selected word will NOT have vowels in alphabetical order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$\dfrac{2}{3}$</a:t>
                </a:r>
                <a:r>
                  <a:rPr sz="2400" b="0">
                    <a:solidFill>
                      <a:srgbClr val="111827"/>
                    </a:solidFill>
                    <a:latin typeface="Arial"/>
                  </a:rPr>
                  <a:t>   (B) </a:t>
                </a:r>
                <a:r>
                  <a:rPr lang="en-IN" sz="2400">
                    <a:solidFill>
                      <a:srgbClr val="111827"/>
                    </a:solidFill>
                    <a:latin typeface="Cambria Math" panose="02040503050406030204" pitchFamily="18" charset="0"/>
                  </a:rPr>
                  <a:t>$\dfrac{1}{4}$</a:t>
                </a:r>
                <a:r>
                  <a:rPr sz="2400" b="0">
                    <a:solidFill>
                      <a:srgbClr val="111827"/>
                    </a:solidFill>
                    <a:latin typeface="Arial"/>
                  </a:rPr>
                  <a:t>   (C) </a:t>
                </a:r>
                <a:r>
                  <a:rPr lang="en-IN" sz="2400">
                    <a:solidFill>
                      <a:srgbClr val="111827"/>
                    </a:solidFill>
                    <a:latin typeface="Cambria Math" panose="02040503050406030204" pitchFamily="18" charset="0"/>
                  </a:rPr>
                  <a:t>$\dfrac{1}{2}$</a:t>
                </a:r>
                <a:r>
                  <a:rPr sz="2400" b="0">
                    <a:solidFill>
                      <a:srgbClr val="111827"/>
                    </a:solidFill>
                    <a:latin typeface="Arial"/>
                  </a:rPr>
                  <a:t>   (D) </a:t>
                </a:r>
                <a:r>
                  <a:rPr lang="en-IN" sz="2400">
                    <a:solidFill>
                      <a:srgbClr val="111827"/>
                    </a:solidFill>
                    <a:latin typeface="Cambria Math" panose="02040503050406030204" pitchFamily="18" charset="0"/>
                  </a:rPr>
                  <a:t>$\dfrac{1}{3}$</a:t>
                </a:r>
                <a:endParaRPr sz="2400">
                  <a:solidFill>
                    <a:srgbClr val="111827"/>
                  </a:solidFill>
                </a:endParaRPr>
              </a:p>
            </p:txBody>
          </p:sp>
        </mc:Fallback>
      </mc:AlternateContent>
      <p:sp>
        <p:nvSpPr>
          <p:cNvPr id="5" name="Rectangle 4"/>
          <p:cNvSpPr/>
          <p:nvPr/>
        </p:nvSpPr>
        <p:spPr>
          <a:xfrm>
            <a:off x="731520" y="4543552"/>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Arrangements of letters of a word, Classical probability</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vowels A, E can only appear in the order AE or EA; the 'not alphabetical' words are those with E before A.</a:t>
            </a:r>
            <a:endParaRPr sz="24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GARDEN has </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 distinct letters,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720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vowels are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𝐸</m:t>
                    </m:r>
                  </m:oMath>
                </a14:m>
                <a:r>
                  <a:rPr sz="2400" b="0">
                    <a:solidFill>
                      <a:srgbClr val="111827"/>
                    </a:solidFill>
                    <a:latin typeface="Arial"/>
                  </a:rPr>
                  <a:t>. The alphabetical order of vowels is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before </a:t>
                </a:r>
                <a14:m>
                  <m:oMath xmlns:m="http://schemas.openxmlformats.org/officeDocument/2006/math">
                    <m:r>
                      <a:rPr lang="en-IN" sz="2400" i="1">
                        <a:solidFill>
                          <a:srgbClr val="111827"/>
                        </a:solidFill>
                        <a:latin typeface="Cambria Math" panose="02040503050406030204" pitchFamily="18" charset="0"/>
                      </a:rPr>
                      <m:t>𝐸</m:t>
                    </m:r>
                  </m:oMath>
                </a14:m>
                <a:r>
                  <a:rPr sz="2400" b="0">
                    <a:solidFill>
                      <a:srgbClr val="111827"/>
                    </a:solidFill>
                    <a:latin typeface="Arial"/>
                  </a:rPr>
                  <a:t>; the other order is </a:t>
                </a:r>
                <a14:m>
                  <m:oMath xmlns:m="http://schemas.openxmlformats.org/officeDocument/2006/math">
                    <m:r>
                      <a:rPr lang="en-IN" sz="2400" i="1">
                        <a:solidFill>
                          <a:srgbClr val="111827"/>
                        </a:solidFill>
                        <a:latin typeface="Cambria Math" panose="02040503050406030204" pitchFamily="18" charset="0"/>
                      </a:rPr>
                      <m:t>𝐸</m:t>
                    </m:r>
                  </m:oMath>
                </a14:m>
                <a:r>
                  <a:rPr sz="2400" b="0">
                    <a:solidFill>
                      <a:srgbClr val="111827"/>
                    </a:solidFill>
                    <a:latin typeface="Arial"/>
                  </a:rPr>
                  <a:t> before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Words with vowels not in alphabetical order: choose the two places for the vowels in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6</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ways, place them as </a:t>
                </a:r>
                <a14:m>
                  <m:oMath xmlns:m="http://schemas.openxmlformats.org/officeDocument/2006/math">
                    <m:r>
                      <a:rPr lang="en-IN" sz="2400" i="1">
                        <a:solidFill>
                          <a:srgbClr val="111827"/>
                        </a:solidFill>
                        <a:latin typeface="Cambria Math" panose="02040503050406030204" pitchFamily="18" charset="0"/>
                      </a:rPr>
                      <m:t>𝐸</m:t>
                    </m:r>
                    <m:r>
                      <a:rPr lang="en-IN" sz="2400" i="1">
                        <a:solidFill>
                          <a:srgbClr val="111827"/>
                        </a:solidFill>
                        <a:latin typeface="Cambria Math" panose="02040503050406030204" pitchFamily="18" charset="0"/>
                      </a:rPr>
                      <m:t>𝐴</m:t>
                    </m:r>
                  </m:oMath>
                </a14:m>
                <a:r>
                  <a:rPr sz="2400" b="0">
                    <a:solidFill>
                      <a:srgbClr val="111827"/>
                    </a:solidFill>
                    <a:latin typeface="Arial"/>
                  </a:rPr>
                  <a:t> (only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way), and arrange the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consonants in </a:t>
                </a:r>
                <a14:m>
                  <m:oMath xmlns:m="http://schemas.openxmlformats.org/officeDocument/2006/math">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ways.</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GARDEN has </a:t>
                </a:r>
                <a:r>
                  <a:rPr lang="en-IN" sz="2400">
                    <a:solidFill>
                      <a:srgbClr val="111827"/>
                    </a:solidFill>
                    <a:latin typeface="Cambria Math" panose="02040503050406030204" pitchFamily="18" charset="0"/>
                  </a:rPr>
                  <a:t>$6$</a:t>
                </a:r>
                <a:r>
                  <a:rPr sz="2400" b="0">
                    <a:solidFill>
                      <a:srgbClr val="111827"/>
                    </a:solidFill>
                    <a:latin typeface="Arial"/>
                  </a:rPr>
                  <a:t> distinct letters, so </a:t>
                </a:r>
                <a:r>
                  <a:rPr lang="en-IN" sz="2400">
                    <a:solidFill>
                      <a:srgbClr val="111827"/>
                    </a:solidFill>
                    <a:latin typeface="Cambria Math" panose="02040503050406030204" pitchFamily="18" charset="0"/>
                  </a:rPr>
                  <a:t>$|S|=6!=720$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vowels are </a:t>
                </a:r>
                <a:r>
                  <a:rPr lang="en-IN" sz="2400">
                    <a:solidFill>
                      <a:srgbClr val="111827"/>
                    </a:solidFill>
                    <a:latin typeface="Cambria Math" panose="02040503050406030204" pitchFamily="18" charset="0"/>
                  </a:rPr>
                  <a:t>$A$</a:t>
                </a:r>
                <a:r>
                  <a:rPr sz="2400" b="0">
                    <a:solidFill>
                      <a:srgbClr val="111827"/>
                    </a:solidFill>
                    <a:latin typeface="Arial"/>
                  </a:rPr>
                  <a:t> and </a:t>
                </a:r>
                <a:r>
                  <a:rPr lang="en-IN" sz="2400">
                    <a:solidFill>
                      <a:srgbClr val="111827"/>
                    </a:solidFill>
                    <a:latin typeface="Cambria Math" panose="02040503050406030204" pitchFamily="18" charset="0"/>
                  </a:rPr>
                  <a:t>$E$</a:t>
                </a:r>
                <a:r>
                  <a:rPr sz="2400" b="0">
                    <a:solidFill>
                      <a:srgbClr val="111827"/>
                    </a:solidFill>
                    <a:latin typeface="Arial"/>
                  </a:rPr>
                  <a:t>. The alphabetical order of vowels is </a:t>
                </a:r>
                <a:r>
                  <a:rPr lang="en-IN" sz="2400">
                    <a:solidFill>
                      <a:srgbClr val="111827"/>
                    </a:solidFill>
                    <a:latin typeface="Cambria Math" panose="02040503050406030204" pitchFamily="18" charset="0"/>
                  </a:rPr>
                  <a:t>$A$</a:t>
                </a:r>
                <a:r>
                  <a:rPr sz="2400" b="0">
                    <a:solidFill>
                      <a:srgbClr val="111827"/>
                    </a:solidFill>
                    <a:latin typeface="Arial"/>
                  </a:rPr>
                  <a:t> before </a:t>
                </a:r>
                <a:r>
                  <a:rPr lang="en-IN" sz="2400">
                    <a:solidFill>
                      <a:srgbClr val="111827"/>
                    </a:solidFill>
                    <a:latin typeface="Cambria Math" panose="02040503050406030204" pitchFamily="18" charset="0"/>
                  </a:rPr>
                  <a:t>$E$</a:t>
                </a:r>
                <a:r>
                  <a:rPr sz="2400" b="0">
                    <a:solidFill>
                      <a:srgbClr val="111827"/>
                    </a:solidFill>
                    <a:latin typeface="Arial"/>
                  </a:rPr>
                  <a:t>; the other order is </a:t>
                </a:r>
                <a:r>
                  <a:rPr lang="en-IN" sz="2400">
                    <a:solidFill>
                      <a:srgbClr val="111827"/>
                    </a:solidFill>
                    <a:latin typeface="Cambria Math" panose="02040503050406030204" pitchFamily="18" charset="0"/>
                  </a:rPr>
                  <a:t>$E$</a:t>
                </a:r>
                <a:r>
                  <a:rPr sz="2400" b="0">
                    <a:solidFill>
                      <a:srgbClr val="111827"/>
                    </a:solidFill>
                    <a:latin typeface="Arial"/>
                  </a:rPr>
                  <a:t> before </a:t>
                </a:r>
                <a:r>
                  <a:rPr lang="en-IN" sz="2400">
                    <a:solidFill>
                      <a:srgbClr val="111827"/>
                    </a:solidFill>
                    <a:latin typeface="Cambria Math" panose="02040503050406030204" pitchFamily="18" charset="0"/>
                  </a:rPr>
                  <a:t>$A$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Words with vowels not in alphabetical order: choose the two places for the vowels in </a:t>
                </a:r>
                <a:r>
                  <a:rPr lang="en-IN" sz="2400">
                    <a:solidFill>
                      <a:srgbClr val="111827"/>
                    </a:solidFill>
                    <a:latin typeface="Cambria Math" panose="02040503050406030204" pitchFamily="18" charset="0"/>
                  </a:rPr>
                  <a:t>$^6C_2$</a:t>
                </a:r>
                <a:r>
                  <a:rPr sz="2400" b="0">
                    <a:solidFill>
                      <a:srgbClr val="111827"/>
                    </a:solidFill>
                    <a:latin typeface="Arial"/>
                  </a:rPr>
                  <a:t> ways, place them as </a:t>
                </a:r>
                <a:r>
                  <a:rPr lang="en-IN" sz="2400">
                    <a:solidFill>
                      <a:srgbClr val="111827"/>
                    </a:solidFill>
                    <a:latin typeface="Cambria Math" panose="02040503050406030204" pitchFamily="18" charset="0"/>
                  </a:rPr>
                  <a:t>$EA$</a:t>
                </a:r>
                <a:r>
                  <a:rPr sz="2400" b="0">
                    <a:solidFill>
                      <a:srgbClr val="111827"/>
                    </a:solidFill>
                    <a:latin typeface="Arial"/>
                  </a:rPr>
                  <a:t> (only </a:t>
                </a:r>
                <a:r>
                  <a:rPr lang="en-IN" sz="2400">
                    <a:solidFill>
                      <a:srgbClr val="111827"/>
                    </a:solidFill>
                    <a:latin typeface="Cambria Math" panose="02040503050406030204" pitchFamily="18" charset="0"/>
                  </a:rPr>
                  <a:t>$1$</a:t>
                </a:r>
                <a:r>
                  <a:rPr sz="2400" b="0">
                    <a:solidFill>
                      <a:srgbClr val="111827"/>
                    </a:solidFill>
                    <a:latin typeface="Arial"/>
                  </a:rPr>
                  <a:t> way), and arrange the </a:t>
                </a:r>
                <a:r>
                  <a:rPr lang="en-IN" sz="2400">
                    <a:solidFill>
                      <a:srgbClr val="111827"/>
                    </a:solidFill>
                    <a:latin typeface="Cambria Math" panose="02040503050406030204" pitchFamily="18" charset="0"/>
                  </a:rPr>
                  <a:t>$4$</a:t>
                </a:r>
                <a:r>
                  <a:rPr sz="2400" b="0">
                    <a:solidFill>
                      <a:srgbClr val="111827"/>
                    </a:solidFill>
                    <a:latin typeface="Arial"/>
                  </a:rPr>
                  <a:t> consonants in </a:t>
                </a:r>
                <a:r>
                  <a:rPr lang="en-IN" sz="2400">
                    <a:solidFill>
                      <a:srgbClr val="111827"/>
                    </a:solidFill>
                    <a:latin typeface="Cambria Math" panose="02040503050406030204" pitchFamily="18" charset="0"/>
                  </a:rPr>
                  <a:t>$4!$</a:t>
                </a:r>
                <a:r>
                  <a:rPr sz="2400" b="0">
                    <a:solidFill>
                      <a:srgbClr val="111827"/>
                    </a:solidFill>
                    <a:latin typeface="Arial"/>
                  </a:rPr>
                  <a:t> ways.</a:t>
                </a:r>
                <a:endParaRPr sz="2400">
                  <a:solidFill>
                    <a:srgbClr val="111827"/>
                  </a:solidFill>
                </a:endParaRPr>
              </a:p>
            </p:txBody>
          </p:sp>
        </mc:Fallback>
      </mc:AlternateContent>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Count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 </m:t>
                        </m:r>
                      </m:e>
                      <m:sup>
                        <m:r>
                          <a:rPr lang="en-IN" sz="2400" i="1">
                            <a:solidFill>
                              <a:srgbClr val="111827"/>
                            </a:solidFill>
                            <a:latin typeface="Cambria Math" panose="02040503050406030204" pitchFamily="18" charset="0"/>
                          </a:rPr>
                          <m:t>6</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option (C).</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Count </a:t>
                </a:r>
                <a:r>
                  <a:rPr lang="en-IN" sz="2400">
                    <a:solidFill>
                      <a:srgbClr val="111827"/>
                    </a:solidFill>
                    <a:latin typeface="Cambria Math" panose="02040503050406030204" pitchFamily="18" charset="0"/>
                  </a:rPr>
                  <a:t>$=\ ^6C_2\cdot1\cdot4!=\dfrac{6\times5\times4!}{2}=\dfrac{6!}{2}=360$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$P=\dfrac{6!/2}{6!}=\dfrac12$</a:t>
                </a:r>
                <a:r>
                  <a:rPr sz="2400" b="0">
                    <a:solidFill>
                      <a:srgbClr val="111827"/>
                    </a:solidFill>
                    <a:latin typeface="Arial"/>
                  </a:rPr>
                  <a:t>, option (C).</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1</m:t>
                        </m:r>
                      </m:num>
                      <m:den>
                        <m:r>
                          <a:rPr lang="en-IN" sz="2800" i="1">
                            <a:solidFill>
                              <a:srgbClr val="15803D"/>
                            </a:solidFill>
                            <a:latin typeface="Cambria Math" panose="02040503050406030204" pitchFamily="18" charset="0"/>
                          </a:rPr>
                          <m:t>2</m:t>
                        </m:r>
                      </m:den>
                    </m:f>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a:t>
                </a:r>
                <a:r>
                  <a:rPr lang="en-IN" sz="2800">
                    <a:solidFill>
                      <a:srgbClr val="15803D"/>
                    </a:solidFill>
                    <a:latin typeface="Cambria Math" panose="02040503050406030204" pitchFamily="18" charset="0"/>
                  </a:rPr>
                  <a:t>$\dfrac{1}{2}$</a:t>
                </a:r>
                <a:endParaRPr sz="2800">
                  <a:solidFill>
                    <a:srgbClr val="15803D"/>
                  </a:solidFill>
                </a:endParaRPr>
              </a:p>
            </p:txBody>
          </p:sp>
        </mc:Fallback>
      </mc:AlternateContent>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Symmetry: swapping the positions of A and E is a bijection between 'A before E' and 'E before A' words.</a:t>
            </a:r>
            <a:endParaRPr sz="2400">
              <a:solidFill>
                <a:srgbClr val="78350F"/>
              </a:solidFill>
            </a:endParaRPr>
          </a:p>
        </p:txBody>
      </p:sp>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Take any word of </a:t>
                </a:r>
                <a14:m>
                  <m:oMath xmlns:m="http://schemas.openxmlformats.org/officeDocument/2006/math">
                    <m:r>
                      <a:rPr lang="en-IN" sz="2400" i="1">
                        <a:solidFill>
                          <a:srgbClr val="111827"/>
                        </a:solidFill>
                        <a:latin typeface="Cambria Math" panose="02040503050406030204" pitchFamily="18" charset="0"/>
                      </a:rPr>
                      <m:t>𝑆</m:t>
                    </m:r>
                  </m:oMath>
                </a14:m>
                <a:r>
                  <a:rPr sz="2400" b="0">
                    <a:solidFill>
                      <a:srgbClr val="111827"/>
                    </a:solidFill>
                    <a:latin typeface="Arial"/>
                  </a:rPr>
                  <a:t> and interchange the letters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𝐸</m:t>
                    </m:r>
                  </m:oMath>
                </a14:m>
                <a:r>
                  <a:rPr sz="2400" b="0">
                    <a:solidFill>
                      <a:srgbClr val="111827"/>
                    </a:solidFill>
                    <a:latin typeface="Arial"/>
                  </a:rPr>
                  <a:t> (positions unchanged).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This maps words with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before </a:t>
                </a:r>
                <a14:m>
                  <m:oMath xmlns:m="http://schemas.openxmlformats.org/officeDocument/2006/math">
                    <m:r>
                      <a:rPr lang="en-IN" sz="2400" i="1">
                        <a:solidFill>
                          <a:srgbClr val="111827"/>
                        </a:solidFill>
                        <a:latin typeface="Cambria Math" panose="02040503050406030204" pitchFamily="18" charset="0"/>
                      </a:rPr>
                      <m:t>𝐸</m:t>
                    </m:r>
                  </m:oMath>
                </a14:m>
                <a:r>
                  <a:rPr sz="2400" b="0">
                    <a:solidFill>
                      <a:srgbClr val="111827"/>
                    </a:solidFill>
                    <a:latin typeface="Arial"/>
                  </a:rPr>
                  <a:t> one-to-one onto words with </a:t>
                </a:r>
                <a14:m>
                  <m:oMath xmlns:m="http://schemas.openxmlformats.org/officeDocument/2006/math">
                    <m:r>
                      <a:rPr lang="en-IN" sz="2400" i="1">
                        <a:solidFill>
                          <a:srgbClr val="111827"/>
                        </a:solidFill>
                        <a:latin typeface="Cambria Math" panose="02040503050406030204" pitchFamily="18" charset="0"/>
                      </a:rPr>
                      <m:t>𝐸</m:t>
                    </m:r>
                  </m:oMath>
                </a14:m>
                <a:r>
                  <a:rPr sz="2400" b="0">
                    <a:solidFill>
                      <a:srgbClr val="111827"/>
                    </a:solidFill>
                    <a:latin typeface="Arial"/>
                  </a:rPr>
                  <a:t> before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and is its own inverse.</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Take any word of </a:t>
                </a:r>
                <a:r>
                  <a:rPr lang="en-IN" sz="2400">
                    <a:solidFill>
                      <a:srgbClr val="111827"/>
                    </a:solidFill>
                    <a:latin typeface="Cambria Math" panose="02040503050406030204" pitchFamily="18" charset="0"/>
                  </a:rPr>
                  <a:t>$S$</a:t>
                </a:r>
                <a:r>
                  <a:rPr sz="2400" b="0">
                    <a:solidFill>
                      <a:srgbClr val="111827"/>
                    </a:solidFill>
                    <a:latin typeface="Arial"/>
                  </a:rPr>
                  <a:t> and interchange the letters </a:t>
                </a:r>
                <a:r>
                  <a:rPr lang="en-IN" sz="2400">
                    <a:solidFill>
                      <a:srgbClr val="111827"/>
                    </a:solidFill>
                    <a:latin typeface="Cambria Math" panose="02040503050406030204" pitchFamily="18" charset="0"/>
                  </a:rPr>
                  <a:t>$A$</a:t>
                </a:r>
                <a:r>
                  <a:rPr sz="2400" b="0">
                    <a:solidFill>
                      <a:srgbClr val="111827"/>
                    </a:solidFill>
                    <a:latin typeface="Arial"/>
                  </a:rPr>
                  <a:t> and </a:t>
                </a:r>
                <a:r>
                  <a:rPr lang="en-IN" sz="2400">
                    <a:solidFill>
                      <a:srgbClr val="111827"/>
                    </a:solidFill>
                    <a:latin typeface="Cambria Math" panose="02040503050406030204" pitchFamily="18" charset="0"/>
                  </a:rPr>
                  <a:t>$E$</a:t>
                </a:r>
                <a:r>
                  <a:rPr sz="2400" b="0">
                    <a:solidFill>
                      <a:srgbClr val="111827"/>
                    </a:solidFill>
                    <a:latin typeface="Arial"/>
                  </a:rPr>
                  <a:t> (positions unchanged).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This maps words with </a:t>
                </a:r>
                <a:r>
                  <a:rPr lang="en-IN" sz="2400">
                    <a:solidFill>
                      <a:srgbClr val="111827"/>
                    </a:solidFill>
                    <a:latin typeface="Cambria Math" panose="02040503050406030204" pitchFamily="18" charset="0"/>
                  </a:rPr>
                  <a:t>$A$</a:t>
                </a:r>
                <a:r>
                  <a:rPr sz="2400" b="0">
                    <a:solidFill>
                      <a:srgbClr val="111827"/>
                    </a:solidFill>
                    <a:latin typeface="Arial"/>
                  </a:rPr>
                  <a:t> before </a:t>
                </a:r>
                <a:r>
                  <a:rPr lang="en-IN" sz="2400">
                    <a:solidFill>
                      <a:srgbClr val="111827"/>
                    </a:solidFill>
                    <a:latin typeface="Cambria Math" panose="02040503050406030204" pitchFamily="18" charset="0"/>
                  </a:rPr>
                  <a:t>$E$</a:t>
                </a:r>
                <a:r>
                  <a:rPr sz="2400" b="0">
                    <a:solidFill>
                      <a:srgbClr val="111827"/>
                    </a:solidFill>
                    <a:latin typeface="Arial"/>
                  </a:rPr>
                  <a:t> one-to-one onto words with </a:t>
                </a:r>
                <a:r>
                  <a:rPr lang="en-IN" sz="2400">
                    <a:solidFill>
                      <a:srgbClr val="111827"/>
                    </a:solidFill>
                    <a:latin typeface="Cambria Math" panose="02040503050406030204" pitchFamily="18" charset="0"/>
                  </a:rPr>
                  <a:t>$E$</a:t>
                </a:r>
                <a:r>
                  <a:rPr sz="2400" b="0">
                    <a:solidFill>
                      <a:srgbClr val="111827"/>
                    </a:solidFill>
                    <a:latin typeface="Arial"/>
                  </a:rPr>
                  <a:t> before </a:t>
                </a:r>
                <a:r>
                  <a:rPr lang="en-IN" sz="2400">
                    <a:solidFill>
                      <a:srgbClr val="111827"/>
                    </a:solidFill>
                    <a:latin typeface="Cambria Math" panose="02040503050406030204" pitchFamily="18" charset="0"/>
                  </a:rPr>
                  <a:t>$A$</a:t>
                </a:r>
                <a:r>
                  <a:rPr sz="2400" b="0">
                    <a:solidFill>
                      <a:srgbClr val="111827"/>
                    </a:solidFill>
                    <a:latin typeface="Arial"/>
                  </a:rPr>
                  <a:t>, and is its own inverse.</a:t>
                </a:r>
                <a:endParaRPr sz="2400">
                  <a:solidFill>
                    <a:srgbClr val="111827"/>
                  </a:solidFill>
                </a:endParaRPr>
              </a:p>
            </p:txBody>
          </p:sp>
        </mc:Fallback>
      </mc:AlternateContent>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the two classes are equal in size and together are all of </a:t>
                </a:r>
                <a14:m>
                  <m:oMath xmlns:m="http://schemas.openxmlformats.org/officeDocument/2006/math">
                    <m:r>
                      <a:rPr lang="en-IN" sz="2400" i="1">
                        <a:solidFill>
                          <a:srgbClr val="111827"/>
                        </a:solidFill>
                        <a:latin typeface="Cambria Math" panose="02040503050406030204" pitchFamily="18" charset="0"/>
                      </a:rPr>
                      <m:t>𝑆</m:t>
                    </m:r>
                  </m:oMath>
                </a14:m>
                <a:r>
                  <a:rPr sz="2400" b="0">
                    <a:solidFill>
                      <a:srgbClr val="111827"/>
                    </a:solidFill>
                    <a:latin typeface="Arial"/>
                  </a:rPr>
                  <a:t>: each has probability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m:rPr>
                        <m:nor/>
                      </m:rPr>
                      <a:rPr lang="en-IN" sz="2400" i="1">
                        <a:solidFill>
                          <a:srgbClr val="111827"/>
                        </a:solidFill>
                        <a:latin typeface="Cambria Math" panose="02040503050406030204" pitchFamily="18" charset="0"/>
                      </a:rPr>
                      <m:t>𝑣𝑜𝑤𝑒𝑙𝑠 𝑛𝑜𝑡 𝑖𝑛 𝑎𝑙𝑝ℎ𝑎𝑏𝑒𝑡𝑖𝑐𝑎𝑙 𝑜𝑟𝑑𝑒𝑟</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the two classes are equal in size and together are all of </a:t>
                </a:r>
                <a:r>
                  <a:rPr lang="en-IN" sz="2400">
                    <a:solidFill>
                      <a:srgbClr val="111827"/>
                    </a:solidFill>
                    <a:latin typeface="Cambria Math" panose="02040503050406030204" pitchFamily="18" charset="0"/>
                  </a:rPr>
                  <a:t>$S$</a:t>
                </a:r>
                <a:r>
                  <a:rPr sz="2400" b="0">
                    <a:solidFill>
                      <a:srgbClr val="111827"/>
                    </a:solidFill>
                    <a:latin typeface="Arial"/>
                  </a:rPr>
                  <a:t>: each has probability </a:t>
                </a:r>
                <a:r>
                  <a:rPr lang="en-IN" sz="2400">
                    <a:solidFill>
                      <a:srgbClr val="111827"/>
                    </a:solidFill>
                    <a:latin typeface="Cambria Math" panose="02040503050406030204" pitchFamily="18" charset="0"/>
                  </a:rPr>
                  <a:t>$\dfrac12$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$P(\text{vowels not in alphabetical order})=\dfrac12$</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1</m:t>
                        </m:r>
                      </m:num>
                      <m:den>
                        <m:r>
                          <a:rPr lang="en-IN" sz="2800" i="1">
                            <a:solidFill>
                              <a:srgbClr val="15803D"/>
                            </a:solidFill>
                            <a:latin typeface="Cambria Math" panose="02040503050406030204" pitchFamily="18" charset="0"/>
                          </a:rPr>
                          <m:t>2</m:t>
                        </m:r>
                      </m:den>
                    </m:f>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a:t>
                </a:r>
                <a:r>
                  <a:rPr lang="en-IN" sz="2800">
                    <a:solidFill>
                      <a:srgbClr val="15803D"/>
                    </a:solidFill>
                    <a:latin typeface="Cambria Math" panose="02040503050406030204" pitchFamily="18" charset="0"/>
                  </a:rPr>
                  <a:t>$\dfrac{1}{2}$</a:t>
                </a:r>
                <a:endParaRPr sz="2800">
                  <a:solidFill>
                    <a:srgbClr val="15803D"/>
                  </a:solidFill>
                </a:endParaRPr>
              </a:p>
            </p:txBody>
          </p:sp>
        </mc:Fallback>
      </mc:AlternateContent>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 specified distinct letters in all arrangements, every relative order of them is equally likely: each has probability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'letters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before </a:t>
                </a:r>
                <a14:m>
                  <m:oMath xmlns:m="http://schemas.openxmlformats.org/officeDocument/2006/math">
                    <m:r>
                      <a:rPr lang="en-IN" sz="2400" i="1">
                        <a:solidFill>
                          <a:srgbClr val="111827"/>
                        </a:solidFill>
                        <a:latin typeface="Cambria Math" panose="02040503050406030204" pitchFamily="18" charset="0"/>
                      </a:rPr>
                      <m:t>𝑦</m:t>
                    </m:r>
                  </m:oMath>
                </a14:m>
                <a:r>
                  <a:rPr sz="2400" b="0">
                    <a:solidFill>
                      <a:srgbClr val="111827"/>
                    </a:solidFill>
                    <a:latin typeface="Arial"/>
                  </a:rPr>
                  <a:t>' has probability </a:t>
                </a:r>
                <a14:m>
                  <m:oMath xmlns:m="http://schemas.openxmlformats.org/officeDocument/2006/math">
                    <m:f>
                      <m:fPr>
                        <m:type m:val="lin"/>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'vowels in a given order' </a:t>
                </a:r>
                <a14:m>
                  <m:oMath xmlns:m="http://schemas.openxmlformats.org/officeDocument/2006/math">
                    <m:f>
                      <m:fPr>
                        <m:type m:val="lin"/>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 regardless of the other letters.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This works whenever the letters are distinct; repeated letters need separate treatment.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$k$</a:t>
                </a:r>
                <a:r>
                  <a:rPr sz="2400" b="0">
                    <a:solidFill>
                      <a:srgbClr val="111827"/>
                    </a:solidFill>
                    <a:latin typeface="Arial"/>
                  </a:rPr>
                  <a:t> specified distinct letters in all arrangements, every relative order of them is equally likely: each has probability </a:t>
                </a:r>
                <a:r>
                  <a:rPr lang="en-IN" sz="2400">
                    <a:solidFill>
                      <a:srgbClr val="111827"/>
                    </a:solidFill>
                    <a:latin typeface="Cambria Math" panose="02040503050406030204" pitchFamily="18" charset="0"/>
                  </a:rPr>
                  <a:t>$\dfrac1{k!}$</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'letters </a:t>
                </a:r>
                <a:r>
                  <a:rPr lang="en-IN" sz="2400">
                    <a:solidFill>
                      <a:srgbClr val="111827"/>
                    </a:solidFill>
                    <a:latin typeface="Cambria Math" panose="02040503050406030204" pitchFamily="18" charset="0"/>
                  </a:rPr>
                  <a:t>$x$</a:t>
                </a:r>
                <a:r>
                  <a:rPr sz="2400" b="0">
                    <a:solidFill>
                      <a:srgbClr val="111827"/>
                    </a:solidFill>
                    <a:latin typeface="Arial"/>
                  </a:rPr>
                  <a:t> before </a:t>
                </a:r>
                <a:r>
                  <a:rPr lang="en-IN" sz="2400">
                    <a:solidFill>
                      <a:srgbClr val="111827"/>
                    </a:solidFill>
                    <a:latin typeface="Cambria Math" panose="02040503050406030204" pitchFamily="18" charset="0"/>
                  </a:rPr>
                  <a:t>$y$</a:t>
                </a:r>
                <a:r>
                  <a:rPr sz="2400" b="0">
                    <a:solidFill>
                      <a:srgbClr val="111827"/>
                    </a:solidFill>
                    <a:latin typeface="Arial"/>
                  </a:rPr>
                  <a:t>' has probability </a:t>
                </a:r>
                <a:r>
                  <a:rPr lang="en-IN" sz="2400">
                    <a:solidFill>
                      <a:srgbClr val="111827"/>
                    </a:solidFill>
                    <a:latin typeface="Cambria Math" panose="02040503050406030204" pitchFamily="18" charset="0"/>
                  </a:rPr>
                  <a:t>$\tfrac12$</a:t>
                </a:r>
                <a:r>
                  <a:rPr sz="2400" b="0">
                    <a:solidFill>
                      <a:srgbClr val="111827"/>
                    </a:solidFill>
                    <a:latin typeface="Arial"/>
                  </a:rPr>
                  <a:t>, 'vowels in a given order' </a:t>
                </a:r>
                <a:r>
                  <a:rPr lang="en-IN" sz="2400">
                    <a:solidFill>
                      <a:srgbClr val="111827"/>
                    </a:solidFill>
                    <a:latin typeface="Cambria Math" panose="02040503050406030204" pitchFamily="18" charset="0"/>
                  </a:rPr>
                  <a:t>$\tfrac1{k!}$</a:t>
                </a:r>
                <a:r>
                  <a:rPr sz="2400" b="0">
                    <a:solidFill>
                      <a:srgbClr val="111827"/>
                    </a:solidFill>
                    <a:latin typeface="Arial"/>
                  </a:rPr>
                  <a:t>, regardless of the other letters.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This works whenever the letters are distinct; repeated letters need separate treatment.</a:t>
                </a:r>
                <a:endParaRPr sz="2400">
                  <a:solidFill>
                    <a:srgbClr val="111827"/>
                  </a:solidFill>
                </a:endParaRPr>
              </a:p>
            </p:txBody>
          </p:sp>
        </mc:Fallback>
      </mc:AlternateContent>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(1/4)</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502920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01</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02</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03</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04</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05</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bl>
          </a:graphicData>
        </a:graphic>
      </p:graphicFrame>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(2/4)</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502920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06</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07</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08</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09</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10</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bl>
          </a:graphicData>
        </a:graphic>
      </p:graphicFrame>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(3/4)</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502920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11</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12</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13</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14</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15</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bl>
          </a:graphicData>
        </a:graphic>
      </p:graphicFrame>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(4/4)</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502920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16</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17</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18</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19</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20</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bl>
          </a:graphicData>
        </a:graphic>
      </p:graphicFrame>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a:t>
            </a:r>
            <a:endParaRPr sz="3200">
              <a:solidFill>
                <a:srgbClr val="FFFFFF"/>
              </a:solidFill>
            </a:endParaRPr>
          </a:p>
        </p:txBody>
      </p:sp>
      <p:sp>
        <p:nvSpPr>
          <p:cNvPr id="3" name="Rounded Rectangle 2"/>
          <p:cNvSpPr/>
          <p:nvPr/>
        </p:nvSpPr>
        <p:spPr>
          <a:xfrm>
            <a:off x="731520" y="1417320"/>
            <a:ext cx="4754880" cy="329184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37160" bIns="73152"/>
          <a:lstStyle>
            <a:lvl1pPr>
              <a:defRPr sz="3000">
                <a:solidFill>
                  <a:srgbClr val="0B1F3A"/>
                </a:solidFill>
              </a:defRPr>
            </a:lvl1pPr>
          </a:lstStyle>
          <a:p>
            <a:pPr algn="ctr">
              <a:defRPr sz="3000">
                <a:solidFill>
                  <a:srgbClr val="0B1F3A"/>
                </a:solidFill>
              </a:defRPr>
            </a:pPr>
            <a:r>
              <a:rPr sz="3000" b="1">
                <a:solidFill>
                  <a:srgbClr val="0B1F3A"/>
                </a:solidFill>
                <a:latin typeface="Arial"/>
              </a:rPr>
              <a:t>Difficulty Index</a:t>
            </a:r>
            <a:endParaRPr sz="3000">
              <a:solidFill>
                <a:srgbClr val="0B1F3A"/>
              </a:solidFill>
            </a:endParaRPr>
          </a:p>
          <a:p>
            <a:pPr algn="ctr">
              <a:defRPr sz="3000">
                <a:solidFill>
                  <a:srgbClr val="0B1F3A"/>
                </a:solidFill>
              </a:defRPr>
            </a:pPr>
            <a:r>
              <a:rPr sz="8800" b="1">
                <a:solidFill>
                  <a:srgbClr val="0B1F3A"/>
                </a:solidFill>
                <a:latin typeface="Arial"/>
              </a:rPr>
              <a:t>1.60</a:t>
            </a:r>
            <a:endParaRPr sz="3000">
              <a:solidFill>
                <a:srgbClr val="0B1F3A"/>
              </a:solidFill>
            </a:endParaRPr>
          </a:p>
          <a:p>
            <a:pPr algn="ctr">
              <a:defRPr sz="3000">
                <a:solidFill>
                  <a:srgbClr val="0B1F3A"/>
                </a:solidFill>
              </a:defRPr>
            </a:pPr>
            <a:r>
              <a:rPr sz="2400" b="0">
                <a:solidFill>
                  <a:srgbClr val="0B1F3A"/>
                </a:solidFill>
                <a:latin typeface="Arial"/>
              </a:rPr>
              <a:t>out of 5</a:t>
            </a:r>
            <a:endParaRPr sz="3000">
              <a:solidFill>
                <a:srgbClr val="0B1F3A"/>
              </a:solidFill>
            </a:endParaRPr>
          </a:p>
        </p:txBody>
      </p:sp>
      <p:sp>
        <p:nvSpPr>
          <p:cNvPr id="4" name="Rectangle 3"/>
          <p:cNvSpPr/>
          <p:nvPr/>
        </p:nvSpPr>
        <p:spPr>
          <a:xfrm>
            <a:off x="5852160" y="1417320"/>
            <a:ext cx="5605272" cy="603504"/>
          </a:xfrm>
          <a:prstGeom prst="rect">
            <a:avLst/>
          </a:prstGeom>
          <a:solidFill>
            <a:srgbClr val="93C47D"/>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73152"/>
          <a:lstStyle>
            <a:lvl1pPr>
              <a:defRPr sz="2400">
                <a:solidFill>
                  <a:srgbClr val="111827"/>
                </a:solidFill>
              </a:defRPr>
            </a:lvl1pPr>
          </a:lstStyle>
          <a:p>
            <a:pPr algn="l">
              <a:defRPr sz="2400">
                <a:solidFill>
                  <a:srgbClr val="111827"/>
                </a:solidFill>
              </a:defRPr>
            </a:pPr>
            <a:r>
              <a:rPr sz="2400" b="1">
                <a:solidFill>
                  <a:srgbClr val="111827"/>
                </a:solidFill>
                <a:latin typeface="Arial"/>
              </a:rPr>
              <a:t>JEE Main or easier:  8 questions</a:t>
            </a:r>
            <a:endParaRPr sz="2400">
              <a:solidFill>
                <a:srgbClr val="111827"/>
              </a:solidFill>
            </a:endParaRPr>
          </a:p>
        </p:txBody>
      </p:sp>
      <p:sp>
        <p:nvSpPr>
          <p:cNvPr id="5" name="Rectangle 4"/>
          <p:cNvSpPr/>
          <p:nvPr/>
        </p:nvSpPr>
        <p:spPr>
          <a:xfrm>
            <a:off x="5852160" y="2093976"/>
            <a:ext cx="5605272" cy="603504"/>
          </a:xfrm>
          <a:prstGeom prst="rect">
            <a:avLst/>
          </a:prstGeom>
          <a:solidFill>
            <a:srgbClr val="FFD966"/>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73152"/>
          <a:lstStyle>
            <a:lvl1pPr>
              <a:defRPr sz="2400">
                <a:solidFill>
                  <a:srgbClr val="111827"/>
                </a:solidFill>
              </a:defRPr>
            </a:lvl1pPr>
          </a:lstStyle>
          <a:p>
            <a:pPr algn="l">
              <a:defRPr sz="2400">
                <a:solidFill>
                  <a:srgbClr val="111827"/>
                </a:solidFill>
              </a:defRPr>
            </a:pPr>
            <a:r>
              <a:rPr sz="2400" b="1">
                <a:solidFill>
                  <a:srgbClr val="111827"/>
                </a:solidFill>
                <a:latin typeface="Arial"/>
              </a:rPr>
              <a:t>Below average:  12 questions</a:t>
            </a:r>
            <a:endParaRPr sz="2400">
              <a:solidFill>
                <a:srgbClr val="111827"/>
              </a:solidFill>
            </a:endParaRPr>
          </a:p>
        </p:txBody>
      </p:sp>
      <p:sp>
        <p:nvSpPr>
          <p:cNvPr id="6" name="Rectangle 5"/>
          <p:cNvSpPr/>
          <p:nvPr/>
        </p:nvSpPr>
        <p:spPr>
          <a:xfrm>
            <a:off x="5852160" y="2770632"/>
            <a:ext cx="5605272" cy="603504"/>
          </a:xfrm>
          <a:prstGeom prst="rect">
            <a:avLst/>
          </a:prstGeom>
          <a:solidFill>
            <a:srgbClr val="F6B26B"/>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73152"/>
          <a:lstStyle>
            <a:lvl1pPr>
              <a:defRPr sz="2400">
                <a:solidFill>
                  <a:srgbClr val="111827"/>
                </a:solidFill>
              </a:defRPr>
            </a:lvl1pPr>
          </a:lstStyle>
          <a:p>
            <a:pPr algn="l">
              <a:defRPr sz="2400">
                <a:solidFill>
                  <a:srgbClr val="111827"/>
                </a:solidFill>
              </a:defRPr>
            </a:pPr>
            <a:r>
              <a:rPr sz="2400" b="1">
                <a:solidFill>
                  <a:srgbClr val="111827"/>
                </a:solidFill>
                <a:latin typeface="Arial"/>
              </a:rPr>
              <a:t>Average Advanced:  0 questions</a:t>
            </a:r>
            <a:endParaRPr sz="2400">
              <a:solidFill>
                <a:srgbClr val="111827"/>
              </a:solidFill>
            </a:endParaRPr>
          </a:p>
        </p:txBody>
      </p:sp>
      <p:sp>
        <p:nvSpPr>
          <p:cNvPr id="7" name="Rectangle 6"/>
          <p:cNvSpPr/>
          <p:nvPr/>
        </p:nvSpPr>
        <p:spPr>
          <a:xfrm>
            <a:off x="5852160" y="3447288"/>
            <a:ext cx="5605272" cy="603504"/>
          </a:xfrm>
          <a:prstGeom prst="rect">
            <a:avLst/>
          </a:prstGeom>
          <a:solidFill>
            <a:srgbClr val="E88080"/>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73152"/>
          <a:lstStyle>
            <a:lvl1pPr>
              <a:defRPr sz="2400">
                <a:solidFill>
                  <a:srgbClr val="111827"/>
                </a:solidFill>
              </a:defRPr>
            </a:lvl1pPr>
          </a:lstStyle>
          <a:p>
            <a:pPr algn="l">
              <a:defRPr sz="2400">
                <a:solidFill>
                  <a:srgbClr val="111827"/>
                </a:solidFill>
              </a:defRPr>
            </a:pPr>
            <a:r>
              <a:rPr sz="2400" b="1">
                <a:solidFill>
                  <a:srgbClr val="111827"/>
                </a:solidFill>
                <a:latin typeface="Arial"/>
              </a:rPr>
              <a:t>Above average:  0 questions</a:t>
            </a:r>
            <a:endParaRPr sz="2400">
              <a:solidFill>
                <a:srgbClr val="111827"/>
              </a:solidFill>
            </a:endParaRPr>
          </a:p>
        </p:txBody>
      </p:sp>
      <p:sp>
        <p:nvSpPr>
          <p:cNvPr id="8" name="Rectangle 7"/>
          <p:cNvSpPr/>
          <p:nvPr/>
        </p:nvSpPr>
        <p:spPr>
          <a:xfrm>
            <a:off x="5852160" y="4123944"/>
            <a:ext cx="5605272" cy="603504"/>
          </a:xfrm>
          <a:prstGeom prst="rect">
            <a:avLst/>
          </a:prstGeom>
          <a:solidFill>
            <a:srgbClr val="CC4125"/>
          </a:solidFill>
          <a:ln w="19050">
            <a:solidFill>
              <a:srgbClr val="6B7280"/>
            </a:solidFill>
          </a:ln>
          <a:effectLst/>
        </p:spPr>
        <p:style>
          <a:lnRef idx="1">
            <a:schemeClr val="accent1"/>
          </a:lnRef>
          <a:fillRef idx="3">
            <a:schemeClr val="accent1"/>
          </a:fillRef>
          <a:effectRef idx="2">
            <a:schemeClr val="accent1"/>
          </a:effectRef>
          <a:fontRef idx="minor">
            <a:srgbClr val="FFFFFF"/>
          </a:fontRef>
        </p:style>
        <p:txBody>
          <a:bodyPr rtlCol="0" anchor="ctr" wrap="square" lIns="228600" rIns="228600" tIns="18288" bIns="73152"/>
          <a:lstStyle>
            <a:lvl1pPr>
              <a:defRPr sz="2400">
                <a:solidFill>
                  <a:srgbClr val="FFFFFF"/>
                </a:solidFill>
              </a:defRPr>
            </a:lvl1pPr>
          </a:lstStyle>
          <a:p>
            <a:pPr algn="l">
              <a:defRPr sz="2400">
                <a:solidFill>
                  <a:srgbClr val="FFFFFF"/>
                </a:solidFill>
              </a:defRPr>
            </a:pPr>
            <a:r>
              <a:rPr sz="2400" b="1">
                <a:solidFill>
                  <a:srgbClr val="FFFFFF"/>
                </a:solidFill>
                <a:latin typeface="Arial"/>
              </a:rPr>
              <a:t>Very difficult:  0 questions</a:t>
            </a:r>
            <a:endParaRPr sz="2400">
              <a:solidFill>
                <a:srgbClr val="FFFFFF"/>
              </a:solidFill>
            </a:endParaRPr>
          </a:p>
        </p:txBody>
      </p:sp>
      <p:sp>
        <p:nvSpPr>
          <p:cNvPr id="9" name="Rectangle 8"/>
          <p:cNvSpPr/>
          <p:nvPr/>
        </p:nvSpPr>
        <p:spPr>
          <a:xfrm>
            <a:off x="731520" y="5029200"/>
            <a:ext cx="10725912" cy="1097280"/>
          </a:xfrm>
          <a:prstGeom prst="rect">
            <a:avLst/>
          </a:prstGeom>
          <a:solidFill>
            <a:srgbClr val="FFFFFF"/>
          </a:solidFill>
          <a:ln w="19050">
            <a:no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ctr">
              <a:defRPr sz="2400">
                <a:solidFill>
                  <a:srgbClr val="111827"/>
                </a:solidFill>
              </a:defRPr>
            </a:pPr>
            <a:r>
              <a:rPr sz="2400" b="0">
                <a:solidFill>
                  <a:srgbClr val="111827"/>
                </a:solidFill>
                <a:latin typeface="Arial"/>
              </a:rPr>
              <a:t>Total: 20 questions, 80 marks.  Index = Σ(marks × level) ÷ Σ marks, on the 0-5 scale.</a:t>
            </a:r>
            <a:endParaRPr sz="2400">
              <a:solidFill>
                <a:srgbClr val="111827"/>
              </a:solidFill>
            </a:endParaRP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Difficulty Profile of the Paper</a:t>
            </a:r>
            <a:endParaRPr sz="3200">
              <a:solidFill>
                <a:srgbClr val="FFFFFF"/>
              </a:solidFill>
            </a:endParaRPr>
          </a:p>
        </p:txBody>
      </p:sp>
      <p:graphicFrame>
        <p:nvGraphicFramePr>
          <p:cNvPr id="3" name="Chart 2"/>
          <p:cNvGraphicFramePr>
            <a:graphicFrameLocks noGrp="1"/>
          </p:cNvGraphicFramePr>
          <p:nvPr/>
        </p:nvGraphicFramePr>
        <p:xfrm>
          <a:off x="457200" y="1280160"/>
          <a:ext cx="11274552" cy="5349240"/>
        </p:xfrm>
        <a:graphic>
          <a:graphicData uri="http://schemas.openxmlformats.org/drawingml/2006/chart">
            <c:chart xmlns:c="http://schemas.openxmlformats.org/drawingml/2006/chart" r:id="rId2"/>
          </a:graphicData>
        </a:graphic>
      </p:graphicFrame>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Comparison with JEE Advanced Papers</a:t>
            </a:r>
            <a:endParaRPr sz="3200">
              <a:solidFill>
                <a:srgbClr val="FFFFFF"/>
              </a:solidFill>
            </a:endParaRPr>
          </a:p>
        </p:txBody>
      </p:sp>
      <p:graphicFrame>
        <p:nvGraphicFramePr>
          <p:cNvPr id="3" name="Table 2"/>
          <p:cNvGraphicFramePr>
            <a:graphicFrameLocks noGrp="1"/>
          </p:cNvGraphicFramePr>
          <p:nvPr/>
        </p:nvGraphicFramePr>
        <p:xfrm>
          <a:off x="1661007" y="1371600"/>
          <a:ext cx="8869680" cy="4526280"/>
        </p:xfrm>
        <a:graphic>
          <a:graphicData uri="http://schemas.openxmlformats.org/drawingml/2006/table">
            <a:tbl>
              <a:tblPr firstRow="1" bandRow="1">
                <a:tableStyleId>{5C22544A-7EE6-4342-B048-85BDC9FD1C3A}</a:tableStyleId>
              </a:tblPr>
              <a:tblGrid>
                <a:gridCol w="5760720"/>
                <a:gridCol w="3108960"/>
              </a:tblGrid>
              <a:tr h="685800">
                <a:tc>
                  <a:txBody>
                    <a:bodyPr/>
                    <a:lstStyle/>
                    <a:p>
                      <a:pPr algn="ctr"/>
                      <a:r>
                        <a:rPr sz="2600" b="1">
                          <a:solidFill>
                            <a:srgbClr val="FFFFFF"/>
                          </a:solidFill>
                          <a:latin typeface="Arial"/>
                        </a:rPr>
                        <a:t>Paper</a:t>
                      </a:r>
                    </a:p>
                  </a:txBody>
                  <a:tcPr anchor="ctr" marL="137160" marR="137160">
                    <a:solidFill>
                      <a:srgbClr val="0B1F3A"/>
                    </a:solidFill>
                  </a:tcPr>
                </a:tc>
                <a:tc>
                  <a:txBody>
                    <a:bodyPr/>
                    <a:lstStyle/>
                    <a:p>
                      <a:pPr algn="ctr"/>
                      <a:r>
                        <a:rPr sz="2600" b="1">
                          <a:solidFill>
                            <a:srgbClr val="FFFFFF"/>
                          </a:solidFill>
                          <a:latin typeface="Arial"/>
                        </a:rPr>
                        <a:t>Difficulty Index</a:t>
                      </a:r>
                    </a:p>
                  </a:txBody>
                  <a:tcPr anchor="ctr" marL="137160" marR="137160">
                    <a:solidFill>
                      <a:srgbClr val="0B1F3A"/>
                    </a:solidFill>
                  </a:tcPr>
                </a:tc>
              </a:tr>
              <a:tr h="640080">
                <a:tc>
                  <a:txBody>
                    <a:bodyPr/>
                    <a:lstStyle/>
                    <a:p>
                      <a:pPr algn="l"/>
                      <a:r>
                        <a:rPr sz="2600" b="0">
                          <a:solidFill>
                            <a:srgbClr val="111827"/>
                          </a:solidFill>
                          <a:latin typeface="Arial"/>
                        </a:rPr>
                        <a:t>JEE Advanced 2021</a:t>
                      </a:r>
                    </a:p>
                  </a:txBody>
                  <a:tcPr anchor="ctr" marL="137160" marR="137160">
                    <a:solidFill>
                      <a:srgbClr val="FFFFFF"/>
                    </a:solidFill>
                  </a:tcPr>
                </a:tc>
                <a:tc>
                  <a:txBody>
                    <a:bodyPr/>
                    <a:lstStyle/>
                    <a:p>
                      <a:pPr algn="ctr"/>
                      <a:r>
                        <a:rPr sz="2600" b="1">
                          <a:solidFill>
                            <a:srgbClr val="111827"/>
                          </a:solidFill>
                          <a:latin typeface="Arial"/>
                        </a:rPr>
                        <a:t>2.76</a:t>
                      </a:r>
                    </a:p>
                  </a:txBody>
                  <a:tcPr anchor="ctr" marL="137160" marR="137160">
                    <a:solidFill>
                      <a:srgbClr val="FFFFFF"/>
                    </a:solidFill>
                  </a:tcPr>
                </a:tc>
              </a:tr>
              <a:tr h="640080">
                <a:tc>
                  <a:txBody>
                    <a:bodyPr/>
                    <a:lstStyle/>
                    <a:p>
                      <a:pPr algn="l"/>
                      <a:r>
                        <a:rPr sz="2600" b="0">
                          <a:solidFill>
                            <a:srgbClr val="111827"/>
                          </a:solidFill>
                          <a:latin typeface="Arial"/>
                        </a:rPr>
                        <a:t>JEE Advanced 2023</a:t>
                      </a:r>
                    </a:p>
                  </a:txBody>
                  <a:tcPr anchor="ctr" marL="137160" marR="137160">
                    <a:solidFill>
                      <a:srgbClr val="FFFFFF"/>
                    </a:solidFill>
                  </a:tcPr>
                </a:tc>
                <a:tc>
                  <a:txBody>
                    <a:bodyPr/>
                    <a:lstStyle/>
                    <a:p>
                      <a:pPr algn="ctr"/>
                      <a:r>
                        <a:rPr sz="2600" b="1">
                          <a:solidFill>
                            <a:srgbClr val="111827"/>
                          </a:solidFill>
                          <a:latin typeface="Arial"/>
                        </a:rPr>
                        <a:t>3.19</a:t>
                      </a:r>
                    </a:p>
                  </a:txBody>
                  <a:tcPr anchor="ctr" marL="137160" marR="137160">
                    <a:solidFill>
                      <a:srgbClr val="FFFFFF"/>
                    </a:solidFill>
                  </a:tcPr>
                </a:tc>
              </a:tr>
              <a:tr h="640080">
                <a:tc>
                  <a:txBody>
                    <a:bodyPr/>
                    <a:lstStyle/>
                    <a:p>
                      <a:pPr algn="l"/>
                      <a:r>
                        <a:rPr sz="2600" b="0">
                          <a:solidFill>
                            <a:srgbClr val="111827"/>
                          </a:solidFill>
                          <a:latin typeface="Arial"/>
                        </a:rPr>
                        <a:t>JEE Advanced 2024</a:t>
                      </a:r>
                    </a:p>
                  </a:txBody>
                  <a:tcPr anchor="ctr" marL="137160" marR="137160">
                    <a:solidFill>
                      <a:srgbClr val="FFFFFF"/>
                    </a:solidFill>
                  </a:tcPr>
                </a:tc>
                <a:tc>
                  <a:txBody>
                    <a:bodyPr/>
                    <a:lstStyle/>
                    <a:p>
                      <a:pPr algn="ctr"/>
                      <a:r>
                        <a:rPr sz="2600" b="1">
                          <a:solidFill>
                            <a:srgbClr val="111827"/>
                          </a:solidFill>
                          <a:latin typeface="Arial"/>
                        </a:rPr>
                        <a:t>2.59</a:t>
                      </a:r>
                    </a:p>
                  </a:txBody>
                  <a:tcPr anchor="ctr" marL="137160" marR="137160">
                    <a:solidFill>
                      <a:srgbClr val="FFFFFF"/>
                    </a:solidFill>
                  </a:tcPr>
                </a:tc>
              </a:tr>
              <a:tr h="640080">
                <a:tc>
                  <a:txBody>
                    <a:bodyPr/>
                    <a:lstStyle/>
                    <a:p>
                      <a:pPr algn="l"/>
                      <a:r>
                        <a:rPr sz="2600" b="0">
                          <a:solidFill>
                            <a:srgbClr val="111827"/>
                          </a:solidFill>
                          <a:latin typeface="Arial"/>
                        </a:rPr>
                        <a:t>JEE Advanced 2025</a:t>
                      </a:r>
                    </a:p>
                  </a:txBody>
                  <a:tcPr anchor="ctr" marL="137160" marR="137160">
                    <a:solidFill>
                      <a:srgbClr val="FFFFFF"/>
                    </a:solidFill>
                  </a:tcPr>
                </a:tc>
                <a:tc>
                  <a:txBody>
                    <a:bodyPr/>
                    <a:lstStyle/>
                    <a:p>
                      <a:pPr algn="ctr"/>
                      <a:r>
                        <a:rPr sz="2600" b="1">
                          <a:solidFill>
                            <a:srgbClr val="111827"/>
                          </a:solidFill>
                          <a:latin typeface="Arial"/>
                        </a:rPr>
                        <a:t>3.21</a:t>
                      </a:r>
                    </a:p>
                  </a:txBody>
                  <a:tcPr anchor="ctr" marL="137160" marR="137160">
                    <a:solidFill>
                      <a:srgbClr val="FFFFFF"/>
                    </a:solidFill>
                  </a:tcPr>
                </a:tc>
              </a:tr>
              <a:tr h="640080">
                <a:tc>
                  <a:txBody>
                    <a:bodyPr/>
                    <a:lstStyle/>
                    <a:p>
                      <a:pPr algn="l"/>
                      <a:r>
                        <a:rPr sz="2600" b="0">
                          <a:solidFill>
                            <a:srgbClr val="111827"/>
                          </a:solidFill>
                          <a:latin typeface="Arial"/>
                        </a:rPr>
                        <a:t>JEE Advanced 2026</a:t>
                      </a:r>
                    </a:p>
                  </a:txBody>
                  <a:tcPr anchor="ctr" marL="137160" marR="137160">
                    <a:solidFill>
                      <a:srgbClr val="FFFFFF"/>
                    </a:solidFill>
                  </a:tcPr>
                </a:tc>
                <a:tc>
                  <a:txBody>
                    <a:bodyPr/>
                    <a:lstStyle/>
                    <a:p>
                      <a:pPr algn="ctr"/>
                      <a:r>
                        <a:rPr sz="2600" b="1">
                          <a:solidFill>
                            <a:srgbClr val="111827"/>
                          </a:solidFill>
                          <a:latin typeface="Arial"/>
                        </a:rPr>
                        <a:t>3.02</a:t>
                      </a:r>
                    </a:p>
                  </a:txBody>
                  <a:tcPr anchor="ctr" marL="137160" marR="137160">
                    <a:solidFill>
                      <a:srgbClr val="FFFFFF"/>
                    </a:solidFill>
                  </a:tcPr>
                </a:tc>
              </a:tr>
              <a:tr h="640080">
                <a:tc>
                  <a:txBody>
                    <a:bodyPr/>
                    <a:lstStyle/>
                    <a:p>
                      <a:pPr algn="l"/>
                      <a:r>
                        <a:rPr sz="2600" b="1">
                          <a:solidFill>
                            <a:srgbClr val="0B1F3A"/>
                          </a:solidFill>
                          <a:latin typeface="Arial"/>
                        </a:rPr>
                        <a:t>QB 01 Algebra 10</a:t>
                      </a:r>
                    </a:p>
                  </a:txBody>
                  <a:tcPr anchor="ctr" marL="137160" marR="137160">
                    <a:solidFill>
                      <a:srgbClr val="E0ECFF"/>
                    </a:solidFill>
                  </a:tcPr>
                </a:tc>
                <a:tc>
                  <a:txBody>
                    <a:bodyPr/>
                    <a:lstStyle/>
                    <a:p>
                      <a:pPr algn="ctr"/>
                      <a:r>
                        <a:rPr sz="2600" b="1">
                          <a:solidFill>
                            <a:srgbClr val="0B1F3A"/>
                          </a:solidFill>
                          <a:latin typeface="Arial"/>
                        </a:rPr>
                        <a:t>1.60</a:t>
                      </a:r>
                    </a:p>
                  </a:txBody>
                  <a:tcPr anchor="ctr" marL="137160" marR="137160">
                    <a:solidFill>
                      <a:srgbClr val="E0ECFF"/>
                    </a:solidFill>
                  </a:tcPr>
                </a:tc>
              </a:tr>
            </a:tbl>
          </a:graphicData>
        </a:graphic>
      </p:graphicFrame>
      <p:sp>
        <p:nvSpPr>
          <p:cNvPr id="4" name="TextBox 3"/>
          <p:cNvSpPr txBox="1"/>
          <p:nvPr/>
        </p:nvSpPr>
        <p:spPr>
          <a:xfrm>
            <a:off x="731520" y="6080759"/>
            <a:ext cx="10725912" cy="457200"/>
          </a:xfrm>
          <a:prstGeom prst="rect">
            <a:avLst/>
          </a:prstGeom>
          <a:noFill/>
        </p:spPr>
        <p:txBody>
          <a:bodyPr wrap="none">
            <a:spAutoFit/>
          </a:bodyPr>
          <a:lstStyle>
            <a:lvl1pPr>
              <a:defRPr sz="2000">
                <a:solidFill>
                  <a:srgbClr val="111827"/>
                </a:solidFill>
              </a:defRPr>
            </a:lvl1pPr>
          </a:lstStyle>
          <a:p>
            <a:pPr algn="ctr">
              <a:defRPr sz="2000">
                <a:solidFill>
                  <a:srgbClr val="111827"/>
                </a:solidFill>
              </a:defRPr>
            </a:pPr>
            <a:r>
              <a:rPr sz="2000" b="0">
                <a:solidFill>
                  <a:srgbClr val="111827"/>
                </a:solidFill>
                <a:latin typeface="Arial"/>
              </a:rPr>
              <a:t>Marks-weighted difficulty index on the 0-5 scale</a:t>
            </a:r>
            <a:endParaRPr sz="2000">
              <a:solidFill>
                <a:srgbClr val="111827"/>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