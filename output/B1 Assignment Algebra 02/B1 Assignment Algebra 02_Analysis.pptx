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 id="623" r:id="rId375"/>
    <p:sldId id="624" r:id="rId376"/>
    <p:sldId id="625" r:id="rId377"/>
    <p:sldId id="626" r:id="rId378"/>
    <p:sldId id="627" r:id="rId379"/>
    <p:sldId id="628" r:id="rId380"/>
    <p:sldId id="629" r:id="rId381"/>
    <p:sldId id="630" r:id="rId382"/>
    <p:sldId id="631" r:id="rId383"/>
    <p:sldId id="632" r:id="rId384"/>
    <p:sldId id="633" r:id="rId385"/>
    <p:sldId id="634" r:id="rId386"/>
    <p:sldId id="635" r:id="rId387"/>
    <p:sldId id="636" r:id="rId388"/>
    <p:sldId id="637" r:id="rId389"/>
    <p:sldId id="638" r:id="rId390"/>
    <p:sldId id="639" r:id="rId391"/>
    <p:sldId id="640" r:id="rId392"/>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69" r:id="rId421"/>
    <p:sldId id="670" r:id="rId422"/>
    <p:sldId id="671" r:id="rId423"/>
    <p:sldId id="672" r:id="rId424"/>
    <p:sldId id="673" r:id="rId425"/>
    <p:sldId id="674" r:id="rId426"/>
    <p:sldId id="675" r:id="rId427"/>
    <p:sldId id="676" r:id="rId428"/>
    <p:sldId id="677" r:id="rId429"/>
    <p:sldId id="678" r:id="rId430"/>
    <p:sldId id="679" r:id="rId431"/>
    <p:sldId id="680" r:id="rId432"/>
    <p:sldId id="681" r:id="rId433"/>
    <p:sldId id="682" r:id="rId434"/>
    <p:sldId id="683" r:id="rId435"/>
    <p:sldId id="684" r:id="rId436"/>
    <p:sldId id="685" r:id="rId437"/>
    <p:sldId id="686" r:id="rId438"/>
    <p:sldId id="687" r:id="rId439"/>
    <p:sldId id="688" r:id="rId440"/>
    <p:sldId id="689" r:id="rId441"/>
    <p:sldId id="690" r:id="rId442"/>
    <p:sldId id="691" r:id="rId443"/>
    <p:sldId id="692" r:id="rId444"/>
    <p:sldId id="693" r:id="rId445"/>
    <p:sldId id="694" r:id="rId446"/>
    <p:sldId id="695" r:id="rId447"/>
    <p:sldId id="696" r:id="rId448"/>
    <p:sldId id="697" r:id="rId449"/>
    <p:sldId id="698" r:id="rId450"/>
    <p:sldId id="699" r:id="rId451"/>
    <p:sldId id="700" r:id="rId452"/>
    <p:sldId id="701" r:id="rId453"/>
    <p:sldId id="702" r:id="rId454"/>
    <p:sldId id="703" r:id="rId455"/>
    <p:sldId id="704" r:id="rId456"/>
    <p:sldId id="705" r:id="rId457"/>
    <p:sldId id="706" r:id="rId458"/>
    <p:sldId id="707" r:id="rId459"/>
    <p:sldId id="708" r:id="rId460"/>
    <p:sldId id="709" r:id="rId461"/>
    <p:sldId id="710" r:id="rId462"/>
    <p:sldId id="711" r:id="rId463"/>
    <p:sldId id="712" r:id="rId464"/>
    <p:sldId id="713" r:id="rId465"/>
    <p:sldId id="714" r:id="rId466"/>
    <p:sldId id="715" r:id="rId467"/>
    <p:sldId id="716" r:id="rId468"/>
    <p:sldId id="717" r:id="rId469"/>
    <p:sldId id="718" r:id="rId470"/>
    <p:sldId id="719" r:id="rId471"/>
    <p:sldId id="720" r:id="rId472"/>
    <p:sldId id="721" r:id="rId473"/>
    <p:sldId id="722" r:id="rId474"/>
    <p:sldId id="723" r:id="rId475"/>
    <p:sldId id="724" r:id="rId476"/>
    <p:sldId id="725" r:id="rId477"/>
    <p:sldId id="726" r:id="rId478"/>
    <p:sldId id="727" r:id="rId479"/>
    <p:sldId id="728" r:id="rId480"/>
    <p:sldId id="729" r:id="rId481"/>
    <p:sldId id="730" r:id="rId482"/>
    <p:sldId id="731" r:id="rId483"/>
    <p:sldId id="732" r:id="rId484"/>
    <p:sldId id="733" r:id="rId485"/>
    <p:sldId id="734" r:id="rId486"/>
    <p:sldId id="735" r:id="rId487"/>
    <p:sldId id="736" r:id="rId488"/>
    <p:sldId id="737" r:id="rId489"/>
    <p:sldId id="738" r:id="rId490"/>
    <p:sldId id="739" r:id="rId491"/>
    <p:sldId id="740" r:id="rId492"/>
    <p:sldId id="741" r:id="rId493"/>
    <p:sldId id="742" r:id="rId494"/>
    <p:sldId id="743" r:id="rId495"/>
    <p:sldId id="744" r:id="rId496"/>
    <p:sldId id="745" r:id="rId497"/>
    <p:sldId id="746" r:id="rId498"/>
    <p:sldId id="747" r:id="rId499"/>
    <p:sldId id="748" r:id="rId500"/>
    <p:sldId id="749" r:id="rId501"/>
    <p:sldId id="750" r:id="rId502"/>
    <p:sldId id="751" r:id="rId503"/>
    <p:sldId id="752" r:id="rId504"/>
    <p:sldId id="753" r:id="rId505"/>
    <p:sldId id="754" r:id="rId506"/>
    <p:sldId id="755" r:id="rId507"/>
    <p:sldId id="756" r:id="rId508"/>
    <p:sldId id="757" r:id="rId509"/>
    <p:sldId id="758" r:id="rId510"/>
    <p:sldId id="759" r:id="rId511"/>
    <p:sldId id="760" r:id="rId512"/>
    <p:sldId id="761" r:id="rId513"/>
    <p:sldId id="762" r:id="rId514"/>
    <p:sldId id="763" r:id="rId515"/>
    <p:sldId id="764" r:id="rId516"/>
    <p:sldId id="765" r:id="rId517"/>
    <p:sldId id="766" r:id="rId518"/>
    <p:sldId id="767" r:id="rId519"/>
    <p:sldId id="768" r:id="rId520"/>
    <p:sldId id="769" r:id="rId521"/>
    <p:sldId id="770" r:id="rId522"/>
    <p:sldId id="771" r:id="rId523"/>
    <p:sldId id="772" r:id="rId524"/>
    <p:sldId id="773" r:id="rId525"/>
    <p:sldId id="774" r:id="rId526"/>
    <p:sldId id="775" r:id="rId527"/>
    <p:sldId id="776" r:id="rId528"/>
    <p:sldId id="777" r:id="rId529"/>
    <p:sldId id="778" r:id="rId530"/>
    <p:sldId id="779" r:id="rId531"/>
    <p:sldId id="780" r:id="rId532"/>
    <p:sldId id="781" r:id="rId533"/>
    <p:sldId id="782" r:id="rId534"/>
    <p:sldId id="783" r:id="rId535"/>
    <p:sldId id="784" r:id="rId536"/>
    <p:sldId id="785" r:id="rId537"/>
    <p:sldId id="786" r:id="rId538"/>
    <p:sldId id="787" r:id="rId539"/>
    <p:sldId id="788" r:id="rId540"/>
    <p:sldId id="789" r:id="rId541"/>
    <p:sldId id="790" r:id="rId542"/>
    <p:sldId id="791" r:id="rId543"/>
    <p:sldId id="792" r:id="rId544"/>
    <p:sldId id="793" r:id="rId545"/>
    <p:sldId id="794" r:id="rId546"/>
    <p:sldId id="795" r:id="rId547"/>
    <p:sldId id="796" r:id="rId548"/>
    <p:sldId id="797" r:id="rId549"/>
    <p:sldId id="798" r:id="rId550"/>
    <p:sldId id="799" r:id="rId551"/>
    <p:sldId id="800" r:id="rId552"/>
    <p:sldId id="801" r:id="rId553"/>
    <p:sldId id="802" r:id="rId554"/>
    <p:sldId id="803" r:id="rId555"/>
    <p:sldId id="804" r:id="rId556"/>
    <p:sldId id="805" r:id="rId557"/>
    <p:sldId id="806" r:id="rId558"/>
    <p:sldId id="807" r:id="rId559"/>
    <p:sldId id="808" r:id="rId560"/>
    <p:sldId id="809" r:id="rId561"/>
    <p:sldId id="810" r:id="rId562"/>
    <p:sldId id="811" r:id="rId563"/>
    <p:sldId id="812" r:id="rId564"/>
    <p:sldId id="813" r:id="rId565"/>
    <p:sldId id="814" r:id="rId566"/>
    <p:sldId id="815" r:id="rId567"/>
    <p:sldId id="816" r:id="rId568"/>
    <p:sldId id="817" r:id="rId569"/>
    <p:sldId id="818" r:id="rId570"/>
    <p:sldId id="819" r:id="rId571"/>
    <p:sldId id="820" r:id="rId572"/>
    <p:sldId id="821" r:id="rId573"/>
    <p:sldId id="822" r:id="rId574"/>
    <p:sldId id="823" r:id="rId575"/>
    <p:sldId id="824" r:id="rId576"/>
    <p:sldId id="825" r:id="rId577"/>
    <p:sldId id="826" r:id="rId578"/>
    <p:sldId id="827" r:id="rId579"/>
    <p:sldId id="828" r:id="rId580"/>
    <p:sldId id="829" r:id="rId581"/>
    <p:sldId id="830" r:id="rId582"/>
    <p:sldId id="831" r:id="rId583"/>
    <p:sldId id="832" r:id="rId584"/>
    <p:sldId id="833" r:id="rId585"/>
    <p:sldId id="834" r:id="rId586"/>
    <p:sldId id="835" r:id="rId587"/>
    <p:sldId id="836" r:id="rId588"/>
    <p:sldId id="837" r:id="rId589"/>
    <p:sldId id="838" r:id="rId590"/>
    <p:sldId id="839" r:id="rId591"/>
    <p:sldId id="840" r:id="rId592"/>
    <p:sldId id="841" r:id="rId593"/>
    <p:sldId id="842" r:id="rId594"/>
    <p:sldId id="843" r:id="rId595"/>
    <p:sldId id="844" r:id="rId596"/>
    <p:sldId id="845" r:id="rId597"/>
    <p:sldId id="846" r:id="rId598"/>
    <p:sldId id="847" r:id="rId599"/>
    <p:sldId id="848" r:id="rId600"/>
    <p:sldId id="849" r:id="rId601"/>
    <p:sldId id="850" r:id="rId602"/>
    <p:sldId id="851" r:id="rId603"/>
    <p:sldId id="852" r:id="rId604"/>
    <p:sldId id="853" r:id="rId605"/>
    <p:sldId id="854" r:id="rId606"/>
    <p:sldId id="855" r:id="rId607"/>
    <p:sldId id="856" r:id="rId608"/>
    <p:sldId id="857" r:id="rId609"/>
    <p:sldId id="858" r:id="rId610"/>
    <p:sldId id="859" r:id="rId611"/>
    <p:sldId id="860" r:id="rId612"/>
    <p:sldId id="861" r:id="rId613"/>
    <p:sldId id="862" r:id="rId614"/>
    <p:sldId id="863" r:id="rId615"/>
    <p:sldId id="864" r:id="rId616"/>
    <p:sldId id="865" r:id="rId617"/>
    <p:sldId id="866" r:id="rId618"/>
    <p:sldId id="867" r:id="rId619"/>
    <p:sldId id="868" r:id="rId620"/>
    <p:sldId id="869" r:id="rId621"/>
    <p:sldId id="870" r:id="rId622"/>
    <p:sldId id="871" r:id="rId623"/>
    <p:sldId id="872" r:id="rId624"/>
    <p:sldId id="873" r:id="rId625"/>
    <p:sldId id="874" r:id="rId626"/>
    <p:sldId id="875" r:id="rId627"/>
    <p:sldId id="876" r:id="rId628"/>
    <p:sldId id="877" r:id="rId629"/>
    <p:sldId id="878" r:id="rId630"/>
    <p:sldId id="879" r:id="rId631"/>
    <p:sldId id="880" r:id="rId632"/>
    <p:sldId id="881" r:id="rId633"/>
    <p:sldId id="882" r:id="rId634"/>
    <p:sldId id="883" r:id="rId635"/>
    <p:sldId id="884" r:id="rId636"/>
    <p:sldId id="885" r:id="rId637"/>
    <p:sldId id="886" r:id="rId638"/>
    <p:sldId id="887" r:id="rId639"/>
    <p:sldId id="888" r:id="rId640"/>
    <p:sldId id="889" r:id="rId641"/>
    <p:sldId id="890" r:id="rId642"/>
    <p:sldId id="891" r:id="rId643"/>
    <p:sldId id="892" r:id="rId644"/>
    <p:sldId id="893" r:id="rId645"/>
    <p:sldId id="894" r:id="rId646"/>
    <p:sldId id="895" r:id="rId647"/>
    <p:sldId id="896" r:id="rId648"/>
    <p:sldId id="897" r:id="rId649"/>
    <p:sldId id="898" r:id="rId650"/>
    <p:sldId id="899" r:id="rId651"/>
    <p:sldId id="900" r:id="rId652"/>
    <p:sldId id="901" r:id="rId653"/>
    <p:sldId id="902" r:id="rId654"/>
    <p:sldId id="903" r:id="rId655"/>
    <p:sldId id="904" r:id="rId656"/>
    <p:sldId id="905" r:id="rId657"/>
    <p:sldId id="906" r:id="rId658"/>
    <p:sldId id="907" r:id="rId659"/>
    <p:sldId id="908" r:id="rId660"/>
    <p:sldId id="909" r:id="rId661"/>
    <p:sldId id="910" r:id="rId662"/>
    <p:sldId id="911" r:id="rId663"/>
    <p:sldId id="912" r:id="rId664"/>
    <p:sldId id="913" r:id="rId665"/>
    <p:sldId id="914" r:id="rId666"/>
    <p:sldId id="915" r:id="rId667"/>
    <p:sldId id="916" r:id="rId668"/>
    <p:sldId id="917" r:id="rId669"/>
    <p:sldId id="918" r:id="rId670"/>
    <p:sldId id="919" r:id="rId671"/>
    <p:sldId id="920" r:id="rId672"/>
    <p:sldId id="921" r:id="rId673"/>
    <p:sldId id="922" r:id="rId674"/>
    <p:sldId id="923" r:id="rId675"/>
    <p:sldId id="924" r:id="rId676"/>
    <p:sldId id="925" r:id="rId677"/>
    <p:sldId id="926" r:id="rId678"/>
    <p:sldId id="927" r:id="rId679"/>
    <p:sldId id="928" r:id="rId680"/>
    <p:sldId id="929" r:id="rId681"/>
    <p:sldId id="930" r:id="rId682"/>
    <p:sldId id="931" r:id="rId683"/>
    <p:sldId id="932" r:id="rId684"/>
    <p:sldId id="933" r:id="rId685"/>
    <p:sldId id="934" r:id="rId686"/>
    <p:sldId id="935" r:id="rId687"/>
    <p:sldId id="936" r:id="rId688"/>
    <p:sldId id="937" r:id="rId689"/>
    <p:sldId id="938" r:id="rId690"/>
    <p:sldId id="939" r:id="rId691"/>
    <p:sldId id="940" r:id="rId692"/>
    <p:sldId id="941" r:id="rId693"/>
    <p:sldId id="942" r:id="rId694"/>
    <p:sldId id="943" r:id="rId695"/>
    <p:sldId id="944" r:id="rId696"/>
    <p:sldId id="945" r:id="rId697"/>
    <p:sldId id="946" r:id="rId698"/>
    <p:sldId id="947" r:id="rId699"/>
    <p:sldId id="948" r:id="rId700"/>
    <p:sldId id="949" r:id="rId701"/>
    <p:sldId id="950" r:id="rId702"/>
    <p:sldId id="951" r:id="rId703"/>
    <p:sldId id="952" r:id="rId704"/>
    <p:sldId id="953" r:id="rId705"/>
  </p:sldIdLst>
  <p:sldSz cx="12191695"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 Id="rId312" Type="http://schemas.openxmlformats.org/officeDocument/2006/relationships/slide" Target="slides/slide305.xml"/><Relationship Id="rId313" Type="http://schemas.openxmlformats.org/officeDocument/2006/relationships/slide" Target="slides/slide306.xml"/><Relationship Id="rId314" Type="http://schemas.openxmlformats.org/officeDocument/2006/relationships/slide" Target="slides/slide307.xml"/><Relationship Id="rId315" Type="http://schemas.openxmlformats.org/officeDocument/2006/relationships/slide" Target="slides/slide308.xml"/><Relationship Id="rId316" Type="http://schemas.openxmlformats.org/officeDocument/2006/relationships/slide" Target="slides/slide309.xml"/><Relationship Id="rId317" Type="http://schemas.openxmlformats.org/officeDocument/2006/relationships/slide" Target="slides/slide310.xml"/><Relationship Id="rId318" Type="http://schemas.openxmlformats.org/officeDocument/2006/relationships/slide" Target="slides/slide311.xml"/><Relationship Id="rId319" Type="http://schemas.openxmlformats.org/officeDocument/2006/relationships/slide" Target="slides/slide312.xml"/><Relationship Id="rId320" Type="http://schemas.openxmlformats.org/officeDocument/2006/relationships/slide" Target="slides/slide313.xml"/><Relationship Id="rId321" Type="http://schemas.openxmlformats.org/officeDocument/2006/relationships/slide" Target="slides/slide314.xml"/><Relationship Id="rId322" Type="http://schemas.openxmlformats.org/officeDocument/2006/relationships/slide" Target="slides/slide315.xml"/><Relationship Id="rId323" Type="http://schemas.openxmlformats.org/officeDocument/2006/relationships/slide" Target="slides/slide316.xml"/><Relationship Id="rId324" Type="http://schemas.openxmlformats.org/officeDocument/2006/relationships/slide" Target="slides/slide317.xml"/><Relationship Id="rId325" Type="http://schemas.openxmlformats.org/officeDocument/2006/relationships/slide" Target="slides/slide318.xml"/><Relationship Id="rId326" Type="http://schemas.openxmlformats.org/officeDocument/2006/relationships/slide" Target="slides/slide319.xml"/><Relationship Id="rId327" Type="http://schemas.openxmlformats.org/officeDocument/2006/relationships/slide" Target="slides/slide320.xml"/><Relationship Id="rId328" Type="http://schemas.openxmlformats.org/officeDocument/2006/relationships/slide" Target="slides/slide321.xml"/><Relationship Id="rId329" Type="http://schemas.openxmlformats.org/officeDocument/2006/relationships/slide" Target="slides/slide322.xml"/><Relationship Id="rId330" Type="http://schemas.openxmlformats.org/officeDocument/2006/relationships/slide" Target="slides/slide323.xml"/><Relationship Id="rId331" Type="http://schemas.openxmlformats.org/officeDocument/2006/relationships/slide" Target="slides/slide324.xml"/><Relationship Id="rId332" Type="http://schemas.openxmlformats.org/officeDocument/2006/relationships/slide" Target="slides/slide325.xml"/><Relationship Id="rId333" Type="http://schemas.openxmlformats.org/officeDocument/2006/relationships/slide" Target="slides/slide326.xml"/><Relationship Id="rId334" Type="http://schemas.openxmlformats.org/officeDocument/2006/relationships/slide" Target="slides/slide327.xml"/><Relationship Id="rId335" Type="http://schemas.openxmlformats.org/officeDocument/2006/relationships/slide" Target="slides/slide328.xml"/><Relationship Id="rId336" Type="http://schemas.openxmlformats.org/officeDocument/2006/relationships/slide" Target="slides/slide329.xml"/><Relationship Id="rId337" Type="http://schemas.openxmlformats.org/officeDocument/2006/relationships/slide" Target="slides/slide330.xml"/><Relationship Id="rId338" Type="http://schemas.openxmlformats.org/officeDocument/2006/relationships/slide" Target="slides/slide331.xml"/><Relationship Id="rId339" Type="http://schemas.openxmlformats.org/officeDocument/2006/relationships/slide" Target="slides/slide332.xml"/><Relationship Id="rId340" Type="http://schemas.openxmlformats.org/officeDocument/2006/relationships/slide" Target="slides/slide333.xml"/><Relationship Id="rId341" Type="http://schemas.openxmlformats.org/officeDocument/2006/relationships/slide" Target="slides/slide334.xml"/><Relationship Id="rId342" Type="http://schemas.openxmlformats.org/officeDocument/2006/relationships/slide" Target="slides/slide335.xml"/><Relationship Id="rId343" Type="http://schemas.openxmlformats.org/officeDocument/2006/relationships/slide" Target="slides/slide336.xml"/><Relationship Id="rId344" Type="http://schemas.openxmlformats.org/officeDocument/2006/relationships/slide" Target="slides/slide337.xml"/><Relationship Id="rId345" Type="http://schemas.openxmlformats.org/officeDocument/2006/relationships/slide" Target="slides/slide338.xml"/><Relationship Id="rId346" Type="http://schemas.openxmlformats.org/officeDocument/2006/relationships/slide" Target="slides/slide339.xml"/><Relationship Id="rId347" Type="http://schemas.openxmlformats.org/officeDocument/2006/relationships/slide" Target="slides/slide340.xml"/><Relationship Id="rId348" Type="http://schemas.openxmlformats.org/officeDocument/2006/relationships/slide" Target="slides/slide341.xml"/><Relationship Id="rId349" Type="http://schemas.openxmlformats.org/officeDocument/2006/relationships/slide" Target="slides/slide342.xml"/><Relationship Id="rId350" Type="http://schemas.openxmlformats.org/officeDocument/2006/relationships/slide" Target="slides/slide343.xml"/><Relationship Id="rId351" Type="http://schemas.openxmlformats.org/officeDocument/2006/relationships/slide" Target="slides/slide344.xml"/><Relationship Id="rId352" Type="http://schemas.openxmlformats.org/officeDocument/2006/relationships/slide" Target="slides/slide345.xml"/><Relationship Id="rId353" Type="http://schemas.openxmlformats.org/officeDocument/2006/relationships/slide" Target="slides/slide346.xml"/><Relationship Id="rId354" Type="http://schemas.openxmlformats.org/officeDocument/2006/relationships/slide" Target="slides/slide347.xml"/><Relationship Id="rId355" Type="http://schemas.openxmlformats.org/officeDocument/2006/relationships/slide" Target="slides/slide348.xml"/><Relationship Id="rId356" Type="http://schemas.openxmlformats.org/officeDocument/2006/relationships/slide" Target="slides/slide349.xml"/><Relationship Id="rId357" Type="http://schemas.openxmlformats.org/officeDocument/2006/relationships/slide" Target="slides/slide350.xml"/><Relationship Id="rId358" Type="http://schemas.openxmlformats.org/officeDocument/2006/relationships/slide" Target="slides/slide351.xml"/><Relationship Id="rId359" Type="http://schemas.openxmlformats.org/officeDocument/2006/relationships/slide" Target="slides/slide352.xml"/><Relationship Id="rId360" Type="http://schemas.openxmlformats.org/officeDocument/2006/relationships/slide" Target="slides/slide353.xml"/><Relationship Id="rId361" Type="http://schemas.openxmlformats.org/officeDocument/2006/relationships/slide" Target="slides/slide354.xml"/><Relationship Id="rId362" Type="http://schemas.openxmlformats.org/officeDocument/2006/relationships/slide" Target="slides/slide355.xml"/><Relationship Id="rId363" Type="http://schemas.openxmlformats.org/officeDocument/2006/relationships/slide" Target="slides/slide356.xml"/><Relationship Id="rId364" Type="http://schemas.openxmlformats.org/officeDocument/2006/relationships/slide" Target="slides/slide357.xml"/><Relationship Id="rId365" Type="http://schemas.openxmlformats.org/officeDocument/2006/relationships/slide" Target="slides/slide358.xml"/><Relationship Id="rId366" Type="http://schemas.openxmlformats.org/officeDocument/2006/relationships/slide" Target="slides/slide359.xml"/><Relationship Id="rId367" Type="http://schemas.openxmlformats.org/officeDocument/2006/relationships/slide" Target="slides/slide360.xml"/><Relationship Id="rId368" Type="http://schemas.openxmlformats.org/officeDocument/2006/relationships/slide" Target="slides/slide361.xml"/><Relationship Id="rId369" Type="http://schemas.openxmlformats.org/officeDocument/2006/relationships/slide" Target="slides/slide362.xml"/><Relationship Id="rId370" Type="http://schemas.openxmlformats.org/officeDocument/2006/relationships/slide" Target="slides/slide363.xml"/><Relationship Id="rId371" Type="http://schemas.openxmlformats.org/officeDocument/2006/relationships/slide" Target="slides/slide364.xml"/><Relationship Id="rId372" Type="http://schemas.openxmlformats.org/officeDocument/2006/relationships/slide" Target="slides/slide365.xml"/><Relationship Id="rId373" Type="http://schemas.openxmlformats.org/officeDocument/2006/relationships/slide" Target="slides/slide366.xml"/><Relationship Id="rId374" Type="http://schemas.openxmlformats.org/officeDocument/2006/relationships/slide" Target="slides/slide367.xml"/><Relationship Id="rId375" Type="http://schemas.openxmlformats.org/officeDocument/2006/relationships/slide" Target="slides/slide368.xml"/><Relationship Id="rId376" Type="http://schemas.openxmlformats.org/officeDocument/2006/relationships/slide" Target="slides/slide369.xml"/><Relationship Id="rId377" Type="http://schemas.openxmlformats.org/officeDocument/2006/relationships/slide" Target="slides/slide370.xml"/><Relationship Id="rId378" Type="http://schemas.openxmlformats.org/officeDocument/2006/relationships/slide" Target="slides/slide371.xml"/><Relationship Id="rId379" Type="http://schemas.openxmlformats.org/officeDocument/2006/relationships/slide" Target="slides/slide372.xml"/><Relationship Id="rId380" Type="http://schemas.openxmlformats.org/officeDocument/2006/relationships/slide" Target="slides/slide373.xml"/><Relationship Id="rId381" Type="http://schemas.openxmlformats.org/officeDocument/2006/relationships/slide" Target="slides/slide374.xml"/><Relationship Id="rId382" Type="http://schemas.openxmlformats.org/officeDocument/2006/relationships/slide" Target="slides/slide375.xml"/><Relationship Id="rId383" Type="http://schemas.openxmlformats.org/officeDocument/2006/relationships/slide" Target="slides/slide376.xml"/><Relationship Id="rId384" Type="http://schemas.openxmlformats.org/officeDocument/2006/relationships/slide" Target="slides/slide377.xml"/><Relationship Id="rId385" Type="http://schemas.openxmlformats.org/officeDocument/2006/relationships/slide" Target="slides/slide378.xml"/><Relationship Id="rId386" Type="http://schemas.openxmlformats.org/officeDocument/2006/relationships/slide" Target="slides/slide379.xml"/><Relationship Id="rId387" Type="http://schemas.openxmlformats.org/officeDocument/2006/relationships/slide" Target="slides/slide380.xml"/><Relationship Id="rId388" Type="http://schemas.openxmlformats.org/officeDocument/2006/relationships/slide" Target="slides/slide381.xml"/><Relationship Id="rId389" Type="http://schemas.openxmlformats.org/officeDocument/2006/relationships/slide" Target="slides/slide382.xml"/><Relationship Id="rId390" Type="http://schemas.openxmlformats.org/officeDocument/2006/relationships/slide" Target="slides/slide383.xml"/><Relationship Id="rId391" Type="http://schemas.openxmlformats.org/officeDocument/2006/relationships/slide" Target="slides/slide384.xml"/><Relationship Id="rId392" Type="http://schemas.openxmlformats.org/officeDocument/2006/relationships/slide" Target="slides/slide385.xml"/><Relationship Id="rId393" Type="http://schemas.openxmlformats.org/officeDocument/2006/relationships/slide" Target="slides/slide386.xml"/><Relationship Id="rId394" Type="http://schemas.openxmlformats.org/officeDocument/2006/relationships/slide" Target="slides/slide387.xml"/><Relationship Id="rId395" Type="http://schemas.openxmlformats.org/officeDocument/2006/relationships/slide" Target="slides/slide388.xml"/><Relationship Id="rId396" Type="http://schemas.openxmlformats.org/officeDocument/2006/relationships/slide" Target="slides/slide389.xml"/><Relationship Id="rId397" Type="http://schemas.openxmlformats.org/officeDocument/2006/relationships/slide" Target="slides/slide390.xml"/><Relationship Id="rId398" Type="http://schemas.openxmlformats.org/officeDocument/2006/relationships/slide" Target="slides/slide391.xml"/><Relationship Id="rId399" Type="http://schemas.openxmlformats.org/officeDocument/2006/relationships/slide" Target="slides/slide392.xml"/><Relationship Id="rId400" Type="http://schemas.openxmlformats.org/officeDocument/2006/relationships/slide" Target="slides/slide393.xml"/><Relationship Id="rId401" Type="http://schemas.openxmlformats.org/officeDocument/2006/relationships/slide" Target="slides/slide394.xml"/><Relationship Id="rId402" Type="http://schemas.openxmlformats.org/officeDocument/2006/relationships/slide" Target="slides/slide395.xml"/><Relationship Id="rId403" Type="http://schemas.openxmlformats.org/officeDocument/2006/relationships/slide" Target="slides/slide396.xml"/><Relationship Id="rId404" Type="http://schemas.openxmlformats.org/officeDocument/2006/relationships/slide" Target="slides/slide397.xml"/><Relationship Id="rId405" Type="http://schemas.openxmlformats.org/officeDocument/2006/relationships/slide" Target="slides/slide398.xml"/><Relationship Id="rId406" Type="http://schemas.openxmlformats.org/officeDocument/2006/relationships/slide" Target="slides/slide399.xml"/><Relationship Id="rId407" Type="http://schemas.openxmlformats.org/officeDocument/2006/relationships/slide" Target="slides/slide400.xml"/><Relationship Id="rId408" Type="http://schemas.openxmlformats.org/officeDocument/2006/relationships/slide" Target="slides/slide401.xml"/><Relationship Id="rId409" Type="http://schemas.openxmlformats.org/officeDocument/2006/relationships/slide" Target="slides/slide402.xml"/><Relationship Id="rId410" Type="http://schemas.openxmlformats.org/officeDocument/2006/relationships/slide" Target="slides/slide403.xml"/><Relationship Id="rId411" Type="http://schemas.openxmlformats.org/officeDocument/2006/relationships/slide" Target="slides/slide404.xml"/><Relationship Id="rId412" Type="http://schemas.openxmlformats.org/officeDocument/2006/relationships/slide" Target="slides/slide405.xml"/><Relationship Id="rId413" Type="http://schemas.openxmlformats.org/officeDocument/2006/relationships/slide" Target="slides/slide406.xml"/><Relationship Id="rId414" Type="http://schemas.openxmlformats.org/officeDocument/2006/relationships/slide" Target="slides/slide407.xml"/><Relationship Id="rId415" Type="http://schemas.openxmlformats.org/officeDocument/2006/relationships/slide" Target="slides/slide408.xml"/><Relationship Id="rId416" Type="http://schemas.openxmlformats.org/officeDocument/2006/relationships/slide" Target="slides/slide409.xml"/><Relationship Id="rId417" Type="http://schemas.openxmlformats.org/officeDocument/2006/relationships/slide" Target="slides/slide410.xml"/><Relationship Id="rId418" Type="http://schemas.openxmlformats.org/officeDocument/2006/relationships/slide" Target="slides/slide411.xml"/><Relationship Id="rId419" Type="http://schemas.openxmlformats.org/officeDocument/2006/relationships/slide" Target="slides/slide412.xml"/><Relationship Id="rId420" Type="http://schemas.openxmlformats.org/officeDocument/2006/relationships/slide" Target="slides/slide413.xml"/><Relationship Id="rId421" Type="http://schemas.openxmlformats.org/officeDocument/2006/relationships/slide" Target="slides/slide414.xml"/><Relationship Id="rId422" Type="http://schemas.openxmlformats.org/officeDocument/2006/relationships/slide" Target="slides/slide415.xml"/><Relationship Id="rId423" Type="http://schemas.openxmlformats.org/officeDocument/2006/relationships/slide" Target="slides/slide416.xml"/><Relationship Id="rId424" Type="http://schemas.openxmlformats.org/officeDocument/2006/relationships/slide" Target="slides/slide417.xml"/><Relationship Id="rId425" Type="http://schemas.openxmlformats.org/officeDocument/2006/relationships/slide" Target="slides/slide418.xml"/><Relationship Id="rId426" Type="http://schemas.openxmlformats.org/officeDocument/2006/relationships/slide" Target="slides/slide419.xml"/><Relationship Id="rId427" Type="http://schemas.openxmlformats.org/officeDocument/2006/relationships/slide" Target="slides/slide420.xml"/><Relationship Id="rId428" Type="http://schemas.openxmlformats.org/officeDocument/2006/relationships/slide" Target="slides/slide421.xml"/><Relationship Id="rId429" Type="http://schemas.openxmlformats.org/officeDocument/2006/relationships/slide" Target="slides/slide422.xml"/><Relationship Id="rId430" Type="http://schemas.openxmlformats.org/officeDocument/2006/relationships/slide" Target="slides/slide423.xml"/><Relationship Id="rId431" Type="http://schemas.openxmlformats.org/officeDocument/2006/relationships/slide" Target="slides/slide424.xml"/><Relationship Id="rId432" Type="http://schemas.openxmlformats.org/officeDocument/2006/relationships/slide" Target="slides/slide425.xml"/><Relationship Id="rId433" Type="http://schemas.openxmlformats.org/officeDocument/2006/relationships/slide" Target="slides/slide426.xml"/><Relationship Id="rId434" Type="http://schemas.openxmlformats.org/officeDocument/2006/relationships/slide" Target="slides/slide427.xml"/><Relationship Id="rId435" Type="http://schemas.openxmlformats.org/officeDocument/2006/relationships/slide" Target="slides/slide428.xml"/><Relationship Id="rId436" Type="http://schemas.openxmlformats.org/officeDocument/2006/relationships/slide" Target="slides/slide429.xml"/><Relationship Id="rId437" Type="http://schemas.openxmlformats.org/officeDocument/2006/relationships/slide" Target="slides/slide430.xml"/><Relationship Id="rId438" Type="http://schemas.openxmlformats.org/officeDocument/2006/relationships/slide" Target="slides/slide431.xml"/><Relationship Id="rId439" Type="http://schemas.openxmlformats.org/officeDocument/2006/relationships/slide" Target="slides/slide432.xml"/><Relationship Id="rId440" Type="http://schemas.openxmlformats.org/officeDocument/2006/relationships/slide" Target="slides/slide433.xml"/><Relationship Id="rId441" Type="http://schemas.openxmlformats.org/officeDocument/2006/relationships/slide" Target="slides/slide434.xml"/><Relationship Id="rId442" Type="http://schemas.openxmlformats.org/officeDocument/2006/relationships/slide" Target="slides/slide435.xml"/><Relationship Id="rId443" Type="http://schemas.openxmlformats.org/officeDocument/2006/relationships/slide" Target="slides/slide436.xml"/><Relationship Id="rId444" Type="http://schemas.openxmlformats.org/officeDocument/2006/relationships/slide" Target="slides/slide437.xml"/><Relationship Id="rId445" Type="http://schemas.openxmlformats.org/officeDocument/2006/relationships/slide" Target="slides/slide438.xml"/><Relationship Id="rId446" Type="http://schemas.openxmlformats.org/officeDocument/2006/relationships/slide" Target="slides/slide439.xml"/><Relationship Id="rId447" Type="http://schemas.openxmlformats.org/officeDocument/2006/relationships/slide" Target="slides/slide440.xml"/><Relationship Id="rId448" Type="http://schemas.openxmlformats.org/officeDocument/2006/relationships/slide" Target="slides/slide441.xml"/><Relationship Id="rId449" Type="http://schemas.openxmlformats.org/officeDocument/2006/relationships/slide" Target="slides/slide442.xml"/><Relationship Id="rId450" Type="http://schemas.openxmlformats.org/officeDocument/2006/relationships/slide" Target="slides/slide443.xml"/><Relationship Id="rId451" Type="http://schemas.openxmlformats.org/officeDocument/2006/relationships/slide" Target="slides/slide444.xml"/><Relationship Id="rId452" Type="http://schemas.openxmlformats.org/officeDocument/2006/relationships/slide" Target="slides/slide445.xml"/><Relationship Id="rId453" Type="http://schemas.openxmlformats.org/officeDocument/2006/relationships/slide" Target="slides/slide446.xml"/><Relationship Id="rId454" Type="http://schemas.openxmlformats.org/officeDocument/2006/relationships/slide" Target="slides/slide447.xml"/><Relationship Id="rId455" Type="http://schemas.openxmlformats.org/officeDocument/2006/relationships/slide" Target="slides/slide448.xml"/><Relationship Id="rId456" Type="http://schemas.openxmlformats.org/officeDocument/2006/relationships/slide" Target="slides/slide449.xml"/><Relationship Id="rId457" Type="http://schemas.openxmlformats.org/officeDocument/2006/relationships/slide" Target="slides/slide450.xml"/><Relationship Id="rId458" Type="http://schemas.openxmlformats.org/officeDocument/2006/relationships/slide" Target="slides/slide451.xml"/><Relationship Id="rId459" Type="http://schemas.openxmlformats.org/officeDocument/2006/relationships/slide" Target="slides/slide452.xml"/><Relationship Id="rId460" Type="http://schemas.openxmlformats.org/officeDocument/2006/relationships/slide" Target="slides/slide453.xml"/><Relationship Id="rId461" Type="http://schemas.openxmlformats.org/officeDocument/2006/relationships/slide" Target="slides/slide454.xml"/><Relationship Id="rId462" Type="http://schemas.openxmlformats.org/officeDocument/2006/relationships/slide" Target="slides/slide455.xml"/><Relationship Id="rId463" Type="http://schemas.openxmlformats.org/officeDocument/2006/relationships/slide" Target="slides/slide456.xml"/><Relationship Id="rId464" Type="http://schemas.openxmlformats.org/officeDocument/2006/relationships/slide" Target="slides/slide457.xml"/><Relationship Id="rId465" Type="http://schemas.openxmlformats.org/officeDocument/2006/relationships/slide" Target="slides/slide458.xml"/><Relationship Id="rId466" Type="http://schemas.openxmlformats.org/officeDocument/2006/relationships/slide" Target="slides/slide459.xml"/><Relationship Id="rId467" Type="http://schemas.openxmlformats.org/officeDocument/2006/relationships/slide" Target="slides/slide460.xml"/><Relationship Id="rId468" Type="http://schemas.openxmlformats.org/officeDocument/2006/relationships/slide" Target="slides/slide461.xml"/><Relationship Id="rId469" Type="http://schemas.openxmlformats.org/officeDocument/2006/relationships/slide" Target="slides/slide462.xml"/><Relationship Id="rId470" Type="http://schemas.openxmlformats.org/officeDocument/2006/relationships/slide" Target="slides/slide463.xml"/><Relationship Id="rId471" Type="http://schemas.openxmlformats.org/officeDocument/2006/relationships/slide" Target="slides/slide464.xml"/><Relationship Id="rId472" Type="http://schemas.openxmlformats.org/officeDocument/2006/relationships/slide" Target="slides/slide465.xml"/><Relationship Id="rId473" Type="http://schemas.openxmlformats.org/officeDocument/2006/relationships/slide" Target="slides/slide466.xml"/><Relationship Id="rId474" Type="http://schemas.openxmlformats.org/officeDocument/2006/relationships/slide" Target="slides/slide467.xml"/><Relationship Id="rId475" Type="http://schemas.openxmlformats.org/officeDocument/2006/relationships/slide" Target="slides/slide468.xml"/><Relationship Id="rId476" Type="http://schemas.openxmlformats.org/officeDocument/2006/relationships/slide" Target="slides/slide469.xml"/><Relationship Id="rId477" Type="http://schemas.openxmlformats.org/officeDocument/2006/relationships/slide" Target="slides/slide470.xml"/><Relationship Id="rId478" Type="http://schemas.openxmlformats.org/officeDocument/2006/relationships/slide" Target="slides/slide471.xml"/><Relationship Id="rId479" Type="http://schemas.openxmlformats.org/officeDocument/2006/relationships/slide" Target="slides/slide472.xml"/><Relationship Id="rId480" Type="http://schemas.openxmlformats.org/officeDocument/2006/relationships/slide" Target="slides/slide473.xml"/><Relationship Id="rId481" Type="http://schemas.openxmlformats.org/officeDocument/2006/relationships/slide" Target="slides/slide474.xml"/><Relationship Id="rId482" Type="http://schemas.openxmlformats.org/officeDocument/2006/relationships/slide" Target="slides/slide475.xml"/><Relationship Id="rId483" Type="http://schemas.openxmlformats.org/officeDocument/2006/relationships/slide" Target="slides/slide476.xml"/><Relationship Id="rId484" Type="http://schemas.openxmlformats.org/officeDocument/2006/relationships/slide" Target="slides/slide477.xml"/><Relationship Id="rId485" Type="http://schemas.openxmlformats.org/officeDocument/2006/relationships/slide" Target="slides/slide478.xml"/><Relationship Id="rId486" Type="http://schemas.openxmlformats.org/officeDocument/2006/relationships/slide" Target="slides/slide479.xml"/><Relationship Id="rId487" Type="http://schemas.openxmlformats.org/officeDocument/2006/relationships/slide" Target="slides/slide480.xml"/><Relationship Id="rId488" Type="http://schemas.openxmlformats.org/officeDocument/2006/relationships/slide" Target="slides/slide481.xml"/><Relationship Id="rId489" Type="http://schemas.openxmlformats.org/officeDocument/2006/relationships/slide" Target="slides/slide482.xml"/><Relationship Id="rId490" Type="http://schemas.openxmlformats.org/officeDocument/2006/relationships/slide" Target="slides/slide483.xml"/><Relationship Id="rId491" Type="http://schemas.openxmlformats.org/officeDocument/2006/relationships/slide" Target="slides/slide484.xml"/><Relationship Id="rId492" Type="http://schemas.openxmlformats.org/officeDocument/2006/relationships/slide" Target="slides/slide485.xml"/><Relationship Id="rId493" Type="http://schemas.openxmlformats.org/officeDocument/2006/relationships/slide" Target="slides/slide486.xml"/><Relationship Id="rId494" Type="http://schemas.openxmlformats.org/officeDocument/2006/relationships/slide" Target="slides/slide487.xml"/><Relationship Id="rId495" Type="http://schemas.openxmlformats.org/officeDocument/2006/relationships/slide" Target="slides/slide488.xml"/><Relationship Id="rId496" Type="http://schemas.openxmlformats.org/officeDocument/2006/relationships/slide" Target="slides/slide489.xml"/><Relationship Id="rId497" Type="http://schemas.openxmlformats.org/officeDocument/2006/relationships/slide" Target="slides/slide490.xml"/><Relationship Id="rId498" Type="http://schemas.openxmlformats.org/officeDocument/2006/relationships/slide" Target="slides/slide491.xml"/><Relationship Id="rId499" Type="http://schemas.openxmlformats.org/officeDocument/2006/relationships/slide" Target="slides/slide492.xml"/><Relationship Id="rId500" Type="http://schemas.openxmlformats.org/officeDocument/2006/relationships/slide" Target="slides/slide493.xml"/><Relationship Id="rId501" Type="http://schemas.openxmlformats.org/officeDocument/2006/relationships/slide" Target="slides/slide494.xml"/><Relationship Id="rId502" Type="http://schemas.openxmlformats.org/officeDocument/2006/relationships/slide" Target="slides/slide495.xml"/><Relationship Id="rId503" Type="http://schemas.openxmlformats.org/officeDocument/2006/relationships/slide" Target="slides/slide496.xml"/><Relationship Id="rId504" Type="http://schemas.openxmlformats.org/officeDocument/2006/relationships/slide" Target="slides/slide497.xml"/><Relationship Id="rId505" Type="http://schemas.openxmlformats.org/officeDocument/2006/relationships/slide" Target="slides/slide498.xml"/><Relationship Id="rId506" Type="http://schemas.openxmlformats.org/officeDocument/2006/relationships/slide" Target="slides/slide499.xml"/><Relationship Id="rId507" Type="http://schemas.openxmlformats.org/officeDocument/2006/relationships/slide" Target="slides/slide500.xml"/><Relationship Id="rId508" Type="http://schemas.openxmlformats.org/officeDocument/2006/relationships/slide" Target="slides/slide501.xml"/><Relationship Id="rId509" Type="http://schemas.openxmlformats.org/officeDocument/2006/relationships/slide" Target="slides/slide502.xml"/><Relationship Id="rId510" Type="http://schemas.openxmlformats.org/officeDocument/2006/relationships/slide" Target="slides/slide503.xml"/><Relationship Id="rId511" Type="http://schemas.openxmlformats.org/officeDocument/2006/relationships/slide" Target="slides/slide504.xml"/><Relationship Id="rId512" Type="http://schemas.openxmlformats.org/officeDocument/2006/relationships/slide" Target="slides/slide505.xml"/><Relationship Id="rId513" Type="http://schemas.openxmlformats.org/officeDocument/2006/relationships/slide" Target="slides/slide506.xml"/><Relationship Id="rId514" Type="http://schemas.openxmlformats.org/officeDocument/2006/relationships/slide" Target="slides/slide507.xml"/><Relationship Id="rId515" Type="http://schemas.openxmlformats.org/officeDocument/2006/relationships/slide" Target="slides/slide508.xml"/><Relationship Id="rId516" Type="http://schemas.openxmlformats.org/officeDocument/2006/relationships/slide" Target="slides/slide509.xml"/><Relationship Id="rId517" Type="http://schemas.openxmlformats.org/officeDocument/2006/relationships/slide" Target="slides/slide510.xml"/><Relationship Id="rId518" Type="http://schemas.openxmlformats.org/officeDocument/2006/relationships/slide" Target="slides/slide511.xml"/><Relationship Id="rId519" Type="http://schemas.openxmlformats.org/officeDocument/2006/relationships/slide" Target="slides/slide512.xml"/><Relationship Id="rId520" Type="http://schemas.openxmlformats.org/officeDocument/2006/relationships/slide" Target="slides/slide513.xml"/><Relationship Id="rId521" Type="http://schemas.openxmlformats.org/officeDocument/2006/relationships/slide" Target="slides/slide514.xml"/><Relationship Id="rId522" Type="http://schemas.openxmlformats.org/officeDocument/2006/relationships/slide" Target="slides/slide515.xml"/><Relationship Id="rId523" Type="http://schemas.openxmlformats.org/officeDocument/2006/relationships/slide" Target="slides/slide516.xml"/><Relationship Id="rId524" Type="http://schemas.openxmlformats.org/officeDocument/2006/relationships/slide" Target="slides/slide517.xml"/><Relationship Id="rId525" Type="http://schemas.openxmlformats.org/officeDocument/2006/relationships/slide" Target="slides/slide518.xml"/><Relationship Id="rId526" Type="http://schemas.openxmlformats.org/officeDocument/2006/relationships/slide" Target="slides/slide519.xml"/><Relationship Id="rId527" Type="http://schemas.openxmlformats.org/officeDocument/2006/relationships/slide" Target="slides/slide520.xml"/><Relationship Id="rId528" Type="http://schemas.openxmlformats.org/officeDocument/2006/relationships/slide" Target="slides/slide521.xml"/><Relationship Id="rId529" Type="http://schemas.openxmlformats.org/officeDocument/2006/relationships/slide" Target="slides/slide522.xml"/><Relationship Id="rId530" Type="http://schemas.openxmlformats.org/officeDocument/2006/relationships/slide" Target="slides/slide523.xml"/><Relationship Id="rId531" Type="http://schemas.openxmlformats.org/officeDocument/2006/relationships/slide" Target="slides/slide524.xml"/><Relationship Id="rId532" Type="http://schemas.openxmlformats.org/officeDocument/2006/relationships/slide" Target="slides/slide525.xml"/><Relationship Id="rId533" Type="http://schemas.openxmlformats.org/officeDocument/2006/relationships/slide" Target="slides/slide526.xml"/><Relationship Id="rId534" Type="http://schemas.openxmlformats.org/officeDocument/2006/relationships/slide" Target="slides/slide527.xml"/><Relationship Id="rId535" Type="http://schemas.openxmlformats.org/officeDocument/2006/relationships/slide" Target="slides/slide528.xml"/><Relationship Id="rId536" Type="http://schemas.openxmlformats.org/officeDocument/2006/relationships/slide" Target="slides/slide529.xml"/><Relationship Id="rId537" Type="http://schemas.openxmlformats.org/officeDocument/2006/relationships/slide" Target="slides/slide530.xml"/><Relationship Id="rId538" Type="http://schemas.openxmlformats.org/officeDocument/2006/relationships/slide" Target="slides/slide531.xml"/><Relationship Id="rId539" Type="http://schemas.openxmlformats.org/officeDocument/2006/relationships/slide" Target="slides/slide532.xml"/><Relationship Id="rId540" Type="http://schemas.openxmlformats.org/officeDocument/2006/relationships/slide" Target="slides/slide533.xml"/><Relationship Id="rId541" Type="http://schemas.openxmlformats.org/officeDocument/2006/relationships/slide" Target="slides/slide534.xml"/><Relationship Id="rId542" Type="http://schemas.openxmlformats.org/officeDocument/2006/relationships/slide" Target="slides/slide535.xml"/><Relationship Id="rId543" Type="http://schemas.openxmlformats.org/officeDocument/2006/relationships/slide" Target="slides/slide536.xml"/><Relationship Id="rId544" Type="http://schemas.openxmlformats.org/officeDocument/2006/relationships/slide" Target="slides/slide537.xml"/><Relationship Id="rId545" Type="http://schemas.openxmlformats.org/officeDocument/2006/relationships/slide" Target="slides/slide538.xml"/><Relationship Id="rId546" Type="http://schemas.openxmlformats.org/officeDocument/2006/relationships/slide" Target="slides/slide539.xml"/><Relationship Id="rId547" Type="http://schemas.openxmlformats.org/officeDocument/2006/relationships/slide" Target="slides/slide540.xml"/><Relationship Id="rId548" Type="http://schemas.openxmlformats.org/officeDocument/2006/relationships/slide" Target="slides/slide541.xml"/><Relationship Id="rId549" Type="http://schemas.openxmlformats.org/officeDocument/2006/relationships/slide" Target="slides/slide542.xml"/><Relationship Id="rId550" Type="http://schemas.openxmlformats.org/officeDocument/2006/relationships/slide" Target="slides/slide543.xml"/><Relationship Id="rId551" Type="http://schemas.openxmlformats.org/officeDocument/2006/relationships/slide" Target="slides/slide544.xml"/><Relationship Id="rId552" Type="http://schemas.openxmlformats.org/officeDocument/2006/relationships/slide" Target="slides/slide545.xml"/><Relationship Id="rId553" Type="http://schemas.openxmlformats.org/officeDocument/2006/relationships/slide" Target="slides/slide546.xml"/><Relationship Id="rId554" Type="http://schemas.openxmlformats.org/officeDocument/2006/relationships/slide" Target="slides/slide547.xml"/><Relationship Id="rId555" Type="http://schemas.openxmlformats.org/officeDocument/2006/relationships/slide" Target="slides/slide548.xml"/><Relationship Id="rId556" Type="http://schemas.openxmlformats.org/officeDocument/2006/relationships/slide" Target="slides/slide549.xml"/><Relationship Id="rId557" Type="http://schemas.openxmlformats.org/officeDocument/2006/relationships/slide" Target="slides/slide550.xml"/><Relationship Id="rId558" Type="http://schemas.openxmlformats.org/officeDocument/2006/relationships/slide" Target="slides/slide551.xml"/><Relationship Id="rId559" Type="http://schemas.openxmlformats.org/officeDocument/2006/relationships/slide" Target="slides/slide552.xml"/><Relationship Id="rId560" Type="http://schemas.openxmlformats.org/officeDocument/2006/relationships/slide" Target="slides/slide553.xml"/><Relationship Id="rId561" Type="http://schemas.openxmlformats.org/officeDocument/2006/relationships/slide" Target="slides/slide554.xml"/><Relationship Id="rId562" Type="http://schemas.openxmlformats.org/officeDocument/2006/relationships/slide" Target="slides/slide555.xml"/><Relationship Id="rId563" Type="http://schemas.openxmlformats.org/officeDocument/2006/relationships/slide" Target="slides/slide556.xml"/><Relationship Id="rId564" Type="http://schemas.openxmlformats.org/officeDocument/2006/relationships/slide" Target="slides/slide557.xml"/><Relationship Id="rId565" Type="http://schemas.openxmlformats.org/officeDocument/2006/relationships/slide" Target="slides/slide558.xml"/><Relationship Id="rId566" Type="http://schemas.openxmlformats.org/officeDocument/2006/relationships/slide" Target="slides/slide559.xml"/><Relationship Id="rId567" Type="http://schemas.openxmlformats.org/officeDocument/2006/relationships/slide" Target="slides/slide560.xml"/><Relationship Id="rId568" Type="http://schemas.openxmlformats.org/officeDocument/2006/relationships/slide" Target="slides/slide561.xml"/><Relationship Id="rId569" Type="http://schemas.openxmlformats.org/officeDocument/2006/relationships/slide" Target="slides/slide562.xml"/><Relationship Id="rId570" Type="http://schemas.openxmlformats.org/officeDocument/2006/relationships/slide" Target="slides/slide563.xml"/><Relationship Id="rId571" Type="http://schemas.openxmlformats.org/officeDocument/2006/relationships/slide" Target="slides/slide564.xml"/><Relationship Id="rId572" Type="http://schemas.openxmlformats.org/officeDocument/2006/relationships/slide" Target="slides/slide565.xml"/><Relationship Id="rId573" Type="http://schemas.openxmlformats.org/officeDocument/2006/relationships/slide" Target="slides/slide566.xml"/><Relationship Id="rId574" Type="http://schemas.openxmlformats.org/officeDocument/2006/relationships/slide" Target="slides/slide567.xml"/><Relationship Id="rId575" Type="http://schemas.openxmlformats.org/officeDocument/2006/relationships/slide" Target="slides/slide568.xml"/><Relationship Id="rId576" Type="http://schemas.openxmlformats.org/officeDocument/2006/relationships/slide" Target="slides/slide569.xml"/><Relationship Id="rId577" Type="http://schemas.openxmlformats.org/officeDocument/2006/relationships/slide" Target="slides/slide570.xml"/><Relationship Id="rId578" Type="http://schemas.openxmlformats.org/officeDocument/2006/relationships/slide" Target="slides/slide571.xml"/><Relationship Id="rId579" Type="http://schemas.openxmlformats.org/officeDocument/2006/relationships/slide" Target="slides/slide572.xml"/><Relationship Id="rId580" Type="http://schemas.openxmlformats.org/officeDocument/2006/relationships/slide" Target="slides/slide573.xml"/><Relationship Id="rId581" Type="http://schemas.openxmlformats.org/officeDocument/2006/relationships/slide" Target="slides/slide574.xml"/><Relationship Id="rId582" Type="http://schemas.openxmlformats.org/officeDocument/2006/relationships/slide" Target="slides/slide575.xml"/><Relationship Id="rId583" Type="http://schemas.openxmlformats.org/officeDocument/2006/relationships/slide" Target="slides/slide576.xml"/><Relationship Id="rId584" Type="http://schemas.openxmlformats.org/officeDocument/2006/relationships/slide" Target="slides/slide577.xml"/><Relationship Id="rId585" Type="http://schemas.openxmlformats.org/officeDocument/2006/relationships/slide" Target="slides/slide578.xml"/><Relationship Id="rId586" Type="http://schemas.openxmlformats.org/officeDocument/2006/relationships/slide" Target="slides/slide579.xml"/><Relationship Id="rId587" Type="http://schemas.openxmlformats.org/officeDocument/2006/relationships/slide" Target="slides/slide580.xml"/><Relationship Id="rId588" Type="http://schemas.openxmlformats.org/officeDocument/2006/relationships/slide" Target="slides/slide581.xml"/><Relationship Id="rId589" Type="http://schemas.openxmlformats.org/officeDocument/2006/relationships/slide" Target="slides/slide582.xml"/><Relationship Id="rId590" Type="http://schemas.openxmlformats.org/officeDocument/2006/relationships/slide" Target="slides/slide583.xml"/><Relationship Id="rId591" Type="http://schemas.openxmlformats.org/officeDocument/2006/relationships/slide" Target="slides/slide584.xml"/><Relationship Id="rId592" Type="http://schemas.openxmlformats.org/officeDocument/2006/relationships/slide" Target="slides/slide585.xml"/><Relationship Id="rId593" Type="http://schemas.openxmlformats.org/officeDocument/2006/relationships/slide" Target="slides/slide586.xml"/><Relationship Id="rId594" Type="http://schemas.openxmlformats.org/officeDocument/2006/relationships/slide" Target="slides/slide587.xml"/><Relationship Id="rId595" Type="http://schemas.openxmlformats.org/officeDocument/2006/relationships/slide" Target="slides/slide588.xml"/><Relationship Id="rId596" Type="http://schemas.openxmlformats.org/officeDocument/2006/relationships/slide" Target="slides/slide589.xml"/><Relationship Id="rId597" Type="http://schemas.openxmlformats.org/officeDocument/2006/relationships/slide" Target="slides/slide590.xml"/><Relationship Id="rId598" Type="http://schemas.openxmlformats.org/officeDocument/2006/relationships/slide" Target="slides/slide591.xml"/><Relationship Id="rId599" Type="http://schemas.openxmlformats.org/officeDocument/2006/relationships/slide" Target="slides/slide592.xml"/><Relationship Id="rId600" Type="http://schemas.openxmlformats.org/officeDocument/2006/relationships/slide" Target="slides/slide593.xml"/><Relationship Id="rId601" Type="http://schemas.openxmlformats.org/officeDocument/2006/relationships/slide" Target="slides/slide594.xml"/><Relationship Id="rId602" Type="http://schemas.openxmlformats.org/officeDocument/2006/relationships/slide" Target="slides/slide595.xml"/><Relationship Id="rId603" Type="http://schemas.openxmlformats.org/officeDocument/2006/relationships/slide" Target="slides/slide596.xml"/><Relationship Id="rId604" Type="http://schemas.openxmlformats.org/officeDocument/2006/relationships/slide" Target="slides/slide597.xml"/><Relationship Id="rId605" Type="http://schemas.openxmlformats.org/officeDocument/2006/relationships/slide" Target="slides/slide598.xml"/><Relationship Id="rId606" Type="http://schemas.openxmlformats.org/officeDocument/2006/relationships/slide" Target="slides/slide599.xml"/><Relationship Id="rId607" Type="http://schemas.openxmlformats.org/officeDocument/2006/relationships/slide" Target="slides/slide600.xml"/><Relationship Id="rId608" Type="http://schemas.openxmlformats.org/officeDocument/2006/relationships/slide" Target="slides/slide601.xml"/><Relationship Id="rId609" Type="http://schemas.openxmlformats.org/officeDocument/2006/relationships/slide" Target="slides/slide602.xml"/><Relationship Id="rId610" Type="http://schemas.openxmlformats.org/officeDocument/2006/relationships/slide" Target="slides/slide603.xml"/><Relationship Id="rId611" Type="http://schemas.openxmlformats.org/officeDocument/2006/relationships/slide" Target="slides/slide604.xml"/><Relationship Id="rId612" Type="http://schemas.openxmlformats.org/officeDocument/2006/relationships/slide" Target="slides/slide605.xml"/><Relationship Id="rId613" Type="http://schemas.openxmlformats.org/officeDocument/2006/relationships/slide" Target="slides/slide606.xml"/><Relationship Id="rId614" Type="http://schemas.openxmlformats.org/officeDocument/2006/relationships/slide" Target="slides/slide607.xml"/><Relationship Id="rId615" Type="http://schemas.openxmlformats.org/officeDocument/2006/relationships/slide" Target="slides/slide608.xml"/><Relationship Id="rId616" Type="http://schemas.openxmlformats.org/officeDocument/2006/relationships/slide" Target="slides/slide609.xml"/><Relationship Id="rId617" Type="http://schemas.openxmlformats.org/officeDocument/2006/relationships/slide" Target="slides/slide610.xml"/><Relationship Id="rId618" Type="http://schemas.openxmlformats.org/officeDocument/2006/relationships/slide" Target="slides/slide611.xml"/><Relationship Id="rId619" Type="http://schemas.openxmlformats.org/officeDocument/2006/relationships/slide" Target="slides/slide612.xml"/><Relationship Id="rId620" Type="http://schemas.openxmlformats.org/officeDocument/2006/relationships/slide" Target="slides/slide613.xml"/><Relationship Id="rId621" Type="http://schemas.openxmlformats.org/officeDocument/2006/relationships/slide" Target="slides/slide614.xml"/><Relationship Id="rId622" Type="http://schemas.openxmlformats.org/officeDocument/2006/relationships/slide" Target="slides/slide615.xml"/><Relationship Id="rId623" Type="http://schemas.openxmlformats.org/officeDocument/2006/relationships/slide" Target="slides/slide616.xml"/><Relationship Id="rId624" Type="http://schemas.openxmlformats.org/officeDocument/2006/relationships/slide" Target="slides/slide617.xml"/><Relationship Id="rId625" Type="http://schemas.openxmlformats.org/officeDocument/2006/relationships/slide" Target="slides/slide618.xml"/><Relationship Id="rId626" Type="http://schemas.openxmlformats.org/officeDocument/2006/relationships/slide" Target="slides/slide619.xml"/><Relationship Id="rId627" Type="http://schemas.openxmlformats.org/officeDocument/2006/relationships/slide" Target="slides/slide620.xml"/><Relationship Id="rId628" Type="http://schemas.openxmlformats.org/officeDocument/2006/relationships/slide" Target="slides/slide621.xml"/><Relationship Id="rId629" Type="http://schemas.openxmlformats.org/officeDocument/2006/relationships/slide" Target="slides/slide622.xml"/><Relationship Id="rId630" Type="http://schemas.openxmlformats.org/officeDocument/2006/relationships/slide" Target="slides/slide623.xml"/><Relationship Id="rId631" Type="http://schemas.openxmlformats.org/officeDocument/2006/relationships/slide" Target="slides/slide624.xml"/><Relationship Id="rId632" Type="http://schemas.openxmlformats.org/officeDocument/2006/relationships/slide" Target="slides/slide625.xml"/><Relationship Id="rId633" Type="http://schemas.openxmlformats.org/officeDocument/2006/relationships/slide" Target="slides/slide626.xml"/><Relationship Id="rId634" Type="http://schemas.openxmlformats.org/officeDocument/2006/relationships/slide" Target="slides/slide627.xml"/><Relationship Id="rId635" Type="http://schemas.openxmlformats.org/officeDocument/2006/relationships/slide" Target="slides/slide628.xml"/><Relationship Id="rId636" Type="http://schemas.openxmlformats.org/officeDocument/2006/relationships/slide" Target="slides/slide629.xml"/><Relationship Id="rId637" Type="http://schemas.openxmlformats.org/officeDocument/2006/relationships/slide" Target="slides/slide630.xml"/><Relationship Id="rId638" Type="http://schemas.openxmlformats.org/officeDocument/2006/relationships/slide" Target="slides/slide631.xml"/><Relationship Id="rId639" Type="http://schemas.openxmlformats.org/officeDocument/2006/relationships/slide" Target="slides/slide632.xml"/><Relationship Id="rId640" Type="http://schemas.openxmlformats.org/officeDocument/2006/relationships/slide" Target="slides/slide633.xml"/><Relationship Id="rId641" Type="http://schemas.openxmlformats.org/officeDocument/2006/relationships/slide" Target="slides/slide634.xml"/><Relationship Id="rId642" Type="http://schemas.openxmlformats.org/officeDocument/2006/relationships/slide" Target="slides/slide635.xml"/><Relationship Id="rId643" Type="http://schemas.openxmlformats.org/officeDocument/2006/relationships/slide" Target="slides/slide636.xml"/><Relationship Id="rId644" Type="http://schemas.openxmlformats.org/officeDocument/2006/relationships/slide" Target="slides/slide637.xml"/><Relationship Id="rId645" Type="http://schemas.openxmlformats.org/officeDocument/2006/relationships/slide" Target="slides/slide638.xml"/><Relationship Id="rId646" Type="http://schemas.openxmlformats.org/officeDocument/2006/relationships/slide" Target="slides/slide639.xml"/><Relationship Id="rId647" Type="http://schemas.openxmlformats.org/officeDocument/2006/relationships/slide" Target="slides/slide640.xml"/><Relationship Id="rId648" Type="http://schemas.openxmlformats.org/officeDocument/2006/relationships/slide" Target="slides/slide641.xml"/><Relationship Id="rId649" Type="http://schemas.openxmlformats.org/officeDocument/2006/relationships/slide" Target="slides/slide642.xml"/><Relationship Id="rId650" Type="http://schemas.openxmlformats.org/officeDocument/2006/relationships/slide" Target="slides/slide643.xml"/><Relationship Id="rId651" Type="http://schemas.openxmlformats.org/officeDocument/2006/relationships/slide" Target="slides/slide644.xml"/><Relationship Id="rId652" Type="http://schemas.openxmlformats.org/officeDocument/2006/relationships/slide" Target="slides/slide645.xml"/><Relationship Id="rId653" Type="http://schemas.openxmlformats.org/officeDocument/2006/relationships/slide" Target="slides/slide646.xml"/><Relationship Id="rId654" Type="http://schemas.openxmlformats.org/officeDocument/2006/relationships/slide" Target="slides/slide647.xml"/><Relationship Id="rId655" Type="http://schemas.openxmlformats.org/officeDocument/2006/relationships/slide" Target="slides/slide648.xml"/><Relationship Id="rId656" Type="http://schemas.openxmlformats.org/officeDocument/2006/relationships/slide" Target="slides/slide649.xml"/><Relationship Id="rId657" Type="http://schemas.openxmlformats.org/officeDocument/2006/relationships/slide" Target="slides/slide650.xml"/><Relationship Id="rId658" Type="http://schemas.openxmlformats.org/officeDocument/2006/relationships/slide" Target="slides/slide651.xml"/><Relationship Id="rId659" Type="http://schemas.openxmlformats.org/officeDocument/2006/relationships/slide" Target="slides/slide652.xml"/><Relationship Id="rId660" Type="http://schemas.openxmlformats.org/officeDocument/2006/relationships/slide" Target="slides/slide653.xml"/><Relationship Id="rId661" Type="http://schemas.openxmlformats.org/officeDocument/2006/relationships/slide" Target="slides/slide654.xml"/><Relationship Id="rId662" Type="http://schemas.openxmlformats.org/officeDocument/2006/relationships/slide" Target="slides/slide655.xml"/><Relationship Id="rId663" Type="http://schemas.openxmlformats.org/officeDocument/2006/relationships/slide" Target="slides/slide656.xml"/><Relationship Id="rId664" Type="http://schemas.openxmlformats.org/officeDocument/2006/relationships/slide" Target="slides/slide657.xml"/><Relationship Id="rId665" Type="http://schemas.openxmlformats.org/officeDocument/2006/relationships/slide" Target="slides/slide658.xml"/><Relationship Id="rId666" Type="http://schemas.openxmlformats.org/officeDocument/2006/relationships/slide" Target="slides/slide659.xml"/><Relationship Id="rId667" Type="http://schemas.openxmlformats.org/officeDocument/2006/relationships/slide" Target="slides/slide660.xml"/><Relationship Id="rId668" Type="http://schemas.openxmlformats.org/officeDocument/2006/relationships/slide" Target="slides/slide661.xml"/><Relationship Id="rId669" Type="http://schemas.openxmlformats.org/officeDocument/2006/relationships/slide" Target="slides/slide662.xml"/><Relationship Id="rId670" Type="http://schemas.openxmlformats.org/officeDocument/2006/relationships/slide" Target="slides/slide663.xml"/><Relationship Id="rId671" Type="http://schemas.openxmlformats.org/officeDocument/2006/relationships/slide" Target="slides/slide664.xml"/><Relationship Id="rId672" Type="http://schemas.openxmlformats.org/officeDocument/2006/relationships/slide" Target="slides/slide665.xml"/><Relationship Id="rId673" Type="http://schemas.openxmlformats.org/officeDocument/2006/relationships/slide" Target="slides/slide666.xml"/><Relationship Id="rId674" Type="http://schemas.openxmlformats.org/officeDocument/2006/relationships/slide" Target="slides/slide667.xml"/><Relationship Id="rId675" Type="http://schemas.openxmlformats.org/officeDocument/2006/relationships/slide" Target="slides/slide668.xml"/><Relationship Id="rId676" Type="http://schemas.openxmlformats.org/officeDocument/2006/relationships/slide" Target="slides/slide669.xml"/><Relationship Id="rId677" Type="http://schemas.openxmlformats.org/officeDocument/2006/relationships/slide" Target="slides/slide670.xml"/><Relationship Id="rId678" Type="http://schemas.openxmlformats.org/officeDocument/2006/relationships/slide" Target="slides/slide671.xml"/><Relationship Id="rId679" Type="http://schemas.openxmlformats.org/officeDocument/2006/relationships/slide" Target="slides/slide672.xml"/><Relationship Id="rId680" Type="http://schemas.openxmlformats.org/officeDocument/2006/relationships/slide" Target="slides/slide673.xml"/><Relationship Id="rId681" Type="http://schemas.openxmlformats.org/officeDocument/2006/relationships/slide" Target="slides/slide674.xml"/><Relationship Id="rId682" Type="http://schemas.openxmlformats.org/officeDocument/2006/relationships/slide" Target="slides/slide675.xml"/><Relationship Id="rId683" Type="http://schemas.openxmlformats.org/officeDocument/2006/relationships/slide" Target="slides/slide676.xml"/><Relationship Id="rId684" Type="http://schemas.openxmlformats.org/officeDocument/2006/relationships/slide" Target="slides/slide677.xml"/><Relationship Id="rId685" Type="http://schemas.openxmlformats.org/officeDocument/2006/relationships/slide" Target="slides/slide678.xml"/><Relationship Id="rId686" Type="http://schemas.openxmlformats.org/officeDocument/2006/relationships/slide" Target="slides/slide679.xml"/><Relationship Id="rId687" Type="http://schemas.openxmlformats.org/officeDocument/2006/relationships/slide" Target="slides/slide680.xml"/><Relationship Id="rId688" Type="http://schemas.openxmlformats.org/officeDocument/2006/relationships/slide" Target="slides/slide681.xml"/><Relationship Id="rId689" Type="http://schemas.openxmlformats.org/officeDocument/2006/relationships/slide" Target="slides/slide682.xml"/><Relationship Id="rId690" Type="http://schemas.openxmlformats.org/officeDocument/2006/relationships/slide" Target="slides/slide683.xml"/><Relationship Id="rId691" Type="http://schemas.openxmlformats.org/officeDocument/2006/relationships/slide" Target="slides/slide684.xml"/><Relationship Id="rId692" Type="http://schemas.openxmlformats.org/officeDocument/2006/relationships/slide" Target="slides/slide685.xml"/><Relationship Id="rId693" Type="http://schemas.openxmlformats.org/officeDocument/2006/relationships/slide" Target="slides/slide686.xml"/><Relationship Id="rId694" Type="http://schemas.openxmlformats.org/officeDocument/2006/relationships/slide" Target="slides/slide687.xml"/><Relationship Id="rId695" Type="http://schemas.openxmlformats.org/officeDocument/2006/relationships/slide" Target="slides/slide688.xml"/><Relationship Id="rId696" Type="http://schemas.openxmlformats.org/officeDocument/2006/relationships/slide" Target="slides/slide689.xml"/><Relationship Id="rId697" Type="http://schemas.openxmlformats.org/officeDocument/2006/relationships/slide" Target="slides/slide690.xml"/><Relationship Id="rId698" Type="http://schemas.openxmlformats.org/officeDocument/2006/relationships/slide" Target="slides/slide691.xml"/><Relationship Id="rId699" Type="http://schemas.openxmlformats.org/officeDocument/2006/relationships/slide" Target="slides/slide692.xml"/><Relationship Id="rId700" Type="http://schemas.openxmlformats.org/officeDocument/2006/relationships/slide" Target="slides/slide693.xml"/><Relationship Id="rId701" Type="http://schemas.openxmlformats.org/officeDocument/2006/relationships/slide" Target="slides/slide694.xml"/><Relationship Id="rId702" Type="http://schemas.openxmlformats.org/officeDocument/2006/relationships/slide" Target="slides/slide695.xml"/><Relationship Id="rId703" Type="http://schemas.openxmlformats.org/officeDocument/2006/relationships/slide" Target="slides/slide696.xml"/><Relationship Id="rId704" Type="http://schemas.openxmlformats.org/officeDocument/2006/relationships/slide" Target="slides/slide697.xml"/><Relationship Id="rId705" Type="http://schemas.openxmlformats.org/officeDocument/2006/relationships/slide" Target="slides/slide69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ser>
          <c:idx val="0"/>
          <c:order val="0"/>
          <c:tx>
            <c:strRef>
              <c:f>Sheet1!$B$1</c:f>
              <c:strCache>
                <c:ptCount val="1"/>
                <c:pt idx="0">
                  <c:v>Level</c:v>
                </c:pt>
              </c:strCache>
            </c:strRef>
          </c:tx>
          <c:dPt>
            <c:idx val="0"/>
            <c:spPr>
              <a:solidFill>
                <a:srgbClr val="FFD966"/>
              </a:solidFill>
              <a:ln w="9525">
                <a:solidFill>
                  <a:srgbClr val="111827"/>
                </a:solidFill>
              </a:ln>
            </c:spPr>
          </c:dPt>
          <c:dPt>
            <c:idx val="1"/>
            <c:spPr>
              <a:solidFill>
                <a:srgbClr val="FFD966"/>
              </a:solidFill>
              <a:ln w="9525">
                <a:solidFill>
                  <a:srgbClr val="111827"/>
                </a:solidFill>
              </a:ln>
            </c:spPr>
          </c:dPt>
          <c:dPt>
            <c:idx val="2"/>
            <c:spPr>
              <a:solidFill>
                <a:srgbClr val="FFD966"/>
              </a:solidFill>
              <a:ln w="9525">
                <a:solidFill>
                  <a:srgbClr val="111827"/>
                </a:solidFill>
              </a:ln>
            </c:spPr>
          </c:dPt>
          <c:dPt>
            <c:idx val="3"/>
            <c:spPr>
              <a:solidFill>
                <a:srgbClr val="FFD966"/>
              </a:solidFill>
              <a:ln w="9525">
                <a:solidFill>
                  <a:srgbClr val="111827"/>
                </a:solidFill>
              </a:ln>
            </c:spPr>
          </c:dPt>
          <c:dPt>
            <c:idx val="4"/>
            <c:spPr>
              <a:solidFill>
                <a:srgbClr val="B6D7A8"/>
              </a:solidFill>
              <a:ln w="9525">
                <a:solidFill>
                  <a:srgbClr val="111827"/>
                </a:solidFill>
              </a:ln>
            </c:spPr>
          </c:dPt>
          <c:dPt>
            <c:idx val="5"/>
            <c:spPr>
              <a:solidFill>
                <a:srgbClr val="FFD966"/>
              </a:solidFill>
              <a:ln w="9525">
                <a:solidFill>
                  <a:srgbClr val="111827"/>
                </a:solidFill>
              </a:ln>
            </c:spPr>
          </c:dPt>
          <c:dPt>
            <c:idx val="6"/>
            <c:spPr>
              <a:solidFill>
                <a:srgbClr val="B6D7A8"/>
              </a:solidFill>
              <a:ln w="9525">
                <a:solidFill>
                  <a:srgbClr val="111827"/>
                </a:solidFill>
              </a:ln>
            </c:spPr>
          </c:dPt>
          <c:dPt>
            <c:idx val="7"/>
            <c:spPr>
              <a:solidFill>
                <a:srgbClr val="FFD966"/>
              </a:solidFill>
              <a:ln w="9525">
                <a:solidFill>
                  <a:srgbClr val="111827"/>
                </a:solidFill>
              </a:ln>
            </c:spPr>
          </c:dPt>
          <c:dPt>
            <c:idx val="8"/>
            <c:spPr>
              <a:solidFill>
                <a:srgbClr val="B6D7A8"/>
              </a:solidFill>
              <a:ln w="9525">
                <a:solidFill>
                  <a:srgbClr val="111827"/>
                </a:solidFill>
              </a:ln>
            </c:spPr>
          </c:dPt>
          <c:dPt>
            <c:idx val="9"/>
            <c:spPr>
              <a:solidFill>
                <a:srgbClr val="F6B26B"/>
              </a:solidFill>
              <a:ln w="9525">
                <a:solidFill>
                  <a:srgbClr val="111827"/>
                </a:solidFill>
              </a:ln>
            </c:spPr>
          </c:dPt>
          <c:dPt>
            <c:idx val="10"/>
            <c:spPr>
              <a:solidFill>
                <a:srgbClr val="FFD966"/>
              </a:solidFill>
              <a:ln w="9525">
                <a:solidFill>
                  <a:srgbClr val="111827"/>
                </a:solidFill>
              </a:ln>
            </c:spPr>
          </c:dPt>
          <c:dPt>
            <c:idx val="11"/>
            <c:spPr>
              <a:solidFill>
                <a:srgbClr val="F6B26B"/>
              </a:solidFill>
              <a:ln w="9525">
                <a:solidFill>
                  <a:srgbClr val="111827"/>
                </a:solidFill>
              </a:ln>
            </c:spPr>
          </c:dPt>
          <c:dPt>
            <c:idx val="12"/>
            <c:spPr>
              <a:solidFill>
                <a:srgbClr val="B6D7A8"/>
              </a:solidFill>
              <a:ln w="9525">
                <a:solidFill>
                  <a:srgbClr val="111827"/>
                </a:solidFill>
              </a:ln>
            </c:spPr>
          </c:dPt>
          <c:dPt>
            <c:idx val="13"/>
            <c:spPr>
              <a:solidFill>
                <a:srgbClr val="F6B26B"/>
              </a:solidFill>
              <a:ln w="9525">
                <a:solidFill>
                  <a:srgbClr val="111827"/>
                </a:solidFill>
              </a:ln>
            </c:spPr>
          </c:dPt>
          <c:dPt>
            <c:idx val="14"/>
            <c:spPr>
              <a:solidFill>
                <a:srgbClr val="FFD966"/>
              </a:solidFill>
              <a:ln w="9525">
                <a:solidFill>
                  <a:srgbClr val="111827"/>
                </a:solidFill>
              </a:ln>
            </c:spPr>
          </c:dPt>
          <c:dPt>
            <c:idx val="15"/>
            <c:spPr>
              <a:solidFill>
                <a:srgbClr val="B6D7A8"/>
              </a:solidFill>
              <a:ln w="9525">
                <a:solidFill>
                  <a:srgbClr val="111827"/>
                </a:solidFill>
              </a:ln>
            </c:spPr>
          </c:dPt>
          <c:dPt>
            <c:idx val="16"/>
            <c:spPr>
              <a:solidFill>
                <a:srgbClr val="FFD966"/>
              </a:solidFill>
              <a:ln w="9525">
                <a:solidFill>
                  <a:srgbClr val="111827"/>
                </a:solidFill>
              </a:ln>
            </c:spPr>
          </c:dPt>
          <c:dPt>
            <c:idx val="17"/>
            <c:spPr>
              <a:solidFill>
                <a:srgbClr val="FFD966"/>
              </a:solidFill>
              <a:ln w="9525">
                <a:solidFill>
                  <a:srgbClr val="111827"/>
                </a:solidFill>
              </a:ln>
            </c:spPr>
          </c:dPt>
          <c:dPt>
            <c:idx val="18"/>
            <c:spPr>
              <a:solidFill>
                <a:srgbClr val="FFD966"/>
              </a:solidFill>
              <a:ln w="9525">
                <a:solidFill>
                  <a:srgbClr val="111827"/>
                </a:solidFill>
              </a:ln>
            </c:spPr>
          </c:dPt>
          <c:dPt>
            <c:idx val="19"/>
            <c:spPr>
              <a:solidFill>
                <a:srgbClr val="B6D7A8"/>
              </a:solidFill>
              <a:ln w="9525">
                <a:solidFill>
                  <a:srgbClr val="111827"/>
                </a:solidFill>
              </a:ln>
            </c:spPr>
          </c:dPt>
          <c:dPt>
            <c:idx val="20"/>
            <c:spPr>
              <a:solidFill>
                <a:srgbClr val="B6D7A8"/>
              </a:solidFill>
              <a:ln w="9525">
                <a:solidFill>
                  <a:srgbClr val="111827"/>
                </a:solidFill>
              </a:ln>
            </c:spPr>
          </c:dPt>
          <c:dPt>
            <c:idx val="21"/>
            <c:spPr>
              <a:solidFill>
                <a:srgbClr val="F6B26B"/>
              </a:solidFill>
              <a:ln w="9525">
                <a:solidFill>
                  <a:srgbClr val="111827"/>
                </a:solidFill>
              </a:ln>
            </c:spPr>
          </c:dPt>
          <c:dPt>
            <c:idx val="22"/>
            <c:spPr>
              <a:solidFill>
                <a:srgbClr val="B6D7A8"/>
              </a:solidFill>
              <a:ln w="9525">
                <a:solidFill>
                  <a:srgbClr val="111827"/>
                </a:solidFill>
              </a:ln>
            </c:spPr>
          </c:dPt>
          <c:dPt>
            <c:idx val="23"/>
            <c:spPr>
              <a:solidFill>
                <a:srgbClr val="FFD966"/>
              </a:solidFill>
              <a:ln w="9525">
                <a:solidFill>
                  <a:srgbClr val="111827"/>
                </a:solidFill>
              </a:ln>
            </c:spPr>
          </c:dPt>
          <c:dPt>
            <c:idx val="24"/>
            <c:spPr>
              <a:solidFill>
                <a:srgbClr val="FFD966"/>
              </a:solidFill>
              <a:ln w="9525">
                <a:solidFill>
                  <a:srgbClr val="111827"/>
                </a:solidFill>
              </a:ln>
            </c:spPr>
          </c:dPt>
          <c:dPt>
            <c:idx val="25"/>
            <c:spPr>
              <a:solidFill>
                <a:srgbClr val="B6D7A8"/>
              </a:solidFill>
              <a:ln w="9525">
                <a:solidFill>
                  <a:srgbClr val="111827"/>
                </a:solidFill>
              </a:ln>
            </c:spPr>
          </c:dPt>
          <c:dPt>
            <c:idx val="26"/>
            <c:spPr>
              <a:solidFill>
                <a:srgbClr val="F6B26B"/>
              </a:solidFill>
              <a:ln w="9525">
                <a:solidFill>
                  <a:srgbClr val="111827"/>
                </a:solidFill>
              </a:ln>
            </c:spPr>
          </c:dPt>
          <c:dPt>
            <c:idx val="27"/>
            <c:spPr>
              <a:solidFill>
                <a:srgbClr val="FFD966"/>
              </a:solidFill>
              <a:ln w="9525">
                <a:solidFill>
                  <a:srgbClr val="111827"/>
                </a:solidFill>
              </a:ln>
            </c:spPr>
          </c:dPt>
          <c:dPt>
            <c:idx val="28"/>
            <c:spPr>
              <a:solidFill>
                <a:srgbClr val="FFD966"/>
              </a:solidFill>
              <a:ln w="9525">
                <a:solidFill>
                  <a:srgbClr val="111827"/>
                </a:solidFill>
              </a:ln>
            </c:spPr>
          </c:dPt>
          <c:dPt>
            <c:idx val="29"/>
            <c:spPr>
              <a:solidFill>
                <a:srgbClr val="F6B26B"/>
              </a:solidFill>
              <a:ln w="9525">
                <a:solidFill>
                  <a:srgbClr val="111827"/>
                </a:solidFill>
              </a:ln>
            </c:spPr>
          </c:dPt>
          <c:dPt>
            <c:idx val="30"/>
            <c:spPr>
              <a:solidFill>
                <a:srgbClr val="FFD966"/>
              </a:solidFill>
              <a:ln w="9525">
                <a:solidFill>
                  <a:srgbClr val="111827"/>
                </a:solidFill>
              </a:ln>
            </c:spPr>
          </c:dPt>
          <c:dPt>
            <c:idx val="31"/>
            <c:spPr>
              <a:solidFill>
                <a:srgbClr val="FFD966"/>
              </a:solidFill>
              <a:ln w="9525">
                <a:solidFill>
                  <a:srgbClr val="111827"/>
                </a:solidFill>
              </a:ln>
            </c:spPr>
          </c:dPt>
          <c:dPt>
            <c:idx val="32"/>
            <c:spPr>
              <a:solidFill>
                <a:srgbClr val="F6B26B"/>
              </a:solidFill>
              <a:ln w="9525">
                <a:solidFill>
                  <a:srgbClr val="111827"/>
                </a:solidFill>
              </a:ln>
            </c:spPr>
          </c:dPt>
          <c:dPt>
            <c:idx val="33"/>
            <c:spPr>
              <a:solidFill>
                <a:srgbClr val="F6B26B"/>
              </a:solidFill>
              <a:ln w="9525">
                <a:solidFill>
                  <a:srgbClr val="111827"/>
                </a:solidFill>
              </a:ln>
            </c:spPr>
          </c:dPt>
          <c:dPt>
            <c:idx val="34"/>
            <c:spPr>
              <a:solidFill>
                <a:srgbClr val="FFD966"/>
              </a:solidFill>
              <a:ln w="9525">
                <a:solidFill>
                  <a:srgbClr val="111827"/>
                </a:solidFill>
              </a:ln>
            </c:spPr>
          </c:dPt>
          <c:dPt>
            <c:idx val="35"/>
            <c:spPr>
              <a:solidFill>
                <a:srgbClr val="FFD966"/>
              </a:solidFill>
              <a:ln w="9525">
                <a:solidFill>
                  <a:srgbClr val="111827"/>
                </a:solidFill>
              </a:ln>
            </c:spPr>
          </c:dPt>
          <c:dPt>
            <c:idx val="36"/>
            <c:spPr>
              <a:solidFill>
                <a:srgbClr val="FFD966"/>
              </a:solidFill>
              <a:ln w="9525">
                <a:solidFill>
                  <a:srgbClr val="111827"/>
                </a:solidFill>
              </a:ln>
            </c:spPr>
          </c:dPt>
          <c:dPt>
            <c:idx val="37"/>
            <c:spPr>
              <a:solidFill>
                <a:srgbClr val="F6B26B"/>
              </a:solidFill>
              <a:ln w="9525">
                <a:solidFill>
                  <a:srgbClr val="111827"/>
                </a:solidFill>
              </a:ln>
            </c:spPr>
          </c:dPt>
          <c:dPt>
            <c:idx val="38"/>
            <c:spPr>
              <a:solidFill>
                <a:srgbClr val="F6B26B"/>
              </a:solidFill>
              <a:ln w="9525">
                <a:solidFill>
                  <a:srgbClr val="111827"/>
                </a:solidFill>
              </a:ln>
            </c:spPr>
          </c:dPt>
          <c:dPt>
            <c:idx val="39"/>
            <c:spPr>
              <a:solidFill>
                <a:srgbClr val="FFD966"/>
              </a:solidFill>
              <a:ln w="9525">
                <a:solidFill>
                  <a:srgbClr val="111827"/>
                </a:solidFill>
              </a:ln>
            </c:spPr>
          </c:dPt>
          <c:dPt>
            <c:idx val="40"/>
            <c:spPr>
              <a:solidFill>
                <a:srgbClr val="FFD966"/>
              </a:solidFill>
              <a:ln w="9525">
                <a:solidFill>
                  <a:srgbClr val="111827"/>
                </a:solidFill>
              </a:ln>
            </c:spPr>
          </c:dPt>
          <c:dPt>
            <c:idx val="41"/>
            <c:spPr>
              <a:solidFill>
                <a:srgbClr val="F6B26B"/>
              </a:solidFill>
              <a:ln w="9525">
                <a:solidFill>
                  <a:srgbClr val="111827"/>
                </a:solidFill>
              </a:ln>
            </c:spPr>
          </c:dPt>
          <c:dPt>
            <c:idx val="42"/>
            <c:spPr>
              <a:solidFill>
                <a:srgbClr val="FFD966"/>
              </a:solidFill>
              <a:ln w="9525">
                <a:solidFill>
                  <a:srgbClr val="111827"/>
                </a:solidFill>
              </a:ln>
            </c:spPr>
          </c:dPt>
          <c:dPt>
            <c:idx val="43"/>
            <c:spPr>
              <a:solidFill>
                <a:srgbClr val="F6B26B"/>
              </a:solidFill>
              <a:ln w="9525">
                <a:solidFill>
                  <a:srgbClr val="111827"/>
                </a:solidFill>
              </a:ln>
            </c:spPr>
          </c:dPt>
          <c:dPt>
            <c:idx val="44"/>
            <c:spPr>
              <a:solidFill>
                <a:srgbClr val="FFD966"/>
              </a:solidFill>
              <a:ln w="9525">
                <a:solidFill>
                  <a:srgbClr val="111827"/>
                </a:solidFill>
              </a:ln>
            </c:spPr>
          </c:dPt>
          <c:dPt>
            <c:idx val="45"/>
            <c:spPr>
              <a:solidFill>
                <a:srgbClr val="FFD966"/>
              </a:solidFill>
              <a:ln w="9525">
                <a:solidFill>
                  <a:srgbClr val="111827"/>
                </a:solidFill>
              </a:ln>
            </c:spPr>
          </c:dPt>
          <c:dPt>
            <c:idx val="46"/>
            <c:spPr>
              <a:solidFill>
                <a:srgbClr val="FFD966"/>
              </a:solidFill>
              <a:ln w="9525">
                <a:solidFill>
                  <a:srgbClr val="111827"/>
                </a:solidFill>
              </a:ln>
            </c:spPr>
          </c:dPt>
          <c:dPt>
            <c:idx val="47"/>
            <c:spPr>
              <a:solidFill>
                <a:srgbClr val="F6B26B"/>
              </a:solidFill>
              <a:ln w="9525">
                <a:solidFill>
                  <a:srgbClr val="111827"/>
                </a:solidFill>
              </a:ln>
            </c:spPr>
          </c:dPt>
          <c:dPt>
            <c:idx val="48"/>
            <c:spPr>
              <a:solidFill>
                <a:srgbClr val="F6B26B"/>
              </a:solidFill>
              <a:ln w="9525">
                <a:solidFill>
                  <a:srgbClr val="111827"/>
                </a:solidFill>
              </a:ln>
            </c:spPr>
          </c:dPt>
          <c:dPt>
            <c:idx val="49"/>
            <c:spPr>
              <a:solidFill>
                <a:srgbClr val="FFD966"/>
              </a:solidFill>
              <a:ln w="9525">
                <a:solidFill>
                  <a:srgbClr val="111827"/>
                </a:solidFill>
              </a:ln>
            </c:spPr>
          </c:dPt>
          <c:dPt>
            <c:idx val="50"/>
            <c:spPr>
              <a:solidFill>
                <a:srgbClr val="F6B26B"/>
              </a:solidFill>
              <a:ln w="9525">
                <a:solidFill>
                  <a:srgbClr val="111827"/>
                </a:solidFill>
              </a:ln>
            </c:spPr>
          </c:dPt>
          <c:dPt>
            <c:idx val="51"/>
            <c:spPr>
              <a:solidFill>
                <a:srgbClr val="E88080"/>
              </a:solidFill>
              <a:ln w="9525">
                <a:solidFill>
                  <a:srgbClr val="111827"/>
                </a:solidFill>
              </a:ln>
            </c:spPr>
          </c:dPt>
          <c:dPt>
            <c:idx val="52"/>
            <c:spPr>
              <a:solidFill>
                <a:srgbClr val="E88080"/>
              </a:solidFill>
              <a:ln w="9525">
                <a:solidFill>
                  <a:srgbClr val="111827"/>
                </a:solidFill>
              </a:ln>
            </c:spPr>
          </c:dPt>
          <c:dPt>
            <c:idx val="53"/>
            <c:spPr>
              <a:solidFill>
                <a:srgbClr val="E88080"/>
              </a:solidFill>
              <a:ln w="9525">
                <a:solidFill>
                  <a:srgbClr val="111827"/>
                </a:solidFill>
              </a:ln>
            </c:spPr>
          </c:dPt>
          <c:dPt>
            <c:idx val="54"/>
            <c:spPr>
              <a:solidFill>
                <a:srgbClr val="FFD966"/>
              </a:solidFill>
              <a:ln w="9525">
                <a:solidFill>
                  <a:srgbClr val="111827"/>
                </a:solidFill>
              </a:ln>
            </c:spPr>
          </c:dPt>
          <c:dPt>
            <c:idx val="55"/>
            <c:spPr>
              <a:solidFill>
                <a:srgbClr val="F6B26B"/>
              </a:solidFill>
              <a:ln w="9525">
                <a:solidFill>
                  <a:srgbClr val="111827"/>
                </a:solidFill>
              </a:ln>
            </c:spPr>
          </c:dPt>
          <c:dPt>
            <c:idx val="56"/>
            <c:spPr>
              <a:solidFill>
                <a:srgbClr val="F6B26B"/>
              </a:solidFill>
              <a:ln w="9525">
                <a:solidFill>
                  <a:srgbClr val="111827"/>
                </a:solidFill>
              </a:ln>
            </c:spPr>
          </c:dPt>
          <c:dPt>
            <c:idx val="57"/>
            <c:spPr>
              <a:solidFill>
                <a:srgbClr val="F6B26B"/>
              </a:solidFill>
              <a:ln w="9525">
                <a:solidFill>
                  <a:srgbClr val="111827"/>
                </a:solidFill>
              </a:ln>
            </c:spPr>
          </c:dPt>
          <c:dPt>
            <c:idx val="58"/>
            <c:spPr>
              <a:solidFill>
                <a:srgbClr val="FFD966"/>
              </a:solidFill>
              <a:ln w="9525">
                <a:solidFill>
                  <a:srgbClr val="111827"/>
                </a:solidFill>
              </a:ln>
            </c:spPr>
          </c:dPt>
          <c:dPt>
            <c:idx val="59"/>
            <c:spPr>
              <a:solidFill>
                <a:srgbClr val="F6B26B"/>
              </a:solidFill>
              <a:ln w="9525">
                <a:solidFill>
                  <a:srgbClr val="111827"/>
                </a:solidFill>
              </a:ln>
            </c:spPr>
          </c:dPt>
          <c:dPt>
            <c:idx val="60"/>
            <c:spPr>
              <a:solidFill>
                <a:srgbClr val="FFD966"/>
              </a:solidFill>
              <a:ln w="9525">
                <a:solidFill>
                  <a:srgbClr val="111827"/>
                </a:solidFill>
              </a:ln>
            </c:spPr>
          </c:dPt>
          <c:dPt>
            <c:idx val="61"/>
            <c:spPr>
              <a:solidFill>
                <a:srgbClr val="B6D7A8"/>
              </a:solidFill>
              <a:ln w="9525">
                <a:solidFill>
                  <a:srgbClr val="111827"/>
                </a:solidFill>
              </a:ln>
            </c:spPr>
          </c:dPt>
          <c:dPt>
            <c:idx val="62"/>
            <c:spPr>
              <a:solidFill>
                <a:srgbClr val="F6B26B"/>
              </a:solidFill>
              <a:ln w="9525">
                <a:solidFill>
                  <a:srgbClr val="111827"/>
                </a:solidFill>
              </a:ln>
            </c:spPr>
          </c:dPt>
          <c:dPt>
            <c:idx val="63"/>
            <c:spPr>
              <a:solidFill>
                <a:srgbClr val="FFD966"/>
              </a:solidFill>
              <a:ln w="9525">
                <a:solidFill>
                  <a:srgbClr val="111827"/>
                </a:solidFill>
              </a:ln>
            </c:spPr>
          </c:dPt>
          <c:dPt>
            <c:idx val="64"/>
            <c:spPr>
              <a:solidFill>
                <a:srgbClr val="F6B26B"/>
              </a:solidFill>
              <a:ln w="9525">
                <a:solidFill>
                  <a:srgbClr val="111827"/>
                </a:solidFill>
              </a:ln>
            </c:spPr>
          </c:dPt>
          <c:dPt>
            <c:idx val="65"/>
            <c:spPr>
              <a:solidFill>
                <a:srgbClr val="FFD966"/>
              </a:solidFill>
              <a:ln w="9525">
                <a:solidFill>
                  <a:srgbClr val="111827"/>
                </a:solidFill>
              </a:ln>
            </c:spPr>
          </c:dPt>
          <c:dPt>
            <c:idx val="66"/>
            <c:spPr>
              <a:solidFill>
                <a:srgbClr val="F6B26B"/>
              </a:solidFill>
              <a:ln w="9525">
                <a:solidFill>
                  <a:srgbClr val="111827"/>
                </a:solidFill>
              </a:ln>
            </c:spPr>
          </c:dPt>
          <c:dPt>
            <c:idx val="67"/>
            <c:spPr>
              <a:solidFill>
                <a:srgbClr val="FFD966"/>
              </a:solidFill>
              <a:ln w="9525">
                <a:solidFill>
                  <a:srgbClr val="111827"/>
                </a:solidFill>
              </a:ln>
            </c:spPr>
          </c:dPt>
          <c:dPt>
            <c:idx val="68"/>
            <c:spPr>
              <a:solidFill>
                <a:srgbClr val="B6D7A8"/>
              </a:solidFill>
              <a:ln w="9525">
                <a:solidFill>
                  <a:srgbClr val="111827"/>
                </a:solidFill>
              </a:ln>
            </c:spPr>
          </c:dPt>
          <c:dPt>
            <c:idx val="69"/>
            <c:spPr>
              <a:solidFill>
                <a:srgbClr val="F6B26B"/>
              </a:solidFill>
              <a:ln w="9525">
                <a:solidFill>
                  <a:srgbClr val="111827"/>
                </a:solidFill>
              </a:ln>
            </c:spPr>
          </c:dPt>
          <c:dPt>
            <c:idx val="70"/>
            <c:spPr>
              <a:solidFill>
                <a:srgbClr val="F6B26B"/>
              </a:solidFill>
              <a:ln w="9525">
                <a:solidFill>
                  <a:srgbClr val="111827"/>
                </a:solidFill>
              </a:ln>
            </c:spPr>
          </c:dPt>
          <c:dPt>
            <c:idx val="71"/>
            <c:spPr>
              <a:solidFill>
                <a:srgbClr val="F6B26B"/>
              </a:solidFill>
              <a:ln w="9525">
                <a:solidFill>
                  <a:srgbClr val="111827"/>
                </a:solidFill>
              </a:ln>
            </c:spPr>
          </c:dPt>
          <c:dPt>
            <c:idx val="72"/>
            <c:spPr>
              <a:solidFill>
                <a:srgbClr val="FFD966"/>
              </a:solidFill>
              <a:ln w="9525">
                <a:solidFill>
                  <a:srgbClr val="111827"/>
                </a:solidFill>
              </a:ln>
            </c:spPr>
          </c:dPt>
          <c:dPt>
            <c:idx val="73"/>
            <c:spPr>
              <a:solidFill>
                <a:srgbClr val="F6B26B"/>
              </a:solidFill>
              <a:ln w="9525">
                <a:solidFill>
                  <a:srgbClr val="111827"/>
                </a:solidFill>
              </a:ln>
            </c:spPr>
          </c:dPt>
          <c:dPt>
            <c:idx val="74"/>
            <c:spPr>
              <a:solidFill>
                <a:srgbClr val="FFD966"/>
              </a:solidFill>
              <a:ln w="9525">
                <a:solidFill>
                  <a:srgbClr val="111827"/>
                </a:solidFill>
              </a:ln>
            </c:spPr>
          </c:dPt>
          <c:dPt>
            <c:idx val="75"/>
            <c:spPr>
              <a:solidFill>
                <a:srgbClr val="FFD966"/>
              </a:solidFill>
              <a:ln w="9525">
                <a:solidFill>
                  <a:srgbClr val="111827"/>
                </a:solidFill>
              </a:ln>
            </c:spPr>
          </c:dPt>
          <c:dPt>
            <c:idx val="76"/>
            <c:spPr>
              <a:solidFill>
                <a:srgbClr val="FFD966"/>
              </a:solidFill>
              <a:ln w="9525">
                <a:solidFill>
                  <a:srgbClr val="111827"/>
                </a:solidFill>
              </a:ln>
            </c:spPr>
          </c:dPt>
          <c:dPt>
            <c:idx val="77"/>
            <c:spPr>
              <a:solidFill>
                <a:srgbClr val="F6B26B"/>
              </a:solidFill>
              <a:ln w="9525">
                <a:solidFill>
                  <a:srgbClr val="111827"/>
                </a:solidFill>
              </a:ln>
            </c:spPr>
          </c:dPt>
          <c:dPt>
            <c:idx val="78"/>
            <c:spPr>
              <a:solidFill>
                <a:srgbClr val="B6D7A8"/>
              </a:solidFill>
              <a:ln w="9525">
                <a:solidFill>
                  <a:srgbClr val="111827"/>
                </a:solidFill>
              </a:ln>
            </c:spPr>
          </c:dPt>
          <c:dPt>
            <c:idx val="79"/>
            <c:spPr>
              <a:solidFill>
                <a:srgbClr val="F6B26B"/>
              </a:solidFill>
              <a:ln w="9525">
                <a:solidFill>
                  <a:srgbClr val="111827"/>
                </a:solidFill>
              </a:ln>
            </c:spPr>
          </c:dPt>
          <c:dPt>
            <c:idx val="80"/>
            <c:spPr>
              <a:solidFill>
                <a:srgbClr val="FFD966"/>
              </a:solidFill>
              <a:ln w="9525">
                <a:solidFill>
                  <a:srgbClr val="111827"/>
                </a:solidFill>
              </a:ln>
            </c:spPr>
          </c:dPt>
          <c:dPt>
            <c:idx val="81"/>
            <c:spPr>
              <a:solidFill>
                <a:srgbClr val="B6D7A8"/>
              </a:solidFill>
              <a:ln w="9525">
                <a:solidFill>
                  <a:srgbClr val="111827"/>
                </a:solidFill>
              </a:ln>
            </c:spPr>
          </c:dPt>
          <c:dPt>
            <c:idx val="82"/>
            <c:spPr>
              <a:solidFill>
                <a:srgbClr val="FFD966"/>
              </a:solidFill>
              <a:ln w="9525">
                <a:solidFill>
                  <a:srgbClr val="111827"/>
                </a:solidFill>
              </a:ln>
            </c:spPr>
          </c:dPt>
          <c:dPt>
            <c:idx val="83"/>
            <c:spPr>
              <a:solidFill>
                <a:srgbClr val="F6B26B"/>
              </a:solidFill>
              <a:ln w="9525">
                <a:solidFill>
                  <a:srgbClr val="111827"/>
                </a:solidFill>
              </a:ln>
            </c:spPr>
          </c:dPt>
          <c:dPt>
            <c:idx val="84"/>
            <c:spPr>
              <a:solidFill>
                <a:srgbClr val="FFD966"/>
              </a:solidFill>
              <a:ln w="9525">
                <a:solidFill>
                  <a:srgbClr val="111827"/>
                </a:solidFill>
              </a:ln>
            </c:spPr>
          </c:dPt>
          <c:dPt>
            <c:idx val="85"/>
            <c:spPr>
              <a:solidFill>
                <a:srgbClr val="FFD966"/>
              </a:solidFill>
              <a:ln w="9525">
                <a:solidFill>
                  <a:srgbClr val="111827"/>
                </a:solidFill>
              </a:ln>
            </c:spPr>
          </c:dPt>
          <c:dPt>
            <c:idx val="86"/>
            <c:spPr>
              <a:solidFill>
                <a:srgbClr val="E88080"/>
              </a:solidFill>
              <a:ln w="9525">
                <a:solidFill>
                  <a:srgbClr val="111827"/>
                </a:solidFill>
              </a:ln>
            </c:spPr>
          </c:dPt>
          <c:dPt>
            <c:idx val="87"/>
            <c:spPr>
              <a:solidFill>
                <a:srgbClr val="F6B26B"/>
              </a:solidFill>
              <a:ln w="9525">
                <a:solidFill>
                  <a:srgbClr val="111827"/>
                </a:solidFill>
              </a:ln>
            </c:spPr>
          </c:dPt>
          <c:dPt>
            <c:idx val="88"/>
            <c:spPr>
              <a:solidFill>
                <a:srgbClr val="FFD966"/>
              </a:solidFill>
              <a:ln w="9525">
                <a:solidFill>
                  <a:srgbClr val="111827"/>
                </a:solidFill>
              </a:ln>
            </c:spPr>
          </c:dPt>
          <c:dPt>
            <c:idx val="89"/>
            <c:spPr>
              <a:solidFill>
                <a:srgbClr val="FFD966"/>
              </a:solidFill>
              <a:ln w="9525">
                <a:solidFill>
                  <a:srgbClr val="111827"/>
                </a:solidFill>
              </a:ln>
            </c:spPr>
          </c:dPt>
          <c:dPt>
            <c:idx val="90"/>
            <c:spPr>
              <a:solidFill>
                <a:srgbClr val="FFD966"/>
              </a:solidFill>
              <a:ln w="9525">
                <a:solidFill>
                  <a:srgbClr val="111827"/>
                </a:solidFill>
              </a:ln>
            </c:spPr>
          </c:dPt>
          <c:dPt>
            <c:idx val="91"/>
            <c:spPr>
              <a:solidFill>
                <a:srgbClr val="F6B26B"/>
              </a:solidFill>
              <a:ln w="9525">
                <a:solidFill>
                  <a:srgbClr val="111827"/>
                </a:solidFill>
              </a:ln>
            </c:spPr>
          </c:dPt>
          <c:dPt>
            <c:idx val="92"/>
            <c:spPr>
              <a:solidFill>
                <a:srgbClr val="B6D7A8"/>
              </a:solidFill>
              <a:ln w="9525">
                <a:solidFill>
                  <a:srgbClr val="111827"/>
                </a:solidFill>
              </a:ln>
            </c:spPr>
          </c:dPt>
          <c:dPt>
            <c:idx val="93"/>
            <c:spPr>
              <a:solidFill>
                <a:srgbClr val="FFD966"/>
              </a:solidFill>
              <a:ln w="9525">
                <a:solidFill>
                  <a:srgbClr val="111827"/>
                </a:solidFill>
              </a:ln>
            </c:spPr>
          </c:dPt>
          <c:dPt>
            <c:idx val="94"/>
            <c:spPr>
              <a:solidFill>
                <a:srgbClr val="B6D7A8"/>
              </a:solidFill>
              <a:ln w="9525">
                <a:solidFill>
                  <a:srgbClr val="111827"/>
                </a:solidFill>
              </a:ln>
            </c:spPr>
          </c:dPt>
          <c:dPt>
            <c:idx val="95"/>
            <c:spPr>
              <a:solidFill>
                <a:srgbClr val="F6B26B"/>
              </a:solidFill>
              <a:ln w="9525">
                <a:solidFill>
                  <a:srgbClr val="111827"/>
                </a:solidFill>
              </a:ln>
            </c:spPr>
          </c:dPt>
          <c:dPt>
            <c:idx val="96"/>
            <c:spPr>
              <a:solidFill>
                <a:srgbClr val="F6B26B"/>
              </a:solidFill>
              <a:ln w="9525">
                <a:solidFill>
                  <a:srgbClr val="111827"/>
                </a:solidFill>
              </a:ln>
            </c:spPr>
          </c:dPt>
          <c:dPt>
            <c:idx val="97"/>
            <c:spPr>
              <a:solidFill>
                <a:srgbClr val="FFD966"/>
              </a:solidFill>
              <a:ln w="9525">
                <a:solidFill>
                  <a:srgbClr val="111827"/>
                </a:solidFill>
              </a:ln>
            </c:spPr>
          </c:dPt>
          <c:dPt>
            <c:idx val="98"/>
            <c:spPr>
              <a:solidFill>
                <a:srgbClr val="FFD966"/>
              </a:solidFill>
              <a:ln w="9525">
                <a:solidFill>
                  <a:srgbClr val="111827"/>
                </a:solidFill>
              </a:ln>
            </c:spPr>
          </c:dPt>
          <c:dPt>
            <c:idx val="99"/>
            <c:spPr>
              <a:solidFill>
                <a:srgbClr val="F6B26B"/>
              </a:solidFill>
              <a:ln w="9525">
                <a:solidFill>
                  <a:srgbClr val="111827"/>
                </a:solidFill>
              </a:ln>
            </c:spPr>
          </c:dPt>
          <c:dPt>
            <c:idx val="100"/>
            <c:spPr>
              <a:solidFill>
                <a:srgbClr val="FFD966"/>
              </a:solidFill>
              <a:ln w="9525">
                <a:solidFill>
                  <a:srgbClr val="111827"/>
                </a:solidFill>
              </a:ln>
            </c:spPr>
          </c:dPt>
          <c:dPt>
            <c:idx val="101"/>
            <c:spPr>
              <a:solidFill>
                <a:srgbClr val="F6B26B"/>
              </a:solidFill>
              <a:ln w="9525">
                <a:solidFill>
                  <a:srgbClr val="111827"/>
                </a:solidFill>
              </a:ln>
            </c:spPr>
          </c:dPt>
          <c:dPt>
            <c:idx val="102"/>
            <c:spPr>
              <a:solidFill>
                <a:srgbClr val="E88080"/>
              </a:solidFill>
              <a:ln w="9525">
                <a:solidFill>
                  <a:srgbClr val="111827"/>
                </a:solidFill>
              </a:ln>
            </c:spPr>
          </c:dPt>
          <c:dPt>
            <c:idx val="103"/>
            <c:spPr>
              <a:solidFill>
                <a:srgbClr val="F6B26B"/>
              </a:solidFill>
              <a:ln w="9525">
                <a:solidFill>
                  <a:srgbClr val="111827"/>
                </a:solidFill>
              </a:ln>
            </c:spPr>
          </c:dPt>
          <c:dPt>
            <c:idx val="104"/>
            <c:spPr>
              <a:solidFill>
                <a:srgbClr val="F6B26B"/>
              </a:solidFill>
              <a:ln w="9525">
                <a:solidFill>
                  <a:srgbClr val="111827"/>
                </a:solidFill>
              </a:ln>
            </c:spPr>
          </c:dPt>
          <c:dPt>
            <c:idx val="105"/>
            <c:spPr>
              <a:solidFill>
                <a:srgbClr val="FFD966"/>
              </a:solidFill>
              <a:ln w="9525">
                <a:solidFill>
                  <a:srgbClr val="111827"/>
                </a:solidFill>
              </a:ln>
            </c:spPr>
          </c:dPt>
          <c:dPt>
            <c:idx val="106"/>
            <c:spPr>
              <a:solidFill>
                <a:srgbClr val="FFD966"/>
              </a:solidFill>
              <a:ln w="9525">
                <a:solidFill>
                  <a:srgbClr val="111827"/>
                </a:solidFill>
              </a:ln>
            </c:spPr>
          </c:dPt>
          <c:dPt>
            <c:idx val="107"/>
            <c:spPr>
              <a:solidFill>
                <a:srgbClr val="FFD966"/>
              </a:solidFill>
              <a:ln w="9525">
                <a:solidFill>
                  <a:srgbClr val="111827"/>
                </a:solidFill>
              </a:ln>
            </c:spPr>
          </c:dPt>
          <c:dPt>
            <c:idx val="108"/>
            <c:spPr>
              <a:solidFill>
                <a:srgbClr val="FFD966"/>
              </a:solidFill>
              <a:ln w="9525">
                <a:solidFill>
                  <a:srgbClr val="111827"/>
                </a:solidFill>
              </a:ln>
            </c:spPr>
          </c:dPt>
          <c:cat>
            <c:strRef>
              <c:f>Sheet1!$A$2:$A$110</c:f>
              <c:strCache>
                <c:ptCount val="109"/>
                <c:pt idx="0">
                  <c:v>Q1</c:v>
                </c:pt>
                <c:pt idx="1">
                  <c:v>Q2</c:v>
                </c:pt>
                <c:pt idx="2">
                  <c:v>Q3</c:v>
                </c:pt>
                <c:pt idx="3">
                  <c:v>Q4</c:v>
                </c:pt>
                <c:pt idx="4">
                  <c:v>Q5</c:v>
                </c:pt>
                <c:pt idx="5">
                  <c:v>Q6</c:v>
                </c:pt>
                <c:pt idx="6">
                  <c:v>Q7</c:v>
                </c:pt>
                <c:pt idx="7">
                  <c:v>Q8</c:v>
                </c:pt>
                <c:pt idx="8">
                  <c:v>Q9</c:v>
                </c:pt>
                <c:pt idx="9">
                  <c:v>Q10</c:v>
                </c:pt>
                <c:pt idx="10">
                  <c:v>Q11</c:v>
                </c:pt>
                <c:pt idx="11">
                  <c:v>Q12</c:v>
                </c:pt>
                <c:pt idx="12">
                  <c:v>Q13</c:v>
                </c:pt>
                <c:pt idx="13">
                  <c:v>Q14</c:v>
                </c:pt>
                <c:pt idx="14">
                  <c:v>Q15</c:v>
                </c:pt>
                <c:pt idx="15">
                  <c:v>Q16</c:v>
                </c:pt>
                <c:pt idx="16">
                  <c:v>Q17</c:v>
                </c:pt>
                <c:pt idx="17">
                  <c:v>Q18</c:v>
                </c:pt>
                <c:pt idx="18">
                  <c:v>Q19</c:v>
                </c:pt>
                <c:pt idx="19">
                  <c:v>Q20</c:v>
                </c:pt>
                <c:pt idx="20">
                  <c:v>Q21</c:v>
                </c:pt>
                <c:pt idx="21">
                  <c:v>Q22</c:v>
                </c:pt>
                <c:pt idx="22">
                  <c:v>Q23</c:v>
                </c:pt>
                <c:pt idx="23">
                  <c:v>Q24</c:v>
                </c:pt>
                <c:pt idx="24">
                  <c:v>Q25</c:v>
                </c:pt>
                <c:pt idx="25">
                  <c:v>Q26</c:v>
                </c:pt>
                <c:pt idx="26">
                  <c:v>Q27</c:v>
                </c:pt>
                <c:pt idx="27">
                  <c:v>Q28</c:v>
                </c:pt>
                <c:pt idx="28">
                  <c:v>Q29</c:v>
                </c:pt>
                <c:pt idx="29">
                  <c:v>Q30</c:v>
                </c:pt>
                <c:pt idx="30">
                  <c:v>Q31</c:v>
                </c:pt>
                <c:pt idx="31">
                  <c:v>Q32</c:v>
                </c:pt>
                <c:pt idx="32">
                  <c:v>Q33</c:v>
                </c:pt>
                <c:pt idx="33">
                  <c:v>Q34</c:v>
                </c:pt>
                <c:pt idx="34">
                  <c:v>Q35</c:v>
                </c:pt>
                <c:pt idx="35">
                  <c:v>Q36</c:v>
                </c:pt>
                <c:pt idx="36">
                  <c:v>Q37</c:v>
                </c:pt>
                <c:pt idx="37">
                  <c:v>Q38</c:v>
                </c:pt>
                <c:pt idx="38">
                  <c:v>Q39</c:v>
                </c:pt>
                <c:pt idx="39">
                  <c:v>Q40</c:v>
                </c:pt>
                <c:pt idx="40">
                  <c:v>Q41</c:v>
                </c:pt>
                <c:pt idx="41">
                  <c:v>Q42</c:v>
                </c:pt>
                <c:pt idx="42">
                  <c:v>Q43</c:v>
                </c:pt>
                <c:pt idx="43">
                  <c:v>Q44</c:v>
                </c:pt>
                <c:pt idx="44">
                  <c:v>Q45</c:v>
                </c:pt>
                <c:pt idx="45">
                  <c:v>Q46</c:v>
                </c:pt>
                <c:pt idx="46">
                  <c:v>Q47</c:v>
                </c:pt>
                <c:pt idx="47">
                  <c:v>Q48</c:v>
                </c:pt>
                <c:pt idx="48">
                  <c:v>Q49</c:v>
                </c:pt>
                <c:pt idx="49">
                  <c:v>Q50</c:v>
                </c:pt>
                <c:pt idx="50">
                  <c:v>Q51</c:v>
                </c:pt>
                <c:pt idx="51">
                  <c:v>Q52</c:v>
                </c:pt>
                <c:pt idx="52">
                  <c:v>Q53</c:v>
                </c:pt>
                <c:pt idx="53">
                  <c:v>Q54</c:v>
                </c:pt>
                <c:pt idx="54">
                  <c:v>Q55</c:v>
                </c:pt>
                <c:pt idx="55">
                  <c:v>Q56</c:v>
                </c:pt>
                <c:pt idx="56">
                  <c:v>Q57</c:v>
                </c:pt>
                <c:pt idx="57">
                  <c:v>Q58</c:v>
                </c:pt>
                <c:pt idx="58">
                  <c:v>Q59</c:v>
                </c:pt>
                <c:pt idx="59">
                  <c:v>Q60</c:v>
                </c:pt>
                <c:pt idx="60">
                  <c:v>Q61</c:v>
                </c:pt>
                <c:pt idx="61">
                  <c:v>Q62</c:v>
                </c:pt>
                <c:pt idx="62">
                  <c:v>Q63</c:v>
                </c:pt>
                <c:pt idx="63">
                  <c:v>Q64</c:v>
                </c:pt>
                <c:pt idx="64">
                  <c:v>Q65</c:v>
                </c:pt>
                <c:pt idx="65">
                  <c:v>Q66</c:v>
                </c:pt>
                <c:pt idx="66">
                  <c:v>Q67</c:v>
                </c:pt>
                <c:pt idx="67">
                  <c:v>Q68</c:v>
                </c:pt>
                <c:pt idx="68">
                  <c:v>Q69</c:v>
                </c:pt>
                <c:pt idx="69">
                  <c:v>Q70</c:v>
                </c:pt>
                <c:pt idx="70">
                  <c:v>Q71</c:v>
                </c:pt>
                <c:pt idx="71">
                  <c:v>Q72</c:v>
                </c:pt>
                <c:pt idx="72">
                  <c:v>Q73</c:v>
                </c:pt>
                <c:pt idx="73">
                  <c:v>Q74</c:v>
                </c:pt>
                <c:pt idx="74">
                  <c:v>Q75</c:v>
                </c:pt>
                <c:pt idx="75">
                  <c:v>Q76</c:v>
                </c:pt>
                <c:pt idx="76">
                  <c:v>Q77</c:v>
                </c:pt>
                <c:pt idx="77">
                  <c:v>Q78</c:v>
                </c:pt>
                <c:pt idx="78">
                  <c:v>Q79</c:v>
                </c:pt>
                <c:pt idx="79">
                  <c:v>Q80</c:v>
                </c:pt>
                <c:pt idx="80">
                  <c:v>Q81</c:v>
                </c:pt>
                <c:pt idx="81">
                  <c:v>Q82</c:v>
                </c:pt>
                <c:pt idx="82">
                  <c:v>Q83</c:v>
                </c:pt>
                <c:pt idx="83">
                  <c:v>Q84</c:v>
                </c:pt>
                <c:pt idx="84">
                  <c:v>Q85</c:v>
                </c:pt>
                <c:pt idx="85">
                  <c:v>Q86</c:v>
                </c:pt>
                <c:pt idx="86">
                  <c:v>Q87</c:v>
                </c:pt>
                <c:pt idx="87">
                  <c:v>Q88</c:v>
                </c:pt>
                <c:pt idx="88">
                  <c:v>Q89</c:v>
                </c:pt>
                <c:pt idx="89">
                  <c:v>Q90</c:v>
                </c:pt>
                <c:pt idx="90">
                  <c:v>Q91</c:v>
                </c:pt>
                <c:pt idx="91">
                  <c:v>Q92</c:v>
                </c:pt>
                <c:pt idx="92">
                  <c:v>Q93</c:v>
                </c:pt>
                <c:pt idx="93">
                  <c:v>Q94</c:v>
                </c:pt>
                <c:pt idx="94">
                  <c:v>Q95</c:v>
                </c:pt>
                <c:pt idx="95">
                  <c:v>Q96</c:v>
                </c:pt>
                <c:pt idx="96">
                  <c:v>Q97</c:v>
                </c:pt>
                <c:pt idx="97">
                  <c:v>Q98</c:v>
                </c:pt>
                <c:pt idx="98">
                  <c:v>Q99</c:v>
                </c:pt>
                <c:pt idx="99">
                  <c:v>Q100</c:v>
                </c:pt>
                <c:pt idx="100">
                  <c:v>Q101</c:v>
                </c:pt>
                <c:pt idx="101">
                  <c:v>Q102</c:v>
                </c:pt>
                <c:pt idx="102">
                  <c:v>Q103</c:v>
                </c:pt>
                <c:pt idx="103">
                  <c:v>Q104</c:v>
                </c:pt>
                <c:pt idx="104">
                  <c:v>Q105</c:v>
                </c:pt>
                <c:pt idx="105">
                  <c:v>Q106</c:v>
                </c:pt>
                <c:pt idx="106">
                  <c:v>Q107</c:v>
                </c:pt>
                <c:pt idx="107">
                  <c:v>Q108</c:v>
                </c:pt>
                <c:pt idx="108">
                  <c:v>Q109</c:v>
                </c:pt>
              </c:strCache>
            </c:strRef>
          </c:cat>
          <c:val>
            <c:numRef>
              <c:f>Sheet1!$B$2:$B$110</c:f>
              <c:numCache>
                <c:formatCode>General</c:formatCode>
                <c:ptCount val="109"/>
                <c:pt idx="0">
                  <c:v>2.0</c:v>
                </c:pt>
                <c:pt idx="1">
                  <c:v>2.0</c:v>
                </c:pt>
                <c:pt idx="2">
                  <c:v>2.0</c:v>
                </c:pt>
                <c:pt idx="3">
                  <c:v>2.0</c:v>
                </c:pt>
                <c:pt idx="4">
                  <c:v>1.0</c:v>
                </c:pt>
                <c:pt idx="5">
                  <c:v>2.0</c:v>
                </c:pt>
                <c:pt idx="6">
                  <c:v>1.0</c:v>
                </c:pt>
                <c:pt idx="7">
                  <c:v>2.0</c:v>
                </c:pt>
                <c:pt idx="8">
                  <c:v>1.0</c:v>
                </c:pt>
                <c:pt idx="9">
                  <c:v>3.0</c:v>
                </c:pt>
                <c:pt idx="10">
                  <c:v>2.0</c:v>
                </c:pt>
                <c:pt idx="11">
                  <c:v>3.0</c:v>
                </c:pt>
                <c:pt idx="12">
                  <c:v>1.0</c:v>
                </c:pt>
                <c:pt idx="13">
                  <c:v>3.0</c:v>
                </c:pt>
                <c:pt idx="14">
                  <c:v>2.0</c:v>
                </c:pt>
                <c:pt idx="15">
                  <c:v>1.0</c:v>
                </c:pt>
                <c:pt idx="16">
                  <c:v>2.0</c:v>
                </c:pt>
                <c:pt idx="17">
                  <c:v>2.0</c:v>
                </c:pt>
                <c:pt idx="18">
                  <c:v>2.0</c:v>
                </c:pt>
                <c:pt idx="19">
                  <c:v>1.0</c:v>
                </c:pt>
                <c:pt idx="20">
                  <c:v>1.0</c:v>
                </c:pt>
                <c:pt idx="21">
                  <c:v>3.0</c:v>
                </c:pt>
                <c:pt idx="22">
                  <c:v>1.0</c:v>
                </c:pt>
                <c:pt idx="23">
                  <c:v>2.0</c:v>
                </c:pt>
                <c:pt idx="24">
                  <c:v>2.0</c:v>
                </c:pt>
                <c:pt idx="25">
                  <c:v>1.0</c:v>
                </c:pt>
                <c:pt idx="26">
                  <c:v>3.0</c:v>
                </c:pt>
                <c:pt idx="27">
                  <c:v>2.0</c:v>
                </c:pt>
                <c:pt idx="28">
                  <c:v>2.5</c:v>
                </c:pt>
                <c:pt idx="29">
                  <c:v>3.0</c:v>
                </c:pt>
                <c:pt idx="30">
                  <c:v>2.0</c:v>
                </c:pt>
                <c:pt idx="31">
                  <c:v>2.0</c:v>
                </c:pt>
                <c:pt idx="32">
                  <c:v>3.0</c:v>
                </c:pt>
                <c:pt idx="33">
                  <c:v>3.0</c:v>
                </c:pt>
                <c:pt idx="34">
                  <c:v>2.0</c:v>
                </c:pt>
                <c:pt idx="35">
                  <c:v>2.5</c:v>
                </c:pt>
                <c:pt idx="36">
                  <c:v>2.5</c:v>
                </c:pt>
                <c:pt idx="37">
                  <c:v>3.0</c:v>
                </c:pt>
                <c:pt idx="38">
                  <c:v>3.0</c:v>
                </c:pt>
                <c:pt idx="39">
                  <c:v>2.0</c:v>
                </c:pt>
                <c:pt idx="40">
                  <c:v>2.0</c:v>
                </c:pt>
                <c:pt idx="41">
                  <c:v>3.0</c:v>
                </c:pt>
                <c:pt idx="42">
                  <c:v>2.0</c:v>
                </c:pt>
                <c:pt idx="43">
                  <c:v>3.0</c:v>
                </c:pt>
                <c:pt idx="44">
                  <c:v>2.0</c:v>
                </c:pt>
                <c:pt idx="45">
                  <c:v>2.0</c:v>
                </c:pt>
                <c:pt idx="46">
                  <c:v>2.0</c:v>
                </c:pt>
                <c:pt idx="47">
                  <c:v>3.0</c:v>
                </c:pt>
                <c:pt idx="48">
                  <c:v>3.0</c:v>
                </c:pt>
                <c:pt idx="49">
                  <c:v>2.0</c:v>
                </c:pt>
                <c:pt idx="50">
                  <c:v>3.0</c:v>
                </c:pt>
                <c:pt idx="51">
                  <c:v>4.0</c:v>
                </c:pt>
                <c:pt idx="52">
                  <c:v>4.0</c:v>
                </c:pt>
                <c:pt idx="53">
                  <c:v>4.0</c:v>
                </c:pt>
                <c:pt idx="54">
                  <c:v>2.0</c:v>
                </c:pt>
                <c:pt idx="55">
                  <c:v>3.0</c:v>
                </c:pt>
                <c:pt idx="56">
                  <c:v>3.0</c:v>
                </c:pt>
                <c:pt idx="57">
                  <c:v>3.0</c:v>
                </c:pt>
                <c:pt idx="58">
                  <c:v>2.0</c:v>
                </c:pt>
                <c:pt idx="59">
                  <c:v>3.0</c:v>
                </c:pt>
                <c:pt idx="60">
                  <c:v>2.0</c:v>
                </c:pt>
                <c:pt idx="61">
                  <c:v>1.0</c:v>
                </c:pt>
                <c:pt idx="62">
                  <c:v>3.0</c:v>
                </c:pt>
                <c:pt idx="63">
                  <c:v>2.0</c:v>
                </c:pt>
                <c:pt idx="64">
                  <c:v>3.0</c:v>
                </c:pt>
                <c:pt idx="65">
                  <c:v>2.0</c:v>
                </c:pt>
                <c:pt idx="66">
                  <c:v>3.0</c:v>
                </c:pt>
                <c:pt idx="67">
                  <c:v>2.0</c:v>
                </c:pt>
                <c:pt idx="68">
                  <c:v>1.0</c:v>
                </c:pt>
                <c:pt idx="69">
                  <c:v>3.0</c:v>
                </c:pt>
                <c:pt idx="70">
                  <c:v>3.0</c:v>
                </c:pt>
                <c:pt idx="71">
                  <c:v>3.0</c:v>
                </c:pt>
                <c:pt idx="72">
                  <c:v>2.0</c:v>
                </c:pt>
                <c:pt idx="73">
                  <c:v>3.0</c:v>
                </c:pt>
                <c:pt idx="74">
                  <c:v>2.0</c:v>
                </c:pt>
                <c:pt idx="75">
                  <c:v>2.0</c:v>
                </c:pt>
                <c:pt idx="76">
                  <c:v>2.0</c:v>
                </c:pt>
                <c:pt idx="77">
                  <c:v>3.0</c:v>
                </c:pt>
                <c:pt idx="78">
                  <c:v>1.0</c:v>
                </c:pt>
                <c:pt idx="79">
                  <c:v>3.0</c:v>
                </c:pt>
                <c:pt idx="80">
                  <c:v>2.0</c:v>
                </c:pt>
                <c:pt idx="81">
                  <c:v>1.0</c:v>
                </c:pt>
                <c:pt idx="82">
                  <c:v>2.0</c:v>
                </c:pt>
                <c:pt idx="83">
                  <c:v>3.0</c:v>
                </c:pt>
                <c:pt idx="84">
                  <c:v>2.0</c:v>
                </c:pt>
                <c:pt idx="85">
                  <c:v>2.0</c:v>
                </c:pt>
                <c:pt idx="86">
                  <c:v>4.0</c:v>
                </c:pt>
                <c:pt idx="87">
                  <c:v>3.0</c:v>
                </c:pt>
                <c:pt idx="88">
                  <c:v>2.0</c:v>
                </c:pt>
                <c:pt idx="89">
                  <c:v>2.0</c:v>
                </c:pt>
                <c:pt idx="90">
                  <c:v>2.0</c:v>
                </c:pt>
                <c:pt idx="91">
                  <c:v>3.0</c:v>
                </c:pt>
                <c:pt idx="92">
                  <c:v>1.0</c:v>
                </c:pt>
                <c:pt idx="93">
                  <c:v>2.0</c:v>
                </c:pt>
                <c:pt idx="94">
                  <c:v>1.0</c:v>
                </c:pt>
                <c:pt idx="95">
                  <c:v>3.0</c:v>
                </c:pt>
                <c:pt idx="96">
                  <c:v>3.0</c:v>
                </c:pt>
                <c:pt idx="97">
                  <c:v>2.0</c:v>
                </c:pt>
                <c:pt idx="98">
                  <c:v>2.0</c:v>
                </c:pt>
                <c:pt idx="99">
                  <c:v>3.0</c:v>
                </c:pt>
                <c:pt idx="100">
                  <c:v>2.0</c:v>
                </c:pt>
                <c:pt idx="101">
                  <c:v>3.0</c:v>
                </c:pt>
                <c:pt idx="102">
                  <c:v>4.0</c:v>
                </c:pt>
                <c:pt idx="103">
                  <c:v>3.0</c:v>
                </c:pt>
                <c:pt idx="104">
                  <c:v>3.0</c:v>
                </c:pt>
                <c:pt idx="105">
                  <c:v>2.0</c:v>
                </c:pt>
                <c:pt idx="106">
                  <c:v>2.0</c:v>
                </c:pt>
                <c:pt idx="107">
                  <c:v>2.0</c:v>
                </c:pt>
                <c:pt idx="108">
                  <c:v>2.0</c:v>
                </c:pt>
              </c:numCache>
            </c:numRef>
          </c:val>
        </c:ser>
        <c:dLbls>
          <c:numFmt formatCode="0.0#" sourceLinked="0"/>
          <c:txPr>
            <a:bodyPr/>
            <a:lstStyle/>
            <a:p>
              <a:pPr>
                <a:defRPr sz="2000" b="1">
                  <a:solidFill>
                    <a:srgbClr val="111827"/>
                  </a:solidFill>
                  <a:latin typeface="Arial"/>
                </a:defRPr>
              </a:pPr>
            </a:p>
          </c:txPr>
          <c:dLblPos val="outEnd"/>
          <c:showLegendKey val="0"/>
          <c:showVal val="1"/>
          <c:showCatName val="0"/>
          <c:showSerName val="0"/>
          <c:showPercent val="0"/>
          <c:showBubbleSize val="0"/>
          <c:showLeaderLines val="1"/>
        </c:dLbls>
        <c:gapWidth val="40"/>
        <c:axId val="-2068027336"/>
        <c:axId val="-2113994440"/>
      </c:barChart>
      <c:catAx>
        <c:axId val="-2068027336"/>
        <c:scaling>
          <c:orientation val="minMax"/>
        </c:scaling>
        <c:delete val="0"/>
        <c:axPos val="b"/>
        <c:majorTickMark val="out"/>
        <c:minorTickMark val="none"/>
        <c:tickLblPos val="nextTo"/>
        <c:txPr>
          <a:bodyPr/>
          <a:lstStyle/>
          <a:p>
            <a:pPr>
              <a:defRPr sz="2000" b="1">
                <a:latin typeface="Arial"/>
              </a:defRPr>
            </a:pPr>
          </a:p>
        </c:txPr>
        <c:crossAx val="-2113994440"/>
        <c:crosses val="autoZero"/>
        <c:auto val="1"/>
        <c:lblAlgn val="ctr"/>
        <c:lblOffset val="100"/>
        <c:noMultiLvlLbl val="0"/>
      </c:catAx>
      <c:valAx>
        <c:axId val="-2113994440"/>
        <c:scaling>
          <c:max val="5.5"/>
          <c:min val="0.0"/>
        </c:scaling>
        <c:delete val="0"/>
        <c:axPos val="l"/>
        <c:majorGridlines>
          <c:spPr>
            <a:ln>
              <a:solidFill>
                <a:srgbClr val="D1D5DB"/>
              </a:solidFill>
            </a:ln>
          </c:spPr>
        </c:majorGridlines>
        <c:title>
          <c:tx>
            <c:rich>
              <a:bodyPr/>
              <a:lstStyle/>
              <a:p>
                <a:r>
                  <a:rPr sz="2000"/>
                  <a:t>Level</a:t>
                </a:r>
              </a:p>
            </c:rich>
          </c:tx>
          <c:layout/>
          <c:overlay val="0"/>
        </c:title>
        <c:majorTickMark val="out"/>
        <c:minorTickMark val="none"/>
        <c:tickLblPos val="nextTo"/>
        <c:txPr>
          <a:bodyPr/>
          <a:lstStyle/>
          <a:p>
            <a:pPr>
              <a:defRPr sz="2000">
                <a:latin typeface="Arial"/>
              </a:defRPr>
            </a:pPr>
          </a:p>
        </c:txPr>
        <c:crossAx val="-2068027336"/>
        <c:crosses val="autoZero"/>
        <c:majorUnit val="1.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7.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8.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2.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9.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6.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3.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0.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6.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7.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2.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8.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9.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4.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0.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4.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9.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3.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0.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6.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3.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9.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6.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9.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5.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2.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0.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6.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2.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0.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7.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4.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0.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7.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5.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2.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8.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solution writes the exponent as $e^{n\,2\pi i/\alpha_1}$ (garbled) and never states that the roots are ordered as $\alpha_k=\alpha_1^k$, which the question also omits. The ordering assumption is added to the question and the solution; with it option (A)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question reads $z+i|z|=\bar z+1$, but the printed solution (and the key C) use $i\bar z+1$. As printed, the real parts give $x=x+1$, which is impossible, so no $z$ exists. The question text is corrected to $i\bar z+1$, which matches the solution and the key; the answer 1 is unchanged.</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question has $C_1: z+\bar z=2(|z|-1)$, but the printed solution (first line $2|z|-1$, then $2x=2|x-1+iy|$) works with $2|z-1|$. With the question as printed, $C_1$ is $y^2=2x+1$ and the tangent point from $(-1,-1)$ gives $|z_0|^2=6-4\sqrt2\approx0.34$, which is not an option. The question text is corrected to $2|z-1|$; the key B is then right. Also the printed solution's 'tangent point' step is only implied; here the contact point $(1,1)$ is verified explicitly.</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solution writes $z=e^{i(2n+1)\pi/9}$ for $n=1,2,\dots,8$ without explaining the exclusion. That range is not right: $n=1,\dots,8$ would drop $\theta=\frac\pi9$ and wrongly keep $\theta=\pi$ ($z=-1$). The correct set is $n=0,\dots,8$ with $n=4$ removed; the count 8 and key C are unchanged.</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wrote '(z^2-z^2bar)-(z-zbar)=0 =&gt; z-zbar=0' (with a stray typesetting '\nif'), dropping the factor $z+\bar z-1$ and never using the hypothesis $\mathrm{Re}(z)\neq\frac12$. Added the factorisation $(z-\bar z)(z+\bar z-1)=0$ and the use of the hypothesis; final answer unchanged.</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printed 'Case-I n is even n=2' (should read n=2k) and, for n odd, the favourable count '2k+1C2 - C2', which is wrong (it gives 7 for n=5, true count is 6). The correct count is the number of same-parity pairs, ^{k+1}C_2+^{k+1}C_2=k(k+1)=(n^2-1)/4. Final results 3/(2n) for n odd and 3n/(2(n^2-1)) for n even were right.</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Statement II as printed says 'exactly one solution', which can never happen (0 and -q/p are always solutions). The PDF's own working (total 220 = 256-36, i.e. exactly three solutions) shows 'three' was meant; I kept the printed question text but solved the intended reading. Also the PDF wrote the denominator of Statement I as 4x4x4 instead of 4x4x4x4 (36/256 = 9/64 is right).</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jumps from the two conditions straight to $z_2=z_1w$, $z_3=z_1w^2$ without showing why, and gives no verdicts for (A)-(D). Added the Newton-identity step, the factorisation and the option-wise conclusions. Also (B) is true only for one orientation of the triangle (the other gives $-2\pi/3$); answer B, C kept.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step shows a factor '(z-bar - z)/(z-bar + z)', which is a misprint: the correct multiplier is $\bar z/\bar z$ (using $z\bar z=1$) to reach $(\bar z-1)/(\bar z+1)$. Also added that $\omega$ covers the entire imaginary axis (needed to say the locus is the whole $y$-axis).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states (A) and (B) after a one-line equal-sides remark with no justification and never shows (C). Added the reason for (A)/(B) (equal-modulus vectors summing to 0) and the identity for (C); answer unchanged.</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writes '(z/2 + z/2)^2 = (w+w^2)^2' (misprint for (z/2 + 2/z)^2) and stops after r=1,2,3 without using the period or computing S. Added the periodicity step, S=60 and the verdicts for (A)-(D).</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derives $z'^2+z''^2$ correctly but then squares to reach $(z'+z'')^2=4z^2\cos^2\alpha$ and concludes $z'+z''=\pm2z\cos\alpha$, which leaves the sign undecided and does not prove (C). Replaced by the direct computation $z'+z''=z(e^{i\alpha}+e^{-i\alpha})$; also gave the (B) verdict, missing in the PDF.</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derives x and z (correct) but stops at 'Now, verify the options' without checking any option and gives no y; the verification of (A)-(D) and y were added. No error found.</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text has two slips that do not change the result: the alternating-square identity is printed with 'if n is odd' in both cases (second case should be n even), and the value is written (-1)^100 C(100,50) where the exponent should be n/2 = 50 (sign still +1). Q is stated without proof; added Vandermonde. The final line '2100C50' is read as 2 x 100C50.</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PDF solution says 'AB = 9/4 and arg z = pi - tan^{-1}(9/4)' and the key is (B). But the extremal point is (-9/4, 1), i.e. z = -9/4 + i, whose argument is pi - tan^{-1}(1/(9/4)) = pi - tan^{-1}(4/9), option (A). Numerically arg(-2.25+i) = 2.7234 = pi - atan(4/9), while pi - atan(9/4) = 1.989. 9/4 is the length AB, not the tangent.</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writes 'area = |x| = 1' and then 'lambda = 0.5'. Actually the area is lambda = 1 (unit square) and it is lambda/2 that equals 0.5. The printed final answer 0.50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working is garbled (it divides z1z2z3 by itself and loses the factors); the idea is the same. Rewritten cleanly with lambda = 3 found first; final answer 216 is unchanged and verified numerically.</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PDF's rearranged equation 'nm - 2010(m-2010) = 2010.2009' is garbled (correct form: (n-2010)(m-2010) = 2010*2009) and it does not exclude negative factor pairs. The correct step and the exclusion argument are added; the answer 96 is verified by brute force.</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PDF's Case 3 says '3 C(13,2)'; it should be 3 C(13,3) (three face values chosen). The PDF's final sum already uses 3 C(13,3), so its total 1820 is right.</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ends with $|a+b+c|=136$, which equals $2^3\cdot17$ and is not of the form $2^{n_1}3^{n_2}5^{n_3}7^{n_4}$, so it contradicts its own key of 4. The key matches $|P(1)|=|1+a+b+c|=135=3^3\cdot5$. The question as printed (without the 1) appears to have a typo; the answer $4$ is kept.</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says 'similarly alpha = 6' for the second case; the second value is alpha = -6 (reflection in the x-axis). The sum of absolute values 12 is correct. The PDF also does not check that the points of tangency lie on the rays (this rules out alpha = -10 and 10).</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gives 98/243 with no working and counts 12 matrices correctly, but then prints '(N-7)=5' (a line from a different question) and the key 3. With m=98, n=243, p=12 the value is 3*98-243-3*12=15 (brute force over all 81 matrices confirms p=12). The printed key 3 would need p=16. The answer 15 is kept.</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PDF's list of unit digits has a typo: it writes 3^(4k+6) -&gt; 7, which should be 3^(4k+3) -&gt; 7. The reasoning and the answer 100 are correct.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Only a typo in the PDF: it prints the radius as sqrt(24/4) instead of sqrt(9/4) = 3/2 (the value 3/2 is used correctly afterwards). The answer 9/2 is right.</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never computes m: its solution silently uses m = 4 on the right side (which is the numerator of the game probability 4/9). I added the probability computation (16+8+4+4+4)/81 = 4/9. The PDF's final line is garbled ('250x^4+320x^2+137 = ...'); the correct expression is 250x^4+320x^2-1630 = 10.</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solution shows only that the value exceeds $2$ and then asserts $(2,3)$ without proving the upper bound. A step proving the value is below $3$ (terms $&lt;\frac1{k!}$) was added; the answer $3$ is unchanged.</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working has the correct expression $\frac{12!}{8!4!}(3/4)^4(1/4)^8\cdot\frac34$, but the key says $k=9$. Evaluating gives $495\cdot3^5=55\cdot3^2\cdot3^5=55\cdot3^7$, so $k=7$ (confirmed by exact computation: numerator $120285=55\cdot2187$).</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printed working shows a product of two identical bracketed factors, $\left(\frac23+\frac13\cdot\frac23+\frac13\cdot\frac13\cdot\frac23\right)$ twice, which would equal $\frac{676}{729}$, not the stated $\frac{416}{729}$. The correct product is $\frac{26}{27}\cdot\frac89\cdot\frac23=\frac{416}{729}$ (three different factors). The answer $7$ is right.</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stem as printed is garbled: the condition 'AB = OA = OB = AB' is not the one used in the printed working (which needs AB = (OA+OB)/2), and the third line z(1+i) - conj(z)(-1+i) + 2i = 0 reduces to 2(x-y) + 2i = 0, which has no solution (it was probably z(1+i) - conj(z)(1-i) + 2i = 0, i.e. x+y+1=0). The PDF's cos(theta) = (8/3)(OA/OB + OB/OA) - 1/4 is a misprint of 3/8. The answer k = 3 is unaffected: both readings give pi/3.</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writes (t^2+2004)^2 = 1 (loses the factor t from z^2 = t), then evaluates 'P(1)/P(1)' and gets 0. The correct polynomial is P(t) = c[t(t^2+2004)^2 - 1], P(-1) = -c(2005^2+1) is negative, so the ratio is -(2005^2-1)/(2005^2+1) = -0.9999995 and the floor is -1, not 0. Verified numerically.</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copied from the PDF in full and checked step by step - it is correct.</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Only a typo: in the first line of the sum the PDF prints P(E|E0) = 2C2/20C2; it should be 4C2/20C2 (4 aces remain when none is removed). The next lines of the PDF already use 4C2, so the working and answer p = 6 are correct. The question continues from page 35 to page 36 of the PDF.</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The PDF solves only part (a) (540) and gives nothing for part (b). Part (b) (1057) was added using the same fixed-point argument and checked by brute force over all 6^6 functions.</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The PDF has no usable solution for this question; the solution was written by Claude.</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In part (c) the PDF writes Delta = (1/2)*2*sqrt3*cot^2(7.5)*sqrt3*tan15 and then drops the factor 3 (writes Delta = cot^2 tan15). Correct: Delta = 3 cot^2(7.5) tan15, so the expression equals 3, not 1. Both 1 and 3 are odd natural numbers so the printed key (c-t) is right only because 3 is not in (p),(q),(r),(s); with the PDF's value 1 it would also have matched (p). Also in (d) the PDF's 'c^2=ad' is really (1/c)^2=(1/a)(1/d) in the reciprocal variables.</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Part (c) is flawed: for direction ratios k is any non-zero real; for direction cosines k = 1/sqrt3 (about 0.577). Neither equals 1/2, 1/4, 1/3 or 1/6, so the printed match c-q (1/4) cannot be derived. Parts (a)=1/3, (b)=1/3, (d)=1/2 match the printed key; only option (C) contains a-r, b-r, d-p, so the answer (C) is kept. Part (d) is also loosely worded (the PDF's n(E)=1, n(S)=2 reading is taken as given).</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Part (c): the PDF divides by 1 - i^r, which is zero when r is a multiple of 4; for those r the bracket equals n, so the sum is n*(sum of C(n,4j), j&gt;=1), e.g. 4 for n=4, 568 for n=8, not a constant 0. Part (c) therefore has no fixed value. Parts (a)=5, (b)=0, (d)=3 are correct and force option (D), which is kept. Minor: in (a) the PDF writes 14Cr = 2(r+1)(15-r) = ..., which should read 2 = r/(15-r) + (14-r)/(r+1) after dividing by 14Cr.</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Solution taken from the PDF but CORRECTED by Claude.</a:t>
            </a:r>
          </a:p>
          <a:p>
            <a:r>
              <a:t>WHAT WAS WRONG IN THE PDF AND WHAT CHANGED: Only a typographical slip: the PDF prints 3^5 as '35' in part (a), 35 - (3C2 2^5 - 3C1 1^5) = 150. The value 243 is correct. Also the PDF writes '2+3-1 C_{3-1}' in part (b) which should be (5-1)C(3-1) = 4C2 = 6 (the result 6 is correct). Answer unchanged.</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4.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5.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6.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4.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5.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6.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9.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3.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4.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5.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6.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8.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0.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1.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3.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5.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6.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7.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8.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9.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0.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1.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3.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4.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5.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6.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7.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8.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9.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0.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1.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2.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3.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4.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5.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6.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7.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8.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9.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0.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1.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2.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3.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4.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5.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6.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7.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8.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9.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0.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1.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2.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3.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4.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5.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6.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7.xml"/></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8.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9.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a:lstStyle>
            <a:lvl1pPr>
              <a:defRPr sz="4000">
                <a:solidFill>
                  <a:srgbClr val="FFFFFF"/>
                </a:solidFill>
              </a:defRPr>
            </a:lvl1pPr>
          </a:lstStyle>
          <a:p>
            <a:pPr algn="ctr">
              <a:defRPr sz="4000">
                <a:solidFill>
                  <a:srgbClr val="FFFFFF"/>
                </a:solidFill>
              </a:defRPr>
            </a:pPr>
            <a:r>
              <a:rPr sz="4000" b="1">
                <a:solidFill>
                  <a:srgbClr val="FFFFFF"/>
                </a:solidFill>
                <a:latin typeface="Arial"/>
              </a:rPr>
              <a:t>B1 Assignment Algebra 02 — Paper Analysis</a:t>
            </a:r>
            <a:endParaRPr sz="4000">
              <a:solidFill>
                <a:srgbClr val="FFFFFF"/>
              </a:solidFill>
            </a:endParaRPr>
          </a:p>
          <a:p>
            <a:pPr algn="ctr"/>
            <a:r>
              <a:rPr sz="2200">
                <a:solidFill>
                  <a:srgbClr val="FFFFFF"/>
                </a:solidFill>
                <a:latin typeface="Arial"/>
              </a:rPr>
              <a:t>Detailed solutions</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1</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Single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Q01 – Q27</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the solutions of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equal to (where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complex number on the argand plane and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$z_1,z_2,z_3$</a:t>
                </a:r>
                <a:r>
                  <a:rPr sz="2400" b="0">
                    <a:solidFill>
                      <a:srgbClr val="111827"/>
                    </a:solidFill>
                    <a:latin typeface="Arial"/>
                  </a:rPr>
                  <a:t> are the solutions of </a:t>
                </a:r>
                <a:r>
                  <a:rPr lang="en-IN" sz="2400">
                    <a:solidFill>
                      <a:srgbClr val="111827"/>
                    </a:solidFill>
                    <a:latin typeface="Cambria Math" panose="02040503050406030204" pitchFamily="18" charset="0"/>
                  </a:rPr>
                  <a:t>$z^2+\bar z=z$</a:t>
                </a:r>
                <a:r>
                  <a:rPr sz="2400" b="0">
                    <a:solidFill>
                      <a:srgbClr val="111827"/>
                    </a:solidFill>
                    <a:latin typeface="Arial"/>
                  </a:rPr>
                  <a:t>, then </a:t>
                </a:r>
                <a:r>
                  <a:rPr lang="en-IN" sz="2400">
                    <a:solidFill>
                      <a:srgbClr val="111827"/>
                    </a:solidFill>
                    <a:latin typeface="Cambria Math" panose="02040503050406030204" pitchFamily="18" charset="0"/>
                  </a:rPr>
                  <a:t>$z_1+z_2+z_3$</a:t>
                </a:r>
                <a:r>
                  <a:rPr sz="2400" b="0">
                    <a:solidFill>
                      <a:srgbClr val="111827"/>
                    </a:solidFill>
                    <a:latin typeface="Arial"/>
                  </a:rPr>
                  <a:t> is equal to (where </a:t>
                </a:r>
                <a:r>
                  <a:rPr lang="en-IN" sz="2400">
                    <a:solidFill>
                      <a:srgbClr val="111827"/>
                    </a:solidFill>
                    <a:latin typeface="Cambria Math" panose="02040503050406030204" pitchFamily="18" charset="0"/>
                  </a:rPr>
                  <a:t>$z$</a:t>
                </a:r>
                <a:r>
                  <a:rPr sz="2400" b="0">
                    <a:solidFill>
                      <a:srgbClr val="111827"/>
                    </a:solidFill>
                    <a:latin typeface="Arial"/>
                  </a:rPr>
                  <a:t> is a complex number on the argand plane and </a:t>
                </a:r>
                <a:r>
                  <a:rPr lang="en-IN" sz="2400">
                    <a:solidFill>
                      <a:srgbClr val="111827"/>
                    </a:solidFill>
                    <a:latin typeface="Cambria Math" panose="02040503050406030204" pitchFamily="18" charset="0"/>
                  </a:rPr>
                  <a:t>$i=\sqrt{-1}$</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$2+2i$</a:t>
                </a:r>
                <a:r>
                  <a:rPr sz="2400" b="0">
                    <a:solidFill>
                      <a:srgbClr val="111827"/>
                    </a:solidFill>
                    <a:latin typeface="Arial"/>
                  </a:rPr>
                  <a:t>   (B) </a:t>
                </a:r>
                <a:r>
                  <a:rPr lang="en-IN" sz="2400">
                    <a:solidFill>
                      <a:srgbClr val="111827"/>
                    </a:solidFill>
                    <a:latin typeface="Cambria Math" panose="02040503050406030204" pitchFamily="18" charset="0"/>
                  </a:rPr>
                  <a:t>$2-2i$</a:t>
                </a:r>
                <a:r>
                  <a:rPr sz="2400" b="0">
                    <a:solidFill>
                      <a:srgbClr val="111827"/>
                    </a:solidFill>
                    <a:latin typeface="Arial"/>
                  </a:rPr>
                  <a:t>   (C) </a:t>
                </a:r>
                <a:r>
                  <a:rPr lang="en-IN" sz="2400">
                    <a:solidFill>
                      <a:srgbClr val="111827"/>
                    </a:solidFill>
                    <a:latin typeface="Cambria Math" panose="02040503050406030204" pitchFamily="18" charset="0"/>
                  </a:rPr>
                  <a:t>$0$</a:t>
                </a:r>
                <a:r>
                  <a:rPr sz="2400" b="0">
                    <a:solidFill>
                      <a:srgbClr val="111827"/>
                    </a:solidFill>
                    <a:latin typeface="Arial"/>
                  </a:rPr>
                  <a:t>   (D) </a:t>
                </a:r>
                <a:r>
                  <a:rPr lang="en-IN" sz="2400">
                    <a:solidFill>
                      <a:srgbClr val="111827"/>
                    </a:solidFill>
                    <a:latin typeface="Cambria Math" panose="02040503050406030204" pitchFamily="18" charset="0"/>
                  </a:rPr>
                  <a:t>$2$</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equations involving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equations involving </a:t>
                </a:r>
                <a:r>
                  <a:rPr lang="en-IN" sz="2400">
                    <a:solidFill>
                      <a:srgbClr val="111827"/>
                    </a:solidFill>
                    <a:latin typeface="Cambria Math" panose="02040503050406030204" pitchFamily="18" charset="0"/>
                  </a:rPr>
                  <a:t>$z$</a:t>
                </a:r>
                <a:r>
                  <a:rPr sz="2400" b="0">
                    <a:solidFill>
                      <a:srgbClr val="111827"/>
                    </a:solidFill>
                    <a:latin typeface="Arial"/>
                  </a:rPr>
                  <a:t> and </a:t>
                </a:r>
                <a:r>
                  <a:rPr lang="en-IN" sz="2400">
                    <a:solidFill>
                      <a:srgbClr val="111827"/>
                    </a:solidFill>
                    <a:latin typeface="Cambria Math" panose="02040503050406030204" pitchFamily="18" charset="0"/>
                  </a:rPr>
                  <a:t>$\bar z$</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Adding the equation to its conjugate gives </a:t>
                </a:r>
                <a14:m>
                  <m:oMath xmlns:m="http://schemas.openxmlformats.org/officeDocument/2006/math">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which splits into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𝑧</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Adding the equation to its conjugate gives </a:t>
                </a:r>
                <a:r>
                  <a:rPr lang="en-IN" sz="2400">
                    <a:solidFill>
                      <a:srgbClr val="78350F"/>
                    </a:solidFill>
                    <a:latin typeface="Cambria Math" panose="02040503050406030204" pitchFamily="18" charset="0"/>
                  </a:rPr>
                  <a:t>$z^2+\bar z^2=0$</a:t>
                </a:r>
                <a:r>
                  <a:rPr sz="2400" b="0">
                    <a:solidFill>
                      <a:srgbClr val="78350F"/>
                    </a:solidFill>
                    <a:latin typeface="Arial"/>
                  </a:rPr>
                  <a:t>, which splits into </a:t>
                </a:r>
                <a:r>
                  <a:rPr lang="en-IN" sz="2400">
                    <a:solidFill>
                      <a:srgbClr val="78350F"/>
                    </a:solidFill>
                    <a:latin typeface="Cambria Math" panose="02040503050406030204" pitchFamily="18" charset="0"/>
                  </a:rPr>
                  <a:t>$\bar z=\pm iz$</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equation is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Taking the conjugate of (i):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 (ii).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(i) and (ii):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hence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 or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 Put in (i):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equation is </a:t>
                </a:r>
                <a:r>
                  <a:rPr lang="en-IN" sz="2400">
                    <a:solidFill>
                      <a:srgbClr val="111827"/>
                    </a:solidFill>
                    <a:latin typeface="Cambria Math" panose="02040503050406030204" pitchFamily="18" charset="0"/>
                  </a:rPr>
                  <a:t>$z^2+\bar z=z$</a:t>
                </a:r>
                <a:r>
                  <a:rPr sz="2400" b="0">
                    <a:solidFill>
                      <a:srgbClr val="111827"/>
                    </a:solidFill>
                    <a:latin typeface="Arial"/>
                  </a:rPr>
                  <a:t> ...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Taking the conjugate of (i): </a:t>
                </a:r>
                <a:r>
                  <a:rPr lang="en-IN" sz="2400">
                    <a:solidFill>
                      <a:srgbClr val="111827"/>
                    </a:solidFill>
                    <a:latin typeface="Cambria Math" panose="02040503050406030204" pitchFamily="18" charset="0"/>
                  </a:rPr>
                  <a:t>$\bar z^2+z=\bar z$</a:t>
                </a:r>
                <a:r>
                  <a:rPr sz="2400" b="0">
                    <a:solidFill>
                      <a:srgbClr val="111827"/>
                    </a:solidFill>
                    <a:latin typeface="Arial"/>
                  </a:rPr>
                  <a:t> ... (ii).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(i) and (ii): </a:t>
                </a:r>
                <a:r>
                  <a:rPr lang="en-IN" sz="2400">
                    <a:solidFill>
                      <a:srgbClr val="111827"/>
                    </a:solidFill>
                    <a:latin typeface="Cambria Math" panose="02040503050406030204" pitchFamily="18" charset="0"/>
                  </a:rPr>
                  <a:t>$z^2+\bar z^2+(z+\bar z)=z+\bar z$</a:t>
                </a:r>
                <a:r>
                  <a:rPr sz="2400" b="0">
                    <a:solidFill>
                      <a:srgbClr val="111827"/>
                    </a:solidFill>
                    <a:latin typeface="Arial"/>
                  </a:rPr>
                  <a:t>, so </a:t>
                </a:r>
                <a:r>
                  <a:rPr lang="en-IN" sz="2400">
                    <a:solidFill>
                      <a:srgbClr val="111827"/>
                    </a:solidFill>
                    <a:latin typeface="Cambria Math" panose="02040503050406030204" pitchFamily="18" charset="0"/>
                  </a:rPr>
                  <a:t>$z^2+\bar z^2=0$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$\bar z^2=-z^2=(iz)^2$</a:t>
                </a:r>
                <a:r>
                  <a:rPr sz="2400" b="0">
                    <a:solidFill>
                      <a:srgbClr val="111827"/>
                    </a:solidFill>
                    <a:latin typeface="Arial"/>
                  </a:rPr>
                  <a:t>, hence </a:t>
                </a:r>
                <a:r>
                  <a:rPr lang="en-IN" sz="2400">
                    <a:solidFill>
                      <a:srgbClr val="111827"/>
                    </a:solidFill>
                    <a:latin typeface="Cambria Math" panose="02040503050406030204" pitchFamily="18" charset="0"/>
                  </a:rPr>
                  <a:t>$\bar z=iz$</a:t>
                </a:r>
                <a:r>
                  <a:rPr sz="2400" b="0">
                    <a:solidFill>
                      <a:srgbClr val="111827"/>
                    </a:solidFill>
                    <a:latin typeface="Arial"/>
                  </a:rPr>
                  <a:t> or </a:t>
                </a:r>
                <a:r>
                  <a:rPr lang="en-IN" sz="2400">
                    <a:solidFill>
                      <a:srgbClr val="111827"/>
                    </a:solidFill>
                    <a:latin typeface="Cambria Math" panose="02040503050406030204" pitchFamily="18" charset="0"/>
                  </a:rPr>
                  <a:t>$\bar z=-iz$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a:t>
                </a:r>
                <a:r>
                  <a:rPr lang="en-IN" sz="2400">
                    <a:solidFill>
                      <a:srgbClr val="111827"/>
                    </a:solidFill>
                    <a:latin typeface="Cambria Math" panose="02040503050406030204" pitchFamily="18" charset="0"/>
                  </a:rPr>
                  <a:t>$\bar z=iz$</a:t>
                </a:r>
                <a:r>
                  <a:rPr sz="2400" b="0">
                    <a:solidFill>
                      <a:srgbClr val="111827"/>
                    </a:solidFill>
                    <a:latin typeface="Arial"/>
                  </a:rPr>
                  <a:t>. Put in (i): </a:t>
                </a:r>
                <a:r>
                  <a:rPr lang="en-IN" sz="2400">
                    <a:solidFill>
                      <a:srgbClr val="111827"/>
                    </a:solidFill>
                    <a:latin typeface="Cambria Math" panose="02040503050406030204" pitchFamily="18" charset="0"/>
                  </a:rPr>
                  <a:t>$z^2+iz=z$</a:t>
                </a:r>
                <a:r>
                  <a:rPr sz="2400" b="0">
                    <a:solidFill>
                      <a:srgbClr val="111827"/>
                    </a:solidFill>
                    <a:latin typeface="Arial"/>
                  </a:rPr>
                  <a:t>, i.e. </a:t>
                </a:r>
                <a:r>
                  <a:rPr lang="en-IN" sz="2400">
                    <a:solidFill>
                      <a:srgbClr val="111827"/>
                    </a:solidFill>
                    <a:latin typeface="Cambria Math" panose="02040503050406030204" pitchFamily="18" charset="0"/>
                  </a:rPr>
                  <a:t>$z(z+i-1)=0$</a:t>
                </a:r>
                <a:r>
                  <a:rPr sz="2400" b="0">
                    <a:solidFill>
                      <a:srgbClr val="111827"/>
                    </a:solidFill>
                    <a:latin typeface="Arial"/>
                  </a:rPr>
                  <a:t>, so </a:t>
                </a:r>
                <a:r>
                  <a:rPr lang="en-IN" sz="2400">
                    <a:solidFill>
                      <a:srgbClr val="111827"/>
                    </a:solidFill>
                    <a:latin typeface="Cambria Math" panose="02040503050406030204" pitchFamily="18" charset="0"/>
                  </a:rPr>
                  <a:t>$z=0$</a:t>
                </a:r>
                <a:r>
                  <a:rPr sz="2400" b="0">
                    <a:solidFill>
                      <a:srgbClr val="111827"/>
                    </a:solidFill>
                    <a:latin typeface="Arial"/>
                  </a:rPr>
                  <a:t> or </a:t>
                </a:r>
                <a:r>
                  <a:rPr lang="en-IN" sz="2400">
                    <a:solidFill>
                      <a:srgbClr val="111827"/>
                    </a:solidFill>
                    <a:latin typeface="Cambria Math" panose="02040503050406030204" pitchFamily="18" charset="0"/>
                  </a:rPr>
                  <a:t>$z=1-i$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 holds.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 Put in (i):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 holds. Also directly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distinct solutions are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(the root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appears in both cases but is one solution).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$z=1-i$</a:t>
                </a:r>
                <a:r>
                  <a:rPr sz="2400" b="0">
                    <a:solidFill>
                      <a:srgbClr val="111827"/>
                    </a:solidFill>
                    <a:latin typeface="Arial"/>
                  </a:rPr>
                  <a:t>: </a:t>
                </a:r>
                <a:r>
                  <a:rPr lang="en-IN" sz="2400">
                    <a:solidFill>
                      <a:srgbClr val="111827"/>
                    </a:solidFill>
                    <a:latin typeface="Cambria Math" panose="02040503050406030204" pitchFamily="18" charset="0"/>
                  </a:rPr>
                  <a:t>$\bar z=1+i$</a:t>
                </a:r>
                <a:r>
                  <a:rPr sz="2400" b="0">
                    <a:solidFill>
                      <a:srgbClr val="111827"/>
                    </a:solidFill>
                    <a:latin typeface="Arial"/>
                  </a:rPr>
                  <a:t> and </a:t>
                </a:r>
                <a:r>
                  <a:rPr lang="en-IN" sz="2400">
                    <a:solidFill>
                      <a:srgbClr val="111827"/>
                    </a:solidFill>
                    <a:latin typeface="Cambria Math" panose="02040503050406030204" pitchFamily="18" charset="0"/>
                  </a:rPr>
                  <a:t>$iz=i+1$</a:t>
                </a:r>
                <a:r>
                  <a:rPr sz="2400" b="0">
                    <a:solidFill>
                      <a:srgbClr val="111827"/>
                    </a:solidFill>
                    <a:latin typeface="Arial"/>
                  </a:rPr>
                  <a:t>, so </a:t>
                </a:r>
                <a:r>
                  <a:rPr lang="en-IN" sz="2400">
                    <a:solidFill>
                      <a:srgbClr val="111827"/>
                    </a:solidFill>
                    <a:latin typeface="Cambria Math" panose="02040503050406030204" pitchFamily="18" charset="0"/>
                  </a:rPr>
                  <a:t>$\bar z=iz$</a:t>
                </a:r>
                <a:r>
                  <a:rPr sz="2400" b="0">
                    <a:solidFill>
                      <a:srgbClr val="111827"/>
                    </a:solidFill>
                    <a:latin typeface="Arial"/>
                  </a:rPr>
                  <a:t> holds.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 </a:t>
                </a:r>
                <a:r>
                  <a:rPr lang="en-IN" sz="2400">
                    <a:solidFill>
                      <a:srgbClr val="111827"/>
                    </a:solidFill>
                    <a:latin typeface="Cambria Math" panose="02040503050406030204" pitchFamily="18" charset="0"/>
                  </a:rPr>
                  <a:t>$\bar z=-iz$</a:t>
                </a:r>
                <a:r>
                  <a:rPr sz="2400" b="0">
                    <a:solidFill>
                      <a:srgbClr val="111827"/>
                    </a:solidFill>
                    <a:latin typeface="Arial"/>
                  </a:rPr>
                  <a:t>. Put in (i): </a:t>
                </a:r>
                <a:r>
                  <a:rPr lang="en-IN" sz="2400">
                    <a:solidFill>
                      <a:srgbClr val="111827"/>
                    </a:solidFill>
                    <a:latin typeface="Cambria Math" panose="02040503050406030204" pitchFamily="18" charset="0"/>
                  </a:rPr>
                  <a:t>$z^2-iz=z$</a:t>
                </a:r>
                <a:r>
                  <a:rPr sz="2400" b="0">
                    <a:solidFill>
                      <a:srgbClr val="111827"/>
                    </a:solidFill>
                    <a:latin typeface="Arial"/>
                  </a:rPr>
                  <a:t>, i.e. </a:t>
                </a:r>
                <a:r>
                  <a:rPr lang="en-IN" sz="2400">
                    <a:solidFill>
                      <a:srgbClr val="111827"/>
                    </a:solidFill>
                    <a:latin typeface="Cambria Math" panose="02040503050406030204" pitchFamily="18" charset="0"/>
                  </a:rPr>
                  <a:t>$z(z-i-1)=0$</a:t>
                </a:r>
                <a:r>
                  <a:rPr sz="2400" b="0">
                    <a:solidFill>
                      <a:srgbClr val="111827"/>
                    </a:solidFill>
                    <a:latin typeface="Arial"/>
                  </a:rPr>
                  <a:t>, so </a:t>
                </a:r>
                <a:r>
                  <a:rPr lang="en-IN" sz="2400">
                    <a:solidFill>
                      <a:srgbClr val="111827"/>
                    </a:solidFill>
                    <a:latin typeface="Cambria Math" panose="02040503050406030204" pitchFamily="18" charset="0"/>
                  </a:rPr>
                  <a:t>$z=0$</a:t>
                </a:r>
                <a:r>
                  <a:rPr sz="2400" b="0">
                    <a:solidFill>
                      <a:srgbClr val="111827"/>
                    </a:solidFill>
                    <a:latin typeface="Arial"/>
                  </a:rPr>
                  <a:t> or </a:t>
                </a:r>
                <a:r>
                  <a:rPr lang="en-IN" sz="2400">
                    <a:solidFill>
                      <a:srgbClr val="111827"/>
                    </a:solidFill>
                    <a:latin typeface="Cambria Math" panose="02040503050406030204" pitchFamily="18" charset="0"/>
                  </a:rPr>
                  <a:t>$z=1+i$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$z=1+i$</a:t>
                </a:r>
                <a:r>
                  <a:rPr sz="2400" b="0">
                    <a:solidFill>
                      <a:srgbClr val="111827"/>
                    </a:solidFill>
                    <a:latin typeface="Arial"/>
                  </a:rPr>
                  <a:t>: </a:t>
                </a:r>
                <a:r>
                  <a:rPr lang="en-IN" sz="2400">
                    <a:solidFill>
                      <a:srgbClr val="111827"/>
                    </a:solidFill>
                    <a:latin typeface="Cambria Math" panose="02040503050406030204" pitchFamily="18" charset="0"/>
                  </a:rPr>
                  <a:t>$\bar z=1-i$</a:t>
                </a:r>
                <a:r>
                  <a:rPr sz="2400" b="0">
                    <a:solidFill>
                      <a:srgbClr val="111827"/>
                    </a:solidFill>
                    <a:latin typeface="Arial"/>
                  </a:rPr>
                  <a:t> and </a:t>
                </a:r>
                <a:r>
                  <a:rPr lang="en-IN" sz="2400">
                    <a:solidFill>
                      <a:srgbClr val="111827"/>
                    </a:solidFill>
                    <a:latin typeface="Cambria Math" panose="02040503050406030204" pitchFamily="18" charset="0"/>
                  </a:rPr>
                  <a:t>$-iz=-i+1$</a:t>
                </a:r>
                <a:r>
                  <a:rPr sz="2400" b="0">
                    <a:solidFill>
                      <a:srgbClr val="111827"/>
                    </a:solidFill>
                    <a:latin typeface="Arial"/>
                  </a:rPr>
                  <a:t>, so </a:t>
                </a:r>
                <a:r>
                  <a:rPr lang="en-IN" sz="2400">
                    <a:solidFill>
                      <a:srgbClr val="111827"/>
                    </a:solidFill>
                    <a:latin typeface="Cambria Math" panose="02040503050406030204" pitchFamily="18" charset="0"/>
                  </a:rPr>
                  <a:t>$\bar z=-iz$</a:t>
                </a:r>
                <a:r>
                  <a:rPr sz="2400" b="0">
                    <a:solidFill>
                      <a:srgbClr val="111827"/>
                    </a:solidFill>
                    <a:latin typeface="Arial"/>
                  </a:rPr>
                  <a:t> holds. Also directly </a:t>
                </a:r>
                <a:r>
                  <a:rPr lang="en-IN" sz="2400">
                    <a:solidFill>
                      <a:srgbClr val="111827"/>
                    </a:solidFill>
                    <a:latin typeface="Cambria Math" panose="02040503050406030204" pitchFamily="18" charset="0"/>
                  </a:rPr>
                  <a:t>$z^2+\bar z=2i+1-i=1+i=z$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distinct solutions are </a:t>
                </a:r>
                <a:r>
                  <a:rPr lang="en-IN" sz="2400">
                    <a:solidFill>
                      <a:srgbClr val="111827"/>
                    </a:solidFill>
                    <a:latin typeface="Cambria Math" panose="02040503050406030204" pitchFamily="18" charset="0"/>
                  </a:rPr>
                  <a:t>$z=0,\ 1-i,\ 1+i$</a:t>
                </a:r>
                <a:r>
                  <a:rPr sz="2400" b="0">
                    <a:solidFill>
                      <a:srgbClr val="111827"/>
                    </a:solidFill>
                    <a:latin typeface="Arial"/>
                  </a:rPr>
                  <a:t> (the root </a:t>
                </a:r>
                <a:r>
                  <a:rPr lang="en-IN" sz="2400">
                    <a:solidFill>
                      <a:srgbClr val="111827"/>
                    </a:solidFill>
                    <a:latin typeface="Cambria Math" panose="02040503050406030204" pitchFamily="18" charset="0"/>
                  </a:rPr>
                  <a:t>$0$</a:t>
                </a:r>
                <a:r>
                  <a:rPr sz="2400" b="0">
                    <a:solidFill>
                      <a:srgbClr val="111827"/>
                    </a:solidFill>
                    <a:latin typeface="Arial"/>
                  </a:rPr>
                  <a:t> appears in both cases but is one solution).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$z_1+z_2+z_3=0+(1-i)+(1+i)=2$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2</a:t>
            </a:r>
            <a:endParaRPr sz="2800">
              <a:solidFill>
                <a:srgbClr val="15803D"/>
              </a:solidFill>
            </a:endParaRP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𝑦</m:t>
                    </m:r>
                  </m:oMath>
                </a14:m>
                <a:r>
                  <a:rPr sz="2400" b="0">
                    <a:solidFill>
                      <a:srgbClr val="78350F"/>
                    </a:solidFill>
                    <a:latin typeface="Arial"/>
                  </a:rPr>
                  <a:t> and split the equation into its real and imaginary parts.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a:t>
                </a:r>
                <a:r>
                  <a:rPr lang="en-IN" sz="2400">
                    <a:solidFill>
                      <a:srgbClr val="78350F"/>
                    </a:solidFill>
                    <a:latin typeface="Cambria Math" panose="02040503050406030204" pitchFamily="18" charset="0"/>
                  </a:rPr>
                  <a:t>$z=x+iy$</a:t>
                </a:r>
                <a:r>
                  <a:rPr sz="2400" b="0">
                    <a:solidFill>
                      <a:srgbClr val="78350F"/>
                    </a:solidFill>
                    <a:latin typeface="Arial"/>
                  </a:rPr>
                  <a:t> and split the equation into its real and imaginary parts.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Real parts: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Imaginary parts: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three solutions are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their sum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$z=x+iy$</a:t>
                </a:r>
                <a:r>
                  <a:rPr sz="2400" b="0">
                    <a:solidFill>
                      <a:srgbClr val="111827"/>
                    </a:solidFill>
                    <a:latin typeface="Arial"/>
                  </a:rPr>
                  <a:t>. Then </a:t>
                </a:r>
                <a:r>
                  <a:rPr lang="en-IN" sz="2400">
                    <a:solidFill>
                      <a:srgbClr val="111827"/>
                    </a:solidFill>
                    <a:latin typeface="Cambria Math" panose="02040503050406030204" pitchFamily="18" charset="0"/>
                  </a:rPr>
                  <a:t>$z^2+\bar z=(x^2-y^2+x)+i(2xy-y)$</a:t>
                </a:r>
                <a:r>
                  <a:rPr sz="2400" b="0">
                    <a:solidFill>
                      <a:srgbClr val="111827"/>
                    </a:solidFill>
                    <a:latin typeface="Arial"/>
                  </a:rPr>
                  <a:t> and </a:t>
                </a:r>
                <a:r>
                  <a:rPr lang="en-IN" sz="2400">
                    <a:solidFill>
                      <a:srgbClr val="111827"/>
                    </a:solidFill>
                    <a:latin typeface="Cambria Math" panose="02040503050406030204" pitchFamily="18" charset="0"/>
                  </a:rPr>
                  <a:t>$z=x+iy$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Real parts: </a:t>
                </a:r>
                <a:r>
                  <a:rPr lang="en-IN" sz="2400">
                    <a:solidFill>
                      <a:srgbClr val="111827"/>
                    </a:solidFill>
                    <a:latin typeface="Cambria Math" panose="02040503050406030204" pitchFamily="18" charset="0"/>
                  </a:rPr>
                  <a:t>$x^2-y^2+x=x$</a:t>
                </a:r>
                <a:r>
                  <a:rPr sz="2400" b="0">
                    <a:solidFill>
                      <a:srgbClr val="111827"/>
                    </a:solidFill>
                    <a:latin typeface="Arial"/>
                  </a:rPr>
                  <a:t>, so </a:t>
                </a:r>
                <a:r>
                  <a:rPr lang="en-IN" sz="2400">
                    <a:solidFill>
                      <a:srgbClr val="111827"/>
                    </a:solidFill>
                    <a:latin typeface="Cambria Math" panose="02040503050406030204" pitchFamily="18" charset="0"/>
                  </a:rPr>
                  <a:t>$x^2=y^2$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Imaginary parts: </a:t>
                </a:r>
                <a:r>
                  <a:rPr lang="en-IN" sz="2400">
                    <a:solidFill>
                      <a:srgbClr val="111827"/>
                    </a:solidFill>
                    <a:latin typeface="Cambria Math" panose="02040503050406030204" pitchFamily="18" charset="0"/>
                  </a:rPr>
                  <a:t>$2xy-y=y$</a:t>
                </a:r>
                <a:r>
                  <a:rPr sz="2400" b="0">
                    <a:solidFill>
                      <a:srgbClr val="111827"/>
                    </a:solidFill>
                    <a:latin typeface="Arial"/>
                  </a:rPr>
                  <a:t>, so </a:t>
                </a:r>
                <a:r>
                  <a:rPr lang="en-IN" sz="2400">
                    <a:solidFill>
                      <a:srgbClr val="111827"/>
                    </a:solidFill>
                    <a:latin typeface="Cambria Math" panose="02040503050406030204" pitchFamily="18" charset="0"/>
                  </a:rPr>
                  <a:t>$y(x-1)=0$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$y=0$</a:t>
                </a:r>
                <a:r>
                  <a:rPr sz="2400" b="0">
                    <a:solidFill>
                      <a:srgbClr val="111827"/>
                    </a:solidFill>
                    <a:latin typeface="Arial"/>
                  </a:rPr>
                  <a:t>, then </a:t>
                </a:r>
                <a:r>
                  <a:rPr lang="en-IN" sz="2400">
                    <a:solidFill>
                      <a:srgbClr val="111827"/>
                    </a:solidFill>
                    <a:latin typeface="Cambria Math" panose="02040503050406030204" pitchFamily="18" charset="0"/>
                  </a:rPr>
                  <a:t>$x^2=0$</a:t>
                </a:r>
                <a:r>
                  <a:rPr sz="2400" b="0">
                    <a:solidFill>
                      <a:srgbClr val="111827"/>
                    </a:solidFill>
                    <a:latin typeface="Arial"/>
                  </a:rPr>
                  <a:t>, so </a:t>
                </a:r>
                <a:r>
                  <a:rPr lang="en-IN" sz="2400">
                    <a:solidFill>
                      <a:srgbClr val="111827"/>
                    </a:solidFill>
                    <a:latin typeface="Cambria Math" panose="02040503050406030204" pitchFamily="18" charset="0"/>
                  </a:rPr>
                  <a:t>$z=0$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$x=1$</a:t>
                </a:r>
                <a:r>
                  <a:rPr sz="2400" b="0">
                    <a:solidFill>
                      <a:srgbClr val="111827"/>
                    </a:solidFill>
                    <a:latin typeface="Arial"/>
                  </a:rPr>
                  <a:t>, then </a:t>
                </a:r>
                <a:r>
                  <a:rPr lang="en-IN" sz="2400">
                    <a:solidFill>
                      <a:srgbClr val="111827"/>
                    </a:solidFill>
                    <a:latin typeface="Cambria Math" panose="02040503050406030204" pitchFamily="18" charset="0"/>
                  </a:rPr>
                  <a:t>$y^2=1$</a:t>
                </a:r>
                <a:r>
                  <a:rPr sz="2400" b="0">
                    <a:solidFill>
                      <a:srgbClr val="111827"/>
                    </a:solidFill>
                    <a:latin typeface="Arial"/>
                  </a:rPr>
                  <a:t>, so </a:t>
                </a:r>
                <a:r>
                  <a:rPr lang="en-IN" sz="2400">
                    <a:solidFill>
                      <a:srgbClr val="111827"/>
                    </a:solidFill>
                    <a:latin typeface="Cambria Math" panose="02040503050406030204" pitchFamily="18" charset="0"/>
                  </a:rPr>
                  <a:t>$y=\pm1$</a:t>
                </a:r>
                <a:r>
                  <a:rPr sz="2400" b="0">
                    <a:solidFill>
                      <a:srgbClr val="111827"/>
                    </a:solidFill>
                    <a:latin typeface="Arial"/>
                  </a:rPr>
                  <a:t> and </a:t>
                </a:r>
                <a:r>
                  <a:rPr lang="en-IN" sz="2400">
                    <a:solidFill>
                      <a:srgbClr val="111827"/>
                    </a:solidFill>
                    <a:latin typeface="Cambria Math" panose="02040503050406030204" pitchFamily="18" charset="0"/>
                  </a:rPr>
                  <a:t>$z=1\pm 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three solutions are </a:t>
                </a:r>
                <a:r>
                  <a:rPr lang="en-IN" sz="2400">
                    <a:solidFill>
                      <a:srgbClr val="111827"/>
                    </a:solidFill>
                    <a:latin typeface="Cambria Math" panose="02040503050406030204" pitchFamily="18" charset="0"/>
                  </a:rPr>
                  <a:t>$0,\ 1+i,\ 1-i$</a:t>
                </a:r>
                <a:r>
                  <a:rPr sz="2400" b="0">
                    <a:solidFill>
                      <a:srgbClr val="111827"/>
                    </a:solidFill>
                    <a:latin typeface="Arial"/>
                  </a:rPr>
                  <a:t> and their sum is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2</a:t>
            </a:r>
            <a:endParaRPr sz="2800">
              <a:solidFill>
                <a:srgbClr val="15803D"/>
              </a:solidFill>
            </a:endParaRP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 equation in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adding or subtracting it with its conjugate removes one of the two unknown quantities and often gives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-type relations.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exactly when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i.e.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is purely imaginary, and a purely imaginary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forces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(checked: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Splitting into real and imaginary parts gives the exact number of solutions: here two real equations in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give exactly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points.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 equation in </a:t>
                </a:r>
                <a:r>
                  <a:rPr lang="en-IN" sz="2400">
                    <a:solidFill>
                      <a:srgbClr val="111827"/>
                    </a:solidFill>
                    <a:latin typeface="Cambria Math" panose="02040503050406030204" pitchFamily="18" charset="0"/>
                  </a:rPr>
                  <a:t>$z$</a:t>
                </a:r>
                <a:r>
                  <a:rPr sz="2400" b="0">
                    <a:solidFill>
                      <a:srgbClr val="111827"/>
                    </a:solidFill>
                    <a:latin typeface="Arial"/>
                  </a:rPr>
                  <a:t> and </a:t>
                </a:r>
                <a:r>
                  <a:rPr lang="en-IN" sz="2400">
                    <a:solidFill>
                      <a:srgbClr val="111827"/>
                    </a:solidFill>
                    <a:latin typeface="Cambria Math" panose="02040503050406030204" pitchFamily="18" charset="0"/>
                  </a:rPr>
                  <a:t>$\bar z$</a:t>
                </a:r>
                <a:r>
                  <a:rPr sz="2400" b="0">
                    <a:solidFill>
                      <a:srgbClr val="111827"/>
                    </a:solidFill>
                    <a:latin typeface="Arial"/>
                  </a:rPr>
                  <a:t>, adding or subtracting it with its conjugate removes one of the two unknown quantities and often gives </a:t>
                </a:r>
                <a:r>
                  <a:rPr lang="en-IN" sz="2400">
                    <a:solidFill>
                      <a:srgbClr val="111827"/>
                    </a:solidFill>
                    <a:latin typeface="Cambria Math" panose="02040503050406030204" pitchFamily="18" charset="0"/>
                  </a:rPr>
                  <a:t>$z=\pm iz$</a:t>
                </a:r>
                <a:r>
                  <a:rPr sz="2400" b="0">
                    <a:solidFill>
                      <a:srgbClr val="111827"/>
                    </a:solidFill>
                    <a:latin typeface="Arial"/>
                  </a:rPr>
                  <a:t>-type relations.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$z^2+\bar z^2=2(x^2-y^2)$</a:t>
                </a:r>
                <a:r>
                  <a:rPr sz="2400" b="0">
                    <a:solidFill>
                      <a:srgbClr val="111827"/>
                    </a:solidFill>
                    <a:latin typeface="Arial"/>
                  </a:rPr>
                  <a:t>, so </a:t>
                </a:r>
                <a:r>
                  <a:rPr lang="en-IN" sz="2400">
                    <a:solidFill>
                      <a:srgbClr val="111827"/>
                    </a:solidFill>
                    <a:latin typeface="Cambria Math" panose="02040503050406030204" pitchFamily="18" charset="0"/>
                  </a:rPr>
                  <a:t>$z^2+\bar z^2=0$</a:t>
                </a:r>
                <a:r>
                  <a:rPr sz="2400" b="0">
                    <a:solidFill>
                      <a:srgbClr val="111827"/>
                    </a:solidFill>
                    <a:latin typeface="Arial"/>
                  </a:rPr>
                  <a:t> exactly when </a:t>
                </a:r>
                <a:r>
                  <a:rPr lang="en-IN" sz="2400">
                    <a:solidFill>
                      <a:srgbClr val="111827"/>
                    </a:solidFill>
                    <a:latin typeface="Cambria Math" panose="02040503050406030204" pitchFamily="18" charset="0"/>
                  </a:rPr>
                  <a:t>$y=\pm x$</a:t>
                </a:r>
                <a:r>
                  <a:rPr sz="2400" b="0">
                    <a:solidFill>
                      <a:srgbClr val="111827"/>
                    </a:solidFill>
                    <a:latin typeface="Arial"/>
                  </a:rPr>
                  <a:t>, i.e. </a:t>
                </a:r>
                <a:r>
                  <a:rPr lang="en-IN" sz="2400">
                    <a:solidFill>
                      <a:srgbClr val="111827"/>
                    </a:solidFill>
                    <a:latin typeface="Cambria Math" panose="02040503050406030204" pitchFamily="18" charset="0"/>
                  </a:rPr>
                  <a:t>$\bar z=\pm iz$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$z^2=z-\bar z=2iy$</a:t>
                </a:r>
                <a:r>
                  <a:rPr sz="2400" b="0">
                    <a:solidFill>
                      <a:srgbClr val="111827"/>
                    </a:solidFill>
                    <a:latin typeface="Arial"/>
                  </a:rPr>
                  <a:t> is purely imaginary, and a purely imaginary </a:t>
                </a:r>
                <a:r>
                  <a:rPr lang="en-IN" sz="2400">
                    <a:solidFill>
                      <a:srgbClr val="111827"/>
                    </a:solidFill>
                    <a:latin typeface="Cambria Math" panose="02040503050406030204" pitchFamily="18" charset="0"/>
                  </a:rPr>
                  <a:t>$z^2$</a:t>
                </a:r>
                <a:r>
                  <a:rPr sz="2400" b="0">
                    <a:solidFill>
                      <a:srgbClr val="111827"/>
                    </a:solidFill>
                    <a:latin typeface="Arial"/>
                  </a:rPr>
                  <a:t> forces </a:t>
                </a:r>
                <a:r>
                  <a:rPr lang="en-IN" sz="2400">
                    <a:solidFill>
                      <a:srgbClr val="111827"/>
                    </a:solidFill>
                    <a:latin typeface="Cambria Math" panose="02040503050406030204" pitchFamily="18" charset="0"/>
                  </a:rPr>
                  <a:t>$|x|=|y|$</a:t>
                </a:r>
                <a:r>
                  <a:rPr sz="2400" b="0">
                    <a:solidFill>
                      <a:srgbClr val="111827"/>
                    </a:solidFill>
                    <a:latin typeface="Arial"/>
                  </a:rPr>
                  <a:t> for </a:t>
                </a:r>
                <a:r>
                  <a:rPr lang="en-IN" sz="2400">
                    <a:solidFill>
                      <a:srgbClr val="111827"/>
                    </a:solidFill>
                    <a:latin typeface="Cambria Math" panose="02040503050406030204" pitchFamily="18" charset="0"/>
                  </a:rPr>
                  <a:t>$z=x+iy$</a:t>
                </a:r>
                <a:r>
                  <a:rPr sz="2400" b="0">
                    <a:solidFill>
                      <a:srgbClr val="111827"/>
                    </a:solidFill>
                    <a:latin typeface="Arial"/>
                  </a:rPr>
                  <a:t> (checked: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$1\pm 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Splitting into real and imaginary parts gives the exact number of solutions: here two real equations in </a:t>
                </a:r>
                <a:r>
                  <a:rPr lang="en-IN" sz="2400">
                    <a:solidFill>
                      <a:srgbClr val="111827"/>
                    </a:solidFill>
                    <a:latin typeface="Cambria Math" panose="02040503050406030204" pitchFamily="18" charset="0"/>
                  </a:rPr>
                  <a:t>$x,y$</a:t>
                </a:r>
                <a:r>
                  <a:rPr sz="2400" b="0">
                    <a:solidFill>
                      <a:srgbClr val="111827"/>
                    </a:solidFill>
                    <a:latin typeface="Arial"/>
                  </a:rPr>
                  <a:t> give exactly </a:t>
                </a:r>
                <a:r>
                  <a:rPr lang="en-IN" sz="2400">
                    <a:solidFill>
                      <a:srgbClr val="111827"/>
                    </a:solidFill>
                    <a:latin typeface="Cambria Math" panose="02040503050406030204" pitchFamily="18" charset="0"/>
                  </a:rPr>
                  <a:t>$3$</a:t>
                </a:r>
                <a:r>
                  <a:rPr sz="2400" b="0">
                    <a:solidFill>
                      <a:srgbClr val="111827"/>
                    </a:solidFill>
                    <a:latin typeface="Arial"/>
                  </a:rPr>
                  <a:t> points.</a:t>
                </a:r>
                <a:endParaRPr sz="2400">
                  <a:solidFill>
                    <a:srgbClr val="111827"/>
                  </a:solidFill>
                </a:endParaRPr>
              </a:p>
            </p:txBody>
          </p:sp>
        </mc:Fallback>
      </mc:AlternateContent>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Number of squares that can be formed in an </a:t>
                </a: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chessboard, so that each square is surrounded by four squares of same dimension: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42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45</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48</m:t>
                    </m:r>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Number of squares that can be formed in an </a:t>
                </a:r>
                <a:r>
                  <a:rPr lang="en-IN" sz="2400">
                    <a:solidFill>
                      <a:srgbClr val="111827"/>
                    </a:solidFill>
                    <a:latin typeface="Cambria Math" panose="02040503050406030204" pitchFamily="18" charset="0"/>
                  </a:rPr>
                  <a:t>$8\times8$</a:t>
                </a:r>
                <a:r>
                  <a:rPr sz="2400" b="0">
                    <a:solidFill>
                      <a:srgbClr val="111827"/>
                    </a:solidFill>
                    <a:latin typeface="Arial"/>
                  </a:rPr>
                  <a:t> chessboard, so that each square is surrounded by four squares of same dimension: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$36$</a:t>
                </a:r>
                <a:r>
                  <a:rPr sz="2400" b="0">
                    <a:solidFill>
                      <a:srgbClr val="111827"/>
                    </a:solidFill>
                    <a:latin typeface="Arial"/>
                  </a:rPr>
                  <a:t>   (B) </a:t>
                </a:r>
                <a:r>
                  <a:rPr lang="en-IN" sz="2400">
                    <a:solidFill>
                      <a:srgbClr val="111827"/>
                    </a:solidFill>
                    <a:latin typeface="Cambria Math" panose="02040503050406030204" pitchFamily="18" charset="0"/>
                  </a:rPr>
                  <a:t>$42$</a:t>
                </a:r>
                <a:r>
                  <a:rPr sz="2400" b="0">
                    <a:solidFill>
                      <a:srgbClr val="111827"/>
                    </a:solidFill>
                    <a:latin typeface="Arial"/>
                  </a:rPr>
                  <a:t>   (C) </a:t>
                </a:r>
                <a:r>
                  <a:rPr lang="en-IN" sz="2400">
                    <a:solidFill>
                      <a:srgbClr val="111827"/>
                    </a:solidFill>
                    <a:latin typeface="Cambria Math" panose="02040503050406030204" pitchFamily="18" charset="0"/>
                  </a:rPr>
                  <a:t>$45$</a:t>
                </a:r>
                <a:r>
                  <a:rPr sz="2400" b="0">
                    <a:solidFill>
                      <a:srgbClr val="111827"/>
                    </a:solidFill>
                    <a:latin typeface="Arial"/>
                  </a:rPr>
                  <a:t>   (D) </a:t>
                </a:r>
                <a:r>
                  <a:rPr lang="en-IN" sz="2400">
                    <a:solidFill>
                      <a:srgbClr val="111827"/>
                    </a:solidFill>
                    <a:latin typeface="Cambria Math" panose="02040503050406030204" pitchFamily="18" charset="0"/>
                  </a:rPr>
                  <a:t>$48$</a:t>
                </a:r>
                <a:endParaRPr sz="2400">
                  <a:solidFill>
                    <a:srgbClr val="111827"/>
                  </a:solidFill>
                </a:endParaRPr>
              </a:p>
            </p:txBody>
          </p:sp>
        </mc:Fallback>
      </mc:AlternateContent>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squares on a chessboard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a:t>
                </a:r>
                <a14:m>
                  <m:oMath xmlns:m="http://schemas.openxmlformats.org/officeDocument/2006/math">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oMath>
                </a14:m>
                <a:r>
                  <a:rPr sz="2400" b="0">
                    <a:solidFill>
                      <a:srgbClr val="78350F"/>
                    </a:solidFill>
                    <a:latin typeface="Arial"/>
                  </a:rPr>
                  <a:t> square has four neighbours of its own size only if it has a margin of at least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cells on every side.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a:t>
                </a:r>
                <a:r>
                  <a:rPr lang="en-IN" sz="2400">
                    <a:solidFill>
                      <a:srgbClr val="78350F"/>
                    </a:solidFill>
                    <a:latin typeface="Cambria Math" panose="02040503050406030204" pitchFamily="18" charset="0"/>
                  </a:rPr>
                  <a:t>$k\times k$</a:t>
                </a:r>
                <a:r>
                  <a:rPr sz="2400" b="0">
                    <a:solidFill>
                      <a:srgbClr val="78350F"/>
                    </a:solidFill>
                    <a:latin typeface="Arial"/>
                  </a:rPr>
                  <a:t> square has four neighbours of its own size only if it has a margin of at least </a:t>
                </a:r>
                <a:r>
                  <a:rPr lang="en-IN" sz="2400">
                    <a:solidFill>
                      <a:srgbClr val="78350F"/>
                    </a:solidFill>
                    <a:latin typeface="Cambria Math" panose="02040503050406030204" pitchFamily="18" charset="0"/>
                  </a:rPr>
                  <a:t>$k$</a:t>
                </a:r>
                <a:r>
                  <a:rPr sz="2400" b="0">
                    <a:solidFill>
                      <a:srgbClr val="78350F"/>
                    </a:solidFill>
                    <a:latin typeface="Arial"/>
                  </a:rPr>
                  <a:t> cells on every side.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Reading of the question: a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square made of board cells must have a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square of the board on its left, right, above and below, i.e. at least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free rows or columns on each side.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squares of dimension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cell must not lie in the outer ring, so it lies in the inner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block.</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such squares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 squares of dimension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it needs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free columns on each side, so its left column can be column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choices; similarly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choices for the rows.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Reading of the question: a </a:t>
                </a:r>
                <a:r>
                  <a:rPr lang="en-IN" sz="2400">
                    <a:solidFill>
                      <a:srgbClr val="111827"/>
                    </a:solidFill>
                    <a:latin typeface="Cambria Math" panose="02040503050406030204" pitchFamily="18" charset="0"/>
                  </a:rPr>
                  <a:t>$k\times k$</a:t>
                </a:r>
                <a:r>
                  <a:rPr sz="2400" b="0">
                    <a:solidFill>
                      <a:srgbClr val="111827"/>
                    </a:solidFill>
                    <a:latin typeface="Arial"/>
                  </a:rPr>
                  <a:t> square made of board cells must have a </a:t>
                </a:r>
                <a:r>
                  <a:rPr lang="en-IN" sz="2400">
                    <a:solidFill>
                      <a:srgbClr val="111827"/>
                    </a:solidFill>
                    <a:latin typeface="Cambria Math" panose="02040503050406030204" pitchFamily="18" charset="0"/>
                  </a:rPr>
                  <a:t>$k\times k$</a:t>
                </a:r>
                <a:r>
                  <a:rPr sz="2400" b="0">
                    <a:solidFill>
                      <a:srgbClr val="111827"/>
                    </a:solidFill>
                    <a:latin typeface="Arial"/>
                  </a:rPr>
                  <a:t> square of the board on its left, right, above and below, i.e. at least </a:t>
                </a:r>
                <a:r>
                  <a:rPr lang="en-IN" sz="2400">
                    <a:solidFill>
                      <a:srgbClr val="111827"/>
                    </a:solidFill>
                    <a:latin typeface="Cambria Math" panose="02040503050406030204" pitchFamily="18" charset="0"/>
                  </a:rPr>
                  <a:t>$k$</a:t>
                </a:r>
                <a:r>
                  <a:rPr sz="2400" b="0">
                    <a:solidFill>
                      <a:srgbClr val="111827"/>
                    </a:solidFill>
                    <a:latin typeface="Arial"/>
                  </a:rPr>
                  <a:t> free rows or columns on each side.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squares of dimension </a:t>
                </a:r>
                <a:r>
                  <a:rPr lang="en-IN" sz="2400">
                    <a:solidFill>
                      <a:srgbClr val="111827"/>
                    </a:solidFill>
                    <a:latin typeface="Cambria Math" panose="02040503050406030204" pitchFamily="18" charset="0"/>
                  </a:rPr>
                  <a:t>$1\times1$</a:t>
                </a:r>
                <a:r>
                  <a:rPr sz="2400" b="0">
                    <a:solidFill>
                      <a:srgbClr val="111827"/>
                    </a:solidFill>
                    <a:latin typeface="Arial"/>
                  </a:rPr>
                  <a:t>: the cell must not lie in the outer ring, so it lies in the inner </a:t>
                </a:r>
                <a:r>
                  <a:rPr lang="en-IN" sz="2400">
                    <a:solidFill>
                      <a:srgbClr val="111827"/>
                    </a:solidFill>
                    <a:latin typeface="Cambria Math" panose="02040503050406030204" pitchFamily="18" charset="0"/>
                  </a:rPr>
                  <a:t>$6\times6$</a:t>
                </a:r>
                <a:r>
                  <a:rPr sz="2400" b="0">
                    <a:solidFill>
                      <a:srgbClr val="111827"/>
                    </a:solidFill>
                    <a:latin typeface="Arial"/>
                  </a:rPr>
                  <a:t> block.</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such squares </a:t>
                </a:r>
                <a:r>
                  <a:rPr lang="en-IN" sz="2400">
                    <a:solidFill>
                      <a:srgbClr val="111827"/>
                    </a:solidFill>
                    <a:latin typeface="Cambria Math" panose="02040503050406030204" pitchFamily="18" charset="0"/>
                  </a:rPr>
                  <a:t>$=6\times6=36$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 squares of dimension </a:t>
                </a:r>
                <a:r>
                  <a:rPr lang="en-IN" sz="2400">
                    <a:solidFill>
                      <a:srgbClr val="111827"/>
                    </a:solidFill>
                    <a:latin typeface="Cambria Math" panose="02040503050406030204" pitchFamily="18" charset="0"/>
                  </a:rPr>
                  <a:t>$2\times2$</a:t>
                </a:r>
                <a:r>
                  <a:rPr sz="2400" b="0">
                    <a:solidFill>
                      <a:srgbClr val="111827"/>
                    </a:solidFill>
                    <a:latin typeface="Arial"/>
                  </a:rPr>
                  <a:t>: it needs </a:t>
                </a:r>
                <a:r>
                  <a:rPr lang="en-IN" sz="2400">
                    <a:solidFill>
                      <a:srgbClr val="111827"/>
                    </a:solidFill>
                    <a:latin typeface="Cambria Math" panose="02040503050406030204" pitchFamily="18" charset="0"/>
                  </a:rPr>
                  <a:t>$2$</a:t>
                </a:r>
                <a:r>
                  <a:rPr sz="2400" b="0">
                    <a:solidFill>
                      <a:srgbClr val="111827"/>
                    </a:solidFill>
                    <a:latin typeface="Arial"/>
                  </a:rPr>
                  <a:t> free columns on each side, so its left column can be column </a:t>
                </a:r>
                <a:r>
                  <a:rPr lang="en-IN" sz="2400">
                    <a:solidFill>
                      <a:srgbClr val="111827"/>
                    </a:solidFill>
                    <a:latin typeface="Cambria Math" panose="02040503050406030204" pitchFamily="18" charset="0"/>
                  </a:rPr>
                  <a:t>$3,4$</a:t>
                </a:r>
                <a:r>
                  <a:rPr sz="2400" b="0">
                    <a:solidFill>
                      <a:srgbClr val="111827"/>
                    </a:solidFill>
                    <a:latin typeface="Arial"/>
                  </a:rPr>
                  <a:t> or </a:t>
                </a:r>
                <a:r>
                  <a:rPr lang="en-IN" sz="2400">
                    <a:solidFill>
                      <a:srgbClr val="111827"/>
                    </a:solidFill>
                    <a:latin typeface="Cambria Math" panose="02040503050406030204" pitchFamily="18" charset="0"/>
                  </a:rPr>
                  <a:t>$5$</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choices; similarly </a:t>
                </a:r>
                <a:r>
                  <a:rPr lang="en-IN" sz="2400">
                    <a:solidFill>
                      <a:srgbClr val="111827"/>
                    </a:solidFill>
                    <a:latin typeface="Cambria Math" panose="02040503050406030204" pitchFamily="18" charset="0"/>
                  </a:rPr>
                  <a:t>$3$</a:t>
                </a:r>
                <a:r>
                  <a:rPr sz="2400" b="0">
                    <a:solidFill>
                      <a:srgbClr val="111827"/>
                    </a:solidFill>
                    <a:latin typeface="Arial"/>
                  </a:rPr>
                  <a:t> choices for the rows.</a:t>
                </a:r>
                <a:endParaRPr sz="2400">
                  <a:solidFill>
                    <a:srgbClr val="111827"/>
                  </a:solidFill>
                </a:endParaRPr>
              </a:p>
            </p:txBody>
          </p:sp>
        </mc:Fallback>
      </mc:AlternateContent>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such squares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III, squares of dimension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or more: they would need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8</m:t>
                    </m:r>
                  </m:oMath>
                </a14:m>
                <a:r>
                  <a:rPr sz="2400" b="0">
                    <a:solidFill>
                      <a:srgbClr val="111827"/>
                    </a:solidFill>
                    <a:latin typeface="Arial"/>
                  </a:rPr>
                  <a:t> columns, which is impossible. No other possibility.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number of squares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such squares </a:t>
                </a:r>
                <a:r>
                  <a:rPr lang="en-IN" sz="2400">
                    <a:solidFill>
                      <a:srgbClr val="111827"/>
                    </a:solidFill>
                    <a:latin typeface="Cambria Math" panose="02040503050406030204" pitchFamily="18" charset="0"/>
                  </a:rPr>
                  <a:t>$=3\times3=9$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III, squares of dimension </a:t>
                </a:r>
                <a:r>
                  <a:rPr lang="en-IN" sz="2400">
                    <a:solidFill>
                      <a:srgbClr val="111827"/>
                    </a:solidFill>
                    <a:latin typeface="Cambria Math" panose="02040503050406030204" pitchFamily="18" charset="0"/>
                  </a:rPr>
                  <a:t>$3\times3$</a:t>
                </a:r>
                <a:r>
                  <a:rPr sz="2400" b="0">
                    <a:solidFill>
                      <a:srgbClr val="111827"/>
                    </a:solidFill>
                    <a:latin typeface="Arial"/>
                  </a:rPr>
                  <a:t> or more: they would need </a:t>
                </a:r>
                <a:r>
                  <a:rPr lang="en-IN" sz="2400">
                    <a:solidFill>
                      <a:srgbClr val="111827"/>
                    </a:solidFill>
                    <a:latin typeface="Cambria Math" panose="02040503050406030204" pitchFamily="18" charset="0"/>
                  </a:rPr>
                  <a:t>$3+3+3=9&gt;8$</a:t>
                </a:r>
                <a:r>
                  <a:rPr sz="2400" b="0">
                    <a:solidFill>
                      <a:srgbClr val="111827"/>
                    </a:solidFill>
                    <a:latin typeface="Arial"/>
                  </a:rPr>
                  <a:t> columns, which is impossible. No other possibility.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number of squares </a:t>
                </a:r>
                <a:r>
                  <a:rPr lang="en-IN" sz="2400">
                    <a:solidFill>
                      <a:srgbClr val="111827"/>
                    </a:solidFill>
                    <a:latin typeface="Cambria Math" panose="02040503050406030204" pitchFamily="18" charset="0"/>
                  </a:rPr>
                  <a:t>$=36+9=45$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45</a:t>
            </a:r>
            <a:endParaRPr sz="2800">
              <a:solidFill>
                <a:srgbClr val="15803D"/>
              </a:solidFill>
            </a:endParaRP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Each valid square corresponds one-to-one with the plus-shaped block it needs, whose bounding box is a </a:t>
                </a:r>
                <a14:m>
                  <m:oMath xmlns:m="http://schemas.openxmlformats.org/officeDocument/2006/math">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𝑘</m:t>
                    </m:r>
                  </m:oMath>
                </a14:m>
                <a:r>
                  <a:rPr sz="2400" b="0">
                    <a:solidFill>
                      <a:srgbClr val="78350F"/>
                    </a:solidFill>
                    <a:latin typeface="Arial"/>
                  </a:rPr>
                  <a:t> window of the board.</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Each valid square corresponds one-to-one with the plus-shaped block it needs, whose bounding box is a </a:t>
                </a:r>
                <a:r>
                  <a:rPr lang="en-IN" sz="2400">
                    <a:solidFill>
                      <a:srgbClr val="78350F"/>
                    </a:solidFill>
                    <a:latin typeface="Cambria Math" panose="02040503050406030204" pitchFamily="18" charset="0"/>
                  </a:rPr>
                  <a:t>$3k\times3k$</a:t>
                </a:r>
                <a:r>
                  <a:rPr sz="2400" b="0">
                    <a:solidFill>
                      <a:srgbClr val="78350F"/>
                    </a:solidFill>
                    <a:latin typeface="Arial"/>
                  </a:rPr>
                  <a:t> window of the board.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square with a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square on each of its four sides sits at the centre of a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oMath>
                </a14:m>
                <a:r>
                  <a:rPr sz="2400" b="0">
                    <a:solidFill>
                      <a:srgbClr val="111827"/>
                    </a:solidFill>
                    <a:latin typeface="Arial"/>
                  </a:rPr>
                  <a:t> window (corner pieces are not needed).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Conversely, every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oMath>
                </a14:m>
                <a:r>
                  <a:rPr sz="2400" b="0">
                    <a:solidFill>
                      <a:srgbClr val="111827"/>
                    </a:solidFill>
                    <a:latin typeface="Arial"/>
                  </a:rPr>
                  <a:t> window of the board has exactly one central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square, so squares of size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correspond one-to-one to such windows.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oMath>
                </a14:m>
                <a:r>
                  <a:rPr sz="2400" b="0">
                    <a:solidFill>
                      <a:srgbClr val="111827"/>
                    </a:solidFill>
                    <a:latin typeface="Arial"/>
                  </a:rPr>
                  <a:t> window fits in an </a:t>
                </a: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board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positions.</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$k\times k$</a:t>
                </a:r>
                <a:r>
                  <a:rPr sz="2400" b="0">
                    <a:solidFill>
                      <a:srgbClr val="111827"/>
                    </a:solidFill>
                    <a:latin typeface="Arial"/>
                  </a:rPr>
                  <a:t> square with a </a:t>
                </a:r>
                <a:r>
                  <a:rPr lang="en-IN" sz="2400">
                    <a:solidFill>
                      <a:srgbClr val="111827"/>
                    </a:solidFill>
                    <a:latin typeface="Cambria Math" panose="02040503050406030204" pitchFamily="18" charset="0"/>
                  </a:rPr>
                  <a:t>$k\times k$</a:t>
                </a:r>
                <a:r>
                  <a:rPr sz="2400" b="0">
                    <a:solidFill>
                      <a:srgbClr val="111827"/>
                    </a:solidFill>
                    <a:latin typeface="Arial"/>
                  </a:rPr>
                  <a:t> square on each of its four sides sits at the centre of a </a:t>
                </a:r>
                <a:r>
                  <a:rPr lang="en-IN" sz="2400">
                    <a:solidFill>
                      <a:srgbClr val="111827"/>
                    </a:solidFill>
                    <a:latin typeface="Cambria Math" panose="02040503050406030204" pitchFamily="18" charset="0"/>
                  </a:rPr>
                  <a:t>$3k\times3k$</a:t>
                </a:r>
                <a:r>
                  <a:rPr sz="2400" b="0">
                    <a:solidFill>
                      <a:srgbClr val="111827"/>
                    </a:solidFill>
                    <a:latin typeface="Arial"/>
                  </a:rPr>
                  <a:t> window (corner pieces are not needed).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Conversely, every </a:t>
                </a:r>
                <a:r>
                  <a:rPr lang="en-IN" sz="2400">
                    <a:solidFill>
                      <a:srgbClr val="111827"/>
                    </a:solidFill>
                    <a:latin typeface="Cambria Math" panose="02040503050406030204" pitchFamily="18" charset="0"/>
                  </a:rPr>
                  <a:t>$3k\times3k$</a:t>
                </a:r>
                <a:r>
                  <a:rPr sz="2400" b="0">
                    <a:solidFill>
                      <a:srgbClr val="111827"/>
                    </a:solidFill>
                    <a:latin typeface="Arial"/>
                  </a:rPr>
                  <a:t> window of the board has exactly one central </a:t>
                </a:r>
                <a:r>
                  <a:rPr lang="en-IN" sz="2400">
                    <a:solidFill>
                      <a:srgbClr val="111827"/>
                    </a:solidFill>
                    <a:latin typeface="Cambria Math" panose="02040503050406030204" pitchFamily="18" charset="0"/>
                  </a:rPr>
                  <a:t>$k\times k$</a:t>
                </a:r>
                <a:r>
                  <a:rPr sz="2400" b="0">
                    <a:solidFill>
                      <a:srgbClr val="111827"/>
                    </a:solidFill>
                    <a:latin typeface="Arial"/>
                  </a:rPr>
                  <a:t> square, so squares of size </a:t>
                </a:r>
                <a:r>
                  <a:rPr lang="en-IN" sz="2400">
                    <a:solidFill>
                      <a:srgbClr val="111827"/>
                    </a:solidFill>
                    <a:latin typeface="Cambria Math" panose="02040503050406030204" pitchFamily="18" charset="0"/>
                  </a:rPr>
                  <a:t>$k$</a:t>
                </a:r>
                <a:r>
                  <a:rPr sz="2400" b="0">
                    <a:solidFill>
                      <a:srgbClr val="111827"/>
                    </a:solidFill>
                    <a:latin typeface="Arial"/>
                  </a:rPr>
                  <a:t> correspond one-to-one to such windows.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$3k\times3k$</a:t>
                </a:r>
                <a:r>
                  <a:rPr sz="2400" b="0">
                    <a:solidFill>
                      <a:srgbClr val="111827"/>
                    </a:solidFill>
                    <a:latin typeface="Arial"/>
                  </a:rPr>
                  <a:t> window fits in an </a:t>
                </a:r>
                <a:r>
                  <a:rPr lang="en-IN" sz="2400">
                    <a:solidFill>
                      <a:srgbClr val="111827"/>
                    </a:solidFill>
                    <a:latin typeface="Cambria Math" panose="02040503050406030204" pitchFamily="18" charset="0"/>
                  </a:rPr>
                  <a:t>$8\times8$</a:t>
                </a:r>
                <a:r>
                  <a:rPr sz="2400" b="0">
                    <a:solidFill>
                      <a:srgbClr val="111827"/>
                    </a:solidFill>
                    <a:latin typeface="Arial"/>
                  </a:rPr>
                  <a:t> board in </a:t>
                </a:r>
                <a:r>
                  <a:rPr lang="en-IN" sz="2400">
                    <a:solidFill>
                      <a:srgbClr val="111827"/>
                    </a:solidFill>
                    <a:latin typeface="Cambria Math" panose="02040503050406030204" pitchFamily="18" charset="0"/>
                  </a:rPr>
                  <a:t>$(8-3k+1)^2=(9-3k)^2$</a:t>
                </a:r>
                <a:r>
                  <a:rPr sz="2400" b="0">
                    <a:solidFill>
                      <a:srgbClr val="111827"/>
                    </a:solidFill>
                    <a:latin typeface="Arial"/>
                  </a:rPr>
                  <a:t> positions.</a:t>
                </a:r>
                <a:endParaRPr sz="2400">
                  <a:solidFill>
                    <a:srgbClr val="111827"/>
                  </a:solidFill>
                </a:endParaRPr>
              </a:p>
            </p:txBody>
          </p:sp>
        </mc:Fallback>
      </mc:AlternateContent>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This needs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only.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windows, i.e.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 squares.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windows, i.e.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squares.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This needs </a:t>
                </a:r>
                <a:r>
                  <a:rPr lang="en-IN" sz="2400">
                    <a:solidFill>
                      <a:srgbClr val="111827"/>
                    </a:solidFill>
                    <a:latin typeface="Cambria Math" panose="02040503050406030204" pitchFamily="18" charset="0"/>
                  </a:rPr>
                  <a:t>$3k\le8$</a:t>
                </a:r>
                <a:r>
                  <a:rPr sz="2400" b="0">
                    <a:solidFill>
                      <a:srgbClr val="111827"/>
                    </a:solidFill>
                    <a:latin typeface="Arial"/>
                  </a:rPr>
                  <a:t>, so </a:t>
                </a:r>
                <a:r>
                  <a:rPr lang="en-IN" sz="2400">
                    <a:solidFill>
                      <a:srgbClr val="111827"/>
                    </a:solidFill>
                    <a:latin typeface="Cambria Math" panose="02040503050406030204" pitchFamily="18" charset="0"/>
                  </a:rPr>
                  <a:t>$k=1$</a:t>
                </a:r>
                <a:r>
                  <a:rPr sz="2400" b="0">
                    <a:solidFill>
                      <a:srgbClr val="111827"/>
                    </a:solidFill>
                    <a:latin typeface="Arial"/>
                  </a:rPr>
                  <a:t> or </a:t>
                </a:r>
                <a:r>
                  <a:rPr lang="en-IN" sz="2400">
                    <a:solidFill>
                      <a:srgbClr val="111827"/>
                    </a:solidFill>
                    <a:latin typeface="Cambria Math" panose="02040503050406030204" pitchFamily="18" charset="0"/>
                  </a:rPr>
                  <a:t>$k=2$</a:t>
                </a:r>
                <a:r>
                  <a:rPr sz="2400" b="0">
                    <a:solidFill>
                      <a:srgbClr val="111827"/>
                    </a:solidFill>
                    <a:latin typeface="Arial"/>
                  </a:rPr>
                  <a:t> only.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$k=1$</a:t>
                </a:r>
                <a:r>
                  <a:rPr sz="2400" b="0">
                    <a:solidFill>
                      <a:srgbClr val="111827"/>
                    </a:solidFill>
                    <a:latin typeface="Arial"/>
                  </a:rPr>
                  <a:t>: </a:t>
                </a:r>
                <a:r>
                  <a:rPr lang="en-IN" sz="2400">
                    <a:solidFill>
                      <a:srgbClr val="111827"/>
                    </a:solidFill>
                    <a:latin typeface="Cambria Math" panose="02040503050406030204" pitchFamily="18" charset="0"/>
                  </a:rPr>
                  <a:t>$(9-3)^2=36$</a:t>
                </a:r>
                <a:r>
                  <a:rPr sz="2400" b="0">
                    <a:solidFill>
                      <a:srgbClr val="111827"/>
                    </a:solidFill>
                    <a:latin typeface="Arial"/>
                  </a:rPr>
                  <a:t> windows, i.e. </a:t>
                </a:r>
                <a:r>
                  <a:rPr lang="en-IN" sz="2400">
                    <a:solidFill>
                      <a:srgbClr val="111827"/>
                    </a:solidFill>
                    <a:latin typeface="Cambria Math" panose="02040503050406030204" pitchFamily="18" charset="0"/>
                  </a:rPr>
                  <a:t>$36$</a:t>
                </a:r>
                <a:r>
                  <a:rPr sz="2400" b="0">
                    <a:solidFill>
                      <a:srgbClr val="111827"/>
                    </a:solidFill>
                    <a:latin typeface="Arial"/>
                  </a:rPr>
                  <a:t> squares.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$k=2$</a:t>
                </a:r>
                <a:r>
                  <a:rPr sz="2400" b="0">
                    <a:solidFill>
                      <a:srgbClr val="111827"/>
                    </a:solidFill>
                    <a:latin typeface="Arial"/>
                  </a:rPr>
                  <a:t>: </a:t>
                </a:r>
                <a:r>
                  <a:rPr lang="en-IN" sz="2400">
                    <a:solidFill>
                      <a:srgbClr val="111827"/>
                    </a:solidFill>
                    <a:latin typeface="Cambria Math" panose="02040503050406030204" pitchFamily="18" charset="0"/>
                  </a:rPr>
                  <a:t>$(9-6)^2=9$</a:t>
                </a:r>
                <a:r>
                  <a:rPr sz="2400" b="0">
                    <a:solidFill>
                      <a:srgbClr val="111827"/>
                    </a:solidFill>
                    <a:latin typeface="Arial"/>
                  </a:rPr>
                  <a:t> windows, i.e. </a:t>
                </a:r>
                <a:r>
                  <a:rPr lang="en-IN" sz="2400">
                    <a:solidFill>
                      <a:srgbClr val="111827"/>
                    </a:solidFill>
                    <a:latin typeface="Cambria Math" panose="02040503050406030204" pitchFamily="18" charset="0"/>
                  </a:rPr>
                  <a:t>$9$</a:t>
                </a:r>
                <a:r>
                  <a:rPr sz="2400" b="0">
                    <a:solidFill>
                      <a:srgbClr val="111827"/>
                    </a:solidFill>
                    <a:latin typeface="Arial"/>
                  </a:rPr>
                  <a:t> squares.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$=36+9=45$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45</a:t>
            </a:r>
            <a:endParaRPr sz="2800">
              <a:solidFill>
                <a:srgbClr val="15803D"/>
              </a:solidFill>
            </a:endParaRP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square on an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board with margin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on all sides has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positions along each axis,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in all (valid while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total </a:t>
                </a:r>
                <a14:m>
                  <m:oMath xmlns:m="http://schemas.openxmlformats.org/officeDocument/2006/math">
                    <m:r>
                      <a:rPr lang="en-IN" sz="2400" i="1">
                        <a:solidFill>
                          <a:srgbClr val="111827"/>
                        </a:solidFill>
                        <a:latin typeface="Cambria Math" panose="02040503050406030204" pitchFamily="18" charset="0"/>
                      </a:rPr>
                      <m:t>45</m:t>
                    </m:r>
                  </m:oMath>
                </a14:m>
                <a:r>
                  <a:rPr sz="2400" b="0">
                    <a:solidFill>
                      <a:srgbClr val="111827"/>
                    </a:solidFill>
                    <a:latin typeface="Arial"/>
                  </a:rPr>
                  <a:t> (checked by brute force).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Read geometry-style counting statements as precise conditions on margins before counting.</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$k\times k$</a:t>
                </a:r>
                <a:r>
                  <a:rPr sz="2400" b="0">
                    <a:solidFill>
                      <a:srgbClr val="111827"/>
                    </a:solidFill>
                    <a:latin typeface="Arial"/>
                  </a:rPr>
                  <a:t> square on an </a:t>
                </a:r>
                <a:r>
                  <a:rPr lang="en-IN" sz="2400">
                    <a:solidFill>
                      <a:srgbClr val="111827"/>
                    </a:solidFill>
                    <a:latin typeface="Cambria Math" panose="02040503050406030204" pitchFamily="18" charset="0"/>
                  </a:rPr>
                  <a:t>$n\times n$</a:t>
                </a:r>
                <a:r>
                  <a:rPr sz="2400" b="0">
                    <a:solidFill>
                      <a:srgbClr val="111827"/>
                    </a:solidFill>
                    <a:latin typeface="Arial"/>
                  </a:rPr>
                  <a:t> board with margin </a:t>
                </a:r>
                <a:r>
                  <a:rPr lang="en-IN" sz="2400">
                    <a:solidFill>
                      <a:srgbClr val="111827"/>
                    </a:solidFill>
                    <a:latin typeface="Cambria Math" panose="02040503050406030204" pitchFamily="18" charset="0"/>
                  </a:rPr>
                  <a:t>$\ge k$</a:t>
                </a:r>
                <a:r>
                  <a:rPr sz="2400" b="0">
                    <a:solidFill>
                      <a:srgbClr val="111827"/>
                    </a:solidFill>
                    <a:latin typeface="Arial"/>
                  </a:rPr>
                  <a:t> on all sides has </a:t>
                </a:r>
                <a:r>
                  <a:rPr lang="en-IN" sz="2400">
                    <a:solidFill>
                      <a:srgbClr val="111827"/>
                    </a:solidFill>
                    <a:latin typeface="Cambria Math" panose="02040503050406030204" pitchFamily="18" charset="0"/>
                  </a:rPr>
                  <a:t>$(n+1-3k)$</a:t>
                </a:r>
                <a:r>
                  <a:rPr sz="2400" b="0">
                    <a:solidFill>
                      <a:srgbClr val="111827"/>
                    </a:solidFill>
                    <a:latin typeface="Arial"/>
                  </a:rPr>
                  <a:t> positions along each axis, so </a:t>
                </a:r>
                <a:r>
                  <a:rPr lang="en-IN" sz="2400">
                    <a:solidFill>
                      <a:srgbClr val="111827"/>
                    </a:solidFill>
                    <a:latin typeface="Cambria Math" panose="02040503050406030204" pitchFamily="18" charset="0"/>
                  </a:rPr>
                  <a:t>$(n+1-3k)^2$</a:t>
                </a:r>
                <a:r>
                  <a:rPr sz="2400" b="0">
                    <a:solidFill>
                      <a:srgbClr val="111827"/>
                    </a:solidFill>
                    <a:latin typeface="Arial"/>
                  </a:rPr>
                  <a:t> in all (valid while </a:t>
                </a:r>
                <a:r>
                  <a:rPr lang="en-IN" sz="2400">
                    <a:solidFill>
                      <a:srgbClr val="111827"/>
                    </a:solidFill>
                    <a:latin typeface="Cambria Math" panose="02040503050406030204" pitchFamily="18" charset="0"/>
                  </a:rPr>
                  <a:t>$n+1-3k&gt;0$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$n=8$</a:t>
                </a:r>
                <a:r>
                  <a:rPr sz="2400" b="0">
                    <a:solidFill>
                      <a:srgbClr val="111827"/>
                    </a:solidFill>
                    <a:latin typeface="Arial"/>
                  </a:rPr>
                  <a:t>: </a:t>
                </a:r>
                <a:r>
                  <a:rPr lang="en-IN" sz="2400">
                    <a:solidFill>
                      <a:srgbClr val="111827"/>
                    </a:solidFill>
                    <a:latin typeface="Cambria Math" panose="02040503050406030204" pitchFamily="18" charset="0"/>
                  </a:rPr>
                  <a:t>$k=1$</a:t>
                </a:r>
                <a:r>
                  <a:rPr sz="2400" b="0">
                    <a:solidFill>
                      <a:srgbClr val="111827"/>
                    </a:solidFill>
                    <a:latin typeface="Arial"/>
                  </a:rPr>
                  <a:t> gives </a:t>
                </a:r>
                <a:r>
                  <a:rPr lang="en-IN" sz="2400">
                    <a:solidFill>
                      <a:srgbClr val="111827"/>
                    </a:solidFill>
                    <a:latin typeface="Cambria Math" panose="02040503050406030204" pitchFamily="18" charset="0"/>
                  </a:rPr>
                  <a:t>$6^2=36$</a:t>
                </a:r>
                <a:r>
                  <a:rPr sz="2400" b="0">
                    <a:solidFill>
                      <a:srgbClr val="111827"/>
                    </a:solidFill>
                    <a:latin typeface="Arial"/>
                  </a:rPr>
                  <a:t>, </a:t>
                </a:r>
                <a:r>
                  <a:rPr lang="en-IN" sz="2400">
                    <a:solidFill>
                      <a:srgbClr val="111827"/>
                    </a:solidFill>
                    <a:latin typeface="Cambria Math" panose="02040503050406030204" pitchFamily="18" charset="0"/>
                  </a:rPr>
                  <a:t>$k=2$</a:t>
                </a:r>
                <a:r>
                  <a:rPr sz="2400" b="0">
                    <a:solidFill>
                      <a:srgbClr val="111827"/>
                    </a:solidFill>
                    <a:latin typeface="Arial"/>
                  </a:rPr>
                  <a:t> gives </a:t>
                </a:r>
                <a:r>
                  <a:rPr lang="en-IN" sz="2400">
                    <a:solidFill>
                      <a:srgbClr val="111827"/>
                    </a:solidFill>
                    <a:latin typeface="Cambria Math" panose="02040503050406030204" pitchFamily="18" charset="0"/>
                  </a:rPr>
                  <a:t>$3^2=9$</a:t>
                </a:r>
                <a:r>
                  <a:rPr sz="2400" b="0">
                    <a:solidFill>
                      <a:srgbClr val="111827"/>
                    </a:solidFill>
                    <a:latin typeface="Arial"/>
                  </a:rPr>
                  <a:t>, </a:t>
                </a:r>
                <a:r>
                  <a:rPr lang="en-IN" sz="2400">
                    <a:solidFill>
                      <a:srgbClr val="111827"/>
                    </a:solidFill>
                    <a:latin typeface="Cambria Math" panose="02040503050406030204" pitchFamily="18" charset="0"/>
                  </a:rPr>
                  <a:t>$k=3$</a:t>
                </a:r>
                <a:r>
                  <a:rPr sz="2400" b="0">
                    <a:solidFill>
                      <a:srgbClr val="111827"/>
                    </a:solidFill>
                    <a:latin typeface="Arial"/>
                  </a:rPr>
                  <a:t> gives </a:t>
                </a:r>
                <a:r>
                  <a:rPr lang="en-IN" sz="2400">
                    <a:solidFill>
                      <a:srgbClr val="111827"/>
                    </a:solidFill>
                    <a:latin typeface="Cambria Math" panose="02040503050406030204" pitchFamily="18" charset="0"/>
                  </a:rPr>
                  <a:t>$0$</a:t>
                </a:r>
                <a:r>
                  <a:rPr sz="2400" b="0">
                    <a:solidFill>
                      <a:srgbClr val="111827"/>
                    </a:solidFill>
                    <a:latin typeface="Arial"/>
                  </a:rPr>
                  <a:t>; total </a:t>
                </a:r>
                <a:r>
                  <a:rPr lang="en-IN" sz="2400">
                    <a:solidFill>
                      <a:srgbClr val="111827"/>
                    </a:solidFill>
                    <a:latin typeface="Cambria Math" panose="02040503050406030204" pitchFamily="18" charset="0"/>
                  </a:rPr>
                  <a:t>$45$</a:t>
                </a:r>
                <a:r>
                  <a:rPr sz="2400" b="0">
                    <a:solidFill>
                      <a:srgbClr val="111827"/>
                    </a:solidFill>
                    <a:latin typeface="Arial"/>
                  </a:rPr>
                  <a:t> (checked by brute force).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Read geometry-style counting statements as precise conditions on margins before counting.</a:t>
                </a:r>
                <a:endParaRPr sz="2400">
                  <a:solidFill>
                    <a:srgbClr val="111827"/>
                  </a:solidFill>
                </a:endParaRPr>
              </a:p>
            </p:txBody>
          </p:sp>
        </mc:Fallback>
      </mc:AlternateContent>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how many one-one functions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can be defined so that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265</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53</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88</m:t>
                    </m:r>
                  </m:oMath>
                </a14:m>
                <a:r>
                  <a:rPr sz="2400" b="0">
                    <a:solidFill>
                      <a:srgbClr val="111827"/>
                    </a:solidFill>
                    <a:latin typeface="Arial"/>
                  </a:rPr>
                  <a:t>   (D) None of These</a:t>
                </a:r>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$A=\{1,2,3,4,5\}$</a:t>
                </a:r>
                <a:r>
                  <a:rPr sz="2400" b="0">
                    <a:solidFill>
                      <a:srgbClr val="111827"/>
                    </a:solidFill>
                    <a:latin typeface="Arial"/>
                  </a:rPr>
                  <a:t> and </a:t>
                </a:r>
                <a:r>
                  <a:rPr lang="en-IN" sz="2400">
                    <a:solidFill>
                      <a:srgbClr val="111827"/>
                    </a:solidFill>
                    <a:latin typeface="Cambria Math" panose="02040503050406030204" pitchFamily="18" charset="0"/>
                  </a:rPr>
                  <a:t>$B=\{1,3,5,7,9\}$</a:t>
                </a:r>
                <a:r>
                  <a:rPr sz="2400" b="0">
                    <a:solidFill>
                      <a:srgbClr val="111827"/>
                    </a:solidFill>
                    <a:latin typeface="Arial"/>
                  </a:rPr>
                  <a:t>, how many one-one functions </a:t>
                </a:r>
                <a:r>
                  <a:rPr lang="en-IN" sz="2400">
                    <a:solidFill>
                      <a:srgbClr val="111827"/>
                    </a:solidFill>
                    <a:latin typeface="Cambria Math" panose="02040503050406030204" pitchFamily="18" charset="0"/>
                  </a:rPr>
                  <a:t>$f:A\to B$</a:t>
                </a:r>
                <a:r>
                  <a:rPr sz="2400" b="0">
                    <a:solidFill>
                      <a:srgbClr val="111827"/>
                    </a:solidFill>
                    <a:latin typeface="Arial"/>
                  </a:rPr>
                  <a:t> can be defined so that </a:t>
                </a:r>
                <a:r>
                  <a:rPr lang="en-IN" sz="2400">
                    <a:solidFill>
                      <a:srgbClr val="111827"/>
                    </a:solidFill>
                    <a:latin typeface="Cambria Math" panose="02040503050406030204" pitchFamily="18" charset="0"/>
                  </a:rPr>
                  <a:t>$f(i)\neq 2i-1,\ \forall i=2,3,4,5$</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$265$</a:t>
                </a:r>
                <a:r>
                  <a:rPr sz="2400" b="0">
                    <a:solidFill>
                      <a:srgbClr val="111827"/>
                    </a:solidFill>
                    <a:latin typeface="Arial"/>
                  </a:rPr>
                  <a:t>   (B) </a:t>
                </a:r>
                <a:r>
                  <a:rPr lang="en-IN" sz="2400">
                    <a:solidFill>
                      <a:srgbClr val="111827"/>
                    </a:solidFill>
                    <a:latin typeface="Cambria Math" panose="02040503050406030204" pitchFamily="18" charset="0"/>
                  </a:rPr>
                  <a:t>$53$</a:t>
                </a:r>
                <a:r>
                  <a:rPr sz="2400" b="0">
                    <a:solidFill>
                      <a:srgbClr val="111827"/>
                    </a:solidFill>
                    <a:latin typeface="Arial"/>
                  </a:rPr>
                  <a:t>   (C) </a:t>
                </a:r>
                <a:r>
                  <a:rPr lang="en-IN" sz="2400">
                    <a:solidFill>
                      <a:srgbClr val="111827"/>
                    </a:solidFill>
                    <a:latin typeface="Cambria Math" panose="02040503050406030204" pitchFamily="18" charset="0"/>
                  </a:rPr>
                  <a:t>$88$</a:t>
                </a:r>
                <a:r>
                  <a:rPr sz="2400" b="0">
                    <a:solidFill>
                      <a:srgbClr val="111827"/>
                    </a:solidFill>
                    <a:latin typeface="Arial"/>
                  </a:rPr>
                  <a:t>   (D) None of These</a:t>
                </a:r>
                <a:endParaRPr sz="2400">
                  <a:solidFill>
                    <a:srgbClr val="111827"/>
                  </a:solidFill>
                </a:endParaRPr>
              </a:p>
            </p:txBody>
          </p:sp>
        </mc:Fallback>
      </mc:AlternateContent>
      <p:sp>
        <p:nvSpPr>
          <p:cNvPr id="5" name="Rectangle 4"/>
          <p:cNvSpPr/>
          <p:nvPr/>
        </p:nvSpPr>
        <p:spPr>
          <a:xfrm>
            <a:off x="731520" y="358038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one-one functions with restrictions (derangements)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Relabel so that the condition is </a:t>
                </a:r>
                <a14:m>
                  <m:oMath xmlns:m="http://schemas.openxmlformats.org/officeDocument/2006/math">
                    <m:r>
                      <a:rPr lang="en-IN" sz="2400" i="1">
                        <a:solidFill>
                          <a:srgbClr val="78350F"/>
                        </a:solidFill>
                        <a:latin typeface="Cambria Math" panose="02040503050406030204" pitchFamily="18" charset="0"/>
                      </a:rPr>
                      <m:t>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oMath>
                </a14:m>
                <a:r>
                  <a:rPr sz="2400" b="0">
                    <a:solidFill>
                      <a:srgbClr val="78350F"/>
                    </a:solidFill>
                    <a:latin typeface="Arial"/>
                  </a:rPr>
                  <a:t> for </a:t>
                </a:r>
                <a14:m>
                  <m:oMath xmlns:m="http://schemas.openxmlformats.org/officeDocument/2006/math">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and split on whether </a:t>
                </a:r>
                <a14:m>
                  <m:oMath xmlns:m="http://schemas.openxmlformats.org/officeDocument/2006/math">
                    <m:r>
                      <a:rPr lang="en-IN" sz="2400" i="1">
                        <a:solidFill>
                          <a:srgbClr val="78350F"/>
                        </a:solidFill>
                        <a:latin typeface="Cambria Math" panose="02040503050406030204" pitchFamily="18" charset="0"/>
                      </a:rPr>
                      <m:t>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Relabel so that the condition is </a:t>
                </a:r>
                <a:r>
                  <a:rPr lang="en-IN" sz="2400">
                    <a:solidFill>
                      <a:srgbClr val="78350F"/>
                    </a:solidFill>
                    <a:latin typeface="Cambria Math" panose="02040503050406030204" pitchFamily="18" charset="0"/>
                  </a:rPr>
                  <a:t>$\sigma(i)\neq i$</a:t>
                </a:r>
                <a:r>
                  <a:rPr sz="2400" b="0">
                    <a:solidFill>
                      <a:srgbClr val="78350F"/>
                    </a:solidFill>
                    <a:latin typeface="Arial"/>
                  </a:rPr>
                  <a:t> for </a:t>
                </a:r>
                <a:r>
                  <a:rPr lang="en-IN" sz="2400">
                    <a:solidFill>
                      <a:srgbClr val="78350F"/>
                    </a:solidFill>
                    <a:latin typeface="Cambria Math" panose="02040503050406030204" pitchFamily="18" charset="0"/>
                  </a:rPr>
                  <a:t>$i=2,\dots,5$</a:t>
                </a:r>
                <a:r>
                  <a:rPr sz="2400" b="0">
                    <a:solidFill>
                      <a:srgbClr val="78350F"/>
                    </a:solidFill>
                    <a:latin typeface="Arial"/>
                  </a:rPr>
                  <a:t> and split on whether </a:t>
                </a:r>
                <a:r>
                  <a:rPr lang="en-IN" sz="2400">
                    <a:solidFill>
                      <a:srgbClr val="78350F"/>
                    </a:solidFill>
                    <a:latin typeface="Cambria Math" panose="02040503050406030204" pitchFamily="18" charset="0"/>
                  </a:rPr>
                  <a:t>$\sigma(1)=1$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 one-one function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is a bijection, i.e. a permutation of the five elements of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forbidden values are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no restriction.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Name the elements of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as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The condition says: position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must not receive its own element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position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may receive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1: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The other four positions must then be a derangement of the other four elements: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ways.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$|A|=|B|=5$</a:t>
                </a:r>
                <a:r>
                  <a:rPr sz="2400" b="0">
                    <a:solidFill>
                      <a:srgbClr val="111827"/>
                    </a:solidFill>
                    <a:latin typeface="Arial"/>
                  </a:rPr>
                  <a:t>, a one-one function </a:t>
                </a:r>
                <a:r>
                  <a:rPr lang="en-IN" sz="2400">
                    <a:solidFill>
                      <a:srgbClr val="111827"/>
                    </a:solidFill>
                    <a:latin typeface="Cambria Math" panose="02040503050406030204" pitchFamily="18" charset="0"/>
                  </a:rPr>
                  <a:t>$f:A\to B$</a:t>
                </a:r>
                <a:r>
                  <a:rPr sz="2400" b="0">
                    <a:solidFill>
                      <a:srgbClr val="111827"/>
                    </a:solidFill>
                    <a:latin typeface="Arial"/>
                  </a:rPr>
                  <a:t> is a bijection, i.e. a permutation of the five elements of </a:t>
                </a:r>
                <a:r>
                  <a:rPr lang="en-IN" sz="2400">
                    <a:solidFill>
                      <a:srgbClr val="111827"/>
                    </a:solidFill>
                    <a:latin typeface="Cambria Math" panose="02040503050406030204" pitchFamily="18" charset="0"/>
                  </a:rPr>
                  <a:t>$B$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forbidden values are </a:t>
                </a:r>
                <a:r>
                  <a:rPr lang="en-IN" sz="2400">
                    <a:solidFill>
                      <a:srgbClr val="111827"/>
                    </a:solidFill>
                    <a:latin typeface="Cambria Math" panose="02040503050406030204" pitchFamily="18" charset="0"/>
                  </a:rPr>
                  <a:t>$f(2)\neq3,\ f(3)\neq5,\ f(4)\neq7,\ f(5)\neq9$</a:t>
                </a:r>
                <a:r>
                  <a:rPr sz="2400" b="0">
                    <a:solidFill>
                      <a:srgbClr val="111827"/>
                    </a:solidFill>
                    <a:latin typeface="Arial"/>
                  </a:rPr>
                  <a:t>; </a:t>
                </a:r>
                <a:r>
                  <a:rPr lang="en-IN" sz="2400">
                    <a:solidFill>
                      <a:srgbClr val="111827"/>
                    </a:solidFill>
                    <a:latin typeface="Cambria Math" panose="02040503050406030204" pitchFamily="18" charset="0"/>
                  </a:rPr>
                  <a:t>$f(1)$</a:t>
                </a:r>
                <a:r>
                  <a:rPr sz="2400" b="0">
                    <a:solidFill>
                      <a:srgbClr val="111827"/>
                    </a:solidFill>
                    <a:latin typeface="Arial"/>
                  </a:rPr>
                  <a:t> has no restriction.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Name the elements of </a:t>
                </a:r>
                <a:r>
                  <a:rPr lang="en-IN" sz="2400">
                    <a:solidFill>
                      <a:srgbClr val="111827"/>
                    </a:solidFill>
                    <a:latin typeface="Cambria Math" panose="02040503050406030204" pitchFamily="18" charset="0"/>
                  </a:rPr>
                  <a:t>$B$</a:t>
                </a:r>
                <a:r>
                  <a:rPr sz="2400" b="0">
                    <a:solidFill>
                      <a:srgbClr val="111827"/>
                    </a:solidFill>
                    <a:latin typeface="Arial"/>
                  </a:rPr>
                  <a:t> as </a:t>
                </a:r>
                <a:r>
                  <a:rPr lang="en-IN" sz="2400">
                    <a:solidFill>
                      <a:srgbClr val="111827"/>
                    </a:solidFill>
                    <a:latin typeface="Cambria Math" panose="02040503050406030204" pitchFamily="18" charset="0"/>
                  </a:rPr>
                  <a:t>$b_1,\dots,b_5=1,3,5,7,9$</a:t>
                </a:r>
                <a:r>
                  <a:rPr sz="2400" b="0">
                    <a:solidFill>
                      <a:srgbClr val="111827"/>
                    </a:solidFill>
                    <a:latin typeface="Arial"/>
                  </a:rPr>
                  <a:t>, so </a:t>
                </a:r>
                <a:r>
                  <a:rPr lang="en-IN" sz="2400">
                    <a:solidFill>
                      <a:srgbClr val="111827"/>
                    </a:solidFill>
                    <a:latin typeface="Cambria Math" panose="02040503050406030204" pitchFamily="18" charset="0"/>
                  </a:rPr>
                  <a:t>$2i-1=b_i$</a:t>
                </a:r>
                <a:r>
                  <a:rPr sz="2400" b="0">
                    <a:solidFill>
                      <a:srgbClr val="111827"/>
                    </a:solidFill>
                    <a:latin typeface="Arial"/>
                  </a:rPr>
                  <a:t>. The condition says: position </a:t>
                </a:r>
                <a:r>
                  <a:rPr lang="en-IN" sz="2400">
                    <a:solidFill>
                      <a:srgbClr val="111827"/>
                    </a:solidFill>
                    <a:latin typeface="Cambria Math" panose="02040503050406030204" pitchFamily="18" charset="0"/>
                  </a:rPr>
                  <a:t>$i$</a:t>
                </a:r>
                <a:r>
                  <a:rPr sz="2400" b="0">
                    <a:solidFill>
                      <a:srgbClr val="111827"/>
                    </a:solidFill>
                    <a:latin typeface="Arial"/>
                  </a:rPr>
                  <a:t> must not receive its own element </a:t>
                </a:r>
                <a:r>
                  <a:rPr lang="en-IN" sz="2400">
                    <a:solidFill>
                      <a:srgbClr val="111827"/>
                    </a:solidFill>
                    <a:latin typeface="Cambria Math" panose="02040503050406030204" pitchFamily="18" charset="0"/>
                  </a:rPr>
                  <a:t>$b_i$</a:t>
                </a:r>
                <a:r>
                  <a:rPr sz="2400" b="0">
                    <a:solidFill>
                      <a:srgbClr val="111827"/>
                    </a:solidFill>
                    <a:latin typeface="Arial"/>
                  </a:rPr>
                  <a:t> for </a:t>
                </a:r>
                <a:r>
                  <a:rPr lang="en-IN" sz="2400">
                    <a:solidFill>
                      <a:srgbClr val="111827"/>
                    </a:solidFill>
                    <a:latin typeface="Cambria Math" panose="02040503050406030204" pitchFamily="18" charset="0"/>
                  </a:rPr>
                  <a:t>$i=2,3,4,5$</a:t>
                </a:r>
                <a:r>
                  <a:rPr sz="2400" b="0">
                    <a:solidFill>
                      <a:srgbClr val="111827"/>
                    </a:solidFill>
                    <a:latin typeface="Arial"/>
                  </a:rPr>
                  <a:t>; position </a:t>
                </a:r>
                <a:r>
                  <a:rPr lang="en-IN" sz="2400">
                    <a:solidFill>
                      <a:srgbClr val="111827"/>
                    </a:solidFill>
                    <a:latin typeface="Cambria Math" panose="02040503050406030204" pitchFamily="18" charset="0"/>
                  </a:rPr>
                  <a:t>$1$</a:t>
                </a:r>
                <a:r>
                  <a:rPr sz="2400" b="0">
                    <a:solidFill>
                      <a:srgbClr val="111827"/>
                    </a:solidFill>
                    <a:latin typeface="Arial"/>
                  </a:rPr>
                  <a:t> may receive </a:t>
                </a:r>
                <a:r>
                  <a:rPr lang="en-IN" sz="2400">
                    <a:solidFill>
                      <a:srgbClr val="111827"/>
                    </a:solidFill>
                    <a:latin typeface="Cambria Math" panose="02040503050406030204" pitchFamily="18" charset="0"/>
                  </a:rPr>
                  <a:t>$b_1$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1: </a:t>
                </a:r>
                <a:r>
                  <a:rPr lang="en-IN" sz="2400">
                    <a:solidFill>
                      <a:srgbClr val="111827"/>
                    </a:solidFill>
                    <a:latin typeface="Cambria Math" panose="02040503050406030204" pitchFamily="18" charset="0"/>
                  </a:rPr>
                  <a:t>$f(1)=b_1$</a:t>
                </a:r>
                <a:r>
                  <a:rPr sz="2400" b="0">
                    <a:solidFill>
                      <a:srgbClr val="111827"/>
                    </a:solidFill>
                    <a:latin typeface="Arial"/>
                  </a:rPr>
                  <a:t>. The other four positions must then be a derangement of the other four elements: </a:t>
                </a:r>
                <a:r>
                  <a:rPr lang="en-IN" sz="2400">
                    <a:solidFill>
                      <a:srgbClr val="111827"/>
                    </a:solidFill>
                    <a:latin typeface="Cambria Math" panose="02040503050406030204" pitchFamily="18" charset="0"/>
                  </a:rPr>
                  <a:t>$D_4=9$</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2: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Then no position receives its own element, so we need a derangement of all five: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Values: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number of functions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2: </a:t>
                </a:r>
                <a:r>
                  <a:rPr lang="en-IN" sz="2400">
                    <a:solidFill>
                      <a:srgbClr val="111827"/>
                    </a:solidFill>
                    <a:latin typeface="Cambria Math" panose="02040503050406030204" pitchFamily="18" charset="0"/>
                  </a:rPr>
                  <a:t>$f(1)\neq b_1$</a:t>
                </a:r>
                <a:r>
                  <a:rPr sz="2400" b="0">
                    <a:solidFill>
                      <a:srgbClr val="111827"/>
                    </a:solidFill>
                    <a:latin typeface="Arial"/>
                  </a:rPr>
                  <a:t>. Then no position receives its own element, so we need a derangement of all five: </a:t>
                </a:r>
                <a:r>
                  <a:rPr lang="en-IN" sz="2400">
                    <a:solidFill>
                      <a:srgbClr val="111827"/>
                    </a:solidFill>
                    <a:latin typeface="Cambria Math" panose="02040503050406030204" pitchFamily="18" charset="0"/>
                  </a:rPr>
                  <a:t>$D_5=44$</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Values: </a:t>
                </a:r>
                <a:r>
                  <a:rPr lang="en-IN" sz="2400">
                    <a:solidFill>
                      <a:srgbClr val="111827"/>
                    </a:solidFill>
                    <a:latin typeface="Cambria Math" panose="02040503050406030204" pitchFamily="18" charset="0"/>
                  </a:rPr>
                  <a:t>$D_4=4!\left(1-1+\frac{1}{2!}-\frac{1}{3!}+\frac{1}{4!}\right)=9$</a:t>
                </a:r>
                <a:r>
                  <a:rPr sz="2400" b="0">
                    <a:solidFill>
                      <a:srgbClr val="111827"/>
                    </a:solidFill>
                    <a:latin typeface="Arial"/>
                  </a:rPr>
                  <a:t> and </a:t>
                </a:r>
                <a:r>
                  <a:rPr lang="en-IN" sz="2400">
                    <a:solidFill>
                      <a:srgbClr val="111827"/>
                    </a:solidFill>
                    <a:latin typeface="Cambria Math" panose="02040503050406030204" pitchFamily="18" charset="0"/>
                  </a:rPr>
                  <a:t>$D_5=5!\left(\frac{1}{2!}-\frac{1}{3!}+\frac{1}{4!}-\frac{1}{5!}\right)=44$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number of functions </a:t>
                </a:r>
                <a:r>
                  <a:rPr lang="en-IN" sz="2400">
                    <a:solidFill>
                      <a:srgbClr val="111827"/>
                    </a:solidFill>
                    <a:latin typeface="Cambria Math" panose="02040503050406030204" pitchFamily="18" charset="0"/>
                  </a:rPr>
                  <a:t>$=D_4+D_5=9+44=53$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53</a:t>
            </a:r>
            <a:endParaRPr sz="2800">
              <a:solidFill>
                <a:srgbClr val="15803D"/>
              </a:solidFill>
            </a:endParaRP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inclusion-exclusion on the four forbidden assignments directly.</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bijections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be the event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Fixing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of these four values leaves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completions.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with no forbidden assignment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4</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𝑗</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𝑗</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bijections </a:t>
                </a:r>
                <a:r>
                  <a:rPr lang="en-IN" sz="2400">
                    <a:solidFill>
                      <a:srgbClr val="111827"/>
                    </a:solidFill>
                    <a:latin typeface="Cambria Math" panose="02040503050406030204" pitchFamily="18" charset="0"/>
                  </a:rPr>
                  <a:t>$A\to B$</a:t>
                </a:r>
                <a:r>
                  <a:rPr sz="2400" b="0">
                    <a:solidFill>
                      <a:srgbClr val="111827"/>
                    </a:solidFill>
                    <a:latin typeface="Arial"/>
                  </a:rPr>
                  <a:t>: </a:t>
                </a:r>
                <a:r>
                  <a:rPr lang="en-IN" sz="2400">
                    <a:solidFill>
                      <a:srgbClr val="111827"/>
                    </a:solidFill>
                    <a:latin typeface="Cambria Math" panose="02040503050406030204" pitchFamily="18" charset="0"/>
                  </a:rPr>
                  <a:t>$5!=120$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$E_i$</a:t>
                </a:r>
                <a:r>
                  <a:rPr sz="2400" b="0">
                    <a:solidFill>
                      <a:srgbClr val="111827"/>
                    </a:solidFill>
                    <a:latin typeface="Arial"/>
                  </a:rPr>
                  <a:t> be the event </a:t>
                </a:r>
                <a:r>
                  <a:rPr lang="en-IN" sz="2400">
                    <a:solidFill>
                      <a:srgbClr val="111827"/>
                    </a:solidFill>
                    <a:latin typeface="Cambria Math" panose="02040503050406030204" pitchFamily="18" charset="0"/>
                  </a:rPr>
                  <a:t>$f(i)=2i-1$</a:t>
                </a:r>
                <a:r>
                  <a:rPr sz="2400" b="0">
                    <a:solidFill>
                      <a:srgbClr val="111827"/>
                    </a:solidFill>
                    <a:latin typeface="Arial"/>
                  </a:rPr>
                  <a:t> for </a:t>
                </a:r>
                <a:r>
                  <a:rPr lang="en-IN" sz="2400">
                    <a:solidFill>
                      <a:srgbClr val="111827"/>
                    </a:solidFill>
                    <a:latin typeface="Cambria Math" panose="02040503050406030204" pitchFamily="18" charset="0"/>
                  </a:rPr>
                  <a:t>$i=2,3,4,5$</a:t>
                </a:r>
                <a:r>
                  <a:rPr sz="2400" b="0">
                    <a:solidFill>
                      <a:srgbClr val="111827"/>
                    </a:solidFill>
                    <a:latin typeface="Arial"/>
                  </a:rPr>
                  <a:t>. Fixing </a:t>
                </a:r>
                <a:r>
                  <a:rPr lang="en-IN" sz="2400">
                    <a:solidFill>
                      <a:srgbClr val="111827"/>
                    </a:solidFill>
                    <a:latin typeface="Cambria Math" panose="02040503050406030204" pitchFamily="18" charset="0"/>
                  </a:rPr>
                  <a:t>$j$</a:t>
                </a:r>
                <a:r>
                  <a:rPr sz="2400" b="0">
                    <a:solidFill>
                      <a:srgbClr val="111827"/>
                    </a:solidFill>
                    <a:latin typeface="Arial"/>
                  </a:rPr>
                  <a:t> of these four values leaves </a:t>
                </a:r>
                <a:r>
                  <a:rPr lang="en-IN" sz="2400">
                    <a:solidFill>
                      <a:srgbClr val="111827"/>
                    </a:solidFill>
                    <a:latin typeface="Cambria Math" panose="02040503050406030204" pitchFamily="18" charset="0"/>
                  </a:rPr>
                  <a:t>$(5-j)!$</a:t>
                </a:r>
                <a:r>
                  <a:rPr sz="2400" b="0">
                    <a:solidFill>
                      <a:srgbClr val="111827"/>
                    </a:solidFill>
                    <a:latin typeface="Arial"/>
                  </a:rPr>
                  <a:t> completions.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with no forbidden assignment </a:t>
                </a:r>
                <a:r>
                  <a:rPr lang="en-IN" sz="2400">
                    <a:solidFill>
                      <a:srgbClr val="111827"/>
                    </a:solidFill>
                    <a:latin typeface="Cambria Math" panose="02040503050406030204" pitchFamily="18" charset="0"/>
                  </a:rPr>
                  <a:t>$=\sum_{j=0}^{4}(-1)^j\binom{4}{j}(5-j)!$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53</m:t>
                    </m:r>
                  </m:oMath>
                </a14:m>
                <a:r>
                  <a:rPr sz="2400" b="0">
                    <a:solidFill>
                      <a:srgbClr val="111827"/>
                    </a:solidFill>
                    <a:latin typeface="Arial"/>
                  </a:rPr>
                  <a:t>, agreeing with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$=120-4\cdot24+6\cdot6-4\cdot2+1\cdot1=120-96+36-8+1$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$=53$</a:t>
                </a:r>
                <a:r>
                  <a:rPr sz="2400" b="0">
                    <a:solidFill>
                      <a:srgbClr val="111827"/>
                    </a:solidFill>
                    <a:latin typeface="Arial"/>
                  </a:rPr>
                  <a:t>, agreeing with </a:t>
                </a:r>
                <a:r>
                  <a:rPr lang="en-IN" sz="2400">
                    <a:solidFill>
                      <a:srgbClr val="111827"/>
                    </a:solidFill>
                    <a:latin typeface="Cambria Math" panose="02040503050406030204" pitchFamily="18" charset="0"/>
                  </a:rPr>
                  <a:t>$D_4+D_5$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53</a:t>
            </a:r>
            <a:endParaRPr sz="2800">
              <a:solidFill>
                <a:srgbClr val="15803D"/>
              </a:solidFill>
            </a:endParaRP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Permutations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objects in which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specified positions avoid their own object: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𝑘</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𝑗</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𝑗</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(all but one position restricted) this equals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44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(both checked).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Derangements: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𝐷</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one-one map between two sets of equal size is a bijection, so restricted one-one functions are restricted permutations.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Permutations of </a:t>
                </a:r>
                <a:r>
                  <a:rPr lang="en-IN" sz="2400">
                    <a:solidFill>
                      <a:srgbClr val="111827"/>
                    </a:solidFill>
                    <a:latin typeface="Cambria Math" panose="02040503050406030204" pitchFamily="18" charset="0"/>
                  </a:rPr>
                  <a:t>$n$</a:t>
                </a:r>
                <a:r>
                  <a:rPr sz="2400" b="0">
                    <a:solidFill>
                      <a:srgbClr val="111827"/>
                    </a:solidFill>
                    <a:latin typeface="Arial"/>
                  </a:rPr>
                  <a:t> objects in which </a:t>
                </a:r>
                <a:r>
                  <a:rPr lang="en-IN" sz="2400">
                    <a:solidFill>
                      <a:srgbClr val="111827"/>
                    </a:solidFill>
                    <a:latin typeface="Cambria Math" panose="02040503050406030204" pitchFamily="18" charset="0"/>
                  </a:rPr>
                  <a:t>$k$</a:t>
                </a:r>
                <a:r>
                  <a:rPr sz="2400" b="0">
                    <a:solidFill>
                      <a:srgbClr val="111827"/>
                    </a:solidFill>
                    <a:latin typeface="Arial"/>
                  </a:rPr>
                  <a:t> specified positions avoid their own object: </a:t>
                </a:r>
                <a:r>
                  <a:rPr lang="en-IN" sz="2400">
                    <a:solidFill>
                      <a:srgbClr val="111827"/>
                    </a:solidFill>
                    <a:latin typeface="Cambria Math" panose="02040503050406030204" pitchFamily="18" charset="0"/>
                  </a:rPr>
                  <a:t>$\sum_{j=0}^{k}(-1)^j\binom{k}{j}(n-j)!$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$k=n-1$</a:t>
                </a:r>
                <a:r>
                  <a:rPr sz="2400" b="0">
                    <a:solidFill>
                      <a:srgbClr val="111827"/>
                    </a:solidFill>
                    <a:latin typeface="Arial"/>
                  </a:rPr>
                  <a:t> (all but one position restricted) this equals </a:t>
                </a:r>
                <a:r>
                  <a:rPr lang="en-IN" sz="2400">
                    <a:solidFill>
                      <a:srgbClr val="111827"/>
                    </a:solidFill>
                    <a:latin typeface="Cambria Math" panose="02040503050406030204" pitchFamily="18" charset="0"/>
                  </a:rPr>
                  <a:t>$D_n+D_{n-1}$</a:t>
                </a:r>
                <a:r>
                  <a:rPr sz="2400" b="0">
                    <a:solidFill>
                      <a:srgbClr val="111827"/>
                    </a:solidFill>
                    <a:latin typeface="Arial"/>
                  </a:rPr>
                  <a:t>: here </a:t>
                </a:r>
                <a:r>
                  <a:rPr lang="en-IN" sz="2400">
                    <a:solidFill>
                      <a:srgbClr val="111827"/>
                    </a:solidFill>
                    <a:latin typeface="Cambria Math" panose="02040503050406030204" pitchFamily="18" charset="0"/>
                  </a:rPr>
                  <a:t>$n=5$</a:t>
                </a:r>
                <a:r>
                  <a:rPr sz="2400" b="0">
                    <a:solidFill>
                      <a:srgbClr val="111827"/>
                    </a:solidFill>
                    <a:latin typeface="Arial"/>
                  </a:rPr>
                  <a:t> gives </a:t>
                </a:r>
                <a:r>
                  <a:rPr lang="en-IN" sz="2400">
                    <a:solidFill>
                      <a:srgbClr val="111827"/>
                    </a:solidFill>
                    <a:latin typeface="Cambria Math" panose="02040503050406030204" pitchFamily="18" charset="0"/>
                  </a:rPr>
                  <a:t>$44+9=53$</a:t>
                </a:r>
                <a:r>
                  <a:rPr sz="2400" b="0">
                    <a:solidFill>
                      <a:srgbClr val="111827"/>
                    </a:solidFill>
                    <a:latin typeface="Arial"/>
                  </a:rPr>
                  <a:t>; </a:t>
                </a:r>
                <a:r>
                  <a:rPr lang="en-IN" sz="2400">
                    <a:solidFill>
                      <a:srgbClr val="111827"/>
                    </a:solidFill>
                    <a:latin typeface="Cambria Math" panose="02040503050406030204" pitchFamily="18" charset="0"/>
                  </a:rPr>
                  <a:t>$n=3$</a:t>
                </a:r>
                <a:r>
                  <a:rPr sz="2400" b="0">
                    <a:solidFill>
                      <a:srgbClr val="111827"/>
                    </a:solidFill>
                    <a:latin typeface="Arial"/>
                  </a:rPr>
                  <a:t> gives </a:t>
                </a:r>
                <a:r>
                  <a:rPr lang="en-IN" sz="2400">
                    <a:solidFill>
                      <a:srgbClr val="111827"/>
                    </a:solidFill>
                    <a:latin typeface="Cambria Math" panose="02040503050406030204" pitchFamily="18" charset="0"/>
                  </a:rPr>
                  <a:t>$2+1=3$</a:t>
                </a:r>
                <a:r>
                  <a:rPr sz="2400" b="0">
                    <a:solidFill>
                      <a:srgbClr val="111827"/>
                    </a:solidFill>
                    <a:latin typeface="Arial"/>
                  </a:rPr>
                  <a:t> (both checked).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Derangements: </a:t>
                </a:r>
                <a:r>
                  <a:rPr lang="en-IN" sz="2400">
                    <a:solidFill>
                      <a:srgbClr val="111827"/>
                    </a:solidFill>
                    <a:latin typeface="Cambria Math" panose="02040503050406030204" pitchFamily="18" charset="0"/>
                  </a:rPr>
                  <a:t>$D_n=(n-1)(D_{n-1}+D_{n-2})$</a:t>
                </a:r>
                <a:r>
                  <a:rPr sz="2400" b="0">
                    <a:solidFill>
                      <a:srgbClr val="111827"/>
                    </a:solidFill>
                    <a:latin typeface="Arial"/>
                  </a:rPr>
                  <a:t>, with </a:t>
                </a:r>
                <a:r>
                  <a:rPr lang="en-IN" sz="2400">
                    <a:solidFill>
                      <a:srgbClr val="111827"/>
                    </a:solidFill>
                    <a:latin typeface="Cambria Math" panose="02040503050406030204" pitchFamily="18" charset="0"/>
                  </a:rPr>
                  <a:t>$D_1=0,\ D_2=1,\ D_3=2,\ D_4=9,\ D_5=44$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one-one map between two sets of equal size is a bijection, so restricted one-one functions are restricted permutations.</a:t>
                </a:r>
                <a:endParaRPr sz="2400">
                  <a:solidFill>
                    <a:srgbClr val="111827"/>
                  </a:solidFill>
                </a:endParaRPr>
              </a:p>
            </p:txBody>
          </p:sp>
        </mc:Fallback>
      </mc:AlternateContent>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how many ways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squares can be chosen on a chessboard, such that all the squares lie in a diagonal:</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504</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182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364</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252</m:t>
                    </m:r>
                  </m:oMath>
                </a14:m>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how many ways </a:t>
                </a:r>
                <a:r>
                  <a:rPr lang="en-IN" sz="2400">
                    <a:solidFill>
                      <a:srgbClr val="111827"/>
                    </a:solidFill>
                    <a:latin typeface="Cambria Math" panose="02040503050406030204" pitchFamily="18" charset="0"/>
                  </a:rPr>
                  <a:t>$4$</a:t>
                </a:r>
                <a:r>
                  <a:rPr sz="2400" b="0">
                    <a:solidFill>
                      <a:srgbClr val="111827"/>
                    </a:solidFill>
                    <a:latin typeface="Arial"/>
                  </a:rPr>
                  <a:t> squares can be chosen on a chessboard, such that all the squares lie in a diagonal:</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$504$</a:t>
                </a:r>
                <a:r>
                  <a:rPr sz="2400" b="0">
                    <a:solidFill>
                      <a:srgbClr val="111827"/>
                    </a:solidFill>
                    <a:latin typeface="Arial"/>
                  </a:rPr>
                  <a:t>   (B) </a:t>
                </a:r>
                <a:r>
                  <a:rPr lang="en-IN" sz="2400">
                    <a:solidFill>
                      <a:srgbClr val="111827"/>
                    </a:solidFill>
                    <a:latin typeface="Cambria Math" panose="02040503050406030204" pitchFamily="18" charset="0"/>
                  </a:rPr>
                  <a:t>$182$</a:t>
                </a:r>
                <a:r>
                  <a:rPr sz="2400" b="0">
                    <a:solidFill>
                      <a:srgbClr val="111827"/>
                    </a:solidFill>
                    <a:latin typeface="Arial"/>
                  </a:rPr>
                  <a:t>   (C) </a:t>
                </a:r>
                <a:r>
                  <a:rPr lang="en-IN" sz="2400">
                    <a:solidFill>
                      <a:srgbClr val="111827"/>
                    </a:solidFill>
                    <a:latin typeface="Cambria Math" panose="02040503050406030204" pitchFamily="18" charset="0"/>
                  </a:rPr>
                  <a:t>$364$</a:t>
                </a:r>
                <a:r>
                  <a:rPr sz="2400" b="0">
                    <a:solidFill>
                      <a:srgbClr val="111827"/>
                    </a:solidFill>
                    <a:latin typeface="Arial"/>
                  </a:rPr>
                  <a:t>   (D) </a:t>
                </a:r>
                <a:r>
                  <a:rPr lang="en-IN" sz="2400">
                    <a:solidFill>
                      <a:srgbClr val="111827"/>
                    </a:solidFill>
                    <a:latin typeface="Cambria Math" panose="02040503050406030204" pitchFamily="18" charset="0"/>
                  </a:rPr>
                  <a:t>$252$</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Selection of squares along a diagonal of a chessboard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Count diagonal by diagonal: a diagonal with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 squares gives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𝑛</m:t>
                            </m:r>
                          </m:num>
                          <m:den>
                            <m:r>
                              <a:rPr lang="en-IN" sz="2400" i="1">
                                <a:solidFill>
                                  <a:srgbClr val="78350F"/>
                                </a:solidFill>
                                <a:latin typeface="Cambria Math" panose="02040503050406030204" pitchFamily="18" charset="0"/>
                              </a:rPr>
                              <m:t>4</m:t>
                            </m:r>
                          </m:den>
                        </m:f>
                      </m:e>
                    </m:d>
                  </m:oMath>
                </a14:m>
                <a:r>
                  <a:rPr sz="2400" b="0">
                    <a:solidFill>
                      <a:srgbClr val="78350F"/>
                    </a:solidFill>
                    <a:latin typeface="Arial"/>
                  </a:rPr>
                  <a:t> choices, and both diagonal directions count.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Count diagonal by diagonal: a diagonal with </a:t>
                </a:r>
                <a:r>
                  <a:rPr lang="en-IN" sz="2400">
                    <a:solidFill>
                      <a:srgbClr val="78350F"/>
                    </a:solidFill>
                    <a:latin typeface="Cambria Math" panose="02040503050406030204" pitchFamily="18" charset="0"/>
                  </a:rPr>
                  <a:t>$n$</a:t>
                </a:r>
                <a:r>
                  <a:rPr sz="2400" b="0">
                    <a:solidFill>
                      <a:srgbClr val="78350F"/>
                    </a:solidFill>
                    <a:latin typeface="Arial"/>
                  </a:rPr>
                  <a:t> squares gives </a:t>
                </a:r>
                <a:r>
                  <a:rPr lang="en-IN" sz="2400">
                    <a:solidFill>
                      <a:srgbClr val="78350F"/>
                    </a:solidFill>
                    <a:latin typeface="Cambria Math" panose="02040503050406030204" pitchFamily="18" charset="0"/>
                  </a:rPr>
                  <a:t>$\binom{n}{4}$</a:t>
                </a:r>
                <a:r>
                  <a:rPr sz="2400" b="0">
                    <a:solidFill>
                      <a:srgbClr val="78350F"/>
                    </a:solidFill>
                    <a:latin typeface="Arial"/>
                  </a:rPr>
                  <a:t> choices, and both diagonal directions count.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Four squares lie in a diagonal if they all belong to one line of squares running in one of the two diagonal directions of the </a:t>
                </a: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board.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the direction parallel to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The diagonal lines of the board have lengths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only lengths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can hold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squares.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occur twice each (one on either side of the main diagonal) and length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occurs once (the main diagonal).</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Four squares lie in a diagonal if they all belong to one line of squares running in one of the two diagonal directions of the </a:t>
                </a:r>
                <a:r>
                  <a:rPr lang="en-IN" sz="2400">
                    <a:solidFill>
                      <a:srgbClr val="111827"/>
                    </a:solidFill>
                    <a:latin typeface="Cambria Math" panose="02040503050406030204" pitchFamily="18" charset="0"/>
                  </a:rPr>
                  <a:t>$8\times8$</a:t>
                </a:r>
                <a:r>
                  <a:rPr sz="2400" b="0">
                    <a:solidFill>
                      <a:srgbClr val="111827"/>
                    </a:solidFill>
                    <a:latin typeface="Arial"/>
                  </a:rPr>
                  <a:t> board.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the direction parallel to </a:t>
                </a:r>
                <a:r>
                  <a:rPr lang="en-IN" sz="2400">
                    <a:solidFill>
                      <a:srgbClr val="111827"/>
                    </a:solidFill>
                    <a:latin typeface="Cambria Math" panose="02040503050406030204" pitchFamily="18" charset="0"/>
                  </a:rPr>
                  <a:t>$AC$</a:t>
                </a:r>
                <a:r>
                  <a:rPr sz="2400" b="0">
                    <a:solidFill>
                      <a:srgbClr val="111827"/>
                    </a:solidFill>
                    <a:latin typeface="Arial"/>
                  </a:rPr>
                  <a:t>. The diagonal lines of the board have lengths </a:t>
                </a:r>
                <a:r>
                  <a:rPr lang="en-IN" sz="2400">
                    <a:solidFill>
                      <a:srgbClr val="111827"/>
                    </a:solidFill>
                    <a:latin typeface="Cambria Math" panose="02040503050406030204" pitchFamily="18" charset="0"/>
                  </a:rPr>
                  <a:t>$1,2,\dots,7,8,7,\dots,2,1$</a:t>
                </a:r>
                <a:r>
                  <a:rPr sz="2400" b="0">
                    <a:solidFill>
                      <a:srgbClr val="111827"/>
                    </a:solidFill>
                    <a:latin typeface="Arial"/>
                  </a:rPr>
                  <a:t>; only lengths </a:t>
                </a:r>
                <a:r>
                  <a:rPr lang="en-IN" sz="2400">
                    <a:solidFill>
                      <a:srgbClr val="111827"/>
                    </a:solidFill>
                    <a:latin typeface="Cambria Math" panose="02040503050406030204" pitchFamily="18" charset="0"/>
                  </a:rPr>
                  <a:t>$4,5,6,7,8$</a:t>
                </a:r>
                <a:r>
                  <a:rPr sz="2400" b="0">
                    <a:solidFill>
                      <a:srgbClr val="111827"/>
                    </a:solidFill>
                    <a:latin typeface="Arial"/>
                  </a:rPr>
                  <a:t> can hold </a:t>
                </a:r>
                <a:r>
                  <a:rPr lang="en-IN" sz="2400">
                    <a:solidFill>
                      <a:srgbClr val="111827"/>
                    </a:solidFill>
                    <a:latin typeface="Cambria Math" panose="02040503050406030204" pitchFamily="18" charset="0"/>
                  </a:rPr>
                  <a:t>$4$</a:t>
                </a:r>
                <a:r>
                  <a:rPr sz="2400" b="0">
                    <a:solidFill>
                      <a:srgbClr val="111827"/>
                    </a:solidFill>
                    <a:latin typeface="Arial"/>
                  </a:rPr>
                  <a:t> squares.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Lengths </a:t>
                </a:r>
                <a:r>
                  <a:rPr lang="en-IN" sz="2400">
                    <a:solidFill>
                      <a:srgbClr val="111827"/>
                    </a:solidFill>
                    <a:latin typeface="Cambria Math" panose="02040503050406030204" pitchFamily="18" charset="0"/>
                  </a:rPr>
                  <a:t>$4,5,6,7$</a:t>
                </a:r>
                <a:r>
                  <a:rPr sz="2400" b="0">
                    <a:solidFill>
                      <a:srgbClr val="111827"/>
                    </a:solidFill>
                    <a:latin typeface="Arial"/>
                  </a:rPr>
                  <a:t> occur twice each (one on either side of the main diagonal) and length </a:t>
                </a:r>
                <a:r>
                  <a:rPr lang="en-IN" sz="2400">
                    <a:solidFill>
                      <a:srgbClr val="111827"/>
                    </a:solidFill>
                    <a:latin typeface="Cambria Math" panose="02040503050406030204" pitchFamily="18" charset="0"/>
                  </a:rPr>
                  <a:t>$8$</a:t>
                </a:r>
                <a:r>
                  <a:rPr sz="2400" b="0">
                    <a:solidFill>
                      <a:srgbClr val="111827"/>
                    </a:solidFill>
                    <a:latin typeface="Arial"/>
                  </a:rPr>
                  <a:t> occurs once (the main diagonal).</a:t>
                </a:r>
                <a:endParaRPr sz="2400">
                  <a:solidFill>
                    <a:srgbClr val="111827"/>
                  </a:solidFill>
                </a:endParaRPr>
              </a:p>
            </p:txBody>
          </p:sp>
        </mc:Fallback>
      </mc:AlternateContent>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Choosing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squares from a diagonal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squares can be done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ways in this direction is </a:t>
                </a:r>
                <a14:m>
                  <m:oMath xmlns:m="http://schemas.openxmlformats.org/officeDocument/2006/math">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4</m:t>
                                </m:r>
                              </m:den>
                            </m:f>
                          </m:e>
                        </m:d>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Values: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56</m:t>
                    </m:r>
                  </m:oMath>
                </a14:m>
                <a:r>
                  <a:rPr sz="2400" b="0">
                    <a:solidFill>
                      <a:srgbClr val="111827"/>
                    </a:solidFill>
                    <a:latin typeface="Arial"/>
                  </a:rPr>
                  <a:t> and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70</m:t>
                    </m:r>
                  </m:oMath>
                </a14:m>
                <a:r>
                  <a:rPr sz="2400" b="0">
                    <a:solidFill>
                      <a:srgbClr val="111827"/>
                    </a:solidFill>
                    <a:latin typeface="Arial"/>
                  </a:rPr>
                  <a:t>, so this direction gives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other direction (parallel to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𝐷</m:t>
                    </m:r>
                  </m:oMath>
                </a14:m>
                <a:r>
                  <a:rPr sz="2400" b="0">
                    <a:solidFill>
                      <a:srgbClr val="111827"/>
                    </a:solidFill>
                    <a:latin typeface="Arial"/>
                  </a:rPr>
                  <a:t>) gives the same number, </a:t>
                </a:r>
                <a14:m>
                  <m:oMath xmlns:m="http://schemas.openxmlformats.org/officeDocument/2006/math">
                    <m:r>
                      <a:rPr lang="en-IN" sz="2400" i="1">
                        <a:solidFill>
                          <a:srgbClr val="111827"/>
                        </a:solidFill>
                        <a:latin typeface="Cambria Math" panose="02040503050406030204" pitchFamily="18" charset="0"/>
                      </a:rPr>
                      <m:t>182</m:t>
                    </m:r>
                  </m:oMath>
                </a14:m>
                <a:r>
                  <a:rPr sz="2400" b="0">
                    <a:solidFill>
                      <a:srgbClr val="111827"/>
                    </a:solidFill>
                    <a:latin typeface="Arial"/>
                  </a:rPr>
                  <a:t>, by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4</m:t>
                                    </m:r>
                                  </m:den>
                                </m:f>
                              </m:e>
                            </m:d>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4</m:t>
                                </m:r>
                              </m:den>
                            </m:f>
                          </m:e>
                        </m:d>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Choosing </a:t>
                </a:r>
                <a:r>
                  <a:rPr lang="en-IN" sz="2400">
                    <a:solidFill>
                      <a:srgbClr val="111827"/>
                    </a:solidFill>
                    <a:latin typeface="Cambria Math" panose="02040503050406030204" pitchFamily="18" charset="0"/>
                  </a:rPr>
                  <a:t>$4$</a:t>
                </a:r>
                <a:r>
                  <a:rPr sz="2400" b="0">
                    <a:solidFill>
                      <a:srgbClr val="111827"/>
                    </a:solidFill>
                    <a:latin typeface="Arial"/>
                  </a:rPr>
                  <a:t> squares from a diagonal of </a:t>
                </a:r>
                <a:r>
                  <a:rPr lang="en-IN" sz="2400">
                    <a:solidFill>
                      <a:srgbClr val="111827"/>
                    </a:solidFill>
                    <a:latin typeface="Cambria Math" panose="02040503050406030204" pitchFamily="18" charset="0"/>
                  </a:rPr>
                  <a:t>$n$</a:t>
                </a:r>
                <a:r>
                  <a:rPr sz="2400" b="0">
                    <a:solidFill>
                      <a:srgbClr val="111827"/>
                    </a:solidFill>
                    <a:latin typeface="Arial"/>
                  </a:rPr>
                  <a:t> squares can be done in </a:t>
                </a:r>
                <a:r>
                  <a:rPr lang="en-IN" sz="2400">
                    <a:solidFill>
                      <a:srgbClr val="111827"/>
                    </a:solidFill>
                    <a:latin typeface="Cambria Math" panose="02040503050406030204" pitchFamily="18" charset="0"/>
                  </a:rPr>
                  <a:t>$\binom{n}{4}$</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ways in this direction is </a:t>
                </a:r>
                <a:r>
                  <a:rPr lang="en-IN" sz="2400">
                    <a:solidFill>
                      <a:srgbClr val="111827"/>
                    </a:solidFill>
                    <a:latin typeface="Cambria Math" panose="02040503050406030204" pitchFamily="18" charset="0"/>
                  </a:rPr>
                  <a:t>$2\left[\binom{4}{4}+\binom{5}{4}+\binom{6}{4}+\binom{7}{4}\right]+\binom{8}{4}$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Values: </a:t>
                </a:r>
                <a:r>
                  <a:rPr lang="en-IN" sz="2400">
                    <a:solidFill>
                      <a:srgbClr val="111827"/>
                    </a:solidFill>
                    <a:latin typeface="Cambria Math" panose="02040503050406030204" pitchFamily="18" charset="0"/>
                  </a:rPr>
                  <a:t>$\binom44+\binom54+\binom64+\binom74=1+5+15+35=56$</a:t>
                </a:r>
                <a:r>
                  <a:rPr sz="2400" b="0">
                    <a:solidFill>
                      <a:srgbClr val="111827"/>
                    </a:solidFill>
                    <a:latin typeface="Arial"/>
                  </a:rPr>
                  <a:t> and </a:t>
                </a:r>
                <a:r>
                  <a:rPr lang="en-IN" sz="2400">
                    <a:solidFill>
                      <a:srgbClr val="111827"/>
                    </a:solidFill>
                    <a:latin typeface="Cambria Math" panose="02040503050406030204" pitchFamily="18" charset="0"/>
                  </a:rPr>
                  <a:t>$\binom84=70$</a:t>
                </a:r>
                <a:r>
                  <a:rPr sz="2400" b="0">
                    <a:solidFill>
                      <a:srgbClr val="111827"/>
                    </a:solidFill>
                    <a:latin typeface="Arial"/>
                  </a:rPr>
                  <a:t>, so this direction gives </a:t>
                </a:r>
                <a:r>
                  <a:rPr lang="en-IN" sz="2400">
                    <a:solidFill>
                      <a:srgbClr val="111827"/>
                    </a:solidFill>
                    <a:latin typeface="Cambria Math" panose="02040503050406030204" pitchFamily="18" charset="0"/>
                  </a:rPr>
                  <a:t>$2\cdot56+70=182$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other direction (parallel to </a:t>
                </a:r>
                <a:r>
                  <a:rPr lang="en-IN" sz="2400">
                    <a:solidFill>
                      <a:srgbClr val="111827"/>
                    </a:solidFill>
                    <a:latin typeface="Cambria Math" panose="02040503050406030204" pitchFamily="18" charset="0"/>
                  </a:rPr>
                  <a:t>$BD$</a:t>
                </a:r>
                <a:r>
                  <a:rPr sz="2400" b="0">
                    <a:solidFill>
                      <a:srgbClr val="111827"/>
                    </a:solidFill>
                    <a:latin typeface="Arial"/>
                  </a:rPr>
                  <a:t>) gives the same number, </a:t>
                </a:r>
                <a:r>
                  <a:rPr lang="en-IN" sz="2400">
                    <a:solidFill>
                      <a:srgbClr val="111827"/>
                    </a:solidFill>
                    <a:latin typeface="Cambria Math" panose="02040503050406030204" pitchFamily="18" charset="0"/>
                  </a:rPr>
                  <a:t>$182$</a:t>
                </a:r>
                <a:r>
                  <a:rPr sz="2400" b="0">
                    <a:solidFill>
                      <a:srgbClr val="111827"/>
                    </a:solidFill>
                    <a:latin typeface="Arial"/>
                  </a:rPr>
                  <a:t>, by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$=2\left[2\left(\binom44+\binom54+\binom64+\binom74\right)+\binom84\right]=2\times182=364$</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364</a:t>
            </a:r>
            <a:endParaRPr sz="2800">
              <a:solidFill>
                <a:srgbClr val="15803D"/>
              </a:solidFill>
            </a:endParaRP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the four rows first: a diagonal through them is fixed by its horizontal shift, and the number of allowed shifts depends only on the row span.</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diagonals in one direction (slope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Choose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distinct rows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out of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squares are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 common shift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all columns must lie in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needs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so the number of shifts is </a:t>
                </a: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the span.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row-sets with span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choose the two middle rows from the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rows strictly between,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diagonals in one direction (slope </a:t>
                </a:r>
                <a:r>
                  <a:rPr lang="en-IN" sz="2400">
                    <a:solidFill>
                      <a:srgbClr val="111827"/>
                    </a:solidFill>
                    <a:latin typeface="Cambria Math" panose="02040503050406030204" pitchFamily="18" charset="0"/>
                  </a:rPr>
                  <a:t>$+1$</a:t>
                </a:r>
                <a:r>
                  <a:rPr sz="2400" b="0">
                    <a:solidFill>
                      <a:srgbClr val="111827"/>
                    </a:solidFill>
                    <a:latin typeface="Arial"/>
                  </a:rPr>
                  <a:t>). Choose </a:t>
                </a:r>
                <a:r>
                  <a:rPr lang="en-IN" sz="2400">
                    <a:solidFill>
                      <a:srgbClr val="111827"/>
                    </a:solidFill>
                    <a:latin typeface="Cambria Math" panose="02040503050406030204" pitchFamily="18" charset="0"/>
                  </a:rPr>
                  <a:t>$4$</a:t>
                </a:r>
                <a:r>
                  <a:rPr sz="2400" b="0">
                    <a:solidFill>
                      <a:srgbClr val="111827"/>
                    </a:solidFill>
                    <a:latin typeface="Arial"/>
                  </a:rPr>
                  <a:t> distinct rows </a:t>
                </a:r>
                <a:r>
                  <a:rPr lang="en-IN" sz="2400">
                    <a:solidFill>
                      <a:srgbClr val="111827"/>
                    </a:solidFill>
                    <a:latin typeface="Cambria Math" panose="02040503050406030204" pitchFamily="18" charset="0"/>
                  </a:rPr>
                  <a:t>$r_1&lt;r_2&lt;r_3&lt;r_4$</a:t>
                </a:r>
                <a:r>
                  <a:rPr sz="2400" b="0">
                    <a:solidFill>
                      <a:srgbClr val="111827"/>
                    </a:solidFill>
                    <a:latin typeface="Arial"/>
                  </a:rPr>
                  <a:t> out of </a:t>
                </a:r>
                <a:r>
                  <a:rPr lang="en-IN" sz="2400">
                    <a:solidFill>
                      <a:srgbClr val="111827"/>
                    </a:solidFill>
                    <a:latin typeface="Cambria Math" panose="02040503050406030204" pitchFamily="18" charset="0"/>
                  </a:rPr>
                  <a:t>$8$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squares are </a:t>
                </a:r>
                <a:r>
                  <a:rPr lang="en-IN" sz="2400">
                    <a:solidFill>
                      <a:srgbClr val="111827"/>
                    </a:solidFill>
                    <a:latin typeface="Cambria Math" panose="02040503050406030204" pitchFamily="18" charset="0"/>
                  </a:rPr>
                  <a:t>$(r_i,r_i+d)$</a:t>
                </a:r>
                <a:r>
                  <a:rPr sz="2400" b="0">
                    <a:solidFill>
                      <a:srgbClr val="111827"/>
                    </a:solidFill>
                    <a:latin typeface="Arial"/>
                  </a:rPr>
                  <a:t> for a common shift </a:t>
                </a:r>
                <a:r>
                  <a:rPr lang="en-IN" sz="2400">
                    <a:solidFill>
                      <a:srgbClr val="111827"/>
                    </a:solidFill>
                    <a:latin typeface="Cambria Math" panose="02040503050406030204" pitchFamily="18" charset="0"/>
                  </a:rPr>
                  <a:t>$d$</a:t>
                </a:r>
                <a:r>
                  <a:rPr sz="2400" b="0">
                    <a:solidFill>
                      <a:srgbClr val="111827"/>
                    </a:solidFill>
                    <a:latin typeface="Arial"/>
                  </a:rPr>
                  <a:t>; all columns must lie in </a:t>
                </a:r>
                <a:r>
                  <a:rPr lang="en-IN" sz="2400">
                    <a:solidFill>
                      <a:srgbClr val="111827"/>
                    </a:solidFill>
                    <a:latin typeface="Cambria Math" panose="02040503050406030204" pitchFamily="18" charset="0"/>
                  </a:rPr>
                  <a:t>$1,\dots,8$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needs </a:t>
                </a:r>
                <a:r>
                  <a:rPr lang="en-IN" sz="2400">
                    <a:solidFill>
                      <a:srgbClr val="111827"/>
                    </a:solidFill>
                    <a:latin typeface="Cambria Math" panose="02040503050406030204" pitchFamily="18" charset="0"/>
                  </a:rPr>
                  <a:t>$1-r_1\le d\le 8-r_4$</a:t>
                </a:r>
                <a:r>
                  <a:rPr sz="2400" b="0">
                    <a:solidFill>
                      <a:srgbClr val="111827"/>
                    </a:solidFill>
                    <a:latin typeface="Arial"/>
                  </a:rPr>
                  <a:t>, so the number of shifts is </a:t>
                </a:r>
                <a:r>
                  <a:rPr lang="en-IN" sz="2400">
                    <a:solidFill>
                      <a:srgbClr val="111827"/>
                    </a:solidFill>
                    <a:latin typeface="Cambria Math" panose="02040503050406030204" pitchFamily="18" charset="0"/>
                  </a:rPr>
                  <a:t>$8-(r_4-r_1)=8-s$</a:t>
                </a:r>
                <a:r>
                  <a:rPr sz="2400" b="0">
                    <a:solidFill>
                      <a:srgbClr val="111827"/>
                    </a:solidFill>
                    <a:latin typeface="Arial"/>
                  </a:rPr>
                  <a:t> where </a:t>
                </a:r>
                <a:r>
                  <a:rPr lang="en-IN" sz="2400">
                    <a:solidFill>
                      <a:srgbClr val="111827"/>
                    </a:solidFill>
                    <a:latin typeface="Cambria Math" panose="02040503050406030204" pitchFamily="18" charset="0"/>
                  </a:rPr>
                  <a:t>$s=r_4-r_1$</a:t>
                </a:r>
                <a:r>
                  <a:rPr sz="2400" b="0">
                    <a:solidFill>
                      <a:srgbClr val="111827"/>
                    </a:solidFill>
                    <a:latin typeface="Arial"/>
                  </a:rPr>
                  <a:t> is the span.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row-sets with span </a:t>
                </a:r>
                <a:r>
                  <a:rPr lang="en-IN" sz="2400">
                    <a:solidFill>
                      <a:srgbClr val="111827"/>
                    </a:solidFill>
                    <a:latin typeface="Cambria Math" panose="02040503050406030204" pitchFamily="18" charset="0"/>
                  </a:rPr>
                  <a:t>$s$</a:t>
                </a:r>
                <a:r>
                  <a:rPr sz="2400" b="0">
                    <a:solidFill>
                      <a:srgbClr val="111827"/>
                    </a:solidFill>
                    <a:latin typeface="Arial"/>
                  </a:rPr>
                  <a:t>: choose the two middle rows from the </a:t>
                </a:r>
                <a:r>
                  <a:rPr lang="en-IN" sz="2400">
                    <a:solidFill>
                      <a:srgbClr val="111827"/>
                    </a:solidFill>
                    <a:latin typeface="Cambria Math" panose="02040503050406030204" pitchFamily="18" charset="0"/>
                  </a:rPr>
                  <a:t>$s-1$</a:t>
                </a:r>
                <a:r>
                  <a:rPr sz="2400" b="0">
                    <a:solidFill>
                      <a:srgbClr val="111827"/>
                    </a:solidFill>
                    <a:latin typeface="Arial"/>
                  </a:rPr>
                  <a:t> rows strictly between, </a:t>
                </a:r>
                <a:r>
                  <a:rPr lang="en-IN" sz="2400">
                    <a:solidFill>
                      <a:srgbClr val="111827"/>
                    </a:solidFill>
                    <a:latin typeface="Cambria Math" panose="02040503050406030204" pitchFamily="18" charset="0"/>
                  </a:rPr>
                  <a:t>$\binom{s-1}{2}$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One direction: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7</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a:t>
                </a:r>
                <a14:m>
                  <m:oMath xmlns:m="http://schemas.openxmlformats.org/officeDocument/2006/math">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other diagonal direction is the mirror image and gives </a:t>
                </a:r>
                <a14:m>
                  <m:oMath xmlns:m="http://schemas.openxmlformats.org/officeDocument/2006/math">
                    <m:r>
                      <a:rPr lang="en-IN" sz="2400" i="1">
                        <a:solidFill>
                          <a:srgbClr val="111827"/>
                        </a:solidFill>
                        <a:latin typeface="Cambria Math" panose="02040503050406030204" pitchFamily="18" charset="0"/>
                      </a:rPr>
                      <m:t>182</m:t>
                    </m:r>
                  </m:oMath>
                </a14:m>
                <a:r>
                  <a:rPr sz="2400" b="0">
                    <a:solidFill>
                      <a:srgbClr val="111827"/>
                    </a:solidFill>
                    <a:latin typeface="Arial"/>
                  </a:rPr>
                  <a:t> too.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One direction: </a:t>
                </a:r>
                <a:r>
                  <a:rPr lang="en-IN" sz="2400">
                    <a:solidFill>
                      <a:srgbClr val="111827"/>
                    </a:solidFill>
                    <a:latin typeface="Cambria Math" panose="02040503050406030204" pitchFamily="18" charset="0"/>
                  </a:rPr>
                  <a:t>$\sum_{s=3}^{7}(8-s)^2\binom{s-1}{2}=25\cdot1+16\cdot3+9\cdot6+4\cdot10+1\cdot15$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a:t>
                </a:r>
                <a:r>
                  <a:rPr lang="en-IN" sz="2400">
                    <a:solidFill>
                      <a:srgbClr val="111827"/>
                    </a:solidFill>
                    <a:latin typeface="Cambria Math" panose="02040503050406030204" pitchFamily="18" charset="0"/>
                  </a:rPr>
                  <a:t>$25+48+54+40+15=182$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other diagonal direction is the mirror image and gives </a:t>
                </a:r>
                <a:r>
                  <a:rPr lang="en-IN" sz="2400">
                    <a:solidFill>
                      <a:srgbClr val="111827"/>
                    </a:solidFill>
                    <a:latin typeface="Cambria Math" panose="02040503050406030204" pitchFamily="18" charset="0"/>
                  </a:rPr>
                  <a:t>$182$</a:t>
                </a:r>
                <a:r>
                  <a:rPr sz="2400" b="0">
                    <a:solidFill>
                      <a:srgbClr val="111827"/>
                    </a:solidFill>
                    <a:latin typeface="Arial"/>
                  </a:rPr>
                  <a:t> too.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$=2\times182=364$</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364</a:t>
            </a:r>
            <a:endParaRPr sz="2800">
              <a:solidFill>
                <a:srgbClr val="15803D"/>
              </a:solidFill>
            </a:endParaRP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 an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board,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squares on a common diagonal can be chosen in </a:t>
                </a:r>
                <a14:m>
                  <m:oMath xmlns:m="http://schemas.openxmlformats.org/officeDocument/2006/math">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2</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𝑟</m:t>
                                    </m:r>
                                  </m:den>
                                </m:f>
                              </m:e>
                            </m:d>
                          </m:e>
                        </m:nary>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e>
                    </m:d>
                  </m:oMath>
                </a14:m>
                <a:r>
                  <a:rPr sz="2400" b="0">
                    <a:solidFill>
                      <a:srgbClr val="111827"/>
                    </a:solidFill>
                    <a:latin typeface="Arial"/>
                  </a:rPr>
                  <a:t> ways;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364</m:t>
                    </m:r>
                  </m:oMath>
                </a14:m>
                <a:r>
                  <a:rPr sz="2400" b="0">
                    <a:solidFill>
                      <a:srgbClr val="111827"/>
                    </a:solidFill>
                    <a:latin typeface="Arial"/>
                  </a:rPr>
                  <a:t> (brute force agrees).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280</m:t>
                    </m:r>
                  </m:oMath>
                </a14:m>
                <a:r>
                  <a:rPr sz="2400" b="0">
                    <a:solidFill>
                      <a:srgbClr val="111827"/>
                    </a:solidFill>
                    <a:latin typeface="Arial"/>
                  </a:rPr>
                  <a:t>, the known number of pairs of squares attacking along a bishop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Hockey-stick identity: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𝑚</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𝑟</m:t>
                                </m:r>
                              </m:den>
                            </m:f>
                          </m:e>
                        </m:d>
                      </m:e>
                    </m:nary>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 e.g.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5</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Diagonal lengths on an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board: two of each length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one of length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in each direction.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 an </a:t>
                </a:r>
                <a:r>
                  <a:rPr lang="en-IN" sz="2400">
                    <a:solidFill>
                      <a:srgbClr val="111827"/>
                    </a:solidFill>
                    <a:latin typeface="Cambria Math" panose="02040503050406030204" pitchFamily="18" charset="0"/>
                  </a:rPr>
                  <a:t>$n\times n$</a:t>
                </a:r>
                <a:r>
                  <a:rPr sz="2400" b="0">
                    <a:solidFill>
                      <a:srgbClr val="111827"/>
                    </a:solidFill>
                    <a:latin typeface="Arial"/>
                  </a:rPr>
                  <a:t> board, </a:t>
                </a:r>
                <a:r>
                  <a:rPr lang="en-IN" sz="2400">
                    <a:solidFill>
                      <a:srgbClr val="111827"/>
                    </a:solidFill>
                    <a:latin typeface="Cambria Math" panose="02040503050406030204" pitchFamily="18" charset="0"/>
                  </a:rPr>
                  <a:t>$r$</a:t>
                </a:r>
                <a:r>
                  <a:rPr sz="2400" b="0">
                    <a:solidFill>
                      <a:srgbClr val="111827"/>
                    </a:solidFill>
                    <a:latin typeface="Arial"/>
                  </a:rPr>
                  <a:t> squares on a common diagonal can be chosen in </a:t>
                </a:r>
                <a:r>
                  <a:rPr lang="en-IN" sz="2400">
                    <a:solidFill>
                      <a:srgbClr val="111827"/>
                    </a:solidFill>
                    <a:latin typeface="Cambria Math" panose="02040503050406030204" pitchFamily="18" charset="0"/>
                  </a:rPr>
                  <a:t>$2\left[2\sum_{k=r}^{n-1}\binom{k}{r}+\binom{n}{r}\right]$</a:t>
                </a:r>
                <a:r>
                  <a:rPr sz="2400" b="0">
                    <a:solidFill>
                      <a:srgbClr val="111827"/>
                    </a:solidFill>
                    <a:latin typeface="Arial"/>
                  </a:rPr>
                  <a:t> ways; </a:t>
                </a:r>
                <a:r>
                  <a:rPr lang="en-IN" sz="2400">
                    <a:solidFill>
                      <a:srgbClr val="111827"/>
                    </a:solidFill>
                    <a:latin typeface="Cambria Math" panose="02040503050406030204" pitchFamily="18" charset="0"/>
                  </a:rPr>
                  <a:t>$n=8,\ r=4$</a:t>
                </a:r>
                <a:r>
                  <a:rPr sz="2400" b="0">
                    <a:solidFill>
                      <a:srgbClr val="111827"/>
                    </a:solidFill>
                    <a:latin typeface="Arial"/>
                  </a:rPr>
                  <a:t> gives </a:t>
                </a:r>
                <a:r>
                  <a:rPr lang="en-IN" sz="2400">
                    <a:solidFill>
                      <a:srgbClr val="111827"/>
                    </a:solidFill>
                    <a:latin typeface="Cambria Math" panose="02040503050406030204" pitchFamily="18" charset="0"/>
                  </a:rPr>
                  <a:t>$364$</a:t>
                </a:r>
                <a:r>
                  <a:rPr sz="2400" b="0">
                    <a:solidFill>
                      <a:srgbClr val="111827"/>
                    </a:solidFill>
                    <a:latin typeface="Arial"/>
                  </a:rPr>
                  <a:t> (brute force agrees).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r>
                  <a:rPr lang="en-IN" sz="2400">
                    <a:solidFill>
                      <a:srgbClr val="111827"/>
                    </a:solidFill>
                    <a:latin typeface="Cambria Math" panose="02040503050406030204" pitchFamily="18" charset="0"/>
                  </a:rPr>
                  <a:t>$r=2$</a:t>
                </a:r>
                <a:r>
                  <a:rPr sz="2400" b="0">
                    <a:solidFill>
                      <a:srgbClr val="111827"/>
                    </a:solidFill>
                    <a:latin typeface="Arial"/>
                  </a:rPr>
                  <a:t>, </a:t>
                </a:r>
                <a:r>
                  <a:rPr lang="en-IN" sz="2400">
                    <a:solidFill>
                      <a:srgbClr val="111827"/>
                    </a:solidFill>
                    <a:latin typeface="Cambria Math" panose="02040503050406030204" pitchFamily="18" charset="0"/>
                  </a:rPr>
                  <a:t>$n=8$</a:t>
                </a:r>
                <a:r>
                  <a:rPr sz="2400" b="0">
                    <a:solidFill>
                      <a:srgbClr val="111827"/>
                    </a:solidFill>
                    <a:latin typeface="Arial"/>
                  </a:rPr>
                  <a:t>: gives </a:t>
                </a:r>
                <a:r>
                  <a:rPr lang="en-IN" sz="2400">
                    <a:solidFill>
                      <a:srgbClr val="111827"/>
                    </a:solidFill>
                    <a:latin typeface="Cambria Math" panose="02040503050406030204" pitchFamily="18" charset="0"/>
                  </a:rPr>
                  <a:t>$280$</a:t>
                </a:r>
                <a:r>
                  <a:rPr sz="2400" b="0">
                    <a:solidFill>
                      <a:srgbClr val="111827"/>
                    </a:solidFill>
                    <a:latin typeface="Arial"/>
                  </a:rPr>
                  <a:t>, the known number of pairs of squares attacking along a bishop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Hockey-stick identity: </a:t>
                </a:r>
                <a:r>
                  <a:rPr lang="en-IN" sz="2400">
                    <a:solidFill>
                      <a:srgbClr val="111827"/>
                    </a:solidFill>
                    <a:latin typeface="Cambria Math" panose="02040503050406030204" pitchFamily="18" charset="0"/>
                  </a:rPr>
                  <a:t>$\sum_{k=r}^{m}\binom{k}{r}=\binom{m+1}{r+1}$</a:t>
                </a:r>
                <a:r>
                  <a:rPr sz="2400" b="0">
                    <a:solidFill>
                      <a:srgbClr val="111827"/>
                    </a:solidFill>
                    <a:latin typeface="Arial"/>
                  </a:rPr>
                  <a:t>, e.g. </a:t>
                </a:r>
                <a:r>
                  <a:rPr lang="en-IN" sz="2400">
                    <a:solidFill>
                      <a:srgbClr val="111827"/>
                    </a:solidFill>
                    <a:latin typeface="Cambria Math" panose="02040503050406030204" pitchFamily="18" charset="0"/>
                  </a:rPr>
                  <a:t>$\binom44+\dots+\binom74=\binom85=56$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Diagonal lengths on an </a:t>
                </a:r>
                <a:r>
                  <a:rPr lang="en-IN" sz="2400">
                    <a:solidFill>
                      <a:srgbClr val="111827"/>
                    </a:solidFill>
                    <a:latin typeface="Cambria Math" panose="02040503050406030204" pitchFamily="18" charset="0"/>
                  </a:rPr>
                  <a:t>$n\times n$</a:t>
                </a:r>
                <a:r>
                  <a:rPr sz="2400" b="0">
                    <a:solidFill>
                      <a:srgbClr val="111827"/>
                    </a:solidFill>
                    <a:latin typeface="Arial"/>
                  </a:rPr>
                  <a:t> board: two of each length </a:t>
                </a:r>
                <a:r>
                  <a:rPr lang="en-IN" sz="2400">
                    <a:solidFill>
                      <a:srgbClr val="111827"/>
                    </a:solidFill>
                    <a:latin typeface="Cambria Math" panose="02040503050406030204" pitchFamily="18" charset="0"/>
                  </a:rPr>
                  <a:t>$1,\dots,n-1$</a:t>
                </a:r>
                <a:r>
                  <a:rPr sz="2400" b="0">
                    <a:solidFill>
                      <a:srgbClr val="111827"/>
                    </a:solidFill>
                    <a:latin typeface="Arial"/>
                  </a:rPr>
                  <a:t> and one of length </a:t>
                </a:r>
                <a:r>
                  <a:rPr lang="en-IN" sz="2400">
                    <a:solidFill>
                      <a:srgbClr val="111827"/>
                    </a:solidFill>
                    <a:latin typeface="Cambria Math" panose="02040503050406030204" pitchFamily="18" charset="0"/>
                  </a:rPr>
                  <a:t>$n$</a:t>
                </a:r>
                <a:r>
                  <a:rPr sz="2400" b="0">
                    <a:solidFill>
                      <a:srgbClr val="111827"/>
                    </a:solidFill>
                    <a:latin typeface="Arial"/>
                  </a:rPr>
                  <a:t>, in each direction.</a:t>
                </a:r>
                <a:endParaRPr sz="2400">
                  <a:solidFill>
                    <a:srgbClr val="111827"/>
                  </a:solidFill>
                </a:endParaRPr>
              </a:p>
            </p:txBody>
          </p:sp>
        </mc:Fallback>
      </mc:AlternateContent>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the product of all the divisors of </a:t>
                </a:r>
                <a14:m>
                  <m:oMath xmlns:m="http://schemas.openxmlformats.org/officeDocument/2006/math">
                    <m:r>
                      <a:rPr lang="en-IN" sz="2400" i="1">
                        <a:solidFill>
                          <a:srgbClr val="111827"/>
                        </a:solidFill>
                        <a:latin typeface="Cambria Math" panose="02040503050406030204" pitchFamily="18" charset="0"/>
                      </a:rPr>
                      <m:t>1440</m:t>
                    </m:r>
                  </m:oMath>
                </a14:m>
                <a:r>
                  <a:rPr sz="2400" b="0">
                    <a:solidFill>
                      <a:srgbClr val="111827"/>
                    </a:solidFill>
                    <a:latin typeface="Arial"/>
                  </a:rPr>
                  <a:t> be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divisible by </a:t>
                </a:r>
                <a14:m>
                  <m:oMath xmlns:m="http://schemas.openxmlformats.org/officeDocument/2006/math">
                    <m:sSup>
                      <m:e>
                        <m:r>
                          <a:rPr lang="en-IN" sz="2400" i="1">
                            <a:solidFill>
                              <a:srgbClr val="111827"/>
                            </a:solidFill>
                            <a:latin typeface="Cambria Math" panose="02040503050406030204" pitchFamily="18" charset="0"/>
                          </a:rPr>
                          <m:t>24</m:t>
                        </m:r>
                      </m:e>
                      <m:sup>
                        <m:r>
                          <a:rPr lang="en-IN" sz="2400" i="1">
                            <a:solidFill>
                              <a:srgbClr val="111827"/>
                            </a:solidFill>
                            <a:latin typeface="Cambria Math" panose="02040503050406030204" pitchFamily="18" charset="0"/>
                          </a:rPr>
                          <m:t>𝑥</m:t>
                        </m:r>
                      </m:sup>
                    </m:sSup>
                  </m:oMath>
                </a14:m>
                <a:r>
                  <a:rPr sz="2400" b="0">
                    <a:solidFill>
                      <a:srgbClr val="111827"/>
                    </a:solidFill>
                    <a:latin typeface="Arial"/>
                  </a:rPr>
                  <a:t>, then the maximum value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28</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30</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32</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36</m:t>
                    </m:r>
                  </m:oMath>
                </a14:m>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the product of all the divisors of </a:t>
                </a:r>
                <a:r>
                  <a:rPr lang="en-IN" sz="2400">
                    <a:solidFill>
                      <a:srgbClr val="111827"/>
                    </a:solidFill>
                    <a:latin typeface="Cambria Math" panose="02040503050406030204" pitchFamily="18" charset="0"/>
                  </a:rPr>
                  <a:t>$1440$</a:t>
                </a:r>
                <a:r>
                  <a:rPr sz="2400" b="0">
                    <a:solidFill>
                      <a:srgbClr val="111827"/>
                    </a:solidFill>
                    <a:latin typeface="Arial"/>
                  </a:rPr>
                  <a:t> be </a:t>
                </a:r>
                <a:r>
                  <a:rPr lang="en-IN" sz="2400">
                    <a:solidFill>
                      <a:srgbClr val="111827"/>
                    </a:solidFill>
                    <a:latin typeface="Cambria Math" panose="02040503050406030204" pitchFamily="18" charset="0"/>
                  </a:rPr>
                  <a:t>$P$</a:t>
                </a:r>
                <a:r>
                  <a:rPr sz="2400" b="0">
                    <a:solidFill>
                      <a:srgbClr val="111827"/>
                    </a:solidFill>
                    <a:latin typeface="Arial"/>
                  </a:rPr>
                  <a:t>. If </a:t>
                </a:r>
                <a:r>
                  <a:rPr lang="en-IN" sz="2400">
                    <a:solidFill>
                      <a:srgbClr val="111827"/>
                    </a:solidFill>
                    <a:latin typeface="Cambria Math" panose="02040503050406030204" pitchFamily="18" charset="0"/>
                  </a:rPr>
                  <a:t>$P$</a:t>
                </a:r>
                <a:r>
                  <a:rPr sz="2400" b="0">
                    <a:solidFill>
                      <a:srgbClr val="111827"/>
                    </a:solidFill>
                    <a:latin typeface="Arial"/>
                  </a:rPr>
                  <a:t> is divisible by </a:t>
                </a:r>
                <a:r>
                  <a:rPr lang="en-IN" sz="2400">
                    <a:solidFill>
                      <a:srgbClr val="111827"/>
                    </a:solidFill>
                    <a:latin typeface="Cambria Math" panose="02040503050406030204" pitchFamily="18" charset="0"/>
                  </a:rPr>
                  <a:t>$24^x$</a:t>
                </a:r>
                <a:r>
                  <a:rPr sz="2400" b="0">
                    <a:solidFill>
                      <a:srgbClr val="111827"/>
                    </a:solidFill>
                    <a:latin typeface="Arial"/>
                  </a:rPr>
                  <a:t>, then the maximum value of </a:t>
                </a:r>
                <a:r>
                  <a:rPr lang="en-IN" sz="2400">
                    <a:solidFill>
                      <a:srgbClr val="111827"/>
                    </a:solidFill>
                    <a:latin typeface="Cambria Math" panose="02040503050406030204" pitchFamily="18" charset="0"/>
                  </a:rPr>
                  <a:t>$x$</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$28$</a:t>
                </a:r>
                <a:r>
                  <a:rPr sz="2400" b="0">
                    <a:solidFill>
                      <a:srgbClr val="111827"/>
                    </a:solidFill>
                    <a:latin typeface="Arial"/>
                  </a:rPr>
                  <a:t>   (B) </a:t>
                </a:r>
                <a:r>
                  <a:rPr lang="en-IN" sz="2400">
                    <a:solidFill>
                      <a:srgbClr val="111827"/>
                    </a:solidFill>
                    <a:latin typeface="Cambria Math" panose="02040503050406030204" pitchFamily="18" charset="0"/>
                  </a:rPr>
                  <a:t>$30$</a:t>
                </a:r>
                <a:r>
                  <a:rPr sz="2400" b="0">
                    <a:solidFill>
                      <a:srgbClr val="111827"/>
                    </a:solidFill>
                    <a:latin typeface="Arial"/>
                  </a:rPr>
                  <a:t>   (C) </a:t>
                </a:r>
                <a:r>
                  <a:rPr lang="en-IN" sz="2400">
                    <a:solidFill>
                      <a:srgbClr val="111827"/>
                    </a:solidFill>
                    <a:latin typeface="Cambria Math" panose="02040503050406030204" pitchFamily="18" charset="0"/>
                  </a:rPr>
                  <a:t>$32$</a:t>
                </a:r>
                <a:r>
                  <a:rPr sz="2400" b="0">
                    <a:solidFill>
                      <a:srgbClr val="111827"/>
                    </a:solidFill>
                    <a:latin typeface="Arial"/>
                  </a:rPr>
                  <a:t>   (D) </a:t>
                </a:r>
                <a:r>
                  <a:rPr lang="en-IN" sz="2400">
                    <a:solidFill>
                      <a:srgbClr val="111827"/>
                    </a:solidFill>
                    <a:latin typeface="Cambria Math" panose="02040503050406030204" pitchFamily="18" charset="0"/>
                  </a:rPr>
                  <a:t>$36$</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Number of divisors and product of divisors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Divisors pair up as </a:t>
                </a:r>
                <a14:m>
                  <m:oMath xmlns:m="http://schemas.openxmlformats.org/officeDocument/2006/math">
                    <m:r>
                      <a:rPr lang="en-IN" sz="2400" i="1">
                        <a:solidFill>
                          <a:srgbClr val="78350F"/>
                        </a:solidFill>
                        <a:latin typeface="Cambria Math" panose="02040503050406030204" pitchFamily="18" charset="0"/>
                      </a:rPr>
                      <m:t>𝑑</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1440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𝑑</m:t>
                    </m:r>
                  </m:oMath>
                </a14:m>
                <a:r>
                  <a:rPr sz="2400" b="0">
                    <a:solidFill>
                      <a:srgbClr val="78350F"/>
                    </a:solidFill>
                    <a:latin typeface="Arial"/>
                  </a:rPr>
                  <a:t>, so the product of all divisors is </a:t>
                </a:r>
                <a14:m>
                  <m:oMath xmlns:m="http://schemas.openxmlformats.org/officeDocument/2006/math">
                    <m:sSup>
                      <m:e>
                        <m:r>
                          <a:rPr lang="en-IN" sz="2400" i="1">
                            <a:solidFill>
                              <a:srgbClr val="78350F"/>
                            </a:solidFill>
                            <a:latin typeface="Cambria Math" panose="02040503050406030204" pitchFamily="18" charset="0"/>
                          </a:rPr>
                          <m:t>1440</m:t>
                        </m:r>
                      </m:e>
                      <m:sup>
                        <m:r>
                          <a:rPr lang="en-IN" sz="2400" i="1">
                            <a:solidFill>
                              <a:srgbClr val="78350F"/>
                            </a:solidFill>
                            <a:latin typeface="Cambria Math" panose="02040503050406030204" pitchFamily="18" charset="0"/>
                          </a:rPr>
                          <m:t>𝑑</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1440</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Divisors pair up as </a:t>
                </a:r>
                <a:r>
                  <a:rPr lang="en-IN" sz="2400">
                    <a:solidFill>
                      <a:srgbClr val="78350F"/>
                    </a:solidFill>
                    <a:latin typeface="Cambria Math" panose="02040503050406030204" pitchFamily="18" charset="0"/>
                  </a:rPr>
                  <a:t>$d$</a:t>
                </a:r>
                <a:r>
                  <a:rPr sz="2400" b="0">
                    <a:solidFill>
                      <a:srgbClr val="78350F"/>
                    </a:solidFill>
                    <a:latin typeface="Arial"/>
                  </a:rPr>
                  <a:t> and </a:t>
                </a:r>
                <a:r>
                  <a:rPr lang="en-IN" sz="2400">
                    <a:solidFill>
                      <a:srgbClr val="78350F"/>
                    </a:solidFill>
                    <a:latin typeface="Cambria Math" panose="02040503050406030204" pitchFamily="18" charset="0"/>
                  </a:rPr>
                  <a:t>$1440/d$</a:t>
                </a:r>
                <a:r>
                  <a:rPr sz="2400" b="0">
                    <a:solidFill>
                      <a:srgbClr val="78350F"/>
                    </a:solidFill>
                    <a:latin typeface="Arial"/>
                  </a:rPr>
                  <a:t>, so the product of all divisors is </a:t>
                </a:r>
                <a:r>
                  <a:rPr lang="en-IN" sz="2400">
                    <a:solidFill>
                      <a:srgbClr val="78350F"/>
                    </a:solidFill>
                    <a:latin typeface="Cambria Math" panose="02040503050406030204" pitchFamily="18" charset="0"/>
                  </a:rPr>
                  <a:t>$1440^{d(1440)/2}$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Prime factorisation: </a:t>
                </a:r>
                <a14:m>
                  <m:oMath xmlns:m="http://schemas.openxmlformats.org/officeDocument/2006/math">
                    <m:r>
                      <a:rPr lang="en-IN" sz="2400" i="1">
                        <a:solidFill>
                          <a:srgbClr val="111827"/>
                        </a:solidFill>
                        <a:latin typeface="Cambria Math" panose="02040503050406030204" pitchFamily="18" charset="0"/>
                      </a:rPr>
                      <m:t>1440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divisors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the divisors in increasing order and pair them: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1440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each pair has product </a:t>
                </a:r>
                <a14:m>
                  <m:oMath xmlns:m="http://schemas.openxmlformats.org/officeDocument/2006/math">
                    <m:r>
                      <a:rPr lang="en-IN" sz="2400" i="1">
                        <a:solidFill>
                          <a:srgbClr val="111827"/>
                        </a:solidFill>
                        <a:latin typeface="Cambria Math" panose="02040503050406030204" pitchFamily="18" charset="0"/>
                      </a:rPr>
                      <m:t>1440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 are </a:t>
                </a:r>
                <a14:m>
                  <m:oMath xmlns:m="http://schemas.openxmlformats.org/officeDocument/2006/math">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such pairs,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1440</m:t>
                        </m:r>
                      </m:e>
                      <m:sup>
                        <m:r>
                          <a:rPr lang="en-IN" sz="2400" i="1">
                            <a:solidFill>
                              <a:srgbClr val="111827"/>
                            </a:solidFill>
                            <a:latin typeface="Cambria Math" panose="02040503050406030204" pitchFamily="18" charset="0"/>
                          </a:rPr>
                          <m:t>18</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Prime factorisation: </a:t>
                </a:r>
                <a:r>
                  <a:rPr lang="en-IN" sz="2400">
                    <a:solidFill>
                      <a:srgbClr val="111827"/>
                    </a:solidFill>
                    <a:latin typeface="Cambria Math" panose="02040503050406030204" pitchFamily="18" charset="0"/>
                  </a:rPr>
                  <a:t>$1440=2^5\cdot3^2\cdot5^1$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divisors </a:t>
                </a:r>
                <a:r>
                  <a:rPr lang="en-IN" sz="2400">
                    <a:solidFill>
                      <a:srgbClr val="111827"/>
                    </a:solidFill>
                    <a:latin typeface="Cambria Math" panose="02040503050406030204" pitchFamily="18" charset="0"/>
                  </a:rPr>
                  <a:t>$=(5+1)(2+1)(1+1)=36$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the divisors in increasing order and pair them: </a:t>
                </a:r>
                <a:r>
                  <a:rPr lang="en-IN" sz="2400">
                    <a:solidFill>
                      <a:srgbClr val="111827"/>
                    </a:solidFill>
                    <a:latin typeface="Cambria Math" panose="02040503050406030204" pitchFamily="18" charset="0"/>
                  </a:rPr>
                  <a:t>$(1,1440),(2,720),(3,480),\dots$</a:t>
                </a:r>
                <a:r>
                  <a:rPr sz="2400" b="0">
                    <a:solidFill>
                      <a:srgbClr val="111827"/>
                    </a:solidFill>
                    <a:latin typeface="Arial"/>
                  </a:rPr>
                  <a:t>; each pair has product </a:t>
                </a:r>
                <a:r>
                  <a:rPr lang="en-IN" sz="2400">
                    <a:solidFill>
                      <a:srgbClr val="111827"/>
                    </a:solidFill>
                    <a:latin typeface="Cambria Math" panose="02040503050406030204" pitchFamily="18" charset="0"/>
                  </a:rPr>
                  <a:t>$1440$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 are </a:t>
                </a:r>
                <a:r>
                  <a:rPr lang="en-IN" sz="2400">
                    <a:solidFill>
                      <a:srgbClr val="111827"/>
                    </a:solidFill>
                    <a:latin typeface="Cambria Math" panose="02040503050406030204" pitchFamily="18" charset="0"/>
                  </a:rPr>
                  <a:t>$36/2=18$</a:t>
                </a:r>
                <a:r>
                  <a:rPr sz="2400" b="0">
                    <a:solidFill>
                      <a:srgbClr val="111827"/>
                    </a:solidFill>
                    <a:latin typeface="Arial"/>
                  </a:rPr>
                  <a:t> such pairs, so </a:t>
                </a:r>
                <a:r>
                  <a:rPr lang="en-IN" sz="2400">
                    <a:solidFill>
                      <a:srgbClr val="111827"/>
                    </a:solidFill>
                    <a:latin typeface="Cambria Math" panose="02040503050406030204" pitchFamily="18" charset="0"/>
                  </a:rPr>
                  <a:t>$P=1440^{18}$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18</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90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18</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we have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90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18</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18</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24</m:t>
                        </m:r>
                      </m:e>
                      <m:sup>
                        <m:r>
                          <a:rPr lang="en-IN" sz="2400" i="1">
                            <a:solidFill>
                              <a:srgbClr val="111827"/>
                            </a:solidFill>
                            <a:latin typeface="Cambria Math" panose="02040503050406030204" pitchFamily="18" charset="0"/>
                          </a:rPr>
                          <m:t>30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18</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24</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sup>
                    </m:sSup>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𝑥</m:t>
                        </m:r>
                      </m:sup>
                    </m:sSup>
                  </m:oMath>
                </a14:m>
                <a:r>
                  <a:rPr sz="2400" b="0">
                    <a:solidFill>
                      <a:srgbClr val="111827"/>
                    </a:solidFill>
                    <a:latin typeface="Arial"/>
                  </a:rPr>
                  <a:t> divides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value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$P=(2^5\cdot3^2\cdot5)^{18}=2^{90}\cdot3^{36}\cdot5^{18}$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$24=2^3\cdot3$</a:t>
                </a:r>
                <a:r>
                  <a:rPr sz="2400" b="0">
                    <a:solidFill>
                      <a:srgbClr val="111827"/>
                    </a:solidFill>
                    <a:latin typeface="Arial"/>
                  </a:rPr>
                  <a:t>, we have </a:t>
                </a:r>
                <a:r>
                  <a:rPr lang="en-IN" sz="2400">
                    <a:solidFill>
                      <a:srgbClr val="111827"/>
                    </a:solidFill>
                    <a:latin typeface="Cambria Math" panose="02040503050406030204" pitchFamily="18" charset="0"/>
                  </a:rPr>
                  <a:t>$P=2^{90}\cdot3^{36}\cdot5^{18}=(2^3\cdot3)^{30}\cdot3^{6}\cdot5^{18}=24^{30}\cdot3^6\cdot5^{18}$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$24^x=2^{3x}3^{x}$</a:t>
                </a:r>
                <a:r>
                  <a:rPr sz="2400" b="0">
                    <a:solidFill>
                      <a:srgbClr val="111827"/>
                    </a:solidFill>
                    <a:latin typeface="Arial"/>
                  </a:rPr>
                  <a:t> divides </a:t>
                </a:r>
                <a:r>
                  <a:rPr lang="en-IN" sz="2400">
                    <a:solidFill>
                      <a:srgbClr val="111827"/>
                    </a:solidFill>
                    <a:latin typeface="Cambria Math" panose="02040503050406030204" pitchFamily="18" charset="0"/>
                  </a:rPr>
                  <a:t>$P$</a:t>
                </a:r>
                <a:r>
                  <a:rPr sz="2400" b="0">
                    <a:solidFill>
                      <a:srgbClr val="111827"/>
                    </a:solidFill>
                    <a:latin typeface="Arial"/>
                  </a:rPr>
                  <a:t> iff </a:t>
                </a:r>
                <a:r>
                  <a:rPr lang="en-IN" sz="2400">
                    <a:solidFill>
                      <a:srgbClr val="111827"/>
                    </a:solidFill>
                    <a:latin typeface="Cambria Math" panose="02040503050406030204" pitchFamily="18" charset="0"/>
                  </a:rPr>
                  <a:t>$3x\le90$</a:t>
                </a:r>
                <a:r>
                  <a:rPr sz="2400" b="0">
                    <a:solidFill>
                      <a:srgbClr val="111827"/>
                    </a:solidFill>
                    <a:latin typeface="Arial"/>
                  </a:rPr>
                  <a:t> and </a:t>
                </a:r>
                <a:r>
                  <a:rPr lang="en-IN" sz="2400">
                    <a:solidFill>
                      <a:srgbClr val="111827"/>
                    </a:solidFill>
                    <a:latin typeface="Cambria Math" panose="02040503050406030204" pitchFamily="18" charset="0"/>
                  </a:rPr>
                  <a:t>$x\le36$</a:t>
                </a:r>
                <a:r>
                  <a:rPr sz="2400" b="0">
                    <a:solidFill>
                      <a:srgbClr val="111827"/>
                    </a:solidFill>
                    <a:latin typeface="Arial"/>
                  </a:rPr>
                  <a:t>, i.e. </a:t>
                </a:r>
                <a:r>
                  <a:rPr lang="en-IN" sz="2400">
                    <a:solidFill>
                      <a:srgbClr val="111827"/>
                    </a:solidFill>
                    <a:latin typeface="Cambria Math" panose="02040503050406030204" pitchFamily="18" charset="0"/>
                  </a:rPr>
                  <a:t>$x\le30$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value of </a:t>
                </a:r>
                <a:r>
                  <a:rPr lang="en-IN" sz="2400">
                    <a:solidFill>
                      <a:srgbClr val="111827"/>
                    </a:solidFill>
                    <a:latin typeface="Cambria Math" panose="02040503050406030204" pitchFamily="18" charset="0"/>
                  </a:rPr>
                  <a:t>$x$</a:t>
                </a:r>
                <a:r>
                  <a:rPr sz="2400" b="0">
                    <a:solidFill>
                      <a:srgbClr val="111827"/>
                    </a:solidFill>
                    <a:latin typeface="Arial"/>
                  </a:rPr>
                  <a:t> is </a:t>
                </a:r>
                <a:r>
                  <a:rPr lang="en-IN" sz="2400">
                    <a:solidFill>
                      <a:srgbClr val="111827"/>
                    </a:solidFill>
                    <a:latin typeface="Cambria Math" panose="02040503050406030204" pitchFamily="18" charset="0"/>
                  </a:rPr>
                  <a:t>$30$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30</a:t>
            </a:r>
            <a:endParaRPr sz="2800">
              <a:solidFill>
                <a:srgbClr val="15803D"/>
              </a:solidFill>
            </a:endParaRP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exponent of each prime in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by summing exponents over all divisors, with no pairing argument.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exponent of each prime in </a:t>
                </a:r>
                <a:r>
                  <a:rPr lang="en-IN" sz="2400">
                    <a:solidFill>
                      <a:srgbClr val="78350F"/>
                    </a:solidFill>
                    <a:latin typeface="Cambria Math" panose="02040503050406030204" pitchFamily="18" charset="0"/>
                  </a:rPr>
                  <a:t>$P$</a:t>
                </a:r>
                <a:r>
                  <a:rPr sz="2400" b="0">
                    <a:solidFill>
                      <a:srgbClr val="78350F"/>
                    </a:solidFill>
                    <a:latin typeface="Arial"/>
                  </a:rPr>
                  <a:t> by summing exponents over all divisors, with no pairing argument.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divisor is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𝑎</m:t>
                        </m:r>
                      </m:sup>
                    </m:sSup>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𝑐</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there are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of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exponent of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exponent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divisor is </a:t>
                </a:r>
                <a:r>
                  <a:rPr lang="en-IN" sz="2400">
                    <a:solidFill>
                      <a:srgbClr val="111827"/>
                    </a:solidFill>
                    <a:latin typeface="Cambria Math" panose="02040503050406030204" pitchFamily="18" charset="0"/>
                  </a:rPr>
                  <a:t>$2^a3^b5^c$</a:t>
                </a:r>
                <a:r>
                  <a:rPr sz="2400" b="0">
                    <a:solidFill>
                      <a:srgbClr val="111827"/>
                    </a:solidFill>
                    <a:latin typeface="Arial"/>
                  </a:rPr>
                  <a:t> with </a:t>
                </a:r>
                <a:r>
                  <a:rPr lang="en-IN" sz="2400">
                    <a:solidFill>
                      <a:srgbClr val="111827"/>
                    </a:solidFill>
                    <a:latin typeface="Cambria Math" panose="02040503050406030204" pitchFamily="18" charset="0"/>
                  </a:rPr>
                  <a:t>$0\le a\le5,\ 0\le b\le2,\ 0\le c\le1$</a:t>
                </a:r>
                <a:r>
                  <a:rPr sz="2400" b="0">
                    <a:solidFill>
                      <a:srgbClr val="111827"/>
                    </a:solidFill>
                    <a:latin typeface="Arial"/>
                  </a:rPr>
                  <a:t>; there are </a:t>
                </a:r>
                <a:r>
                  <a:rPr lang="en-IN" sz="2400">
                    <a:solidFill>
                      <a:srgbClr val="111827"/>
                    </a:solidFill>
                    <a:latin typeface="Cambria Math" panose="02040503050406030204" pitchFamily="18" charset="0"/>
                  </a:rPr>
                  <a:t>$6\cdot3\cdot2=36$</a:t>
                </a:r>
                <a:r>
                  <a:rPr sz="2400" b="0">
                    <a:solidFill>
                      <a:srgbClr val="111827"/>
                    </a:solidFill>
                    <a:latin typeface="Arial"/>
                  </a:rPr>
                  <a:t> of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exponent of </a:t>
                </a:r>
                <a:r>
                  <a:rPr lang="en-IN" sz="2400">
                    <a:solidFill>
                      <a:srgbClr val="111827"/>
                    </a:solidFill>
                    <a:latin typeface="Cambria Math" panose="02040503050406030204" pitchFamily="18" charset="0"/>
                  </a:rPr>
                  <a:t>$2$</a:t>
                </a:r>
                <a:r>
                  <a:rPr sz="2400" b="0">
                    <a:solidFill>
                      <a:srgbClr val="111827"/>
                    </a:solidFill>
                    <a:latin typeface="Arial"/>
                  </a:rPr>
                  <a:t> in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$\sum a=(0+1+\dots+5)\cdot(3\cdot2)=15\cdot6=90$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exponent of </a:t>
                </a:r>
                <a:r>
                  <a:rPr lang="en-IN" sz="2400">
                    <a:solidFill>
                      <a:srgbClr val="111827"/>
                    </a:solidFill>
                    <a:latin typeface="Cambria Math" panose="02040503050406030204" pitchFamily="18" charset="0"/>
                  </a:rPr>
                  <a:t>$3$</a:t>
                </a:r>
                <a:r>
                  <a:rPr sz="2400" b="0">
                    <a:solidFill>
                      <a:srgbClr val="111827"/>
                    </a:solidFill>
                    <a:latin typeface="Arial"/>
                  </a:rPr>
                  <a:t> in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$\sum b=(0+1+2)\cdot(6\cdot2)=3\cdot12=36$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90</m:t>
                        </m:r>
                      </m:sup>
                    </m:sSup>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36</m:t>
                        </m:r>
                      </m:sup>
                    </m:sSup>
                    <m:sSup>
                      <m:e>
                        <m:r>
                          <a:rPr lang="en-IN" sz="2400" i="1">
                            <a:solidFill>
                              <a:srgbClr val="111827"/>
                            </a:solidFill>
                            <a:latin typeface="Cambria Math" panose="02040503050406030204" pitchFamily="18" charset="0"/>
                          </a:rPr>
                          <m:t>5</m:t>
                        </m:r>
                      </m:e>
                      <m:sup>
                        <m:sSup>
                          <m:e>
                            <m:r>
                              <a:rPr lang="en-IN" sz="2400" i="1">
                                <a:solidFill>
                                  <a:srgbClr val="111827"/>
                                </a:solidFill>
                                <a:latin typeface="Cambria Math" panose="02040503050406030204" pitchFamily="18" charset="0"/>
                              </a:rPr>
                              <m:t>𝑐</m:t>
                            </m:r>
                          </m:e>
                          <m:sup>
                            <m:r>
                              <m:rPr>
                                <m:sty m:val="p"/>
                              </m:rPr>
                              <a:rPr lang="en-IN" sz="2400">
                                <a:solidFill>
                                  <a:srgbClr val="111827"/>
                                </a:solidFill>
                                <a:latin typeface="Cambria Math" panose="02040503050406030204" pitchFamily="18" charset="0"/>
                              </a:rPr>
                              <m:t>′</m:t>
                            </m:r>
                          </m:sup>
                        </m:sSup>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24</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sup>
                    </m:sSup>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𝑥</m:t>
                        </m:r>
                      </m:sup>
                    </m:sSup>
                  </m:oMath>
                </a14:m>
                <a:r>
                  <a:rPr sz="2400" b="0">
                    <a:solidFill>
                      <a:srgbClr val="111827"/>
                    </a:solidFill>
                    <a:latin typeface="Arial"/>
                  </a:rPr>
                  <a:t> divides it iff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b>
                      <m:e>
                        <m:r>
                          <a:rPr lang="en-IN" sz="2400" i="1">
                            <a:solidFill>
                              <a:srgbClr val="111827"/>
                            </a:solidFill>
                            <a:latin typeface="Cambria Math" panose="02040503050406030204" pitchFamily="18" charset="0"/>
                          </a:rPr>
                          <m:t>𝑥</m:t>
                        </m:r>
                      </m:e>
                      <m:sub>
                        <m:r>
                          <m:rPr>
                            <m:sty m:val="p"/>
                          </m:rPr>
                          <a:rPr lang="en-IN" sz="2400">
                            <a:solidFill>
                              <a:srgbClr val="111827"/>
                            </a:solidFill>
                            <a:latin typeface="Cambria Math" panose="02040503050406030204" pitchFamily="18" charset="0"/>
                          </a:rPr>
                          <m:t>max</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$P=2^{90}3^{36}5^{c'}$</a:t>
                </a:r>
                <a:r>
                  <a:rPr sz="2400" b="0">
                    <a:solidFill>
                      <a:srgbClr val="111827"/>
                    </a:solidFill>
                    <a:latin typeface="Arial"/>
                  </a:rPr>
                  <a:t> and </a:t>
                </a:r>
                <a:r>
                  <a:rPr lang="en-IN" sz="2400">
                    <a:solidFill>
                      <a:srgbClr val="111827"/>
                    </a:solidFill>
                    <a:latin typeface="Cambria Math" panose="02040503050406030204" pitchFamily="18" charset="0"/>
                  </a:rPr>
                  <a:t>$24^x=2^{3x}3^x$</a:t>
                </a:r>
                <a:r>
                  <a:rPr sz="2400" b="0">
                    <a:solidFill>
                      <a:srgbClr val="111827"/>
                    </a:solidFill>
                    <a:latin typeface="Arial"/>
                  </a:rPr>
                  <a:t> divides it iff </a:t>
                </a:r>
                <a:r>
                  <a:rPr lang="en-IN" sz="2400">
                    <a:solidFill>
                      <a:srgbClr val="111827"/>
                    </a:solidFill>
                    <a:latin typeface="Cambria Math" panose="02040503050406030204" pitchFamily="18" charset="0"/>
                  </a:rPr>
                  <a:t>$3x\le90$</a:t>
                </a:r>
                <a:r>
                  <a:rPr sz="2400" b="0">
                    <a:solidFill>
                      <a:srgbClr val="111827"/>
                    </a:solidFill>
                    <a:latin typeface="Arial"/>
                  </a:rPr>
                  <a:t> and </a:t>
                </a:r>
                <a:r>
                  <a:rPr lang="en-IN" sz="2400">
                    <a:solidFill>
                      <a:srgbClr val="111827"/>
                    </a:solidFill>
                    <a:latin typeface="Cambria Math" panose="02040503050406030204" pitchFamily="18" charset="0"/>
                  </a:rPr>
                  <a:t>$x\le36$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$x_{\max}=30$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30</a:t>
            </a:r>
            <a:endParaRPr sz="2800">
              <a:solidFill>
                <a:srgbClr val="15803D"/>
              </a:solidFill>
            </a:endParaRP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of all divisors of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number of divisors.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𝑒</m:t>
                        </m:r>
                      </m:sup>
                    </m:sSup>
                  </m:oMath>
                </a14:m>
                <a:r>
                  <a:rPr sz="2400" b="0">
                    <a:solidFill>
                      <a:srgbClr val="111827"/>
                    </a:solidFill>
                    <a:latin typeface="Arial"/>
                  </a:rPr>
                  <a:t>, the exponent of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in the product of divisors is </a:t>
                </a:r>
                <a14:m>
                  <m:oMath xmlns:m="http://schemas.openxmlformats.org/officeDocument/2006/math">
                    <m:r>
                      <a:rPr lang="en-IN" sz="2400" i="1">
                        <a:solidFill>
                          <a:srgbClr val="111827"/>
                        </a:solidFill>
                        <a:latin typeface="Cambria Math" panose="02040503050406030204" pitchFamily="18" charset="0"/>
                      </a:rPr>
                      <m:t>𝑒</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(checked by direct computation).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largest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is the minimum over primes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of the floor of (exponent of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)/(exponent of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of all divisors of </a:t>
                </a:r>
                <a:r>
                  <a:rPr lang="en-IN" sz="2400">
                    <a:solidFill>
                      <a:srgbClr val="111827"/>
                    </a:solidFill>
                    <a:latin typeface="Cambria Math" panose="02040503050406030204" pitchFamily="18" charset="0"/>
                  </a:rPr>
                  <a:t>$N$</a:t>
                </a:r>
                <a:r>
                  <a:rPr sz="2400" b="0">
                    <a:solidFill>
                      <a:srgbClr val="111827"/>
                    </a:solidFill>
                    <a:latin typeface="Arial"/>
                  </a:rPr>
                  <a:t> is </a:t>
                </a:r>
                <a:r>
                  <a:rPr lang="en-IN" sz="2400">
                    <a:solidFill>
                      <a:srgbClr val="111827"/>
                    </a:solidFill>
                    <a:latin typeface="Cambria Math" panose="02040503050406030204" pitchFamily="18" charset="0"/>
                  </a:rPr>
                  <a:t>$N^{d(N)/2}$</a:t>
                </a:r>
                <a:r>
                  <a:rPr sz="2400" b="0">
                    <a:solidFill>
                      <a:srgbClr val="111827"/>
                    </a:solidFill>
                    <a:latin typeface="Arial"/>
                  </a:rPr>
                  <a:t>, where </a:t>
                </a:r>
                <a:r>
                  <a:rPr lang="en-IN" sz="2400">
                    <a:solidFill>
                      <a:srgbClr val="111827"/>
                    </a:solidFill>
                    <a:latin typeface="Cambria Math" panose="02040503050406030204" pitchFamily="18" charset="0"/>
                  </a:rPr>
                  <a:t>$d(N)$</a:t>
                </a:r>
                <a:r>
                  <a:rPr sz="2400" b="0">
                    <a:solidFill>
                      <a:srgbClr val="111827"/>
                    </a:solidFill>
                    <a:latin typeface="Arial"/>
                  </a:rPr>
                  <a:t> is the number of divisors.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$N=\prod p^{e}$</a:t>
                </a:r>
                <a:r>
                  <a:rPr sz="2400" b="0">
                    <a:solidFill>
                      <a:srgbClr val="111827"/>
                    </a:solidFill>
                    <a:latin typeface="Arial"/>
                  </a:rPr>
                  <a:t>, the exponent of </a:t>
                </a:r>
                <a:r>
                  <a:rPr lang="en-IN" sz="2400">
                    <a:solidFill>
                      <a:srgbClr val="111827"/>
                    </a:solidFill>
                    <a:latin typeface="Cambria Math" panose="02040503050406030204" pitchFamily="18" charset="0"/>
                  </a:rPr>
                  <a:t>$p$</a:t>
                </a:r>
                <a:r>
                  <a:rPr sz="2400" b="0">
                    <a:solidFill>
                      <a:srgbClr val="111827"/>
                    </a:solidFill>
                    <a:latin typeface="Arial"/>
                  </a:rPr>
                  <a:t> in the product of divisors is </a:t>
                </a:r>
                <a:r>
                  <a:rPr lang="en-IN" sz="2400">
                    <a:solidFill>
                      <a:srgbClr val="111827"/>
                    </a:solidFill>
                    <a:latin typeface="Cambria Math" panose="02040503050406030204" pitchFamily="18" charset="0"/>
                  </a:rPr>
                  <a:t>$e\,d(N)/2$</a:t>
                </a:r>
                <a:r>
                  <a:rPr sz="2400" b="0">
                    <a:solidFill>
                      <a:srgbClr val="111827"/>
                    </a:solidFill>
                    <a:latin typeface="Arial"/>
                  </a:rPr>
                  <a:t>; here </a:t>
                </a:r>
                <a:r>
                  <a:rPr lang="en-IN" sz="2400">
                    <a:solidFill>
                      <a:srgbClr val="111827"/>
                    </a:solidFill>
                    <a:latin typeface="Cambria Math" panose="02040503050406030204" pitchFamily="18" charset="0"/>
                  </a:rPr>
                  <a:t>$5\cdot18=90$</a:t>
                </a:r>
                <a:r>
                  <a:rPr sz="2400" b="0">
                    <a:solidFill>
                      <a:srgbClr val="111827"/>
                    </a:solidFill>
                    <a:latin typeface="Arial"/>
                  </a:rPr>
                  <a:t>, </a:t>
                </a:r>
                <a:r>
                  <a:rPr lang="en-IN" sz="2400">
                    <a:solidFill>
                      <a:srgbClr val="111827"/>
                    </a:solidFill>
                    <a:latin typeface="Cambria Math" panose="02040503050406030204" pitchFamily="18" charset="0"/>
                  </a:rPr>
                  <a:t>$2\cdot18=36$</a:t>
                </a:r>
                <a:r>
                  <a:rPr sz="2400" b="0">
                    <a:solidFill>
                      <a:srgbClr val="111827"/>
                    </a:solidFill>
                    <a:latin typeface="Arial"/>
                  </a:rPr>
                  <a:t>, </a:t>
                </a:r>
                <a:r>
                  <a:rPr lang="en-IN" sz="2400">
                    <a:solidFill>
                      <a:srgbClr val="111827"/>
                    </a:solidFill>
                    <a:latin typeface="Cambria Math" panose="02040503050406030204" pitchFamily="18" charset="0"/>
                  </a:rPr>
                  <a:t>$1\cdot18=18$</a:t>
                </a:r>
                <a:r>
                  <a:rPr sz="2400" b="0">
                    <a:solidFill>
                      <a:srgbClr val="111827"/>
                    </a:solidFill>
                    <a:latin typeface="Arial"/>
                  </a:rPr>
                  <a:t> (checked by direct computation).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largest </a:t>
                </a:r>
                <a:r>
                  <a:rPr lang="en-IN" sz="2400">
                    <a:solidFill>
                      <a:srgbClr val="111827"/>
                    </a:solidFill>
                    <a:latin typeface="Cambria Math" panose="02040503050406030204" pitchFamily="18" charset="0"/>
                  </a:rPr>
                  <a:t>$x$</a:t>
                </a:r>
                <a:r>
                  <a:rPr sz="2400" b="0">
                    <a:solidFill>
                      <a:srgbClr val="111827"/>
                    </a:solidFill>
                    <a:latin typeface="Arial"/>
                  </a:rPr>
                  <a:t> with </a:t>
                </a:r>
                <a:r>
                  <a:rPr lang="en-IN" sz="2400">
                    <a:solidFill>
                      <a:srgbClr val="111827"/>
                    </a:solidFill>
                    <a:latin typeface="Cambria Math" panose="02040503050406030204" pitchFamily="18" charset="0"/>
                  </a:rPr>
                  <a:t>$m^x\mid P$</a:t>
                </a:r>
                <a:r>
                  <a:rPr sz="2400" b="0">
                    <a:solidFill>
                      <a:srgbClr val="111827"/>
                    </a:solidFill>
                    <a:latin typeface="Arial"/>
                  </a:rPr>
                  <a:t> is the minimum over primes </a:t>
                </a:r>
                <a:r>
                  <a:rPr lang="en-IN" sz="2400">
                    <a:solidFill>
                      <a:srgbClr val="111827"/>
                    </a:solidFill>
                    <a:latin typeface="Cambria Math" panose="02040503050406030204" pitchFamily="18" charset="0"/>
                  </a:rPr>
                  <a:t>$p\mid m$</a:t>
                </a:r>
                <a:r>
                  <a:rPr sz="2400" b="0">
                    <a:solidFill>
                      <a:srgbClr val="111827"/>
                    </a:solidFill>
                    <a:latin typeface="Arial"/>
                  </a:rPr>
                  <a:t> of the floor of (exponent of </a:t>
                </a:r>
                <a:r>
                  <a:rPr lang="en-IN" sz="2400">
                    <a:solidFill>
                      <a:srgbClr val="111827"/>
                    </a:solidFill>
                    <a:latin typeface="Cambria Math" panose="02040503050406030204" pitchFamily="18" charset="0"/>
                  </a:rPr>
                  <a:t>$p$</a:t>
                </a:r>
                <a:r>
                  <a:rPr sz="2400" b="0">
                    <a:solidFill>
                      <a:srgbClr val="111827"/>
                    </a:solidFill>
                    <a:latin typeface="Arial"/>
                  </a:rPr>
                  <a:t> in </a:t>
                </a:r>
                <a:r>
                  <a:rPr lang="en-IN" sz="2400">
                    <a:solidFill>
                      <a:srgbClr val="111827"/>
                    </a:solidFill>
                    <a:latin typeface="Cambria Math" panose="02040503050406030204" pitchFamily="18" charset="0"/>
                  </a:rPr>
                  <a:t>$P$</a:t>
                </a:r>
                <a:r>
                  <a:rPr sz="2400" b="0">
                    <a:solidFill>
                      <a:srgbClr val="111827"/>
                    </a:solidFill>
                    <a:latin typeface="Arial"/>
                  </a:rPr>
                  <a:t>)/(exponent of </a:t>
                </a:r>
                <a:r>
                  <a:rPr lang="en-IN" sz="2400">
                    <a:solidFill>
                      <a:srgbClr val="111827"/>
                    </a:solidFill>
                    <a:latin typeface="Cambria Math" panose="02040503050406030204" pitchFamily="18" charset="0"/>
                  </a:rPr>
                  <a:t>$p$</a:t>
                </a:r>
                <a:r>
                  <a:rPr sz="2400" b="0">
                    <a:solidFill>
                      <a:srgbClr val="111827"/>
                    </a:solidFill>
                    <a:latin typeface="Arial"/>
                  </a:rPr>
                  <a:t> in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$d(N)=\prod(e+1)$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434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be two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-digit numbers, then the pairs of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can be formed so that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can be subtracted from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without borrowing,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endParaRPr sz="2400">
                  <a:solidFill>
                    <a:srgbClr val="111827"/>
                  </a:solidFill>
                </a:endParaRPr>
              </a:p>
            </p:txBody>
          </p:sp>
        </mc:Choice>
        <mc:Fallback>
          <p:sp>
            <p:nvSpPr>
              <p:cNvPr id="4" name="Rounded Rectangle 3"/>
              <p:cNvSpPr/>
              <p:nvPr/>
            </p:nvSpPr>
            <p:spPr>
              <a:xfrm>
                <a:off x="731520" y="1280160"/>
                <a:ext cx="10725912" cy="24434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$n_1=x_1x_2x_3$</a:t>
                </a:r>
                <a:r>
                  <a:rPr sz="2400" b="0">
                    <a:solidFill>
                      <a:srgbClr val="111827"/>
                    </a:solidFill>
                    <a:latin typeface="Arial"/>
                  </a:rPr>
                  <a:t> and </a:t>
                </a:r>
                <a:r>
                  <a:rPr lang="en-IN" sz="2400">
                    <a:solidFill>
                      <a:srgbClr val="111827"/>
                    </a:solidFill>
                    <a:latin typeface="Cambria Math" panose="02040503050406030204" pitchFamily="18" charset="0"/>
                  </a:rPr>
                  <a:t>$n_2=y_1y_2y_3$</a:t>
                </a:r>
                <a:r>
                  <a:rPr sz="2400" b="0">
                    <a:solidFill>
                      <a:srgbClr val="111827"/>
                    </a:solidFill>
                    <a:latin typeface="Arial"/>
                  </a:rPr>
                  <a:t> be two </a:t>
                </a:r>
                <a:r>
                  <a:rPr lang="en-IN" sz="2400">
                    <a:solidFill>
                      <a:srgbClr val="111827"/>
                    </a:solidFill>
                    <a:latin typeface="Cambria Math" panose="02040503050406030204" pitchFamily="18" charset="0"/>
                  </a:rPr>
                  <a:t>$3$</a:t>
                </a:r>
                <a:r>
                  <a:rPr sz="2400" b="0">
                    <a:solidFill>
                      <a:srgbClr val="111827"/>
                    </a:solidFill>
                    <a:latin typeface="Arial"/>
                  </a:rPr>
                  <a:t>-digit numbers, then the pairs of </a:t>
                </a:r>
                <a:r>
                  <a:rPr lang="en-IN" sz="2400">
                    <a:solidFill>
                      <a:srgbClr val="111827"/>
                    </a:solidFill>
                    <a:latin typeface="Cambria Math" panose="02040503050406030204" pitchFamily="18" charset="0"/>
                  </a:rPr>
                  <a:t>$n_1$</a:t>
                </a:r>
                <a:r>
                  <a:rPr sz="2400" b="0">
                    <a:solidFill>
                      <a:srgbClr val="111827"/>
                    </a:solidFill>
                    <a:latin typeface="Arial"/>
                  </a:rPr>
                  <a:t> and </a:t>
                </a:r>
                <a:r>
                  <a:rPr lang="en-IN" sz="2400">
                    <a:solidFill>
                      <a:srgbClr val="111827"/>
                    </a:solidFill>
                    <a:latin typeface="Cambria Math" panose="02040503050406030204" pitchFamily="18" charset="0"/>
                  </a:rPr>
                  <a:t>$n_2$</a:t>
                </a:r>
                <a:r>
                  <a:rPr sz="2400" b="0">
                    <a:solidFill>
                      <a:srgbClr val="111827"/>
                    </a:solidFill>
                    <a:latin typeface="Arial"/>
                  </a:rPr>
                  <a:t> can be formed so that </a:t>
                </a:r>
                <a:r>
                  <a:rPr lang="en-IN" sz="2400">
                    <a:solidFill>
                      <a:srgbClr val="111827"/>
                    </a:solidFill>
                    <a:latin typeface="Cambria Math" panose="02040503050406030204" pitchFamily="18" charset="0"/>
                  </a:rPr>
                  <a:t>$n_1$</a:t>
                </a:r>
                <a:r>
                  <a:rPr sz="2400" b="0">
                    <a:solidFill>
                      <a:srgbClr val="111827"/>
                    </a:solidFill>
                    <a:latin typeface="Arial"/>
                  </a:rPr>
                  <a:t> can be subtracted from </a:t>
                </a:r>
                <a:r>
                  <a:rPr lang="en-IN" sz="2400">
                    <a:solidFill>
                      <a:srgbClr val="111827"/>
                    </a:solidFill>
                    <a:latin typeface="Cambria Math" panose="02040503050406030204" pitchFamily="18" charset="0"/>
                  </a:rPr>
                  <a:t>$n_2$</a:t>
                </a:r>
                <a:r>
                  <a:rPr sz="2400" b="0">
                    <a:solidFill>
                      <a:srgbClr val="111827"/>
                    </a:solidFill>
                    <a:latin typeface="Arial"/>
                  </a:rPr>
                  <a:t> without borrowing,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$55.(54)$</a:t>
                </a:r>
                <a:r>
                  <a:rPr sz="2400" b="0">
                    <a:solidFill>
                      <a:srgbClr val="111827"/>
                    </a:solidFill>
                    <a:latin typeface="Arial"/>
                  </a:rPr>
                  <a:t>   (B) </a:t>
                </a:r>
                <a:r>
                  <a:rPr lang="en-IN" sz="2400">
                    <a:solidFill>
                      <a:srgbClr val="111827"/>
                    </a:solidFill>
                    <a:latin typeface="Cambria Math" panose="02040503050406030204" pitchFamily="18" charset="0"/>
                  </a:rPr>
                  <a:t>$45.(55)$</a:t>
                </a:r>
                <a:r>
                  <a:rPr sz="2400" b="0">
                    <a:solidFill>
                      <a:srgbClr val="111827"/>
                    </a:solidFill>
                    <a:latin typeface="Arial"/>
                  </a:rPr>
                  <a:t>   (C) </a:t>
                </a:r>
                <a:r>
                  <a:rPr lang="en-IN" sz="2400">
                    <a:solidFill>
                      <a:srgbClr val="111827"/>
                    </a:solidFill>
                    <a:latin typeface="Cambria Math" panose="02040503050406030204" pitchFamily="18" charset="0"/>
                  </a:rPr>
                  <a:t>$45.(55)^2$</a:t>
                </a:r>
                <a:r>
                  <a:rPr sz="2400" b="0">
                    <a:solidFill>
                      <a:srgbClr val="111827"/>
                    </a:solidFill>
                    <a:latin typeface="Arial"/>
                  </a:rPr>
                  <a:t>   (D) </a:t>
                </a:r>
                <a:r>
                  <a:rPr lang="en-IN" sz="2400">
                    <a:solidFill>
                      <a:srgbClr val="111827"/>
                    </a:solidFill>
                    <a:latin typeface="Cambria Math" panose="02040503050406030204" pitchFamily="18" charset="0"/>
                  </a:rPr>
                  <a:t>$55.(45)^2$</a:t>
                </a:r>
                <a:endParaRPr sz="2400">
                  <a:solidFill>
                    <a:srgbClr val="111827"/>
                  </a:solidFill>
                </a:endParaRPr>
              </a:p>
            </p:txBody>
          </p:sp>
        </mc:Fallback>
      </mc:AlternateContent>
      <p:sp>
        <p:nvSpPr>
          <p:cNvPr id="5" name="Rectangle 4"/>
          <p:cNvSpPr/>
          <p:nvPr/>
        </p:nvSpPr>
        <p:spPr>
          <a:xfrm>
            <a:off x="731520" y="39522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Digit-wise counting: subtraction without borrowing</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No borrowing means </a:t>
                </a:r>
                <a14:m>
                  <m:oMath xmlns:m="http://schemas.openxmlformats.org/officeDocument/2006/math">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𝑦</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in every place, so the three places can be counted independently.</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No borrowing means </a:t>
                </a:r>
                <a:r>
                  <a:rPr lang="en-IN" sz="2400">
                    <a:solidFill>
                      <a:srgbClr val="78350F"/>
                    </a:solidFill>
                    <a:latin typeface="Cambria Math" panose="02040503050406030204" pitchFamily="18" charset="0"/>
                  </a:rPr>
                  <a:t>$x_i\le y_i$</a:t>
                </a:r>
                <a:r>
                  <a:rPr sz="2400" b="0">
                    <a:solidFill>
                      <a:srgbClr val="78350F"/>
                    </a:solidFill>
                    <a:latin typeface="Arial"/>
                  </a:rPr>
                  <a:t> in every place, so the three places can be counted independently.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Subtracting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from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needs no borrowing at any stage exactly when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given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the allowed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are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for example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allows only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allows </a:t>
                </a: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allows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pair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chosen in </a:t>
                </a: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oMath>
                </a14:m>
                <a:r>
                  <a:rPr sz="2400" b="0">
                    <a:solidFill>
                      <a:srgbClr val="111827"/>
                    </a:solidFill>
                    <a:latin typeface="Arial"/>
                  </a:rPr>
                  <a:t> ways.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$n_1=x_1x_2x_3$</a:t>
                </a:r>
                <a:r>
                  <a:rPr sz="2400" b="0">
                    <a:solidFill>
                      <a:srgbClr val="111827"/>
                    </a:solidFill>
                    <a:latin typeface="Arial"/>
                  </a:rPr>
                  <a:t> and </a:t>
                </a:r>
                <a:r>
                  <a:rPr lang="en-IN" sz="2400">
                    <a:solidFill>
                      <a:srgbClr val="111827"/>
                    </a:solidFill>
                    <a:latin typeface="Cambria Math" panose="02040503050406030204" pitchFamily="18" charset="0"/>
                  </a:rPr>
                  <a:t>$n_2=y_1y_2y_3$</a:t>
                </a:r>
                <a:r>
                  <a:rPr sz="2400" b="0">
                    <a:solidFill>
                      <a:srgbClr val="111827"/>
                    </a:solidFill>
                    <a:latin typeface="Arial"/>
                  </a:rPr>
                  <a:t>. Subtracting </a:t>
                </a:r>
                <a:r>
                  <a:rPr lang="en-IN" sz="2400">
                    <a:solidFill>
                      <a:srgbClr val="111827"/>
                    </a:solidFill>
                    <a:latin typeface="Cambria Math" panose="02040503050406030204" pitchFamily="18" charset="0"/>
                  </a:rPr>
                  <a:t>$n_1$</a:t>
                </a:r>
                <a:r>
                  <a:rPr sz="2400" b="0">
                    <a:solidFill>
                      <a:srgbClr val="111827"/>
                    </a:solidFill>
                    <a:latin typeface="Arial"/>
                  </a:rPr>
                  <a:t> from </a:t>
                </a:r>
                <a:r>
                  <a:rPr lang="en-IN" sz="2400">
                    <a:solidFill>
                      <a:srgbClr val="111827"/>
                    </a:solidFill>
                    <a:latin typeface="Cambria Math" panose="02040503050406030204" pitchFamily="18" charset="0"/>
                  </a:rPr>
                  <a:t>$n_2$</a:t>
                </a:r>
                <a:r>
                  <a:rPr sz="2400" b="0">
                    <a:solidFill>
                      <a:srgbClr val="111827"/>
                    </a:solidFill>
                    <a:latin typeface="Arial"/>
                  </a:rPr>
                  <a:t> needs no borrowing at any stage exactly when </a:t>
                </a:r>
                <a:r>
                  <a:rPr lang="en-IN" sz="2400">
                    <a:solidFill>
                      <a:srgbClr val="111827"/>
                    </a:solidFill>
                    <a:latin typeface="Cambria Math" panose="02040503050406030204" pitchFamily="18" charset="0"/>
                  </a:rPr>
                  <a:t>$x_i\le y_i$</a:t>
                </a:r>
                <a:r>
                  <a:rPr sz="2400" b="0">
                    <a:solidFill>
                      <a:srgbClr val="111827"/>
                    </a:solidFill>
                    <a:latin typeface="Arial"/>
                  </a:rPr>
                  <a:t> for </a:t>
                </a:r>
                <a:r>
                  <a:rPr lang="en-IN" sz="2400">
                    <a:solidFill>
                      <a:srgbClr val="111827"/>
                    </a:solidFill>
                    <a:latin typeface="Cambria Math" panose="02040503050406030204" pitchFamily="18" charset="0"/>
                  </a:rPr>
                  <a:t>$i=1,2,3$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given </a:t>
                </a:r>
                <a:r>
                  <a:rPr lang="en-IN" sz="2400">
                    <a:solidFill>
                      <a:srgbClr val="111827"/>
                    </a:solidFill>
                    <a:latin typeface="Cambria Math" panose="02040503050406030204" pitchFamily="18" charset="0"/>
                  </a:rPr>
                  <a:t>$x_i$</a:t>
                </a:r>
                <a:r>
                  <a:rPr sz="2400" b="0">
                    <a:solidFill>
                      <a:srgbClr val="111827"/>
                    </a:solidFill>
                    <a:latin typeface="Arial"/>
                  </a:rPr>
                  <a:t> the allowed </a:t>
                </a:r>
                <a:r>
                  <a:rPr lang="en-IN" sz="2400">
                    <a:solidFill>
                      <a:srgbClr val="111827"/>
                    </a:solidFill>
                    <a:latin typeface="Cambria Math" panose="02040503050406030204" pitchFamily="18" charset="0"/>
                  </a:rPr>
                  <a:t>$y_i$</a:t>
                </a:r>
                <a:r>
                  <a:rPr sz="2400" b="0">
                    <a:solidFill>
                      <a:srgbClr val="111827"/>
                    </a:solidFill>
                    <a:latin typeface="Arial"/>
                  </a:rPr>
                  <a:t> are </a:t>
                </a:r>
                <a:r>
                  <a:rPr lang="en-IN" sz="2400">
                    <a:solidFill>
                      <a:srgbClr val="111827"/>
                    </a:solidFill>
                    <a:latin typeface="Cambria Math" panose="02040503050406030204" pitchFamily="18" charset="0"/>
                  </a:rPr>
                  <a:t>$x_i,x_i+1,\dots,9$</a:t>
                </a:r>
                <a:r>
                  <a:rPr sz="2400" b="0">
                    <a:solidFill>
                      <a:srgbClr val="111827"/>
                    </a:solidFill>
                    <a:latin typeface="Arial"/>
                  </a:rPr>
                  <a:t>; for example </a:t>
                </a:r>
                <a:r>
                  <a:rPr lang="en-IN" sz="2400">
                    <a:solidFill>
                      <a:srgbClr val="111827"/>
                    </a:solidFill>
                    <a:latin typeface="Cambria Math" panose="02040503050406030204" pitchFamily="18" charset="0"/>
                  </a:rPr>
                  <a:t>$x_i=9$</a:t>
                </a:r>
                <a:r>
                  <a:rPr sz="2400" b="0">
                    <a:solidFill>
                      <a:srgbClr val="111827"/>
                    </a:solidFill>
                    <a:latin typeface="Arial"/>
                  </a:rPr>
                  <a:t> allows only </a:t>
                </a:r>
                <a:r>
                  <a:rPr lang="en-IN" sz="2400">
                    <a:solidFill>
                      <a:srgbClr val="111827"/>
                    </a:solidFill>
                    <a:latin typeface="Cambria Math" panose="02040503050406030204" pitchFamily="18" charset="0"/>
                  </a:rPr>
                  <a:t>$9$</a:t>
                </a:r>
                <a:r>
                  <a:rPr sz="2400" b="0">
                    <a:solidFill>
                      <a:srgbClr val="111827"/>
                    </a:solidFill>
                    <a:latin typeface="Arial"/>
                  </a:rPr>
                  <a:t>, </a:t>
                </a:r>
                <a:r>
                  <a:rPr lang="en-IN" sz="2400">
                    <a:solidFill>
                      <a:srgbClr val="111827"/>
                    </a:solidFill>
                    <a:latin typeface="Cambria Math" panose="02040503050406030204" pitchFamily="18" charset="0"/>
                  </a:rPr>
                  <a:t>$x_i=8$</a:t>
                </a:r>
                <a:r>
                  <a:rPr sz="2400" b="0">
                    <a:solidFill>
                      <a:srgbClr val="111827"/>
                    </a:solidFill>
                    <a:latin typeface="Arial"/>
                  </a:rPr>
                  <a:t> allows </a:t>
                </a:r>
                <a:r>
                  <a:rPr lang="en-IN" sz="2400">
                    <a:solidFill>
                      <a:srgbClr val="111827"/>
                    </a:solidFill>
                    <a:latin typeface="Cambria Math" panose="02040503050406030204" pitchFamily="18" charset="0"/>
                  </a:rPr>
                  <a:t>$8,9$</a:t>
                </a:r>
                <a:r>
                  <a:rPr sz="2400" b="0">
                    <a:solidFill>
                      <a:srgbClr val="111827"/>
                    </a:solidFill>
                    <a:latin typeface="Arial"/>
                  </a:rPr>
                  <a:t>, and </a:t>
                </a:r>
                <a:r>
                  <a:rPr lang="en-IN" sz="2400">
                    <a:solidFill>
                      <a:srgbClr val="111827"/>
                    </a:solidFill>
                    <a:latin typeface="Cambria Math" panose="02040503050406030204" pitchFamily="18" charset="0"/>
                  </a:rPr>
                  <a:t>$x_i=0$</a:t>
                </a:r>
                <a:r>
                  <a:rPr sz="2400" b="0">
                    <a:solidFill>
                      <a:srgbClr val="111827"/>
                    </a:solidFill>
                    <a:latin typeface="Arial"/>
                  </a:rPr>
                  <a:t> allows </a:t>
                </a:r>
                <a:r>
                  <a:rPr lang="en-IN" sz="2400">
                    <a:solidFill>
                      <a:srgbClr val="111827"/>
                    </a:solidFill>
                    <a:latin typeface="Cambria Math" panose="02040503050406030204" pitchFamily="18" charset="0"/>
                  </a:rPr>
                  <a:t>$0,1,\dots,9$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pair </a:t>
                </a:r>
                <a:r>
                  <a:rPr lang="en-IN" sz="2400">
                    <a:solidFill>
                      <a:srgbClr val="111827"/>
                    </a:solidFill>
                    <a:latin typeface="Cambria Math" panose="02040503050406030204" pitchFamily="18" charset="0"/>
                  </a:rPr>
                  <a:t>$(x_3,y_3)$</a:t>
                </a:r>
                <a:r>
                  <a:rPr sz="2400" b="0">
                    <a:solidFill>
                      <a:srgbClr val="111827"/>
                    </a:solidFill>
                    <a:latin typeface="Arial"/>
                  </a:rPr>
                  <a:t> can be chosen in </a:t>
                </a:r>
                <a:r>
                  <a:rPr lang="en-IN" sz="2400">
                    <a:solidFill>
                      <a:srgbClr val="111827"/>
                    </a:solidFill>
                    <a:latin typeface="Cambria Math" panose="02040503050406030204" pitchFamily="18" charset="0"/>
                  </a:rPr>
                  <a:t>$10+9+8+\dots+1=55$</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Similarly the pair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chosen in </a:t>
                </a:r>
                <a14:m>
                  <m:oMath xmlns:m="http://schemas.openxmlformats.org/officeDocument/2006/math">
                    <m:r>
                      <a:rPr lang="en-IN" sz="2400" i="1">
                        <a:solidFill>
                          <a:srgbClr val="111827"/>
                        </a:solidFill>
                        <a:latin typeface="Cambria Math" panose="02040503050406030204" pitchFamily="18" charset="0"/>
                      </a:rPr>
                      <m:t>55</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pair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leading digits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-digit numbers cannot be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choices in the three places are independent, so the total number of pairs is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Similarly the pair </a:t>
                </a:r>
                <a:r>
                  <a:rPr lang="en-IN" sz="2400">
                    <a:solidFill>
                      <a:srgbClr val="111827"/>
                    </a:solidFill>
                    <a:latin typeface="Cambria Math" panose="02040503050406030204" pitchFamily="18" charset="0"/>
                  </a:rPr>
                  <a:t>$(x_2,y_2)$</a:t>
                </a:r>
                <a:r>
                  <a:rPr sz="2400" b="0">
                    <a:solidFill>
                      <a:srgbClr val="111827"/>
                    </a:solidFill>
                    <a:latin typeface="Arial"/>
                  </a:rPr>
                  <a:t> can be chosen in </a:t>
                </a:r>
                <a:r>
                  <a:rPr lang="en-IN" sz="2400">
                    <a:solidFill>
                      <a:srgbClr val="111827"/>
                    </a:solidFill>
                    <a:latin typeface="Cambria Math" panose="02040503050406030204" pitchFamily="18" charset="0"/>
                  </a:rPr>
                  <a:t>$55$</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pair </a:t>
                </a:r>
                <a:r>
                  <a:rPr lang="en-IN" sz="2400">
                    <a:solidFill>
                      <a:srgbClr val="111827"/>
                    </a:solidFill>
                    <a:latin typeface="Cambria Math" panose="02040503050406030204" pitchFamily="18" charset="0"/>
                  </a:rPr>
                  <a:t>$(x_1,y_1)$</a:t>
                </a:r>
                <a:r>
                  <a:rPr sz="2400" b="0">
                    <a:solidFill>
                      <a:srgbClr val="111827"/>
                    </a:solidFill>
                    <a:latin typeface="Arial"/>
                  </a:rPr>
                  <a:t> the leading digits of </a:t>
                </a:r>
                <a:r>
                  <a:rPr lang="en-IN" sz="2400">
                    <a:solidFill>
                      <a:srgbClr val="111827"/>
                    </a:solidFill>
                    <a:latin typeface="Cambria Math" panose="02040503050406030204" pitchFamily="18" charset="0"/>
                  </a:rPr>
                  <a:t>$3$</a:t>
                </a:r>
                <a:r>
                  <a:rPr sz="2400" b="0">
                    <a:solidFill>
                      <a:srgbClr val="111827"/>
                    </a:solidFill>
                    <a:latin typeface="Arial"/>
                  </a:rPr>
                  <a:t>-digit numbers cannot be </a:t>
                </a:r>
                <a:r>
                  <a:rPr lang="en-IN" sz="2400">
                    <a:solidFill>
                      <a:srgbClr val="111827"/>
                    </a:solidFill>
                    <a:latin typeface="Cambria Math" panose="02040503050406030204" pitchFamily="18" charset="0"/>
                  </a:rPr>
                  <a:t>$0$</a:t>
                </a:r>
                <a:r>
                  <a:rPr sz="2400" b="0">
                    <a:solidFill>
                      <a:srgbClr val="111827"/>
                    </a:solidFill>
                    <a:latin typeface="Arial"/>
                  </a:rPr>
                  <a:t>, so </a:t>
                </a:r>
                <a:r>
                  <a:rPr lang="en-IN" sz="2400">
                    <a:solidFill>
                      <a:srgbClr val="111827"/>
                    </a:solidFill>
                    <a:latin typeface="Cambria Math" panose="02040503050406030204" pitchFamily="18" charset="0"/>
                  </a:rPr>
                  <a:t>$1\le x_1\le y_1\le9$</a:t>
                </a:r>
                <a:r>
                  <a:rPr sz="2400" b="0">
                    <a:solidFill>
                      <a:srgbClr val="111827"/>
                    </a:solidFill>
                    <a:latin typeface="Arial"/>
                  </a:rPr>
                  <a:t>: </a:t>
                </a:r>
                <a:r>
                  <a:rPr lang="en-IN" sz="2400">
                    <a:solidFill>
                      <a:srgbClr val="111827"/>
                    </a:solidFill>
                    <a:latin typeface="Cambria Math" panose="02040503050406030204" pitchFamily="18" charset="0"/>
                  </a:rPr>
                  <a:t>$9+8+\dots+1=45$</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choices in the three places are independent, so the total number of pairs is </a:t>
                </a:r>
                <a:r>
                  <a:rPr lang="en-IN" sz="2400">
                    <a:solidFill>
                      <a:srgbClr val="111827"/>
                    </a:solidFill>
                    <a:latin typeface="Cambria Math" panose="02040503050406030204" pitchFamily="18" charset="0"/>
                  </a:rPr>
                  <a:t>$45\cdot55\cdot55=45\cdot(55)^2$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r>
                      <a:rPr lang="en-IN" sz="2800" i="1">
                        <a:solidFill>
                          <a:srgbClr val="15803D"/>
                        </a:solidFill>
                        <a:latin typeface="Cambria Math" panose="02040503050406030204" pitchFamily="18" charset="0"/>
                      </a:rPr>
                      <m:t>45</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55</m:t>
                    </m:r>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$45\cdot(55)^2$</a:t>
                </a:r>
                <a:endParaRPr sz="2800">
                  <a:solidFill>
                    <a:srgbClr val="15803D"/>
                  </a:solidFill>
                </a:endParaRPr>
              </a:p>
            </p:txBody>
          </p:sp>
        </mc:Fallback>
      </mc:AlternateContent>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Let </a:t>
                </a:r>
                <a14:m>
                  <m:oMath xmlns:m="http://schemas.openxmlformats.org/officeDocument/2006/math">
                    <m:r>
                      <a:rPr lang="en-IN" sz="2400" i="1">
                        <a:solidFill>
                          <a:srgbClr val="78350F"/>
                        </a:solidFill>
                        <a:latin typeface="Cambria Math" panose="02040503050406030204" pitchFamily="18" charset="0"/>
                      </a:rPr>
                      <m:t>𝑑</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𝑛</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𝑛</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no borrowing means the digits of </a:t>
                </a:r>
                <a14:m>
                  <m:oMath xmlns:m="http://schemas.openxmlformats.org/officeDocument/2006/math">
                    <m:r>
                      <a:rPr lang="en-IN" sz="2400" i="1">
                        <a:solidFill>
                          <a:srgbClr val="78350F"/>
                        </a:solidFill>
                        <a:latin typeface="Cambria Math" panose="02040503050406030204" pitchFamily="18" charset="0"/>
                      </a:rPr>
                      <m:t>𝑑</m:t>
                    </m:r>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𝑛</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add up to the digits of </a:t>
                </a:r>
                <a14:m>
                  <m:oMath xmlns:m="http://schemas.openxmlformats.org/officeDocument/2006/math">
                    <m:sSub>
                      <m:e>
                        <m:r>
                          <a:rPr lang="en-IN" sz="2400" i="1">
                            <a:solidFill>
                              <a:srgbClr val="78350F"/>
                            </a:solidFill>
                            <a:latin typeface="Cambria Math" panose="02040503050406030204" pitchFamily="18" charset="0"/>
                          </a:rPr>
                          <m:t>𝑛</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so each place is a stars-and-bars count.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Let </a:t>
                </a:r>
                <a:r>
                  <a:rPr lang="en-IN" sz="2400">
                    <a:solidFill>
                      <a:srgbClr val="78350F"/>
                    </a:solidFill>
                    <a:latin typeface="Cambria Math" panose="02040503050406030204" pitchFamily="18" charset="0"/>
                  </a:rPr>
                  <a:t>$d=n_2-n_1$</a:t>
                </a:r>
                <a:r>
                  <a:rPr sz="2400" b="0">
                    <a:solidFill>
                      <a:srgbClr val="78350F"/>
                    </a:solidFill>
                    <a:latin typeface="Arial"/>
                  </a:rPr>
                  <a:t>; no borrowing means the digits of </a:t>
                </a:r>
                <a:r>
                  <a:rPr lang="en-IN" sz="2400">
                    <a:solidFill>
                      <a:srgbClr val="78350F"/>
                    </a:solidFill>
                    <a:latin typeface="Cambria Math" panose="02040503050406030204" pitchFamily="18" charset="0"/>
                  </a:rPr>
                  <a:t>$d$</a:t>
                </a:r>
                <a:r>
                  <a:rPr sz="2400" b="0">
                    <a:solidFill>
                      <a:srgbClr val="78350F"/>
                    </a:solidFill>
                    <a:latin typeface="Arial"/>
                  </a:rPr>
                  <a:t> and </a:t>
                </a:r>
                <a:r>
                  <a:rPr lang="en-IN" sz="2400">
                    <a:solidFill>
                      <a:srgbClr val="78350F"/>
                    </a:solidFill>
                    <a:latin typeface="Cambria Math" panose="02040503050406030204" pitchFamily="18" charset="0"/>
                  </a:rPr>
                  <a:t>$n_1$</a:t>
                </a:r>
                <a:r>
                  <a:rPr sz="2400" b="0">
                    <a:solidFill>
                      <a:srgbClr val="78350F"/>
                    </a:solidFill>
                    <a:latin typeface="Arial"/>
                  </a:rPr>
                  <a:t> add up to the digits of </a:t>
                </a:r>
                <a:r>
                  <a:rPr lang="en-IN" sz="2400">
                    <a:solidFill>
                      <a:srgbClr val="78350F"/>
                    </a:solidFill>
                    <a:latin typeface="Cambria Math" panose="02040503050406030204" pitchFamily="18" charset="0"/>
                  </a:rPr>
                  <a:t>$n_2$</a:t>
                </a:r>
                <a:r>
                  <a:rPr sz="2400" b="0">
                    <a:solidFill>
                      <a:srgbClr val="78350F"/>
                    </a:solidFill>
                    <a:latin typeface="Arial"/>
                  </a:rPr>
                  <a:t>, so each place is a stars-and-bars count.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Without borrowing, the digits of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are </a:t>
                </a: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each place needs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𝑠</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Units and tens: non-negative solutions of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number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oMath>
                </a14:m>
                <a:r>
                  <a:rPr sz="2400" b="0">
                    <a:solidFill>
                      <a:srgbClr val="111827"/>
                    </a:solidFill>
                    <a:latin typeface="Arial"/>
                  </a:rPr>
                  <a:t> each.</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Without borrowing, the digits of </a:t>
                </a:r>
                <a:r>
                  <a:rPr lang="en-IN" sz="2400">
                    <a:solidFill>
                      <a:srgbClr val="111827"/>
                    </a:solidFill>
                    <a:latin typeface="Cambria Math" panose="02040503050406030204" pitchFamily="18" charset="0"/>
                  </a:rPr>
                  <a:t>$d=n_2-n_1$</a:t>
                </a:r>
                <a:r>
                  <a:rPr sz="2400" b="0">
                    <a:solidFill>
                      <a:srgbClr val="111827"/>
                    </a:solidFill>
                    <a:latin typeface="Arial"/>
                  </a:rPr>
                  <a:t> are </a:t>
                </a:r>
                <a:r>
                  <a:rPr lang="en-IN" sz="2400">
                    <a:solidFill>
                      <a:srgbClr val="111827"/>
                    </a:solidFill>
                    <a:latin typeface="Cambria Math" panose="02040503050406030204" pitchFamily="18" charset="0"/>
                  </a:rPr>
                  <a:t>$d_i=y_i-x_i\ge0$</a:t>
                </a:r>
                <a:r>
                  <a:rPr sz="2400" b="0">
                    <a:solidFill>
                      <a:srgbClr val="111827"/>
                    </a:solidFill>
                    <a:latin typeface="Arial"/>
                  </a:rPr>
                  <a:t>, so each place needs </a:t>
                </a:r>
                <a:r>
                  <a:rPr lang="en-IN" sz="2400">
                    <a:solidFill>
                      <a:srgbClr val="111827"/>
                    </a:solidFill>
                    <a:latin typeface="Cambria Math" panose="02040503050406030204" pitchFamily="18" charset="0"/>
                  </a:rPr>
                  <a:t>$x_i+d_i+s_i=9$</a:t>
                </a:r>
                <a:r>
                  <a:rPr sz="2400" b="0">
                    <a:solidFill>
                      <a:srgbClr val="111827"/>
                    </a:solidFill>
                    <a:latin typeface="Arial"/>
                  </a:rPr>
                  <a:t> with </a:t>
                </a:r>
                <a:r>
                  <a:rPr lang="en-IN" sz="2400">
                    <a:solidFill>
                      <a:srgbClr val="111827"/>
                    </a:solidFill>
                    <a:latin typeface="Cambria Math" panose="02040503050406030204" pitchFamily="18" charset="0"/>
                  </a:rPr>
                  <a:t>$s_i=9-y_i\ge0$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Units and tens: non-negative solutions of </a:t>
                </a:r>
                <a:r>
                  <a:rPr lang="en-IN" sz="2400">
                    <a:solidFill>
                      <a:srgbClr val="111827"/>
                    </a:solidFill>
                    <a:latin typeface="Cambria Math" panose="02040503050406030204" pitchFamily="18" charset="0"/>
                  </a:rPr>
                  <a:t>$x+d+s=9$</a:t>
                </a:r>
                <a:r>
                  <a:rPr sz="2400" b="0">
                    <a:solidFill>
                      <a:srgbClr val="111827"/>
                    </a:solidFill>
                    <a:latin typeface="Arial"/>
                  </a:rPr>
                  <a:t> number </a:t>
                </a:r>
                <a:r>
                  <a:rPr lang="en-IN" sz="2400">
                    <a:solidFill>
                      <a:srgbClr val="111827"/>
                    </a:solidFill>
                    <a:latin typeface="Cambria Math" panose="02040503050406030204" pitchFamily="18" charset="0"/>
                  </a:rPr>
                  <a:t>$\binom{11}{2}=55$</a:t>
                </a:r>
                <a:r>
                  <a:rPr sz="2400" b="0">
                    <a:solidFill>
                      <a:srgbClr val="111827"/>
                    </a:solidFill>
                    <a:latin typeface="Arial"/>
                  </a:rPr>
                  <a:t> each.</a:t>
                </a:r>
                <a:endParaRPr sz="2400">
                  <a:solidFill>
                    <a:srgbClr val="111827"/>
                  </a:solidFill>
                </a:endParaRPr>
              </a:p>
            </p:txBody>
          </p:sp>
        </mc:Fallback>
      </mc:AlternateContent>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Hundreds: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put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has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 solutions.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the three independent places: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 brute-force count over all </a:t>
                </a:r>
                <a14:m>
                  <m:oMath xmlns:m="http://schemas.openxmlformats.org/officeDocument/2006/math">
                    <m:r>
                      <a:rPr lang="en-IN" sz="2400" i="1">
                        <a:solidFill>
                          <a:srgbClr val="111827"/>
                        </a:solidFill>
                        <a:latin typeface="Cambria Math" panose="02040503050406030204" pitchFamily="18" charset="0"/>
                      </a:rPr>
                      <m:t>810000</m:t>
                    </m:r>
                  </m:oMath>
                </a14:m>
                <a:r>
                  <a:rPr sz="2400" b="0">
                    <a:solidFill>
                      <a:srgbClr val="111827"/>
                    </a:solidFill>
                    <a:latin typeface="Arial"/>
                  </a:rPr>
                  <a:t> pairs agrees).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Hundreds: </a:t>
                </a:r>
                <a:r>
                  <a:rPr lang="en-IN" sz="2400">
                    <a:solidFill>
                      <a:srgbClr val="111827"/>
                    </a:solidFill>
                    <a:latin typeface="Cambria Math" panose="02040503050406030204" pitchFamily="18" charset="0"/>
                  </a:rPr>
                  <a:t>$x_1\ge1$</a:t>
                </a:r>
                <a:r>
                  <a:rPr sz="2400" b="0">
                    <a:solidFill>
                      <a:srgbClr val="111827"/>
                    </a:solidFill>
                    <a:latin typeface="Arial"/>
                  </a:rPr>
                  <a:t>, so put </a:t>
                </a:r>
                <a:r>
                  <a:rPr lang="en-IN" sz="2400">
                    <a:solidFill>
                      <a:srgbClr val="111827"/>
                    </a:solidFill>
                    <a:latin typeface="Cambria Math" panose="02040503050406030204" pitchFamily="18" charset="0"/>
                  </a:rPr>
                  <a:t>$x_1=1+x'$</a:t>
                </a:r>
                <a:r>
                  <a:rPr sz="2400" b="0">
                    <a:solidFill>
                      <a:srgbClr val="111827"/>
                    </a:solidFill>
                    <a:latin typeface="Arial"/>
                  </a:rPr>
                  <a:t>: </a:t>
                </a:r>
                <a:r>
                  <a:rPr lang="en-IN" sz="2400">
                    <a:solidFill>
                      <a:srgbClr val="111827"/>
                    </a:solidFill>
                    <a:latin typeface="Cambria Math" panose="02040503050406030204" pitchFamily="18" charset="0"/>
                  </a:rPr>
                  <a:t>$x'+d+s=8$</a:t>
                </a:r>
                <a:r>
                  <a:rPr sz="2400" b="0">
                    <a:solidFill>
                      <a:srgbClr val="111827"/>
                    </a:solidFill>
                    <a:latin typeface="Arial"/>
                  </a:rPr>
                  <a:t> has </a:t>
                </a:r>
                <a:r>
                  <a:rPr lang="en-IN" sz="2400">
                    <a:solidFill>
                      <a:srgbClr val="111827"/>
                    </a:solidFill>
                    <a:latin typeface="Cambria Math" panose="02040503050406030204" pitchFamily="18" charset="0"/>
                  </a:rPr>
                  <a:t>$\binom{10}{2}=45$</a:t>
                </a:r>
                <a:r>
                  <a:rPr sz="2400" b="0">
                    <a:solidFill>
                      <a:srgbClr val="111827"/>
                    </a:solidFill>
                    <a:latin typeface="Arial"/>
                  </a:rPr>
                  <a:t> solutions.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the three independent places: </a:t>
                </a:r>
                <a:r>
                  <a:rPr lang="en-IN" sz="2400">
                    <a:solidFill>
                      <a:srgbClr val="111827"/>
                    </a:solidFill>
                    <a:latin typeface="Cambria Math" panose="02040503050406030204" pitchFamily="18" charset="0"/>
                  </a:rPr>
                  <a:t>$45\cdot55\cdot55=45\cdot(55)^2$</a:t>
                </a:r>
                <a:r>
                  <a:rPr sz="2400" b="0">
                    <a:solidFill>
                      <a:srgbClr val="111827"/>
                    </a:solidFill>
                    <a:latin typeface="Arial"/>
                  </a:rPr>
                  <a:t> (a brute-force count over all </a:t>
                </a:r>
                <a:r>
                  <a:rPr lang="en-IN" sz="2400">
                    <a:solidFill>
                      <a:srgbClr val="111827"/>
                    </a:solidFill>
                    <a:latin typeface="Cambria Math" panose="02040503050406030204" pitchFamily="18" charset="0"/>
                  </a:rPr>
                  <a:t>$810000$</a:t>
                </a:r>
                <a:r>
                  <a:rPr sz="2400" b="0">
                    <a:solidFill>
                      <a:srgbClr val="111827"/>
                    </a:solidFill>
                    <a:latin typeface="Arial"/>
                  </a:rPr>
                  <a:t> pairs agrees).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r>
                      <a:rPr lang="en-IN" sz="2800" i="1">
                        <a:solidFill>
                          <a:srgbClr val="15803D"/>
                        </a:solidFill>
                        <a:latin typeface="Cambria Math" panose="02040503050406030204" pitchFamily="18" charset="0"/>
                      </a:rPr>
                      <m:t>45</m:t>
                    </m:r>
                    <m:r>
                      <m:rPr>
                        <m:sty m:val="p"/>
                      </m:rPr>
                      <a:rPr lang="en-IN" sz="2800">
                        <a:solidFill>
                          <a:srgbClr val="15803D"/>
                        </a:solidFill>
                        <a:latin typeface="Cambria Math" panose="02040503050406030204" pitchFamily="18" charset="0"/>
                      </a:rPr>
                      <m:t>⋅</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55</m:t>
                    </m:r>
                    <m:sSup>
                      <m:e>
                        <m:r>
                          <m:rPr>
                            <m:sty m:val="p"/>
                          </m:rPr>
                          <a:rPr lang="en-IN" sz="2800">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2</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$45\cdot(55)^2$</a:t>
                </a:r>
                <a:endParaRPr sz="2800">
                  <a:solidFill>
                    <a:srgbClr val="15803D"/>
                  </a:solidFill>
                </a:endParaRPr>
              </a:p>
            </p:txBody>
          </p:sp>
        </mc:Fallback>
      </mc:AlternateContent>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Digit-wise conditions such as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give independent counts per place; the number of pairs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oMath>
                </a14:m>
                <a:r>
                  <a:rPr sz="2400" b="0">
                    <a:solidFill>
                      <a:srgbClr val="111827"/>
                    </a:solidFill>
                    <a:latin typeface="Arial"/>
                  </a:rPr>
                  <a:t> and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-digit numbers the count of no-borrow pairs is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55</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check: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2475</m:t>
                    </m:r>
                  </m:oMath>
                </a14:m>
                <a:r>
                  <a:rPr sz="2400" b="0">
                    <a:solidFill>
                      <a:srgbClr val="111827"/>
                    </a:solidFill>
                    <a:latin typeface="Arial"/>
                  </a:rPr>
                  <a:t> (brute force agrees).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Independent places multiply: count each digit-place condition separately and take the product.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Digit-wise conditions such as </a:t>
                </a:r>
                <a:r>
                  <a:rPr lang="en-IN" sz="2400">
                    <a:solidFill>
                      <a:srgbClr val="111827"/>
                    </a:solidFill>
                    <a:latin typeface="Cambria Math" panose="02040503050406030204" pitchFamily="18" charset="0"/>
                  </a:rPr>
                  <a:t>$x_i\le y_i$</a:t>
                </a:r>
                <a:r>
                  <a:rPr sz="2400" b="0">
                    <a:solidFill>
                      <a:srgbClr val="111827"/>
                    </a:solidFill>
                    <a:latin typeface="Arial"/>
                  </a:rPr>
                  <a:t> give independent counts per place; the number of pairs </a:t>
                </a:r>
                <a:r>
                  <a:rPr lang="en-IN" sz="2400">
                    <a:solidFill>
                      <a:srgbClr val="111827"/>
                    </a:solidFill>
                    <a:latin typeface="Cambria Math" panose="02040503050406030204" pitchFamily="18" charset="0"/>
                  </a:rPr>
                  <a:t>$0\le x\le y\le9$</a:t>
                </a:r>
                <a:r>
                  <a:rPr sz="2400" b="0">
                    <a:solidFill>
                      <a:srgbClr val="111827"/>
                    </a:solidFill>
                    <a:latin typeface="Arial"/>
                  </a:rPr>
                  <a:t> is </a:t>
                </a:r>
                <a:r>
                  <a:rPr lang="en-IN" sz="2400">
                    <a:solidFill>
                      <a:srgbClr val="111827"/>
                    </a:solidFill>
                    <a:latin typeface="Cambria Math" panose="02040503050406030204" pitchFamily="18" charset="0"/>
                  </a:rPr>
                  <a:t>$\binom{11}{2}=55$</a:t>
                </a:r>
                <a:r>
                  <a:rPr sz="2400" b="0">
                    <a:solidFill>
                      <a:srgbClr val="111827"/>
                    </a:solidFill>
                    <a:latin typeface="Arial"/>
                  </a:rPr>
                  <a:t> and with </a:t>
                </a:r>
                <a:r>
                  <a:rPr lang="en-IN" sz="2400">
                    <a:solidFill>
                      <a:srgbClr val="111827"/>
                    </a:solidFill>
                    <a:latin typeface="Cambria Math" panose="02040503050406030204" pitchFamily="18" charset="0"/>
                  </a:rPr>
                  <a:t>$x\ge1$</a:t>
                </a:r>
                <a:r>
                  <a:rPr sz="2400" b="0">
                    <a:solidFill>
                      <a:srgbClr val="111827"/>
                    </a:solidFill>
                    <a:latin typeface="Arial"/>
                  </a:rPr>
                  <a:t> it is </a:t>
                </a:r>
                <a:r>
                  <a:rPr lang="en-IN" sz="2400">
                    <a:solidFill>
                      <a:srgbClr val="111827"/>
                    </a:solidFill>
                    <a:latin typeface="Cambria Math" panose="02040503050406030204" pitchFamily="18" charset="0"/>
                  </a:rPr>
                  <a:t>$\binom{10}{2}=45$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a:t>
                </a:r>
                <a:r>
                  <a:rPr sz="2400" b="0">
                    <a:solidFill>
                      <a:srgbClr val="111827"/>
                    </a:solidFill>
                    <a:latin typeface="Arial"/>
                  </a:rPr>
                  <a:t>-digit numbers the count of no-borrow pairs is </a:t>
                </a:r>
                <a:r>
                  <a:rPr lang="en-IN" sz="2400">
                    <a:solidFill>
                      <a:srgbClr val="111827"/>
                    </a:solidFill>
                    <a:latin typeface="Cambria Math" panose="02040503050406030204" pitchFamily="18" charset="0"/>
                  </a:rPr>
                  <a:t>$45\cdot55^{m-1}$</a:t>
                </a:r>
                <a:r>
                  <a:rPr sz="2400" b="0">
                    <a:solidFill>
                      <a:srgbClr val="111827"/>
                    </a:solidFill>
                    <a:latin typeface="Arial"/>
                  </a:rPr>
                  <a:t>; check: </a:t>
                </a:r>
                <a:r>
                  <a:rPr lang="en-IN" sz="2400">
                    <a:solidFill>
                      <a:srgbClr val="111827"/>
                    </a:solidFill>
                    <a:latin typeface="Cambria Math" panose="02040503050406030204" pitchFamily="18" charset="0"/>
                  </a:rPr>
                  <a:t>$m=2$</a:t>
                </a:r>
                <a:r>
                  <a:rPr sz="2400" b="0">
                    <a:solidFill>
                      <a:srgbClr val="111827"/>
                    </a:solidFill>
                    <a:latin typeface="Arial"/>
                  </a:rPr>
                  <a:t> gives </a:t>
                </a:r>
                <a:r>
                  <a:rPr lang="en-IN" sz="2400">
                    <a:solidFill>
                      <a:srgbClr val="111827"/>
                    </a:solidFill>
                    <a:latin typeface="Cambria Math" panose="02040503050406030204" pitchFamily="18" charset="0"/>
                  </a:rPr>
                  <a:t>$45\cdot55=2475$</a:t>
                </a:r>
                <a:r>
                  <a:rPr sz="2400" b="0">
                    <a:solidFill>
                      <a:srgbClr val="111827"/>
                    </a:solidFill>
                    <a:latin typeface="Arial"/>
                  </a:rPr>
                  <a:t> (brute force agrees).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Independent places multiply: count each digit-place condition separately and take the product.</a:t>
                </a:r>
                <a:endParaRPr sz="2400">
                  <a:solidFill>
                    <a:srgbClr val="111827"/>
                  </a:solidFill>
                </a:endParaRPr>
              </a:p>
            </p:txBody>
          </p:sp>
        </mc:Fallback>
      </mc:AlternateContent>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18</m:t>
                        </m:r>
                      </m:sup>
                    </m:sSup>
                  </m:oMath>
                </a14:m>
                <a:r>
                  <a:rPr sz="2400" b="0">
                    <a:solidFill>
                      <a:srgbClr val="111827"/>
                    </a:solidFill>
                    <a:latin typeface="Arial"/>
                  </a:rPr>
                  <a:t>   (B)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oMath>
                </a14:m>
                <a:r>
                  <a:rPr sz="2400" b="0">
                    <a:solidFill>
                      <a:srgbClr val="111827"/>
                    </a:solidFill>
                    <a:latin typeface="Arial"/>
                  </a:rPr>
                  <a:t>   (C)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20</m:t>
                        </m:r>
                      </m:sup>
                    </m:sSup>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$\sum_{r=1}^{5}{}^{20}C_{2r-1}$</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$2^{18}$</a:t>
                </a:r>
                <a:r>
                  <a:rPr sz="2400" b="0">
                    <a:solidFill>
                      <a:srgbClr val="111827"/>
                    </a:solidFill>
                    <a:latin typeface="Arial"/>
                  </a:rPr>
                  <a:t>   (B) </a:t>
                </a:r>
                <a:r>
                  <a:rPr lang="en-IN" sz="2400">
                    <a:solidFill>
                      <a:srgbClr val="111827"/>
                    </a:solidFill>
                    <a:latin typeface="Cambria Math" panose="02040503050406030204" pitchFamily="18" charset="0"/>
                  </a:rPr>
                  <a:t>$2^{19}$</a:t>
                </a:r>
                <a:r>
                  <a:rPr sz="2400" b="0">
                    <a:solidFill>
                      <a:srgbClr val="111827"/>
                    </a:solidFill>
                    <a:latin typeface="Arial"/>
                  </a:rPr>
                  <a:t>   (C) </a:t>
                </a:r>
                <a:r>
                  <a:rPr lang="en-IN" sz="2400">
                    <a:solidFill>
                      <a:srgbClr val="111827"/>
                    </a:solidFill>
                    <a:latin typeface="Cambria Math" panose="02040503050406030204" pitchFamily="18" charset="0"/>
                  </a:rPr>
                  <a:t>$2^{20}$</a:t>
                </a:r>
                <a:r>
                  <a:rPr sz="2400" b="0">
                    <a:solidFill>
                      <a:srgbClr val="111827"/>
                    </a:solidFill>
                    <a:latin typeface="Arial"/>
                  </a:rPr>
                  <a:t>   (D) </a:t>
                </a:r>
                <a:r>
                  <a:rPr lang="en-IN" sz="2400">
                    <a:solidFill>
                      <a:srgbClr val="111827"/>
                    </a:solidFill>
                    <a:latin typeface="Cambria Math" panose="02040503050406030204" pitchFamily="18" charset="0"/>
                  </a:rPr>
                  <a:t>$2^{19}-{}^{20}C_{10}$</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Sum of binomial coefficients at alternate positions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Using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20</m:t>
                            </m:r>
                          </m:num>
                          <m:den>
                            <m:r>
                              <a:rPr lang="en-IN" sz="2400" i="1">
                                <a:solidFill>
                                  <a:srgbClr val="78350F"/>
                                </a:solidFill>
                                <a:latin typeface="Cambria Math" panose="02040503050406030204" pitchFamily="18" charset="0"/>
                              </a:rPr>
                              <m:t>𝑘</m:t>
                            </m:r>
                          </m:den>
                        </m:f>
                      </m:e>
                    </m:d>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20</m:t>
                            </m:r>
                          </m:num>
                          <m:den>
                            <m:r>
                              <a:rPr lang="en-IN" sz="2400" i="1">
                                <a:solidFill>
                                  <a:srgbClr val="78350F"/>
                                </a:solidFill>
                                <a:latin typeface="Cambria Math" panose="02040503050406030204" pitchFamily="18" charset="0"/>
                              </a:rPr>
                              <m:t>20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den>
                        </m:f>
                      </m:e>
                    </m:d>
                  </m:oMath>
                </a14:m>
                <a:r>
                  <a:rPr sz="2400" b="0">
                    <a:solidFill>
                      <a:srgbClr val="78350F"/>
                    </a:solidFill>
                    <a:latin typeface="Arial"/>
                  </a:rPr>
                  <a:t>, the sum is half of the sum of all odd-position coefficients.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Using </a:t>
                </a:r>
                <a:r>
                  <a:rPr lang="en-IN" sz="2400">
                    <a:solidFill>
                      <a:srgbClr val="78350F"/>
                    </a:solidFill>
                    <a:latin typeface="Cambria Math" panose="02040503050406030204" pitchFamily="18" charset="0"/>
                  </a:rPr>
                  <a:t>$\binom{20}{k}=\binom{20}{20-k}$</a:t>
                </a:r>
                <a:r>
                  <a:rPr sz="2400" b="0">
                    <a:solidFill>
                      <a:srgbClr val="78350F"/>
                    </a:solidFill>
                    <a:latin typeface="Arial"/>
                  </a:rPr>
                  <a:t>, the sum is half of the sum of all odd-position coefficients.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 the sum: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7</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9</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symmetry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b>
                    </m:sSub>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9</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13</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7</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oMath>
                </a14:m>
                <a:r>
                  <a:rPr sz="2400" b="0">
                    <a:solidFill>
                      <a:srgbClr val="111827"/>
                    </a:solidFill>
                    <a:latin typeface="Arial"/>
                  </a:rPr>
                  <a:t> as well,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9</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Expand the sum: </a:t>
                </a:r>
                <a:r>
                  <a:rPr lang="en-IN" sz="2400">
                    <a:solidFill>
                      <a:srgbClr val="111827"/>
                    </a:solidFill>
                    <a:latin typeface="Cambria Math" panose="02040503050406030204" pitchFamily="18" charset="0"/>
                  </a:rPr>
                  <a:t>$S=\sum_{r=1}^{5}{}^{20}C_{2r-1}={}^{20}C_1+{}^{20}C_3+{}^{20}C_5+{}^{20}C_7+{}^{20}C_9$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symmetry </a:t>
                </a:r>
                <a:r>
                  <a:rPr lang="en-IN" sz="2400">
                    <a:solidFill>
                      <a:srgbClr val="111827"/>
                    </a:solidFill>
                    <a:latin typeface="Cambria Math" panose="02040503050406030204" pitchFamily="18" charset="0"/>
                  </a:rPr>
                  <a:t>${}^{20}C_k={}^{20}C_{20-k}$</a:t>
                </a:r>
                <a:r>
                  <a:rPr sz="2400" b="0">
                    <a:solidFill>
                      <a:srgbClr val="111827"/>
                    </a:solidFill>
                    <a:latin typeface="Arial"/>
                  </a:rPr>
                  <a:t>, so </a:t>
                </a:r>
                <a:r>
                  <a:rPr lang="en-IN" sz="2400">
                    <a:solidFill>
                      <a:srgbClr val="111827"/>
                    </a:solidFill>
                    <a:latin typeface="Cambria Math" panose="02040503050406030204" pitchFamily="18" charset="0"/>
                  </a:rPr>
                  <a:t>${}^{20}C_{11}={}^{20}C_9,\ {}^{20}C_{13}={}^{20}C_7,\dots,{}^{20}C_{19}={}^{20}C_1$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$S={}^{20}C_{11}+{}^{20}C_{13}+\dots+{}^{20}C_{19}$</a:t>
                </a:r>
                <a:r>
                  <a:rPr sz="2400" b="0">
                    <a:solidFill>
                      <a:srgbClr val="111827"/>
                    </a:solidFill>
                    <a:latin typeface="Arial"/>
                  </a:rPr>
                  <a:t> as well, and </a:t>
                </a:r>
                <a:r>
                  <a:rPr lang="en-IN" sz="2400">
                    <a:solidFill>
                      <a:srgbClr val="111827"/>
                    </a:solidFill>
                    <a:latin typeface="Cambria Math" panose="02040503050406030204" pitchFamily="18" charset="0"/>
                  </a:rPr>
                  <a:t>$2S={}^{20}C_1+{}^{20}C_3+\dots+{}^{20}C_9+{}^{20}C_{11}+\dots+{}^{20}C_{19}$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right side is the sum of all odd-position coefficients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e>
                    </m:d>
                  </m:oMath>
                </a14:m>
                <a:r>
                  <a:rPr sz="2400" b="0">
                    <a:solidFill>
                      <a:srgbClr val="111827"/>
                    </a:solidFill>
                    <a:latin typeface="Arial"/>
                  </a:rPr>
                  <a:t> we get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20</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18</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right side is the sum of all odd-position coefficients of </a:t>
                </a:r>
                <a:r>
                  <a:rPr lang="en-IN" sz="2400">
                    <a:solidFill>
                      <a:srgbClr val="111827"/>
                    </a:solidFill>
                    <a:latin typeface="Cambria Math" panose="02040503050406030204" pitchFamily="18" charset="0"/>
                  </a:rPr>
                  <a:t>$(1+x)^{20}$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$(1+1)^{20}-(1-1)^{20}=2\left({}^{20}C_1+{}^{20}C_3+\dots+{}^{20}C_{19}\right)$</a:t>
                </a:r>
                <a:r>
                  <a:rPr sz="2400" b="0">
                    <a:solidFill>
                      <a:srgbClr val="111827"/>
                    </a:solidFill>
                    <a:latin typeface="Arial"/>
                  </a:rPr>
                  <a:t> we get </a:t>
                </a:r>
                <a:r>
                  <a:rPr lang="en-IN" sz="2400">
                    <a:solidFill>
                      <a:srgbClr val="111827"/>
                    </a:solidFill>
                    <a:latin typeface="Cambria Math" panose="02040503050406030204" pitchFamily="18" charset="0"/>
                  </a:rPr>
                  <a:t>${}^{20}C_1+{}^{20}C_3+\dots+{}^{20}C_{19}=\frac{2^{20}}{2}=2^{19}$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$S=\frac12\left[2^{19}\right]=2^{18}$</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sSup>
                      <m:e>
                        <m:r>
                          <a:rPr lang="en-IN" sz="2800" i="1">
                            <a:solidFill>
                              <a:srgbClr val="15803D"/>
                            </a:solidFill>
                            <a:latin typeface="Cambria Math" panose="02040503050406030204" pitchFamily="18" charset="0"/>
                          </a:rPr>
                          <m:t>2</m:t>
                        </m:r>
                      </m:e>
                      <m:sup>
                        <m:r>
                          <a:rPr lang="en-IN" sz="2800" i="1">
                            <a:solidFill>
                              <a:srgbClr val="15803D"/>
                            </a:solidFill>
                            <a:latin typeface="Cambria Math" panose="02040503050406030204" pitchFamily="18" charset="0"/>
                          </a:rPr>
                          <m:t>18</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$2^{18}$</a:t>
                </a:r>
                <a:endParaRPr sz="2800">
                  <a:solidFill>
                    <a:srgbClr val="15803D"/>
                  </a:solidFill>
                </a:endParaRPr>
              </a:p>
            </p:txBody>
          </p:sp>
        </mc:Fallback>
      </mc:AlternateContent>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Split each term with Pascal's rule so the sum becomes half of a full row of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19</m:t>
                            </m:r>
                          </m:num>
                          <m:den>
                            <m:r>
                              <a:rPr lang="en-IN" sz="2400" i="1">
                                <a:solidFill>
                                  <a:srgbClr val="78350F"/>
                                </a:solidFill>
                                <a:latin typeface="Cambria Math" panose="02040503050406030204" pitchFamily="18" charset="0"/>
                              </a:rPr>
                              <m:t>𝑘</m:t>
                            </m:r>
                          </m:den>
                        </m:f>
                      </m:e>
                    </m:d>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Split each term with Pascal's rule so the sum becomes half of a full row of </a:t>
                </a:r>
                <a:r>
                  <a:rPr lang="en-IN" sz="2400">
                    <a:solidFill>
                      <a:srgbClr val="78350F"/>
                    </a:solidFill>
                    <a:latin typeface="Cambria Math" panose="02040503050406030204" pitchFamily="18" charset="0"/>
                  </a:rPr>
                  <a:t>$\binom{19}{k}$</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Pascal: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over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9</m:t>
                        </m:r>
                      </m:sub>
                    </m:sSub>
                  </m:oMath>
                </a14:m>
                <a:r>
                  <a:rPr sz="2400" b="0">
                    <a:solidFill>
                      <a:srgbClr val="111827"/>
                    </a:solidFill>
                    <a:latin typeface="Arial"/>
                  </a:rPr>
                  <a:t> (all indices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b>
                    </m:sSub>
                  </m:oMath>
                </a14:m>
                <a:r>
                  <a:rPr sz="2400" b="0">
                    <a:solidFill>
                      <a:srgbClr val="111827"/>
                    </a:solidFill>
                    <a:latin typeface="Arial"/>
                  </a:rPr>
                  <a:t>, the indices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19</m:t>
                    </m:r>
                  </m:oMath>
                </a14:m>
                <a:r>
                  <a:rPr sz="2400" b="0">
                    <a:solidFill>
                      <a:srgbClr val="111827"/>
                    </a:solidFill>
                    <a:latin typeface="Arial"/>
                  </a:rPr>
                  <a:t> give equal sums, and together they give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18</m:t>
                        </m:r>
                      </m:sup>
                    </m:sSup>
                  </m:oMath>
                </a14:m>
                <a:r>
                  <a:rPr sz="2400" b="0">
                    <a:solidFill>
                      <a:srgbClr val="111827"/>
                    </a:solidFill>
                    <a:latin typeface="Arial"/>
                  </a:rPr>
                  <a:t> (numerically </a:t>
                </a:r>
                <a14:m>
                  <m:oMath xmlns:m="http://schemas.openxmlformats.org/officeDocument/2006/math">
                    <m:r>
                      <a:rPr lang="en-IN" sz="2400" i="1">
                        <a:solidFill>
                          <a:srgbClr val="111827"/>
                        </a:solidFill>
                        <a:latin typeface="Cambria Math" panose="02040503050406030204" pitchFamily="18" charset="0"/>
                      </a:rPr>
                      <m:t>262144</m:t>
                    </m:r>
                  </m:oMath>
                </a14:m>
                <a:r>
                  <a:rPr sz="2400" b="0">
                    <a:solidFill>
                      <a:srgbClr val="111827"/>
                    </a:solidFill>
                    <a:latin typeface="Arial"/>
                  </a:rPr>
                  <a:t>, confirmed).</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Pascal: </a:t>
                </a:r>
                <a:r>
                  <a:rPr lang="en-IN" sz="2400">
                    <a:solidFill>
                      <a:srgbClr val="111827"/>
                    </a:solidFill>
                    <a:latin typeface="Cambria Math" panose="02040503050406030204" pitchFamily="18" charset="0"/>
                  </a:rPr>
                  <a:t>${}^{20}C_{2r-1}={}^{19}C_{2r-1}+{}^{19}C_{2r-2}$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over </a:t>
                </a:r>
                <a:r>
                  <a:rPr lang="en-IN" sz="2400">
                    <a:solidFill>
                      <a:srgbClr val="111827"/>
                    </a:solidFill>
                    <a:latin typeface="Cambria Math" panose="02040503050406030204" pitchFamily="18" charset="0"/>
                  </a:rPr>
                  <a:t>$r=1,\dots,5$</a:t>
                </a:r>
                <a:r>
                  <a:rPr sz="2400" b="0">
                    <a:solidFill>
                      <a:srgbClr val="111827"/>
                    </a:solidFill>
                    <a:latin typeface="Arial"/>
                  </a:rPr>
                  <a:t> gives </a:t>
                </a:r>
                <a:r>
                  <a:rPr lang="en-IN" sz="2400">
                    <a:solidFill>
                      <a:srgbClr val="111827"/>
                    </a:solidFill>
                    <a:latin typeface="Cambria Math" panose="02040503050406030204" pitchFamily="18" charset="0"/>
                  </a:rPr>
                  <a:t>${}^{19}C_0+{}^{19}C_1+{}^{19}C_2+\dots+{}^{19}C_9$</a:t>
                </a:r>
                <a:r>
                  <a:rPr sz="2400" b="0">
                    <a:solidFill>
                      <a:srgbClr val="111827"/>
                    </a:solidFill>
                    <a:latin typeface="Arial"/>
                  </a:rPr>
                  <a:t> (all indices </a:t>
                </a:r>
                <a:r>
                  <a:rPr lang="en-IN" sz="2400">
                    <a:solidFill>
                      <a:srgbClr val="111827"/>
                    </a:solidFill>
                    <a:latin typeface="Cambria Math" panose="02040503050406030204" pitchFamily="18" charset="0"/>
                  </a:rPr>
                  <a:t>$0$</a:t>
                </a:r>
                <a:r>
                  <a:rPr sz="2400" b="0">
                    <a:solidFill>
                      <a:srgbClr val="111827"/>
                    </a:solidFill>
                    <a:latin typeface="Arial"/>
                  </a:rPr>
                  <a:t> to </a:t>
                </a:r>
                <a:r>
                  <a:rPr lang="en-IN" sz="2400">
                    <a:solidFill>
                      <a:srgbClr val="111827"/>
                    </a:solidFill>
                    <a:latin typeface="Cambria Math" panose="02040503050406030204" pitchFamily="18" charset="0"/>
                  </a:rPr>
                  <a:t>$9$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${}^{19}C_k={}^{19}C_{19-k}$</a:t>
                </a:r>
                <a:r>
                  <a:rPr sz="2400" b="0">
                    <a:solidFill>
                      <a:srgbClr val="111827"/>
                    </a:solidFill>
                    <a:latin typeface="Arial"/>
                  </a:rPr>
                  <a:t>, the indices </a:t>
                </a:r>
                <a:r>
                  <a:rPr lang="en-IN" sz="2400">
                    <a:solidFill>
                      <a:srgbClr val="111827"/>
                    </a:solidFill>
                    <a:latin typeface="Cambria Math" panose="02040503050406030204" pitchFamily="18" charset="0"/>
                  </a:rPr>
                  <a:t>$0$</a:t>
                </a:r>
                <a:r>
                  <a:rPr sz="2400" b="0">
                    <a:solidFill>
                      <a:srgbClr val="111827"/>
                    </a:solidFill>
                    <a:latin typeface="Arial"/>
                  </a:rPr>
                  <a:t> to </a:t>
                </a:r>
                <a:r>
                  <a:rPr lang="en-IN" sz="2400">
                    <a:solidFill>
                      <a:srgbClr val="111827"/>
                    </a:solidFill>
                    <a:latin typeface="Cambria Math" panose="02040503050406030204" pitchFamily="18" charset="0"/>
                  </a:rPr>
                  <a:t>$9$</a:t>
                </a:r>
                <a:r>
                  <a:rPr sz="2400" b="0">
                    <a:solidFill>
                      <a:srgbClr val="111827"/>
                    </a:solidFill>
                    <a:latin typeface="Arial"/>
                  </a:rPr>
                  <a:t> and </a:t>
                </a:r>
                <a:r>
                  <a:rPr lang="en-IN" sz="2400">
                    <a:solidFill>
                      <a:srgbClr val="111827"/>
                    </a:solidFill>
                    <a:latin typeface="Cambria Math" panose="02040503050406030204" pitchFamily="18" charset="0"/>
                  </a:rPr>
                  <a:t>$10$</a:t>
                </a:r>
                <a:r>
                  <a:rPr sz="2400" b="0">
                    <a:solidFill>
                      <a:srgbClr val="111827"/>
                    </a:solidFill>
                    <a:latin typeface="Arial"/>
                  </a:rPr>
                  <a:t> to </a:t>
                </a:r>
                <a:r>
                  <a:rPr lang="en-IN" sz="2400">
                    <a:solidFill>
                      <a:srgbClr val="111827"/>
                    </a:solidFill>
                    <a:latin typeface="Cambria Math" panose="02040503050406030204" pitchFamily="18" charset="0"/>
                  </a:rPr>
                  <a:t>$19$</a:t>
                </a:r>
                <a:r>
                  <a:rPr sz="2400" b="0">
                    <a:solidFill>
                      <a:srgbClr val="111827"/>
                    </a:solidFill>
                    <a:latin typeface="Arial"/>
                  </a:rPr>
                  <a:t> give equal sums, and together they give </a:t>
                </a:r>
                <a:r>
                  <a:rPr lang="en-IN" sz="2400">
                    <a:solidFill>
                      <a:srgbClr val="111827"/>
                    </a:solidFill>
                    <a:latin typeface="Cambria Math" panose="02040503050406030204" pitchFamily="18" charset="0"/>
                  </a:rPr>
                  <a:t>$2^{19}$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is </a:t>
                </a:r>
                <a:r>
                  <a:rPr lang="en-IN" sz="2400">
                    <a:solidFill>
                      <a:srgbClr val="111827"/>
                    </a:solidFill>
                    <a:latin typeface="Cambria Math" panose="02040503050406030204" pitchFamily="18" charset="0"/>
                  </a:rPr>
                  <a:t>$\frac{2^{19}}{2}=2^{18}$</a:t>
                </a:r>
                <a:r>
                  <a:rPr sz="2400" b="0">
                    <a:solidFill>
                      <a:srgbClr val="111827"/>
                    </a:solidFill>
                    <a:latin typeface="Arial"/>
                  </a:rPr>
                  <a:t> (numerically </a:t>
                </a:r>
                <a:r>
                  <a:rPr lang="en-IN" sz="2400">
                    <a:solidFill>
                      <a:srgbClr val="111827"/>
                    </a:solidFill>
                    <a:latin typeface="Cambria Math" panose="02040503050406030204" pitchFamily="18" charset="0"/>
                  </a:rPr>
                  <a:t>$262144$</a:t>
                </a:r>
                <a:r>
                  <a:rPr sz="2400" b="0">
                    <a:solidFill>
                      <a:srgbClr val="111827"/>
                    </a:solidFill>
                    <a:latin typeface="Arial"/>
                  </a:rPr>
                  <a:t>, confirmed).</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sSup>
                      <m:e>
                        <m:r>
                          <a:rPr lang="en-IN" sz="2800" i="1">
                            <a:solidFill>
                              <a:srgbClr val="15803D"/>
                            </a:solidFill>
                            <a:latin typeface="Cambria Math" panose="02040503050406030204" pitchFamily="18" charset="0"/>
                          </a:rPr>
                          <m:t>2</m:t>
                        </m:r>
                      </m:e>
                      <m:sup>
                        <m:r>
                          <a:rPr lang="en-IN" sz="2800" i="1">
                            <a:solidFill>
                              <a:srgbClr val="15803D"/>
                            </a:solidFill>
                            <a:latin typeface="Cambria Math" panose="02040503050406030204" pitchFamily="18" charset="0"/>
                          </a:rPr>
                          <m:t>18</m:t>
                        </m:r>
                      </m:sup>
                    </m:sSup>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$2^{18}$</a:t>
                </a:r>
                <a:endParaRPr sz="2800">
                  <a:solidFill>
                    <a:srgbClr val="15803D"/>
                  </a:solidFill>
                </a:endParaRPr>
              </a:p>
            </p:txBody>
          </p:sp>
        </mc:Fallback>
      </mc:AlternateContent>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of odd-position (or even-position) binomial coefficients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odd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e>
                    </m:nary>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(checked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Pascal's rule converts a sum over every second row-entry of row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into a block sum in row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of odd-position (or even-position) binomial coefficients of </a:t>
                </a:r>
                <a:r>
                  <a:rPr lang="en-IN" sz="2400">
                    <a:solidFill>
                      <a:srgbClr val="111827"/>
                    </a:solidFill>
                    <a:latin typeface="Cambria Math" panose="02040503050406030204" pitchFamily="18" charset="0"/>
                  </a:rPr>
                  <a:t>$(1+x)^n$</a:t>
                </a:r>
                <a:r>
                  <a:rPr sz="2400" b="0">
                    <a:solidFill>
                      <a:srgbClr val="111827"/>
                    </a:solidFill>
                    <a:latin typeface="Arial"/>
                  </a:rPr>
                  <a:t> is </a:t>
                </a:r>
                <a:r>
                  <a:rPr lang="en-IN" sz="2400">
                    <a:solidFill>
                      <a:srgbClr val="111827"/>
                    </a:solidFill>
                    <a:latin typeface="Cambria Math" panose="02040503050406030204" pitchFamily="18" charset="0"/>
                  </a:rPr>
                  <a:t>$2^{n-1}$</a:t>
                </a:r>
                <a:r>
                  <a:rPr sz="2400" b="0">
                    <a:solidFill>
                      <a:srgbClr val="111827"/>
                    </a:solidFill>
                    <a:latin typeface="Arial"/>
                  </a:rPr>
                  <a:t> for </a:t>
                </a:r>
                <a:r>
                  <a:rPr lang="en-IN" sz="2400">
                    <a:solidFill>
                      <a:srgbClr val="111827"/>
                    </a:solidFill>
                    <a:latin typeface="Cambria Math" panose="02040503050406030204" pitchFamily="18" charset="0"/>
                  </a:rPr>
                  <a:t>$n\ge1$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odd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$\sum_{k=0}^{(n-1)/2}\binom{n}{k}=2^{n-1}$</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$\sum_{k=0}^{n/2-1}\binom{n}{k}=\frac{2^n-\binom{n}{n/2}}{2}$</a:t>
                </a:r>
                <a:r>
                  <a:rPr sz="2400" b="0">
                    <a:solidFill>
                      <a:srgbClr val="111827"/>
                    </a:solidFill>
                    <a:latin typeface="Arial"/>
                  </a:rPr>
                  <a:t> (checked for </a:t>
                </a:r>
                <a:r>
                  <a:rPr lang="en-IN" sz="2400">
                    <a:solidFill>
                      <a:srgbClr val="111827"/>
                    </a:solidFill>
                    <a:latin typeface="Cambria Math" panose="02040503050406030204" pitchFamily="18" charset="0"/>
                  </a:rPr>
                  <a:t>$n=20$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Pascal's rule converts a sum over every second row-entry of row </a:t>
                </a:r>
                <a:r>
                  <a:rPr lang="en-IN" sz="2400">
                    <a:solidFill>
                      <a:srgbClr val="111827"/>
                    </a:solidFill>
                    <a:latin typeface="Cambria Math" panose="02040503050406030204" pitchFamily="18" charset="0"/>
                  </a:rPr>
                  <a:t>$n$</a:t>
                </a:r>
                <a:r>
                  <a:rPr sz="2400" b="0">
                    <a:solidFill>
                      <a:srgbClr val="111827"/>
                    </a:solidFill>
                    <a:latin typeface="Arial"/>
                  </a:rPr>
                  <a:t> into a block sum in row </a:t>
                </a:r>
                <a:r>
                  <a:rPr lang="en-IN" sz="2400">
                    <a:solidFill>
                      <a:srgbClr val="111827"/>
                    </a:solidFill>
                    <a:latin typeface="Cambria Math" panose="02040503050406030204" pitchFamily="18" charset="0"/>
                  </a:rPr>
                  <a:t>$n-1$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Greatest binomial coefficient in the expansion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oMath>
                </a14:m>
                <a:r>
                  <a:rPr sz="2400" b="0">
                    <a:solidFill>
                      <a:srgbClr val="111827"/>
                    </a:solidFill>
                    <a:latin typeface="Arial"/>
                  </a:rPr>
                  <a:t> is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𝑚</m:t>
                        </m:r>
                      </m:sup>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ub>
                    </m:sSub>
                  </m:oMath>
                </a14:m>
                <a:r>
                  <a:rPr sz="2400" b="0">
                    <a:solidFill>
                      <a:srgbClr val="111827"/>
                    </a:solidFill>
                    <a:latin typeface="Arial"/>
                  </a:rPr>
                  <a:t>, then the value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(where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an even natural number):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30</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40</m:t>
                    </m:r>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Greatest binomial coefficient in the expansion of </a:t>
                </a:r>
                <a:r>
                  <a:rPr lang="en-IN" sz="2400">
                    <a:solidFill>
                      <a:srgbClr val="111827"/>
                    </a:solidFill>
                    <a:latin typeface="Cambria Math" panose="02040503050406030204" pitchFamily="18" charset="0"/>
                  </a:rPr>
                  <a:t>$(1+x)^{40+m}$</a:t>
                </a:r>
                <a:r>
                  <a:rPr sz="2400" b="0">
                    <a:solidFill>
                      <a:srgbClr val="111827"/>
                    </a:solidFill>
                    <a:latin typeface="Arial"/>
                  </a:rPr>
                  <a:t> is </a:t>
                </a:r>
                <a:r>
                  <a:rPr lang="en-IN" sz="2400">
                    <a:solidFill>
                      <a:srgbClr val="111827"/>
                    </a:solidFill>
                    <a:latin typeface="Cambria Math" panose="02040503050406030204" pitchFamily="18" charset="0"/>
                  </a:rPr>
                  <a:t>$\sum_{i=0}^{m}{}^{m}C_i\,{}^{40}C_{m-i}$</a:t>
                </a:r>
                <a:r>
                  <a:rPr sz="2400" b="0">
                    <a:solidFill>
                      <a:srgbClr val="111827"/>
                    </a:solidFill>
                    <a:latin typeface="Arial"/>
                  </a:rPr>
                  <a:t>, then the value of </a:t>
                </a:r>
                <a:r>
                  <a:rPr lang="en-IN" sz="2400">
                    <a:solidFill>
                      <a:srgbClr val="111827"/>
                    </a:solidFill>
                    <a:latin typeface="Cambria Math" panose="02040503050406030204" pitchFamily="18" charset="0"/>
                  </a:rPr>
                  <a:t>$m$</a:t>
                </a:r>
                <a:r>
                  <a:rPr sz="2400" b="0">
                    <a:solidFill>
                      <a:srgbClr val="111827"/>
                    </a:solidFill>
                    <a:latin typeface="Arial"/>
                  </a:rPr>
                  <a:t> is (where </a:t>
                </a:r>
                <a:r>
                  <a:rPr lang="en-IN" sz="2400">
                    <a:solidFill>
                      <a:srgbClr val="111827"/>
                    </a:solidFill>
                    <a:latin typeface="Cambria Math" panose="02040503050406030204" pitchFamily="18" charset="0"/>
                  </a:rPr>
                  <a:t>$m$</a:t>
                </a:r>
                <a:r>
                  <a:rPr sz="2400" b="0">
                    <a:solidFill>
                      <a:srgbClr val="111827"/>
                    </a:solidFill>
                    <a:latin typeface="Arial"/>
                  </a:rPr>
                  <a:t> is an even natural number):</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$10$</a:t>
                </a:r>
                <a:r>
                  <a:rPr sz="2400" b="0">
                    <a:solidFill>
                      <a:srgbClr val="111827"/>
                    </a:solidFill>
                    <a:latin typeface="Arial"/>
                  </a:rPr>
                  <a:t>   (B) </a:t>
                </a:r>
                <a:r>
                  <a:rPr lang="en-IN" sz="2400">
                    <a:solidFill>
                      <a:srgbClr val="111827"/>
                    </a:solidFill>
                    <a:latin typeface="Cambria Math" panose="02040503050406030204" pitchFamily="18" charset="0"/>
                  </a:rPr>
                  <a:t>$20$</a:t>
                </a:r>
                <a:r>
                  <a:rPr sz="2400" b="0">
                    <a:solidFill>
                      <a:srgbClr val="111827"/>
                    </a:solidFill>
                    <a:latin typeface="Arial"/>
                  </a:rPr>
                  <a:t>   (C) </a:t>
                </a:r>
                <a:r>
                  <a:rPr lang="en-IN" sz="2400">
                    <a:solidFill>
                      <a:srgbClr val="111827"/>
                    </a:solidFill>
                    <a:latin typeface="Cambria Math" panose="02040503050406030204" pitchFamily="18" charset="0"/>
                  </a:rPr>
                  <a:t>$30$</a:t>
                </a:r>
                <a:r>
                  <a:rPr sz="2400" b="0">
                    <a:solidFill>
                      <a:srgbClr val="111827"/>
                    </a:solidFill>
                    <a:latin typeface="Arial"/>
                  </a:rPr>
                  <a:t>   (D) </a:t>
                </a:r>
                <a:r>
                  <a:rPr lang="en-IN" sz="2400">
                    <a:solidFill>
                      <a:srgbClr val="111827"/>
                    </a:solidFill>
                    <a:latin typeface="Cambria Math" panose="02040503050406030204" pitchFamily="18" charset="0"/>
                  </a:rPr>
                  <a:t>$40$</a:t>
                </a:r>
                <a:endParaRPr sz="2400">
                  <a:solidFill>
                    <a:srgbClr val="111827"/>
                  </a:solidFill>
                </a:endParaRPr>
              </a:p>
            </p:txBody>
          </p:sp>
        </mc:Fallback>
      </mc:AlternateContent>
      <p:sp>
        <p:nvSpPr>
          <p:cNvPr id="5" name="Rectangle 4"/>
          <p:cNvSpPr/>
          <p:nvPr/>
        </p:nvSpPr>
        <p:spPr>
          <a:xfrm>
            <a:off x="731520" y="358038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Greatest binomial coefficient and Vandermonde's identity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Vandermonde gives </a:t>
                </a:r>
                <a14:m>
                  <m:oMath xmlns:m="http://schemas.openxmlformats.org/officeDocument/2006/math">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𝑚</m:t>
                            </m:r>
                          </m:num>
                          <m:den>
                            <m:r>
                              <a:rPr lang="en-IN" sz="2400" i="1">
                                <a:solidFill>
                                  <a:srgbClr val="78350F"/>
                                </a:solidFill>
                                <a:latin typeface="Cambria Math" panose="02040503050406030204" pitchFamily="18" charset="0"/>
                              </a:rPr>
                              <m:t>𝑖</m:t>
                            </m:r>
                          </m:den>
                        </m:f>
                      </m:e>
                    </m:d>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40</m:t>
                            </m:r>
                          </m:num>
                          <m:den>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den>
                        </m:f>
                      </m:e>
                    </m:d>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num>
                          <m:den>
                            <m:r>
                              <a:rPr lang="en-IN" sz="2400" i="1">
                                <a:solidFill>
                                  <a:srgbClr val="78350F"/>
                                </a:solidFill>
                                <a:latin typeface="Cambria Math" panose="02040503050406030204" pitchFamily="18" charset="0"/>
                              </a:rPr>
                              <m:t>𝑚</m:t>
                            </m:r>
                          </m:den>
                        </m:f>
                      </m:e>
                    </m:d>
                  </m:oMath>
                </a14:m>
                <a:r>
                  <a:rPr sz="2400" b="0">
                    <a:solidFill>
                      <a:srgbClr val="78350F"/>
                    </a:solidFill>
                    <a:latin typeface="Arial"/>
                  </a:rPr>
                  <a:t>, to be equated with the middle coefficient of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40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Vandermonde gives </a:t>
                </a:r>
                <a:r>
                  <a:rPr lang="en-IN" sz="2400">
                    <a:solidFill>
                      <a:srgbClr val="78350F"/>
                    </a:solidFill>
                    <a:latin typeface="Cambria Math" panose="02040503050406030204" pitchFamily="18" charset="0"/>
                  </a:rPr>
                  <a:t>$\sum\binom{m}{i}\binom{40}{m-i}=\binom{40+m}{m}$</a:t>
                </a:r>
                <a:r>
                  <a:rPr sz="2400" b="0">
                    <a:solidFill>
                      <a:srgbClr val="78350F"/>
                    </a:solidFill>
                    <a:latin typeface="Arial"/>
                  </a:rPr>
                  <a:t>, to be equated with the middle coefficient of </a:t>
                </a:r>
                <a:r>
                  <a:rPr lang="en-IN" sz="2400">
                    <a:solidFill>
                      <a:srgbClr val="78350F"/>
                    </a:solidFill>
                    <a:latin typeface="Cambria Math" panose="02040503050406030204" pitchFamily="18" charset="0"/>
                  </a:rPr>
                  <a:t>$(1+x)^{40+m}$</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even, </a:t>
                </a:r>
                <a14:m>
                  <m:oMath xmlns:m="http://schemas.openxmlformats.org/officeDocument/2006/math">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is even,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oMath>
                </a14:m>
                <a:r>
                  <a:rPr sz="2400" b="0">
                    <a:solidFill>
                      <a:srgbClr val="111827"/>
                    </a:solidFill>
                    <a:latin typeface="Arial"/>
                  </a:rPr>
                  <a:t> has a single middle term and its coefficient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sSub>
                      <m:e>
                        <m:r>
                          <a:rPr lang="en-IN" sz="2400" i="1">
                            <a:solidFill>
                              <a:srgbClr val="111827"/>
                            </a:solidFill>
                            <a:latin typeface="Cambria Math" panose="02040503050406030204" pitchFamily="18" charset="0"/>
                          </a:rPr>
                          <m:t>𝐶</m:t>
                        </m:r>
                      </m:e>
                      <m:sub>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sub>
                    </m:sSub>
                  </m:oMath>
                </a14:m>
                <a:r>
                  <a:rPr sz="2400" b="0">
                    <a:solidFill>
                      <a:srgbClr val="111827"/>
                    </a:solidFill>
                    <a:latin typeface="Arial"/>
                  </a:rPr>
                  <a:t> is the greatest.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𝑚</m:t>
                        </m:r>
                      </m:sup>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ub>
                    </m:sSub>
                  </m:oMath>
                </a14:m>
                <a:r>
                  <a:rPr sz="2400" b="0">
                    <a:solidFill>
                      <a:srgbClr val="111827"/>
                    </a:solidFill>
                    <a:latin typeface="Arial"/>
                  </a:rPr>
                  <a:t>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oMath>
                </a14:m>
                <a:r>
                  <a:rPr sz="2400" b="0">
                    <a:solidFill>
                      <a:srgbClr val="111827"/>
                    </a:solidFill>
                    <a:latin typeface="Arial"/>
                  </a:rPr>
                  <a:t> (Vandermonde).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condition is therefore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𝑠</m:t>
                        </m:r>
                      </m:sub>
                    </m:sSub>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$m$</a:t>
                </a:r>
                <a:r>
                  <a:rPr sz="2400" b="0">
                    <a:solidFill>
                      <a:srgbClr val="111827"/>
                    </a:solidFill>
                    <a:latin typeface="Arial"/>
                  </a:rPr>
                  <a:t> is even, </a:t>
                </a:r>
                <a:r>
                  <a:rPr lang="en-IN" sz="2400">
                    <a:solidFill>
                      <a:srgbClr val="111827"/>
                    </a:solidFill>
                    <a:latin typeface="Cambria Math" panose="02040503050406030204" pitchFamily="18" charset="0"/>
                  </a:rPr>
                  <a:t>$40+m$</a:t>
                </a:r>
                <a:r>
                  <a:rPr sz="2400" b="0">
                    <a:solidFill>
                      <a:srgbClr val="111827"/>
                    </a:solidFill>
                    <a:latin typeface="Arial"/>
                  </a:rPr>
                  <a:t> is even, so </a:t>
                </a:r>
                <a:r>
                  <a:rPr lang="en-IN" sz="2400">
                    <a:solidFill>
                      <a:srgbClr val="111827"/>
                    </a:solidFill>
                    <a:latin typeface="Cambria Math" panose="02040503050406030204" pitchFamily="18" charset="0"/>
                  </a:rPr>
                  <a:t>$(1+x)^{40+m}$</a:t>
                </a:r>
                <a:r>
                  <a:rPr sz="2400" b="0">
                    <a:solidFill>
                      <a:srgbClr val="111827"/>
                    </a:solidFill>
                    <a:latin typeface="Arial"/>
                  </a:rPr>
                  <a:t> has a single middle term and its coefficient </a:t>
                </a:r>
                <a:r>
                  <a:rPr lang="en-IN" sz="2400">
                    <a:solidFill>
                      <a:srgbClr val="111827"/>
                    </a:solidFill>
                    <a:latin typeface="Cambria Math" panose="02040503050406030204" pitchFamily="18" charset="0"/>
                  </a:rPr>
                  <a:t>${}^{40+m}C_{\frac{40+m}{2}}={}^{40+m}C_{20+\frac m2}$</a:t>
                </a:r>
                <a:r>
                  <a:rPr sz="2400" b="0">
                    <a:solidFill>
                      <a:srgbClr val="111827"/>
                    </a:solidFill>
                    <a:latin typeface="Arial"/>
                  </a:rPr>
                  <a:t> is the greatest.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a:t>
                </a:r>
                <a:r>
                  <a:rPr lang="en-IN" sz="2400">
                    <a:solidFill>
                      <a:srgbClr val="111827"/>
                    </a:solidFill>
                    <a:latin typeface="Cambria Math" panose="02040503050406030204" pitchFamily="18" charset="0"/>
                  </a:rPr>
                  <a:t>$\sum_{i=0}^{m}{}^{m}C_i\,{}^{40}C_{m-i}$</a:t>
                </a:r>
                <a:r>
                  <a:rPr sz="2400" b="0">
                    <a:solidFill>
                      <a:srgbClr val="111827"/>
                    </a:solidFill>
                    <a:latin typeface="Arial"/>
                  </a:rPr>
                  <a:t> is the coefficient of </a:t>
                </a:r>
                <a:r>
                  <a:rPr lang="en-IN" sz="2400">
                    <a:solidFill>
                      <a:srgbClr val="111827"/>
                    </a:solidFill>
                    <a:latin typeface="Cambria Math" panose="02040503050406030204" pitchFamily="18" charset="0"/>
                  </a:rPr>
                  <a:t>$x^m$</a:t>
                </a:r>
                <a:r>
                  <a:rPr sz="2400" b="0">
                    <a:solidFill>
                      <a:srgbClr val="111827"/>
                    </a:solidFill>
                    <a:latin typeface="Arial"/>
                  </a:rPr>
                  <a:t> in </a:t>
                </a:r>
                <a:r>
                  <a:rPr lang="en-IN" sz="2400">
                    <a:solidFill>
                      <a:srgbClr val="111827"/>
                    </a:solidFill>
                    <a:latin typeface="Cambria Math" panose="02040503050406030204" pitchFamily="18" charset="0"/>
                  </a:rPr>
                  <a:t>$(1+x)^m(1+x)^{40}=(1+x)^{40+m}$</a:t>
                </a:r>
                <a:r>
                  <a:rPr sz="2400" b="0">
                    <a:solidFill>
                      <a:srgbClr val="111827"/>
                    </a:solidFill>
                    <a:latin typeface="Arial"/>
                  </a:rPr>
                  <a:t>, i.e. </a:t>
                </a:r>
                <a:r>
                  <a:rPr lang="en-IN" sz="2400">
                    <a:solidFill>
                      <a:srgbClr val="111827"/>
                    </a:solidFill>
                    <a:latin typeface="Cambria Math" panose="02040503050406030204" pitchFamily="18" charset="0"/>
                  </a:rPr>
                  <a:t>${}^{40+m}C_m$</a:t>
                </a:r>
                <a:r>
                  <a:rPr sz="2400" b="0">
                    <a:solidFill>
                      <a:srgbClr val="111827"/>
                    </a:solidFill>
                    <a:latin typeface="Arial"/>
                  </a:rPr>
                  <a:t> (Vandermonde).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condition is therefore </a:t>
                </a:r>
                <a:r>
                  <a:rPr lang="en-IN" sz="2400">
                    <a:solidFill>
                      <a:srgbClr val="111827"/>
                    </a:solidFill>
                    <a:latin typeface="Cambria Math" panose="02040503050406030204" pitchFamily="18" charset="0"/>
                  </a:rPr>
                  <a:t>${}^{40+m}C_{20+\frac m2}={}^{40+m}C_{m}$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${}^{n}C_r={}^{n}C_s$</a:t>
                </a:r>
                <a:r>
                  <a:rPr sz="2400" b="0">
                    <a:solidFill>
                      <a:srgbClr val="111827"/>
                    </a:solidFill>
                    <a:latin typeface="Arial"/>
                  </a:rPr>
                  <a:t> means </a:t>
                </a:r>
                <a:r>
                  <a:rPr lang="en-IN" sz="2400">
                    <a:solidFill>
                      <a:srgbClr val="111827"/>
                    </a:solidFill>
                    <a:latin typeface="Cambria Math" panose="02040503050406030204" pitchFamily="18" charset="0"/>
                  </a:rPr>
                  <a:t>$r=s$</a:t>
                </a:r>
                <a:r>
                  <a:rPr sz="2400" b="0">
                    <a:solidFill>
                      <a:srgbClr val="111827"/>
                    </a:solidFill>
                    <a:latin typeface="Arial"/>
                  </a:rPr>
                  <a:t> or </a:t>
                </a:r>
                <a:r>
                  <a:rPr lang="en-IN" sz="2400">
                    <a:solidFill>
                      <a:srgbClr val="111827"/>
                    </a:solidFill>
                    <a:latin typeface="Cambria Math" panose="02040503050406030204" pitchFamily="18" charset="0"/>
                  </a:rPr>
                  <a:t>$r+s=n$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again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 (and a brute-force search over even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200</m:t>
                    </m:r>
                  </m:oMath>
                </a14:m>
                <a:r>
                  <a:rPr sz="2400" b="0">
                    <a:solidFill>
                      <a:srgbClr val="111827"/>
                    </a:solidFill>
                    <a:latin typeface="Arial"/>
                  </a:rPr>
                  <a:t> finds only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$20+\frac m2=m$</a:t>
                </a:r>
                <a:r>
                  <a:rPr sz="2400" b="0">
                    <a:solidFill>
                      <a:srgbClr val="111827"/>
                    </a:solidFill>
                    <a:latin typeface="Arial"/>
                  </a:rPr>
                  <a:t>, then </a:t>
                </a:r>
                <a:r>
                  <a:rPr lang="en-IN" sz="2400">
                    <a:solidFill>
                      <a:srgbClr val="111827"/>
                    </a:solidFill>
                    <a:latin typeface="Cambria Math" panose="02040503050406030204" pitchFamily="18" charset="0"/>
                  </a:rPr>
                  <a:t>$\frac m2=20$</a:t>
                </a:r>
                <a:r>
                  <a:rPr sz="2400" b="0">
                    <a:solidFill>
                      <a:srgbClr val="111827"/>
                    </a:solidFill>
                    <a:latin typeface="Arial"/>
                  </a:rPr>
                  <a:t>, so </a:t>
                </a:r>
                <a:r>
                  <a:rPr lang="en-IN" sz="2400">
                    <a:solidFill>
                      <a:srgbClr val="111827"/>
                    </a:solidFill>
                    <a:latin typeface="Cambria Math" panose="02040503050406030204" pitchFamily="18" charset="0"/>
                  </a:rPr>
                  <a:t>$m=40$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$20+\frac m2+m=40+m$</a:t>
                </a:r>
                <a:r>
                  <a:rPr sz="2400" b="0">
                    <a:solidFill>
                      <a:srgbClr val="111827"/>
                    </a:solidFill>
                    <a:latin typeface="Arial"/>
                  </a:rPr>
                  <a:t>, then </a:t>
                </a:r>
                <a:r>
                  <a:rPr lang="en-IN" sz="2400">
                    <a:solidFill>
                      <a:srgbClr val="111827"/>
                    </a:solidFill>
                    <a:latin typeface="Cambria Math" panose="02040503050406030204" pitchFamily="18" charset="0"/>
                  </a:rPr>
                  <a:t>$\frac m2=20$</a:t>
                </a:r>
                <a:r>
                  <a:rPr sz="2400" b="0">
                    <a:solidFill>
                      <a:srgbClr val="111827"/>
                    </a:solidFill>
                    <a:latin typeface="Arial"/>
                  </a:rPr>
                  <a:t>, again </a:t>
                </a:r>
                <a:r>
                  <a:rPr lang="en-IN" sz="2400">
                    <a:solidFill>
                      <a:srgbClr val="111827"/>
                    </a:solidFill>
                    <a:latin typeface="Cambria Math" panose="02040503050406030204" pitchFamily="18" charset="0"/>
                  </a:rPr>
                  <a:t>$m=40$</a:t>
                </a:r>
                <a:r>
                  <a:rPr sz="2400" b="0">
                    <a:solidFill>
                      <a:srgbClr val="111827"/>
                    </a:solidFill>
                    <a:latin typeface="Arial"/>
                  </a:rPr>
                  <a:t> (and a brute-force search over even </a:t>
                </a:r>
                <a:r>
                  <a:rPr lang="en-IN" sz="2400">
                    <a:solidFill>
                      <a:srgbClr val="111827"/>
                    </a:solidFill>
                    <a:latin typeface="Cambria Math" panose="02040503050406030204" pitchFamily="18" charset="0"/>
                  </a:rPr>
                  <a:t>$m&lt;200$</a:t>
                </a:r>
                <a:r>
                  <a:rPr sz="2400" b="0">
                    <a:solidFill>
                      <a:srgbClr val="111827"/>
                    </a:solidFill>
                    <a:latin typeface="Arial"/>
                  </a:rPr>
                  <a:t> finds only </a:t>
                </a:r>
                <a:r>
                  <a:rPr lang="en-IN" sz="2400">
                    <a:solidFill>
                      <a:srgbClr val="111827"/>
                    </a:solidFill>
                    <a:latin typeface="Cambria Math" panose="02040503050406030204" pitchFamily="18" charset="0"/>
                  </a:rPr>
                  <a:t>$m=40$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$m=40$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40</a:t>
            </a:r>
            <a:endParaRPr sz="2800">
              <a:solidFill>
                <a:srgbClr val="15803D"/>
              </a:solidFill>
            </a:endParaRP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ratio test for the unimodal sequence </a:t>
                </a:r>
                <a14:m>
                  <m:oMath xmlns:m="http://schemas.openxmlformats.org/officeDocument/2006/math">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oMath>
                </a14:m>
                <a:r>
                  <a:rPr sz="2400" b="0">
                    <a:solidFill>
                      <a:srgbClr val="78350F"/>
                    </a:solidFill>
                    <a:latin typeface="Arial"/>
                  </a:rPr>
                  <a:t> instead of mirror symmetry: </a:t>
                </a:r>
                <a14:m>
                  <m:oMath xmlns:m="http://schemas.openxmlformats.org/officeDocument/2006/math">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40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𝑚</m:t>
                        </m:r>
                      </m:sub>
                    </m:sSub>
                  </m:oMath>
                </a14:m>
                <a:r>
                  <a:rPr sz="2400" b="0">
                    <a:solidFill>
                      <a:srgbClr val="78350F"/>
                    </a:solidFill>
                    <a:latin typeface="Arial"/>
                  </a:rPr>
                  <a:t> must not be smaller than either neighbour.</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ratio test for the unimodal sequence </a:t>
                </a:r>
                <a:r>
                  <a:rPr lang="en-IN" sz="2400">
                    <a:solidFill>
                      <a:srgbClr val="78350F"/>
                    </a:solidFill>
                    <a:latin typeface="Cambria Math" panose="02040503050406030204" pitchFamily="18" charset="0"/>
                  </a:rPr>
                  <a:t>${}^{n}C_r$</a:t>
                </a:r>
                <a:r>
                  <a:rPr sz="2400" b="0">
                    <a:solidFill>
                      <a:srgbClr val="78350F"/>
                    </a:solidFill>
                    <a:latin typeface="Arial"/>
                  </a:rPr>
                  <a:t> instead of mirror symmetry: </a:t>
                </a:r>
                <a:r>
                  <a:rPr lang="en-IN" sz="2400">
                    <a:solidFill>
                      <a:srgbClr val="78350F"/>
                    </a:solidFill>
                    <a:latin typeface="Cambria Math" panose="02040503050406030204" pitchFamily="18" charset="0"/>
                  </a:rPr>
                  <a:t>${}^{40+m}C_m$</a:t>
                </a:r>
                <a:r>
                  <a:rPr sz="2400" b="0">
                    <a:solidFill>
                      <a:srgbClr val="78350F"/>
                    </a:solidFill>
                    <a:latin typeface="Arial"/>
                  </a:rPr>
                  <a:t> must not be smaller than either neighbour.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in the primary solution, the sum equals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(Vandermonde), and it must be the greatest coefficient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greatest coefficient needs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m:t>
                        </m:r>
                      </m:num>
                      <m:den>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first condition gives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in the primary solution, the sum equals </a:t>
                </a:r>
                <a:r>
                  <a:rPr lang="en-IN" sz="2400">
                    <a:solidFill>
                      <a:srgbClr val="111827"/>
                    </a:solidFill>
                    <a:latin typeface="Cambria Math" panose="02040503050406030204" pitchFamily="18" charset="0"/>
                  </a:rPr>
                  <a:t>${}^{n}C_m$</a:t>
                </a:r>
                <a:r>
                  <a:rPr sz="2400" b="0">
                    <a:solidFill>
                      <a:srgbClr val="111827"/>
                    </a:solidFill>
                    <a:latin typeface="Arial"/>
                  </a:rPr>
                  <a:t> with </a:t>
                </a:r>
                <a:r>
                  <a:rPr lang="en-IN" sz="2400">
                    <a:solidFill>
                      <a:srgbClr val="111827"/>
                    </a:solidFill>
                    <a:latin typeface="Cambria Math" panose="02040503050406030204" pitchFamily="18" charset="0"/>
                  </a:rPr>
                  <a:t>$n=40+m$</a:t>
                </a:r>
                <a:r>
                  <a:rPr sz="2400" b="0">
                    <a:solidFill>
                      <a:srgbClr val="111827"/>
                    </a:solidFill>
                    <a:latin typeface="Arial"/>
                  </a:rPr>
                  <a:t> (Vandermonde), and it must be the greatest coefficient of </a:t>
                </a:r>
                <a:r>
                  <a:rPr lang="en-IN" sz="2400">
                    <a:solidFill>
                      <a:srgbClr val="111827"/>
                    </a:solidFill>
                    <a:latin typeface="Cambria Math" panose="02040503050406030204" pitchFamily="18" charset="0"/>
                  </a:rPr>
                  <a:t>$(1+x)^n$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greatest coefficient needs </a:t>
                </a:r>
                <a:r>
                  <a:rPr lang="en-IN" sz="2400">
                    <a:solidFill>
                      <a:srgbClr val="111827"/>
                    </a:solidFill>
                    <a:latin typeface="Cambria Math" panose="02040503050406030204" pitchFamily="18" charset="0"/>
                  </a:rPr>
                  <a:t>${}^{n}C_m\ge{}^{n}C_{m-1}$</a:t>
                </a:r>
                <a:r>
                  <a:rPr sz="2400" b="0">
                    <a:solidFill>
                      <a:srgbClr val="111827"/>
                    </a:solidFill>
                    <a:latin typeface="Arial"/>
                  </a:rPr>
                  <a:t> and </a:t>
                </a:r>
                <a:r>
                  <a:rPr lang="en-IN" sz="2400">
                    <a:solidFill>
                      <a:srgbClr val="111827"/>
                    </a:solidFill>
                    <a:latin typeface="Cambria Math" panose="02040503050406030204" pitchFamily="18" charset="0"/>
                  </a:rPr>
                  <a:t>${}^{n}C_m\ge{}^{n}C_{m+1}$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$\frac{{}^{n}C_m}{{}^{n}C_{m-1}}=\frac{n-m+1}{m}=\frac{41}{m}\ge1$</a:t>
                </a:r>
                <a:r>
                  <a:rPr sz="2400" b="0">
                    <a:solidFill>
                      <a:srgbClr val="111827"/>
                    </a:solidFill>
                    <a:latin typeface="Arial"/>
                  </a:rPr>
                  <a:t>, the first condition gives </a:t>
                </a:r>
                <a:r>
                  <a:rPr lang="en-IN" sz="2400">
                    <a:solidFill>
                      <a:srgbClr val="111827"/>
                    </a:solidFill>
                    <a:latin typeface="Cambria Math" panose="02040503050406030204" pitchFamily="18" charset="0"/>
                  </a:rPr>
                  <a:t>$m\le41$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second condition gives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even,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 (check: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80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40</m:t>
                        </m:r>
                      </m:sub>
                    </m:sSub>
                  </m:oMath>
                </a14:m>
                <a:r>
                  <a:rPr sz="2400" b="0">
                    <a:solidFill>
                      <a:srgbClr val="111827"/>
                    </a:solidFill>
                    <a:latin typeface="Arial"/>
                  </a:rPr>
                  <a:t> is the middle coefficient).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$\frac{{}^{n}C_{m+1}}{{}^{n}C_m}=\frac{n-m}{m+1}=\frac{40}{m+1}\le1$</a:t>
                </a:r>
                <a:r>
                  <a:rPr sz="2400" b="0">
                    <a:solidFill>
                      <a:srgbClr val="111827"/>
                    </a:solidFill>
                    <a:latin typeface="Arial"/>
                  </a:rPr>
                  <a:t>, the second condition gives </a:t>
                </a:r>
                <a:r>
                  <a:rPr lang="en-IN" sz="2400">
                    <a:solidFill>
                      <a:srgbClr val="111827"/>
                    </a:solidFill>
                    <a:latin typeface="Cambria Math" panose="02040503050406030204" pitchFamily="18" charset="0"/>
                  </a:rPr>
                  <a:t>$m\ge39$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$m\in\{39,40,41\}$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$m$</a:t>
                </a:r>
                <a:r>
                  <a:rPr sz="2400" b="0">
                    <a:solidFill>
                      <a:srgbClr val="111827"/>
                    </a:solidFill>
                    <a:latin typeface="Arial"/>
                  </a:rPr>
                  <a:t> is even, </a:t>
                </a:r>
                <a:r>
                  <a:rPr lang="en-IN" sz="2400">
                    <a:solidFill>
                      <a:srgbClr val="111827"/>
                    </a:solidFill>
                    <a:latin typeface="Cambria Math" panose="02040503050406030204" pitchFamily="18" charset="0"/>
                  </a:rPr>
                  <a:t>$m=40$</a:t>
                </a:r>
                <a:r>
                  <a:rPr sz="2400" b="0">
                    <a:solidFill>
                      <a:srgbClr val="111827"/>
                    </a:solidFill>
                    <a:latin typeface="Arial"/>
                  </a:rPr>
                  <a:t> (check: </a:t>
                </a:r>
                <a:r>
                  <a:rPr lang="en-IN" sz="2400">
                    <a:solidFill>
                      <a:srgbClr val="111827"/>
                    </a:solidFill>
                    <a:latin typeface="Cambria Math" panose="02040503050406030204" pitchFamily="18" charset="0"/>
                  </a:rPr>
                  <a:t>$n=80$</a:t>
                </a:r>
                <a:r>
                  <a:rPr sz="2400" b="0">
                    <a:solidFill>
                      <a:srgbClr val="111827"/>
                    </a:solidFill>
                    <a:latin typeface="Arial"/>
                  </a:rPr>
                  <a:t> and </a:t>
                </a:r>
                <a:r>
                  <a:rPr lang="en-IN" sz="2400">
                    <a:solidFill>
                      <a:srgbClr val="111827"/>
                    </a:solidFill>
                    <a:latin typeface="Cambria Math" panose="02040503050406030204" pitchFamily="18" charset="0"/>
                  </a:rPr>
                  <a:t>${}^{80}C_{40}$</a:t>
                </a:r>
                <a:r>
                  <a:rPr sz="2400" b="0">
                    <a:solidFill>
                      <a:srgbClr val="111827"/>
                    </a:solidFill>
                    <a:latin typeface="Arial"/>
                  </a:rPr>
                  <a:t> is the middle coefficient).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40</a:t>
            </a:r>
            <a:endParaRPr sz="2800">
              <a:solidFill>
                <a:srgbClr val="15803D"/>
              </a:solidFill>
            </a:endParaRP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Vandermonde's identity: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𝑖</m:t>
                                </m:r>
                              </m:den>
                            </m:f>
                          </m:e>
                        </m:d>
                      </m:e>
                    </m:nary>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oMath>
                </a14:m>
                <a:r>
                  <a:rPr sz="2400" b="0">
                    <a:solidFill>
                      <a:srgbClr val="111827"/>
                    </a:solidFill>
                    <a:latin typeface="Arial"/>
                  </a:rPr>
                  <a:t> (compare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Greatest binomial coefficient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oMath>
                </a14:m>
                <a:r>
                  <a:rPr sz="2400" b="0">
                    <a:solidFill>
                      <a:srgbClr val="111827"/>
                    </a:solidFill>
                    <a:latin typeface="Arial"/>
                  </a:rPr>
                  <a:t> for odd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𝑠</m:t>
                            </m:r>
                          </m:den>
                        </m:f>
                      </m:e>
                    </m:d>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Special case </a:t>
                </a:r>
                <a14:m>
                  <m:oMath xmlns:m="http://schemas.openxmlformats.org/officeDocument/2006/math">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𝑖</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den>
                        </m:f>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Vandermonde's identity: </a:t>
                </a:r>
                <a:r>
                  <a:rPr lang="en-IN" sz="2400">
                    <a:solidFill>
                      <a:srgbClr val="111827"/>
                    </a:solidFill>
                    <a:latin typeface="Cambria Math" panose="02040503050406030204" pitchFamily="18" charset="0"/>
                  </a:rPr>
                  <a:t>$\sum_{i}\binom{m}{i}\binom{n}{k-i}=\binom{m+n}{k}$</a:t>
                </a:r>
                <a:r>
                  <a:rPr sz="2400" b="0">
                    <a:solidFill>
                      <a:srgbClr val="111827"/>
                    </a:solidFill>
                    <a:latin typeface="Arial"/>
                  </a:rPr>
                  <a:t> (compare the coefficient of </a:t>
                </a:r>
                <a:r>
                  <a:rPr lang="en-IN" sz="2400">
                    <a:solidFill>
                      <a:srgbClr val="111827"/>
                    </a:solidFill>
                    <a:latin typeface="Cambria Math" panose="02040503050406030204" pitchFamily="18" charset="0"/>
                  </a:rPr>
                  <a:t>$x^k$</a:t>
                </a:r>
                <a:r>
                  <a:rPr sz="2400" b="0">
                    <a:solidFill>
                      <a:srgbClr val="111827"/>
                    </a:solidFill>
                    <a:latin typeface="Arial"/>
                  </a:rPr>
                  <a:t> in </a:t>
                </a:r>
                <a:r>
                  <a:rPr lang="en-IN" sz="2400">
                    <a:solidFill>
                      <a:srgbClr val="111827"/>
                    </a:solidFill>
                    <a:latin typeface="Cambria Math" panose="02040503050406030204" pitchFamily="18" charset="0"/>
                  </a:rPr>
                  <a:t>$(1+x)^m(1+x)^n$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Greatest binomial coefficient of </a:t>
                </a:r>
                <a:r>
                  <a:rPr lang="en-IN" sz="2400">
                    <a:solidFill>
                      <a:srgbClr val="111827"/>
                    </a:solidFill>
                    <a:latin typeface="Cambria Math" panose="02040503050406030204" pitchFamily="18" charset="0"/>
                  </a:rPr>
                  <a:t>$(1+x)^N$</a:t>
                </a:r>
                <a:r>
                  <a:rPr sz="2400" b="0">
                    <a:solidFill>
                      <a:srgbClr val="111827"/>
                    </a:solidFill>
                    <a:latin typeface="Arial"/>
                  </a:rPr>
                  <a:t>: </a:t>
                </a:r>
                <a:r>
                  <a:rPr lang="en-IN" sz="2400">
                    <a:solidFill>
                      <a:srgbClr val="111827"/>
                    </a:solidFill>
                    <a:latin typeface="Cambria Math" panose="02040503050406030204" pitchFamily="18" charset="0"/>
                  </a:rPr>
                  <a:t>$\binom{N}{N/2}$</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$\binom{N}{(N-1)/2}=\binom{N}{(N+1)/2}$</a:t>
                </a:r>
                <a:r>
                  <a:rPr sz="2400" b="0">
                    <a:solidFill>
                      <a:srgbClr val="111827"/>
                    </a:solidFill>
                    <a:latin typeface="Arial"/>
                  </a:rPr>
                  <a:t> for odd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$\binom{n}{r}=\binom{n}{s}$</a:t>
                </a:r>
                <a:r>
                  <a:rPr sz="2400" b="0">
                    <a:solidFill>
                      <a:srgbClr val="111827"/>
                    </a:solidFill>
                    <a:latin typeface="Arial"/>
                  </a:rPr>
                  <a:t> iff </a:t>
                </a:r>
                <a:r>
                  <a:rPr lang="en-IN" sz="2400">
                    <a:solidFill>
                      <a:srgbClr val="111827"/>
                    </a:solidFill>
                    <a:latin typeface="Cambria Math" panose="02040503050406030204" pitchFamily="18" charset="0"/>
                  </a:rPr>
                  <a:t>$r=s$</a:t>
                </a:r>
                <a:r>
                  <a:rPr sz="2400" b="0">
                    <a:solidFill>
                      <a:srgbClr val="111827"/>
                    </a:solidFill>
                    <a:latin typeface="Arial"/>
                  </a:rPr>
                  <a:t> or </a:t>
                </a:r>
                <a:r>
                  <a:rPr lang="en-IN" sz="2400">
                    <a:solidFill>
                      <a:srgbClr val="111827"/>
                    </a:solidFill>
                    <a:latin typeface="Cambria Math" panose="02040503050406030204" pitchFamily="18" charset="0"/>
                  </a:rPr>
                  <a:t>$r+s=n$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Special case </a:t>
                </a:r>
                <a:r>
                  <a:rPr lang="en-IN" sz="2400">
                    <a:solidFill>
                      <a:srgbClr val="111827"/>
                    </a:solidFill>
                    <a:latin typeface="Cambria Math" panose="02040503050406030204" pitchFamily="18" charset="0"/>
                  </a:rPr>
                  <a:t>$\sum\binom{n}{i}^2=\binom{2n}{n}$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Remainder when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636</m:t>
                        </m:r>
                      </m:sup>
                    </m:sSup>
                  </m:oMath>
                </a14:m>
                <a:r>
                  <a:rPr sz="2400" b="0">
                    <a:solidFill>
                      <a:srgbClr val="111827"/>
                    </a:solidFill>
                    <a:latin typeface="Arial"/>
                  </a:rPr>
                  <a:t> is divided by </a:t>
                </a:r>
                <a14:m>
                  <m:oMath xmlns:m="http://schemas.openxmlformats.org/officeDocument/2006/math">
                    <m:r>
                      <a:rPr lang="en-IN" sz="2400" i="1">
                        <a:solidFill>
                          <a:srgbClr val="111827"/>
                        </a:solidFill>
                        <a:latin typeface="Cambria Math" panose="02040503050406030204" pitchFamily="18" charset="0"/>
                      </a:rPr>
                      <m:t>19</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13</m:t>
                    </m:r>
                  </m:oMath>
                </a14:m>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Remainder when </a:t>
                </a:r>
                <a:r>
                  <a:rPr lang="en-IN" sz="2400">
                    <a:solidFill>
                      <a:srgbClr val="111827"/>
                    </a:solidFill>
                    <a:latin typeface="Cambria Math" panose="02040503050406030204" pitchFamily="18" charset="0"/>
                  </a:rPr>
                  <a:t>$7^{636}$</a:t>
                </a:r>
                <a:r>
                  <a:rPr sz="2400" b="0">
                    <a:solidFill>
                      <a:srgbClr val="111827"/>
                    </a:solidFill>
                    <a:latin typeface="Arial"/>
                  </a:rPr>
                  <a:t> is divided by </a:t>
                </a:r>
                <a:r>
                  <a:rPr lang="en-IN" sz="2400">
                    <a:solidFill>
                      <a:srgbClr val="111827"/>
                    </a:solidFill>
                    <a:latin typeface="Cambria Math" panose="02040503050406030204" pitchFamily="18" charset="0"/>
                  </a:rPr>
                  <a:t>$19$</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$7$</a:t>
                </a:r>
                <a:r>
                  <a:rPr sz="2400" b="0">
                    <a:solidFill>
                      <a:srgbClr val="111827"/>
                    </a:solidFill>
                    <a:latin typeface="Arial"/>
                  </a:rPr>
                  <a:t>   (C) </a:t>
                </a:r>
                <a:r>
                  <a:rPr lang="en-IN" sz="2400">
                    <a:solidFill>
                      <a:srgbClr val="111827"/>
                    </a:solidFill>
                    <a:latin typeface="Cambria Math" panose="02040503050406030204" pitchFamily="18" charset="0"/>
                  </a:rPr>
                  <a:t>$12$</a:t>
                </a:r>
                <a:r>
                  <a:rPr sz="2400" b="0">
                    <a:solidFill>
                      <a:srgbClr val="111827"/>
                    </a:solidFill>
                    <a:latin typeface="Arial"/>
                  </a:rPr>
                  <a:t>   (D) </a:t>
                </a:r>
                <a:r>
                  <a:rPr lang="en-IN" sz="2400">
                    <a:solidFill>
                      <a:srgbClr val="111827"/>
                    </a:solidFill>
                    <a:latin typeface="Cambria Math" panose="02040503050406030204" pitchFamily="18" charset="0"/>
                  </a:rPr>
                  <a:t>$13$</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Remainder using the binomial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Since </a:t>
                </a:r>
                <a14:m>
                  <m:oMath xmlns:m="http://schemas.openxmlformats.org/officeDocument/2006/math">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343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19</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18</m:t>
                    </m:r>
                  </m:oMath>
                </a14:m>
                <a:r>
                  <a:rPr sz="2400" b="0">
                    <a:solidFill>
                      <a:srgbClr val="78350F"/>
                    </a:solidFill>
                    <a:latin typeface="Arial"/>
                  </a:rPr>
                  <a:t>, write </a:t>
                </a:r>
                <a14:m>
                  <m:oMath xmlns:m="http://schemas.openxmlformats.org/officeDocument/2006/math">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636</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3</m:t>
                        </m:r>
                      </m:sup>
                    </m:sSup>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212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19</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18</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212</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Since </a:t>
                </a:r>
                <a:r>
                  <a:rPr lang="en-IN" sz="2400">
                    <a:solidFill>
                      <a:srgbClr val="78350F"/>
                    </a:solidFill>
                    <a:latin typeface="Cambria Math" panose="02040503050406030204" pitchFamily="18" charset="0"/>
                  </a:rPr>
                  <a:t>$7^3=343=1+19\cdot18$</a:t>
                </a:r>
                <a:r>
                  <a:rPr sz="2400" b="0">
                    <a:solidFill>
                      <a:srgbClr val="78350F"/>
                    </a:solidFill>
                    <a:latin typeface="Arial"/>
                  </a:rPr>
                  <a:t>, write </a:t>
                </a:r>
                <a:r>
                  <a:rPr lang="en-IN" sz="2400">
                    <a:solidFill>
                      <a:srgbClr val="78350F"/>
                    </a:solidFill>
                    <a:latin typeface="Cambria Math" panose="02040503050406030204" pitchFamily="18" charset="0"/>
                  </a:rPr>
                  <a:t>$7^{636}=(7^3)^{212}=(1+19\cdot18)^{212}$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Note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636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636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3</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636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term after the first contains a factor </a:t>
                </a:r>
                <a14:m>
                  <m:oMath xmlns:m="http://schemas.openxmlformats.org/officeDocument/2006/math">
                    <m:r>
                      <a:rPr lang="en-IN" sz="2400" i="1">
                        <a:solidFill>
                          <a:srgbClr val="111827"/>
                        </a:solidFill>
                        <a:latin typeface="Cambria Math" panose="02040503050406030204" pitchFamily="18" charset="0"/>
                      </a:rPr>
                      <m:t>19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636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a:rPr lang="en-IN" sz="2400" i="1">
                        <a:solidFill>
                          <a:srgbClr val="111827"/>
                        </a:solidFill>
                        <a:latin typeface="Cambria Math" panose="02040503050406030204" pitchFamily="18" charset="0"/>
                      </a:rPr>
                      <m:t>𝑘</m:t>
                    </m:r>
                  </m:oMath>
                </a14:m>
                <a:r>
                  <a:rPr sz="2400" b="0">
                    <a:solidFill>
                      <a:srgbClr val="111827"/>
                    </a:solidFill>
                    <a:latin typeface="Arial"/>
                  </a:rPr>
                  <a:t> for an integer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and the remainder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Note </a:t>
                </a:r>
                <a:r>
                  <a:rPr lang="en-IN" sz="2400">
                    <a:solidFill>
                      <a:srgbClr val="111827"/>
                    </a:solidFill>
                    <a:latin typeface="Cambria Math" panose="02040503050406030204" pitchFamily="18" charset="0"/>
                  </a:rPr>
                  <a:t>$7^3=343=342+1=1+19\times18$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$636=3\times212$</a:t>
                </a:r>
                <a:r>
                  <a:rPr sz="2400" b="0">
                    <a:solidFill>
                      <a:srgbClr val="111827"/>
                    </a:solidFill>
                    <a:latin typeface="Arial"/>
                  </a:rPr>
                  <a:t>, </a:t>
                </a:r>
                <a:r>
                  <a:rPr lang="en-IN" sz="2400">
                    <a:solidFill>
                      <a:srgbClr val="111827"/>
                    </a:solidFill>
                    <a:latin typeface="Cambria Math" panose="02040503050406030204" pitchFamily="18" charset="0"/>
                  </a:rPr>
                  <a:t>$7^{636}=(7^3)^{212}=(343)^{212}$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$7^{636}=(1+19\times18)^{212}$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r>
                  <a:rPr lang="en-IN" sz="2400">
                    <a:solidFill>
                      <a:srgbClr val="111827"/>
                    </a:solidFill>
                    <a:latin typeface="Cambria Math" panose="02040503050406030204" pitchFamily="18" charset="0"/>
                  </a:rPr>
                  <a:t>$(1+19\times18)^{212}=1+{}^{212}C_1(19\times18)+{}^{212}C_2(19\times18)^2+\dots$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term after the first contains a factor </a:t>
                </a:r>
                <a:r>
                  <a:rPr lang="en-IN" sz="2400">
                    <a:solidFill>
                      <a:srgbClr val="111827"/>
                    </a:solidFill>
                    <a:latin typeface="Cambria Math" panose="02040503050406030204" pitchFamily="18" charset="0"/>
                  </a:rPr>
                  <a:t>$19$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$7^{636}=1+19k$</a:t>
                </a:r>
                <a:r>
                  <a:rPr sz="2400" b="0">
                    <a:solidFill>
                      <a:srgbClr val="111827"/>
                    </a:solidFill>
                    <a:latin typeface="Arial"/>
                  </a:rPr>
                  <a:t> for an integer </a:t>
                </a:r>
                <a:r>
                  <a:rPr lang="en-IN" sz="2400">
                    <a:solidFill>
                      <a:srgbClr val="111827"/>
                    </a:solidFill>
                    <a:latin typeface="Cambria Math" panose="02040503050406030204" pitchFamily="18" charset="0"/>
                  </a:rPr>
                  <a:t>$k$</a:t>
                </a:r>
                <a:r>
                  <a:rPr sz="2400" b="0">
                    <a:solidFill>
                      <a:srgbClr val="111827"/>
                    </a:solidFill>
                    <a:latin typeface="Arial"/>
                  </a:rPr>
                  <a:t>, and the remainder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1</a:t>
            </a:r>
            <a:endParaRPr sz="2800">
              <a:solidFill>
                <a:srgbClr val="15803D"/>
              </a:solidFill>
            </a:endParaRP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Fermat's little theorem: </a:t>
                </a:r>
                <a14:m>
                  <m:oMath xmlns:m="http://schemas.openxmlformats.org/officeDocument/2006/math">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18</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mod</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19</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73761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Fermat's little theorem: </a:t>
                </a:r>
                <a:r>
                  <a:rPr lang="en-IN" sz="2400">
                    <a:solidFill>
                      <a:srgbClr val="78350F"/>
                    </a:solidFill>
                    <a:latin typeface="Cambria Math" panose="02040503050406030204" pitchFamily="18" charset="0"/>
                  </a:rPr>
                  <a:t>$7^{18}\equiv1\pmod{19}$</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154936"/>
                <a:ext cx="10725912" cy="36332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19</m:t>
                    </m:r>
                  </m:oMath>
                </a14:m>
                <a:r>
                  <a:rPr sz="2400" b="0">
                    <a:solidFill>
                      <a:srgbClr val="111827"/>
                    </a:solidFill>
                    <a:latin typeface="Arial"/>
                  </a:rPr>
                  <a:t> is prime and </a:t>
                </a:r>
                <a14:m>
                  <m:oMath xmlns:m="http://schemas.openxmlformats.org/officeDocument/2006/math">
                    <m:r>
                      <m:rPr>
                        <m:sty m:val="p"/>
                      </m:rPr>
                      <a:rPr lang="en-IN" sz="2400">
                        <a:solidFill>
                          <a:srgbClr val="111827"/>
                        </a:solidFill>
                        <a:latin typeface="Cambria Math" panose="02040503050406030204" pitchFamily="18" charset="0"/>
                      </a:rPr>
                      <m:t>gcd</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18</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636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636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18</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m:t>
                        </m:r>
                      </m:sup>
                    </m:sSup>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3</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remainder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(confirmed by modular exponentiation).</a:t>
                </a:r>
                <a:endParaRPr sz="2400">
                  <a:solidFill>
                    <a:srgbClr val="111827"/>
                  </a:solidFill>
                </a:endParaRPr>
              </a:p>
            </p:txBody>
          </p:sp>
        </mc:Choice>
        <mc:Fallback>
          <p:sp>
            <p:nvSpPr>
              <p:cNvPr id="6" name="Rectangle 5"/>
              <p:cNvSpPr/>
              <p:nvPr/>
            </p:nvSpPr>
            <p:spPr>
              <a:xfrm>
                <a:off x="731520" y="2154936"/>
                <a:ext cx="10725912" cy="36332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$19$</a:t>
                </a:r>
                <a:r>
                  <a:rPr sz="2400" b="0">
                    <a:solidFill>
                      <a:srgbClr val="111827"/>
                    </a:solidFill>
                    <a:latin typeface="Arial"/>
                  </a:rPr>
                  <a:t> is prime and </a:t>
                </a:r>
                <a:r>
                  <a:rPr lang="en-IN" sz="2400">
                    <a:solidFill>
                      <a:srgbClr val="111827"/>
                    </a:solidFill>
                    <a:latin typeface="Cambria Math" panose="02040503050406030204" pitchFamily="18" charset="0"/>
                  </a:rPr>
                  <a:t>$\gcd(7,19)=1$</a:t>
                </a:r>
                <a:r>
                  <a:rPr sz="2400" b="0">
                    <a:solidFill>
                      <a:srgbClr val="111827"/>
                    </a:solidFill>
                    <a:latin typeface="Arial"/>
                  </a:rPr>
                  <a:t>, so </a:t>
                </a:r>
                <a:r>
                  <a:rPr lang="en-IN" sz="2400">
                    <a:solidFill>
                      <a:srgbClr val="111827"/>
                    </a:solidFill>
                    <a:latin typeface="Cambria Math" panose="02040503050406030204" pitchFamily="18" charset="0"/>
                  </a:rPr>
                  <a:t>$7^{18}\equiv1\pmod{19}$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$636=18\cdot35+6$</a:t>
                </a:r>
                <a:r>
                  <a:rPr sz="2400" b="0">
                    <a:solidFill>
                      <a:srgbClr val="111827"/>
                    </a:solidFill>
                    <a:latin typeface="Arial"/>
                  </a:rPr>
                  <a:t>, so </a:t>
                </a:r>
                <a:r>
                  <a:rPr lang="en-IN" sz="2400">
                    <a:solidFill>
                      <a:srgbClr val="111827"/>
                    </a:solidFill>
                    <a:latin typeface="Cambria Math" panose="02040503050406030204" pitchFamily="18" charset="0"/>
                  </a:rPr>
                  <a:t>$7^{636}\equiv(7^{18})^{35}\cdot7^6\equiv7^6\pmod{19}$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$7^3=343=19\cdot18+1\equiv1$</a:t>
                </a:r>
                <a:r>
                  <a:rPr sz="2400" b="0">
                    <a:solidFill>
                      <a:srgbClr val="111827"/>
                    </a:solidFill>
                    <a:latin typeface="Arial"/>
                  </a:rPr>
                  <a:t>, so </a:t>
                </a:r>
                <a:r>
                  <a:rPr lang="en-IN" sz="2400">
                    <a:solidFill>
                      <a:srgbClr val="111827"/>
                    </a:solidFill>
                    <a:latin typeface="Cambria Math" panose="02040503050406030204" pitchFamily="18" charset="0"/>
                  </a:rPr>
                  <a:t>$7^6=(7^3)^2\equiv1$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remainder is </a:t>
                </a:r>
                <a:r>
                  <a:rPr lang="en-IN" sz="2400">
                    <a:solidFill>
                      <a:srgbClr val="111827"/>
                    </a:solidFill>
                    <a:latin typeface="Cambria Math" panose="02040503050406030204" pitchFamily="18" charset="0"/>
                  </a:rPr>
                  <a:t>$1$</a:t>
                </a:r>
                <a:r>
                  <a:rPr sz="2400" b="0">
                    <a:solidFill>
                      <a:srgbClr val="111827"/>
                    </a:solidFill>
                    <a:latin typeface="Arial"/>
                  </a:rPr>
                  <a:t> (confirmed by modular exponentiation).</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1</a:t>
            </a:r>
            <a:endParaRPr sz="2800">
              <a:solidFill>
                <a:srgbClr val="15803D"/>
              </a:solidFill>
            </a:endParaRP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 find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𝑛</m:t>
                        </m:r>
                      </m:sup>
                    </m:sSup>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oMath>
                </a14:m>
                <a:r>
                  <a:rPr sz="2400" b="0">
                    <a:solidFill>
                      <a:srgbClr val="111827"/>
                    </a:solidFill>
                    <a:latin typeface="Arial"/>
                  </a:rPr>
                  <a:t>, look for a small power of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equal to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𝑚</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𝑚</m:t>
                    </m:r>
                  </m:oMath>
                </a14:m>
                <a:r>
                  <a:rPr sz="2400" b="0">
                    <a:solidFill>
                      <a:srgbClr val="111827"/>
                    </a:solidFill>
                    <a:latin typeface="Arial"/>
                  </a:rPr>
                  <a:t>) and then use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𝑚</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𝑞</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Fermat: for prime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the order of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modulo </a:t>
                </a:r>
                <a14:m>
                  <m:oMath xmlns:m="http://schemas.openxmlformats.org/officeDocument/2006/math">
                    <m:r>
                      <a:rPr lang="en-IN" sz="2400" i="1">
                        <a:solidFill>
                          <a:srgbClr val="111827"/>
                        </a:solidFill>
                        <a:latin typeface="Cambria Math" panose="02040503050406030204" pitchFamily="18" charset="0"/>
                      </a:rPr>
                      <m:t>19</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 divisor of </a:t>
                </a:r>
                <a14:m>
                  <m:oMath xmlns:m="http://schemas.openxmlformats.org/officeDocument/2006/math">
                    <m:r>
                      <a:rPr lang="en-IN" sz="2400" i="1">
                        <a:solidFill>
                          <a:srgbClr val="111827"/>
                        </a:solidFill>
                        <a:latin typeface="Cambria Math" panose="02040503050406030204" pitchFamily="18" charset="0"/>
                      </a:rPr>
                      <m:t>18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same idea gives remainder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odd multiples of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in the exponent.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 find </a:t>
                </a:r>
                <a:r>
                  <a:rPr lang="en-IN" sz="2400">
                    <a:solidFill>
                      <a:srgbClr val="111827"/>
                    </a:solidFill>
                    <a:latin typeface="Cambria Math" panose="02040503050406030204" pitchFamily="18" charset="0"/>
                  </a:rPr>
                  <a:t>$a^n \bmod m$</a:t>
                </a:r>
                <a:r>
                  <a:rPr sz="2400" b="0">
                    <a:solidFill>
                      <a:srgbClr val="111827"/>
                    </a:solidFill>
                    <a:latin typeface="Arial"/>
                  </a:rPr>
                  <a:t>, look for a small power of </a:t>
                </a:r>
                <a:r>
                  <a:rPr lang="en-IN" sz="2400">
                    <a:solidFill>
                      <a:srgbClr val="111827"/>
                    </a:solidFill>
                    <a:latin typeface="Cambria Math" panose="02040503050406030204" pitchFamily="18" charset="0"/>
                  </a:rPr>
                  <a:t>$a$</a:t>
                </a:r>
                <a:r>
                  <a:rPr sz="2400" b="0">
                    <a:solidFill>
                      <a:srgbClr val="111827"/>
                    </a:solidFill>
                    <a:latin typeface="Arial"/>
                  </a:rPr>
                  <a:t> equal to </a:t>
                </a:r>
                <a:r>
                  <a:rPr lang="en-IN" sz="2400">
                    <a:solidFill>
                      <a:srgbClr val="111827"/>
                    </a:solidFill>
                    <a:latin typeface="Cambria Math" panose="02040503050406030204" pitchFamily="18" charset="0"/>
                  </a:rPr>
                  <a:t>$1+km$</a:t>
                </a:r>
                <a:r>
                  <a:rPr sz="2400" b="0">
                    <a:solidFill>
                      <a:srgbClr val="111827"/>
                    </a:solidFill>
                    <a:latin typeface="Arial"/>
                  </a:rPr>
                  <a:t> (or </a:t>
                </a:r>
                <a:r>
                  <a:rPr lang="en-IN" sz="2400">
                    <a:solidFill>
                      <a:srgbClr val="111827"/>
                    </a:solidFill>
                    <a:latin typeface="Cambria Math" panose="02040503050406030204" pitchFamily="18" charset="0"/>
                  </a:rPr>
                  <a:t>$-1+km$</a:t>
                </a:r>
                <a:r>
                  <a:rPr sz="2400" b="0">
                    <a:solidFill>
                      <a:srgbClr val="111827"/>
                    </a:solidFill>
                    <a:latin typeface="Arial"/>
                  </a:rPr>
                  <a:t>) and then use </a:t>
                </a:r>
                <a:r>
                  <a:rPr lang="en-IN" sz="2400">
                    <a:solidFill>
                      <a:srgbClr val="111827"/>
                    </a:solidFill>
                    <a:latin typeface="Cambria Math" panose="02040503050406030204" pitchFamily="18" charset="0"/>
                  </a:rPr>
                  <a:t>$(1+km)^q=1+qkm+\dots$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Fermat: for prime </a:t>
                </a:r>
                <a:r>
                  <a:rPr lang="en-IN" sz="2400">
                    <a:solidFill>
                      <a:srgbClr val="111827"/>
                    </a:solidFill>
                    <a:latin typeface="Cambria Math" panose="02040503050406030204" pitchFamily="18" charset="0"/>
                  </a:rPr>
                  <a:t>$p\nmid a$</a:t>
                </a:r>
                <a:r>
                  <a:rPr sz="2400" b="0">
                    <a:solidFill>
                      <a:srgbClr val="111827"/>
                    </a:solidFill>
                    <a:latin typeface="Arial"/>
                  </a:rPr>
                  <a:t>, </a:t>
                </a:r>
                <a:r>
                  <a:rPr lang="en-IN" sz="2400">
                    <a:solidFill>
                      <a:srgbClr val="111827"/>
                    </a:solidFill>
                    <a:latin typeface="Cambria Math" panose="02040503050406030204" pitchFamily="18" charset="0"/>
                  </a:rPr>
                  <a:t>$a^{p-1}\equiv1\pmod p$</a:t>
                </a:r>
                <a:r>
                  <a:rPr sz="2400" b="0">
                    <a:solidFill>
                      <a:srgbClr val="111827"/>
                    </a:solidFill>
                    <a:latin typeface="Arial"/>
                  </a:rPr>
                  <a:t>. Here the order of </a:t>
                </a:r>
                <a:r>
                  <a:rPr lang="en-IN" sz="2400">
                    <a:solidFill>
                      <a:srgbClr val="111827"/>
                    </a:solidFill>
                    <a:latin typeface="Cambria Math" panose="02040503050406030204" pitchFamily="18" charset="0"/>
                  </a:rPr>
                  <a:t>$7$</a:t>
                </a:r>
                <a:r>
                  <a:rPr sz="2400" b="0">
                    <a:solidFill>
                      <a:srgbClr val="111827"/>
                    </a:solidFill>
                    <a:latin typeface="Arial"/>
                  </a:rPr>
                  <a:t> modulo </a:t>
                </a:r>
                <a:r>
                  <a:rPr lang="en-IN" sz="2400">
                    <a:solidFill>
                      <a:srgbClr val="111827"/>
                    </a:solidFill>
                    <a:latin typeface="Cambria Math" panose="02040503050406030204" pitchFamily="18" charset="0"/>
                  </a:rPr>
                  <a:t>$19$</a:t>
                </a:r>
                <a:r>
                  <a:rPr sz="2400" b="0">
                    <a:solidFill>
                      <a:srgbClr val="111827"/>
                    </a:solidFill>
                    <a:latin typeface="Arial"/>
                  </a:rPr>
                  <a:t> is </a:t>
                </a:r>
                <a:r>
                  <a:rPr lang="en-IN" sz="2400">
                    <a:solidFill>
                      <a:srgbClr val="111827"/>
                    </a:solidFill>
                    <a:latin typeface="Cambria Math" panose="02040503050406030204" pitchFamily="18" charset="0"/>
                  </a:rPr>
                  <a:t>$3$</a:t>
                </a:r>
                <a:r>
                  <a:rPr sz="2400" b="0">
                    <a:solidFill>
                      <a:srgbClr val="111827"/>
                    </a:solidFill>
                    <a:latin typeface="Arial"/>
                  </a:rPr>
                  <a:t> (a divisor of </a:t>
                </a:r>
                <a:r>
                  <a:rPr lang="en-IN" sz="2400">
                    <a:solidFill>
                      <a:srgbClr val="111827"/>
                    </a:solidFill>
                    <a:latin typeface="Cambria Math" panose="02040503050406030204" pitchFamily="18" charset="0"/>
                  </a:rPr>
                  <a:t>$18$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$a^k\equiv-1\pmod m$</a:t>
                </a:r>
                <a:r>
                  <a:rPr sz="2400" b="0">
                    <a:solidFill>
                      <a:srgbClr val="111827"/>
                    </a:solidFill>
                    <a:latin typeface="Arial"/>
                  </a:rPr>
                  <a:t> the same idea gives remainder </a:t>
                </a:r>
                <a:r>
                  <a:rPr lang="en-IN" sz="2400">
                    <a:solidFill>
                      <a:srgbClr val="111827"/>
                    </a:solidFill>
                    <a:latin typeface="Cambria Math" panose="02040503050406030204" pitchFamily="18" charset="0"/>
                  </a:rPr>
                  <a:t>$m-1$</a:t>
                </a:r>
                <a:r>
                  <a:rPr sz="2400" b="0">
                    <a:solidFill>
                      <a:srgbClr val="111827"/>
                    </a:solidFill>
                    <a:latin typeface="Arial"/>
                  </a:rPr>
                  <a:t> for odd multiples of </a:t>
                </a:r>
                <a:r>
                  <a:rPr lang="en-IN" sz="2400">
                    <a:solidFill>
                      <a:srgbClr val="111827"/>
                    </a:solidFill>
                    <a:latin typeface="Cambria Math" panose="02040503050406030204" pitchFamily="18" charset="0"/>
                  </a:rPr>
                  <a:t>$k$</a:t>
                </a:r>
                <a:r>
                  <a:rPr sz="2400" b="0">
                    <a:solidFill>
                      <a:srgbClr val="111827"/>
                    </a:solidFill>
                    <a:latin typeface="Arial"/>
                  </a:rPr>
                  <a:t> in the exponent.</a:t>
                </a:r>
                <a:endParaRPr sz="2400">
                  <a:solidFill>
                    <a:srgbClr val="111827"/>
                  </a:solidFill>
                </a:endParaRPr>
              </a:p>
            </p:txBody>
          </p:sp>
        </mc:Fallback>
      </mc:AlternateContent>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505</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303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e>
                        </m:d>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(B)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(C)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e>
                        </m:d>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${}^{505}C_5-5.{}^{404}C_5+10.{}^{303}C_5-10.{}^{202}C_5+5.{}^{101}C_5$</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$\left({}^{101}C_1\right)^5$</a:t>
                </a:r>
                <a:r>
                  <a:rPr sz="2400" b="0">
                    <a:solidFill>
                      <a:srgbClr val="111827"/>
                    </a:solidFill>
                    <a:latin typeface="Arial"/>
                  </a:rPr>
                  <a:t>   (B) </a:t>
                </a:r>
                <a:r>
                  <a:rPr lang="en-IN" sz="2400">
                    <a:solidFill>
                      <a:srgbClr val="111827"/>
                    </a:solidFill>
                    <a:latin typeface="Cambria Math" panose="02040503050406030204" pitchFamily="18" charset="0"/>
                  </a:rPr>
                  <a:t>${}^{101}C_1$</a:t>
                </a:r>
                <a:r>
                  <a:rPr sz="2400" b="0">
                    <a:solidFill>
                      <a:srgbClr val="111827"/>
                    </a:solidFill>
                    <a:latin typeface="Arial"/>
                  </a:rPr>
                  <a:t>   (C) </a:t>
                </a:r>
                <a:r>
                  <a:rPr lang="en-IN" sz="2400">
                    <a:solidFill>
                      <a:srgbClr val="111827"/>
                    </a:solidFill>
                    <a:latin typeface="Cambria Math" panose="02040503050406030204" pitchFamily="18" charset="0"/>
                  </a:rPr>
                  <a:t>$\left({}^{201}C_1\right)^5$</a:t>
                </a:r>
                <a:r>
                  <a:rPr sz="2400" b="0">
                    <a:solidFill>
                      <a:srgbClr val="111827"/>
                    </a:solidFill>
                    <a:latin typeface="Arial"/>
                  </a:rPr>
                  <a:t>   (D) </a:t>
                </a:r>
                <a:r>
                  <a:rPr lang="en-IN" sz="2400">
                    <a:solidFill>
                      <a:srgbClr val="111827"/>
                    </a:solidFill>
                    <a:latin typeface="Cambria Math" panose="02040503050406030204" pitchFamily="18" charset="0"/>
                  </a:rPr>
                  <a:t>${}^{201}C_5$</a:t>
                </a:r>
                <a:endParaRPr sz="2400">
                  <a:solidFill>
                    <a:srgbClr val="111827"/>
                  </a:solidFill>
                </a:endParaRPr>
              </a:p>
            </p:txBody>
          </p:sp>
        </mc:Fallback>
      </mc:AlternateContent>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coefficients as coefficients in an expansion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alternating sum is the coefficient of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5</m:t>
                        </m:r>
                      </m:sup>
                    </m:sSup>
                  </m:oMath>
                </a14:m>
                <a:r>
                  <a:rPr sz="2400" b="0">
                    <a:solidFill>
                      <a:srgbClr val="78350F"/>
                    </a:solidFill>
                    <a:latin typeface="Arial"/>
                  </a:rPr>
                  <a:t> in </a:t>
                </a:r>
                <a14:m>
                  <m:oMath xmlns:m="http://schemas.openxmlformats.org/officeDocument/2006/math">
                    <m:sSup>
                      <m:e>
                        <m:d>
                          <m:dPr>
                            <m:begChr m:val="("/>
                            <m:sepChr m:val=""/>
                            <m:endChr m:val=")"/>
                            <m:grow/>
                            <m:ctrlPr>
                              <a:rPr lang="en-IN" sz="2400" i="1">
                                <a:solidFill>
                                  <a:srgbClr val="78350F"/>
                                </a:solidFill>
                                <a:latin typeface="Cambria Math" panose="02040503050406030204" pitchFamily="18" charset="0"/>
                              </a:rPr>
                            </m:ctrlPr>
                          </m:dPr>
                          <m:e>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101</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e>
                        </m:d>
                      </m:e>
                      <m:sup>
                        <m:r>
                          <a:rPr lang="en-IN" sz="2400" i="1">
                            <a:solidFill>
                              <a:srgbClr val="78350F"/>
                            </a:solidFill>
                            <a:latin typeface="Cambria Math" panose="02040503050406030204" pitchFamily="18" charset="0"/>
                          </a:rPr>
                          <m:t>5</m:t>
                        </m:r>
                      </m:sup>
                    </m:sSup>
                  </m:oMath>
                </a14:m>
                <a:r>
                  <a:rPr sz="2400" b="0">
                    <a:solidFill>
                      <a:srgbClr val="78350F"/>
                    </a:solidFill>
                    <a:latin typeface="Arial"/>
                  </a:rPr>
                  <a:t>, whose lowest term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101</m:t>
                    </m:r>
                    <m:r>
                      <a:rPr lang="en-IN" sz="2400" i="1">
                        <a:solidFill>
                          <a:srgbClr val="78350F"/>
                        </a:solidFill>
                        <a:latin typeface="Cambria Math" panose="02040503050406030204" pitchFamily="18" charset="0"/>
                      </a:rPr>
                      <m:t>𝑥</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5</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alternating sum is the coefficient of </a:t>
                </a:r>
                <a:r>
                  <a:rPr lang="en-IN" sz="2400">
                    <a:solidFill>
                      <a:srgbClr val="78350F"/>
                    </a:solidFill>
                    <a:latin typeface="Cambria Math" panose="02040503050406030204" pitchFamily="18" charset="0"/>
                  </a:rPr>
                  <a:t>$x^5$</a:t>
                </a:r>
                <a:r>
                  <a:rPr sz="2400" b="0">
                    <a:solidFill>
                      <a:srgbClr val="78350F"/>
                    </a:solidFill>
                    <a:latin typeface="Arial"/>
                  </a:rPr>
                  <a:t> in </a:t>
                </a:r>
                <a:r>
                  <a:rPr lang="en-IN" sz="2400">
                    <a:solidFill>
                      <a:srgbClr val="78350F"/>
                    </a:solidFill>
                    <a:latin typeface="Cambria Math" panose="02040503050406030204" pitchFamily="18" charset="0"/>
                  </a:rPr>
                  <a:t>$\left((1+x)^{101}-1\right)^5$</a:t>
                </a:r>
                <a:r>
                  <a:rPr sz="2400" b="0">
                    <a:solidFill>
                      <a:srgbClr val="78350F"/>
                    </a:solidFill>
                    <a:latin typeface="Arial"/>
                  </a:rPr>
                  <a:t>, whose lowest term is </a:t>
                </a:r>
                <a:r>
                  <a:rPr lang="en-IN" sz="2400">
                    <a:solidFill>
                      <a:srgbClr val="78350F"/>
                    </a:solidFill>
                    <a:latin typeface="Cambria Math" panose="02040503050406030204" pitchFamily="18" charset="0"/>
                  </a:rPr>
                  <a:t>$(101x)^5$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the expression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303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changes nothing, because constants do not affect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the expression becomes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303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r>
                          <a:rPr lang="en-IN" sz="2400" i="1">
                            <a:solidFill>
                              <a:srgbClr val="111827"/>
                            </a:solidFill>
                            <a:latin typeface="Cambria Math" panose="02040503050406030204" pitchFamily="18" charset="0"/>
                          </a:rPr>
                          <m:t>𝑘</m:t>
                        </m:r>
                      </m:sup>
                    </m:sSup>
                  </m:oMath>
                </a14:m>
                <a:r>
                  <a:rPr sz="2400" b="0">
                    <a:solidFill>
                      <a:srgbClr val="111827"/>
                    </a:solidFill>
                    <a:latin typeface="Arial"/>
                  </a:rPr>
                  <a:t> matches the powers </a:t>
                </a:r>
                <a14:m>
                  <m:oMath xmlns:m="http://schemas.openxmlformats.org/officeDocument/2006/math">
                    <m:r>
                      <a:rPr lang="en-IN" sz="2400" i="1">
                        <a:solidFill>
                          <a:srgbClr val="111827"/>
                        </a:solidFill>
                        <a:latin typeface="Cambria Math" panose="02040503050406030204" pitchFamily="18" charset="0"/>
                      </a:rPr>
                      <m:t>505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${}^{n}C_5$</a:t>
                </a:r>
                <a:r>
                  <a:rPr sz="2400" b="0">
                    <a:solidFill>
                      <a:srgbClr val="111827"/>
                    </a:solidFill>
                    <a:latin typeface="Arial"/>
                  </a:rPr>
                  <a:t> is the coefficient of </a:t>
                </a:r>
                <a:r>
                  <a:rPr lang="en-IN" sz="2400">
                    <a:solidFill>
                      <a:srgbClr val="111827"/>
                    </a:solidFill>
                    <a:latin typeface="Cambria Math" panose="02040503050406030204" pitchFamily="18" charset="0"/>
                  </a:rPr>
                  <a:t>$x^5$</a:t>
                </a:r>
                <a:r>
                  <a:rPr sz="2400" b="0">
                    <a:solidFill>
                      <a:srgbClr val="111827"/>
                    </a:solidFill>
                    <a:latin typeface="Arial"/>
                  </a:rPr>
                  <a:t> in </a:t>
                </a:r>
                <a:r>
                  <a:rPr lang="en-IN" sz="2400">
                    <a:solidFill>
                      <a:srgbClr val="111827"/>
                    </a:solidFill>
                    <a:latin typeface="Cambria Math" panose="02040503050406030204" pitchFamily="18" charset="0"/>
                  </a:rPr>
                  <a:t>$(1+x)^n$</a:t>
                </a:r>
                <a:r>
                  <a:rPr sz="2400" b="0">
                    <a:solidFill>
                      <a:srgbClr val="111827"/>
                    </a:solidFill>
                    <a:latin typeface="Arial"/>
                  </a:rPr>
                  <a:t>, the expression is the coefficient of </a:t>
                </a:r>
                <a:r>
                  <a:rPr lang="en-IN" sz="2400">
                    <a:solidFill>
                      <a:srgbClr val="111827"/>
                    </a:solidFill>
                    <a:latin typeface="Cambria Math" panose="02040503050406030204" pitchFamily="18" charset="0"/>
                  </a:rPr>
                  <a:t>$x^5$</a:t>
                </a:r>
                <a:r>
                  <a:rPr sz="2400" b="0">
                    <a:solidFill>
                      <a:srgbClr val="111827"/>
                    </a:solidFill>
                    <a:latin typeface="Arial"/>
                  </a:rPr>
                  <a:t> in </a:t>
                </a:r>
                <a:r>
                  <a:rPr lang="en-IN" sz="2400">
                    <a:solidFill>
                      <a:srgbClr val="111827"/>
                    </a:solidFill>
                    <a:latin typeface="Cambria Math" panose="02040503050406030204" pitchFamily="18" charset="0"/>
                  </a:rPr>
                  <a:t>$(1+x)^{505}-5(1+x)^{404}+10(1+x)^{303}-10(1+x)^{202}+5(1+x)^{101}$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$-1+1$</a:t>
                </a:r>
                <a:r>
                  <a:rPr sz="2400" b="0">
                    <a:solidFill>
                      <a:srgbClr val="111827"/>
                    </a:solidFill>
                    <a:latin typeface="Arial"/>
                  </a:rPr>
                  <a:t> changes nothing, because constants do not affect the coefficient of </a:t>
                </a:r>
                <a:r>
                  <a:rPr lang="en-IN" sz="2400">
                    <a:solidFill>
                      <a:srgbClr val="111827"/>
                    </a:solidFill>
                    <a:latin typeface="Cambria Math" panose="02040503050406030204" pitchFamily="18" charset="0"/>
                  </a:rPr>
                  <a:t>$x^5$</a:t>
                </a:r>
                <a:r>
                  <a:rPr sz="2400" b="0">
                    <a:solidFill>
                      <a:srgbClr val="111827"/>
                    </a:solidFill>
                    <a:latin typeface="Arial"/>
                  </a:rPr>
                  <a:t>: the expression becomes </a:t>
                </a:r>
                <a:r>
                  <a:rPr lang="en-IN" sz="2400">
                    <a:solidFill>
                      <a:srgbClr val="111827"/>
                    </a:solidFill>
                    <a:latin typeface="Cambria Math" panose="02040503050406030204" pitchFamily="18" charset="0"/>
                  </a:rPr>
                  <a:t>$(1+x)^{505}-5(1+x)^{404}+10(1+x)^{303}-10(1+x)^{202}+5(1+x)^{101}-1+1$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$u=(1+x)^{101}$</a:t>
                </a:r>
                <a:r>
                  <a:rPr sz="2400" b="0">
                    <a:solidFill>
                      <a:srgbClr val="111827"/>
                    </a:solidFill>
                    <a:latin typeface="Arial"/>
                  </a:rPr>
                  <a:t>. Then </a:t>
                </a:r>
                <a:r>
                  <a:rPr lang="en-IN" sz="2400">
                    <a:solidFill>
                      <a:srgbClr val="111827"/>
                    </a:solidFill>
                    <a:latin typeface="Cambria Math" panose="02040503050406030204" pitchFamily="18" charset="0"/>
                  </a:rPr>
                  <a:t>$u^5-5u^4+10u^3-10u^2+5u-1=(u-1)^5$</a:t>
                </a:r>
                <a:r>
                  <a:rPr sz="2400" b="0">
                    <a:solidFill>
                      <a:srgbClr val="111827"/>
                    </a:solidFill>
                    <a:latin typeface="Arial"/>
                  </a:rPr>
                  <a:t>, and </a:t>
                </a:r>
                <a:r>
                  <a:rPr lang="en-IN" sz="2400">
                    <a:solidFill>
                      <a:srgbClr val="111827"/>
                    </a:solidFill>
                    <a:latin typeface="Cambria Math" panose="02040503050406030204" pitchFamily="18" charset="0"/>
                  </a:rPr>
                  <a:t>$u^k=(1+x)^{101k}$</a:t>
                </a:r>
                <a:r>
                  <a:rPr sz="2400" b="0">
                    <a:solidFill>
                      <a:srgbClr val="111827"/>
                    </a:solidFill>
                    <a:latin typeface="Arial"/>
                  </a:rPr>
                  <a:t> matches the powers </a:t>
                </a:r>
                <a:r>
                  <a:rPr lang="en-IN" sz="2400">
                    <a:solidFill>
                      <a:srgbClr val="111827"/>
                    </a:solidFill>
                    <a:latin typeface="Cambria Math" panose="02040503050406030204" pitchFamily="18" charset="0"/>
                  </a:rPr>
                  <a:t>$505,404,303,202,101$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expression equals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in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(the extra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 constant).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no constant term, so every term of it is a multiple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Raising to the fifth power, the lowest power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with coefficient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e>
                        </m:d>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and no other term contributes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value is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e>
                        </m:d>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101</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expression equals the coefficient of </a:t>
                </a:r>
                <a:r>
                  <a:rPr lang="en-IN" sz="2400">
                    <a:solidFill>
                      <a:srgbClr val="111827"/>
                    </a:solidFill>
                    <a:latin typeface="Cambria Math" panose="02040503050406030204" pitchFamily="18" charset="0"/>
                  </a:rPr>
                  <a:t>$x^5$</a:t>
                </a:r>
                <a:r>
                  <a:rPr sz="2400" b="0">
                    <a:solidFill>
                      <a:srgbClr val="111827"/>
                    </a:solidFill>
                    <a:latin typeface="Arial"/>
                  </a:rPr>
                  <a:t> in </a:t>
                </a:r>
                <a:r>
                  <a:rPr lang="en-IN" sz="2400">
                    <a:solidFill>
                      <a:srgbClr val="111827"/>
                    </a:solidFill>
                    <a:latin typeface="Cambria Math" panose="02040503050406030204" pitchFamily="18" charset="0"/>
                  </a:rPr>
                  <a:t>$\left[(1+x)^{101}-1\right]^5$</a:t>
                </a:r>
                <a:r>
                  <a:rPr sz="2400" b="0">
                    <a:solidFill>
                      <a:srgbClr val="111827"/>
                    </a:solidFill>
                    <a:latin typeface="Arial"/>
                  </a:rPr>
                  <a:t> (the extra </a:t>
                </a:r>
                <a:r>
                  <a:rPr lang="en-IN" sz="2400">
                    <a:solidFill>
                      <a:srgbClr val="111827"/>
                    </a:solidFill>
                    <a:latin typeface="Cambria Math" panose="02040503050406030204" pitchFamily="18" charset="0"/>
                  </a:rPr>
                  <a:t>$+1$</a:t>
                </a:r>
                <a:r>
                  <a:rPr sz="2400" b="0">
                    <a:solidFill>
                      <a:srgbClr val="111827"/>
                    </a:solidFill>
                    <a:latin typeface="Arial"/>
                  </a:rPr>
                  <a:t> is a constant).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$(1+x)^{101}-1={}^{101}C_1x+{}^{101}C_2x^2+\dots$</a:t>
                </a:r>
                <a:r>
                  <a:rPr sz="2400" b="0">
                    <a:solidFill>
                      <a:srgbClr val="111827"/>
                    </a:solidFill>
                    <a:latin typeface="Arial"/>
                  </a:rPr>
                  <a:t> has no constant term, so every term of it is a multiple of </a:t>
                </a:r>
                <a:r>
                  <a:rPr lang="en-IN" sz="2400">
                    <a:solidFill>
                      <a:srgbClr val="111827"/>
                    </a:solidFill>
                    <a:latin typeface="Cambria Math" panose="02040503050406030204" pitchFamily="18" charset="0"/>
                  </a:rPr>
                  <a:t>$x$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Raising to the fifth power, the lowest power is </a:t>
                </a:r>
                <a:r>
                  <a:rPr lang="en-IN" sz="2400">
                    <a:solidFill>
                      <a:srgbClr val="111827"/>
                    </a:solidFill>
                    <a:latin typeface="Cambria Math" panose="02040503050406030204" pitchFamily="18" charset="0"/>
                  </a:rPr>
                  <a:t>$x^5$</a:t>
                </a:r>
                <a:r>
                  <a:rPr sz="2400" b="0">
                    <a:solidFill>
                      <a:srgbClr val="111827"/>
                    </a:solidFill>
                    <a:latin typeface="Arial"/>
                  </a:rPr>
                  <a:t> with coefficient </a:t>
                </a:r>
                <a:r>
                  <a:rPr lang="en-IN" sz="2400">
                    <a:solidFill>
                      <a:srgbClr val="111827"/>
                    </a:solidFill>
                    <a:latin typeface="Cambria Math" panose="02040503050406030204" pitchFamily="18" charset="0"/>
                  </a:rPr>
                  <a:t>$\left({}^{101}C_1\right)^5$</a:t>
                </a:r>
                <a:r>
                  <a:rPr sz="2400" b="0">
                    <a:solidFill>
                      <a:srgbClr val="111827"/>
                    </a:solidFill>
                    <a:latin typeface="Arial"/>
                  </a:rPr>
                  <a:t>, and no other term contributes to </a:t>
                </a:r>
                <a:r>
                  <a:rPr lang="en-IN" sz="2400">
                    <a:solidFill>
                      <a:srgbClr val="111827"/>
                    </a:solidFill>
                    <a:latin typeface="Cambria Math" panose="02040503050406030204" pitchFamily="18" charset="0"/>
                  </a:rPr>
                  <a:t>$x^5$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value is </a:t>
                </a:r>
                <a:r>
                  <a:rPr lang="en-IN" sz="2400">
                    <a:solidFill>
                      <a:srgbClr val="111827"/>
                    </a:solidFill>
                    <a:latin typeface="Cambria Math" panose="02040503050406030204" pitchFamily="18" charset="0"/>
                  </a:rPr>
                  <a:t>$\left({}^{101}C_1\right)^5=101^5$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sSup>
                              <m:e>
                                <m:r>
                                  <a:rPr lang="en-IN" sz="2800" i="1">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101</m:t>
                                </m:r>
                              </m:sup>
                            </m:sSup>
                            <m:sSub>
                              <m:e>
                                <m:r>
                                  <a:rPr lang="en-IN" sz="2800" i="1">
                                    <a:solidFill>
                                      <a:srgbClr val="15803D"/>
                                    </a:solidFill>
                                    <a:latin typeface="Cambria Math" panose="02040503050406030204" pitchFamily="18" charset="0"/>
                                  </a:rPr>
                                  <m:t>𝐶</m:t>
                                </m:r>
                              </m:e>
                              <m:sub>
                                <m:r>
                                  <a:rPr lang="en-IN" sz="2800" i="1">
                                    <a:solidFill>
                                      <a:srgbClr val="15803D"/>
                                    </a:solidFill>
                                    <a:latin typeface="Cambria Math" panose="02040503050406030204" pitchFamily="18" charset="0"/>
                                  </a:rPr>
                                  <m:t>1</m:t>
                                </m:r>
                              </m:sub>
                            </m:sSub>
                          </m:e>
                        </m:d>
                      </m:e>
                      <m:sup>
                        <m:r>
                          <a:rPr lang="en-IN" sz="2800" i="1">
                            <a:solidFill>
                              <a:srgbClr val="15803D"/>
                            </a:solidFill>
                            <a:latin typeface="Cambria Math" panose="02040503050406030204" pitchFamily="18" charset="0"/>
                          </a:rPr>
                          <m:t>5</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$\left({}^{101}C_1\right)^5$</a:t>
                </a:r>
                <a:endParaRPr sz="2800">
                  <a:solidFill>
                    <a:srgbClr val="15803D"/>
                  </a:solidFill>
                </a:endParaRPr>
              </a:p>
            </p:txBody>
          </p:sp>
        </mc:Fallback>
      </mc:AlternateContent>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-element subsets of a </a:t>
                </a:r>
                <a14:m>
                  <m:oMath xmlns:m="http://schemas.openxmlformats.org/officeDocument/2006/math">
                    <m:r>
                      <a:rPr lang="en-IN" sz="2400" i="1">
                        <a:solidFill>
                          <a:srgbClr val="78350F"/>
                        </a:solidFill>
                        <a:latin typeface="Cambria Math" panose="02040503050406030204" pitchFamily="18" charset="0"/>
                      </a:rPr>
                      <m:t>505</m:t>
                    </m:r>
                  </m:oMath>
                </a14:m>
                <a:r>
                  <a:rPr sz="2400" b="0">
                    <a:solidFill>
                      <a:srgbClr val="78350F"/>
                    </a:solidFill>
                    <a:latin typeface="Arial"/>
                  </a:rPr>
                  <a:t>-element set made of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 groups of </a:t>
                </a:r>
                <a14:m>
                  <m:oMath xmlns:m="http://schemas.openxmlformats.org/officeDocument/2006/math">
                    <m:r>
                      <a:rPr lang="en-IN" sz="2400" i="1">
                        <a:solidFill>
                          <a:srgbClr val="78350F"/>
                        </a:solidFill>
                        <a:latin typeface="Cambria Math" panose="02040503050406030204" pitchFamily="18" charset="0"/>
                      </a:rPr>
                      <m:t>101</m:t>
                    </m:r>
                  </m:oMath>
                </a14:m>
                <a:r>
                  <a:rPr sz="2400" b="0">
                    <a:solidFill>
                      <a:srgbClr val="78350F"/>
                    </a:solidFill>
                    <a:latin typeface="Arial"/>
                  </a:rPr>
                  <a:t> that meet every group, by inclusion-exclusion.</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a:t>
                </a:r>
                <a:r>
                  <a:rPr lang="en-IN" sz="2400">
                    <a:solidFill>
                      <a:srgbClr val="78350F"/>
                    </a:solidFill>
                    <a:latin typeface="Cambria Math" panose="02040503050406030204" pitchFamily="18" charset="0"/>
                  </a:rPr>
                  <a:t>$5$</a:t>
                </a:r>
                <a:r>
                  <a:rPr sz="2400" b="0">
                    <a:solidFill>
                      <a:srgbClr val="78350F"/>
                    </a:solidFill>
                    <a:latin typeface="Arial"/>
                  </a:rPr>
                  <a:t>-element subsets of a </a:t>
                </a:r>
                <a:r>
                  <a:rPr lang="en-IN" sz="2400">
                    <a:solidFill>
                      <a:srgbClr val="78350F"/>
                    </a:solidFill>
                    <a:latin typeface="Cambria Math" panose="02040503050406030204" pitchFamily="18" charset="0"/>
                  </a:rPr>
                  <a:t>$505$</a:t>
                </a:r>
                <a:r>
                  <a:rPr sz="2400" b="0">
                    <a:solidFill>
                      <a:srgbClr val="78350F"/>
                    </a:solidFill>
                    <a:latin typeface="Arial"/>
                  </a:rPr>
                  <a:t>-element set made of </a:t>
                </a:r>
                <a:r>
                  <a:rPr lang="en-IN" sz="2400">
                    <a:solidFill>
                      <a:srgbClr val="78350F"/>
                    </a:solidFill>
                    <a:latin typeface="Cambria Math" panose="02040503050406030204" pitchFamily="18" charset="0"/>
                  </a:rPr>
                  <a:t>$5$</a:t>
                </a:r>
                <a:r>
                  <a:rPr sz="2400" b="0">
                    <a:solidFill>
                      <a:srgbClr val="78350F"/>
                    </a:solidFill>
                    <a:latin typeface="Arial"/>
                  </a:rPr>
                  <a:t> groups of </a:t>
                </a:r>
                <a:r>
                  <a:rPr lang="en-IN" sz="2400">
                    <a:solidFill>
                      <a:srgbClr val="78350F"/>
                    </a:solidFill>
                    <a:latin typeface="Cambria Math" panose="02040503050406030204" pitchFamily="18" charset="0"/>
                  </a:rPr>
                  <a:t>$101$</a:t>
                </a:r>
                <a:r>
                  <a:rPr sz="2400" b="0">
                    <a:solidFill>
                      <a:srgbClr val="78350F"/>
                    </a:solidFill>
                    <a:latin typeface="Arial"/>
                  </a:rPr>
                  <a:t> that meet every group, by inclusion-exclusion.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Split </a:t>
                </a:r>
                <a14:m>
                  <m:oMath xmlns:m="http://schemas.openxmlformats.org/officeDocument/2006/math">
                    <m:r>
                      <a:rPr lang="en-IN" sz="2400" i="1">
                        <a:solidFill>
                          <a:srgbClr val="111827"/>
                        </a:solidFill>
                        <a:latin typeface="Cambria Math" panose="02040503050406030204" pitchFamily="18" charset="0"/>
                      </a:rPr>
                      <m:t>505</m:t>
                    </m:r>
                  </m:oMath>
                </a14:m>
                <a:r>
                  <a:rPr sz="2400" b="0">
                    <a:solidFill>
                      <a:srgbClr val="111827"/>
                    </a:solidFill>
                    <a:latin typeface="Arial"/>
                  </a:rPr>
                  <a:t> objects into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groups </a:t>
                </a:r>
                <a14:m>
                  <m:oMath xmlns:m="http://schemas.openxmlformats.org/officeDocument/2006/math">
                    <m:sSub>
                      <m:e>
                        <m:r>
                          <a:rPr lang="en-IN" sz="2400" i="1">
                            <a:solidFill>
                              <a:srgbClr val="111827"/>
                            </a:solidFill>
                            <a:latin typeface="Cambria Math" panose="02040503050406030204" pitchFamily="18" charset="0"/>
                          </a:rPr>
                          <m:t>𝐺</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𝐺</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101</m:t>
                    </m:r>
                  </m:oMath>
                </a14:m>
                <a:r>
                  <a:rPr sz="2400" b="0">
                    <a:solidFill>
                      <a:srgbClr val="111827"/>
                    </a:solidFill>
                    <a:latin typeface="Arial"/>
                  </a:rPr>
                  <a:t> each, and count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-subsets that contain at least one object from every group.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inclusion-exclusion over the groups that are missed: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𝑘</m:t>
                            </m:r>
                          </m:den>
                        </m:f>
                      </m:e>
                    </m:d>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terms are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505</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303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this is exactly the given expression.</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Split </a:t>
                </a:r>
                <a:r>
                  <a:rPr lang="en-IN" sz="2400">
                    <a:solidFill>
                      <a:srgbClr val="111827"/>
                    </a:solidFill>
                    <a:latin typeface="Cambria Math" panose="02040503050406030204" pitchFamily="18" charset="0"/>
                  </a:rPr>
                  <a:t>$505$</a:t>
                </a:r>
                <a:r>
                  <a:rPr sz="2400" b="0">
                    <a:solidFill>
                      <a:srgbClr val="111827"/>
                    </a:solidFill>
                    <a:latin typeface="Arial"/>
                  </a:rPr>
                  <a:t> objects into </a:t>
                </a:r>
                <a:r>
                  <a:rPr lang="en-IN" sz="2400">
                    <a:solidFill>
                      <a:srgbClr val="111827"/>
                    </a:solidFill>
                    <a:latin typeface="Cambria Math" panose="02040503050406030204" pitchFamily="18" charset="0"/>
                  </a:rPr>
                  <a:t>$5$</a:t>
                </a:r>
                <a:r>
                  <a:rPr sz="2400" b="0">
                    <a:solidFill>
                      <a:srgbClr val="111827"/>
                    </a:solidFill>
                    <a:latin typeface="Arial"/>
                  </a:rPr>
                  <a:t> groups </a:t>
                </a:r>
                <a:r>
                  <a:rPr lang="en-IN" sz="2400">
                    <a:solidFill>
                      <a:srgbClr val="111827"/>
                    </a:solidFill>
                    <a:latin typeface="Cambria Math" panose="02040503050406030204" pitchFamily="18" charset="0"/>
                  </a:rPr>
                  <a:t>$G_1,\dots,G_5$</a:t>
                </a:r>
                <a:r>
                  <a:rPr sz="2400" b="0">
                    <a:solidFill>
                      <a:srgbClr val="111827"/>
                    </a:solidFill>
                    <a:latin typeface="Arial"/>
                  </a:rPr>
                  <a:t> of </a:t>
                </a:r>
                <a:r>
                  <a:rPr lang="en-IN" sz="2400">
                    <a:solidFill>
                      <a:srgbClr val="111827"/>
                    </a:solidFill>
                    <a:latin typeface="Cambria Math" panose="02040503050406030204" pitchFamily="18" charset="0"/>
                  </a:rPr>
                  <a:t>$101$</a:t>
                </a:r>
                <a:r>
                  <a:rPr sz="2400" b="0">
                    <a:solidFill>
                      <a:srgbClr val="111827"/>
                    </a:solidFill>
                    <a:latin typeface="Arial"/>
                  </a:rPr>
                  <a:t> each, and count </a:t>
                </a:r>
                <a:r>
                  <a:rPr lang="en-IN" sz="2400">
                    <a:solidFill>
                      <a:srgbClr val="111827"/>
                    </a:solidFill>
                    <a:latin typeface="Cambria Math" panose="02040503050406030204" pitchFamily="18" charset="0"/>
                  </a:rPr>
                  <a:t>$5$</a:t>
                </a:r>
                <a:r>
                  <a:rPr sz="2400" b="0">
                    <a:solidFill>
                      <a:srgbClr val="111827"/>
                    </a:solidFill>
                    <a:latin typeface="Arial"/>
                  </a:rPr>
                  <a:t>-subsets that contain at least one object from every group.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inclusion-exclusion over the groups that are missed: </a:t>
                </a:r>
                <a:r>
                  <a:rPr lang="en-IN" sz="2400">
                    <a:solidFill>
                      <a:srgbClr val="111827"/>
                    </a:solidFill>
                    <a:latin typeface="Cambria Math" panose="02040503050406030204" pitchFamily="18" charset="0"/>
                  </a:rPr>
                  <a:t>$\sum_{k=0}^{5}(-1)^k\binom5k\binom{101(5-k)}{5}$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terms are </a:t>
                </a:r>
                <a:r>
                  <a:rPr lang="en-IN" sz="2400">
                    <a:solidFill>
                      <a:srgbClr val="111827"/>
                    </a:solidFill>
                    <a:latin typeface="Cambria Math" panose="02040503050406030204" pitchFamily="18" charset="0"/>
                  </a:rPr>
                  <a:t>${}^{505}C_5-5\,{}^{404}C_5+10\,{}^{303}C_5-10\,{}^{202}C_5+5\,{}^{101}C_5-{}^{0}C_5$</a:t>
                </a:r>
                <a:r>
                  <a:rPr sz="2400" b="0">
                    <a:solidFill>
                      <a:srgbClr val="111827"/>
                    </a:solidFill>
                    <a:latin typeface="Arial"/>
                  </a:rPr>
                  <a:t>, and </a:t>
                </a:r>
                <a:r>
                  <a:rPr lang="en-IN" sz="2400">
                    <a:solidFill>
                      <a:srgbClr val="111827"/>
                    </a:solidFill>
                    <a:latin typeface="Cambria Math" panose="02040503050406030204" pitchFamily="18" charset="0"/>
                  </a:rPr>
                  <a:t>${}^0C_5=0$</a:t>
                </a:r>
                <a:r>
                  <a:rPr sz="2400" b="0">
                    <a:solidFill>
                      <a:srgbClr val="111827"/>
                    </a:solidFill>
                    <a:latin typeface="Arial"/>
                  </a:rPr>
                  <a:t>, so this is exactly the given expression.</a:t>
                </a:r>
                <a:endParaRPr sz="2400">
                  <a:solidFill>
                    <a:srgbClr val="111827"/>
                  </a:solidFill>
                </a:endParaRPr>
              </a:p>
            </p:txBody>
          </p:sp>
        </mc:Fallback>
      </mc:AlternateContent>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Directly: a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-subset meeting all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groups has exactly one object from each group, giving </a:t>
                </a:r>
                <a14:m>
                  <m:oMath xmlns:m="http://schemas.openxmlformats.org/officeDocument/2006/math">
                    <m:sSup>
                      <m:e>
                        <m:r>
                          <a:rPr lang="en-IN" sz="2400" i="1">
                            <a:solidFill>
                              <a:srgbClr val="111827"/>
                            </a:solidFill>
                            <a:latin typeface="Cambria Math" panose="02040503050406030204" pitchFamily="18" charset="0"/>
                          </a:rPr>
                          <m:t>101</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subsets.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value is </a:t>
                </a:r>
                <a14:m>
                  <m:oMath xmlns:m="http://schemas.openxmlformats.org/officeDocument/2006/math">
                    <m:sSup>
                      <m:e>
                        <m:r>
                          <a:rPr lang="en-IN" sz="2400" i="1">
                            <a:solidFill>
                              <a:srgbClr val="111827"/>
                            </a:solidFill>
                            <a:latin typeface="Cambria Math" panose="02040503050406030204" pitchFamily="18" charset="0"/>
                          </a:rPr>
                          <m:t>101</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e>
                        </m:d>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(exact integer arithmetic confirms).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Directly: a </a:t>
                </a:r>
                <a:r>
                  <a:rPr lang="en-IN" sz="2400">
                    <a:solidFill>
                      <a:srgbClr val="111827"/>
                    </a:solidFill>
                    <a:latin typeface="Cambria Math" panose="02040503050406030204" pitchFamily="18" charset="0"/>
                  </a:rPr>
                  <a:t>$5$</a:t>
                </a:r>
                <a:r>
                  <a:rPr sz="2400" b="0">
                    <a:solidFill>
                      <a:srgbClr val="111827"/>
                    </a:solidFill>
                    <a:latin typeface="Arial"/>
                  </a:rPr>
                  <a:t>-subset meeting all </a:t>
                </a:r>
                <a:r>
                  <a:rPr lang="en-IN" sz="2400">
                    <a:solidFill>
                      <a:srgbClr val="111827"/>
                    </a:solidFill>
                    <a:latin typeface="Cambria Math" panose="02040503050406030204" pitchFamily="18" charset="0"/>
                  </a:rPr>
                  <a:t>$5$</a:t>
                </a:r>
                <a:r>
                  <a:rPr sz="2400" b="0">
                    <a:solidFill>
                      <a:srgbClr val="111827"/>
                    </a:solidFill>
                    <a:latin typeface="Arial"/>
                  </a:rPr>
                  <a:t> groups has exactly one object from each group, giving </a:t>
                </a:r>
                <a:r>
                  <a:rPr lang="en-IN" sz="2400">
                    <a:solidFill>
                      <a:srgbClr val="111827"/>
                    </a:solidFill>
                    <a:latin typeface="Cambria Math" panose="02040503050406030204" pitchFamily="18" charset="0"/>
                  </a:rPr>
                  <a:t>$101^5$</a:t>
                </a:r>
                <a:r>
                  <a:rPr sz="2400" b="0">
                    <a:solidFill>
                      <a:srgbClr val="111827"/>
                    </a:solidFill>
                    <a:latin typeface="Arial"/>
                  </a:rPr>
                  <a:t> subsets.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value is </a:t>
                </a:r>
                <a:r>
                  <a:rPr lang="en-IN" sz="2400">
                    <a:solidFill>
                      <a:srgbClr val="111827"/>
                    </a:solidFill>
                    <a:latin typeface="Cambria Math" panose="02040503050406030204" pitchFamily="18" charset="0"/>
                  </a:rPr>
                  <a:t>$101^5=\left({}^{101}C_1\right)^5$</a:t>
                </a:r>
                <a:r>
                  <a:rPr sz="2400" b="0">
                    <a:solidFill>
                      <a:srgbClr val="111827"/>
                    </a:solidFill>
                    <a:latin typeface="Arial"/>
                  </a:rPr>
                  <a:t> (exact integer arithmetic confirms).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sSup>
                              <m:e>
                                <m:r>
                                  <a:rPr lang="en-IN" sz="2800" i="1">
                                    <a:solidFill>
                                      <a:srgbClr val="15803D"/>
                                    </a:solidFill>
                                    <a:latin typeface="Cambria Math" panose="02040503050406030204" pitchFamily="18" charset="0"/>
                                  </a:rPr>
                                  <m:t>​</m:t>
                                </m:r>
                              </m:e>
                              <m:sup>
                                <m:r>
                                  <a:rPr lang="en-IN" sz="2800" i="1">
                                    <a:solidFill>
                                      <a:srgbClr val="15803D"/>
                                    </a:solidFill>
                                    <a:latin typeface="Cambria Math" panose="02040503050406030204" pitchFamily="18" charset="0"/>
                                  </a:rPr>
                                  <m:t>101</m:t>
                                </m:r>
                              </m:sup>
                            </m:sSup>
                            <m:sSub>
                              <m:e>
                                <m:r>
                                  <a:rPr lang="en-IN" sz="2800" i="1">
                                    <a:solidFill>
                                      <a:srgbClr val="15803D"/>
                                    </a:solidFill>
                                    <a:latin typeface="Cambria Math" panose="02040503050406030204" pitchFamily="18" charset="0"/>
                                  </a:rPr>
                                  <m:t>𝐶</m:t>
                                </m:r>
                              </m:e>
                              <m:sub>
                                <m:r>
                                  <a:rPr lang="en-IN" sz="2800" i="1">
                                    <a:solidFill>
                                      <a:srgbClr val="15803D"/>
                                    </a:solidFill>
                                    <a:latin typeface="Cambria Math" panose="02040503050406030204" pitchFamily="18" charset="0"/>
                                  </a:rPr>
                                  <m:t>1</m:t>
                                </m:r>
                              </m:sub>
                            </m:sSub>
                          </m:e>
                        </m:d>
                      </m:e>
                      <m:sup>
                        <m:r>
                          <a:rPr lang="en-IN" sz="2800" i="1">
                            <a:solidFill>
                              <a:srgbClr val="15803D"/>
                            </a:solidFill>
                            <a:latin typeface="Cambria Math" panose="02040503050406030204" pitchFamily="18" charset="0"/>
                          </a:rPr>
                          <m:t>5</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$\left({}^{101}C_1\right)^5$</a:t>
                </a:r>
                <a:endParaRPr sz="2800">
                  <a:solidFill>
                    <a:srgbClr val="15803D"/>
                  </a:solidFill>
                </a:endParaRPr>
              </a:p>
            </p:txBody>
          </p:sp>
        </mc:Fallback>
      </mc:AlternateContent>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turns an alternating sum of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into a coefficient in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𝑎</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identity: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𝑚</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𝑘</m:t>
                            </m:r>
                          </m:den>
                        </m:f>
                      </m:e>
                    </m:d>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𝑚</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(number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-subsets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groups of size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hitting every group); checked 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Recognition cue: coefficients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with alternating signs and lower indices in arithmetic progression (</a:t>
                </a:r>
                <a14:m>
                  <m:oMath xmlns:m="http://schemas.openxmlformats.org/officeDocument/2006/math">
                    <m:r>
                      <a:rPr lang="en-IN" sz="2400" i="1">
                        <a:solidFill>
                          <a:srgbClr val="111827"/>
                        </a:solidFill>
                        <a:latin typeface="Cambria Math" panose="02040503050406030204" pitchFamily="18" charset="0"/>
                      </a:rPr>
                      <m:t>101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signal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101</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${}^{n}C_r=[x^r](1+x)^n$</a:t>
                </a:r>
                <a:r>
                  <a:rPr sz="2400" b="0">
                    <a:solidFill>
                      <a:srgbClr val="111827"/>
                    </a:solidFill>
                    <a:latin typeface="Arial"/>
                  </a:rPr>
                  <a:t> turns an alternating sum of </a:t>
                </a:r>
                <a:r>
                  <a:rPr lang="en-IN" sz="2400">
                    <a:solidFill>
                      <a:srgbClr val="111827"/>
                    </a:solidFill>
                    <a:latin typeface="Cambria Math" panose="02040503050406030204" pitchFamily="18" charset="0"/>
                  </a:rPr>
                  <a:t>${}^{an}C_r$</a:t>
                </a:r>
                <a:r>
                  <a:rPr sz="2400" b="0">
                    <a:solidFill>
                      <a:srgbClr val="111827"/>
                    </a:solidFill>
                    <a:latin typeface="Arial"/>
                  </a:rPr>
                  <a:t> into a coefficient in </a:t>
                </a:r>
                <a:r>
                  <a:rPr lang="en-IN" sz="2400">
                    <a:solidFill>
                      <a:srgbClr val="111827"/>
                    </a:solidFill>
                    <a:latin typeface="Cambria Math" panose="02040503050406030204" pitchFamily="18" charset="0"/>
                  </a:rPr>
                  <a:t>$\left((1+x)^a-1\right)^m$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identity: </a:t>
                </a:r>
                <a:r>
                  <a:rPr lang="en-IN" sz="2400">
                    <a:solidFill>
                      <a:srgbClr val="111827"/>
                    </a:solidFill>
                    <a:latin typeface="Cambria Math" panose="02040503050406030204" pitchFamily="18" charset="0"/>
                  </a:rPr>
                  <a:t>$\sum_{k=0}^{m}(-1)^k\binom mk\binom{a(m-k)}{m}=a^m$</a:t>
                </a:r>
                <a:r>
                  <a:rPr sz="2400" b="0">
                    <a:solidFill>
                      <a:srgbClr val="111827"/>
                    </a:solidFill>
                    <a:latin typeface="Arial"/>
                  </a:rPr>
                  <a:t> (number of </a:t>
                </a:r>
                <a:r>
                  <a:rPr lang="en-IN" sz="2400">
                    <a:solidFill>
                      <a:srgbClr val="111827"/>
                    </a:solidFill>
                    <a:latin typeface="Cambria Math" panose="02040503050406030204" pitchFamily="18" charset="0"/>
                  </a:rPr>
                  <a:t>$m$</a:t>
                </a:r>
                <a:r>
                  <a:rPr sz="2400" b="0">
                    <a:solidFill>
                      <a:srgbClr val="111827"/>
                    </a:solidFill>
                    <a:latin typeface="Arial"/>
                  </a:rPr>
                  <a:t>-subsets of </a:t>
                </a:r>
                <a:r>
                  <a:rPr lang="en-IN" sz="2400">
                    <a:solidFill>
                      <a:srgbClr val="111827"/>
                    </a:solidFill>
                    <a:latin typeface="Cambria Math" panose="02040503050406030204" pitchFamily="18" charset="0"/>
                  </a:rPr>
                  <a:t>$m$</a:t>
                </a:r>
                <a:r>
                  <a:rPr sz="2400" b="0">
                    <a:solidFill>
                      <a:srgbClr val="111827"/>
                    </a:solidFill>
                    <a:latin typeface="Arial"/>
                  </a:rPr>
                  <a:t> groups of size </a:t>
                </a:r>
                <a:r>
                  <a:rPr lang="en-IN" sz="2400">
                    <a:solidFill>
                      <a:srgbClr val="111827"/>
                    </a:solidFill>
                    <a:latin typeface="Cambria Math" panose="02040503050406030204" pitchFamily="18" charset="0"/>
                  </a:rPr>
                  <a:t>$a$</a:t>
                </a:r>
                <a:r>
                  <a:rPr sz="2400" b="0">
                    <a:solidFill>
                      <a:srgbClr val="111827"/>
                    </a:solidFill>
                    <a:latin typeface="Arial"/>
                  </a:rPr>
                  <a:t> hitting every group); checked for </a:t>
                </a:r>
                <a:r>
                  <a:rPr lang="en-IN" sz="2400">
                    <a:solidFill>
                      <a:srgbClr val="111827"/>
                    </a:solidFill>
                    <a:latin typeface="Cambria Math" panose="02040503050406030204" pitchFamily="18" charset="0"/>
                  </a:rPr>
                  <a:t>$(m,a)=(2,3),(3,2),(3,4)$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Recognition cue: coefficients </a:t>
                </a:r>
                <a:r>
                  <a:rPr lang="en-IN" sz="2400">
                    <a:solidFill>
                      <a:srgbClr val="111827"/>
                    </a:solidFill>
                    <a:latin typeface="Cambria Math" panose="02040503050406030204" pitchFamily="18" charset="0"/>
                  </a:rPr>
                  <a:t>$1,5,10,10,5,1$</a:t>
                </a:r>
                <a:r>
                  <a:rPr sz="2400" b="0">
                    <a:solidFill>
                      <a:srgbClr val="111827"/>
                    </a:solidFill>
                    <a:latin typeface="Arial"/>
                  </a:rPr>
                  <a:t> with alternating signs and lower indices in arithmetic progression (</a:t>
                </a:r>
                <a:r>
                  <a:rPr lang="en-IN" sz="2400">
                    <a:solidFill>
                      <a:srgbClr val="111827"/>
                    </a:solidFill>
                    <a:latin typeface="Cambria Math" panose="02040503050406030204" pitchFamily="18" charset="0"/>
                  </a:rPr>
                  <a:t>$101,202,\dots$</a:t>
                </a:r>
                <a:r>
                  <a:rPr sz="2400" b="0">
                    <a:solidFill>
                      <a:srgbClr val="111827"/>
                    </a:solidFill>
                    <a:latin typeface="Arial"/>
                  </a:rPr>
                  <a:t>) signal </a:t>
                </a:r>
                <a:r>
                  <a:rPr lang="en-IN" sz="2400">
                    <a:solidFill>
                      <a:srgbClr val="111827"/>
                    </a:solidFill>
                    <a:latin typeface="Cambria Math" panose="02040503050406030204" pitchFamily="18" charset="0"/>
                  </a:rPr>
                  <a:t>$(u-1)^5$</a:t>
                </a:r>
                <a:r>
                  <a:rPr sz="2400" b="0">
                    <a:solidFill>
                      <a:srgbClr val="111827"/>
                    </a:solidFill>
                    <a:latin typeface="Arial"/>
                  </a:rPr>
                  <a:t> with </a:t>
                </a:r>
                <a:r>
                  <a:rPr lang="en-IN" sz="2400">
                    <a:solidFill>
                      <a:srgbClr val="111827"/>
                    </a:solidFill>
                    <a:latin typeface="Cambria Math" panose="02040503050406030204" pitchFamily="18" charset="0"/>
                  </a:rPr>
                  <a:t>$u=(1+x)^{101}$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fair dice are rolled. The probability that the first time sum of numbers will appear on them is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occurs at odd throw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then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(where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are coprime numbers):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28</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31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23</m:t>
                    </m:r>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Two fair dice are rolled. The probability that the first time sum of numbers will appear on them is </a:t>
                </a:r>
                <a:r>
                  <a:rPr lang="en-IN" sz="2400">
                    <a:solidFill>
                      <a:srgbClr val="111827"/>
                    </a:solidFill>
                    <a:latin typeface="Cambria Math" panose="02040503050406030204" pitchFamily="18" charset="0"/>
                  </a:rPr>
                  <a:t>$6$</a:t>
                </a:r>
                <a:r>
                  <a:rPr sz="2400" b="0">
                    <a:solidFill>
                      <a:srgbClr val="111827"/>
                    </a:solidFill>
                    <a:latin typeface="Arial"/>
                  </a:rPr>
                  <a:t> occurs at odd throw is </a:t>
                </a:r>
                <a:r>
                  <a:rPr lang="en-IN" sz="2400">
                    <a:solidFill>
                      <a:srgbClr val="111827"/>
                    </a:solidFill>
                    <a:latin typeface="Cambria Math" panose="02040503050406030204" pitchFamily="18" charset="0"/>
                  </a:rPr>
                  <a:t>$\frac ab$</a:t>
                </a:r>
                <a:r>
                  <a:rPr sz="2400" b="0">
                    <a:solidFill>
                      <a:srgbClr val="111827"/>
                    </a:solidFill>
                    <a:latin typeface="Arial"/>
                  </a:rPr>
                  <a:t>, then the value of </a:t>
                </a:r>
                <a:r>
                  <a:rPr lang="en-IN" sz="2400">
                    <a:solidFill>
                      <a:srgbClr val="111827"/>
                    </a:solidFill>
                    <a:latin typeface="Cambria Math" panose="02040503050406030204" pitchFamily="18" charset="0"/>
                  </a:rPr>
                  <a:t>$(b-a)$</a:t>
                </a:r>
                <a:r>
                  <a:rPr sz="2400" b="0">
                    <a:solidFill>
                      <a:srgbClr val="111827"/>
                    </a:solidFill>
                    <a:latin typeface="Arial"/>
                  </a:rPr>
                  <a:t> is (where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are coprime numbers):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$28$</a:t>
                </a:r>
                <a:r>
                  <a:rPr sz="2400" b="0">
                    <a:solidFill>
                      <a:srgbClr val="111827"/>
                    </a:solidFill>
                    <a:latin typeface="Arial"/>
                  </a:rPr>
                  <a:t>   (B) </a:t>
                </a:r>
                <a:r>
                  <a:rPr lang="en-IN" sz="2400">
                    <a:solidFill>
                      <a:srgbClr val="111827"/>
                    </a:solidFill>
                    <a:latin typeface="Cambria Math" panose="02040503050406030204" pitchFamily="18" charset="0"/>
                  </a:rPr>
                  <a:t>$31$</a:t>
                </a:r>
                <a:r>
                  <a:rPr sz="2400" b="0">
                    <a:solidFill>
                      <a:srgbClr val="111827"/>
                    </a:solidFill>
                    <a:latin typeface="Arial"/>
                  </a:rPr>
                  <a:t>   (C) </a:t>
                </a:r>
                <a:r>
                  <a:rPr lang="en-IN" sz="2400">
                    <a:solidFill>
                      <a:srgbClr val="111827"/>
                    </a:solidFill>
                    <a:latin typeface="Cambria Math" panose="02040503050406030204" pitchFamily="18" charset="0"/>
                  </a:rPr>
                  <a:t>$21$</a:t>
                </a:r>
                <a:r>
                  <a:rPr sz="2400" b="0">
                    <a:solidFill>
                      <a:srgbClr val="111827"/>
                    </a:solidFill>
                    <a:latin typeface="Arial"/>
                  </a:rPr>
                  <a:t>   (D) </a:t>
                </a:r>
                <a:r>
                  <a:rPr lang="en-IN" sz="2400">
                    <a:solidFill>
                      <a:srgbClr val="111827"/>
                    </a:solidFill>
                    <a:latin typeface="Cambria Math" panose="02040503050406030204" pitchFamily="18" charset="0"/>
                  </a:rPr>
                  <a:t>$23$</a:t>
                </a:r>
                <a:endParaRPr sz="2400">
                  <a:solidFill>
                    <a:srgbClr val="111827"/>
                  </a:solidFill>
                </a:endParaRPr>
              </a:p>
            </p:txBody>
          </p:sp>
        </mc:Fallback>
      </mc:AlternateContent>
      <p:sp>
        <p:nvSpPr>
          <p:cNvPr id="5" name="Rectangle 4"/>
          <p:cNvSpPr/>
          <p:nvPr/>
        </p:nvSpPr>
        <p:spPr>
          <a:xfrm>
            <a:off x="731520" y="4061968"/>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first occurrence of an event on an odd trial</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probabilities of first success on throws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form a geometric series with ratio </a:t>
                </a:r>
                <a14:m>
                  <m:oMath xmlns:m="http://schemas.openxmlformats.org/officeDocument/2006/math">
                    <m:sSup>
                      <m:e>
                        <m:r>
                          <a:rPr lang="en-IN" sz="2400" i="1">
                            <a:solidFill>
                              <a:srgbClr val="78350F"/>
                            </a:solidFill>
                            <a:latin typeface="Cambria Math" panose="02040503050406030204" pitchFamily="18" charset="0"/>
                          </a:rPr>
                          <m:t>𝑞</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probabilities of first success on throws </a:t>
                </a:r>
                <a:r>
                  <a:rPr lang="en-IN" sz="2400">
                    <a:solidFill>
                      <a:srgbClr val="78350F"/>
                    </a:solidFill>
                    <a:latin typeface="Cambria Math" panose="02040503050406030204" pitchFamily="18" charset="0"/>
                  </a:rPr>
                  <a:t>$1,3,5,\dots$</a:t>
                </a:r>
                <a:r>
                  <a:rPr sz="2400" b="0">
                    <a:solidFill>
                      <a:srgbClr val="78350F"/>
                    </a:solidFill>
                    <a:latin typeface="Arial"/>
                  </a:rPr>
                  <a:t> form a geometric series with ratio </a:t>
                </a:r>
                <a:r>
                  <a:rPr lang="en-IN" sz="2400">
                    <a:solidFill>
                      <a:srgbClr val="78350F"/>
                    </a:solidFill>
                    <a:latin typeface="Cambria Math" panose="02040503050406030204" pitchFamily="18" charset="0"/>
                  </a:rPr>
                  <a:t>$q^2$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Favourable cases for sum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out of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36</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31</m:t>
                        </m:r>
                      </m:num>
                      <m:den>
                        <m:r>
                          <a:rPr lang="en-IN" sz="2400" i="1">
                            <a:solidFill>
                              <a:srgbClr val="111827"/>
                            </a:solidFill>
                            <a:latin typeface="Cambria Math" panose="02040503050406030204" pitchFamily="18" charset="0"/>
                          </a:rPr>
                          <m:t>36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appears for the first time on throw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with probability </a:t>
                </a:r>
                <a14:m>
                  <m:oMath xmlns:m="http://schemas.openxmlformats.org/officeDocument/2006/math">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𝑝</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odd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exponent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even: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4</m:t>
                        </m:r>
                      </m:sup>
                    </m:sSup>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31</m:t>
                                </m:r>
                              </m:num>
                              <m:den>
                                <m:r>
                                  <a:rPr lang="en-IN" sz="2400" i="1">
                                    <a:solidFill>
                                      <a:srgbClr val="111827"/>
                                    </a:solidFill>
                                    <a:latin typeface="Cambria Math" panose="02040503050406030204" pitchFamily="18" charset="0"/>
                                  </a:rPr>
                                  <m:t>36</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31</m:t>
                                </m:r>
                              </m:num>
                              <m:den>
                                <m:r>
                                  <a:rPr lang="en-IN" sz="2400" i="1">
                                    <a:solidFill>
                                      <a:srgbClr val="111827"/>
                                    </a:solidFill>
                                    <a:latin typeface="Cambria Math" panose="02040503050406030204" pitchFamily="18" charset="0"/>
                                  </a:rPr>
                                  <m:t>36</m:t>
                                </m:r>
                              </m:den>
                            </m:f>
                          </m:e>
                        </m:d>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 infinite G.P. with ratio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31</m:t>
                                </m:r>
                              </m:num>
                              <m:den>
                                <m:r>
                                  <a:rPr lang="en-IN" sz="2400" i="1">
                                    <a:solidFill>
                                      <a:srgbClr val="111827"/>
                                    </a:solidFill>
                                    <a:latin typeface="Cambria Math" panose="02040503050406030204" pitchFamily="18" charset="0"/>
                                  </a:rPr>
                                  <m:t>36</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Favourable cases for sum </a:t>
                </a:r>
                <a:r>
                  <a:rPr lang="en-IN" sz="2400">
                    <a:solidFill>
                      <a:srgbClr val="111827"/>
                    </a:solidFill>
                    <a:latin typeface="Cambria Math" panose="02040503050406030204" pitchFamily="18" charset="0"/>
                  </a:rPr>
                  <a:t>$6$</a:t>
                </a:r>
                <a:r>
                  <a:rPr sz="2400" b="0">
                    <a:solidFill>
                      <a:srgbClr val="111827"/>
                    </a:solidFill>
                    <a:latin typeface="Arial"/>
                  </a:rPr>
                  <a:t>: </a:t>
                </a:r>
                <a:r>
                  <a:rPr lang="en-IN" sz="2400">
                    <a:solidFill>
                      <a:srgbClr val="111827"/>
                    </a:solidFill>
                    <a:latin typeface="Cambria Math" panose="02040503050406030204" pitchFamily="18" charset="0"/>
                  </a:rPr>
                  <a:t>$(1,5),(2,4),(3,3),(4,2),(5,1)$</a:t>
                </a:r>
                <a:r>
                  <a:rPr sz="2400" b="0">
                    <a:solidFill>
                      <a:srgbClr val="111827"/>
                    </a:solidFill>
                    <a:latin typeface="Arial"/>
                  </a:rPr>
                  <a:t>, so </a:t>
                </a:r>
                <a:r>
                  <a:rPr lang="en-IN" sz="2400">
                    <a:solidFill>
                      <a:srgbClr val="111827"/>
                    </a:solidFill>
                    <a:latin typeface="Cambria Math" panose="02040503050406030204" pitchFamily="18" charset="0"/>
                  </a:rPr>
                  <a:t>$5$</a:t>
                </a:r>
                <a:r>
                  <a:rPr sz="2400" b="0">
                    <a:solidFill>
                      <a:srgbClr val="111827"/>
                    </a:solidFill>
                    <a:latin typeface="Arial"/>
                  </a:rPr>
                  <a:t> out of </a:t>
                </a:r>
                <a:r>
                  <a:rPr lang="en-IN" sz="2400">
                    <a:solidFill>
                      <a:srgbClr val="111827"/>
                    </a:solidFill>
                    <a:latin typeface="Cambria Math" panose="02040503050406030204" pitchFamily="18" charset="0"/>
                  </a:rPr>
                  <a:t>$36$</a:t>
                </a:r>
                <a:r>
                  <a:rPr sz="2400" b="0">
                    <a:solidFill>
                      <a:srgbClr val="111827"/>
                    </a:solidFill>
                    <a:latin typeface="Arial"/>
                  </a:rPr>
                  <a:t>: </a:t>
                </a:r>
                <a:r>
                  <a:rPr lang="en-IN" sz="2400">
                    <a:solidFill>
                      <a:srgbClr val="111827"/>
                    </a:solidFill>
                    <a:latin typeface="Cambria Math" panose="02040503050406030204" pitchFamily="18" charset="0"/>
                  </a:rPr>
                  <a:t>$p=\frac5{36}$</a:t>
                </a:r>
                <a:r>
                  <a:rPr sz="2400" b="0">
                    <a:solidFill>
                      <a:srgbClr val="111827"/>
                    </a:solidFill>
                    <a:latin typeface="Arial"/>
                  </a:rPr>
                  <a:t> and </a:t>
                </a:r>
                <a:r>
                  <a:rPr lang="en-IN" sz="2400">
                    <a:solidFill>
                      <a:srgbClr val="111827"/>
                    </a:solidFill>
                    <a:latin typeface="Cambria Math" panose="02040503050406030204" pitchFamily="18" charset="0"/>
                  </a:rPr>
                  <a:t>$q=1-p=\frac{31}{36}$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$6$</a:t>
                </a:r>
                <a:r>
                  <a:rPr sz="2400" b="0">
                    <a:solidFill>
                      <a:srgbClr val="111827"/>
                    </a:solidFill>
                    <a:latin typeface="Arial"/>
                  </a:rPr>
                  <a:t> appears for the first time on throw </a:t>
                </a:r>
                <a:r>
                  <a:rPr lang="en-IN" sz="2400">
                    <a:solidFill>
                      <a:srgbClr val="111827"/>
                    </a:solidFill>
                    <a:latin typeface="Cambria Math" panose="02040503050406030204" pitchFamily="18" charset="0"/>
                  </a:rPr>
                  <a:t>$k$</a:t>
                </a:r>
                <a:r>
                  <a:rPr sz="2400" b="0">
                    <a:solidFill>
                      <a:srgbClr val="111827"/>
                    </a:solidFill>
                    <a:latin typeface="Arial"/>
                  </a:rPr>
                  <a:t> with probability </a:t>
                </a:r>
                <a:r>
                  <a:rPr lang="en-IN" sz="2400">
                    <a:solidFill>
                      <a:srgbClr val="111827"/>
                    </a:solidFill>
                    <a:latin typeface="Cambria Math" panose="02040503050406030204" pitchFamily="18" charset="0"/>
                  </a:rPr>
                  <a:t>$q^{k-1}p$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odd </a:t>
                </a:r>
                <a:r>
                  <a:rPr lang="en-IN" sz="2400">
                    <a:solidFill>
                      <a:srgbClr val="111827"/>
                    </a:solidFill>
                    <a:latin typeface="Cambria Math" panose="02040503050406030204" pitchFamily="18" charset="0"/>
                  </a:rPr>
                  <a:t>$k$</a:t>
                </a:r>
                <a:r>
                  <a:rPr sz="2400" b="0">
                    <a:solidFill>
                      <a:srgbClr val="111827"/>
                    </a:solidFill>
                    <a:latin typeface="Arial"/>
                  </a:rPr>
                  <a:t> (</a:t>
                </a:r>
                <a:r>
                  <a:rPr lang="en-IN" sz="2400">
                    <a:solidFill>
                      <a:srgbClr val="111827"/>
                    </a:solidFill>
                    <a:latin typeface="Cambria Math" panose="02040503050406030204" pitchFamily="18" charset="0"/>
                  </a:rPr>
                  <a:t>$k=1,3,5,\dots$</a:t>
                </a:r>
                <a:r>
                  <a:rPr sz="2400" b="0">
                    <a:solidFill>
                      <a:srgbClr val="111827"/>
                    </a:solidFill>
                    <a:latin typeface="Arial"/>
                  </a:rPr>
                  <a:t>) the exponent </a:t>
                </a:r>
                <a:r>
                  <a:rPr lang="en-IN" sz="2400">
                    <a:solidFill>
                      <a:srgbClr val="111827"/>
                    </a:solidFill>
                    <a:latin typeface="Cambria Math" panose="02040503050406030204" pitchFamily="18" charset="0"/>
                  </a:rPr>
                  <a:t>$k-1$</a:t>
                </a:r>
                <a:r>
                  <a:rPr sz="2400" b="0">
                    <a:solidFill>
                      <a:srgbClr val="111827"/>
                    </a:solidFill>
                    <a:latin typeface="Arial"/>
                  </a:rPr>
                  <a:t> is even: </a:t>
                </a:r>
                <a:r>
                  <a:rPr lang="en-IN" sz="2400">
                    <a:solidFill>
                      <a:srgbClr val="111827"/>
                    </a:solidFill>
                    <a:latin typeface="Cambria Math" panose="02040503050406030204" pitchFamily="18" charset="0"/>
                  </a:rPr>
                  <a:t>$p,\ q^2p,\ q^4p,\dots$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probability </a:t>
                </a:r>
                <a:r>
                  <a:rPr lang="en-IN" sz="2400">
                    <a:solidFill>
                      <a:srgbClr val="111827"/>
                    </a:solidFill>
                    <a:latin typeface="Cambria Math" panose="02040503050406030204" pitchFamily="18" charset="0"/>
                  </a:rPr>
                  <a:t>$=\frac5{36}+\left(\frac{31}{36}\right)^2\times\frac5{36}+\left(\frac{31}{36}\right)^4\times\frac5{36}+\dots$</a:t>
                </a:r>
                <a:r>
                  <a:rPr sz="2400" b="0">
                    <a:solidFill>
                      <a:srgbClr val="111827"/>
                    </a:solidFill>
                    <a:latin typeface="Arial"/>
                  </a:rPr>
                  <a:t>, an infinite G.P. with ratio </a:t>
                </a:r>
                <a:r>
                  <a:rPr lang="en-IN" sz="2400">
                    <a:solidFill>
                      <a:srgbClr val="111827"/>
                    </a:solidFill>
                    <a:latin typeface="Cambria Math" panose="02040503050406030204" pitchFamily="18" charset="0"/>
                  </a:rPr>
                  <a:t>$\left(\frac{31}{36}\right)^2&lt;1$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num>
                      <m:den>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36</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31</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36</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36</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31</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oMath>
                </a14:m>
                <a:r>
                  <a:rPr sz="2400" b="0">
                    <a:solidFill>
                      <a:srgbClr val="111827"/>
                    </a:solidFill>
                    <a:latin typeface="Arial"/>
                  </a:rPr>
                  <a:t>, so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67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gcd</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$=\frac{5/36}{1-(31/36)^2}=\frac{5/36}{(36^2-31^2)/36^2}=\frac{5\cdot36}{5\cdot67}$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$36^2-31^2=(36-31)(36+31)=5\cdot67$</a:t>
                </a:r>
                <a:r>
                  <a:rPr sz="2400" b="0">
                    <a:solidFill>
                      <a:srgbClr val="111827"/>
                    </a:solidFill>
                    <a:latin typeface="Arial"/>
                  </a:rPr>
                  <a:t>, so the probability is </a:t>
                </a:r>
                <a:r>
                  <a:rPr lang="en-IN" sz="2400">
                    <a:solidFill>
                      <a:srgbClr val="111827"/>
                    </a:solidFill>
                    <a:latin typeface="Cambria Math" panose="02040503050406030204" pitchFamily="18" charset="0"/>
                  </a:rPr>
                  <a:t>$\frac{36}{67}$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$\gcd(36,67)=1$</a:t>
                </a:r>
                <a:r>
                  <a:rPr sz="2400" b="0">
                    <a:solidFill>
                      <a:srgbClr val="111827"/>
                    </a:solidFill>
                    <a:latin typeface="Arial"/>
                  </a:rPr>
                  <a:t>, so </a:t>
                </a:r>
                <a:r>
                  <a:rPr lang="en-IN" sz="2400">
                    <a:solidFill>
                      <a:srgbClr val="111827"/>
                    </a:solidFill>
                    <a:latin typeface="Cambria Math" panose="02040503050406030204" pitchFamily="18" charset="0"/>
                  </a:rPr>
                  <a:t>$a=36$</a:t>
                </a:r>
                <a:r>
                  <a:rPr sz="2400" b="0">
                    <a:solidFill>
                      <a:srgbClr val="111827"/>
                    </a:solidFill>
                    <a:latin typeface="Arial"/>
                  </a:rPr>
                  <a:t> and </a:t>
                </a:r>
                <a:r>
                  <a:rPr lang="en-IN" sz="2400">
                    <a:solidFill>
                      <a:srgbClr val="111827"/>
                    </a:solidFill>
                    <a:latin typeface="Cambria Math" panose="02040503050406030204" pitchFamily="18" charset="0"/>
                  </a:rPr>
                  <a:t>$b=67$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$b-a=67-36=31$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31</a:t>
            </a:r>
            <a:endParaRPr sz="2800">
              <a:solidFill>
                <a:srgbClr val="15803D"/>
              </a:solidFill>
            </a:endParaRP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First-step analysis: if the first throw fails, the roles of odd and even throws swap.</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be the probability that sum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first appears at an odd throw.</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first throw is a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-sum (probability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the event happens. If not (probability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the game restarts and we now need the first success at an even throw of the original numbering, i.e. an odd throw fails, probability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a:t>
                </a:r>
                <a:r>
                  <a:rPr sz="2400" b="0">
                    <a:solidFill>
                      <a:srgbClr val="111827"/>
                    </a:solidFill>
                    <a:latin typeface="Arial"/>
                  </a:rPr>
                  <a:t> be the probability that sum </a:t>
                </a:r>
                <a:r>
                  <a:rPr lang="en-IN" sz="2400">
                    <a:solidFill>
                      <a:srgbClr val="111827"/>
                    </a:solidFill>
                    <a:latin typeface="Cambria Math" panose="02040503050406030204" pitchFamily="18" charset="0"/>
                  </a:rPr>
                  <a:t>$6$</a:t>
                </a:r>
                <a:r>
                  <a:rPr sz="2400" b="0">
                    <a:solidFill>
                      <a:srgbClr val="111827"/>
                    </a:solidFill>
                    <a:latin typeface="Arial"/>
                  </a:rPr>
                  <a:t> first appears at an odd throw.</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first throw is a </a:t>
                </a:r>
                <a:r>
                  <a:rPr lang="en-IN" sz="2400">
                    <a:solidFill>
                      <a:srgbClr val="111827"/>
                    </a:solidFill>
                    <a:latin typeface="Cambria Math" panose="02040503050406030204" pitchFamily="18" charset="0"/>
                  </a:rPr>
                  <a:t>$6$</a:t>
                </a:r>
                <a:r>
                  <a:rPr sz="2400" b="0">
                    <a:solidFill>
                      <a:srgbClr val="111827"/>
                    </a:solidFill>
                    <a:latin typeface="Arial"/>
                  </a:rPr>
                  <a:t>-sum (probability </a:t>
                </a:r>
                <a:r>
                  <a:rPr lang="en-IN" sz="2400">
                    <a:solidFill>
                      <a:srgbClr val="111827"/>
                    </a:solidFill>
                    <a:latin typeface="Cambria Math" panose="02040503050406030204" pitchFamily="18" charset="0"/>
                  </a:rPr>
                  <a:t>$p$</a:t>
                </a:r>
                <a:r>
                  <a:rPr sz="2400" b="0">
                    <a:solidFill>
                      <a:srgbClr val="111827"/>
                    </a:solidFill>
                    <a:latin typeface="Arial"/>
                  </a:rPr>
                  <a:t>), the event happens. If not (probability </a:t>
                </a:r>
                <a:r>
                  <a:rPr lang="en-IN" sz="2400">
                    <a:solidFill>
                      <a:srgbClr val="111827"/>
                    </a:solidFill>
                    <a:latin typeface="Cambria Math" panose="02040503050406030204" pitchFamily="18" charset="0"/>
                  </a:rPr>
                  <a:t>$q$</a:t>
                </a:r>
                <a:r>
                  <a:rPr sz="2400" b="0">
                    <a:solidFill>
                      <a:srgbClr val="111827"/>
                    </a:solidFill>
                    <a:latin typeface="Arial"/>
                  </a:rPr>
                  <a:t>), the game restarts and we now need the first success at an even throw of the original numbering, i.e. an odd throw fails, probability </a:t>
                </a:r>
                <a:r>
                  <a:rPr lang="en-IN" sz="2400">
                    <a:solidFill>
                      <a:srgbClr val="111827"/>
                    </a:solidFill>
                    <a:latin typeface="Cambria Math" panose="02040503050406030204" pitchFamily="18" charset="0"/>
                  </a:rPr>
                  <a:t>$1-P$</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$P=p+q(1-P)$</a:t>
                </a:r>
                <a:r>
                  <a:rPr sz="2400" b="0">
                    <a:solidFill>
                      <a:srgbClr val="111827"/>
                    </a:solidFill>
                    <a:latin typeface="Arial"/>
                  </a:rPr>
                  <a:t>, giving </a:t>
                </a:r>
                <a:r>
                  <a:rPr lang="en-IN" sz="2400">
                    <a:solidFill>
                      <a:srgbClr val="111827"/>
                    </a:solidFill>
                    <a:latin typeface="Cambria Math" panose="02040503050406030204" pitchFamily="18" charset="0"/>
                  </a:rPr>
                  <a:t>$P(1+q)=p+q=1$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67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$P=\frac{1}{1+q}=\frac{1}{1+31/36}=\frac{36}{67}$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$b-a=67-36=31$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31</a:t>
            </a:r>
            <a:endParaRPr sz="2800">
              <a:solidFill>
                <a:srgbClr val="15803D"/>
              </a:solidFill>
            </a:endParaRP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independent trials with success probability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𝑓𝑖𝑟𝑠𝑡 𝑠𝑢𝑐𝑐𝑒𝑠𝑠 𝑜𝑛 𝑎𝑛 𝑜𝑑𝑑 𝑡𝑟𝑖𝑎𝑙</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𝑒𝑣𝑒𝑛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36</m:t>
                        </m:r>
                      </m:den>
                    </m:f>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67</m:t>
                        </m:r>
                      </m:den>
                    </m:f>
                  </m:oMath>
                </a14:m>
                <a:r>
                  <a:rPr sz="2400" b="0">
                    <a:solidFill>
                      <a:srgbClr val="111827"/>
                    </a:solidFill>
                    <a:latin typeface="Arial"/>
                  </a:rPr>
                  <a:t> (checked).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𝑓𝑖𝑟𝑠𝑡 𝑠𝑢𝑐𝑐𝑒𝑠𝑠 𝑜𝑛 𝑡𝑟𝑖𝑎𝑙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𝑟</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'First time' means all earlier trials fail, so use </a:t>
                </a:r>
                <a14:m>
                  <m:oMath xmlns:m="http://schemas.openxmlformats.org/officeDocument/2006/math">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𝑝</m:t>
                    </m:r>
                  </m:oMath>
                </a14:m>
                <a:r>
                  <a:rPr sz="2400" b="0">
                    <a:solidFill>
                      <a:srgbClr val="111827"/>
                    </a:solidFill>
                    <a:latin typeface="Arial"/>
                  </a:rPr>
                  <a:t>; infinite sums of such terms are geometric series.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ways to get sum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with two dice is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(it is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sums up to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independent trials with success probability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$P(\text{first success on an odd trial})=\frac{p}{1-q^2}=\frac{1}{2-p}$</a:t>
                </a:r>
                <a:r>
                  <a:rPr sz="2400" b="0">
                    <a:solidFill>
                      <a:srgbClr val="111827"/>
                    </a:solidFill>
                    <a:latin typeface="Arial"/>
                  </a:rPr>
                  <a:t> and </a:t>
                </a:r>
                <a:r>
                  <a:rPr lang="en-IN" sz="2400">
                    <a:solidFill>
                      <a:srgbClr val="111827"/>
                    </a:solidFill>
                    <a:latin typeface="Cambria Math" panose="02040503050406030204" pitchFamily="18" charset="0"/>
                  </a:rPr>
                  <a:t>$P(\text{even})=\frac{q}{2-p}$</a:t>
                </a:r>
                <a:r>
                  <a:rPr sz="2400" b="0">
                    <a:solidFill>
                      <a:srgbClr val="111827"/>
                    </a:solidFill>
                    <a:latin typeface="Arial"/>
                  </a:rPr>
                  <a:t>; here </a:t>
                </a:r>
                <a:r>
                  <a:rPr lang="en-IN" sz="2400">
                    <a:solidFill>
                      <a:srgbClr val="111827"/>
                    </a:solidFill>
                    <a:latin typeface="Cambria Math" panose="02040503050406030204" pitchFamily="18" charset="0"/>
                  </a:rPr>
                  <a:t>$p=\frac5{36}$</a:t>
                </a:r>
                <a:r>
                  <a:rPr sz="2400" b="0">
                    <a:solidFill>
                      <a:srgbClr val="111827"/>
                    </a:solidFill>
                    <a:latin typeface="Arial"/>
                  </a:rPr>
                  <a:t> gives </a:t>
                </a:r>
                <a:r>
                  <a:rPr lang="en-IN" sz="2400">
                    <a:solidFill>
                      <a:srgbClr val="111827"/>
                    </a:solidFill>
                    <a:latin typeface="Cambria Math" panose="02040503050406030204" pitchFamily="18" charset="0"/>
                  </a:rPr>
                  <a:t>$\frac{36}{67}$</a:t>
                </a:r>
                <a:r>
                  <a:rPr sz="2400" b="0">
                    <a:solidFill>
                      <a:srgbClr val="111827"/>
                    </a:solidFill>
                    <a:latin typeface="Arial"/>
                  </a:rPr>
                  <a:t> (checked).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$P(\text{first success on trial }k\equiv1\pmod r)=\frac{p}{1-q^r}$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'First time' means all earlier trials fail, so use </a:t>
                </a:r>
                <a:r>
                  <a:rPr lang="en-IN" sz="2400">
                    <a:solidFill>
                      <a:srgbClr val="111827"/>
                    </a:solidFill>
                    <a:latin typeface="Cambria Math" panose="02040503050406030204" pitchFamily="18" charset="0"/>
                  </a:rPr>
                  <a:t>$q^{k-1}p$</a:t>
                </a:r>
                <a:r>
                  <a:rPr sz="2400" b="0">
                    <a:solidFill>
                      <a:srgbClr val="111827"/>
                    </a:solidFill>
                    <a:latin typeface="Arial"/>
                  </a:rPr>
                  <a:t>; infinite sums of such terms are geometric series.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ways to get sum </a:t>
                </a:r>
                <a:r>
                  <a:rPr lang="en-IN" sz="2400">
                    <a:solidFill>
                      <a:srgbClr val="111827"/>
                    </a:solidFill>
                    <a:latin typeface="Cambria Math" panose="02040503050406030204" pitchFamily="18" charset="0"/>
                  </a:rPr>
                  <a:t>$6$</a:t>
                </a:r>
                <a:r>
                  <a:rPr sz="2400" b="0">
                    <a:solidFill>
                      <a:srgbClr val="111827"/>
                    </a:solidFill>
                    <a:latin typeface="Arial"/>
                  </a:rPr>
                  <a:t> with two dice is </a:t>
                </a:r>
                <a:r>
                  <a:rPr lang="en-IN" sz="2400">
                    <a:solidFill>
                      <a:srgbClr val="111827"/>
                    </a:solidFill>
                    <a:latin typeface="Cambria Math" panose="02040503050406030204" pitchFamily="18" charset="0"/>
                  </a:rPr>
                  <a:t>$5$</a:t>
                </a:r>
                <a:r>
                  <a:rPr sz="2400" b="0">
                    <a:solidFill>
                      <a:srgbClr val="111827"/>
                    </a:solidFill>
                    <a:latin typeface="Arial"/>
                  </a:rPr>
                  <a:t> (it is </a:t>
                </a:r>
                <a:r>
                  <a:rPr lang="en-IN" sz="2400">
                    <a:solidFill>
                      <a:srgbClr val="111827"/>
                    </a:solidFill>
                    <a:latin typeface="Cambria Math" panose="02040503050406030204" pitchFamily="18" charset="0"/>
                  </a:rPr>
                  <a:t>$6-1$</a:t>
                </a:r>
                <a:r>
                  <a:rPr sz="2400" b="0">
                    <a:solidFill>
                      <a:srgbClr val="111827"/>
                    </a:solidFill>
                    <a:latin typeface="Arial"/>
                  </a:rPr>
                  <a:t> for sums up to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𝐼</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such that LCM of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1000</m:t>
                    </m:r>
                  </m:oMath>
                </a14:m>
                <a:r>
                  <a:rPr sz="2400" b="0">
                    <a:solidFill>
                      <a:srgbClr val="111827"/>
                    </a:solidFill>
                    <a:latin typeface="Arial"/>
                  </a:rPr>
                  <a:t>, LCM of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2000</m:t>
                    </m:r>
                  </m:oMath>
                </a14:m>
                <a:r>
                  <a:rPr sz="2400" b="0">
                    <a:solidFill>
                      <a:srgbClr val="111827"/>
                    </a:solidFill>
                    <a:latin typeface="Arial"/>
                  </a:rPr>
                  <a:t> and LCM of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2000</m:t>
                    </m:r>
                  </m:oMath>
                </a14:m>
                <a:r>
                  <a:rPr sz="2400" b="0">
                    <a:solidFill>
                      <a:srgbClr val="111827"/>
                    </a:solidFill>
                    <a:latin typeface="Arial"/>
                  </a:rPr>
                  <a:t>, then number of ordered triplet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63</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90</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70</m:t>
                    </m:r>
                  </m:oMath>
                </a14:m>
                <a:r>
                  <a:rPr sz="2400" b="0">
                    <a:solidFill>
                      <a:srgbClr val="111827"/>
                    </a:solidFill>
                    <a:latin typeface="Arial"/>
                  </a:rPr>
                  <a:t>   (D) None of these</a:t>
                </a:r>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$a,b,c\in I^+$</a:t>
                </a:r>
                <a:r>
                  <a:rPr sz="2400" b="0">
                    <a:solidFill>
                      <a:srgbClr val="111827"/>
                    </a:solidFill>
                    <a:latin typeface="Arial"/>
                  </a:rPr>
                  <a:t> such that LCM of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is </a:t>
                </a:r>
                <a:r>
                  <a:rPr lang="en-IN" sz="2400">
                    <a:solidFill>
                      <a:srgbClr val="111827"/>
                    </a:solidFill>
                    <a:latin typeface="Cambria Math" panose="02040503050406030204" pitchFamily="18" charset="0"/>
                  </a:rPr>
                  <a:t>$1000$</a:t>
                </a:r>
                <a:r>
                  <a:rPr sz="2400" b="0">
                    <a:solidFill>
                      <a:srgbClr val="111827"/>
                    </a:solidFill>
                    <a:latin typeface="Arial"/>
                  </a:rPr>
                  <a:t>, LCM of </a:t>
                </a:r>
                <a:r>
                  <a:rPr lang="en-IN" sz="2400">
                    <a:solidFill>
                      <a:srgbClr val="111827"/>
                    </a:solidFill>
                    <a:latin typeface="Cambria Math" panose="02040503050406030204" pitchFamily="18" charset="0"/>
                  </a:rPr>
                  <a:t>$b$</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is </a:t>
                </a:r>
                <a:r>
                  <a:rPr lang="en-IN" sz="2400">
                    <a:solidFill>
                      <a:srgbClr val="111827"/>
                    </a:solidFill>
                    <a:latin typeface="Cambria Math" panose="02040503050406030204" pitchFamily="18" charset="0"/>
                  </a:rPr>
                  <a:t>$2000$</a:t>
                </a:r>
                <a:r>
                  <a:rPr sz="2400" b="0">
                    <a:solidFill>
                      <a:srgbClr val="111827"/>
                    </a:solidFill>
                    <a:latin typeface="Arial"/>
                  </a:rPr>
                  <a:t> and LCM of </a:t>
                </a:r>
                <a:r>
                  <a:rPr lang="en-IN" sz="2400">
                    <a:solidFill>
                      <a:srgbClr val="111827"/>
                    </a:solidFill>
                    <a:latin typeface="Cambria Math" panose="02040503050406030204" pitchFamily="18" charset="0"/>
                  </a:rPr>
                  <a:t>$c$</a:t>
                </a:r>
                <a:r>
                  <a:rPr sz="2400" b="0">
                    <a:solidFill>
                      <a:srgbClr val="111827"/>
                    </a:solidFill>
                    <a:latin typeface="Arial"/>
                  </a:rPr>
                  <a:t> and </a:t>
                </a:r>
                <a:r>
                  <a:rPr lang="en-IN" sz="2400">
                    <a:solidFill>
                      <a:srgbClr val="111827"/>
                    </a:solidFill>
                    <a:latin typeface="Cambria Math" panose="02040503050406030204" pitchFamily="18" charset="0"/>
                  </a:rPr>
                  <a:t>$a$</a:t>
                </a:r>
                <a:r>
                  <a:rPr sz="2400" b="0">
                    <a:solidFill>
                      <a:srgbClr val="111827"/>
                    </a:solidFill>
                    <a:latin typeface="Arial"/>
                  </a:rPr>
                  <a:t> is </a:t>
                </a:r>
                <a:r>
                  <a:rPr lang="en-IN" sz="2400">
                    <a:solidFill>
                      <a:srgbClr val="111827"/>
                    </a:solidFill>
                    <a:latin typeface="Cambria Math" panose="02040503050406030204" pitchFamily="18" charset="0"/>
                  </a:rPr>
                  <a:t>$2000$</a:t>
                </a:r>
                <a:r>
                  <a:rPr sz="2400" b="0">
                    <a:solidFill>
                      <a:srgbClr val="111827"/>
                    </a:solidFill>
                    <a:latin typeface="Arial"/>
                  </a:rPr>
                  <a:t>, then number of ordered triplet </a:t>
                </a:r>
                <a:r>
                  <a:rPr lang="en-IN" sz="2400">
                    <a:solidFill>
                      <a:srgbClr val="111827"/>
                    </a:solidFill>
                    <a:latin typeface="Cambria Math" panose="02040503050406030204" pitchFamily="18" charset="0"/>
                  </a:rPr>
                  <a:t>$(a,b,c)$</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$63$</a:t>
                </a:r>
                <a:r>
                  <a:rPr sz="2400" b="0">
                    <a:solidFill>
                      <a:srgbClr val="111827"/>
                    </a:solidFill>
                    <a:latin typeface="Arial"/>
                  </a:rPr>
                  <a:t>   (B) </a:t>
                </a:r>
                <a:r>
                  <a:rPr lang="en-IN" sz="2400">
                    <a:solidFill>
                      <a:srgbClr val="111827"/>
                    </a:solidFill>
                    <a:latin typeface="Cambria Math" panose="02040503050406030204" pitchFamily="18" charset="0"/>
                  </a:rPr>
                  <a:t>$90$</a:t>
                </a:r>
                <a:r>
                  <a:rPr sz="2400" b="0">
                    <a:solidFill>
                      <a:srgbClr val="111827"/>
                    </a:solidFill>
                    <a:latin typeface="Arial"/>
                  </a:rPr>
                  <a:t>   (C) </a:t>
                </a:r>
                <a:r>
                  <a:rPr lang="en-IN" sz="2400">
                    <a:solidFill>
                      <a:srgbClr val="111827"/>
                    </a:solidFill>
                    <a:latin typeface="Cambria Math" panose="02040503050406030204" pitchFamily="18" charset="0"/>
                  </a:rPr>
                  <a:t>$70$</a:t>
                </a:r>
                <a:r>
                  <a:rPr sz="2400" b="0">
                    <a:solidFill>
                      <a:srgbClr val="111827"/>
                    </a:solidFill>
                    <a:latin typeface="Arial"/>
                  </a:rPr>
                  <a:t>   (D) None of these</a:t>
                </a:r>
                <a:endParaRPr sz="2400">
                  <a:solidFill>
                    <a:srgbClr val="111827"/>
                  </a:solidFill>
                </a:endParaRPr>
              </a:p>
            </p:txBody>
          </p:sp>
        </mc:Fallback>
      </mc:AlternateContent>
      <p:sp>
        <p:nvSpPr>
          <p:cNvPr id="5" name="Rectangle 4"/>
          <p:cNvSpPr/>
          <p:nvPr/>
        </p:nvSpPr>
        <p:spPr>
          <a:xfrm>
            <a:off x="731520" y="3580383"/>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ordered triples with given LCMs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Treat the primes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 separately: each gives pairwise-maximum conditions on exponent triples.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Treat the primes </a:t>
                </a:r>
                <a:r>
                  <a:rPr lang="en-IN" sz="2400">
                    <a:solidFill>
                      <a:srgbClr val="78350F"/>
                    </a:solidFill>
                    <a:latin typeface="Cambria Math" panose="02040503050406030204" pitchFamily="18" charset="0"/>
                  </a:rPr>
                  <a:t>$2$</a:t>
                </a:r>
                <a:r>
                  <a:rPr sz="2400" b="0">
                    <a:solidFill>
                      <a:srgbClr val="78350F"/>
                    </a:solidFill>
                    <a:latin typeface="Arial"/>
                  </a:rPr>
                  <a:t> and </a:t>
                </a:r>
                <a:r>
                  <a:rPr lang="en-IN" sz="2400">
                    <a:solidFill>
                      <a:srgbClr val="78350F"/>
                    </a:solidFill>
                    <a:latin typeface="Cambria Math" panose="02040503050406030204" pitchFamily="18" charset="0"/>
                  </a:rPr>
                  <a:t>$5$</a:t>
                </a:r>
                <a:r>
                  <a:rPr sz="2400" b="0">
                    <a:solidFill>
                      <a:srgbClr val="78350F"/>
                    </a:solidFill>
                    <a:latin typeface="Arial"/>
                  </a:rPr>
                  <a:t> separately: each gives pairwise-maximum conditions on exponent triples.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1000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2000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𝐴</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𝑅</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𝐵</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𝑆</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𝐶</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𝑇</m:t>
                        </m:r>
                      </m:sup>
                    </m:sSup>
                  </m:oMath>
                </a14:m>
                <a:r>
                  <a:rPr sz="2400" b="0">
                    <a:solidFill>
                      <a:srgbClr val="111827"/>
                    </a:solidFill>
                    <a:latin typeface="Arial"/>
                  </a:rPr>
                  <a:t> with non-negative integer exponents.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LCM conditions give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all pairwise maxima equal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least two of them equal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$1000=2^3\cdot5^3$</a:t>
                </a:r>
                <a:r>
                  <a:rPr sz="2400" b="0">
                    <a:solidFill>
                      <a:srgbClr val="111827"/>
                    </a:solidFill>
                    <a:latin typeface="Arial"/>
                  </a:rPr>
                  <a:t> and </a:t>
                </a:r>
                <a:r>
                  <a:rPr lang="en-IN" sz="2400">
                    <a:solidFill>
                      <a:srgbClr val="111827"/>
                    </a:solidFill>
                    <a:latin typeface="Cambria Math" panose="02040503050406030204" pitchFamily="18" charset="0"/>
                  </a:rPr>
                  <a:t>$2000=2^4\cdot5^3$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$a=2^A5^R,\ b=2^B5^S,\ c=2^C5^T$</a:t>
                </a:r>
                <a:r>
                  <a:rPr sz="2400" b="0">
                    <a:solidFill>
                      <a:srgbClr val="111827"/>
                    </a:solidFill>
                    <a:latin typeface="Arial"/>
                  </a:rPr>
                  <a:t> with non-negative integer exponents.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LCM conditions give </a:t>
                </a:r>
                <a:r>
                  <a:rPr lang="en-IN" sz="2400">
                    <a:solidFill>
                      <a:srgbClr val="111827"/>
                    </a:solidFill>
                    <a:latin typeface="Cambria Math" panose="02040503050406030204" pitchFamily="18" charset="0"/>
                  </a:rPr>
                  <a:t>$\max(A,B)=3,\ \max(A,C)=\max(B,C)=4$</a:t>
                </a:r>
                <a:r>
                  <a:rPr sz="2400" b="0">
                    <a:solidFill>
                      <a:srgbClr val="111827"/>
                    </a:solidFill>
                    <a:latin typeface="Arial"/>
                  </a:rPr>
                  <a:t> and </a:t>
                </a:r>
                <a:r>
                  <a:rPr lang="en-IN" sz="2400">
                    <a:solidFill>
                      <a:srgbClr val="111827"/>
                    </a:solidFill>
                    <a:latin typeface="Cambria Math" panose="02040503050406030204" pitchFamily="18" charset="0"/>
                  </a:rPr>
                  <a:t>$\max(R,S)=3,\ \max(R,T)=\max(S,T)=3$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r>
                  <a:rPr lang="en-IN" sz="2400">
                    <a:solidFill>
                      <a:srgbClr val="111827"/>
                    </a:solidFill>
                    <a:latin typeface="Cambria Math" panose="02040503050406030204" pitchFamily="18" charset="0"/>
                  </a:rPr>
                  <a:t>$5$</a:t>
                </a:r>
                <a:r>
                  <a:rPr sz="2400" b="0">
                    <a:solidFill>
                      <a:srgbClr val="111827"/>
                    </a:solidFill>
                    <a:latin typeface="Arial"/>
                  </a:rPr>
                  <a:t>: all pairwise maxima equal </a:t>
                </a:r>
                <a:r>
                  <a:rPr lang="en-IN" sz="2400">
                    <a:solidFill>
                      <a:srgbClr val="111827"/>
                    </a:solidFill>
                    <a:latin typeface="Cambria Math" panose="02040503050406030204" pitchFamily="18" charset="0"/>
                  </a:rPr>
                  <a:t>$3$</a:t>
                </a:r>
                <a:r>
                  <a:rPr sz="2400" b="0">
                    <a:solidFill>
                      <a:srgbClr val="111827"/>
                    </a:solidFill>
                    <a:latin typeface="Arial"/>
                  </a:rPr>
                  <a:t>, so </a:t>
                </a:r>
                <a:r>
                  <a:rPr lang="en-IN" sz="2400">
                    <a:solidFill>
                      <a:srgbClr val="111827"/>
                    </a:solidFill>
                    <a:latin typeface="Cambria Math" panose="02040503050406030204" pitchFamily="18" charset="0"/>
                  </a:rPr>
                  <a:t>$R,S,T\le3$</a:t>
                </a:r>
                <a:r>
                  <a:rPr sz="2400" b="0">
                    <a:solidFill>
                      <a:srgbClr val="111827"/>
                    </a:solidFill>
                    <a:latin typeface="Arial"/>
                  </a:rPr>
                  <a:t> and at least two of them equal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Ways: all three equal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(1 way); exactly two equal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and the third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with one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with one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with one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ways). Total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ways for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forces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force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both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(1 way),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3</m:t>
                    </m:r>
                  </m:oMath>
                </a14:m>
                <a:r>
                  <a:rPr sz="2400" b="0">
                    <a:solidFill>
                      <a:srgbClr val="111827"/>
                    </a:solidFill>
                    <a:latin typeface="Arial"/>
                  </a:rPr>
                  <a:t> (3 ways),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3</m:t>
                    </m:r>
                  </m:oMath>
                </a14:m>
                <a:r>
                  <a:rPr sz="2400" b="0">
                    <a:solidFill>
                      <a:srgbClr val="111827"/>
                    </a:solidFill>
                    <a:latin typeface="Arial"/>
                  </a:rPr>
                  <a:t> (3 ways):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exponent choices for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for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are independent: number of ordered triples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70</m:t>
                    </m:r>
                  </m:oMath>
                </a14:m>
                <a:r>
                  <a:rPr sz="2400" b="0">
                    <a:solidFill>
                      <a:srgbClr val="111827"/>
                    </a:solidFill>
                    <a:latin typeface="Arial"/>
                  </a:rPr>
                  <a:t> (a brute-force count over divisors of </a:t>
                </a:r>
                <a14:m>
                  <m:oMath xmlns:m="http://schemas.openxmlformats.org/officeDocument/2006/math">
                    <m:r>
                      <a:rPr lang="en-IN" sz="2400" i="1">
                        <a:solidFill>
                          <a:srgbClr val="111827"/>
                        </a:solidFill>
                        <a:latin typeface="Cambria Math" panose="02040503050406030204" pitchFamily="18" charset="0"/>
                      </a:rPr>
                      <m:t>2000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70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Ways: all three equal </a:t>
                </a:r>
                <a:r>
                  <a:rPr lang="en-IN" sz="2400">
                    <a:solidFill>
                      <a:srgbClr val="111827"/>
                    </a:solidFill>
                    <a:latin typeface="Cambria Math" panose="02040503050406030204" pitchFamily="18" charset="0"/>
                  </a:rPr>
                  <a:t>$3$</a:t>
                </a:r>
                <a:r>
                  <a:rPr sz="2400" b="0">
                    <a:solidFill>
                      <a:srgbClr val="111827"/>
                    </a:solidFill>
                    <a:latin typeface="Arial"/>
                  </a:rPr>
                  <a:t> (1 way); exactly two equal </a:t>
                </a:r>
                <a:r>
                  <a:rPr lang="en-IN" sz="2400">
                    <a:solidFill>
                      <a:srgbClr val="111827"/>
                    </a:solidFill>
                    <a:latin typeface="Cambria Math" panose="02040503050406030204" pitchFamily="18" charset="0"/>
                  </a:rPr>
                  <a:t>$3$</a:t>
                </a:r>
                <a:r>
                  <a:rPr sz="2400" b="0">
                    <a:solidFill>
                      <a:srgbClr val="111827"/>
                    </a:solidFill>
                    <a:latin typeface="Arial"/>
                  </a:rPr>
                  <a:t> and the third in </a:t>
                </a:r>
                <a:r>
                  <a:rPr lang="en-IN" sz="2400">
                    <a:solidFill>
                      <a:srgbClr val="111827"/>
                    </a:solidFill>
                    <a:latin typeface="Cambria Math" panose="02040503050406030204" pitchFamily="18" charset="0"/>
                  </a:rPr>
                  <a:t>$\{0,1,2\}$</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with one </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with one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with one </a:t>
                </a:r>
                <a:r>
                  <a:rPr lang="en-IN" sz="2400">
                    <a:solidFill>
                      <a:srgbClr val="111827"/>
                    </a:solidFill>
                    <a:latin typeface="Cambria Math" panose="02040503050406030204" pitchFamily="18" charset="0"/>
                  </a:rPr>
                  <a:t>$0$</a:t>
                </a:r>
                <a:r>
                  <a:rPr sz="2400" b="0">
                    <a:solidFill>
                      <a:srgbClr val="111827"/>
                    </a:solidFill>
                    <a:latin typeface="Arial"/>
                  </a:rPr>
                  <a:t>, i.e. </a:t>
                </a:r>
                <a:r>
                  <a:rPr lang="en-IN" sz="2400">
                    <a:solidFill>
                      <a:srgbClr val="111827"/>
                    </a:solidFill>
                    <a:latin typeface="Cambria Math" panose="02040503050406030204" pitchFamily="18" charset="0"/>
                  </a:rPr>
                  <a:t>$3\cdot3=9$</a:t>
                </a:r>
                <a:r>
                  <a:rPr sz="2400" b="0">
                    <a:solidFill>
                      <a:srgbClr val="111827"/>
                    </a:solidFill>
                    <a:latin typeface="Arial"/>
                  </a:rPr>
                  <a:t> ways). Total </a:t>
                </a:r>
                <a:r>
                  <a:rPr lang="en-IN" sz="2400">
                    <a:solidFill>
                      <a:srgbClr val="111827"/>
                    </a:solidFill>
                    <a:latin typeface="Cambria Math" panose="02040503050406030204" pitchFamily="18" charset="0"/>
                  </a:rPr>
                  <a:t>$10$</a:t>
                </a:r>
                <a:r>
                  <a:rPr sz="2400" b="0">
                    <a:solidFill>
                      <a:srgbClr val="111827"/>
                    </a:solidFill>
                    <a:latin typeface="Arial"/>
                  </a:rPr>
                  <a:t> ways for </a:t>
                </a:r>
                <a:r>
                  <a:rPr lang="en-IN" sz="2400">
                    <a:solidFill>
                      <a:srgbClr val="111827"/>
                    </a:solidFill>
                    <a:latin typeface="Cambria Math" panose="02040503050406030204" pitchFamily="18" charset="0"/>
                  </a:rPr>
                  <a:t>$R,S,T$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$\max(A,B)=3$</a:t>
                </a:r>
                <a:r>
                  <a:rPr sz="2400" b="0">
                    <a:solidFill>
                      <a:srgbClr val="111827"/>
                    </a:solidFill>
                    <a:latin typeface="Arial"/>
                  </a:rPr>
                  <a:t> forces </a:t>
                </a:r>
                <a:r>
                  <a:rPr lang="en-IN" sz="2400">
                    <a:solidFill>
                      <a:srgbClr val="111827"/>
                    </a:solidFill>
                    <a:latin typeface="Cambria Math" panose="02040503050406030204" pitchFamily="18" charset="0"/>
                  </a:rPr>
                  <a:t>$A,B\le3$</a:t>
                </a:r>
                <a:r>
                  <a:rPr sz="2400" b="0">
                    <a:solidFill>
                      <a:srgbClr val="111827"/>
                    </a:solidFill>
                    <a:latin typeface="Arial"/>
                  </a:rPr>
                  <a:t>, so </a:t>
                </a:r>
                <a:r>
                  <a:rPr lang="en-IN" sz="2400">
                    <a:solidFill>
                      <a:srgbClr val="111827"/>
                    </a:solidFill>
                    <a:latin typeface="Cambria Math" panose="02040503050406030204" pitchFamily="18" charset="0"/>
                  </a:rPr>
                  <a:t>$\max(A,C)=4$</a:t>
                </a:r>
                <a:r>
                  <a:rPr sz="2400" b="0">
                    <a:solidFill>
                      <a:srgbClr val="111827"/>
                    </a:solidFill>
                    <a:latin typeface="Arial"/>
                  </a:rPr>
                  <a:t> and </a:t>
                </a:r>
                <a:r>
                  <a:rPr lang="en-IN" sz="2400">
                    <a:solidFill>
                      <a:srgbClr val="111827"/>
                    </a:solidFill>
                    <a:latin typeface="Cambria Math" panose="02040503050406030204" pitchFamily="18" charset="0"/>
                  </a:rPr>
                  <a:t>$\max(B,C)=4$</a:t>
                </a:r>
                <a:r>
                  <a:rPr sz="2400" b="0">
                    <a:solidFill>
                      <a:srgbClr val="111827"/>
                    </a:solidFill>
                    <a:latin typeface="Arial"/>
                  </a:rPr>
                  <a:t> force </a:t>
                </a:r>
                <a:r>
                  <a:rPr lang="en-IN" sz="2400">
                    <a:solidFill>
                      <a:srgbClr val="111827"/>
                    </a:solidFill>
                    <a:latin typeface="Cambria Math" panose="02040503050406030204" pitchFamily="18" charset="0"/>
                  </a:rPr>
                  <a:t>$C=4$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r>
                  <a:rPr lang="en-IN" sz="2400">
                    <a:solidFill>
                      <a:srgbClr val="111827"/>
                    </a:solidFill>
                    <a:latin typeface="Cambria Math" panose="02040503050406030204" pitchFamily="18" charset="0"/>
                  </a:rPr>
                  <a:t>$A,B\in\{0,1,2,3\}$</a:t>
                </a:r>
                <a:r>
                  <a:rPr sz="2400" b="0">
                    <a:solidFill>
                      <a:srgbClr val="111827"/>
                    </a:solidFill>
                    <a:latin typeface="Arial"/>
                  </a:rPr>
                  <a:t> with </a:t>
                </a:r>
                <a:r>
                  <a:rPr lang="en-IN" sz="2400">
                    <a:solidFill>
                      <a:srgbClr val="111827"/>
                    </a:solidFill>
                    <a:latin typeface="Cambria Math" panose="02040503050406030204" pitchFamily="18" charset="0"/>
                  </a:rPr>
                  <a:t>$\max(A,B)=3$</a:t>
                </a:r>
                <a:r>
                  <a:rPr sz="2400" b="0">
                    <a:solidFill>
                      <a:srgbClr val="111827"/>
                    </a:solidFill>
                    <a:latin typeface="Arial"/>
                  </a:rPr>
                  <a:t>: both </a:t>
                </a:r>
                <a:r>
                  <a:rPr lang="en-IN" sz="2400">
                    <a:solidFill>
                      <a:srgbClr val="111827"/>
                    </a:solidFill>
                    <a:latin typeface="Cambria Math" panose="02040503050406030204" pitchFamily="18" charset="0"/>
                  </a:rPr>
                  <a:t>$3$</a:t>
                </a:r>
                <a:r>
                  <a:rPr sz="2400" b="0">
                    <a:solidFill>
                      <a:srgbClr val="111827"/>
                    </a:solidFill>
                    <a:latin typeface="Arial"/>
                  </a:rPr>
                  <a:t> (1 way), </a:t>
                </a:r>
                <a:r>
                  <a:rPr lang="en-IN" sz="2400">
                    <a:solidFill>
                      <a:srgbClr val="111827"/>
                    </a:solidFill>
                    <a:latin typeface="Cambria Math" panose="02040503050406030204" pitchFamily="18" charset="0"/>
                  </a:rPr>
                  <a:t>$A=3$</a:t>
                </a:r>
                <a:r>
                  <a:rPr sz="2400" b="0">
                    <a:solidFill>
                      <a:srgbClr val="111827"/>
                    </a:solidFill>
                    <a:latin typeface="Arial"/>
                  </a:rPr>
                  <a:t> and </a:t>
                </a:r>
                <a:r>
                  <a:rPr lang="en-IN" sz="2400">
                    <a:solidFill>
                      <a:srgbClr val="111827"/>
                    </a:solidFill>
                    <a:latin typeface="Cambria Math" panose="02040503050406030204" pitchFamily="18" charset="0"/>
                  </a:rPr>
                  <a:t>$B&lt;3$</a:t>
                </a:r>
                <a:r>
                  <a:rPr sz="2400" b="0">
                    <a:solidFill>
                      <a:srgbClr val="111827"/>
                    </a:solidFill>
                    <a:latin typeface="Arial"/>
                  </a:rPr>
                  <a:t> (3 ways), </a:t>
                </a:r>
                <a:r>
                  <a:rPr lang="en-IN" sz="2400">
                    <a:solidFill>
                      <a:srgbClr val="111827"/>
                    </a:solidFill>
                    <a:latin typeface="Cambria Math" panose="02040503050406030204" pitchFamily="18" charset="0"/>
                  </a:rPr>
                  <a:t>$B=3$</a:t>
                </a:r>
                <a:r>
                  <a:rPr sz="2400" b="0">
                    <a:solidFill>
                      <a:srgbClr val="111827"/>
                    </a:solidFill>
                    <a:latin typeface="Arial"/>
                  </a:rPr>
                  <a:t> and </a:t>
                </a:r>
                <a:r>
                  <a:rPr lang="en-IN" sz="2400">
                    <a:solidFill>
                      <a:srgbClr val="111827"/>
                    </a:solidFill>
                    <a:latin typeface="Cambria Math" panose="02040503050406030204" pitchFamily="18" charset="0"/>
                  </a:rPr>
                  <a:t>$A&lt;3$</a:t>
                </a:r>
                <a:r>
                  <a:rPr sz="2400" b="0">
                    <a:solidFill>
                      <a:srgbClr val="111827"/>
                    </a:solidFill>
                    <a:latin typeface="Arial"/>
                  </a:rPr>
                  <a:t> (3 ways): </a:t>
                </a:r>
                <a:r>
                  <a:rPr lang="en-IN" sz="2400">
                    <a:solidFill>
                      <a:srgbClr val="111827"/>
                    </a:solidFill>
                    <a:latin typeface="Cambria Math" panose="02040503050406030204" pitchFamily="18" charset="0"/>
                  </a:rPr>
                  <a:t>$7$</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exponent choices for </a:t>
                </a:r>
                <a:r>
                  <a:rPr lang="en-IN" sz="2400">
                    <a:solidFill>
                      <a:srgbClr val="111827"/>
                    </a:solidFill>
                    <a:latin typeface="Cambria Math" panose="02040503050406030204" pitchFamily="18" charset="0"/>
                  </a:rPr>
                  <a:t>$2$</a:t>
                </a:r>
                <a:r>
                  <a:rPr sz="2400" b="0">
                    <a:solidFill>
                      <a:srgbClr val="111827"/>
                    </a:solidFill>
                    <a:latin typeface="Arial"/>
                  </a:rPr>
                  <a:t> and for </a:t>
                </a:r>
                <a:r>
                  <a:rPr lang="en-IN" sz="2400">
                    <a:solidFill>
                      <a:srgbClr val="111827"/>
                    </a:solidFill>
                    <a:latin typeface="Cambria Math" panose="02040503050406030204" pitchFamily="18" charset="0"/>
                  </a:rPr>
                  <a:t>$5$</a:t>
                </a:r>
                <a:r>
                  <a:rPr sz="2400" b="0">
                    <a:solidFill>
                      <a:srgbClr val="111827"/>
                    </a:solidFill>
                    <a:latin typeface="Arial"/>
                  </a:rPr>
                  <a:t> are independent: number of ordered triples </a:t>
                </a:r>
                <a:r>
                  <a:rPr lang="en-IN" sz="2400">
                    <a:solidFill>
                      <a:srgbClr val="111827"/>
                    </a:solidFill>
                    <a:latin typeface="Cambria Math" panose="02040503050406030204" pitchFamily="18" charset="0"/>
                  </a:rPr>
                  <a:t>$=7\times10=70$</a:t>
                </a:r>
                <a:r>
                  <a:rPr sz="2400" b="0">
                    <a:solidFill>
                      <a:srgbClr val="111827"/>
                    </a:solidFill>
                    <a:latin typeface="Arial"/>
                  </a:rPr>
                  <a:t> (a brute-force count over divisors of </a:t>
                </a:r>
                <a:r>
                  <a:rPr lang="en-IN" sz="2400">
                    <a:solidFill>
                      <a:srgbClr val="111827"/>
                    </a:solidFill>
                    <a:latin typeface="Cambria Math" panose="02040503050406030204" pitchFamily="18" charset="0"/>
                  </a:rPr>
                  <a:t>$2000$</a:t>
                </a:r>
                <a:r>
                  <a:rPr sz="2400" b="0">
                    <a:solidFill>
                      <a:srgbClr val="111827"/>
                    </a:solidFill>
                    <a:latin typeface="Arial"/>
                  </a:rPr>
                  <a:t> gives </a:t>
                </a:r>
                <a:r>
                  <a:rPr lang="en-IN" sz="2400">
                    <a:solidFill>
                      <a:srgbClr val="111827"/>
                    </a:solidFill>
                    <a:latin typeface="Cambria Math" panose="02040503050406030204" pitchFamily="18" charset="0"/>
                  </a:rPr>
                  <a:t>$70$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70</a:t>
            </a:r>
            <a:endParaRPr sz="2800">
              <a:solidFill>
                <a:srgbClr val="15803D"/>
              </a:solidFill>
            </a:endParaRP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Complement counting: </a:t>
                </a:r>
                <a14:m>
                  <m:oMath xmlns:m="http://schemas.openxmlformats.org/officeDocument/2006/math">
                    <m:r>
                      <m:rPr>
                        <m:sty m:val="p"/>
                      </m:rPr>
                      <a:rPr lang="en-IN" sz="2400">
                        <a:solidFill>
                          <a:srgbClr val="78350F"/>
                        </a:solidFill>
                        <a:latin typeface="Cambria Math" panose="02040503050406030204" pitchFamily="18" charset="0"/>
                      </a:rPr>
                      <m:t>max</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oMath>
                </a14:m>
                <a:r>
                  <a:rPr sz="2400" b="0">
                    <a:solidFill>
                      <a:srgbClr val="78350F"/>
                    </a:solidFill>
                    <a:latin typeface="Arial"/>
                  </a:rPr>
                  <a:t> means all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oMath>
                </a14:m>
                <a:r>
                  <a:rPr sz="2400" b="0">
                    <a:solidFill>
                      <a:srgbClr val="78350F"/>
                    </a:solidFill>
                    <a:latin typeface="Arial"/>
                  </a:rPr>
                  <a:t> minus all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so each count becomes a difference of powers.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Complement counting: </a:t>
                </a:r>
                <a:r>
                  <a:rPr lang="en-IN" sz="2400">
                    <a:solidFill>
                      <a:srgbClr val="78350F"/>
                    </a:solidFill>
                    <a:latin typeface="Cambria Math" panose="02040503050406030204" pitchFamily="18" charset="0"/>
                  </a:rPr>
                  <a:t>$\max=t$</a:t>
                </a:r>
                <a:r>
                  <a:rPr sz="2400" b="0">
                    <a:solidFill>
                      <a:srgbClr val="78350F"/>
                    </a:solidFill>
                    <a:latin typeface="Arial"/>
                  </a:rPr>
                  <a:t> means all </a:t>
                </a:r>
                <a:r>
                  <a:rPr lang="en-IN" sz="2400">
                    <a:solidFill>
                      <a:srgbClr val="78350F"/>
                    </a:solidFill>
                    <a:latin typeface="Cambria Math" panose="02040503050406030204" pitchFamily="18" charset="0"/>
                  </a:rPr>
                  <a:t>$\le t$</a:t>
                </a:r>
                <a:r>
                  <a:rPr sz="2400" b="0">
                    <a:solidFill>
                      <a:srgbClr val="78350F"/>
                    </a:solidFill>
                    <a:latin typeface="Arial"/>
                  </a:rPr>
                  <a:t> minus all </a:t>
                </a:r>
                <a:r>
                  <a:rPr lang="en-IN" sz="2400">
                    <a:solidFill>
                      <a:srgbClr val="78350F"/>
                    </a:solidFill>
                    <a:latin typeface="Cambria Math" panose="02040503050406030204" pitchFamily="18" charset="0"/>
                  </a:rPr>
                  <a:t>$\le t-1$</a:t>
                </a:r>
                <a:r>
                  <a:rPr sz="2400" b="0">
                    <a:solidFill>
                      <a:srgbClr val="78350F"/>
                    </a:solidFill>
                    <a:latin typeface="Arial"/>
                  </a:rPr>
                  <a:t>, so each count becomes a difference of powers.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𝐴</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𝑅</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𝐵</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𝑆</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𝐶</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𝑇</m:t>
                        </m:r>
                      </m:sup>
                    </m:sSup>
                  </m:oMath>
                </a14:m>
                <a:r>
                  <a:rPr sz="2400" b="0">
                    <a:solidFill>
                      <a:srgbClr val="111827"/>
                    </a:solidFill>
                    <a:latin typeface="Arial"/>
                  </a:rPr>
                  <a:t>. Exponents of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of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are counted independently.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forces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all pairs minus pairs with both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all pairwise maxima are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oMath>
                </a14:m>
                <a:r>
                  <a:rPr sz="2400" b="0">
                    <a:solidFill>
                      <a:srgbClr val="111827"/>
                    </a:solidFill>
                    <a:latin typeface="Arial"/>
                  </a:rPr>
                  <a:t> triples, and at least two of them must equal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$a=2^A5^R$</a:t>
                </a:r>
                <a:r>
                  <a:rPr sz="2400" b="0">
                    <a:solidFill>
                      <a:srgbClr val="111827"/>
                    </a:solidFill>
                    <a:latin typeface="Arial"/>
                  </a:rPr>
                  <a:t>, </a:t>
                </a:r>
                <a:r>
                  <a:rPr lang="en-IN" sz="2400">
                    <a:solidFill>
                      <a:srgbClr val="111827"/>
                    </a:solidFill>
                    <a:latin typeface="Cambria Math" panose="02040503050406030204" pitchFamily="18" charset="0"/>
                  </a:rPr>
                  <a:t>$b=2^B5^S$</a:t>
                </a:r>
                <a:r>
                  <a:rPr sz="2400" b="0">
                    <a:solidFill>
                      <a:srgbClr val="111827"/>
                    </a:solidFill>
                    <a:latin typeface="Arial"/>
                  </a:rPr>
                  <a:t>, </a:t>
                </a:r>
                <a:r>
                  <a:rPr lang="en-IN" sz="2400">
                    <a:solidFill>
                      <a:srgbClr val="111827"/>
                    </a:solidFill>
                    <a:latin typeface="Cambria Math" panose="02040503050406030204" pitchFamily="18" charset="0"/>
                  </a:rPr>
                  <a:t>$c=2^C5^T$</a:t>
                </a:r>
                <a:r>
                  <a:rPr sz="2400" b="0">
                    <a:solidFill>
                      <a:srgbClr val="111827"/>
                    </a:solidFill>
                    <a:latin typeface="Arial"/>
                  </a:rPr>
                  <a:t>. Exponents of </a:t>
                </a:r>
                <a:r>
                  <a:rPr lang="en-IN" sz="2400">
                    <a:solidFill>
                      <a:srgbClr val="111827"/>
                    </a:solidFill>
                    <a:latin typeface="Cambria Math" panose="02040503050406030204" pitchFamily="18" charset="0"/>
                  </a:rPr>
                  <a:t>$2$</a:t>
                </a:r>
                <a:r>
                  <a:rPr sz="2400" b="0">
                    <a:solidFill>
                      <a:srgbClr val="111827"/>
                    </a:solidFill>
                    <a:latin typeface="Arial"/>
                  </a:rPr>
                  <a:t> and of </a:t>
                </a:r>
                <a:r>
                  <a:rPr lang="en-IN" sz="2400">
                    <a:solidFill>
                      <a:srgbClr val="111827"/>
                    </a:solidFill>
                    <a:latin typeface="Cambria Math" panose="02040503050406030204" pitchFamily="18" charset="0"/>
                  </a:rPr>
                  <a:t>$5$</a:t>
                </a:r>
                <a:r>
                  <a:rPr sz="2400" b="0">
                    <a:solidFill>
                      <a:srgbClr val="111827"/>
                    </a:solidFill>
                    <a:latin typeface="Arial"/>
                  </a:rPr>
                  <a:t> are counted independently.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$\max(A,B)=3$</a:t>
                </a:r>
                <a:r>
                  <a:rPr sz="2400" b="0">
                    <a:solidFill>
                      <a:srgbClr val="111827"/>
                    </a:solidFill>
                    <a:latin typeface="Arial"/>
                  </a:rPr>
                  <a:t> gives </a:t>
                </a:r>
                <a:r>
                  <a:rPr lang="en-IN" sz="2400">
                    <a:solidFill>
                      <a:srgbClr val="111827"/>
                    </a:solidFill>
                    <a:latin typeface="Cambria Math" panose="02040503050406030204" pitchFamily="18" charset="0"/>
                  </a:rPr>
                  <a:t>$A,B\le3$</a:t>
                </a:r>
                <a:r>
                  <a:rPr sz="2400" b="0">
                    <a:solidFill>
                      <a:srgbClr val="111827"/>
                    </a:solidFill>
                    <a:latin typeface="Arial"/>
                  </a:rPr>
                  <a:t>, so </a:t>
                </a:r>
                <a:r>
                  <a:rPr lang="en-IN" sz="2400">
                    <a:solidFill>
                      <a:srgbClr val="111827"/>
                    </a:solidFill>
                    <a:latin typeface="Cambria Math" panose="02040503050406030204" pitchFamily="18" charset="0"/>
                  </a:rPr>
                  <a:t>$\max(A,C)=\max(B,C)=4$</a:t>
                </a:r>
                <a:r>
                  <a:rPr sz="2400" b="0">
                    <a:solidFill>
                      <a:srgbClr val="111827"/>
                    </a:solidFill>
                    <a:latin typeface="Arial"/>
                  </a:rPr>
                  <a:t> forces </a:t>
                </a:r>
                <a:r>
                  <a:rPr lang="en-IN" sz="2400">
                    <a:solidFill>
                      <a:srgbClr val="111827"/>
                    </a:solidFill>
                    <a:latin typeface="Cambria Math" panose="02040503050406030204" pitchFamily="18" charset="0"/>
                  </a:rPr>
                  <a:t>$C=4$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Pairs </a:t>
                </a:r>
                <a:r>
                  <a:rPr lang="en-IN" sz="2400">
                    <a:solidFill>
                      <a:srgbClr val="111827"/>
                    </a:solidFill>
                    <a:latin typeface="Cambria Math" panose="02040503050406030204" pitchFamily="18" charset="0"/>
                  </a:rPr>
                  <a:t>$(A,B)$</a:t>
                </a:r>
                <a:r>
                  <a:rPr sz="2400" b="0">
                    <a:solidFill>
                      <a:srgbClr val="111827"/>
                    </a:solidFill>
                    <a:latin typeface="Arial"/>
                  </a:rPr>
                  <a:t> in </a:t>
                </a:r>
                <a:r>
                  <a:rPr lang="en-IN" sz="2400">
                    <a:solidFill>
                      <a:srgbClr val="111827"/>
                    </a:solidFill>
                    <a:latin typeface="Cambria Math" panose="02040503050406030204" pitchFamily="18" charset="0"/>
                  </a:rPr>
                  <a:t>$\{0,\dots,3\}^2$</a:t>
                </a:r>
                <a:r>
                  <a:rPr sz="2400" b="0">
                    <a:solidFill>
                      <a:srgbClr val="111827"/>
                    </a:solidFill>
                    <a:latin typeface="Arial"/>
                  </a:rPr>
                  <a:t> with </a:t>
                </a:r>
                <a:r>
                  <a:rPr lang="en-IN" sz="2400">
                    <a:solidFill>
                      <a:srgbClr val="111827"/>
                    </a:solidFill>
                    <a:latin typeface="Cambria Math" panose="02040503050406030204" pitchFamily="18" charset="0"/>
                  </a:rPr>
                  <a:t>$\max=3$</a:t>
                </a:r>
                <a:r>
                  <a:rPr sz="2400" b="0">
                    <a:solidFill>
                      <a:srgbClr val="111827"/>
                    </a:solidFill>
                    <a:latin typeface="Arial"/>
                  </a:rPr>
                  <a:t>: all pairs minus pairs with both </a:t>
                </a:r>
                <a:r>
                  <a:rPr lang="en-IN" sz="2400">
                    <a:solidFill>
                      <a:srgbClr val="111827"/>
                    </a:solidFill>
                    <a:latin typeface="Cambria Math" panose="02040503050406030204" pitchFamily="18" charset="0"/>
                  </a:rPr>
                  <a:t>$\le2$</a:t>
                </a:r>
                <a:r>
                  <a:rPr sz="2400" b="0">
                    <a:solidFill>
                      <a:srgbClr val="111827"/>
                    </a:solidFill>
                    <a:latin typeface="Arial"/>
                  </a:rPr>
                  <a:t>, i.e. </a:t>
                </a:r>
                <a:r>
                  <a:rPr lang="en-IN" sz="2400">
                    <a:solidFill>
                      <a:srgbClr val="111827"/>
                    </a:solidFill>
                    <a:latin typeface="Cambria Math" panose="02040503050406030204" pitchFamily="18" charset="0"/>
                  </a:rPr>
                  <a:t>$4^2-3^2=7$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r>
                  <a:rPr lang="en-IN" sz="2400">
                    <a:solidFill>
                      <a:srgbClr val="111827"/>
                    </a:solidFill>
                    <a:latin typeface="Cambria Math" panose="02040503050406030204" pitchFamily="18" charset="0"/>
                  </a:rPr>
                  <a:t>$5$</a:t>
                </a:r>
                <a:r>
                  <a:rPr sz="2400" b="0">
                    <a:solidFill>
                      <a:srgbClr val="111827"/>
                    </a:solidFill>
                    <a:latin typeface="Arial"/>
                  </a:rPr>
                  <a:t>: all pairwise maxima are </a:t>
                </a:r>
                <a:r>
                  <a:rPr lang="en-IN" sz="2400">
                    <a:solidFill>
                      <a:srgbClr val="111827"/>
                    </a:solidFill>
                    <a:latin typeface="Cambria Math" panose="02040503050406030204" pitchFamily="18" charset="0"/>
                  </a:rPr>
                  <a:t>$3$</a:t>
                </a:r>
                <a:r>
                  <a:rPr sz="2400" b="0">
                    <a:solidFill>
                      <a:srgbClr val="111827"/>
                    </a:solidFill>
                    <a:latin typeface="Arial"/>
                  </a:rPr>
                  <a:t>, so </a:t>
                </a:r>
                <a:r>
                  <a:rPr lang="en-IN" sz="2400">
                    <a:solidFill>
                      <a:srgbClr val="111827"/>
                    </a:solidFill>
                    <a:latin typeface="Cambria Math" panose="02040503050406030204" pitchFamily="18" charset="0"/>
                  </a:rPr>
                  <a:t>$R,S,T\le3$</a:t>
                </a:r>
                <a:r>
                  <a:rPr sz="2400" b="0">
                    <a:solidFill>
                      <a:srgbClr val="111827"/>
                    </a:solidFill>
                    <a:latin typeface="Arial"/>
                  </a:rPr>
                  <a:t>: </a:t>
                </a:r>
                <a:r>
                  <a:rPr lang="en-IN" sz="2400">
                    <a:solidFill>
                      <a:srgbClr val="111827"/>
                    </a:solidFill>
                    <a:latin typeface="Cambria Math" panose="02040503050406030204" pitchFamily="18" charset="0"/>
                  </a:rPr>
                  <a:t>$4^3=64$</a:t>
                </a:r>
                <a:r>
                  <a:rPr sz="2400" b="0">
                    <a:solidFill>
                      <a:srgbClr val="111827"/>
                    </a:solidFill>
                    <a:latin typeface="Arial"/>
                  </a:rPr>
                  <a:t> triples, and at least two of them must equal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Complement: triples with no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oMath>
                </a14:m>
                <a:r>
                  <a:rPr sz="2400" b="0">
                    <a:solidFill>
                      <a:srgbClr val="111827"/>
                    </a:solidFill>
                    <a:latin typeface="Arial"/>
                  </a:rPr>
                  <a:t>; triples with exactly one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triples with at least two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s: </a:t>
                </a:r>
                <a14:m>
                  <m:oMath xmlns:m="http://schemas.openxmlformats.org/officeDocument/2006/math">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Complement: triples with no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$3^3=27$</a:t>
                </a:r>
                <a:r>
                  <a:rPr sz="2400" b="0">
                    <a:solidFill>
                      <a:srgbClr val="111827"/>
                    </a:solidFill>
                    <a:latin typeface="Arial"/>
                  </a:rPr>
                  <a:t>; triples with exactly one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$3\cdot3^2=27$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triples with at least two </a:t>
                </a:r>
                <a:r>
                  <a:rPr lang="en-IN" sz="2400">
                    <a:solidFill>
                      <a:srgbClr val="111827"/>
                    </a:solidFill>
                    <a:latin typeface="Cambria Math" panose="02040503050406030204" pitchFamily="18" charset="0"/>
                  </a:rPr>
                  <a:t>$3$</a:t>
                </a:r>
                <a:r>
                  <a:rPr sz="2400" b="0">
                    <a:solidFill>
                      <a:srgbClr val="111827"/>
                    </a:solidFill>
                    <a:latin typeface="Arial"/>
                  </a:rPr>
                  <a:t>s: </a:t>
                </a:r>
                <a:r>
                  <a:rPr lang="en-IN" sz="2400">
                    <a:solidFill>
                      <a:srgbClr val="111827"/>
                    </a:solidFill>
                    <a:latin typeface="Cambria Math" panose="02040503050406030204" pitchFamily="18" charset="0"/>
                  </a:rPr>
                  <a:t>$64-27-27=10$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$=7\times10=70$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70</a:t>
            </a:r>
            <a:endParaRPr sz="2800">
              <a:solidFill>
                <a:srgbClr val="15803D"/>
              </a:solidFill>
            </a:endParaRP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LCM and GCD conditions decouple prime by prime: count exponent patterns for each prime and multiply.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Ordered pairs of exponents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maximum exactly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Ordered triples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all three pairwise maxima equal to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least two entries equal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checked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Lower bounds on </a:t>
                </a:r>
                <a14:m>
                  <m:oMath xmlns:m="http://schemas.openxmlformats.org/officeDocument/2006/math">
                    <m:r>
                      <m:rPr>
                        <m:sty m:val="p"/>
                      </m:rPr>
                      <a:rPr lang="en-IN" sz="2400">
                        <a:solidFill>
                          <a:srgbClr val="111827"/>
                        </a:solidFill>
                        <a:latin typeface="Cambria Math" panose="02040503050406030204" pitchFamily="18" charset="0"/>
                      </a:rPr>
                      <m:t>max</m:t>
                    </m:r>
                  </m:oMath>
                </a14:m>
                <a:r>
                  <a:rPr sz="2400" b="0">
                    <a:solidFill>
                      <a:srgbClr val="111827"/>
                    </a:solidFill>
                    <a:latin typeface="Arial"/>
                  </a:rPr>
                  <a:t> can force an exponent: if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LCM and GCD conditions decouple prime by prime: count exponent patterns for each prime and multiply.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Ordered pairs of exponents in </a:t>
                </a:r>
                <a:r>
                  <a:rPr lang="en-IN" sz="2400">
                    <a:solidFill>
                      <a:srgbClr val="111827"/>
                    </a:solidFill>
                    <a:latin typeface="Cambria Math" panose="02040503050406030204" pitchFamily="18" charset="0"/>
                  </a:rPr>
                  <a:t>$\{0,\dots,n\}$</a:t>
                </a:r>
                <a:r>
                  <a:rPr sz="2400" b="0">
                    <a:solidFill>
                      <a:srgbClr val="111827"/>
                    </a:solidFill>
                    <a:latin typeface="Arial"/>
                  </a:rPr>
                  <a:t> with maximum exactly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$2n+1$</a:t>
                </a:r>
                <a:r>
                  <a:rPr sz="2400" b="0">
                    <a:solidFill>
                      <a:srgbClr val="111827"/>
                    </a:solidFill>
                    <a:latin typeface="Arial"/>
                  </a:rPr>
                  <a:t> (here </a:t>
                </a:r>
                <a:r>
                  <a:rPr lang="en-IN" sz="2400">
                    <a:solidFill>
                      <a:srgbClr val="111827"/>
                    </a:solidFill>
                    <a:latin typeface="Cambria Math" panose="02040503050406030204" pitchFamily="18" charset="0"/>
                  </a:rPr>
                  <a:t>$n=3$</a:t>
                </a:r>
                <a:r>
                  <a:rPr sz="2400" b="0">
                    <a:solidFill>
                      <a:srgbClr val="111827"/>
                    </a:solidFill>
                    <a:latin typeface="Arial"/>
                  </a:rPr>
                  <a:t> gives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Ordered triples in </a:t>
                </a:r>
                <a:r>
                  <a:rPr lang="en-IN" sz="2400">
                    <a:solidFill>
                      <a:srgbClr val="111827"/>
                    </a:solidFill>
                    <a:latin typeface="Cambria Math" panose="02040503050406030204" pitchFamily="18" charset="0"/>
                  </a:rPr>
                  <a:t>$\{0,\dots,n\}$</a:t>
                </a:r>
                <a:r>
                  <a:rPr sz="2400" b="0">
                    <a:solidFill>
                      <a:srgbClr val="111827"/>
                    </a:solidFill>
                    <a:latin typeface="Arial"/>
                  </a:rPr>
                  <a:t> with all three pairwise maxima equal to </a:t>
                </a:r>
                <a:r>
                  <a:rPr lang="en-IN" sz="2400">
                    <a:solidFill>
                      <a:srgbClr val="111827"/>
                    </a:solidFill>
                    <a:latin typeface="Cambria Math" panose="02040503050406030204" pitchFamily="18" charset="0"/>
                  </a:rPr>
                  <a:t>$n$</a:t>
                </a:r>
                <a:r>
                  <a:rPr sz="2400" b="0">
                    <a:solidFill>
                      <a:srgbClr val="111827"/>
                    </a:solidFill>
                    <a:latin typeface="Arial"/>
                  </a:rPr>
                  <a:t> (at least two entries equal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$3n+1$</a:t>
                </a:r>
                <a:r>
                  <a:rPr sz="2400" b="0">
                    <a:solidFill>
                      <a:srgbClr val="111827"/>
                    </a:solidFill>
                    <a:latin typeface="Arial"/>
                  </a:rPr>
                  <a:t> (here </a:t>
                </a:r>
                <a:r>
                  <a:rPr lang="en-IN" sz="2400">
                    <a:solidFill>
                      <a:srgbClr val="111827"/>
                    </a:solidFill>
                    <a:latin typeface="Cambria Math" panose="02040503050406030204" pitchFamily="18" charset="0"/>
                  </a:rPr>
                  <a:t>$n=3$</a:t>
                </a:r>
                <a:r>
                  <a:rPr sz="2400" b="0">
                    <a:solidFill>
                      <a:srgbClr val="111827"/>
                    </a:solidFill>
                    <a:latin typeface="Arial"/>
                  </a:rPr>
                  <a:t> gives </a:t>
                </a:r>
                <a:r>
                  <a:rPr lang="en-IN" sz="2400">
                    <a:solidFill>
                      <a:srgbClr val="111827"/>
                    </a:solidFill>
                    <a:latin typeface="Cambria Math" panose="02040503050406030204" pitchFamily="18" charset="0"/>
                  </a:rPr>
                  <a:t>$10$</a:t>
                </a:r>
                <a:r>
                  <a:rPr sz="2400" b="0">
                    <a:solidFill>
                      <a:srgbClr val="111827"/>
                    </a:solidFill>
                    <a:latin typeface="Arial"/>
                  </a:rPr>
                  <a:t>; checked for </a:t>
                </a:r>
                <a:r>
                  <a:rPr lang="en-IN" sz="2400">
                    <a:solidFill>
                      <a:srgbClr val="111827"/>
                    </a:solidFill>
                    <a:latin typeface="Cambria Math" panose="02040503050406030204" pitchFamily="18" charset="0"/>
                  </a:rPr>
                  <a:t>$n=0,1,2,3$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Lower bounds on </a:t>
                </a:r>
                <a:r>
                  <a:rPr lang="en-IN" sz="2400">
                    <a:solidFill>
                      <a:srgbClr val="111827"/>
                    </a:solidFill>
                    <a:latin typeface="Cambria Math" panose="02040503050406030204" pitchFamily="18" charset="0"/>
                  </a:rPr>
                  <a:t>$\max$</a:t>
                </a:r>
                <a:r>
                  <a:rPr sz="2400" b="0">
                    <a:solidFill>
                      <a:srgbClr val="111827"/>
                    </a:solidFill>
                    <a:latin typeface="Arial"/>
                  </a:rPr>
                  <a:t> can force an exponent: if </a:t>
                </a:r>
                <a:r>
                  <a:rPr lang="en-IN" sz="2400">
                    <a:solidFill>
                      <a:srgbClr val="111827"/>
                    </a:solidFill>
                    <a:latin typeface="Cambria Math" panose="02040503050406030204" pitchFamily="18" charset="0"/>
                  </a:rPr>
                  <a:t>$\max(A,B)=3$</a:t>
                </a:r>
                <a:r>
                  <a:rPr sz="2400" b="0">
                    <a:solidFill>
                      <a:srgbClr val="111827"/>
                    </a:solidFill>
                    <a:latin typeface="Arial"/>
                  </a:rPr>
                  <a:t> and </a:t>
                </a:r>
                <a:r>
                  <a:rPr lang="en-IN" sz="2400">
                    <a:solidFill>
                      <a:srgbClr val="111827"/>
                    </a:solidFill>
                    <a:latin typeface="Cambria Math" panose="02040503050406030204" pitchFamily="18" charset="0"/>
                  </a:rPr>
                  <a:t>$\max(A,C)=4$</a:t>
                </a:r>
                <a:r>
                  <a:rPr sz="2400" b="0">
                    <a:solidFill>
                      <a:srgbClr val="111827"/>
                    </a:solidFill>
                    <a:latin typeface="Arial"/>
                  </a:rPr>
                  <a:t> then </a:t>
                </a:r>
                <a:r>
                  <a:rPr lang="en-IN" sz="2400">
                    <a:solidFill>
                      <a:srgbClr val="111827"/>
                    </a:solidFill>
                    <a:latin typeface="Cambria Math" panose="02040503050406030204" pitchFamily="18" charset="0"/>
                  </a:rPr>
                  <a:t>$C=4$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9192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in the expansion of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24</m:t>
                        </m:r>
                      </m:den>
                    </m:f>
                  </m:oMath>
                </a14:m>
                <a:endParaRPr sz="2400">
                  <a:solidFill>
                    <a:srgbClr val="111827"/>
                  </a:solidFill>
                </a:endParaRPr>
              </a:p>
            </p:txBody>
          </p:sp>
        </mc:Choice>
        <mc:Fallback>
          <p:sp>
            <p:nvSpPr>
              <p:cNvPr id="4" name="Rounded Rectangle 3"/>
              <p:cNvSpPr/>
              <p:nvPr/>
            </p:nvSpPr>
            <p:spPr>
              <a:xfrm>
                <a:off x="731520" y="1280160"/>
                <a:ext cx="10725912" cy="19192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coefficient of </a:t>
                </a:r>
                <a:r>
                  <a:rPr lang="en-IN" sz="2400">
                    <a:solidFill>
                      <a:srgbClr val="111827"/>
                    </a:solidFill>
                    <a:latin typeface="Cambria Math" panose="02040503050406030204" pitchFamily="18" charset="0"/>
                  </a:rPr>
                  <a:t>$x^4$</a:t>
                </a:r>
                <a:r>
                  <a:rPr sz="2400" b="0">
                    <a:solidFill>
                      <a:srgbClr val="111827"/>
                    </a:solidFill>
                    <a:latin typeface="Arial"/>
                  </a:rPr>
                  <a:t> in the expansion of </a:t>
                </a:r>
                <a:r>
                  <a:rPr lang="en-IN" sz="2400">
                    <a:solidFill>
                      <a:srgbClr val="111827"/>
                    </a:solidFill>
                    <a:latin typeface="Cambria Math" panose="02040503050406030204" pitchFamily="18" charset="0"/>
                  </a:rPr>
                  <a:t>$(e^x-1)^2$</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$\frac{3}{8}$</a:t>
                </a:r>
                <a:r>
                  <a:rPr sz="2400" b="0">
                    <a:solidFill>
                      <a:srgbClr val="111827"/>
                    </a:solidFill>
                    <a:latin typeface="Arial"/>
                  </a:rPr>
                  <a:t>   (B) </a:t>
                </a:r>
                <a:r>
                  <a:rPr lang="en-IN" sz="2400">
                    <a:solidFill>
                      <a:srgbClr val="111827"/>
                    </a:solidFill>
                    <a:latin typeface="Cambria Math" panose="02040503050406030204" pitchFamily="18" charset="0"/>
                  </a:rPr>
                  <a:t>$\frac{5}{12}$</a:t>
                </a:r>
                <a:r>
                  <a:rPr sz="2400" b="0">
                    <a:solidFill>
                      <a:srgbClr val="111827"/>
                    </a:solidFill>
                    <a:latin typeface="Arial"/>
                  </a:rPr>
                  <a:t>   (C) </a:t>
                </a:r>
                <a:r>
                  <a:rPr lang="en-IN" sz="2400">
                    <a:solidFill>
                      <a:srgbClr val="111827"/>
                    </a:solidFill>
                    <a:latin typeface="Cambria Math" panose="02040503050406030204" pitchFamily="18" charset="0"/>
                  </a:rPr>
                  <a:t>$\frac{7}{12}$</a:t>
                </a:r>
                <a:r>
                  <a:rPr sz="2400" b="0">
                    <a:solidFill>
                      <a:srgbClr val="111827"/>
                    </a:solidFill>
                    <a:latin typeface="Arial"/>
                  </a:rPr>
                  <a:t>   (D) </a:t>
                </a:r>
                <a:r>
                  <a:rPr lang="en-IN" sz="2400">
                    <a:solidFill>
                      <a:srgbClr val="111827"/>
                    </a:solidFill>
                    <a:latin typeface="Cambria Math" panose="02040503050406030204" pitchFamily="18" charset="0"/>
                  </a:rPr>
                  <a:t>$\frac{5}{24}$</a:t>
                </a:r>
                <a:endParaRPr sz="2400">
                  <a:solidFill>
                    <a:srgbClr val="111827"/>
                  </a:solidFill>
                </a:endParaRPr>
              </a:p>
            </p:txBody>
          </p:sp>
        </mc:Fallback>
      </mc:AlternateContent>
      <p:sp>
        <p:nvSpPr>
          <p:cNvPr id="5" name="Rectangle 4"/>
          <p:cNvSpPr/>
          <p:nvPr/>
        </p:nvSpPr>
        <p:spPr>
          <a:xfrm>
            <a:off x="731520" y="3427984"/>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Exponential series and coefficient extraction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the square first: </a:t>
                </a:r>
                <a14:m>
                  <m:oMath xmlns:m="http://schemas.openxmlformats.org/officeDocument/2006/math">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𝑥</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𝑥</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so only two exponential series are needed.</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the square first: </a:t>
                </a:r>
                <a:r>
                  <a:rPr lang="en-IN" sz="2400">
                    <a:solidFill>
                      <a:srgbClr val="78350F"/>
                    </a:solidFill>
                    <a:latin typeface="Cambria Math" panose="02040503050406030204" pitchFamily="18" charset="0"/>
                  </a:rPr>
                  <a:t>$(e^x-1)^2=e^{2x}-2e^x+1$</a:t>
                </a:r>
                <a:r>
                  <a:rPr sz="2400" b="0">
                    <a:solidFill>
                      <a:srgbClr val="78350F"/>
                    </a:solidFill>
                    <a:latin typeface="Arial"/>
                  </a:rPr>
                  <a:t>, so only two exponential series are needed.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is (coefficient in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(coefficient in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$e^x=1+\frac{x}{1!}+\frac{x^2}{2!}+\frac{x^3}{3!}+\frac{x^4}{4!}+\dots$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$e^{2x}=1+\frac{2x}{1!}+\frac{(2x)^2}{2!}+\frac{(2x)^3}{3!}+\frac{(2x)^4}{4!}+\dots$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$(e^x-1)^2=e^{2x}-2e^x+1$</a:t>
                </a:r>
                <a:r>
                  <a:rPr sz="2400" b="0">
                    <a:solidFill>
                      <a:srgbClr val="111827"/>
                    </a:solidFill>
                    <a:latin typeface="Arial"/>
                  </a:rPr>
                  <a:t>, the coefficient of </a:t>
                </a:r>
                <a:r>
                  <a:rPr lang="en-IN" sz="2400">
                    <a:solidFill>
                      <a:srgbClr val="111827"/>
                    </a:solidFill>
                    <a:latin typeface="Cambria Math" panose="02040503050406030204" pitchFamily="18" charset="0"/>
                  </a:rPr>
                  <a:t>$x^4$</a:t>
                </a:r>
                <a:r>
                  <a:rPr sz="2400" b="0">
                    <a:solidFill>
                      <a:srgbClr val="111827"/>
                    </a:solidFill>
                    <a:latin typeface="Arial"/>
                  </a:rPr>
                  <a:t> is (coefficient in </a:t>
                </a:r>
                <a:r>
                  <a:rPr lang="en-IN" sz="2400">
                    <a:solidFill>
                      <a:srgbClr val="111827"/>
                    </a:solidFill>
                    <a:latin typeface="Cambria Math" panose="02040503050406030204" pitchFamily="18" charset="0"/>
                  </a:rPr>
                  <a:t>$e^{2x}$</a:t>
                </a:r>
                <a:r>
                  <a:rPr sz="2400" b="0">
                    <a:solidFill>
                      <a:srgbClr val="111827"/>
                    </a:solidFill>
                    <a:latin typeface="Arial"/>
                  </a:rPr>
                  <a:t>) </a:t>
                </a:r>
                <a:r>
                  <a:rPr lang="en-IN" sz="2400">
                    <a:solidFill>
                      <a:srgbClr val="111827"/>
                    </a:solidFill>
                    <a:latin typeface="Cambria Math" panose="02040503050406030204" pitchFamily="18" charset="0"/>
                  </a:rPr>
                  <a:t>$-\,2\times$</a:t>
                </a:r>
                <a:r>
                  <a:rPr sz="2400" b="0">
                    <a:solidFill>
                      <a:srgbClr val="111827"/>
                    </a:solidFill>
                    <a:latin typeface="Arial"/>
                  </a:rPr>
                  <a:t>(coefficient in </a:t>
                </a:r>
                <a:r>
                  <a:rPr lang="en-IN" sz="2400">
                    <a:solidFill>
                      <a:srgbClr val="111827"/>
                    </a:solidFill>
                    <a:latin typeface="Cambria Math" panose="02040503050406030204" pitchFamily="18" charset="0"/>
                  </a:rPr>
                  <a:t>$e^x$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in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up>
                    </m:sSup>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4</m:t>
                            </m:r>
                          </m:sup>
                        </m:sSup>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24</m:t>
                        </m:r>
                      </m:den>
                    </m:f>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oMath>
                </a14:m>
                <a:r>
                  <a:rPr sz="2400" b="0">
                    <a:solidFill>
                      <a:srgbClr val="111827"/>
                    </a:solidFill>
                    <a:latin typeface="Arial"/>
                  </a:rPr>
                  <a:t> it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required coefficient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4</m:t>
                            </m:r>
                          </m:sup>
                        </m:sSup>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24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Coefficient of </a:t>
                </a:r>
                <a:r>
                  <a:rPr lang="en-IN" sz="2400">
                    <a:solidFill>
                      <a:srgbClr val="111827"/>
                    </a:solidFill>
                    <a:latin typeface="Cambria Math" panose="02040503050406030204" pitchFamily="18" charset="0"/>
                  </a:rPr>
                  <a:t>$x^4$</a:t>
                </a:r>
                <a:r>
                  <a:rPr sz="2400" b="0">
                    <a:solidFill>
                      <a:srgbClr val="111827"/>
                    </a:solidFill>
                    <a:latin typeface="Arial"/>
                  </a:rPr>
                  <a:t> in </a:t>
                </a:r>
                <a:r>
                  <a:rPr lang="en-IN" sz="2400">
                    <a:solidFill>
                      <a:srgbClr val="111827"/>
                    </a:solidFill>
                    <a:latin typeface="Cambria Math" panose="02040503050406030204" pitchFamily="18" charset="0"/>
                  </a:rPr>
                  <a:t>$e^{2x}$</a:t>
                </a:r>
                <a:r>
                  <a:rPr sz="2400" b="0">
                    <a:solidFill>
                      <a:srgbClr val="111827"/>
                    </a:solidFill>
                    <a:latin typeface="Arial"/>
                  </a:rPr>
                  <a:t> is </a:t>
                </a:r>
                <a:r>
                  <a:rPr lang="en-IN" sz="2400">
                    <a:solidFill>
                      <a:srgbClr val="111827"/>
                    </a:solidFill>
                    <a:latin typeface="Cambria Math" panose="02040503050406030204" pitchFamily="18" charset="0"/>
                  </a:rPr>
                  <a:t>$\frac{2^4}{4!}=\frac{16}{24}$</a:t>
                </a:r>
                <a:r>
                  <a:rPr sz="2400" b="0">
                    <a:solidFill>
                      <a:srgbClr val="111827"/>
                    </a:solidFill>
                    <a:latin typeface="Arial"/>
                  </a:rPr>
                  <a:t>; in </a:t>
                </a:r>
                <a:r>
                  <a:rPr lang="en-IN" sz="2400">
                    <a:solidFill>
                      <a:srgbClr val="111827"/>
                    </a:solidFill>
                    <a:latin typeface="Cambria Math" panose="02040503050406030204" pitchFamily="18" charset="0"/>
                  </a:rPr>
                  <a:t>$2e^x$</a:t>
                </a:r>
                <a:r>
                  <a:rPr sz="2400" b="0">
                    <a:solidFill>
                      <a:srgbClr val="111827"/>
                    </a:solidFill>
                    <a:latin typeface="Arial"/>
                  </a:rPr>
                  <a:t> it is </a:t>
                </a:r>
                <a:r>
                  <a:rPr lang="en-IN" sz="2400">
                    <a:solidFill>
                      <a:srgbClr val="111827"/>
                    </a:solidFill>
                    <a:latin typeface="Cambria Math" panose="02040503050406030204" pitchFamily="18" charset="0"/>
                  </a:rPr>
                  <a:t>$\frac{2}{4!}=\frac{2}{24}$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required coefficient is </a:t>
                </a:r>
                <a:r>
                  <a:rPr lang="en-IN" sz="2400">
                    <a:solidFill>
                      <a:srgbClr val="111827"/>
                    </a:solidFill>
                    <a:latin typeface="Cambria Math" panose="02040503050406030204" pitchFamily="18" charset="0"/>
                  </a:rPr>
                  <a:t>$\frac{2^4}{4!}-\frac{2}{4!}=\frac{14}{24}=\frac{7}{12}$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7</m:t>
                        </m:r>
                      </m:num>
                      <m:den>
                        <m:r>
                          <a:rPr lang="en-IN" sz="2800" i="1">
                            <a:solidFill>
                              <a:srgbClr val="15803D"/>
                            </a:solidFill>
                            <a:latin typeface="Cambria Math" panose="02040503050406030204" pitchFamily="18" charset="0"/>
                          </a:rPr>
                          <m:t>12</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$\frac{7}{12}$</a:t>
                </a:r>
                <a:endParaRPr sz="2800">
                  <a:solidFill>
                    <a:srgbClr val="15803D"/>
                  </a:solidFill>
                </a:endParaRPr>
              </a:p>
            </p:txBody>
          </p:sp>
        </mc:Fallback>
      </mc:AlternateContent>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14:m>
                  <m:oMath xmlns:m="http://schemas.openxmlformats.org/officeDocument/2006/math">
                    <m:f>
                      <m:fPr>
                        <m:type m:val="bar"/>
                        <m:ctrlPr>
                          <a:rPr lang="en-IN" sz="2400" i="1">
                            <a:solidFill>
                              <a:srgbClr val="78350F"/>
                            </a:solidFill>
                            <a:latin typeface="Cambria Math" panose="02040503050406030204" pitchFamily="18" charset="0"/>
                          </a:rPr>
                        </m:ctrlPr>
                      </m:fPr>
                      <m:num>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𝑥</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𝑘</m:t>
                            </m:r>
                          </m:sup>
                        </m:sSup>
                      </m:num>
                      <m:den>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den>
                    </m:f>
                    <m:r>
                      <m:rPr>
                        <m:sty m:val="p"/>
                      </m:rPr>
                      <a:rPr lang="en-IN" sz="2400">
                        <a:solidFill>
                          <a:srgbClr val="78350F"/>
                        </a:solidFill>
                        <a:latin typeface="Cambria Math" panose="02040503050406030204" pitchFamily="18" charset="0"/>
                      </a:rPr>
                      <m:t>=</m:t>
                    </m:r>
                    <m:nary>
                      <m:naryPr>
                        <m:chr m:val="∑"/>
                        <m:limLoc m:val="undOvr"/>
                        <m:subHide m:val="off"/>
                        <m:supHide m:val="on"/>
                        <m:ctrlPr>
                          <a:rPr lang="en-IN" sz="2400" i="1">
                            <a:solidFill>
                              <a:srgbClr val="78350F"/>
                            </a:solidFill>
                            <a:latin typeface="Cambria Math" panose="02040503050406030204" pitchFamily="18" charset="0"/>
                          </a:rPr>
                        </m:ctrlPr>
                      </m:naryPr>
                      <m:sub>
                        <m:r>
                          <a:rPr lang="en-IN" sz="2400" i="1">
                            <a:solidFill>
                              <a:srgbClr val="78350F"/>
                            </a:solidFill>
                            <a:latin typeface="Cambria Math" panose="02040503050406030204" pitchFamily="18" charset="0"/>
                          </a:rPr>
                          <m:t>𝑛</m:t>
                        </m:r>
                      </m:sub>
                      <m:sup>
                        <m:r>
                          <a:rPr lang="en-IN" sz="2400" i="1">
                            <a:solidFill>
                              <a:srgbClr val="78350F"/>
                            </a:solidFill>
                            <a:latin typeface="Cambria Math" panose="02040503050406030204" pitchFamily="18" charset="0"/>
                          </a:rPr>
                          <m:t>​</m:t>
                        </m:r>
                      </m:sup>
                      <m:e>
                        <m:r>
                          <a:rPr lang="en-IN" sz="2400" i="1">
                            <a:solidFill>
                              <a:srgbClr val="78350F"/>
                            </a:solidFill>
                            <a:latin typeface="Cambria Math" panose="02040503050406030204" pitchFamily="18" charset="0"/>
                          </a:rPr>
                          <m:t>𝑆</m:t>
                        </m:r>
                      </m:e>
                    </m:nary>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𝑛</m:t>
                            </m:r>
                          </m:sup>
                        </m:sSup>
                      </m:num>
                      <m:den>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den>
                    </m:f>
                  </m:oMath>
                </a14:m>
                <a:r>
                  <a:rPr sz="2400" b="0">
                    <a:solidFill>
                      <a:srgbClr val="78350F"/>
                    </a:solidFill>
                    <a:latin typeface="Arial"/>
                  </a:rPr>
                  <a:t> with Stirling numbers of the second kind.</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r>
                  <a:rPr lang="en-IN" sz="2400">
                    <a:solidFill>
                      <a:srgbClr val="78350F"/>
                    </a:solidFill>
                    <a:latin typeface="Cambria Math" panose="02040503050406030204" pitchFamily="18" charset="0"/>
                  </a:rPr>
                  <a:t>$\frac{(e^x-1)^k}{k!}=\sum_n S(n,k)\frac{x^n}{n!}$</a:t>
                </a:r>
                <a:r>
                  <a:rPr sz="2400" b="0">
                    <a:solidFill>
                      <a:srgbClr val="78350F"/>
                    </a:solidFill>
                    <a:latin typeface="Arial"/>
                  </a:rPr>
                  <a:t> with Stirling numbers of the second kind.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0419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𝑆</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counts splits of an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-set into two non-empty blocks.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coefficient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04190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$\frac{(e^x-1)^2}{2!}=\sum_{n\ge2}S(n,2)\frac{x^n}{n!}$</a:t>
                </a:r>
                <a:r>
                  <a:rPr sz="2400" b="0">
                    <a:solidFill>
                      <a:srgbClr val="111827"/>
                    </a:solidFill>
                    <a:latin typeface="Arial"/>
                  </a:rPr>
                  <a:t>, where </a:t>
                </a:r>
                <a:r>
                  <a:rPr lang="en-IN" sz="2400">
                    <a:solidFill>
                      <a:srgbClr val="111827"/>
                    </a:solidFill>
                    <a:latin typeface="Cambria Math" panose="02040503050406030204" pitchFamily="18" charset="0"/>
                  </a:rPr>
                  <a:t>$S(n,2)=2^{n-1}-1$</a:t>
                </a:r>
                <a:r>
                  <a:rPr sz="2400" b="0">
                    <a:solidFill>
                      <a:srgbClr val="111827"/>
                    </a:solidFill>
                    <a:latin typeface="Arial"/>
                  </a:rPr>
                  <a:t> counts splits of an </a:t>
                </a:r>
                <a:r>
                  <a:rPr lang="en-IN" sz="2400">
                    <a:solidFill>
                      <a:srgbClr val="111827"/>
                    </a:solidFill>
                    <a:latin typeface="Cambria Math" panose="02040503050406030204" pitchFamily="18" charset="0"/>
                  </a:rPr>
                  <a:t>$n$</a:t>
                </a:r>
                <a:r>
                  <a:rPr sz="2400" b="0">
                    <a:solidFill>
                      <a:srgbClr val="111827"/>
                    </a:solidFill>
                    <a:latin typeface="Arial"/>
                  </a:rPr>
                  <a:t>-set into two non-empty blocks.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coefficient of </a:t>
                </a:r>
                <a:r>
                  <a:rPr lang="en-IN" sz="2400">
                    <a:solidFill>
                      <a:srgbClr val="111827"/>
                    </a:solidFill>
                    <a:latin typeface="Cambria Math" panose="02040503050406030204" pitchFamily="18" charset="0"/>
                  </a:rPr>
                  <a:t>$x^4$</a:t>
                </a:r>
                <a:r>
                  <a:rPr sz="2400" b="0">
                    <a:solidFill>
                      <a:srgbClr val="111827"/>
                    </a:solidFill>
                    <a:latin typeface="Arial"/>
                  </a:rPr>
                  <a:t> in </a:t>
                </a:r>
                <a:r>
                  <a:rPr lang="en-IN" sz="2400">
                    <a:solidFill>
                      <a:srgbClr val="111827"/>
                    </a:solidFill>
                    <a:latin typeface="Cambria Math" panose="02040503050406030204" pitchFamily="18" charset="0"/>
                  </a:rPr>
                  <a:t>$(e^x-1)^2$</a:t>
                </a:r>
                <a:r>
                  <a:rPr sz="2400" b="0">
                    <a:solidFill>
                      <a:srgbClr val="111827"/>
                    </a:solidFill>
                    <a:latin typeface="Arial"/>
                  </a:rPr>
                  <a:t> is </a:t>
                </a:r>
                <a:r>
                  <a:rPr lang="en-IN" sz="2400">
                    <a:solidFill>
                      <a:srgbClr val="111827"/>
                    </a:solidFill>
                    <a:latin typeface="Cambria Math" panose="02040503050406030204" pitchFamily="18" charset="0"/>
                  </a:rPr>
                  <a:t>$\frac{2\,S(4,2)}{4!}$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$S(4,2)=2^3-1=7$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coefficient is </a:t>
                </a:r>
                <a:r>
                  <a:rPr lang="en-IN" sz="2400">
                    <a:solidFill>
                      <a:srgbClr val="111827"/>
                    </a:solidFill>
                    <a:latin typeface="Cambria Math" panose="02040503050406030204" pitchFamily="18" charset="0"/>
                  </a:rPr>
                  <a:t>$\frac{2\cdot7}{24}=\frac{7}{12}$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7</m:t>
                        </m:r>
                      </m:num>
                      <m:den>
                        <m:r>
                          <a:rPr lang="en-IN" sz="2800" i="1">
                            <a:solidFill>
                              <a:srgbClr val="15803D"/>
                            </a:solidFill>
                            <a:latin typeface="Cambria Math" panose="02040503050406030204" pitchFamily="18" charset="0"/>
                          </a:rPr>
                          <m:t>12</m:t>
                        </m:r>
                      </m:den>
                    </m:f>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$\frac{7}{12}$</a:t>
                </a:r>
                <a:endParaRPr sz="2800">
                  <a:solidFill>
                    <a:srgbClr val="15803D"/>
                  </a:solidFill>
                </a:endParaRPr>
              </a:p>
            </p:txBody>
          </p:sp>
        </mc:Fallback>
      </mc:AlternateContent>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𝑆</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so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(check: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m:t>
                        </m:r>
                      </m:sup>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den>
                        </m:f>
                      </m:e>
                    </m:nary>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which is exactly the expansion of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products of series use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𝑘</m:t>
                            </m:r>
                          </m:sub>
                        </m:sSub>
                      </m:e>
                    </m:nary>
                    <m:sSub>
                      <m:e>
                        <m:r>
                          <a:rPr lang="en-IN" sz="2400" i="1">
                            <a:solidFill>
                              <a:srgbClr val="111827"/>
                            </a:solidFill>
                            <a:latin typeface="Cambria Math" panose="02040503050406030204" pitchFamily="18" charset="0"/>
                          </a:rPr>
                          <m:t>𝑔</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b>
                    </m:sSub>
                  </m:oMath>
                </a14:m>
                <a:r>
                  <a:rPr sz="2400" b="0">
                    <a:solidFill>
                      <a:srgbClr val="111827"/>
                    </a:solidFill>
                    <a:latin typeface="Arial"/>
                  </a:rPr>
                  <a:t>; e.g.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$\frac{(e^x-1)^k}{k!}=\sum_{n\ge k}S(n,k)\frac{x^n}{n!}$</a:t>
                </a:r>
                <a:r>
                  <a:rPr sz="2400" b="0">
                    <a:solidFill>
                      <a:srgbClr val="111827"/>
                    </a:solidFill>
                    <a:latin typeface="Arial"/>
                  </a:rPr>
                  <a:t>, so the coefficient of </a:t>
                </a:r>
                <a:r>
                  <a:rPr lang="en-IN" sz="2400">
                    <a:solidFill>
                      <a:srgbClr val="111827"/>
                    </a:solidFill>
                    <a:latin typeface="Cambria Math" panose="02040503050406030204" pitchFamily="18" charset="0"/>
                  </a:rPr>
                  <a:t>$x^n$</a:t>
                </a:r>
                <a:r>
                  <a:rPr sz="2400" b="0">
                    <a:solidFill>
                      <a:srgbClr val="111827"/>
                    </a:solidFill>
                    <a:latin typeface="Arial"/>
                  </a:rPr>
                  <a:t> in </a:t>
                </a:r>
                <a:r>
                  <a:rPr lang="en-IN" sz="2400">
                    <a:solidFill>
                      <a:srgbClr val="111827"/>
                    </a:solidFill>
                    <a:latin typeface="Cambria Math" panose="02040503050406030204" pitchFamily="18" charset="0"/>
                  </a:rPr>
                  <a:t>$(e^x-1)^k$</a:t>
                </a:r>
                <a:r>
                  <a:rPr sz="2400" b="0">
                    <a:solidFill>
                      <a:srgbClr val="111827"/>
                    </a:solidFill>
                    <a:latin typeface="Arial"/>
                  </a:rPr>
                  <a:t> is </a:t>
                </a:r>
                <a:r>
                  <a:rPr lang="en-IN" sz="2400">
                    <a:solidFill>
                      <a:srgbClr val="111827"/>
                    </a:solidFill>
                    <a:latin typeface="Cambria Math" panose="02040503050406030204" pitchFamily="18" charset="0"/>
                  </a:rPr>
                  <a:t>$\frac{k!\,S(n,k)}{n!}$</a:t>
                </a:r>
                <a:r>
                  <a:rPr sz="2400" b="0">
                    <a:solidFill>
                      <a:srgbClr val="111827"/>
                    </a:solidFill>
                    <a:latin typeface="Arial"/>
                  </a:rPr>
                  <a:t> (check: </a:t>
                </a:r>
                <a:r>
                  <a:rPr lang="en-IN" sz="2400">
                    <a:solidFill>
                      <a:srgbClr val="111827"/>
                    </a:solidFill>
                    <a:latin typeface="Cambria Math" panose="02040503050406030204" pitchFamily="18" charset="0"/>
                  </a:rPr>
                  <a:t>$k=2,n=4$</a:t>
                </a:r>
                <a:r>
                  <a:rPr sz="2400" b="0">
                    <a:solidFill>
                      <a:srgbClr val="111827"/>
                    </a:solidFill>
                    <a:latin typeface="Arial"/>
                  </a:rPr>
                  <a:t> gives </a:t>
                </a:r>
                <a:r>
                  <a:rPr lang="en-IN" sz="2400">
                    <a:solidFill>
                      <a:srgbClr val="111827"/>
                    </a:solidFill>
                    <a:latin typeface="Cambria Math" panose="02040503050406030204" pitchFamily="18" charset="0"/>
                  </a:rPr>
                  <a:t>$\frac{7}{12}$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$S(n,2)=2^{n-1}-1$</a:t>
                </a:r>
                <a:r>
                  <a:rPr sz="2400" b="0">
                    <a:solidFill>
                      <a:srgbClr val="111827"/>
                    </a:solidFill>
                    <a:latin typeface="Arial"/>
                  </a:rPr>
                  <a:t>, so </a:t>
                </a:r>
                <a:r>
                  <a:rPr lang="en-IN" sz="2400">
                    <a:solidFill>
                      <a:srgbClr val="111827"/>
                    </a:solidFill>
                    <a:latin typeface="Cambria Math" panose="02040503050406030204" pitchFamily="18" charset="0"/>
                  </a:rPr>
                  <a:t>$(e^x-1)^2=\sum_{n\ge2}\frac{2^n-2}{n!}x^n$</a:t>
                </a:r>
                <a:r>
                  <a:rPr sz="2400" b="0">
                    <a:solidFill>
                      <a:srgbClr val="111827"/>
                    </a:solidFill>
                    <a:latin typeface="Arial"/>
                  </a:rPr>
                  <a:t>, which is exactly the expansion of </a:t>
                </a:r>
                <a:r>
                  <a:rPr lang="en-IN" sz="2400">
                    <a:solidFill>
                      <a:srgbClr val="111827"/>
                    </a:solidFill>
                    <a:latin typeface="Cambria Math" panose="02040503050406030204" pitchFamily="18" charset="0"/>
                  </a:rPr>
                  <a:t>$e^{2x}-2e^x+1$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products of series use </a:t>
                </a:r>
                <a:r>
                  <a:rPr lang="en-IN" sz="2400">
                    <a:solidFill>
                      <a:srgbClr val="111827"/>
                    </a:solidFill>
                    <a:latin typeface="Cambria Math" panose="02040503050406030204" pitchFamily="18" charset="0"/>
                  </a:rPr>
                  <a:t>$[x^n](fg)=\sum_k f_kg_{n-k}$</a:t>
                </a:r>
                <a:r>
                  <a:rPr sz="2400" b="0">
                    <a:solidFill>
                      <a:srgbClr val="111827"/>
                    </a:solidFill>
                    <a:latin typeface="Arial"/>
                  </a:rPr>
                  <a:t>; e.g. </a:t>
                </a:r>
                <a:r>
                  <a:rPr lang="en-IN" sz="2400">
                    <a:solidFill>
                      <a:srgbClr val="111827"/>
                    </a:solidFill>
                    <a:latin typeface="Cambria Math" panose="02040503050406030204" pitchFamily="18" charset="0"/>
                  </a:rPr>
                  <a:t>$[x^4](e^x-1)^2=2\cdot\frac{1}{3!}+\left(\frac12\right)^2=\frac{7}{12}$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44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oMath>
                </a14:m>
                <a:r>
                  <a:rPr sz="2400" b="0">
                    <a:solidFill>
                      <a:srgbClr val="111827"/>
                    </a:solidFill>
                    <a:latin typeface="Arial"/>
                  </a:rPr>
                  <a:t> is equal to (where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e>
                    </m:d>
                  </m:oMath>
                </a14:m>
                <a:endParaRPr sz="2400">
                  <a:solidFill>
                    <a:srgbClr val="111827"/>
                  </a:solidFill>
                </a:endParaRPr>
              </a:p>
            </p:txBody>
          </p:sp>
        </mc:Choice>
        <mc:Fallback>
          <p:sp>
            <p:nvSpPr>
              <p:cNvPr id="4" name="Rounded Rectangle 3"/>
              <p:cNvSpPr/>
              <p:nvPr/>
            </p:nvSpPr>
            <p:spPr>
              <a:xfrm>
                <a:off x="731520" y="1280160"/>
                <a:ext cx="10725912" cy="3444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$\sum\sum_{0\le i&lt;j\le n}(i+j)\left(C_i^2+C_j^2+C_iC_j\right)$</a:t>
                </a:r>
                <a:r>
                  <a:rPr sz="2400" b="0">
                    <a:solidFill>
                      <a:srgbClr val="111827"/>
                    </a:solidFill>
                    <a:latin typeface="Arial"/>
                  </a:rPr>
                  <a:t> is equal to (where </a:t>
                </a:r>
                <a:r>
                  <a:rPr lang="en-IN" sz="2400">
                    <a:solidFill>
                      <a:srgbClr val="111827"/>
                    </a:solidFill>
                    <a:latin typeface="Cambria Math" panose="02040503050406030204" pitchFamily="18" charset="0"/>
                  </a:rPr>
                  <a:t>$C_r={}^nC_r$</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$\frac{n}{2}\left\{(2n-1)\,{}^{2n}C_n+4^n\right\}$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$\frac{n}{2}\left\{(2n+1)\,{}^{2n}C_n+4^n\right\}$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$\frac{n}{2}\left\{4^n-(2n-1)\,{}^{2n}C_n\right\}$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$\frac{n}{2}\left\{4^n-(2n+1)\,{}^{2n}C_n\right\}$</a:t>
                </a:r>
                <a:endParaRPr sz="2400">
                  <a:solidFill>
                    <a:srgbClr val="111827"/>
                  </a:solidFill>
                </a:endParaRPr>
              </a:p>
            </p:txBody>
          </p:sp>
        </mc:Fallback>
      </mc:AlternateContent>
      <p:sp>
        <p:nvSpPr>
          <p:cNvPr id="5" name="Rectangle 4"/>
          <p:cNvSpPr/>
          <p:nvPr/>
        </p:nvSpPr>
        <p:spPr>
          <a:xfrm>
            <a:off x="731520" y="4953508"/>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coefficient identities (double summation)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Replacing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by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keeps the pair set and the </a:t>
                </a:r>
                <a14:m>
                  <m:oMath xmlns:m="http://schemas.openxmlformats.org/officeDocument/2006/math">
                    <m:r>
                      <a:rPr lang="en-IN" sz="2400" i="1">
                        <a:solidFill>
                          <a:srgbClr val="78350F"/>
                        </a:solidFill>
                        <a:latin typeface="Cambria Math" panose="02040503050406030204" pitchFamily="18" charset="0"/>
                      </a:rPr>
                      <m:t>𝐶</m:t>
                    </m:r>
                  </m:oMath>
                </a14:m>
                <a:r>
                  <a:rPr sz="2400" b="0">
                    <a:solidFill>
                      <a:srgbClr val="78350F"/>
                    </a:solidFill>
                    <a:latin typeface="Arial"/>
                  </a:rPr>
                  <a:t>-factor but turns </a:t>
                </a:r>
                <a14:m>
                  <m:oMath xmlns:m="http://schemas.openxmlformats.org/officeDocument/2006/math">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oMath>
                </a14:m>
                <a:r>
                  <a:rPr sz="2400" b="0">
                    <a:solidFill>
                      <a:srgbClr val="78350F"/>
                    </a:solidFill>
                    <a:latin typeface="Arial"/>
                  </a:rPr>
                  <a:t> into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𝑆</m:t>
                    </m:r>
                  </m:oMath>
                </a14:m>
                <a:r>
                  <a:rPr sz="2400" b="0">
                    <a:solidFill>
                      <a:srgbClr val="78350F"/>
                    </a:solidFill>
                    <a:latin typeface="Arial"/>
                  </a:rPr>
                  <a:t> loses the factor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Replacing </a:t>
                </a:r>
                <a:r>
                  <a:rPr lang="en-IN" sz="2400">
                    <a:solidFill>
                      <a:srgbClr val="78350F"/>
                    </a:solidFill>
                    <a:latin typeface="Cambria Math" panose="02040503050406030204" pitchFamily="18" charset="0"/>
                  </a:rPr>
                  <a:t>$(i,j)$</a:t>
                </a:r>
                <a:r>
                  <a:rPr sz="2400" b="0">
                    <a:solidFill>
                      <a:srgbClr val="78350F"/>
                    </a:solidFill>
                    <a:latin typeface="Arial"/>
                  </a:rPr>
                  <a:t> by </a:t>
                </a:r>
                <a:r>
                  <a:rPr lang="en-IN" sz="2400">
                    <a:solidFill>
                      <a:srgbClr val="78350F"/>
                    </a:solidFill>
                    <a:latin typeface="Cambria Math" panose="02040503050406030204" pitchFamily="18" charset="0"/>
                  </a:rPr>
                  <a:t>$(n-i,n-j)$</a:t>
                </a:r>
                <a:r>
                  <a:rPr sz="2400" b="0">
                    <a:solidFill>
                      <a:srgbClr val="78350F"/>
                    </a:solidFill>
                    <a:latin typeface="Arial"/>
                  </a:rPr>
                  <a:t> keeps the pair set and the </a:t>
                </a:r>
                <a:r>
                  <a:rPr lang="en-IN" sz="2400">
                    <a:solidFill>
                      <a:srgbClr val="78350F"/>
                    </a:solidFill>
                    <a:latin typeface="Cambria Math" panose="02040503050406030204" pitchFamily="18" charset="0"/>
                  </a:rPr>
                  <a:t>$C$</a:t>
                </a:r>
                <a:r>
                  <a:rPr sz="2400" b="0">
                    <a:solidFill>
                      <a:srgbClr val="78350F"/>
                    </a:solidFill>
                    <a:latin typeface="Arial"/>
                  </a:rPr>
                  <a:t>-factor but turns </a:t>
                </a:r>
                <a:r>
                  <a:rPr lang="en-IN" sz="2400">
                    <a:solidFill>
                      <a:srgbClr val="78350F"/>
                    </a:solidFill>
                    <a:latin typeface="Cambria Math" panose="02040503050406030204" pitchFamily="18" charset="0"/>
                  </a:rPr>
                  <a:t>$i+j$</a:t>
                </a:r>
                <a:r>
                  <a:rPr sz="2400" b="0">
                    <a:solidFill>
                      <a:srgbClr val="78350F"/>
                    </a:solidFill>
                    <a:latin typeface="Arial"/>
                  </a:rPr>
                  <a:t> into </a:t>
                </a:r>
                <a:r>
                  <a:rPr lang="en-IN" sz="2400">
                    <a:solidFill>
                      <a:srgbClr val="78350F"/>
                    </a:solidFill>
                    <a:latin typeface="Cambria Math" panose="02040503050406030204" pitchFamily="18" charset="0"/>
                  </a:rPr>
                  <a:t>$2n-(i+j)$</a:t>
                </a:r>
                <a:r>
                  <a:rPr sz="2400" b="0">
                    <a:solidFill>
                      <a:srgbClr val="78350F"/>
                    </a:solidFill>
                    <a:latin typeface="Arial"/>
                  </a:rPr>
                  <a:t>, so </a:t>
                </a:r>
                <a:r>
                  <a:rPr lang="en-IN" sz="2400">
                    <a:solidFill>
                      <a:srgbClr val="78350F"/>
                    </a:solidFill>
                    <a:latin typeface="Cambria Math" panose="02040503050406030204" pitchFamily="18" charset="0"/>
                  </a:rPr>
                  <a:t>$2S$</a:t>
                </a:r>
                <a:r>
                  <a:rPr sz="2400" b="0">
                    <a:solidFill>
                      <a:srgbClr val="78350F"/>
                    </a:solidFill>
                    <a:latin typeface="Arial"/>
                  </a:rPr>
                  <a:t> loses the factor </a:t>
                </a:r>
                <a:r>
                  <a:rPr lang="en-IN" sz="2400">
                    <a:solidFill>
                      <a:srgbClr val="78350F"/>
                    </a:solidFill>
                    <a:latin typeface="Cambria Math" panose="02040503050406030204" pitchFamily="18" charset="0"/>
                  </a:rPr>
                  <a:t>$(i+j)$</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Replace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by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by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oMath>
                </a14:m>
                <a:r>
                  <a:rPr sz="2400" b="0">
                    <a:solidFill>
                      <a:srgbClr val="111827"/>
                    </a:solidFill>
                    <a:latin typeface="Arial"/>
                  </a:rPr>
                  <a:t>. Since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the pair set is the same and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 the two forms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e>
                    </m:nary>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e>
                    </m:nary>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each index occurs in exactly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pairs, so this equals </a:t>
                </a:r>
                <a14:m>
                  <m:oMath xmlns:m="http://schemas.openxmlformats.org/officeDocument/2006/math">
                    <m:r>
                      <a:rPr lang="en-IN" sz="2400" i="1">
                        <a:solidFill>
                          <a:srgbClr val="111827"/>
                        </a:solidFill>
                        <a:latin typeface="Cambria Math" panose="02040503050406030204" pitchFamily="18" charset="0"/>
                      </a:rPr>
                      <m:t>𝑛</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2</m:t>
                            </m:r>
                          </m:sup>
                        </m:sSub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$S=\sum\sum_{i&lt;j}(i+j)\left(C_i^2+C_j^2+C_iC_j\right)$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Replace </a:t>
                </a:r>
                <a:r>
                  <a:rPr lang="en-IN" sz="2400">
                    <a:solidFill>
                      <a:srgbClr val="111827"/>
                    </a:solidFill>
                    <a:latin typeface="Cambria Math" panose="02040503050406030204" pitchFamily="18" charset="0"/>
                  </a:rPr>
                  <a:t>$i$</a:t>
                </a:r>
                <a:r>
                  <a:rPr sz="2400" b="0">
                    <a:solidFill>
                      <a:srgbClr val="111827"/>
                    </a:solidFill>
                    <a:latin typeface="Arial"/>
                  </a:rPr>
                  <a:t> by </a:t>
                </a:r>
                <a:r>
                  <a:rPr lang="en-IN" sz="2400">
                    <a:solidFill>
                      <a:srgbClr val="111827"/>
                    </a:solidFill>
                    <a:latin typeface="Cambria Math" panose="02040503050406030204" pitchFamily="18" charset="0"/>
                  </a:rPr>
                  <a:t>$n-i$</a:t>
                </a:r>
                <a:r>
                  <a:rPr sz="2400" b="0">
                    <a:solidFill>
                      <a:srgbClr val="111827"/>
                    </a:solidFill>
                    <a:latin typeface="Arial"/>
                  </a:rPr>
                  <a:t> and </a:t>
                </a:r>
                <a:r>
                  <a:rPr lang="en-IN" sz="2400">
                    <a:solidFill>
                      <a:srgbClr val="111827"/>
                    </a:solidFill>
                    <a:latin typeface="Cambria Math" panose="02040503050406030204" pitchFamily="18" charset="0"/>
                  </a:rPr>
                  <a:t>$j$</a:t>
                </a:r>
                <a:r>
                  <a:rPr sz="2400" b="0">
                    <a:solidFill>
                      <a:srgbClr val="111827"/>
                    </a:solidFill>
                    <a:latin typeface="Arial"/>
                  </a:rPr>
                  <a:t> by </a:t>
                </a:r>
                <a:r>
                  <a:rPr lang="en-IN" sz="2400">
                    <a:solidFill>
                      <a:srgbClr val="111827"/>
                    </a:solidFill>
                    <a:latin typeface="Cambria Math" panose="02040503050406030204" pitchFamily="18" charset="0"/>
                  </a:rPr>
                  <a:t>$n-j$</a:t>
                </a:r>
                <a:r>
                  <a:rPr sz="2400" b="0">
                    <a:solidFill>
                      <a:srgbClr val="111827"/>
                    </a:solidFill>
                    <a:latin typeface="Arial"/>
                  </a:rPr>
                  <a:t>. Since </a:t>
                </a:r>
                <a:r>
                  <a:rPr lang="en-IN" sz="2400">
                    <a:solidFill>
                      <a:srgbClr val="111827"/>
                    </a:solidFill>
                    <a:latin typeface="Cambria Math" panose="02040503050406030204" pitchFamily="18" charset="0"/>
                  </a:rPr>
                  <a:t>$C_{n-i}=C_i$</a:t>
                </a:r>
                <a:r>
                  <a:rPr sz="2400" b="0">
                    <a:solidFill>
                      <a:srgbClr val="111827"/>
                    </a:solidFill>
                    <a:latin typeface="Arial"/>
                  </a:rPr>
                  <a:t>, the pair set is the same and </a:t>
                </a:r>
                <a:r>
                  <a:rPr lang="en-IN" sz="2400">
                    <a:solidFill>
                      <a:srgbClr val="111827"/>
                    </a:solidFill>
                    <a:latin typeface="Cambria Math" panose="02040503050406030204" pitchFamily="18" charset="0"/>
                  </a:rPr>
                  <a:t>$S=\sum\sum(2n-i-j)\left(C_i^2+C_j^2+C_iC_j\right)$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 the two forms of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$2S=2n\sum\sum_{i&lt;j}\left(C_i^2+C_j^2+C_iC_j\right)$</a:t>
                </a:r>
                <a:r>
                  <a:rPr sz="2400" b="0">
                    <a:solidFill>
                      <a:srgbClr val="111827"/>
                    </a:solidFill>
                    <a:latin typeface="Arial"/>
                  </a:rPr>
                  <a:t>, so </a:t>
                </a:r>
                <a:r>
                  <a:rPr lang="en-IN" sz="2400">
                    <a:solidFill>
                      <a:srgbClr val="111827"/>
                    </a:solidFill>
                    <a:latin typeface="Cambria Math" panose="02040503050406030204" pitchFamily="18" charset="0"/>
                  </a:rPr>
                  <a:t>$S=n\sum\sum_{i&lt;j}\left(C_i^2+C_j^2+C_iC_j\right)$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$\sum\sum_{i&lt;j}(C_i^2+C_j^2)$</a:t>
                </a:r>
                <a:r>
                  <a:rPr sz="2400" b="0">
                    <a:solidFill>
                      <a:srgbClr val="111827"/>
                    </a:solidFill>
                    <a:latin typeface="Arial"/>
                  </a:rPr>
                  <a:t> each index occurs in exactly </a:t>
                </a:r>
                <a:r>
                  <a:rPr lang="en-IN" sz="2400">
                    <a:solidFill>
                      <a:srgbClr val="111827"/>
                    </a:solidFill>
                    <a:latin typeface="Cambria Math" panose="02040503050406030204" pitchFamily="18" charset="0"/>
                  </a:rPr>
                  <a:t>$n$</a:t>
                </a:r>
                <a:r>
                  <a:rPr sz="2400" b="0">
                    <a:solidFill>
                      <a:srgbClr val="111827"/>
                    </a:solidFill>
                    <a:latin typeface="Arial"/>
                  </a:rPr>
                  <a:t> pairs, so this equals </a:t>
                </a:r>
                <a:r>
                  <a:rPr lang="en-IN" sz="2400">
                    <a:solidFill>
                      <a:srgbClr val="111827"/>
                    </a:solidFill>
                    <a:latin typeface="Cambria Math" panose="02040503050406030204" pitchFamily="18" charset="0"/>
                  </a:rPr>
                  <a:t>$n\sum_{r=0}^nC_r^2=n\cdot{}^{2n}C_n$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Also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e>
                    </m:d>
                  </m:oMath>
                </a14:m>
                <a:r>
                  <a:rPr sz="2400" b="0">
                    <a:solidFill>
                      <a:srgbClr val="111827"/>
                    </a:solidFill>
                    <a:latin typeface="Arial"/>
                  </a:rPr>
                  <a:t>,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Also </a:t>
                </a:r>
                <a:r>
                  <a:rPr lang="en-IN" sz="2400">
                    <a:solidFill>
                      <a:srgbClr val="111827"/>
                    </a:solidFill>
                    <a:latin typeface="Cambria Math" panose="02040503050406030204" pitchFamily="18" charset="0"/>
                  </a:rPr>
                  <a:t>$\sum\sum_{i&lt;j}C_iC_j=\frac{(\sum C_r)^2-\sum C_r^2}{2}=\frac{4^n-{}^{2n}C_n}{2}$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$S=n\left\{n\cdot{}^{2n}C_n+\frac{4^n-{}^{2n}C_n}{2}\right\}$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a:t>
                </a:r>
                <a:r>
                  <a:rPr lang="en-IN" sz="2400">
                    <a:solidFill>
                      <a:srgbClr val="111827"/>
                    </a:solidFill>
                    <a:latin typeface="Cambria Math" panose="02040503050406030204" pitchFamily="18" charset="0"/>
                  </a:rPr>
                  <a:t>$S=\frac{n}{2}\left\{(2n-1)\,{}^{2n}C_n+4^n\right\}$</a:t>
                </a:r>
                <a:r>
                  <a:rPr sz="2400" b="0">
                    <a:solidFill>
                      <a:srgbClr val="111827"/>
                    </a:solidFill>
                    <a:latin typeface="Arial"/>
                  </a:rPr>
                  <a:t>, option (A).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a:t>
            </a:r>
            <a:endParaRPr sz="2800">
              <a:solidFill>
                <a:srgbClr val="15803D"/>
              </a:solidFill>
            </a:endParaRP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Sum over the full square </a:t>
                </a:r>
                <a14:m>
                  <m:oMath xmlns:m="http://schemas.openxmlformats.org/officeDocument/2006/math">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oMath>
                </a14:m>
                <a:r>
                  <a:rPr sz="2400" b="0">
                    <a:solidFill>
                      <a:srgbClr val="78350F"/>
                    </a:solidFill>
                    <a:latin typeface="Arial"/>
                  </a:rPr>
                  <a:t> using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2</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sSup>
                      <m:e>
                        <m:r>
                          <a:rPr lang="en-IN" sz="2400" i="1">
                            <a:solidFill>
                              <a:srgbClr val="78350F"/>
                            </a:solidFill>
                            <a:latin typeface="Cambria Math" panose="02040503050406030204" pitchFamily="18" charset="0"/>
                          </a:rPr>
                          <m:t>2</m:t>
                        </m:r>
                      </m:e>
                      <m:sup>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sSubSup>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up>
                        <m:r>
                          <a:rPr lang="en-IN" sz="2400" i="1">
                            <a:solidFill>
                              <a:srgbClr val="78350F"/>
                            </a:solidFill>
                            <a:latin typeface="Cambria Math" panose="02040503050406030204" pitchFamily="18" charset="0"/>
                          </a:rPr>
                          <m:t>2</m:t>
                        </m:r>
                      </m:sup>
                    </m:sSub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𝑛</m:t>
                        </m:r>
                      </m:num>
                      <m:den>
                        <m:r>
                          <a:rPr lang="en-IN" sz="2400" i="1">
                            <a:solidFill>
                              <a:srgbClr val="78350F"/>
                            </a:solidFill>
                            <a:latin typeface="Cambria Math" panose="02040503050406030204" pitchFamily="18" charset="0"/>
                          </a:rPr>
                          <m:t>2</m:t>
                        </m:r>
                      </m:den>
                    </m:f>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𝑛</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𝑛</m:t>
                        </m:r>
                      </m:sub>
                    </m:sSub>
                  </m:oMath>
                </a14:m>
                <a:r>
                  <a:rPr sz="2400" b="0">
                    <a:solidFill>
                      <a:srgbClr val="78350F"/>
                    </a:solidFill>
                    <a:latin typeface="Arial"/>
                  </a:rPr>
                  <a:t>, then remove the diagonal and halve.</a:t>
                </a:r>
                <a:endParaRPr sz="2400">
                  <a:solidFill>
                    <a:srgbClr val="78350F"/>
                  </a:solidFill>
                </a:endParaRPr>
              </a:p>
            </p:txBody>
          </p:sp>
        </mc:Choice>
        <mc:Fallback>
          <p:sp>
            <p:nvSpPr>
              <p:cNvPr id="5" name="Rounded Rectangle 4"/>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Sum over the full square </a:t>
                </a:r>
                <a:r>
                  <a:rPr lang="en-IN" sz="2400">
                    <a:solidFill>
                      <a:srgbClr val="78350F"/>
                    </a:solidFill>
                    <a:latin typeface="Cambria Math" panose="02040503050406030204" pitchFamily="18" charset="0"/>
                  </a:rPr>
                  <a:t>$0\le i,j\le n$</a:t>
                </a:r>
                <a:r>
                  <a:rPr sz="2400" b="0">
                    <a:solidFill>
                      <a:srgbClr val="78350F"/>
                    </a:solidFill>
                    <a:latin typeface="Arial"/>
                  </a:rPr>
                  <a:t> using </a:t>
                </a:r>
                <a:r>
                  <a:rPr lang="en-IN" sz="2400">
                    <a:solidFill>
                      <a:srgbClr val="78350F"/>
                    </a:solidFill>
                    <a:latin typeface="Cambria Math" panose="02040503050406030204" pitchFamily="18" charset="0"/>
                  </a:rPr>
                  <a:t>$\sum C_r=2^n$</a:t>
                </a:r>
                <a:r>
                  <a:rPr sz="2400" b="0">
                    <a:solidFill>
                      <a:srgbClr val="78350F"/>
                    </a:solidFill>
                    <a:latin typeface="Arial"/>
                  </a:rPr>
                  <a:t>, </a:t>
                </a:r>
                <a:r>
                  <a:rPr lang="en-IN" sz="2400">
                    <a:solidFill>
                      <a:srgbClr val="78350F"/>
                    </a:solidFill>
                    <a:latin typeface="Cambria Math" panose="02040503050406030204" pitchFamily="18" charset="0"/>
                  </a:rPr>
                  <a:t>$\sum rC_r=n2^{n-1}$</a:t>
                </a:r>
                <a:r>
                  <a:rPr sz="2400" b="0">
                    <a:solidFill>
                      <a:srgbClr val="78350F"/>
                    </a:solidFill>
                    <a:latin typeface="Arial"/>
                  </a:rPr>
                  <a:t>, </a:t>
                </a:r>
                <a:r>
                  <a:rPr lang="en-IN" sz="2400">
                    <a:solidFill>
                      <a:srgbClr val="78350F"/>
                    </a:solidFill>
                    <a:latin typeface="Cambria Math" panose="02040503050406030204" pitchFamily="18" charset="0"/>
                  </a:rPr>
                  <a:t>$\sum rC_r^2=\frac n2{}^{2n}C_n$</a:t>
                </a:r>
                <a:r>
                  <a:rPr sz="2400" b="0">
                    <a:solidFill>
                      <a:srgbClr val="78350F"/>
                    </a:solidFill>
                    <a:latin typeface="Arial"/>
                  </a:rPr>
                  <a:t>, then remove the diagonal and halve.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oMath>
                </a14:m>
                <a:r>
                  <a:rPr sz="2400" b="0">
                    <a:solidFill>
                      <a:srgbClr val="111827"/>
                    </a:solidFill>
                    <a:latin typeface="Arial"/>
                  </a:rPr>
                  <a:t>. The bracket is symmetric in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𝑖</m:t>
                        </m:r>
                      </m:e>
                    </m:nary>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𝑗</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𝑖</m:t>
                        </m:r>
                      </m:e>
                    </m:nary>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𝑀</m:t>
                    </m:r>
                  </m:oMath>
                </a14:m>
                <a:r>
                  <a:rPr sz="2400" b="0">
                    <a:solidFill>
                      <a:srgbClr val="111827"/>
                    </a:solidFill>
                    <a:latin typeface="Arial"/>
                  </a:rPr>
                  <a:t> (symmetry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𝑖</m:t>
                        </m:r>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𝑖</m:t>
                        </m:r>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$M={}^{2n}C_n=\sum C_r^2$</a:t>
                </a:r>
                <a:r>
                  <a:rPr sz="2400" b="0">
                    <a:solidFill>
                      <a:srgbClr val="111827"/>
                    </a:solidFill>
                    <a:latin typeface="Arial"/>
                  </a:rPr>
                  <a:t> and </a:t>
                </a:r>
                <a:r>
                  <a:rPr lang="en-IN" sz="2400">
                    <a:solidFill>
                      <a:srgbClr val="111827"/>
                    </a:solidFill>
                    <a:latin typeface="Cambria Math" panose="02040503050406030204" pitchFamily="18" charset="0"/>
                  </a:rPr>
                  <a:t>$T=\sum_{i,j=0}^{n}(i+j)\left(C_i^2+C_j^2+C_iC_j\right)$</a:t>
                </a:r>
                <a:r>
                  <a:rPr sz="2400" b="0">
                    <a:solidFill>
                      <a:srgbClr val="111827"/>
                    </a:solidFill>
                    <a:latin typeface="Arial"/>
                  </a:rPr>
                  <a:t>. The bracket is symmetric in </a:t>
                </a:r>
                <a:r>
                  <a:rPr lang="en-IN" sz="2400">
                    <a:solidFill>
                      <a:srgbClr val="111827"/>
                    </a:solidFill>
                    <a:latin typeface="Cambria Math" panose="02040503050406030204" pitchFamily="18" charset="0"/>
                  </a:rPr>
                  <a:t>$i,j$</a:t>
                </a:r>
                <a:r>
                  <a:rPr sz="2400" b="0">
                    <a:solidFill>
                      <a:srgbClr val="111827"/>
                    </a:solidFill>
                    <a:latin typeface="Arial"/>
                  </a:rPr>
                  <a:t>, so </a:t>
                </a:r>
                <a:r>
                  <a:rPr lang="en-IN" sz="2400">
                    <a:solidFill>
                      <a:srgbClr val="111827"/>
                    </a:solidFill>
                    <a:latin typeface="Cambria Math" panose="02040503050406030204" pitchFamily="18" charset="0"/>
                  </a:rPr>
                  <a:t>$T=2\sum_{i,j}i\left(C_i^2+C_j^2+C_iC_j\right)$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$\sum_i iC_i^2=\frac n2M$</a:t>
                </a:r>
                <a:r>
                  <a:rPr sz="2400" b="0">
                    <a:solidFill>
                      <a:srgbClr val="111827"/>
                    </a:solidFill>
                    <a:latin typeface="Arial"/>
                  </a:rPr>
                  <a:t> (symmetry </a:t>
                </a:r>
                <a:r>
                  <a:rPr lang="en-IN" sz="2400">
                    <a:solidFill>
                      <a:srgbClr val="111827"/>
                    </a:solidFill>
                    <a:latin typeface="Cambria Math" panose="02040503050406030204" pitchFamily="18" charset="0"/>
                  </a:rPr>
                  <a:t>$i\to n-i$</a:t>
                </a:r>
                <a:r>
                  <a:rPr sz="2400" b="0">
                    <a:solidFill>
                      <a:srgbClr val="111827"/>
                    </a:solidFill>
                    <a:latin typeface="Arial"/>
                  </a:rPr>
                  <a:t>), </a:t>
                </a:r>
                <a:r>
                  <a:rPr lang="en-IN" sz="2400">
                    <a:solidFill>
                      <a:srgbClr val="111827"/>
                    </a:solidFill>
                    <a:latin typeface="Cambria Math" panose="02040503050406030204" pitchFamily="18" charset="0"/>
                  </a:rPr>
                  <a:t>$\sum_ii=\frac{n(n+1)}{2}$</a:t>
                </a:r>
                <a:r>
                  <a:rPr sz="2400" b="0">
                    <a:solidFill>
                      <a:srgbClr val="111827"/>
                    </a:solidFill>
                    <a:latin typeface="Arial"/>
                  </a:rPr>
                  <a:t> and </a:t>
                </a:r>
                <a:r>
                  <a:rPr lang="en-IN" sz="2400">
                    <a:solidFill>
                      <a:srgbClr val="111827"/>
                    </a:solidFill>
                    <a:latin typeface="Cambria Math" panose="02040503050406030204" pitchFamily="18" charset="0"/>
                  </a:rPr>
                  <a:t>$\sum_i iC_i=n2^{n-1}$</a:t>
                </a:r>
                <a:r>
                  <a:rPr sz="2400" b="0">
                    <a:solidFill>
                      <a:srgbClr val="111827"/>
                    </a:solidFill>
                    <a:latin typeface="Arial"/>
                  </a:rPr>
                  <a:t>: </a:t>
                </a:r>
                <a:r>
                  <a:rPr lang="en-IN" sz="2400">
                    <a:solidFill>
                      <a:srgbClr val="111827"/>
                    </a:solidFill>
                    <a:latin typeface="Cambria Math" panose="02040503050406030204" pitchFamily="18" charset="0"/>
                  </a:rPr>
                  <a:t>$T=2\left[(n+1)\frac n2M+\frac{n(n+1)}{2}M+n2^{n-1}2^n\right]$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$T=2n(n+1)M+n4^n$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diagonal terms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oMath>
                </a14:m>
                <a:r>
                  <a:rPr sz="2400" b="0">
                    <a:solidFill>
                      <a:srgbClr val="111827"/>
                    </a:solidFill>
                    <a:latin typeface="Arial"/>
                  </a:rPr>
                  <a:t> give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2</m:t>
                        </m:r>
                      </m:e>
                    </m:nary>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pairs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𝑗</m:t>
                    </m:r>
                  </m:oMath>
                </a14:m>
                <a:r>
                  <a:rPr sz="2400" b="0">
                    <a:solidFill>
                      <a:srgbClr val="111827"/>
                    </a:solidFill>
                    <a:latin typeface="Arial"/>
                  </a:rPr>
                  <a:t> contribute equally,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e>
                    </m:d>
                  </m:oMath>
                </a14:m>
                <a:r>
                  <a:rPr sz="2400" b="0">
                    <a:solidFill>
                      <a:srgbClr val="111827"/>
                    </a:solidFill>
                    <a:latin typeface="Arial"/>
                  </a:rPr>
                  <a:t>, option (A).</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diagonal terms </a:t>
                </a:r>
                <a:r>
                  <a:rPr lang="en-IN" sz="2400">
                    <a:solidFill>
                      <a:srgbClr val="111827"/>
                    </a:solidFill>
                    <a:latin typeface="Cambria Math" panose="02040503050406030204" pitchFamily="18" charset="0"/>
                  </a:rPr>
                  <a:t>$i=j$</a:t>
                </a:r>
                <a:r>
                  <a:rPr sz="2400" b="0">
                    <a:solidFill>
                      <a:srgbClr val="111827"/>
                    </a:solidFill>
                    <a:latin typeface="Arial"/>
                  </a:rPr>
                  <a:t> give </a:t>
                </a:r>
                <a:r>
                  <a:rPr lang="en-IN" sz="2400">
                    <a:solidFill>
                      <a:srgbClr val="111827"/>
                    </a:solidFill>
                    <a:latin typeface="Cambria Math" panose="02040503050406030204" pitchFamily="18" charset="0"/>
                  </a:rPr>
                  <a:t>$\sum_i 2i\cdot3C_i^2=6\cdot\frac n2M=3nM$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pairs </a:t>
                </a:r>
                <a:r>
                  <a:rPr lang="en-IN" sz="2400">
                    <a:solidFill>
                      <a:srgbClr val="111827"/>
                    </a:solidFill>
                    <a:latin typeface="Cambria Math" panose="02040503050406030204" pitchFamily="18" charset="0"/>
                  </a:rPr>
                  <a:t>$i&lt;j$</a:t>
                </a:r>
                <a:r>
                  <a:rPr sz="2400" b="0">
                    <a:solidFill>
                      <a:srgbClr val="111827"/>
                    </a:solidFill>
                    <a:latin typeface="Arial"/>
                  </a:rPr>
                  <a:t> and </a:t>
                </a:r>
                <a:r>
                  <a:rPr lang="en-IN" sz="2400">
                    <a:solidFill>
                      <a:srgbClr val="111827"/>
                    </a:solidFill>
                    <a:latin typeface="Cambria Math" panose="02040503050406030204" pitchFamily="18" charset="0"/>
                  </a:rPr>
                  <a:t>$i&gt;j$</a:t>
                </a:r>
                <a:r>
                  <a:rPr sz="2400" b="0">
                    <a:solidFill>
                      <a:srgbClr val="111827"/>
                    </a:solidFill>
                    <a:latin typeface="Arial"/>
                  </a:rPr>
                  <a:t> contribute equally, so </a:t>
                </a:r>
                <a:r>
                  <a:rPr lang="en-IN" sz="2400">
                    <a:solidFill>
                      <a:srgbClr val="111827"/>
                    </a:solidFill>
                    <a:latin typeface="Cambria Math" panose="02040503050406030204" pitchFamily="18" charset="0"/>
                  </a:rPr>
                  <a:t>$S=\frac{T-3nM}{2}=\frac{2n(n+1)M-3nM+n4^n}{2}$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$S=\frac n2\left\{(2n-1)M+4^n\right\}$</a:t>
                </a:r>
                <a:r>
                  <a:rPr sz="2400" b="0">
                    <a:solidFill>
                      <a:srgbClr val="111827"/>
                    </a:solidFill>
                    <a:latin typeface="Arial"/>
                  </a:rPr>
                  <a:t>, option (A).</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a:t>
            </a:r>
            <a:endParaRPr sz="2800">
              <a:solidFill>
                <a:srgbClr val="15803D"/>
              </a:solidFill>
            </a:endParaRP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Symmetry trick: if a sum over a symmetric index set contains a linear factor such 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 symmetric weight, pair each term with its image under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to replace the factor by its average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Standard sums: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sums: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over indices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and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e>
                    </m:nary>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check for such options: put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only pair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which only option (A) reproduces.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Symmetry trick: if a sum over a symmetric index set contains a linear factor such as </a:t>
                </a:r>
                <a:r>
                  <a:rPr lang="en-IN" sz="2400">
                    <a:solidFill>
                      <a:srgbClr val="111827"/>
                    </a:solidFill>
                    <a:latin typeface="Cambria Math" panose="02040503050406030204" pitchFamily="18" charset="0"/>
                  </a:rPr>
                  <a:t>$(i+j)$</a:t>
                </a:r>
                <a:r>
                  <a:rPr sz="2400" b="0">
                    <a:solidFill>
                      <a:srgbClr val="111827"/>
                    </a:solidFill>
                    <a:latin typeface="Arial"/>
                  </a:rPr>
                  <a:t> and a symmetric weight, pair each term with its image under </a:t>
                </a:r>
                <a:r>
                  <a:rPr lang="en-IN" sz="2400">
                    <a:solidFill>
                      <a:srgbClr val="111827"/>
                    </a:solidFill>
                    <a:latin typeface="Cambria Math" panose="02040503050406030204" pitchFamily="18" charset="0"/>
                  </a:rPr>
                  <a:t>$i\to n-i$</a:t>
                </a:r>
                <a:r>
                  <a:rPr sz="2400" b="0">
                    <a:solidFill>
                      <a:srgbClr val="111827"/>
                    </a:solidFill>
                    <a:latin typeface="Arial"/>
                  </a:rPr>
                  <a:t> to replace the factor by its average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Standard sums: </a:t>
                </a:r>
                <a:r>
                  <a:rPr lang="en-IN" sz="2400">
                    <a:solidFill>
                      <a:srgbClr val="111827"/>
                    </a:solidFill>
                    <a:latin typeface="Cambria Math" panose="02040503050406030204" pitchFamily="18" charset="0"/>
                  </a:rPr>
                  <a:t>$\sum C_r=2^n$</a:t>
                </a:r>
                <a:r>
                  <a:rPr sz="2400" b="0">
                    <a:solidFill>
                      <a:srgbClr val="111827"/>
                    </a:solidFill>
                    <a:latin typeface="Arial"/>
                  </a:rPr>
                  <a:t>, </a:t>
                </a:r>
                <a:r>
                  <a:rPr lang="en-IN" sz="2400">
                    <a:solidFill>
                      <a:srgbClr val="111827"/>
                    </a:solidFill>
                    <a:latin typeface="Cambria Math" panose="02040503050406030204" pitchFamily="18" charset="0"/>
                  </a:rPr>
                  <a:t>$\sum C_r^2={}^{2n}C_n$</a:t>
                </a:r>
                <a:r>
                  <a:rPr sz="2400" b="0">
                    <a:solidFill>
                      <a:srgbClr val="111827"/>
                    </a:solidFill>
                    <a:latin typeface="Arial"/>
                  </a:rPr>
                  <a:t>, </a:t>
                </a:r>
                <a:r>
                  <a:rPr lang="en-IN" sz="2400">
                    <a:solidFill>
                      <a:srgbClr val="111827"/>
                    </a:solidFill>
                    <a:latin typeface="Cambria Math" panose="02040503050406030204" pitchFamily="18" charset="0"/>
                  </a:rPr>
                  <a:t>$\sum rC_r=n2^{n-1}$</a:t>
                </a:r>
                <a:r>
                  <a:rPr sz="2400" b="0">
                    <a:solidFill>
                      <a:srgbClr val="111827"/>
                    </a:solidFill>
                    <a:latin typeface="Arial"/>
                  </a:rPr>
                  <a:t>, </a:t>
                </a:r>
                <a:r>
                  <a:rPr lang="en-IN" sz="2400">
                    <a:solidFill>
                      <a:srgbClr val="111827"/>
                    </a:solidFill>
                    <a:latin typeface="Cambria Math" panose="02040503050406030204" pitchFamily="18" charset="0"/>
                  </a:rPr>
                  <a:t>$\sum rC_r^2=\frac n2{}^{2n}C_n$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 sums: </a:t>
                </a:r>
                <a:r>
                  <a:rPr lang="en-IN" sz="2400">
                    <a:solidFill>
                      <a:srgbClr val="111827"/>
                    </a:solidFill>
                    <a:latin typeface="Cambria Math" panose="02040503050406030204" pitchFamily="18" charset="0"/>
                  </a:rPr>
                  <a:t>$\sum_{i&lt;j}(a_i+a_j)=n\sum a_r$</a:t>
                </a:r>
                <a:r>
                  <a:rPr sz="2400" b="0">
                    <a:solidFill>
                      <a:srgbClr val="111827"/>
                    </a:solidFill>
                    <a:latin typeface="Arial"/>
                  </a:rPr>
                  <a:t> over indices </a:t>
                </a:r>
                <a:r>
                  <a:rPr lang="en-IN" sz="2400">
                    <a:solidFill>
                      <a:srgbClr val="111827"/>
                    </a:solidFill>
                    <a:latin typeface="Cambria Math" panose="02040503050406030204" pitchFamily="18" charset="0"/>
                  </a:rPr>
                  <a:t>$0..n$</a:t>
                </a:r>
                <a:r>
                  <a:rPr sz="2400" b="0">
                    <a:solidFill>
                      <a:srgbClr val="111827"/>
                    </a:solidFill>
                    <a:latin typeface="Arial"/>
                  </a:rPr>
                  <a:t>, and </a:t>
                </a:r>
                <a:r>
                  <a:rPr lang="en-IN" sz="2400">
                    <a:solidFill>
                      <a:srgbClr val="111827"/>
                    </a:solidFill>
                    <a:latin typeface="Cambria Math" panose="02040503050406030204" pitchFamily="18" charset="0"/>
                  </a:rPr>
                  <a:t>$\sum_{i&lt;j}a_ia_j=\frac{(\sum a_r)^2-\sum a_r^2}{2}$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check for such options: put </a:t>
                </a:r>
                <a:r>
                  <a:rPr lang="en-IN" sz="2400">
                    <a:solidFill>
                      <a:srgbClr val="111827"/>
                    </a:solidFill>
                    <a:latin typeface="Cambria Math" panose="02040503050406030204" pitchFamily="18" charset="0"/>
                  </a:rPr>
                  <a:t>$n=1$</a:t>
                </a:r>
                <a:r>
                  <a:rPr sz="2400" b="0">
                    <a:solidFill>
                      <a:srgbClr val="111827"/>
                    </a:solidFill>
                    <a:latin typeface="Arial"/>
                  </a:rPr>
                  <a:t>; the only pair </a:t>
                </a:r>
                <a:r>
                  <a:rPr lang="en-IN" sz="2400">
                    <a:solidFill>
                      <a:srgbClr val="111827"/>
                    </a:solidFill>
                    <a:latin typeface="Cambria Math" panose="02040503050406030204" pitchFamily="18" charset="0"/>
                  </a:rPr>
                  <a:t>$(0,1)$</a:t>
                </a:r>
                <a:r>
                  <a:rPr sz="2400" b="0">
                    <a:solidFill>
                      <a:srgbClr val="111827"/>
                    </a:solidFill>
                    <a:latin typeface="Arial"/>
                  </a:rPr>
                  <a:t> gives </a:t>
                </a:r>
                <a:r>
                  <a:rPr lang="en-IN" sz="2400">
                    <a:solidFill>
                      <a:srgbClr val="111827"/>
                    </a:solidFill>
                    <a:latin typeface="Cambria Math" panose="02040503050406030204" pitchFamily="18" charset="0"/>
                  </a:rPr>
                  <a:t>$1\cdot3=3$</a:t>
                </a:r>
                <a:r>
                  <a:rPr sz="2400" b="0">
                    <a:solidFill>
                      <a:srgbClr val="111827"/>
                    </a:solidFill>
                    <a:latin typeface="Arial"/>
                  </a:rPr>
                  <a:t>, which only option (A) reproduces.</a:t>
                </a:r>
                <a:endParaRPr sz="2400">
                  <a:solidFill>
                    <a:srgbClr val="111827"/>
                  </a:solidFill>
                </a:endParaRPr>
              </a:p>
            </p:txBody>
          </p:sp>
        </mc:Fallback>
      </mc:AlternateContent>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823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the expression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 positive integer)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0</m:t>
                    </m:r>
                  </m:oMath>
                </a14:m>
                <a:endParaRPr sz="2400">
                  <a:solidFill>
                    <a:srgbClr val="111827"/>
                  </a:solidFill>
                </a:endParaRPr>
              </a:p>
            </p:txBody>
          </p:sp>
        </mc:Choice>
        <mc:Fallback>
          <p:sp>
            <p:nvSpPr>
              <p:cNvPr id="4" name="Rounded Rectangle 3"/>
              <p:cNvSpPr/>
              <p:nvPr/>
            </p:nvSpPr>
            <p:spPr>
              <a:xfrm>
                <a:off x="731520" y="1280160"/>
                <a:ext cx="10725912" cy="28823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the expression </a:t>
                </a:r>
                <a:r>
                  <a:rPr lang="en-IN" sz="2400">
                    <a:solidFill>
                      <a:srgbClr val="111827"/>
                    </a:solidFill>
                    <a:latin typeface="Cambria Math" panose="02040503050406030204" pitchFamily="18" charset="0"/>
                  </a:rPr>
                  <a:t>$1-\frac n1\cdot\frac{1+x}{1+nx}+\frac{n(n-1)}{1\cdot2}\cdot\frac{1+2x}{(1+nx)^2}-\frac{n(n-1)(n-2)}{1\cdot2\cdot3}\cdot\frac{1+3x}{(1+nx)^3}+\dots$</a:t>
                </a:r>
                <a:r>
                  <a:rPr sz="2400" b="0">
                    <a:solidFill>
                      <a:srgbClr val="111827"/>
                    </a:solidFill>
                    <a:latin typeface="Arial"/>
                  </a:rPr>
                  <a:t> (</a:t>
                </a:r>
                <a:r>
                  <a:rPr lang="en-IN" sz="2400">
                    <a:solidFill>
                      <a:srgbClr val="111827"/>
                    </a:solidFill>
                    <a:latin typeface="Cambria Math" panose="02040503050406030204" pitchFamily="18" charset="0"/>
                  </a:rPr>
                  <a:t>$n&gt;0$</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a positive integer)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a:t>
                </a:r>
                <a:r>
                  <a:rPr sz="2400" b="0">
                    <a:solidFill>
                      <a:srgbClr val="111827"/>
                    </a:solidFill>
                    <a:latin typeface="Arial"/>
                  </a:rPr>
                  <a:t>   (B) </a:t>
                </a:r>
                <a:r>
                  <a:rPr lang="en-IN" sz="2400">
                    <a:solidFill>
                      <a:srgbClr val="111827"/>
                    </a:solidFill>
                    <a:latin typeface="Cambria Math" panose="02040503050406030204" pitchFamily="18" charset="0"/>
                  </a:rPr>
                  <a:t>$1$</a:t>
                </a:r>
                <a:r>
                  <a:rPr sz="2400" b="0">
                    <a:solidFill>
                      <a:srgbClr val="111827"/>
                    </a:solidFill>
                    <a:latin typeface="Arial"/>
                  </a:rPr>
                  <a:t>   (C) </a:t>
                </a:r>
                <a:r>
                  <a:rPr lang="en-IN" sz="2400">
                    <a:solidFill>
                      <a:srgbClr val="111827"/>
                    </a:solidFill>
                    <a:latin typeface="Cambria Math" panose="02040503050406030204" pitchFamily="18" charset="0"/>
                  </a:rPr>
                  <a:t>$3$</a:t>
                </a:r>
                <a:r>
                  <a:rPr sz="2400" b="0">
                    <a:solidFill>
                      <a:srgbClr val="111827"/>
                    </a:solidFill>
                    <a:latin typeface="Arial"/>
                  </a:rPr>
                  <a:t>   (D) </a:t>
                </a:r>
                <a:r>
                  <a:rPr lang="en-IN" sz="2400">
                    <a:solidFill>
                      <a:srgbClr val="111827"/>
                    </a:solidFill>
                    <a:latin typeface="Cambria Math" panose="02040503050406030204" pitchFamily="18" charset="0"/>
                  </a:rPr>
                  <a:t>$0$</a:t>
                </a:r>
                <a:endParaRPr sz="2400">
                  <a:solidFill>
                    <a:srgbClr val="111827"/>
                  </a:solidFill>
                </a:endParaRPr>
              </a:p>
            </p:txBody>
          </p:sp>
        </mc:Fallback>
      </mc:AlternateContent>
      <p:sp>
        <p:nvSpPr>
          <p:cNvPr id="5" name="Rectangle 4"/>
          <p:cNvSpPr/>
          <p:nvPr/>
        </p:nvSpPr>
        <p:spPr>
          <a:xfrm>
            <a:off x="731520" y="439115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(alternating binomial sums)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Split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a:rPr lang="en-IN" sz="2400" i="1">
                        <a:solidFill>
                          <a:srgbClr val="78350F"/>
                        </a:solidFill>
                        <a:latin typeface="Cambria Math" panose="02040503050406030204" pitchFamily="18" charset="0"/>
                      </a:rPr>
                      <m:t>𝑥</m:t>
                    </m:r>
                  </m:oMath>
                </a14:m>
                <a:r>
                  <a:rPr sz="2400" b="0">
                    <a:solidFill>
                      <a:srgbClr val="78350F"/>
                    </a:solidFill>
                    <a:latin typeface="Arial"/>
                  </a:rPr>
                  <a:t> into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𝑘</m:t>
                    </m:r>
                    <m:r>
                      <a:rPr lang="en-IN" sz="2400" i="1">
                        <a:solidFill>
                          <a:srgbClr val="78350F"/>
                        </a:solidFill>
                        <a:latin typeface="Cambria Math" panose="02040503050406030204" pitchFamily="18" charset="0"/>
                      </a:rPr>
                      <m:t>𝑥</m:t>
                    </m:r>
                  </m:oMath>
                </a14:m>
                <a:r>
                  <a:rPr sz="2400" b="0">
                    <a:solidFill>
                      <a:srgbClr val="78350F"/>
                    </a:solidFill>
                    <a:latin typeface="Arial"/>
                  </a:rPr>
                  <a:t>: the first part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𝑢</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and the second is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𝑢</m:t>
                    </m:r>
                    <m:r>
                      <a:rPr lang="en-IN" sz="2400" i="1">
                        <a:solidFill>
                          <a:srgbClr val="78350F"/>
                        </a:solidFill>
                        <a:latin typeface="Cambria Math" panose="02040503050406030204" pitchFamily="18" charset="0"/>
                      </a:rPr>
                      <m:t> </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𝑑</m:t>
                        </m:r>
                      </m:num>
                      <m:den>
                        <m:r>
                          <a:rPr lang="en-IN" sz="2400" i="1">
                            <a:solidFill>
                              <a:srgbClr val="78350F"/>
                            </a:solidFill>
                            <a:latin typeface="Cambria Math" panose="02040503050406030204" pitchFamily="18" charset="0"/>
                          </a:rPr>
                          <m:t>𝑑</m:t>
                        </m:r>
                        <m:r>
                          <a:rPr lang="en-IN" sz="2400" i="1">
                            <a:solidFill>
                              <a:srgbClr val="78350F"/>
                            </a:solidFill>
                            <a:latin typeface="Cambria Math" panose="02040503050406030204" pitchFamily="18" charset="0"/>
                          </a:rPr>
                          <m:t>𝑢</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𝑢</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a:rPr lang="en-IN" sz="2400" i="1">
                            <a:solidFill>
                              <a:srgbClr val="78350F"/>
                            </a:solidFill>
                            <a:latin typeface="Cambria Math" panose="02040503050406030204" pitchFamily="18" charset="0"/>
                          </a:rPr>
                          <m:t>𝑥</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Split </a:t>
                </a:r>
                <a:r>
                  <a:rPr lang="en-IN" sz="2400">
                    <a:solidFill>
                      <a:srgbClr val="78350F"/>
                    </a:solidFill>
                    <a:latin typeface="Cambria Math" panose="02040503050406030204" pitchFamily="18" charset="0"/>
                  </a:rPr>
                  <a:t>$1+kx$</a:t>
                </a:r>
                <a:r>
                  <a:rPr sz="2400" b="0">
                    <a:solidFill>
                      <a:srgbClr val="78350F"/>
                    </a:solidFill>
                    <a:latin typeface="Arial"/>
                  </a:rPr>
                  <a:t> into </a:t>
                </a:r>
                <a:r>
                  <a:rPr lang="en-IN" sz="2400">
                    <a:solidFill>
                      <a:srgbClr val="78350F"/>
                    </a:solidFill>
                    <a:latin typeface="Cambria Math" panose="02040503050406030204" pitchFamily="18" charset="0"/>
                  </a:rPr>
                  <a:t>$1$</a:t>
                </a:r>
                <a:r>
                  <a:rPr sz="2400" b="0">
                    <a:solidFill>
                      <a:srgbClr val="78350F"/>
                    </a:solidFill>
                    <a:latin typeface="Arial"/>
                  </a:rPr>
                  <a:t> and </a:t>
                </a:r>
                <a:r>
                  <a:rPr lang="en-IN" sz="2400">
                    <a:solidFill>
                      <a:srgbClr val="78350F"/>
                    </a:solidFill>
                    <a:latin typeface="Cambria Math" panose="02040503050406030204" pitchFamily="18" charset="0"/>
                  </a:rPr>
                  <a:t>$kx$</a:t>
                </a:r>
                <a:r>
                  <a:rPr sz="2400" b="0">
                    <a:solidFill>
                      <a:srgbClr val="78350F"/>
                    </a:solidFill>
                    <a:latin typeface="Arial"/>
                  </a:rPr>
                  <a:t>: the first part is </a:t>
                </a:r>
                <a:r>
                  <a:rPr lang="en-IN" sz="2400">
                    <a:solidFill>
                      <a:srgbClr val="78350F"/>
                    </a:solidFill>
                    <a:latin typeface="Cambria Math" panose="02040503050406030204" pitchFamily="18" charset="0"/>
                  </a:rPr>
                  <a:t>$(1-u)^n$</a:t>
                </a:r>
                <a:r>
                  <a:rPr sz="2400" b="0">
                    <a:solidFill>
                      <a:srgbClr val="78350F"/>
                    </a:solidFill>
                    <a:latin typeface="Arial"/>
                  </a:rPr>
                  <a:t> and the second is </a:t>
                </a:r>
                <a:r>
                  <a:rPr lang="en-IN" sz="2400">
                    <a:solidFill>
                      <a:srgbClr val="78350F"/>
                    </a:solidFill>
                    <a:latin typeface="Cambria Math" panose="02040503050406030204" pitchFamily="18" charset="0"/>
                  </a:rPr>
                  <a:t>$x\cdot u\,\frac{d}{du}(1-u)^n$</a:t>
                </a:r>
                <a:r>
                  <a:rPr sz="2400" b="0">
                    <a:solidFill>
                      <a:srgbClr val="78350F"/>
                    </a:solidFill>
                    <a:latin typeface="Arial"/>
                  </a:rPr>
                  <a:t> with </a:t>
                </a:r>
                <a:r>
                  <a:rPr lang="en-IN" sz="2400">
                    <a:solidFill>
                      <a:srgbClr val="78350F"/>
                    </a:solidFill>
                    <a:latin typeface="Cambria Math" panose="02040503050406030204" pitchFamily="18" charset="0"/>
                  </a:rPr>
                  <a:t>$u=\frac1{1+nx}$</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a:rPr lang="en-IN" sz="2400" i="1">
                        <a:solidFill>
                          <a:srgbClr val="111827"/>
                        </a:solidFill>
                        <a:latin typeface="Cambria Math" panose="02040503050406030204" pitchFamily="18" charset="0"/>
                      </a:rPr>
                      <m:t> </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𝑥</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Put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 the sum into two parts: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First part: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r>
                  <a:rPr lang="en-IN" sz="2400">
                    <a:solidFill>
                      <a:srgbClr val="111827"/>
                    </a:solidFill>
                    <a:latin typeface="Cambria Math" panose="02040503050406030204" pitchFamily="18" charset="0"/>
                  </a:rPr>
                  <a:t>$(-1)^k\,{}^nC_k\,\frac{1+kx}{(1+nx)^k}$</a:t>
                </a:r>
                <a:r>
                  <a:rPr sz="2400" b="0">
                    <a:solidFill>
                      <a:srgbClr val="111827"/>
                    </a:solidFill>
                    <a:latin typeface="Arial"/>
                  </a:rPr>
                  <a:t> for </a:t>
                </a:r>
                <a:r>
                  <a:rPr lang="en-IN" sz="2400">
                    <a:solidFill>
                      <a:srgbClr val="111827"/>
                    </a:solidFill>
                    <a:latin typeface="Cambria Math" panose="02040503050406030204" pitchFamily="18" charset="0"/>
                  </a:rPr>
                  <a:t>$k=0,1,\dots,n$</a:t>
                </a:r>
                <a:r>
                  <a:rPr sz="2400" b="0">
                    <a:solidFill>
                      <a:srgbClr val="111827"/>
                    </a:solidFill>
                    <a:latin typeface="Arial"/>
                  </a:rPr>
                  <a:t>. Put </a:t>
                </a:r>
                <a:r>
                  <a:rPr lang="en-IN" sz="2400">
                    <a:solidFill>
                      <a:srgbClr val="111827"/>
                    </a:solidFill>
                    <a:latin typeface="Cambria Math" panose="02040503050406030204" pitchFamily="18" charset="0"/>
                  </a:rPr>
                  <a:t>$u=\frac1{1+nx}$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 the sum into two parts: </a:t>
                </a:r>
                <a:r>
                  <a:rPr lang="en-IN" sz="2400">
                    <a:solidFill>
                      <a:srgbClr val="111827"/>
                    </a:solidFill>
                    <a:latin typeface="Cambria Math" panose="02040503050406030204" pitchFamily="18" charset="0"/>
                  </a:rPr>
                  <a:t>$\sum(-1)^k\,{}^nC_k\,u^k$</a:t>
                </a:r>
                <a:r>
                  <a:rPr sz="2400" b="0">
                    <a:solidFill>
                      <a:srgbClr val="111827"/>
                    </a:solidFill>
                    <a:latin typeface="Arial"/>
                  </a:rPr>
                  <a:t> and </a:t>
                </a:r>
                <a:r>
                  <a:rPr lang="en-IN" sz="2400">
                    <a:solidFill>
                      <a:srgbClr val="111827"/>
                    </a:solidFill>
                    <a:latin typeface="Cambria Math" panose="02040503050406030204" pitchFamily="18" charset="0"/>
                  </a:rPr>
                  <a:t>$x\sum(-1)^k\,{}^nC_k\,k\,u^k$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First part: </a:t>
                </a:r>
                <a:r>
                  <a:rPr lang="en-IN" sz="2400">
                    <a:solidFill>
                      <a:srgbClr val="111827"/>
                    </a:solidFill>
                    <a:latin typeface="Cambria Math" panose="02040503050406030204" pitchFamily="18" charset="0"/>
                  </a:rPr>
                  <a:t>$\sum_{k=0}^n(-1)^k\,{}^nC_ku^k=(1-u)^n=\left(1-\frac1{1+nx}\right)^n=\left(\frac{nx}{1+nx}\right)^n$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Second part: use </a:t>
                </a:r>
                <a14:m>
                  <m:oMath xmlns:m="http://schemas.openxmlformats.org/officeDocument/2006/math">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𝑥</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𝑢</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𝑚</m:t>
                        </m:r>
                      </m:sub>
                    </m:sSub>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sum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so the second part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equals </a:t>
                </a:r>
                <a14:m>
                  <m:oMath xmlns:m="http://schemas.openxmlformats.org/officeDocument/2006/math">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the two parts: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e>
                        </m:d>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Second part: use </a:t>
                </a:r>
                <a:r>
                  <a:rPr lang="en-IN" sz="2400">
                    <a:solidFill>
                      <a:srgbClr val="111827"/>
                    </a:solidFill>
                    <a:latin typeface="Cambria Math" panose="02040503050406030204" pitchFamily="18" charset="0"/>
                  </a:rPr>
                  <a:t>$k\,{}^nC_k=n\,{}^{n-1}C_{k-1}$</a:t>
                </a:r>
                <a:r>
                  <a:rPr sz="2400" b="0">
                    <a:solidFill>
                      <a:srgbClr val="111827"/>
                    </a:solidFill>
                    <a:latin typeface="Arial"/>
                  </a:rPr>
                  <a:t>, giving </a:t>
                </a:r>
                <a:r>
                  <a:rPr lang="en-IN" sz="2400">
                    <a:solidFill>
                      <a:srgbClr val="111827"/>
                    </a:solidFill>
                    <a:latin typeface="Cambria Math" panose="02040503050406030204" pitchFamily="18" charset="0"/>
                  </a:rPr>
                  <a:t>$x\sum_{k\ge1}(-1)^kn\,{}^{n-1}C_{k-1}u^k=-nxu\sum_{m=0}^{n-1}(-1)^m\,{}^{n-1}C_mu^m$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sum is </a:t>
                </a:r>
                <a:r>
                  <a:rPr lang="en-IN" sz="2400">
                    <a:solidFill>
                      <a:srgbClr val="111827"/>
                    </a:solidFill>
                    <a:latin typeface="Cambria Math" panose="02040503050406030204" pitchFamily="18" charset="0"/>
                  </a:rPr>
                  <a:t>$(1-u)^{n-1}$</a:t>
                </a:r>
                <a:r>
                  <a:rPr sz="2400" b="0">
                    <a:solidFill>
                      <a:srgbClr val="111827"/>
                    </a:solidFill>
                    <a:latin typeface="Arial"/>
                  </a:rPr>
                  <a:t>, so the second part is </a:t>
                </a:r>
                <a:r>
                  <a:rPr lang="en-IN" sz="2400">
                    <a:solidFill>
                      <a:srgbClr val="111827"/>
                    </a:solidFill>
                    <a:latin typeface="Cambria Math" panose="02040503050406030204" pitchFamily="18" charset="0"/>
                  </a:rPr>
                  <a:t>$-\frac{nx}{1+nx}\left(1-\frac1{1+nx}\right)^{n-1}=-\frac{nx}{1+nx}\left(\frac{nx}{1+nx}\right)^{n-1}$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equals </a:t>
                </a:r>
                <a:r>
                  <a:rPr lang="en-IN" sz="2400">
                    <a:solidFill>
                      <a:srgbClr val="111827"/>
                    </a:solidFill>
                    <a:latin typeface="Cambria Math" panose="02040503050406030204" pitchFamily="18" charset="0"/>
                  </a:rPr>
                  <a:t>$-\left(\frac{nx}{1+nx}\right)^n$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the two parts: </a:t>
                </a:r>
                <a:r>
                  <a:rPr lang="en-IN" sz="2400">
                    <a:solidFill>
                      <a:srgbClr val="111827"/>
                    </a:solidFill>
                    <a:latin typeface="Cambria Math" panose="02040503050406030204" pitchFamily="18" charset="0"/>
                  </a:rPr>
                  <a:t>$\left(\frac{nx}{1+nx}\right)^n-\left(\frac{nx}{1+nx}\right)^n=0$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0</a:t>
            </a:r>
            <a:endParaRPr sz="2800">
              <a:solidFill>
                <a:srgbClr val="15803D"/>
              </a:solidFill>
            </a:endParaRP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answer is a constant independent of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 so test the simplest case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answer is a constant independent of </a:t>
                </a:r>
                <a:r>
                  <a:rPr lang="en-IN" sz="2400">
                    <a:solidFill>
                      <a:srgbClr val="78350F"/>
                    </a:solidFill>
                    <a:latin typeface="Cambria Math" panose="02040503050406030204" pitchFamily="18" charset="0"/>
                  </a:rPr>
                  <a:t>$n$</a:t>
                </a:r>
                <a:r>
                  <a:rPr sz="2400" b="0">
                    <a:solidFill>
                      <a:srgbClr val="78350F"/>
                    </a:solidFill>
                    <a:latin typeface="Arial"/>
                  </a:rPr>
                  <a:t> and </a:t>
                </a:r>
                <a:r>
                  <a:rPr lang="en-IN" sz="2400">
                    <a:solidFill>
                      <a:srgbClr val="78350F"/>
                    </a:solidFill>
                    <a:latin typeface="Cambria Math" panose="02040503050406030204" pitchFamily="18" charset="0"/>
                  </a:rPr>
                  <a:t>$x$</a:t>
                </a:r>
                <a:r>
                  <a:rPr sz="2400" b="0">
                    <a:solidFill>
                      <a:srgbClr val="78350F"/>
                    </a:solidFill>
                    <a:latin typeface="Arial"/>
                  </a:rPr>
                  <a:t>, so test the simplest case </a:t>
                </a:r>
                <a:r>
                  <a:rPr lang="en-IN" sz="2400">
                    <a:solidFill>
                      <a:srgbClr val="78350F"/>
                    </a:solidFill>
                    <a:latin typeface="Cambria Math" panose="02040503050406030204" pitchFamily="18" charset="0"/>
                  </a:rPr>
                  <a:t>$n=1$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options are constants, so the value does not depend on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take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expression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equals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(D)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(Check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options are constants, so the value does not depend on </a:t>
                </a:r>
                <a:r>
                  <a:rPr lang="en-IN" sz="2400">
                    <a:solidFill>
                      <a:srgbClr val="111827"/>
                    </a:solidFill>
                    <a:latin typeface="Cambria Math" panose="02040503050406030204" pitchFamily="18" charset="0"/>
                  </a:rPr>
                  <a:t>$n$</a:t>
                </a:r>
                <a:r>
                  <a:rPr sz="2400" b="0">
                    <a:solidFill>
                      <a:srgbClr val="111827"/>
                    </a:solidFill>
                    <a:latin typeface="Arial"/>
                  </a:rPr>
                  <a:t> or </a:t>
                </a:r>
                <a:r>
                  <a:rPr lang="en-IN" sz="2400">
                    <a:solidFill>
                      <a:srgbClr val="111827"/>
                    </a:solidFill>
                    <a:latin typeface="Cambria Math" panose="02040503050406030204" pitchFamily="18" charset="0"/>
                  </a:rPr>
                  <a:t>$x$</a:t>
                </a:r>
                <a:r>
                  <a:rPr sz="2400" b="0">
                    <a:solidFill>
                      <a:srgbClr val="111827"/>
                    </a:solidFill>
                    <a:latin typeface="Arial"/>
                  </a:rPr>
                  <a:t>; take </a:t>
                </a:r>
                <a:r>
                  <a:rPr lang="en-IN" sz="2400">
                    <a:solidFill>
                      <a:srgbClr val="111827"/>
                    </a:solidFill>
                    <a:latin typeface="Cambria Math" panose="02040503050406030204" pitchFamily="18" charset="0"/>
                  </a:rPr>
                  <a:t>$n=1$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$n=1$</a:t>
                </a:r>
                <a:r>
                  <a:rPr sz="2400" b="0">
                    <a:solidFill>
                      <a:srgbClr val="111827"/>
                    </a:solidFill>
                    <a:latin typeface="Arial"/>
                  </a:rPr>
                  <a:t> the expression is </a:t>
                </a:r>
                <a:r>
                  <a:rPr lang="en-IN" sz="2400">
                    <a:solidFill>
                      <a:srgbClr val="111827"/>
                    </a:solidFill>
                    <a:latin typeface="Cambria Math" panose="02040503050406030204" pitchFamily="18" charset="0"/>
                  </a:rPr>
                  <a:t>$1-\frac11\cdot\frac{1+x}{1+x}$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equals </a:t>
                </a:r>
                <a:r>
                  <a:rPr lang="en-IN" sz="2400">
                    <a:solidFill>
                      <a:srgbClr val="111827"/>
                    </a:solidFill>
                    <a:latin typeface="Cambria Math" panose="02040503050406030204" pitchFamily="18" charset="0"/>
                  </a:rPr>
                  <a:t>$1-1=0$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(D) is </a:t>
                </a:r>
                <a:r>
                  <a:rPr lang="en-IN" sz="2400">
                    <a:solidFill>
                      <a:srgbClr val="111827"/>
                    </a:solidFill>
                    <a:latin typeface="Cambria Math" panose="02040503050406030204" pitchFamily="18" charset="0"/>
                  </a:rPr>
                  <a:t>$0$</a:t>
                </a:r>
                <a:r>
                  <a:rPr sz="2400" b="0">
                    <a:solidFill>
                      <a:srgbClr val="111827"/>
                    </a:solidFill>
                    <a:latin typeface="Arial"/>
                  </a:rPr>
                  <a:t>. (Check with </a:t>
                </a:r>
                <a:r>
                  <a:rPr lang="en-IN" sz="2400">
                    <a:solidFill>
                      <a:srgbClr val="111827"/>
                    </a:solidFill>
                    <a:latin typeface="Cambria Math" panose="02040503050406030204" pitchFamily="18" charset="0"/>
                  </a:rPr>
                  <a:t>$n=2$</a:t>
                </a:r>
                <a:r>
                  <a:rPr sz="2400" b="0">
                    <a:solidFill>
                      <a:srgbClr val="111827"/>
                    </a:solidFill>
                    <a:latin typeface="Arial"/>
                  </a:rPr>
                  <a:t>: </a:t>
                </a:r>
                <a:r>
                  <a:rPr lang="en-IN" sz="2400">
                    <a:solidFill>
                      <a:srgbClr val="111827"/>
                    </a:solidFill>
                    <a:latin typeface="Cambria Math" panose="02040503050406030204" pitchFamily="18" charset="0"/>
                  </a:rPr>
                  <a:t>$1-2\frac{1+x}{1+2x}+\frac{1+2x}{(1+2x)^2}=\frac{(1+2x)-2(1+x)+1}{1+2x}=0$</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0</a:t>
            </a:r>
            <a:endParaRPr sz="2800">
              <a:solidFill>
                <a:srgbClr val="15803D"/>
              </a:solidFill>
            </a:endParaRP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every polynomial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of degree less than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𝑥</m:t>
                    </m:r>
                  </m:oMath>
                </a14:m>
                <a:r>
                  <a:rPr sz="2400" b="0">
                    <a:solidFill>
                      <a:srgbClr val="111827"/>
                    </a:solidFill>
                    <a:latin typeface="Arial"/>
                  </a:rPr>
                  <a:t> this explains zeros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converts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into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(derivative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form: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𝑢</m:t>
                        </m:r>
                      </m:e>
                    </m:d>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den>
                    </m:f>
                  </m:oMath>
                </a14:m>
                <a:r>
                  <a:rPr sz="2400" b="0">
                    <a:solidFill>
                      <a:srgbClr val="111827"/>
                    </a:solidFill>
                    <a:latin typeface="Arial"/>
                  </a:rPr>
                  <a:t> makes the bracket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all options are constants, plugging a small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a convenient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often settles the question.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$\sum_{k=0}^n(-1)^k\,{}^nC_k\,p(k)=0$</a:t>
                </a:r>
                <a:r>
                  <a:rPr sz="2400" b="0">
                    <a:solidFill>
                      <a:srgbClr val="111827"/>
                    </a:solidFill>
                    <a:latin typeface="Arial"/>
                  </a:rPr>
                  <a:t> for every polynomial </a:t>
                </a:r>
                <a:r>
                  <a:rPr lang="en-IN" sz="2400">
                    <a:solidFill>
                      <a:srgbClr val="111827"/>
                    </a:solidFill>
                    <a:latin typeface="Cambria Math" panose="02040503050406030204" pitchFamily="18" charset="0"/>
                  </a:rPr>
                  <a:t>$p$</a:t>
                </a:r>
                <a:r>
                  <a:rPr sz="2400" b="0">
                    <a:solidFill>
                      <a:srgbClr val="111827"/>
                    </a:solidFill>
                    <a:latin typeface="Arial"/>
                  </a:rPr>
                  <a:t> of degree less than </a:t>
                </a:r>
                <a:r>
                  <a:rPr lang="en-IN" sz="2400">
                    <a:solidFill>
                      <a:srgbClr val="111827"/>
                    </a:solidFill>
                    <a:latin typeface="Cambria Math" panose="02040503050406030204" pitchFamily="18" charset="0"/>
                  </a:rPr>
                  <a:t>$n$</a:t>
                </a:r>
                <a:r>
                  <a:rPr sz="2400" b="0">
                    <a:solidFill>
                      <a:srgbClr val="111827"/>
                    </a:solidFill>
                    <a:latin typeface="Arial"/>
                  </a:rPr>
                  <a:t>; for </a:t>
                </a:r>
                <a:r>
                  <a:rPr lang="en-IN" sz="2400">
                    <a:solidFill>
                      <a:srgbClr val="111827"/>
                    </a:solidFill>
                    <a:latin typeface="Cambria Math" panose="02040503050406030204" pitchFamily="18" charset="0"/>
                  </a:rPr>
                  <a:t>$p(k)=1+kx$</a:t>
                </a:r>
                <a:r>
                  <a:rPr sz="2400" b="0">
                    <a:solidFill>
                      <a:srgbClr val="111827"/>
                    </a:solidFill>
                    <a:latin typeface="Arial"/>
                  </a:rPr>
                  <a:t> this explains zeros for </a:t>
                </a:r>
                <a:r>
                  <a:rPr lang="en-IN" sz="2400">
                    <a:solidFill>
                      <a:srgbClr val="111827"/>
                    </a:solidFill>
                    <a:latin typeface="Cambria Math" panose="02040503050406030204" pitchFamily="18" charset="0"/>
                  </a:rPr>
                  <a:t>$n\ge2$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$k\,{}^nC_k=n\,{}^{n-1}C_{k-1}$</a:t>
                </a:r>
                <a:r>
                  <a:rPr sz="2400" b="0">
                    <a:solidFill>
                      <a:srgbClr val="111827"/>
                    </a:solidFill>
                    <a:latin typeface="Arial"/>
                  </a:rPr>
                  <a:t> converts </a:t>
                </a:r>
                <a:r>
                  <a:rPr lang="en-IN" sz="2400">
                    <a:solidFill>
                      <a:srgbClr val="111827"/>
                    </a:solidFill>
                    <a:latin typeface="Cambria Math" panose="02040503050406030204" pitchFamily="18" charset="0"/>
                  </a:rPr>
                  <a:t>$\sum kC_ku^k$</a:t>
                </a:r>
                <a:r>
                  <a:rPr sz="2400" b="0">
                    <a:solidFill>
                      <a:srgbClr val="111827"/>
                    </a:solidFill>
                    <a:latin typeface="Arial"/>
                  </a:rPr>
                  <a:t> into </a:t>
                </a:r>
                <a:r>
                  <a:rPr lang="en-IN" sz="2400">
                    <a:solidFill>
                      <a:srgbClr val="111827"/>
                    </a:solidFill>
                    <a:latin typeface="Cambria Math" panose="02040503050406030204" pitchFamily="18" charset="0"/>
                  </a:rPr>
                  <a:t>$nu(1+u)^{n-1}$</a:t>
                </a:r>
                <a:r>
                  <a:rPr sz="2400" b="0">
                    <a:solidFill>
                      <a:srgbClr val="111827"/>
                    </a:solidFill>
                    <a:latin typeface="Arial"/>
                  </a:rPr>
                  <a:t> (derivative of </a:t>
                </a:r>
                <a:r>
                  <a:rPr lang="en-IN" sz="2400">
                    <a:solidFill>
                      <a:srgbClr val="111827"/>
                    </a:solidFill>
                    <a:latin typeface="Cambria Math" panose="02040503050406030204" pitchFamily="18" charset="0"/>
                  </a:rPr>
                  <a:t>$(1+u)^n$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form: </a:t>
                </a:r>
                <a:r>
                  <a:rPr lang="en-IN" sz="2400">
                    <a:solidFill>
                      <a:srgbClr val="111827"/>
                    </a:solidFill>
                    <a:latin typeface="Cambria Math" panose="02040503050406030204" pitchFamily="18" charset="0"/>
                  </a:rPr>
                  <a:t>$\sum(-1)^k\,{}^nC_k(a+bk)u^k=(1-u)^{n-1}\left[a(1-u)-nbu\right]$</a:t>
                </a:r>
                <a:r>
                  <a:rPr sz="2400" b="0">
                    <a:solidFill>
                      <a:srgbClr val="111827"/>
                    </a:solidFill>
                    <a:latin typeface="Arial"/>
                  </a:rPr>
                  <a:t>; here </a:t>
                </a:r>
                <a:r>
                  <a:rPr lang="en-IN" sz="2400">
                    <a:solidFill>
                      <a:srgbClr val="111827"/>
                    </a:solidFill>
                    <a:latin typeface="Cambria Math" panose="02040503050406030204" pitchFamily="18" charset="0"/>
                  </a:rPr>
                  <a:t>$a=1,b=x,u=\frac1{1+nx}$</a:t>
                </a:r>
                <a:r>
                  <a:rPr sz="2400" b="0">
                    <a:solidFill>
                      <a:srgbClr val="111827"/>
                    </a:solidFill>
                    <a:latin typeface="Arial"/>
                  </a:rPr>
                  <a:t> makes the bracket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all options are constants, plugging a small </a:t>
                </a:r>
                <a:r>
                  <a:rPr lang="en-IN" sz="2400">
                    <a:solidFill>
                      <a:srgbClr val="111827"/>
                    </a:solidFill>
                    <a:latin typeface="Cambria Math" panose="02040503050406030204" pitchFamily="18" charset="0"/>
                  </a:rPr>
                  <a:t>$n$</a:t>
                </a:r>
                <a:r>
                  <a:rPr sz="2400" b="0">
                    <a:solidFill>
                      <a:srgbClr val="111827"/>
                    </a:solidFill>
                    <a:latin typeface="Arial"/>
                  </a:rPr>
                  <a:t> (and a convenient </a:t>
                </a:r>
                <a:r>
                  <a:rPr lang="en-IN" sz="2400">
                    <a:solidFill>
                      <a:srgbClr val="111827"/>
                    </a:solidFill>
                    <a:latin typeface="Cambria Math" panose="02040503050406030204" pitchFamily="18" charset="0"/>
                  </a:rPr>
                  <a:t>$x$</a:t>
                </a:r>
                <a:r>
                  <a:rPr sz="2400" b="0">
                    <a:solidFill>
                      <a:srgbClr val="111827"/>
                    </a:solidFill>
                    <a:latin typeface="Arial"/>
                  </a:rPr>
                  <a:t>) often settles the question.</a:t>
                </a:r>
                <a:endParaRPr sz="2400">
                  <a:solidFill>
                    <a:srgbClr val="111827"/>
                  </a:solidFill>
                </a:endParaRPr>
              </a:p>
            </p:txBody>
          </p:sp>
        </mc:Fallback>
      </mc:AlternateContent>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be the roots of the equation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$z_1,z_2,z_3$</a:t>
                </a:r>
                <a:r>
                  <a:rPr sz="2400" b="0">
                    <a:solidFill>
                      <a:srgbClr val="111827"/>
                    </a:solidFill>
                    <a:latin typeface="Arial"/>
                  </a:rPr>
                  <a:t> be the roots of the equation </a:t>
                </a:r>
                <a:r>
                  <a:rPr lang="en-IN" sz="2400">
                    <a:solidFill>
                      <a:srgbClr val="111827"/>
                    </a:solidFill>
                    <a:latin typeface="Cambria Math" panose="02040503050406030204" pitchFamily="18" charset="0"/>
                  </a:rPr>
                  <a:t>$z^3+z^2(i-1)+z(2-i)-2=0$</a:t>
                </a:r>
                <a:r>
                  <a:rPr sz="2400" b="0">
                    <a:solidFill>
                      <a:srgbClr val="111827"/>
                    </a:solidFill>
                    <a:latin typeface="Arial"/>
                  </a:rPr>
                  <a:t>. Then </a:t>
                </a:r>
                <a:r>
                  <a:rPr lang="en-IN" sz="2400">
                    <a:solidFill>
                      <a:srgbClr val="111827"/>
                    </a:solidFill>
                    <a:latin typeface="Cambria Math" panose="02040503050406030204" pitchFamily="18" charset="0"/>
                  </a:rPr>
                  <a:t>$\mathrm{Re}(z_1)+\mathrm{Re}(z_2)+\mathrm{Re}(z_3)$</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$0$</a:t>
                </a:r>
                <a:r>
                  <a:rPr sz="2400" b="0">
                    <a:solidFill>
                      <a:srgbClr val="111827"/>
                    </a:solidFill>
                    <a:latin typeface="Arial"/>
                  </a:rPr>
                  <a:t>   (C) </a:t>
                </a:r>
                <a:r>
                  <a:rPr lang="en-IN" sz="2400">
                    <a:solidFill>
                      <a:srgbClr val="111827"/>
                    </a:solidFill>
                    <a:latin typeface="Cambria Math" panose="02040503050406030204" pitchFamily="18" charset="0"/>
                  </a:rPr>
                  <a:t>$1$</a:t>
                </a:r>
                <a:r>
                  <a:rPr sz="2400" b="0">
                    <a:solidFill>
                      <a:srgbClr val="111827"/>
                    </a:solidFill>
                    <a:latin typeface="Arial"/>
                  </a:rPr>
                  <a:t>   (D) </a:t>
                </a:r>
                <a:r>
                  <a:rPr lang="en-IN" sz="2400">
                    <a:solidFill>
                      <a:srgbClr val="111827"/>
                    </a:solidFill>
                    <a:latin typeface="Cambria Math" panose="02040503050406030204" pitchFamily="18" charset="0"/>
                  </a:rPr>
                  <a:t>$2$</a:t>
                </a:r>
                <a:endParaRPr sz="2400">
                  <a:solidFill>
                    <a:srgbClr val="111827"/>
                  </a:solidFill>
                </a:endParaRPr>
              </a:p>
            </p:txBody>
          </p:sp>
        </mc:Fallback>
      </mc:AlternateContent>
      <p:sp>
        <p:nvSpPr>
          <p:cNvPr id="5" name="Rectangle 4"/>
          <p:cNvSpPr/>
          <p:nvPr/>
        </p:nvSpPr>
        <p:spPr>
          <a:xfrm>
            <a:off x="731520" y="3580383"/>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a cubic equation with complex coefficients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Real part is additive, so only the sum of the roots,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oMath>
                </a14:m>
                <a:r>
                  <a:rPr sz="2400" b="0">
                    <a:solidFill>
                      <a:srgbClr val="78350F"/>
                    </a:solidFill>
                    <a:latin typeface="Arial"/>
                  </a:rPr>
                  <a:t> from the </a:t>
                </a:r>
                <a14:m>
                  <m:oMath xmlns:m="http://schemas.openxmlformats.org/officeDocument/2006/math">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coefficient, is needed.</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Real part is additive, so only the sum of the roots, </a:t>
                </a:r>
                <a:r>
                  <a:rPr lang="en-IN" sz="2400">
                    <a:solidFill>
                      <a:srgbClr val="78350F"/>
                    </a:solidFill>
                    <a:latin typeface="Cambria Math" panose="02040503050406030204" pitchFamily="18" charset="0"/>
                  </a:rPr>
                  <a:t>$-(i-1)=1-i$</a:t>
                </a:r>
                <a:r>
                  <a:rPr sz="2400" b="0">
                    <a:solidFill>
                      <a:srgbClr val="78350F"/>
                    </a:solidFill>
                    <a:latin typeface="Arial"/>
                  </a:rPr>
                  <a:t> from the </a:t>
                </a:r>
                <a:r>
                  <a:rPr lang="en-IN" sz="2400">
                    <a:solidFill>
                      <a:srgbClr val="78350F"/>
                    </a:solidFill>
                    <a:latin typeface="Cambria Math" panose="02040503050406030204" pitchFamily="18" charset="0"/>
                  </a:rPr>
                  <a:t>$z^2$</a:t>
                </a:r>
                <a:r>
                  <a:rPr sz="2400" b="0">
                    <a:solidFill>
                      <a:srgbClr val="78350F"/>
                    </a:solidFill>
                    <a:latin typeface="Arial"/>
                  </a:rPr>
                  <a:t> coefficient, is needed.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Factorise the cubic: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by expanding: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which matches.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roots are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Their real parts are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Factorise the cubic: </a:t>
                </a:r>
                <a:r>
                  <a:rPr lang="en-IN" sz="2400">
                    <a:solidFill>
                      <a:srgbClr val="111827"/>
                    </a:solidFill>
                    <a:latin typeface="Cambria Math" panose="02040503050406030204" pitchFamily="18" charset="0"/>
                  </a:rPr>
                  <a:t>$z^3+(i-1)z^2+(2-i)z-2=(z-1)(z-i)(z+2i)$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by expanding: </a:t>
                </a:r>
                <a:r>
                  <a:rPr lang="en-IN" sz="2400">
                    <a:solidFill>
                      <a:srgbClr val="111827"/>
                    </a:solidFill>
                    <a:latin typeface="Cambria Math" panose="02040503050406030204" pitchFamily="18" charset="0"/>
                  </a:rPr>
                  <a:t>$(z-1)(z-i)(z+2i)=z^3+(i-1)z^2+(2-i)z-2$</a:t>
                </a:r>
                <a:r>
                  <a:rPr sz="2400" b="0">
                    <a:solidFill>
                      <a:srgbClr val="111827"/>
                    </a:solidFill>
                    <a:latin typeface="Arial"/>
                  </a:rPr>
                  <a:t>, which matches.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roots are </a:t>
                </a:r>
                <a:r>
                  <a:rPr lang="en-IN" sz="2400">
                    <a:solidFill>
                      <a:srgbClr val="111827"/>
                    </a:solidFill>
                    <a:latin typeface="Cambria Math" panose="02040503050406030204" pitchFamily="18" charset="0"/>
                  </a:rPr>
                  <a:t>$z_1=1$</a:t>
                </a:r>
                <a:r>
                  <a:rPr sz="2400" b="0">
                    <a:solidFill>
                      <a:srgbClr val="111827"/>
                    </a:solidFill>
                    <a:latin typeface="Arial"/>
                  </a:rPr>
                  <a:t>, </a:t>
                </a:r>
                <a:r>
                  <a:rPr lang="en-IN" sz="2400">
                    <a:solidFill>
                      <a:srgbClr val="111827"/>
                    </a:solidFill>
                    <a:latin typeface="Cambria Math" panose="02040503050406030204" pitchFamily="18" charset="0"/>
                  </a:rPr>
                  <a:t>$z_2=i$</a:t>
                </a:r>
                <a:r>
                  <a:rPr sz="2400" b="0">
                    <a:solidFill>
                      <a:srgbClr val="111827"/>
                    </a:solidFill>
                    <a:latin typeface="Arial"/>
                  </a:rPr>
                  <a:t>, </a:t>
                </a:r>
                <a:r>
                  <a:rPr lang="en-IN" sz="2400">
                    <a:solidFill>
                      <a:srgbClr val="111827"/>
                    </a:solidFill>
                    <a:latin typeface="Cambria Math" panose="02040503050406030204" pitchFamily="18" charset="0"/>
                  </a:rPr>
                  <a:t>$z_3=-2i$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Their real parts are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$\mathrm{Re}(z_1)+\mathrm{Re}(z_2)+\mathrm{Re}(z_3)=1$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1</a:t>
            </a:r>
            <a:endParaRPr sz="2800">
              <a:solidFill>
                <a:srgbClr val="15803D"/>
              </a:solidFill>
            </a:endParaRP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By Vieta the sum of the roots is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the real part of a sum is the sum of real parts, so no roots are needed.</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By Vieta the sum of the roots is </a:t>
                </a:r>
                <a:r>
                  <a:rPr lang="en-IN" sz="2400">
                    <a:solidFill>
                      <a:srgbClr val="78350F"/>
                    </a:solidFill>
                    <a:latin typeface="Cambria Math" panose="02040503050406030204" pitchFamily="18" charset="0"/>
                  </a:rPr>
                  <a:t>$-(i-1)$</a:t>
                </a:r>
                <a:r>
                  <a:rPr sz="2400" b="0">
                    <a:solidFill>
                      <a:srgbClr val="78350F"/>
                    </a:solidFill>
                    <a:latin typeface="Arial"/>
                  </a:rPr>
                  <a:t>, and the real part of a sum is the sum of real parts, so no roots are needed.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sum of roots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Taking real parts: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$z^3+pz^2+qz+r=0$</a:t>
                </a:r>
                <a:r>
                  <a:rPr sz="2400" b="0">
                    <a:solidFill>
                      <a:srgbClr val="111827"/>
                    </a:solidFill>
                    <a:latin typeface="Arial"/>
                  </a:rPr>
                  <a:t> the sum of roots is </a:t>
                </a:r>
                <a:r>
                  <a:rPr lang="en-IN" sz="2400">
                    <a:solidFill>
                      <a:srgbClr val="111827"/>
                    </a:solidFill>
                    <a:latin typeface="Cambria Math" panose="02040503050406030204" pitchFamily="18" charset="0"/>
                  </a:rPr>
                  <a:t>$-p$</a:t>
                </a:r>
                <a:r>
                  <a:rPr sz="2400" b="0">
                    <a:solidFill>
                      <a:srgbClr val="111827"/>
                    </a:solidFill>
                    <a:latin typeface="Arial"/>
                  </a:rPr>
                  <a:t>; here </a:t>
                </a:r>
                <a:r>
                  <a:rPr lang="en-IN" sz="2400">
                    <a:solidFill>
                      <a:srgbClr val="111827"/>
                    </a:solidFill>
                    <a:latin typeface="Cambria Math" panose="02040503050406030204" pitchFamily="18" charset="0"/>
                  </a:rPr>
                  <a:t>$p=i-1$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$z_1+z_2+z_3=1-i$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Taking real parts: </a:t>
                </a:r>
                <a:r>
                  <a:rPr lang="en-IN" sz="2400">
                    <a:solidFill>
                      <a:srgbClr val="111827"/>
                    </a:solidFill>
                    <a:latin typeface="Cambria Math" panose="02040503050406030204" pitchFamily="18" charset="0"/>
                  </a:rPr>
                  <a:t>$\mathrm{Re}(z_1)+\mathrm{Re}(z_2)+\mathrm{Re}(z_3)=\mathrm{Re}(1-i)=1$</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1</a:t>
            </a:r>
            <a:endParaRPr sz="2800">
              <a:solidFill>
                <a:srgbClr val="15803D"/>
              </a:solidFill>
            </a:endParaRP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oMath>
                </a14:m>
                <a:r>
                  <a:rPr sz="2400" b="0">
                    <a:solidFill>
                      <a:srgbClr val="111827"/>
                    </a:solidFill>
                    <a:latin typeface="Arial"/>
                  </a:rPr>
                  <a:t> are linear, 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𝑘</m:t>
                            </m:r>
                          </m:sub>
                        </m:sSub>
                      </m:e>
                    </m:d>
                  </m:oMath>
                </a14:m>
                <a:r>
                  <a:rPr sz="2400" b="0">
                    <a:solidFill>
                      <a:srgbClr val="111827"/>
                    </a:solidFill>
                    <a:latin typeface="Arial"/>
                  </a:rPr>
                  <a:t>; Vieta's sum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num>
                      <m:den>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𝑛</m:t>
                            </m:r>
                          </m:sub>
                        </m:sSub>
                      </m:den>
                    </m:f>
                  </m:oMath>
                </a14:m>
                <a:r>
                  <a:rPr sz="2400" b="0">
                    <a:solidFill>
                      <a:srgbClr val="111827"/>
                    </a:solidFill>
                    <a:latin typeface="Arial"/>
                  </a:rPr>
                  <a:t> works for complex coefficients too.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all coefficients are real, non-real roots come in conjugate pairs, but here the coefficients are complex, so do not assume that.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test for rational-looking roots: try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$\mathrm{Re}$</a:t>
                </a:r>
                <a:r>
                  <a:rPr sz="2400" b="0">
                    <a:solidFill>
                      <a:srgbClr val="111827"/>
                    </a:solidFill>
                    <a:latin typeface="Arial"/>
                  </a:rPr>
                  <a:t> and </a:t>
                </a:r>
                <a:r>
                  <a:rPr lang="en-IN" sz="2400">
                    <a:solidFill>
                      <a:srgbClr val="111827"/>
                    </a:solidFill>
                    <a:latin typeface="Cambria Math" panose="02040503050406030204" pitchFamily="18" charset="0"/>
                  </a:rPr>
                  <a:t>$\mathrm{Im}$</a:t>
                </a:r>
                <a:r>
                  <a:rPr sz="2400" b="0">
                    <a:solidFill>
                      <a:srgbClr val="111827"/>
                    </a:solidFill>
                    <a:latin typeface="Arial"/>
                  </a:rPr>
                  <a:t> are linear, so </a:t>
                </a:r>
                <a:r>
                  <a:rPr lang="en-IN" sz="2400">
                    <a:solidFill>
                      <a:srgbClr val="111827"/>
                    </a:solidFill>
                    <a:latin typeface="Cambria Math" panose="02040503050406030204" pitchFamily="18" charset="0"/>
                  </a:rPr>
                  <a:t>$\sum\mathrm{Re}(z_k)=\mathrm{Re}\left(\sum z_k\right)$</a:t>
                </a:r>
                <a:r>
                  <a:rPr sz="2400" b="0">
                    <a:solidFill>
                      <a:srgbClr val="111827"/>
                    </a:solidFill>
                    <a:latin typeface="Arial"/>
                  </a:rPr>
                  <a:t>; Vieta's sum </a:t>
                </a:r>
                <a:r>
                  <a:rPr lang="en-IN" sz="2400">
                    <a:solidFill>
                      <a:srgbClr val="111827"/>
                    </a:solidFill>
                    <a:latin typeface="Cambria Math" panose="02040503050406030204" pitchFamily="18" charset="0"/>
                  </a:rPr>
                  <a:t>$-\frac{a_{n-1}}{a_n}$</a:t>
                </a:r>
                <a:r>
                  <a:rPr sz="2400" b="0">
                    <a:solidFill>
                      <a:srgbClr val="111827"/>
                    </a:solidFill>
                    <a:latin typeface="Arial"/>
                  </a:rPr>
                  <a:t> works for complex coefficients too.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all coefficients are real, non-real roots come in conjugate pairs, but here the coefficients are complex, so do not assume that.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Quick test for rational-looking roots: try </a:t>
                </a:r>
                <a:r>
                  <a:rPr lang="en-IN" sz="2400">
                    <a:solidFill>
                      <a:srgbClr val="111827"/>
                    </a:solidFill>
                    <a:latin typeface="Cambria Math" panose="02040503050406030204" pitchFamily="18" charset="0"/>
                  </a:rPr>
                  <a:t>$z=\pm1,\pm i,\pm2i$</a:t>
                </a:r>
                <a:r>
                  <a:rPr sz="2400" b="0">
                    <a:solidFill>
                      <a:srgbClr val="111827"/>
                    </a:solidFill>
                    <a:latin typeface="Arial"/>
                  </a:rPr>
                  <a:t>; here </a:t>
                </a:r>
                <a:r>
                  <a:rPr lang="en-IN" sz="2400">
                    <a:solidFill>
                      <a:srgbClr val="111827"/>
                    </a:solidFill>
                    <a:latin typeface="Cambria Math" panose="02040503050406030204" pitchFamily="18" charset="0"/>
                  </a:rPr>
                  <a:t>$z=1$</a:t>
                </a:r>
                <a:r>
                  <a:rPr sz="2400" b="0">
                    <a:solidFill>
                      <a:srgbClr val="111827"/>
                    </a:solidFill>
                    <a:latin typeface="Arial"/>
                  </a:rPr>
                  <a:t> gives </a:t>
                </a:r>
                <a:r>
                  <a:rPr lang="en-IN" sz="2400">
                    <a:solidFill>
                      <a:srgbClr val="111827"/>
                    </a:solidFill>
                    <a:latin typeface="Cambria Math" panose="02040503050406030204" pitchFamily="18" charset="0"/>
                  </a:rPr>
                  <a:t>$1+(i-1)+(2-i)-2=0$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2910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then the value of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(B)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   (C)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22910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$P=\cos\frac{2\pi}{7}+i\sin\frac{2\pi}{7}$</a:t>
                </a:r>
                <a:r>
                  <a:rPr sz="2400" b="0">
                    <a:solidFill>
                      <a:srgbClr val="111827"/>
                    </a:solidFill>
                    <a:latin typeface="Arial"/>
                  </a:rPr>
                  <a:t>, </a:t>
                </a:r>
                <a:r>
                  <a:rPr lang="en-IN" sz="2400">
                    <a:solidFill>
                      <a:srgbClr val="111827"/>
                    </a:solidFill>
                    <a:latin typeface="Cambria Math" panose="02040503050406030204" pitchFamily="18" charset="0"/>
                  </a:rPr>
                  <a:t>$a=P+P^2+P^4$</a:t>
                </a:r>
                <a:r>
                  <a:rPr sz="2400" b="0">
                    <a:solidFill>
                      <a:srgbClr val="111827"/>
                    </a:solidFill>
                    <a:latin typeface="Arial"/>
                  </a:rPr>
                  <a:t> and </a:t>
                </a:r>
                <a:r>
                  <a:rPr lang="en-IN" sz="2400">
                    <a:solidFill>
                      <a:srgbClr val="111827"/>
                    </a:solidFill>
                    <a:latin typeface="Cambria Math" panose="02040503050406030204" pitchFamily="18" charset="0"/>
                  </a:rPr>
                  <a:t>$b=P^3+P^5+P^6$</a:t>
                </a:r>
                <a:r>
                  <a:rPr sz="2400" b="0">
                    <a:solidFill>
                      <a:srgbClr val="111827"/>
                    </a:solidFill>
                    <a:latin typeface="Arial"/>
                  </a:rPr>
                  <a:t>, then the value of </a:t>
                </a:r>
                <a:r>
                  <a:rPr lang="en-IN" sz="2400">
                    <a:solidFill>
                      <a:srgbClr val="111827"/>
                    </a:solidFill>
                    <a:latin typeface="Cambria Math" panose="02040503050406030204" pitchFamily="18" charset="0"/>
                  </a:rPr>
                  <a:t>$|(a+b)+abi|$</a:t>
                </a:r>
                <a:r>
                  <a:rPr sz="2400" b="0">
                    <a:solidFill>
                      <a:srgbClr val="111827"/>
                    </a:solidFill>
                    <a:latin typeface="Arial"/>
                  </a:rPr>
                  <a:t> (where </a:t>
                </a:r>
                <a:r>
                  <a:rPr lang="en-IN" sz="2400">
                    <a:solidFill>
                      <a:srgbClr val="111827"/>
                    </a:solidFill>
                    <a:latin typeface="Cambria Math" panose="02040503050406030204" pitchFamily="18" charset="0"/>
                  </a:rPr>
                  <a:t>$i=\sqrt{-1}$</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$\sqrt3$</a:t>
                </a:r>
                <a:r>
                  <a:rPr sz="2400" b="0">
                    <a:solidFill>
                      <a:srgbClr val="111827"/>
                    </a:solidFill>
                    <a:latin typeface="Arial"/>
                  </a:rPr>
                  <a:t>   (B) </a:t>
                </a:r>
                <a:r>
                  <a:rPr lang="en-IN" sz="2400">
                    <a:solidFill>
                      <a:srgbClr val="111827"/>
                    </a:solidFill>
                    <a:latin typeface="Cambria Math" panose="02040503050406030204" pitchFamily="18" charset="0"/>
                  </a:rPr>
                  <a:t>$\sqrt5$</a:t>
                </a:r>
                <a:r>
                  <a:rPr sz="2400" b="0">
                    <a:solidFill>
                      <a:srgbClr val="111827"/>
                    </a:solidFill>
                    <a:latin typeface="Arial"/>
                  </a:rPr>
                  <a:t>   (C) </a:t>
                </a:r>
                <a:r>
                  <a:rPr lang="en-IN" sz="2400">
                    <a:solidFill>
                      <a:srgbClr val="111827"/>
                    </a:solidFill>
                    <a:latin typeface="Cambria Math" panose="02040503050406030204" pitchFamily="18" charset="0"/>
                  </a:rPr>
                  <a:t>$\sqrt6$</a:t>
                </a:r>
                <a:r>
                  <a:rPr sz="2400" b="0">
                    <a:solidFill>
                      <a:srgbClr val="111827"/>
                    </a:solidFill>
                    <a:latin typeface="Arial"/>
                  </a:rPr>
                  <a:t>   (D) </a:t>
                </a:r>
                <a:r>
                  <a:rPr lang="en-IN" sz="2400">
                    <a:solidFill>
                      <a:srgbClr val="111827"/>
                    </a:solidFill>
                    <a:latin typeface="Cambria Math" panose="02040503050406030204" pitchFamily="18" charset="0"/>
                  </a:rPr>
                  <a:t>$2$</a:t>
                </a:r>
                <a:endParaRPr sz="2400">
                  <a:solidFill>
                    <a:srgbClr val="111827"/>
                  </a:solidFill>
                </a:endParaRPr>
              </a:p>
            </p:txBody>
          </p:sp>
        </mc:Fallback>
      </mc:AlternateContent>
      <p:sp>
        <p:nvSpPr>
          <p:cNvPr id="5" name="Rectangle 4"/>
          <p:cNvSpPr/>
          <p:nvPr/>
        </p:nvSpPr>
        <p:spPr>
          <a:xfrm>
            <a:off x="731520" y="37998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unity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Use </a:t>
                </a:r>
                <a14:m>
                  <m:oMath xmlns:m="http://schemas.openxmlformats.org/officeDocument/2006/math">
                    <m:sSup>
                      <m:e>
                        <m:r>
                          <a:rPr lang="en-IN" sz="2400" i="1">
                            <a:solidFill>
                              <a:srgbClr val="78350F"/>
                            </a:solidFill>
                            <a:latin typeface="Cambria Math" panose="02040503050406030204" pitchFamily="18" charset="0"/>
                          </a:rPr>
                          <m:t>𝑃</m:t>
                        </m:r>
                      </m:e>
                      <m:sup>
                        <m:r>
                          <a:rPr lang="en-IN" sz="2400" i="1">
                            <a:solidFill>
                              <a:srgbClr val="78350F"/>
                            </a:solidFill>
                            <a:latin typeface="Cambria Math" panose="02040503050406030204" pitchFamily="18" charset="0"/>
                          </a:rPr>
                          <m:t>7</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𝑃</m:t>
                        </m:r>
                      </m:e>
                      <m:sup>
                        <m:r>
                          <a:rPr lang="en-IN" sz="2400" i="1">
                            <a:solidFill>
                              <a:srgbClr val="78350F"/>
                            </a:solidFill>
                            <a:latin typeface="Cambria Math" panose="02040503050406030204" pitchFamily="18" charset="0"/>
                          </a:rPr>
                          <m:t>6</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directly, and in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oMath>
                </a14:m>
                <a:r>
                  <a:rPr sz="2400" b="0">
                    <a:solidFill>
                      <a:srgbClr val="78350F"/>
                    </a:solidFill>
                    <a:latin typeface="Arial"/>
                  </a:rPr>
                  <a:t> every exponent reduces mod 7.</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Use </a:t>
                </a:r>
                <a:r>
                  <a:rPr lang="en-IN" sz="2400">
                    <a:solidFill>
                      <a:srgbClr val="78350F"/>
                    </a:solidFill>
                    <a:latin typeface="Cambria Math" panose="02040503050406030204" pitchFamily="18" charset="0"/>
                  </a:rPr>
                  <a:t>$P^7=1$</a:t>
                </a:r>
                <a:r>
                  <a:rPr sz="2400" b="0">
                    <a:solidFill>
                      <a:srgbClr val="78350F"/>
                    </a:solidFill>
                    <a:latin typeface="Arial"/>
                  </a:rPr>
                  <a:t> and </a:t>
                </a:r>
                <a:r>
                  <a:rPr lang="en-IN" sz="2400">
                    <a:solidFill>
                      <a:srgbClr val="78350F"/>
                    </a:solidFill>
                    <a:latin typeface="Cambria Math" panose="02040503050406030204" pitchFamily="18" charset="0"/>
                  </a:rPr>
                  <a:t>$1+P+\dots+P^6=0$</a:t>
                </a:r>
                <a:r>
                  <a:rPr sz="2400" b="0">
                    <a:solidFill>
                      <a:srgbClr val="78350F"/>
                    </a:solidFill>
                    <a:latin typeface="Arial"/>
                  </a:rPr>
                  <a:t>: </a:t>
                </a:r>
                <a:r>
                  <a:rPr lang="en-IN" sz="2400">
                    <a:solidFill>
                      <a:srgbClr val="78350F"/>
                    </a:solidFill>
                    <a:latin typeface="Cambria Math" panose="02040503050406030204" pitchFamily="18" charset="0"/>
                  </a:rPr>
                  <a:t>$a+b=-1$</a:t>
                </a:r>
                <a:r>
                  <a:rPr sz="2400" b="0">
                    <a:solidFill>
                      <a:srgbClr val="78350F"/>
                    </a:solidFill>
                    <a:latin typeface="Arial"/>
                  </a:rPr>
                  <a:t> directly, and in </a:t>
                </a:r>
                <a:r>
                  <a:rPr lang="en-IN" sz="2400">
                    <a:solidFill>
                      <a:srgbClr val="78350F"/>
                    </a:solidFill>
                    <a:latin typeface="Cambria Math" panose="02040503050406030204" pitchFamily="18" charset="0"/>
                  </a:rPr>
                  <a:t>$ab$</a:t>
                </a:r>
                <a:r>
                  <a:rPr sz="2400" b="0">
                    <a:solidFill>
                      <a:srgbClr val="78350F"/>
                    </a:solidFill>
                    <a:latin typeface="Arial"/>
                  </a:rPr>
                  <a:t> every exponent reduces mod 7.</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sup>
                    </m:sSup>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since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10</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$P=e^{2\pi i/7}$</a:t>
                </a:r>
                <a:r>
                  <a:rPr sz="2400" b="0">
                    <a:solidFill>
                      <a:srgbClr val="111827"/>
                    </a:solidFill>
                    <a:latin typeface="Arial"/>
                  </a:rPr>
                  <a:t>, so </a:t>
                </a:r>
                <a:r>
                  <a:rPr lang="en-IN" sz="2400">
                    <a:solidFill>
                      <a:srgbClr val="111827"/>
                    </a:solidFill>
                    <a:latin typeface="Cambria Math" panose="02040503050406030204" pitchFamily="18" charset="0"/>
                  </a:rPr>
                  <a:t>$P^7=e^{2\pi i}=1$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$a+b=P+P^2+P^3+P^4+P^5+P^6$</a:t>
                </a:r>
                <a:r>
                  <a:rPr sz="2400" b="0">
                    <a:solidFill>
                      <a:srgbClr val="111827"/>
                    </a:solidFill>
                    <a:latin typeface="Arial"/>
                  </a:rPr>
                  <a:t>, and </a:t>
                </a:r>
                <a:r>
                  <a:rPr lang="en-IN" sz="2400">
                    <a:solidFill>
                      <a:srgbClr val="111827"/>
                    </a:solidFill>
                    <a:latin typeface="Cambria Math" panose="02040503050406030204" pitchFamily="18" charset="0"/>
                  </a:rPr>
                  <a:t>$1+P+\dots+P^6=\frac{P^7-1}{P-1}=0$</a:t>
                </a:r>
                <a:r>
                  <a:rPr sz="2400" b="0">
                    <a:solidFill>
                      <a:srgbClr val="111827"/>
                    </a:solidFill>
                    <a:latin typeface="Arial"/>
                  </a:rPr>
                  <a:t> since </a:t>
                </a:r>
                <a:r>
                  <a:rPr lang="en-IN" sz="2400">
                    <a:solidFill>
                      <a:srgbClr val="111827"/>
                    </a:solidFill>
                    <a:latin typeface="Cambria Math" panose="02040503050406030204" pitchFamily="18" charset="0"/>
                  </a:rPr>
                  <a:t>$P^7=1$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$a+b+1=0$</a:t>
                </a:r>
                <a:r>
                  <a:rPr sz="2400" b="0">
                    <a:solidFill>
                      <a:srgbClr val="111827"/>
                    </a:solidFill>
                    <a:latin typeface="Arial"/>
                  </a:rPr>
                  <a:t>, so </a:t>
                </a:r>
                <a:r>
                  <a:rPr lang="en-IN" sz="2400">
                    <a:solidFill>
                      <a:srgbClr val="111827"/>
                    </a:solidFill>
                    <a:latin typeface="Cambria Math" panose="02040503050406030204" pitchFamily="18" charset="0"/>
                  </a:rPr>
                  <a:t>$a+b=-1$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r>
                  <a:rPr lang="en-IN" sz="2400">
                    <a:solidFill>
                      <a:srgbClr val="111827"/>
                    </a:solidFill>
                    <a:latin typeface="Cambria Math" panose="02040503050406030204" pitchFamily="18" charset="0"/>
                  </a:rPr>
                  <a:t>$ab=(P+P^2+P^4)(P^3+P^5+P^6)=P^4+P^6+P^7+P^5+P^7+P^8+P^7+P^9+P^{10}$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three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7</m:t>
                        </m:r>
                      </m:sup>
                    </m:sSup>
                  </m:oMath>
                </a14:m>
                <a:r>
                  <a:rPr sz="2400" b="0">
                    <a:solidFill>
                      <a:srgbClr val="111827"/>
                    </a:solidFill>
                    <a:latin typeface="Arial"/>
                  </a:rPr>
                  <a:t> terms give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$P^7=1$</a:t>
                </a:r>
                <a:r>
                  <a:rPr sz="2400" b="0">
                    <a:solidFill>
                      <a:srgbClr val="111827"/>
                    </a:solidFill>
                    <a:latin typeface="Arial"/>
                  </a:rPr>
                  <a:t>: the three </a:t>
                </a:r>
                <a:r>
                  <a:rPr lang="en-IN" sz="2400">
                    <a:solidFill>
                      <a:srgbClr val="111827"/>
                    </a:solidFill>
                    <a:latin typeface="Cambria Math" panose="02040503050406030204" pitchFamily="18" charset="0"/>
                  </a:rPr>
                  <a:t>$P^7$</a:t>
                </a:r>
                <a:r>
                  <a:rPr sz="2400" b="0">
                    <a:solidFill>
                      <a:srgbClr val="111827"/>
                    </a:solidFill>
                    <a:latin typeface="Arial"/>
                  </a:rPr>
                  <a:t> terms give </a:t>
                </a:r>
                <a:r>
                  <a:rPr lang="en-IN" sz="2400">
                    <a:solidFill>
                      <a:srgbClr val="111827"/>
                    </a:solidFill>
                    <a:latin typeface="Cambria Math" panose="02040503050406030204" pitchFamily="18" charset="0"/>
                  </a:rPr>
                  <a:t>$3$</a:t>
                </a:r>
                <a:r>
                  <a:rPr sz="2400" b="0">
                    <a:solidFill>
                      <a:srgbClr val="111827"/>
                    </a:solidFill>
                    <a:latin typeface="Arial"/>
                  </a:rPr>
                  <a:t>, and </a:t>
                </a:r>
                <a:r>
                  <a:rPr lang="en-IN" sz="2400">
                    <a:solidFill>
                      <a:srgbClr val="111827"/>
                    </a:solidFill>
                    <a:latin typeface="Cambria Math" panose="02040503050406030204" pitchFamily="18" charset="0"/>
                  </a:rPr>
                  <a:t>$P^8=P$</a:t>
                </a:r>
                <a:r>
                  <a:rPr sz="2400" b="0">
                    <a:solidFill>
                      <a:srgbClr val="111827"/>
                    </a:solidFill>
                    <a:latin typeface="Arial"/>
                  </a:rPr>
                  <a:t>, </a:t>
                </a:r>
                <a:r>
                  <a:rPr lang="en-IN" sz="2400">
                    <a:solidFill>
                      <a:srgbClr val="111827"/>
                    </a:solidFill>
                    <a:latin typeface="Cambria Math" panose="02040503050406030204" pitchFamily="18" charset="0"/>
                  </a:rPr>
                  <a:t>$P^9=P^2$</a:t>
                </a:r>
                <a:r>
                  <a:rPr sz="2400" b="0">
                    <a:solidFill>
                      <a:srgbClr val="111827"/>
                    </a:solidFill>
                    <a:latin typeface="Arial"/>
                  </a:rPr>
                  <a:t>, </a:t>
                </a:r>
                <a:r>
                  <a:rPr lang="en-IN" sz="2400">
                    <a:solidFill>
                      <a:srgbClr val="111827"/>
                    </a:solidFill>
                    <a:latin typeface="Cambria Math" panose="02040503050406030204" pitchFamily="18" charset="0"/>
                  </a:rPr>
                  <a:t>$P^{10}=P^3$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$ab=3+P+P^2+P^3+P^4+P^5+P^6=3+(-1)=2$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$(a+b)+abi=-1+2i$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$|-1+2i|=\sqrt{(-1)^2+2^2}=\sqrt5$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5</m:t>
                        </m:r>
                      </m:e>
                    </m:rad>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$\sqrt5$</a:t>
                </a:r>
                <a:endParaRPr sz="2800">
                  <a:solidFill>
                    <a:srgbClr val="15803D"/>
                  </a:solidFill>
                </a:endParaRPr>
              </a:p>
            </p:txBody>
          </p:sp>
        </mc:Fallback>
      </mc:AlternateContent>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Show that </a:t>
                </a:r>
                <a14:m>
                  <m:oMath xmlns:m="http://schemas.openxmlformats.org/officeDocument/2006/math">
                    <m:r>
                      <a:rPr lang="en-IN" sz="2400" i="1">
                        <a:solidFill>
                          <a:srgbClr val="78350F"/>
                        </a:solidFill>
                        <a:latin typeface="Cambria Math" panose="02040503050406030204" pitchFamily="18" charset="0"/>
                      </a:rPr>
                      <m:t>𝑎</m:t>
                    </m:r>
                  </m:oMath>
                </a14:m>
                <a:r>
                  <a:rPr sz="2400" b="0">
                    <a:solidFill>
                      <a:srgbClr val="78350F"/>
                    </a:solidFill>
                    <a:latin typeface="Arial"/>
                  </a:rPr>
                  <a:t> satisfies </a:t>
                </a:r>
                <a14:m>
                  <m:oMath xmlns:m="http://schemas.openxmlformats.org/officeDocument/2006/math">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 Gauss-sum argument), so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oMath>
                </a14:m>
                <a:r>
                  <a:rPr sz="2400" b="0">
                    <a:solidFill>
                      <a:srgbClr val="78350F"/>
                    </a:solidFill>
                    <a:latin typeface="Arial"/>
                  </a:rPr>
                  <a:t> are its two roots and Vieta gives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Show that </a:t>
                </a:r>
                <a:r>
                  <a:rPr lang="en-IN" sz="2400">
                    <a:solidFill>
                      <a:srgbClr val="78350F"/>
                    </a:solidFill>
                    <a:latin typeface="Cambria Math" panose="02040503050406030204" pitchFamily="18" charset="0"/>
                  </a:rPr>
                  <a:t>$a$</a:t>
                </a:r>
                <a:r>
                  <a:rPr sz="2400" b="0">
                    <a:solidFill>
                      <a:srgbClr val="78350F"/>
                    </a:solidFill>
                    <a:latin typeface="Arial"/>
                  </a:rPr>
                  <a:t> satisfies </a:t>
                </a:r>
                <a:r>
                  <a:rPr lang="en-IN" sz="2400">
                    <a:solidFill>
                      <a:srgbClr val="78350F"/>
                    </a:solidFill>
                    <a:latin typeface="Cambria Math" panose="02040503050406030204" pitchFamily="18" charset="0"/>
                  </a:rPr>
                  <a:t>$a^2+a+2=0$</a:t>
                </a:r>
                <a:r>
                  <a:rPr sz="2400" b="0">
                    <a:solidFill>
                      <a:srgbClr val="78350F"/>
                    </a:solidFill>
                    <a:latin typeface="Arial"/>
                  </a:rPr>
                  <a:t> (a Gauss-sum argument), so </a:t>
                </a:r>
                <a:r>
                  <a:rPr lang="en-IN" sz="2400">
                    <a:solidFill>
                      <a:srgbClr val="78350F"/>
                    </a:solidFill>
                    <a:latin typeface="Cambria Math" panose="02040503050406030204" pitchFamily="18" charset="0"/>
                  </a:rPr>
                  <a:t>$a,b$</a:t>
                </a:r>
                <a:r>
                  <a:rPr sz="2400" b="0">
                    <a:solidFill>
                      <a:srgbClr val="78350F"/>
                    </a:solidFill>
                    <a:latin typeface="Arial"/>
                  </a:rPr>
                  <a:t> are its two roots and Vieta gives </a:t>
                </a:r>
                <a:r>
                  <a:rPr lang="en-IN" sz="2400">
                    <a:solidFill>
                      <a:srgbClr val="78350F"/>
                    </a:solidFill>
                    <a:latin typeface="Cambria Math" panose="02040503050406030204" pitchFamily="18" charset="0"/>
                  </a:rPr>
                  <a:t>$a+b$</a:t>
                </a:r>
                <a:r>
                  <a:rPr sz="2400" b="0">
                    <a:solidFill>
                      <a:srgbClr val="78350F"/>
                    </a:solidFill>
                    <a:latin typeface="Arial"/>
                  </a:rPr>
                  <a:t> and </a:t>
                </a:r>
                <a:r>
                  <a:rPr lang="en-IN" sz="2400">
                    <a:solidFill>
                      <a:srgbClr val="78350F"/>
                    </a:solidFill>
                    <a:latin typeface="Cambria Math" panose="02040503050406030204" pitchFamily="18" charset="0"/>
                  </a:rPr>
                  <a:t>$ab$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Square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since the cross terms are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giving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Square </a:t>
                </a:r>
                <a:r>
                  <a:rPr lang="en-IN" sz="2400">
                    <a:solidFill>
                      <a:srgbClr val="111827"/>
                    </a:solidFill>
                    <a:latin typeface="Cambria Math" panose="02040503050406030204" pitchFamily="18" charset="0"/>
                  </a:rPr>
                  <a:t>$a$</a:t>
                </a:r>
                <a:r>
                  <a:rPr sz="2400" b="0">
                    <a:solidFill>
                      <a:srgbClr val="111827"/>
                    </a:solidFill>
                    <a:latin typeface="Arial"/>
                  </a:rPr>
                  <a:t>: </a:t>
                </a:r>
                <a:r>
                  <a:rPr lang="en-IN" sz="2400">
                    <a:solidFill>
                      <a:srgbClr val="111827"/>
                    </a:solidFill>
                    <a:latin typeface="Cambria Math" panose="02040503050406030204" pitchFamily="18" charset="0"/>
                  </a:rPr>
                  <a:t>$a^2=P^2+P^4+P^8+2(P^3+P^5+P^6)$</a:t>
                </a:r>
                <a:r>
                  <a:rPr sz="2400" b="0">
                    <a:solidFill>
                      <a:srgbClr val="111827"/>
                    </a:solidFill>
                    <a:latin typeface="Arial"/>
                  </a:rPr>
                  <a:t>, since the cross terms are </a:t>
                </a:r>
                <a:r>
                  <a:rPr lang="en-IN" sz="2400">
                    <a:solidFill>
                      <a:srgbClr val="111827"/>
                    </a:solidFill>
                    <a:latin typeface="Cambria Math" panose="02040503050406030204" pitchFamily="18" charset="0"/>
                  </a:rPr>
                  <a:t>$P\cdot P^2,P\cdot P^4,P^2\cdot P^4$</a:t>
                </a:r>
                <a:r>
                  <a:rPr sz="2400" b="0">
                    <a:solidFill>
                      <a:srgbClr val="111827"/>
                    </a:solidFill>
                    <a:latin typeface="Arial"/>
                  </a:rPr>
                  <a:t> giving </a:t>
                </a:r>
                <a:r>
                  <a:rPr lang="en-IN" sz="2400">
                    <a:solidFill>
                      <a:srgbClr val="111827"/>
                    </a:solidFill>
                    <a:latin typeface="Cambria Math" panose="02040503050406030204" pitchFamily="18" charset="0"/>
                  </a:rPr>
                  <a:t>$P^3,P^5,P^6$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$P^8=P$</a:t>
                </a:r>
                <a:r>
                  <a:rPr sz="2400" b="0">
                    <a:solidFill>
                      <a:srgbClr val="111827"/>
                    </a:solidFill>
                    <a:latin typeface="Arial"/>
                  </a:rPr>
                  <a:t>: </a:t>
                </a:r>
                <a:r>
                  <a:rPr lang="en-IN" sz="2400">
                    <a:solidFill>
                      <a:srgbClr val="111827"/>
                    </a:solidFill>
                    <a:latin typeface="Cambria Math" panose="02040503050406030204" pitchFamily="18" charset="0"/>
                  </a:rPr>
                  <a:t>$a^2=(P+P^2+P^4)+2b=a+2b$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r>
                  <a:rPr lang="en-IN" sz="2400">
                    <a:solidFill>
                      <a:srgbClr val="111827"/>
                    </a:solidFill>
                    <a:latin typeface="Cambria Math" panose="02040503050406030204" pitchFamily="18" charset="0"/>
                  </a:rPr>
                  <a:t>$a+b=-1$</a:t>
                </a:r>
                <a:r>
                  <a:rPr sz="2400" b="0">
                    <a:solidFill>
                      <a:srgbClr val="111827"/>
                    </a:solidFill>
                    <a:latin typeface="Arial"/>
                  </a:rPr>
                  <a:t>, so </a:t>
                </a:r>
                <a:r>
                  <a:rPr lang="en-IN" sz="2400">
                    <a:solidFill>
                      <a:srgbClr val="111827"/>
                    </a:solidFill>
                    <a:latin typeface="Cambria Math" panose="02040503050406030204" pitchFamily="18" charset="0"/>
                  </a:rPr>
                  <a:t>$b=-1-a$</a:t>
                </a:r>
                <a:r>
                  <a:rPr sz="2400" b="0">
                    <a:solidFill>
                      <a:srgbClr val="111827"/>
                    </a:solidFill>
                    <a:latin typeface="Arial"/>
                  </a:rPr>
                  <a:t> and </a:t>
                </a:r>
                <a:r>
                  <a:rPr lang="en-IN" sz="2400">
                    <a:solidFill>
                      <a:srgbClr val="111827"/>
                    </a:solidFill>
                    <a:latin typeface="Cambria Math" panose="02040503050406030204" pitchFamily="18" charset="0"/>
                  </a:rPr>
                  <a:t>$a^2=a-2-2a$</a:t>
                </a:r>
                <a:r>
                  <a:rPr sz="2400" b="0">
                    <a:solidFill>
                      <a:srgbClr val="111827"/>
                    </a:solidFill>
                    <a:latin typeface="Arial"/>
                  </a:rPr>
                  <a:t>, i.e. </a:t>
                </a:r>
                <a:r>
                  <a:rPr lang="en-IN" sz="2400">
                    <a:solidFill>
                      <a:srgbClr val="111827"/>
                    </a:solidFill>
                    <a:latin typeface="Cambria Math" panose="02040503050406030204" pitchFamily="18" charset="0"/>
                  </a:rPr>
                  <a:t>$a^2+a+2=0$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Replacing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by </a:t>
                </a:r>
                <a14:m>
                  <m:oMath xmlns:m="http://schemas.openxmlformats.org/officeDocument/2006/math">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(a primitive root again) swaps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satisfies the same quadratic;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7</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Replacing </a:t>
                </a:r>
                <a:r>
                  <a:rPr lang="en-IN" sz="2400">
                    <a:solidFill>
                      <a:srgbClr val="111827"/>
                    </a:solidFill>
                    <a:latin typeface="Cambria Math" panose="02040503050406030204" pitchFamily="18" charset="0"/>
                  </a:rPr>
                  <a:t>$P$</a:t>
                </a:r>
                <a:r>
                  <a:rPr sz="2400" b="0">
                    <a:solidFill>
                      <a:srgbClr val="111827"/>
                    </a:solidFill>
                    <a:latin typeface="Arial"/>
                  </a:rPr>
                  <a:t> by </a:t>
                </a:r>
                <a:r>
                  <a:rPr lang="en-IN" sz="2400">
                    <a:solidFill>
                      <a:srgbClr val="111827"/>
                    </a:solidFill>
                    <a:latin typeface="Cambria Math" panose="02040503050406030204" pitchFamily="18" charset="0"/>
                  </a:rPr>
                  <a:t>$P^3$</a:t>
                </a:r>
                <a:r>
                  <a:rPr sz="2400" b="0">
                    <a:solidFill>
                      <a:srgbClr val="111827"/>
                    </a:solidFill>
                    <a:latin typeface="Arial"/>
                  </a:rPr>
                  <a:t> (a primitive root again) swaps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so </a:t>
                </a:r>
                <a:r>
                  <a:rPr lang="en-IN" sz="2400">
                    <a:solidFill>
                      <a:srgbClr val="111827"/>
                    </a:solidFill>
                    <a:latin typeface="Cambria Math" panose="02040503050406030204" pitchFamily="18" charset="0"/>
                  </a:rPr>
                  <a:t>$b$</a:t>
                </a:r>
                <a:r>
                  <a:rPr sz="2400" b="0">
                    <a:solidFill>
                      <a:srgbClr val="111827"/>
                    </a:solidFill>
                    <a:latin typeface="Arial"/>
                  </a:rPr>
                  <a:t> satisfies the same quadratic; </a:t>
                </a:r>
                <a:r>
                  <a:rPr lang="en-IN" sz="2400">
                    <a:solidFill>
                      <a:srgbClr val="111827"/>
                    </a:solidFill>
                    <a:latin typeface="Cambria Math" panose="02040503050406030204" pitchFamily="18" charset="0"/>
                  </a:rPr>
                  <a:t>$a\neq b$</a:t>
                </a:r>
                <a:r>
                  <a:rPr sz="2400" b="0">
                    <a:solidFill>
                      <a:srgbClr val="111827"/>
                    </a:solidFill>
                    <a:latin typeface="Arial"/>
                  </a:rPr>
                  <a:t> since </a:t>
                </a:r>
                <a:r>
                  <a:rPr lang="en-IN" sz="2400">
                    <a:solidFill>
                      <a:srgbClr val="111827"/>
                    </a:solidFill>
                    <a:latin typeface="Cambria Math" panose="02040503050406030204" pitchFamily="18" charset="0"/>
                  </a:rPr>
                  <a:t>$a-b=i\sqrt7\ne0$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$a,b$</a:t>
                </a:r>
                <a:r>
                  <a:rPr sz="2400" b="0">
                    <a:solidFill>
                      <a:srgbClr val="111827"/>
                    </a:solidFill>
                    <a:latin typeface="Arial"/>
                  </a:rPr>
                  <a:t> are the roots of </a:t>
                </a:r>
                <a:r>
                  <a:rPr lang="en-IN" sz="2400">
                    <a:solidFill>
                      <a:srgbClr val="111827"/>
                    </a:solidFill>
                    <a:latin typeface="Cambria Math" panose="02040503050406030204" pitchFamily="18" charset="0"/>
                  </a:rPr>
                  <a:t>$x^2+x+2=0$</a:t>
                </a:r>
                <a:r>
                  <a:rPr sz="2400" b="0">
                    <a:solidFill>
                      <a:srgbClr val="111827"/>
                    </a:solidFill>
                    <a:latin typeface="Arial"/>
                  </a:rPr>
                  <a:t>: </a:t>
                </a:r>
                <a:r>
                  <a:rPr lang="en-IN" sz="2400">
                    <a:solidFill>
                      <a:srgbClr val="111827"/>
                    </a:solidFill>
                    <a:latin typeface="Cambria Math" panose="02040503050406030204" pitchFamily="18" charset="0"/>
                  </a:rPr>
                  <a:t>$a+b=-1$</a:t>
                </a:r>
                <a:r>
                  <a:rPr sz="2400" b="0">
                    <a:solidFill>
                      <a:srgbClr val="111827"/>
                    </a:solidFill>
                    <a:latin typeface="Arial"/>
                  </a:rPr>
                  <a:t>, </a:t>
                </a:r>
                <a:r>
                  <a:rPr lang="en-IN" sz="2400">
                    <a:solidFill>
                      <a:srgbClr val="111827"/>
                    </a:solidFill>
                    <a:latin typeface="Cambria Math" panose="02040503050406030204" pitchFamily="18" charset="0"/>
                  </a:rPr>
                  <a:t>$ab=2$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$|-1+2i|=\sqrt5$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5</m:t>
                        </m:r>
                      </m:e>
                    </m:rad>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$\sqrt5$</a:t>
                </a:r>
                <a:endParaRPr sz="2800">
                  <a:solidFill>
                    <a:srgbClr val="15803D"/>
                  </a:solidFill>
                </a:endParaRPr>
              </a:p>
            </p:txBody>
          </p:sp>
        </mc:Fallback>
      </mc:AlternateContent>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prime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the sum of all primitive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-th roots of unity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Quadratic residues mod 7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sub>
                      <m:sup>
                        <m:r>
                          <a:rPr lang="en-IN" sz="2400" i="1">
                            <a:solidFill>
                              <a:srgbClr val="111827"/>
                            </a:solidFill>
                            <a:latin typeface="Cambria Math" panose="02040503050406030204" pitchFamily="18" charset="0"/>
                          </a:rPr>
                          <m:t>​</m:t>
                        </m:r>
                      </m:sup>
                      <m:e>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𝑟</m:t>
                            </m:r>
                          </m:sup>
                        </m:sSup>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7</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the non-residue sum is its conjugate (Gauss sum),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are roots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Reduce every exponent mod 7 when multiplying such sums;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all 9 products, which collapse to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𝑃</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7</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1.3229</m:t>
                    </m:r>
                    <m:r>
                      <a:rPr lang="en-IN" sz="2400" i="1">
                        <a:solidFill>
                          <a:srgbClr val="111827"/>
                        </a:solidFill>
                        <a:latin typeface="Cambria Math" panose="02040503050406030204" pitchFamily="18" charset="0"/>
                      </a:rPr>
                      <m:t>𝑖</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because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prime </a:t>
                </a:r>
                <a:r>
                  <a:rPr lang="en-IN" sz="2400">
                    <a:solidFill>
                      <a:srgbClr val="111827"/>
                    </a:solidFill>
                    <a:latin typeface="Cambria Math" panose="02040503050406030204" pitchFamily="18" charset="0"/>
                  </a:rPr>
                  <a:t>$p$</a:t>
                </a:r>
                <a:r>
                  <a:rPr sz="2400" b="0">
                    <a:solidFill>
                      <a:srgbClr val="111827"/>
                    </a:solidFill>
                    <a:latin typeface="Arial"/>
                  </a:rPr>
                  <a:t> the sum of all primitive </a:t>
                </a:r>
                <a:r>
                  <a:rPr lang="en-IN" sz="2400">
                    <a:solidFill>
                      <a:srgbClr val="111827"/>
                    </a:solidFill>
                    <a:latin typeface="Cambria Math" panose="02040503050406030204" pitchFamily="18" charset="0"/>
                  </a:rPr>
                  <a:t>$p$</a:t>
                </a:r>
                <a:r>
                  <a:rPr sz="2400" b="0">
                    <a:solidFill>
                      <a:srgbClr val="111827"/>
                    </a:solidFill>
                    <a:latin typeface="Arial"/>
                  </a:rPr>
                  <a:t>-th roots of unity is </a:t>
                </a:r>
                <a:r>
                  <a:rPr lang="en-IN" sz="2400">
                    <a:solidFill>
                      <a:srgbClr val="111827"/>
                    </a:solidFill>
                    <a:latin typeface="Cambria Math" panose="02040503050406030204" pitchFamily="18" charset="0"/>
                  </a:rPr>
                  <a:t>$-1$</a:t>
                </a:r>
                <a:r>
                  <a:rPr sz="2400" b="0">
                    <a:solidFill>
                      <a:srgbClr val="111827"/>
                    </a:solidFill>
                    <a:latin typeface="Arial"/>
                  </a:rPr>
                  <a:t>; for </a:t>
                </a:r>
                <a:r>
                  <a:rPr lang="en-IN" sz="2400">
                    <a:solidFill>
                      <a:srgbClr val="111827"/>
                    </a:solidFill>
                    <a:latin typeface="Cambria Math" panose="02040503050406030204" pitchFamily="18" charset="0"/>
                  </a:rPr>
                  <a:t>$p=7$</a:t>
                </a:r>
                <a:r>
                  <a:rPr sz="2400" b="0">
                    <a:solidFill>
                      <a:srgbClr val="111827"/>
                    </a:solidFill>
                    <a:latin typeface="Arial"/>
                  </a:rPr>
                  <a:t>: </a:t>
                </a:r>
                <a:r>
                  <a:rPr lang="en-IN" sz="2400">
                    <a:solidFill>
                      <a:srgbClr val="111827"/>
                    </a:solidFill>
                    <a:latin typeface="Cambria Math" panose="02040503050406030204" pitchFamily="18" charset="0"/>
                  </a:rPr>
                  <a:t>$P+\dots+P^6=-1$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Quadratic residues mod 7 are </a:t>
                </a:r>
                <a:r>
                  <a:rPr lang="en-IN" sz="2400">
                    <a:solidFill>
                      <a:srgbClr val="111827"/>
                    </a:solidFill>
                    <a:latin typeface="Cambria Math" panose="02040503050406030204" pitchFamily="18" charset="0"/>
                  </a:rPr>
                  <a:t>$\{1,2,4\}$</a:t>
                </a:r>
                <a:r>
                  <a:rPr sz="2400" b="0">
                    <a:solidFill>
                      <a:srgbClr val="111827"/>
                    </a:solidFill>
                    <a:latin typeface="Arial"/>
                  </a:rPr>
                  <a:t>: </a:t>
                </a:r>
                <a:r>
                  <a:rPr lang="en-IN" sz="2400">
                    <a:solidFill>
                      <a:srgbClr val="111827"/>
                    </a:solidFill>
                    <a:latin typeface="Cambria Math" panose="02040503050406030204" pitchFamily="18" charset="0"/>
                  </a:rPr>
                  <a:t>$\sum_{r\in QR}P^r=\frac{-1+i\sqrt7}{2}$</a:t>
                </a:r>
                <a:r>
                  <a:rPr sz="2400" b="0">
                    <a:solidFill>
                      <a:srgbClr val="111827"/>
                    </a:solidFill>
                    <a:latin typeface="Arial"/>
                  </a:rPr>
                  <a:t> and the non-residue sum is its conjugate (Gauss sum), so </a:t>
                </a:r>
                <a:r>
                  <a:rPr lang="en-IN" sz="2400">
                    <a:solidFill>
                      <a:srgbClr val="111827"/>
                    </a:solidFill>
                    <a:latin typeface="Cambria Math" panose="02040503050406030204" pitchFamily="18" charset="0"/>
                  </a:rPr>
                  <a:t>$a,b$</a:t>
                </a:r>
                <a:r>
                  <a:rPr sz="2400" b="0">
                    <a:solidFill>
                      <a:srgbClr val="111827"/>
                    </a:solidFill>
                    <a:latin typeface="Arial"/>
                  </a:rPr>
                  <a:t> are roots of </a:t>
                </a:r>
                <a:r>
                  <a:rPr lang="en-IN" sz="2400">
                    <a:solidFill>
                      <a:srgbClr val="111827"/>
                    </a:solidFill>
                    <a:latin typeface="Cambria Math" panose="02040503050406030204" pitchFamily="18" charset="0"/>
                  </a:rPr>
                  <a:t>$x^2+x+2$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Reduce every exponent mod 7 when multiplying such sums; </a:t>
                </a:r>
                <a:r>
                  <a:rPr lang="en-IN" sz="2400">
                    <a:solidFill>
                      <a:srgbClr val="111827"/>
                    </a:solidFill>
                    <a:latin typeface="Cambria Math" panose="02040503050406030204" pitchFamily="18" charset="0"/>
                  </a:rPr>
                  <a:t>$ab=\sum$</a:t>
                </a:r>
                <a:r>
                  <a:rPr sz="2400" b="0">
                    <a:solidFill>
                      <a:srgbClr val="111827"/>
                    </a:solidFill>
                    <a:latin typeface="Arial"/>
                  </a:rPr>
                  <a:t> of all 9 products, which collapse to </a:t>
                </a:r>
                <a:r>
                  <a:rPr lang="en-IN" sz="2400">
                    <a:solidFill>
                      <a:srgbClr val="111827"/>
                    </a:solidFill>
                    <a:latin typeface="Cambria Math" panose="02040503050406030204" pitchFamily="18" charset="0"/>
                  </a:rPr>
                  <a:t>$3+(P+\dots+P^6)$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r>
                  <a:rPr lang="en-IN" sz="2400">
                    <a:solidFill>
                      <a:srgbClr val="111827"/>
                    </a:solidFill>
                    <a:latin typeface="Cambria Math" panose="02040503050406030204" pitchFamily="18" charset="0"/>
                  </a:rPr>
                  <a:t>$a=\frac{-1+i\sqrt7}{2}\approx-0.5+1.3229i$</a:t>
                </a:r>
                <a:r>
                  <a:rPr sz="2400" b="0">
                    <a:solidFill>
                      <a:srgbClr val="111827"/>
                    </a:solidFill>
                    <a:latin typeface="Arial"/>
                  </a:rPr>
                  <a:t> gives </a:t>
                </a:r>
                <a:r>
                  <a:rPr lang="en-IN" sz="2400">
                    <a:solidFill>
                      <a:srgbClr val="111827"/>
                    </a:solidFill>
                    <a:latin typeface="Cambria Math" panose="02040503050406030204" pitchFamily="18" charset="0"/>
                  </a:rPr>
                  <a:t>$|a|^2=2=ab$</a:t>
                </a:r>
                <a:r>
                  <a:rPr sz="2400" b="0">
                    <a:solidFill>
                      <a:srgbClr val="111827"/>
                    </a:solidFill>
                    <a:latin typeface="Arial"/>
                  </a:rPr>
                  <a:t> because </a:t>
                </a:r>
                <a:r>
                  <a:rPr lang="en-IN" sz="2400">
                    <a:solidFill>
                      <a:srgbClr val="111827"/>
                    </a:solidFill>
                    <a:latin typeface="Cambria Math" panose="02040503050406030204" pitchFamily="18" charset="0"/>
                  </a:rPr>
                  <a:t>$b=\bar 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70687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 are the </a:t>
                </a:r>
                <a14:m>
                  <m:oMath xmlns:m="http://schemas.openxmlformats.org/officeDocument/2006/math">
                    <m:sSup>
                      <m:e>
                        <m:r>
                          <a:rPr lang="en-IN" sz="2400" i="1">
                            <a:solidFill>
                              <a:srgbClr val="111827"/>
                            </a:solidFill>
                            <a:latin typeface="Cambria Math" panose="02040503050406030204" pitchFamily="18" charset="0"/>
                          </a:rPr>
                          <m:t>𝑛</m:t>
                        </m:r>
                      </m:e>
                      <m:sup>
                        <m:r>
                          <m:rPr>
                            <m:nor/>
                          </m:rPr>
                          <a:rPr lang="en-IN" sz="2400" i="1">
                            <a:solidFill>
                              <a:srgbClr val="111827"/>
                            </a:solidFill>
                            <a:latin typeface="Cambria Math" panose="02040503050406030204" pitchFamily="18" charset="0"/>
                          </a:rPr>
                          <m:t>𝑡ℎ</m:t>
                        </m:r>
                      </m:sup>
                    </m:sSup>
                  </m:oMath>
                </a14:m>
                <a:r>
                  <a:rPr sz="2400" b="0">
                    <a:solidFill>
                      <a:srgbClr val="111827"/>
                    </a:solidFill>
                    <a:latin typeface="Arial"/>
                  </a:rPr>
                  <a:t> roots of unity, taken in order so that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sup>
                    </m:sSubSup>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up>
                    </m:sSup>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den>
                            </m:f>
                          </m:e>
                        </m:d>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2</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endParaRPr sz="2400">
                  <a:solidFill>
                    <a:srgbClr val="111827"/>
                  </a:solidFill>
                </a:endParaRPr>
              </a:p>
            </p:txBody>
          </p:sp>
        </mc:Choice>
        <mc:Fallback>
          <p:sp>
            <p:nvSpPr>
              <p:cNvPr id="4" name="Rounded Rectangle 3"/>
              <p:cNvSpPr/>
              <p:nvPr/>
            </p:nvSpPr>
            <p:spPr>
              <a:xfrm>
                <a:off x="731520" y="1280160"/>
                <a:ext cx="10725912" cy="370687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$\alpha_1,\alpha_2,\dots,\alpha_n$</a:t>
                </a:r>
                <a:r>
                  <a:rPr sz="2400" b="0">
                    <a:solidFill>
                      <a:srgbClr val="111827"/>
                    </a:solidFill>
                    <a:latin typeface="Arial"/>
                  </a:rPr>
                  <a:t> are the </a:t>
                </a:r>
                <a:r>
                  <a:rPr lang="en-IN" sz="2400">
                    <a:solidFill>
                      <a:srgbClr val="111827"/>
                    </a:solidFill>
                    <a:latin typeface="Cambria Math" panose="02040503050406030204" pitchFamily="18" charset="0"/>
                  </a:rPr>
                  <a:t>$n^{\text{th}}$</a:t>
                </a:r>
                <a:r>
                  <a:rPr sz="2400" b="0">
                    <a:solidFill>
                      <a:srgbClr val="111827"/>
                    </a:solidFill>
                    <a:latin typeface="Arial"/>
                  </a:rPr>
                  <a:t> roots of unity, taken in order so that </a:t>
                </a:r>
                <a:r>
                  <a:rPr lang="en-IN" sz="2400">
                    <a:solidFill>
                      <a:srgbClr val="111827"/>
                    </a:solidFill>
                    <a:latin typeface="Cambria Math" panose="02040503050406030204" pitchFamily="18" charset="0"/>
                  </a:rPr>
                  <a:t>$\alpha_k=\alpha_1^{\,k}$</a:t>
                </a:r>
                <a:r>
                  <a:rPr sz="2400" b="0">
                    <a:solidFill>
                      <a:srgbClr val="111827"/>
                    </a:solidFill>
                    <a:latin typeface="Arial"/>
                  </a:rPr>
                  <a:t> with </a:t>
                </a:r>
                <a:r>
                  <a:rPr lang="en-IN" sz="2400">
                    <a:solidFill>
                      <a:srgbClr val="111827"/>
                    </a:solidFill>
                    <a:latin typeface="Cambria Math" panose="02040503050406030204" pitchFamily="18" charset="0"/>
                  </a:rPr>
                  <a:t>$\alpha_1=e^{2\pi i/n}$</a:t>
                </a:r>
                <a:r>
                  <a:rPr sz="2400" b="0">
                    <a:solidFill>
                      <a:srgbClr val="111827"/>
                    </a:solidFill>
                    <a:latin typeface="Arial"/>
                  </a:rPr>
                  <a:t>, then </a:t>
                </a:r>
                <a:r>
                  <a:rPr lang="en-IN" sz="2400">
                    <a:solidFill>
                      <a:srgbClr val="111827"/>
                    </a:solidFill>
                    <a:latin typeface="Cambria Math" panose="02040503050406030204" pitchFamily="18" charset="0"/>
                  </a:rPr>
                  <a:t>${}^nC_1\alpha_1+{}^nC_2\alpha_2+\dots+{}^nC_n\alpha_n$</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$\left(1+\frac{\alpha_2}{\alpha_1}\right)^n-1$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$\frac{\alpha_1}{2}\left[(1+\alpha_1)^n-1\right]$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$\frac{\alpha_1+\alpha_{n-1}}{2}$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$(\alpha_1+\alpha_{n-1})^n-1$</a:t>
                </a:r>
                <a:endParaRPr sz="2400">
                  <a:solidFill>
                    <a:srgbClr val="111827"/>
                  </a:solidFill>
                </a:endParaRPr>
              </a:p>
            </p:txBody>
          </p:sp>
        </mc:Fallback>
      </mc:AlternateContent>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unity and binomial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14:m>
                  <m:oMath xmlns:m="http://schemas.openxmlformats.org/officeDocument/2006/math">
                    <m:sSub>
                      <m:e>
                        <m:r>
                          <a:rPr lang="en-IN" sz="2400" i="1">
                            <a:solidFill>
                              <a:srgbClr val="78350F"/>
                            </a:solidFill>
                            <a:latin typeface="Cambria Math" panose="02040503050406030204" pitchFamily="18" charset="0"/>
                          </a:rPr>
                          <m:t>α</m:t>
                        </m:r>
                      </m:e>
                      <m:sub>
                        <m:r>
                          <a:rPr lang="en-IN" sz="2400" i="1">
                            <a:solidFill>
                              <a:srgbClr val="78350F"/>
                            </a:solidFill>
                            <a:latin typeface="Cambria Math" panose="02040503050406030204" pitchFamily="18" charset="0"/>
                          </a:rPr>
                          <m:t>𝑘</m:t>
                        </m:r>
                      </m:sub>
                    </m:sSub>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α</m:t>
                        </m:r>
                      </m:e>
                      <m:sup>
                        <m:r>
                          <a:rPr lang="en-IN" sz="2400" i="1">
                            <a:solidFill>
                              <a:srgbClr val="78350F"/>
                            </a:solidFill>
                            <a:latin typeface="Cambria Math" panose="02040503050406030204" pitchFamily="18" charset="0"/>
                          </a:rPr>
                          <m:t>𝑘</m:t>
                        </m:r>
                      </m:sup>
                    </m:sSup>
                  </m:oMath>
                </a14:m>
                <a:r>
                  <a:rPr sz="2400" b="0">
                    <a:solidFill>
                      <a:srgbClr val="78350F"/>
                    </a:solidFill>
                    <a:latin typeface="Arial"/>
                  </a:rPr>
                  <a:t> for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α</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the sum is </a:t>
                </a:r>
                <a14:m>
                  <m:oMath xmlns:m="http://schemas.openxmlformats.org/officeDocument/2006/math">
                    <m:nary>
                      <m:naryPr>
                        <m:chr m:val="∑"/>
                        <m:limLoc m:val="undOvr"/>
                        <m:subHide m:val="off"/>
                        <m:supHide m:val="on"/>
                        <m:ctrlPr>
                          <a:rPr lang="en-IN" sz="2400" i="1">
                            <a:solidFill>
                              <a:srgbClr val="78350F"/>
                            </a:solidFill>
                            <a:latin typeface="Cambria Math" panose="02040503050406030204" pitchFamily="18" charset="0"/>
                          </a:rPr>
                        </m:ctrlPr>
                      </m:naryPr>
                      <m:sub>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b>
                      <m:sup>
                        <m:r>
                          <a:rPr lang="en-IN" sz="2400" i="1">
                            <a:solidFill>
                              <a:srgbClr val="78350F"/>
                            </a:solidFill>
                            <a:latin typeface="Cambria Math" panose="02040503050406030204" pitchFamily="18" charset="0"/>
                          </a:rPr>
                          <m:t>​</m:t>
                        </m:r>
                      </m:sup>
                      <m:e>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e>
                    </m:nary>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𝑘</m:t>
                        </m:r>
                      </m:sub>
                    </m:sSub>
                    <m:sSup>
                      <m:e>
                        <m:r>
                          <a:rPr lang="en-IN" sz="2400" i="1">
                            <a:solidFill>
                              <a:srgbClr val="78350F"/>
                            </a:solidFill>
                            <a:latin typeface="Cambria Math" panose="02040503050406030204" pitchFamily="18" charset="0"/>
                          </a:rPr>
                          <m:t>α</m:t>
                        </m:r>
                      </m:e>
                      <m:sup>
                        <m:r>
                          <a:rPr lang="en-IN" sz="2400" i="1">
                            <a:solidFill>
                              <a:srgbClr val="78350F"/>
                            </a:solidFill>
                            <a:latin typeface="Cambria Math" panose="02040503050406030204" pitchFamily="18" charset="0"/>
                          </a:rPr>
                          <m:t>𝑘</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b>
                          <m:e>
                            <m:r>
                              <a:rPr lang="en-IN" sz="2400" i="1">
                                <a:solidFill>
                                  <a:srgbClr val="78350F"/>
                                </a:solidFill>
                                <a:latin typeface="Cambria Math" panose="02040503050406030204" pitchFamily="18" charset="0"/>
                              </a:rPr>
                              <m:t>α</m:t>
                            </m:r>
                          </m:e>
                          <m:sub>
                            <m:r>
                              <a:rPr lang="en-IN" sz="2400" i="1">
                                <a:solidFill>
                                  <a:srgbClr val="78350F"/>
                                </a:solidFill>
                                <a:latin typeface="Cambria Math" panose="02040503050406030204" pitchFamily="18" charset="0"/>
                              </a:rPr>
                              <m:t>2</m:t>
                            </m:r>
                          </m:sub>
                        </m:sSub>
                      </m:num>
                      <m:den>
                        <m:sSub>
                          <m:e>
                            <m:r>
                              <a:rPr lang="en-IN" sz="2400" i="1">
                                <a:solidFill>
                                  <a:srgbClr val="78350F"/>
                                </a:solidFill>
                                <a:latin typeface="Cambria Math" panose="02040503050406030204" pitchFamily="18" charset="0"/>
                              </a:rPr>
                              <m:t>α</m:t>
                            </m:r>
                          </m:e>
                          <m:sub>
                            <m:r>
                              <a:rPr lang="en-IN" sz="2400" i="1">
                                <a:solidFill>
                                  <a:srgbClr val="78350F"/>
                                </a:solidFill>
                                <a:latin typeface="Cambria Math" panose="02040503050406030204" pitchFamily="18" charset="0"/>
                              </a:rPr>
                              <m:t>1</m:t>
                            </m:r>
                          </m:sub>
                        </m:sSub>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a:t>
                </a:r>
                <a:r>
                  <a:rPr lang="en-IN" sz="2400">
                    <a:solidFill>
                      <a:srgbClr val="78350F"/>
                    </a:solidFill>
                    <a:latin typeface="Cambria Math" panose="02040503050406030204" pitchFamily="18" charset="0"/>
                  </a:rPr>
                  <a:t>$\alpha_k=\alpha^k$</a:t>
                </a:r>
                <a:r>
                  <a:rPr sz="2400" b="0">
                    <a:solidFill>
                      <a:srgbClr val="78350F"/>
                    </a:solidFill>
                    <a:latin typeface="Arial"/>
                  </a:rPr>
                  <a:t> for </a:t>
                </a:r>
                <a:r>
                  <a:rPr lang="en-IN" sz="2400">
                    <a:solidFill>
                      <a:srgbClr val="78350F"/>
                    </a:solidFill>
                    <a:latin typeface="Cambria Math" panose="02040503050406030204" pitchFamily="18" charset="0"/>
                  </a:rPr>
                  <a:t>$\alpha=\alpha_1$</a:t>
                </a:r>
                <a:r>
                  <a:rPr sz="2400" b="0">
                    <a:solidFill>
                      <a:srgbClr val="78350F"/>
                    </a:solidFill>
                    <a:latin typeface="Arial"/>
                  </a:rPr>
                  <a:t>, the sum is </a:t>
                </a:r>
                <a:r>
                  <a:rPr lang="en-IN" sz="2400">
                    <a:solidFill>
                      <a:srgbClr val="78350F"/>
                    </a:solidFill>
                    <a:latin typeface="Cambria Math" panose="02040503050406030204" pitchFamily="18" charset="0"/>
                  </a:rPr>
                  <a:t>$\sum_{k\ge1}{}^nC_k\alpha^k=(1+\alpha)^n-1$</a:t>
                </a:r>
                <a:r>
                  <a:rPr sz="2400" b="0">
                    <a:solidFill>
                      <a:srgbClr val="78350F"/>
                    </a:solidFill>
                    <a:latin typeface="Arial"/>
                  </a:rPr>
                  <a:t>, and </a:t>
                </a:r>
                <a:r>
                  <a:rPr lang="en-IN" sz="2400">
                    <a:solidFill>
                      <a:srgbClr val="78350F"/>
                    </a:solidFill>
                    <a:latin typeface="Cambria Math" panose="02040503050406030204" pitchFamily="18" charset="0"/>
                  </a:rPr>
                  <a:t>$\alpha=\frac{\alpha_2}{\alpha_1}$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th roots of unity are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up>
                    </m:sSup>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sum is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$n$</a:t>
                </a:r>
                <a:r>
                  <a:rPr sz="2400" b="0">
                    <a:solidFill>
                      <a:srgbClr val="111827"/>
                    </a:solidFill>
                    <a:latin typeface="Arial"/>
                  </a:rPr>
                  <a:t>th roots of unity are </a:t>
                </a:r>
                <a:r>
                  <a:rPr lang="en-IN" sz="2400">
                    <a:solidFill>
                      <a:srgbClr val="111827"/>
                    </a:solidFill>
                    <a:latin typeface="Cambria Math" panose="02040503050406030204" pitchFamily="18" charset="0"/>
                  </a:rPr>
                  <a:t>$\alpha_k=\alpha^k$</a:t>
                </a:r>
                <a:r>
                  <a:rPr sz="2400" b="0">
                    <a:solidFill>
                      <a:srgbClr val="111827"/>
                    </a:solidFill>
                    <a:latin typeface="Arial"/>
                  </a:rPr>
                  <a:t> (</a:t>
                </a:r>
                <a:r>
                  <a:rPr lang="en-IN" sz="2400">
                    <a:solidFill>
                      <a:srgbClr val="111827"/>
                    </a:solidFill>
                    <a:latin typeface="Cambria Math" panose="02040503050406030204" pitchFamily="18" charset="0"/>
                  </a:rPr>
                  <a:t>$k=1,\dots,n$</a:t>
                </a:r>
                <a:r>
                  <a:rPr sz="2400" b="0">
                    <a:solidFill>
                      <a:srgbClr val="111827"/>
                    </a:solidFill>
                    <a:latin typeface="Arial"/>
                  </a:rPr>
                  <a:t>) where </a:t>
                </a:r>
                <a:r>
                  <a:rPr lang="en-IN" sz="2400">
                    <a:solidFill>
                      <a:srgbClr val="111827"/>
                    </a:solidFill>
                    <a:latin typeface="Cambria Math" panose="02040503050406030204" pitchFamily="18" charset="0"/>
                  </a:rPr>
                  <a:t>$\alpha=e^{2\pi i/n}$</a:t>
                </a:r>
                <a:r>
                  <a:rPr sz="2400" b="0">
                    <a:solidFill>
                      <a:srgbClr val="111827"/>
                    </a:solidFill>
                    <a:latin typeface="Arial"/>
                  </a:rPr>
                  <a:t> (so </a:t>
                </a:r>
                <a:r>
                  <a:rPr lang="en-IN" sz="2400">
                    <a:solidFill>
                      <a:srgbClr val="111827"/>
                    </a:solidFill>
                    <a:latin typeface="Cambria Math" panose="02040503050406030204" pitchFamily="18" charset="0"/>
                  </a:rPr>
                  <a:t>$\alpha_1=\alpha$</a:t>
                </a:r>
                <a:r>
                  <a:rPr sz="2400" b="0">
                    <a:solidFill>
                      <a:srgbClr val="111827"/>
                    </a:solidFill>
                    <a:latin typeface="Arial"/>
                  </a:rPr>
                  <a:t>, </a:t>
                </a:r>
                <a:r>
                  <a:rPr lang="en-IN" sz="2400">
                    <a:solidFill>
                      <a:srgbClr val="111827"/>
                    </a:solidFill>
                    <a:latin typeface="Cambria Math" panose="02040503050406030204" pitchFamily="18" charset="0"/>
                  </a:rPr>
                  <a:t>$\alpha_2=\alpha^2$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sum is </a:t>
                </a:r>
                <a:r>
                  <a:rPr lang="en-IN" sz="2400">
                    <a:solidFill>
                      <a:srgbClr val="111827"/>
                    </a:solidFill>
                    <a:latin typeface="Cambria Math" panose="02040503050406030204" pitchFamily="18" charset="0"/>
                  </a:rPr>
                  <a:t>${}^nC_1\alpha+{}^nC_2\alpha^2+{}^nC_3\alpha^3+\dots+{}^nC_n\alpha^n$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the binomial theorem,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so the sum equals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we have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sum is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den>
                            </m:f>
                          </m:e>
                        </m:d>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the binomial theorem, </a:t>
                </a:r>
                <a:r>
                  <a:rPr lang="en-IN" sz="2400">
                    <a:solidFill>
                      <a:srgbClr val="111827"/>
                    </a:solidFill>
                    <a:latin typeface="Cambria Math" panose="02040503050406030204" pitchFamily="18" charset="0"/>
                  </a:rPr>
                  <a:t>$(1+\alpha)^n=1+{}^nC_1\alpha+\dots+{}^nC_n\alpha^n$</a:t>
                </a:r>
                <a:r>
                  <a:rPr sz="2400" b="0">
                    <a:solidFill>
                      <a:srgbClr val="111827"/>
                    </a:solidFill>
                    <a:latin typeface="Arial"/>
                  </a:rPr>
                  <a:t>, so the sum equals </a:t>
                </a:r>
                <a:r>
                  <a:rPr lang="en-IN" sz="2400">
                    <a:solidFill>
                      <a:srgbClr val="111827"/>
                    </a:solidFill>
                    <a:latin typeface="Cambria Math" panose="02040503050406030204" pitchFamily="18" charset="0"/>
                  </a:rPr>
                  <a:t>$(1+\alpha)^n-1$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$\alpha_1=\alpha$</a:t>
                </a:r>
                <a:r>
                  <a:rPr sz="2400" b="0">
                    <a:solidFill>
                      <a:srgbClr val="111827"/>
                    </a:solidFill>
                    <a:latin typeface="Arial"/>
                  </a:rPr>
                  <a:t> and </a:t>
                </a:r>
                <a:r>
                  <a:rPr lang="en-IN" sz="2400">
                    <a:solidFill>
                      <a:srgbClr val="111827"/>
                    </a:solidFill>
                    <a:latin typeface="Cambria Math" panose="02040503050406030204" pitchFamily="18" charset="0"/>
                  </a:rPr>
                  <a:t>$\alpha_2=\alpha^2$</a:t>
                </a:r>
                <a:r>
                  <a:rPr sz="2400" b="0">
                    <a:solidFill>
                      <a:srgbClr val="111827"/>
                    </a:solidFill>
                    <a:latin typeface="Arial"/>
                  </a:rPr>
                  <a:t>, we have </a:t>
                </a:r>
                <a:r>
                  <a:rPr lang="en-IN" sz="2400">
                    <a:solidFill>
                      <a:srgbClr val="111827"/>
                    </a:solidFill>
                    <a:latin typeface="Cambria Math" panose="02040503050406030204" pitchFamily="18" charset="0"/>
                  </a:rPr>
                  <a:t>$\alpha=\frac{\alpha_2}{\alpha_1}$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sum is </a:t>
                </a:r>
                <a:r>
                  <a:rPr lang="en-IN" sz="2400">
                    <a:solidFill>
                      <a:srgbClr val="111827"/>
                    </a:solidFill>
                    <a:latin typeface="Cambria Math" panose="02040503050406030204" pitchFamily="18" charset="0"/>
                  </a:rPr>
                  <a:t>$\left(1+\frac{\alpha_2}{\alpha_1}\right)^n-1$</a:t>
                </a:r>
                <a:r>
                  <a:rPr sz="2400" b="0">
                    <a:solidFill>
                      <a:srgbClr val="111827"/>
                    </a:solidFill>
                    <a:latin typeface="Arial"/>
                  </a:rPr>
                  <a:t>, option (A).</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a:t>
            </a:r>
            <a:endParaRPr sz="2800">
              <a:solidFill>
                <a:srgbClr val="15803D"/>
              </a:solidFill>
            </a:endParaRP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Eliminate options with the cases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where every candidate can be evaluated by hand.</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Eliminate options with the cases </a:t>
                </a:r>
                <a:r>
                  <a:rPr lang="en-IN" sz="2400">
                    <a:solidFill>
                      <a:srgbClr val="78350F"/>
                    </a:solidFill>
                    <a:latin typeface="Cambria Math" panose="02040503050406030204" pitchFamily="18" charset="0"/>
                  </a:rPr>
                  <a:t>$n=3$</a:t>
                </a:r>
                <a:r>
                  <a:rPr sz="2400" b="0">
                    <a:solidFill>
                      <a:srgbClr val="78350F"/>
                    </a:solidFill>
                    <a:latin typeface="Arial"/>
                  </a:rPr>
                  <a:t> (and </a:t>
                </a:r>
                <a:r>
                  <a:rPr lang="en-IN" sz="2400">
                    <a:solidFill>
                      <a:srgbClr val="78350F"/>
                    </a:solidFill>
                    <a:latin typeface="Cambria Math" panose="02040503050406030204" pitchFamily="18" charset="0"/>
                  </a:rPr>
                  <a:t>$n=2$</a:t>
                </a:r>
                <a:r>
                  <a:rPr sz="2400" b="0">
                    <a:solidFill>
                      <a:srgbClr val="78350F"/>
                    </a:solidFill>
                    <a:latin typeface="Arial"/>
                  </a:rPr>
                  <a:t>), where every candidate can be evaluated by hand.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α</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sum is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It matches.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ω</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ω</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$n=3$</a:t>
                </a:r>
                <a:r>
                  <a:rPr sz="2400" b="0">
                    <a:solidFill>
                      <a:srgbClr val="111827"/>
                    </a:solidFill>
                    <a:latin typeface="Arial"/>
                  </a:rPr>
                  <a:t>: </a:t>
                </a:r>
                <a:r>
                  <a:rPr lang="en-IN" sz="2400">
                    <a:solidFill>
                      <a:srgbClr val="111827"/>
                    </a:solidFill>
                    <a:latin typeface="Cambria Math" panose="02040503050406030204" pitchFamily="18" charset="0"/>
                  </a:rPr>
                  <a:t>$\alpha_1=\omega,\alpha_2=\omega^2,\alpha_3=1$</a:t>
                </a:r>
                <a:r>
                  <a:rPr sz="2400" b="0">
                    <a:solidFill>
                      <a:srgbClr val="111827"/>
                    </a:solidFill>
                    <a:latin typeface="Arial"/>
                  </a:rPr>
                  <a:t>, so the sum is </a:t>
                </a:r>
                <a:r>
                  <a:rPr lang="en-IN" sz="2400">
                    <a:solidFill>
                      <a:srgbClr val="111827"/>
                    </a:solidFill>
                    <a:latin typeface="Cambria Math" panose="02040503050406030204" pitchFamily="18" charset="0"/>
                  </a:rPr>
                  <a:t>$3\omega+3\omega^2+1=-3+1=-2$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$(1+\omega)^3-1=(-\omega^2)^3-1=-1-1=-2$</a:t>
                </a:r>
                <a:r>
                  <a:rPr sz="2400" b="0">
                    <a:solidFill>
                      <a:srgbClr val="111827"/>
                    </a:solidFill>
                    <a:latin typeface="Arial"/>
                  </a:rPr>
                  <a:t>. It matches.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$\frac{\omega}{2}[(1+\omega)^3-1]=\frac{\omega}{2}(-2)=-\omega\neq-2$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also equals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here, so use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as well.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while (D) gives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(D) is rejected.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 survives both tests.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$\frac{\omega+\omega^2}{2}=-\frac12\neq-2$</a:t>
                </a:r>
                <a:r>
                  <a:rPr sz="2400" b="0">
                    <a:solidFill>
                      <a:srgbClr val="111827"/>
                    </a:solidFill>
                    <a:latin typeface="Arial"/>
                  </a:rPr>
                  <a:t>. (D): </a:t>
                </a:r>
                <a:r>
                  <a:rPr lang="en-IN" sz="2400">
                    <a:solidFill>
                      <a:srgbClr val="111827"/>
                    </a:solidFill>
                    <a:latin typeface="Cambria Math" panose="02040503050406030204" pitchFamily="18" charset="0"/>
                  </a:rPr>
                  <a:t>$(\omega+\omega^2)^3-1=-2$</a:t>
                </a:r>
                <a:r>
                  <a:rPr sz="2400" b="0">
                    <a:solidFill>
                      <a:srgbClr val="111827"/>
                    </a:solidFill>
                    <a:latin typeface="Arial"/>
                  </a:rPr>
                  <a:t> also equals </a:t>
                </a:r>
                <a:r>
                  <a:rPr lang="en-IN" sz="2400">
                    <a:solidFill>
                      <a:srgbClr val="111827"/>
                    </a:solidFill>
                    <a:latin typeface="Cambria Math" panose="02040503050406030204" pitchFamily="18" charset="0"/>
                  </a:rPr>
                  <a:t>$-2$</a:t>
                </a:r>
                <a:r>
                  <a:rPr sz="2400" b="0">
                    <a:solidFill>
                      <a:srgbClr val="111827"/>
                    </a:solidFill>
                    <a:latin typeface="Arial"/>
                  </a:rPr>
                  <a:t> here, so use </a:t>
                </a:r>
                <a:r>
                  <a:rPr lang="en-IN" sz="2400">
                    <a:solidFill>
                      <a:srgbClr val="111827"/>
                    </a:solidFill>
                    <a:latin typeface="Cambria Math" panose="02040503050406030204" pitchFamily="18" charset="0"/>
                  </a:rPr>
                  <a:t>$n=2$</a:t>
                </a:r>
                <a:r>
                  <a:rPr sz="2400" b="0">
                    <a:solidFill>
                      <a:srgbClr val="111827"/>
                    </a:solidFill>
                    <a:latin typeface="Arial"/>
                  </a:rPr>
                  <a:t> as well.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$n=2$</a:t>
                </a:r>
                <a:r>
                  <a:rPr sz="2400" b="0">
                    <a:solidFill>
                      <a:srgbClr val="111827"/>
                    </a:solidFill>
                    <a:latin typeface="Arial"/>
                  </a:rPr>
                  <a:t>: sum </a:t>
                </a:r>
                <a:r>
                  <a:rPr lang="en-IN" sz="2400">
                    <a:solidFill>
                      <a:srgbClr val="111827"/>
                    </a:solidFill>
                    <a:latin typeface="Cambria Math" panose="02040503050406030204" pitchFamily="18" charset="0"/>
                  </a:rPr>
                  <a:t>$=2(-1)+1=-1$</a:t>
                </a:r>
                <a:r>
                  <a:rPr sz="2400" b="0">
                    <a:solidFill>
                      <a:srgbClr val="111827"/>
                    </a:solidFill>
                    <a:latin typeface="Arial"/>
                  </a:rPr>
                  <a:t>, while (D) gives </a:t>
                </a:r>
                <a:r>
                  <a:rPr lang="en-IN" sz="2400">
                    <a:solidFill>
                      <a:srgbClr val="111827"/>
                    </a:solidFill>
                    <a:latin typeface="Cambria Math" panose="02040503050406030204" pitchFamily="18" charset="0"/>
                  </a:rPr>
                  <a:t>$(-1-1)^2-1=3$</a:t>
                </a:r>
                <a:r>
                  <a:rPr sz="2400" b="0">
                    <a:solidFill>
                      <a:srgbClr val="111827"/>
                    </a:solidFill>
                    <a:latin typeface="Arial"/>
                  </a:rPr>
                  <a:t>, so (D) is rejected.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 survives both tests.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a:t>
            </a:r>
            <a:endParaRPr sz="2800">
              <a:solidFill>
                <a:srgbClr val="15803D"/>
              </a:solidFill>
            </a:endParaRP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dropping the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term subtracts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th roots of unity are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up>
                    </m:sSup>
                  </m:oMath>
                </a14:m>
                <a:r>
                  <a:rPr sz="2400" b="0">
                    <a:solidFill>
                      <a:srgbClr val="111827"/>
                    </a:solidFill>
                    <a:latin typeface="Arial"/>
                  </a:rPr>
                  <a:t>; a sum over roots indexed by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is usually a sum of powers of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𝑛</m:t>
                        </m:r>
                      </m:den>
                    </m:f>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up>
                    </m:sSup>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𝑛</m:t>
                        </m:r>
                      </m:den>
                    </m:f>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is real; e.g.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12.09</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$\sum_{k=0}^n{}^nC_k\alpha^k=(1+\alpha)^n$</a:t>
                </a:r>
                <a:r>
                  <a:rPr sz="2400" b="0">
                    <a:solidFill>
                      <a:srgbClr val="111827"/>
                    </a:solidFill>
                    <a:latin typeface="Arial"/>
                  </a:rPr>
                  <a:t>; dropping the </a:t>
                </a:r>
                <a:r>
                  <a:rPr lang="en-IN" sz="2400">
                    <a:solidFill>
                      <a:srgbClr val="111827"/>
                    </a:solidFill>
                    <a:latin typeface="Cambria Math" panose="02040503050406030204" pitchFamily="18" charset="0"/>
                  </a:rPr>
                  <a:t>$k=0$</a:t>
                </a:r>
                <a:r>
                  <a:rPr sz="2400" b="0">
                    <a:solidFill>
                      <a:srgbClr val="111827"/>
                    </a:solidFill>
                    <a:latin typeface="Arial"/>
                  </a:rPr>
                  <a:t> term subtracts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$n$</a:t>
                </a:r>
                <a:r>
                  <a:rPr sz="2400" b="0">
                    <a:solidFill>
                      <a:srgbClr val="111827"/>
                    </a:solidFill>
                    <a:latin typeface="Arial"/>
                  </a:rPr>
                  <a:t>th roots of unity are </a:t>
                </a:r>
                <a:r>
                  <a:rPr lang="en-IN" sz="2400">
                    <a:solidFill>
                      <a:srgbClr val="111827"/>
                    </a:solidFill>
                    <a:latin typeface="Cambria Math" panose="02040503050406030204" pitchFamily="18" charset="0"/>
                  </a:rPr>
                  <a:t>$\omega^0,\omega^1,\dots,\omega^{n-1}$</a:t>
                </a:r>
                <a:r>
                  <a:rPr sz="2400" b="0">
                    <a:solidFill>
                      <a:srgbClr val="111827"/>
                    </a:solidFill>
                    <a:latin typeface="Arial"/>
                  </a:rPr>
                  <a:t> with </a:t>
                </a:r>
                <a:r>
                  <a:rPr lang="en-IN" sz="2400">
                    <a:solidFill>
                      <a:srgbClr val="111827"/>
                    </a:solidFill>
                    <a:latin typeface="Cambria Math" panose="02040503050406030204" pitchFamily="18" charset="0"/>
                  </a:rPr>
                  <a:t>$\omega=e^{2\pi i/n}$</a:t>
                </a:r>
                <a:r>
                  <a:rPr sz="2400" b="0">
                    <a:solidFill>
                      <a:srgbClr val="111827"/>
                    </a:solidFill>
                    <a:latin typeface="Arial"/>
                  </a:rPr>
                  <a:t>; a sum over roots indexed by </a:t>
                </a:r>
                <a:r>
                  <a:rPr lang="en-IN" sz="2400">
                    <a:solidFill>
                      <a:srgbClr val="111827"/>
                    </a:solidFill>
                    <a:latin typeface="Cambria Math" panose="02040503050406030204" pitchFamily="18" charset="0"/>
                  </a:rPr>
                  <a:t>$k$</a:t>
                </a:r>
                <a:r>
                  <a:rPr sz="2400" b="0">
                    <a:solidFill>
                      <a:srgbClr val="111827"/>
                    </a:solidFill>
                    <a:latin typeface="Arial"/>
                  </a:rPr>
                  <a:t> is usually a sum of powers of </a:t>
                </a:r>
                <a:r>
                  <a:rPr lang="en-IN" sz="2400">
                    <a:solidFill>
                      <a:srgbClr val="111827"/>
                    </a:solidFill>
                    <a:latin typeface="Cambria Math" panose="02040503050406030204" pitchFamily="18" charset="0"/>
                  </a:rPr>
                  <a:t>$\omega$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$1+\omega=2\cos\frac{\pi}{n}e^{i\pi/n}$</a:t>
                </a:r>
                <a:r>
                  <a:rPr sz="2400" b="0">
                    <a:solidFill>
                      <a:srgbClr val="111827"/>
                    </a:solidFill>
                    <a:latin typeface="Arial"/>
                  </a:rPr>
                  <a:t>, so </a:t>
                </a:r>
                <a:r>
                  <a:rPr lang="en-IN" sz="2400">
                    <a:solidFill>
                      <a:srgbClr val="111827"/>
                    </a:solidFill>
                    <a:latin typeface="Cambria Math" panose="02040503050406030204" pitchFamily="18" charset="0"/>
                  </a:rPr>
                  <a:t>$(1+\omega)^n=2^n\cos^n\frac{\pi}{n}\,e^{i\pi}=-2^n\cos^n\frac{\pi}{n}$</a:t>
                </a:r>
                <a:r>
                  <a:rPr sz="2400" b="0">
                    <a:solidFill>
                      <a:srgbClr val="111827"/>
                    </a:solidFill>
                    <a:latin typeface="Arial"/>
                  </a:rPr>
                  <a:t> is real; e.g. </a:t>
                </a:r>
                <a:r>
                  <a:rPr lang="en-IN" sz="2400">
                    <a:solidFill>
                      <a:srgbClr val="111827"/>
                    </a:solidFill>
                    <a:latin typeface="Cambria Math" panose="02040503050406030204" pitchFamily="18" charset="0"/>
                  </a:rPr>
                  <a:t>$n=3$</a:t>
                </a:r>
                <a:r>
                  <a:rPr sz="2400" b="0">
                    <a:solidFill>
                      <a:srgbClr val="111827"/>
                    </a:solidFill>
                    <a:latin typeface="Arial"/>
                  </a:rPr>
                  <a:t> gives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r>
                  <a:rPr lang="en-IN" sz="2400">
                    <a:solidFill>
                      <a:srgbClr val="111827"/>
                    </a:solidFill>
                    <a:latin typeface="Cambria Math" panose="02040503050406030204" pitchFamily="18" charset="0"/>
                  </a:rPr>
                  <a:t>$n=5$</a:t>
                </a:r>
                <a:r>
                  <a:rPr sz="2400" b="0">
                    <a:solidFill>
                      <a:srgbClr val="111827"/>
                    </a:solidFill>
                    <a:latin typeface="Arial"/>
                  </a:rPr>
                  <a:t>, </a:t>
                </a:r>
                <a:r>
                  <a:rPr lang="en-IN" sz="2400">
                    <a:solidFill>
                      <a:srgbClr val="111827"/>
                    </a:solidFill>
                    <a:latin typeface="Cambria Math" panose="02040503050406030204" pitchFamily="18" charset="0"/>
                  </a:rPr>
                  <a:t>$\sum{}^5C_k\omega^k=-12.09$</a:t>
                </a:r>
                <a:r>
                  <a:rPr sz="2400" b="0">
                    <a:solidFill>
                      <a:srgbClr val="111827"/>
                    </a:solidFill>
                    <a:latin typeface="Arial"/>
                  </a:rPr>
                  <a:t> and </a:t>
                </a:r>
                <a:r>
                  <a:rPr lang="en-IN" sz="2400">
                    <a:solidFill>
                      <a:srgbClr val="111827"/>
                    </a:solidFill>
                    <a:latin typeface="Cambria Math" panose="02040503050406030204" pitchFamily="18" charset="0"/>
                  </a:rPr>
                  <a:t>$(1+\omega)^5-1=-12.09$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9692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letters of the word SIKAR are arranged in all possible ways and these words are written out as in a dictionary, then the word SIKAR appears at serial number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Three distinct numbers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selected at random from the first </a:t>
                </a:r>
                <a14:m>
                  <m:oMath xmlns:m="http://schemas.openxmlformats.org/officeDocument/2006/math">
                    <m:r>
                      <a:rPr lang="en-IN" sz="2400" i="1">
                        <a:solidFill>
                          <a:srgbClr val="111827"/>
                        </a:solidFill>
                        <a:latin typeface="Cambria Math" panose="02040503050406030204" pitchFamily="18" charset="0"/>
                      </a:rPr>
                      <m:t>100</m:t>
                    </m:r>
                  </m:oMath>
                </a14:m>
                <a:r>
                  <a:rPr sz="2400" b="0">
                    <a:solidFill>
                      <a:srgbClr val="111827"/>
                    </a:solidFill>
                    <a:latin typeface="Arial"/>
                  </a:rPr>
                  <a:t> natural numbers; the probability that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in A.P.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are relatively prime natural numbers. The last digit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1</m:t>
                    </m:r>
                  </m:oMath>
                </a14:m>
                <a:endParaRPr sz="2400">
                  <a:solidFill>
                    <a:srgbClr val="111827"/>
                  </a:solidFill>
                </a:endParaRPr>
              </a:p>
            </p:txBody>
          </p:sp>
        </mc:Choice>
        <mc:Fallback>
          <p:sp>
            <p:nvSpPr>
              <p:cNvPr id="4" name="Rounded Rectangle 3"/>
              <p:cNvSpPr/>
              <p:nvPr/>
            </p:nvSpPr>
            <p:spPr>
              <a:xfrm>
                <a:off x="731520" y="1280160"/>
                <a:ext cx="10725912" cy="329692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letters of the word SIKAR are arranged in all possible ways and these words are written out as in a dictionary, then the word SIKAR appears at serial number </a:t>
                </a:r>
                <a:r>
                  <a:rPr lang="en-IN" sz="2400">
                    <a:solidFill>
                      <a:srgbClr val="111827"/>
                    </a:solidFill>
                    <a:latin typeface="Cambria Math" panose="02040503050406030204" pitchFamily="18" charset="0"/>
                  </a:rPr>
                  <a:t>$k$</a:t>
                </a:r>
                <a:r>
                  <a:rPr sz="2400" b="0">
                    <a:solidFill>
                      <a:srgbClr val="111827"/>
                    </a:solidFill>
                    <a:latin typeface="Arial"/>
                  </a:rPr>
                  <a:t>. Three distinct numbers </a:t>
                </a:r>
                <a:r>
                  <a:rPr lang="en-IN" sz="2400">
                    <a:solidFill>
                      <a:srgbClr val="111827"/>
                    </a:solidFill>
                    <a:latin typeface="Cambria Math" panose="02040503050406030204" pitchFamily="18" charset="0"/>
                  </a:rPr>
                  <a:t>$a,b,c$</a:t>
                </a:r>
                <a:r>
                  <a:rPr sz="2400" b="0">
                    <a:solidFill>
                      <a:srgbClr val="111827"/>
                    </a:solidFill>
                    <a:latin typeface="Arial"/>
                  </a:rPr>
                  <a:t> are selected at random from the first </a:t>
                </a:r>
                <a:r>
                  <a:rPr lang="en-IN" sz="2400">
                    <a:solidFill>
                      <a:srgbClr val="111827"/>
                    </a:solidFill>
                    <a:latin typeface="Cambria Math" panose="02040503050406030204" pitchFamily="18" charset="0"/>
                  </a:rPr>
                  <a:t>$100$</a:t>
                </a:r>
                <a:r>
                  <a:rPr sz="2400" b="0">
                    <a:solidFill>
                      <a:srgbClr val="111827"/>
                    </a:solidFill>
                    <a:latin typeface="Arial"/>
                  </a:rPr>
                  <a:t> natural numbers; the probability that </a:t>
                </a:r>
                <a:r>
                  <a:rPr lang="en-IN" sz="2400">
                    <a:solidFill>
                      <a:srgbClr val="111827"/>
                    </a:solidFill>
                    <a:latin typeface="Cambria Math" panose="02040503050406030204" pitchFamily="18" charset="0"/>
                  </a:rPr>
                  <a:t>$a,b,c$</a:t>
                </a:r>
                <a:r>
                  <a:rPr sz="2400" b="0">
                    <a:solidFill>
                      <a:srgbClr val="111827"/>
                    </a:solidFill>
                    <a:latin typeface="Arial"/>
                  </a:rPr>
                  <a:t> are in A.P. is </a:t>
                </a:r>
                <a:r>
                  <a:rPr lang="en-IN" sz="2400">
                    <a:solidFill>
                      <a:srgbClr val="111827"/>
                    </a:solidFill>
                    <a:latin typeface="Cambria Math" panose="02040503050406030204" pitchFamily="18" charset="0"/>
                  </a:rPr>
                  <a:t>$\frac mn$</a:t>
                </a:r>
                <a:r>
                  <a:rPr sz="2400" b="0">
                    <a:solidFill>
                      <a:srgbClr val="111827"/>
                    </a:solidFill>
                    <a:latin typeface="Arial"/>
                  </a:rPr>
                  <a:t>, where </a:t>
                </a:r>
                <a:r>
                  <a:rPr lang="en-IN" sz="2400">
                    <a:solidFill>
                      <a:srgbClr val="111827"/>
                    </a:solidFill>
                    <a:latin typeface="Cambria Math" panose="02040503050406030204" pitchFamily="18" charset="0"/>
                  </a:rPr>
                  <a:t>$m,n$</a:t>
                </a:r>
                <a:r>
                  <a:rPr sz="2400" b="0">
                    <a:solidFill>
                      <a:srgbClr val="111827"/>
                    </a:solidFill>
                    <a:latin typeface="Arial"/>
                  </a:rPr>
                  <a:t> are relatively prime natural numbers. The last digit of </a:t>
                </a:r>
                <a:r>
                  <a:rPr lang="en-IN" sz="2400">
                    <a:solidFill>
                      <a:srgbClr val="111827"/>
                    </a:solidFill>
                    <a:latin typeface="Cambria Math" panose="02040503050406030204" pitchFamily="18" charset="0"/>
                  </a:rPr>
                  <a:t>$(m+n+k)$</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$7$</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$5$</a:t>
                </a:r>
                <a:r>
                  <a:rPr sz="2400" b="0">
                    <a:solidFill>
                      <a:srgbClr val="111827"/>
                    </a:solidFill>
                    <a:latin typeface="Arial"/>
                  </a:rPr>
                  <a:t>   (D) </a:t>
                </a:r>
                <a:r>
                  <a:rPr lang="en-IN" sz="2400">
                    <a:solidFill>
                      <a:srgbClr val="111827"/>
                    </a:solidFill>
                    <a:latin typeface="Cambria Math" panose="02040503050406030204" pitchFamily="18" charset="0"/>
                  </a:rPr>
                  <a:t>$1$</a:t>
                </a:r>
                <a:endParaRPr sz="2400">
                  <a:solidFill>
                    <a:srgbClr val="111827"/>
                  </a:solidFill>
                </a:endParaRPr>
              </a:p>
            </p:txBody>
          </p:sp>
        </mc:Fallback>
      </mc:AlternateContent>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Permutations (rank of a word), Probability (arithmetic progressions)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Three numbers are in A.P. exactly when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𝑏</m:t>
                    </m:r>
                  </m:oMath>
                </a14:m>
                <a:r>
                  <a:rPr sz="2400" b="0">
                    <a:solidFill>
                      <a:srgbClr val="78350F"/>
                    </a:solidFill>
                    <a:latin typeface="Arial"/>
                  </a:rPr>
                  <a:t>, i.e.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have the same parity; the dictionary rank is a count of words before SIKAR.</a:t>
                </a:r>
                <a:endParaRPr sz="2400">
                  <a:solidFill>
                    <a:srgbClr val="78350F"/>
                  </a:solidFill>
                </a:endParaRPr>
              </a:p>
            </p:txBody>
          </p:sp>
        </mc:Choice>
        <mc:Fallback>
          <p:sp>
            <p:nvSpPr>
              <p:cNvPr id="5" name="Rounded Rectangle 4"/>
              <p:cNvSpPr/>
              <p:nvPr/>
            </p:nvSpPr>
            <p:spPr>
              <a:xfrm>
                <a:off x="731520" y="365760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Three numbers are in A.P. exactly when </a:t>
                </a:r>
                <a:r>
                  <a:rPr lang="en-IN" sz="2400">
                    <a:solidFill>
                      <a:srgbClr val="78350F"/>
                    </a:solidFill>
                    <a:latin typeface="Cambria Math" panose="02040503050406030204" pitchFamily="18" charset="0"/>
                  </a:rPr>
                  <a:t>$a+c=2b$</a:t>
                </a:r>
                <a:r>
                  <a:rPr sz="2400" b="0">
                    <a:solidFill>
                      <a:srgbClr val="78350F"/>
                    </a:solidFill>
                    <a:latin typeface="Arial"/>
                  </a:rPr>
                  <a:t>, i.e. </a:t>
                </a:r>
                <a:r>
                  <a:rPr lang="en-IN" sz="2400">
                    <a:solidFill>
                      <a:srgbClr val="78350F"/>
                    </a:solidFill>
                    <a:latin typeface="Cambria Math" panose="02040503050406030204" pitchFamily="18" charset="0"/>
                  </a:rPr>
                  <a:t>$a,c$</a:t>
                </a:r>
                <a:r>
                  <a:rPr sz="2400" b="0">
                    <a:solidFill>
                      <a:srgbClr val="78350F"/>
                    </a:solidFill>
                    <a:latin typeface="Arial"/>
                  </a:rPr>
                  <a:t> have the same parity; the dictionary rank is a count of words before SIKAR.</a:t>
                </a:r>
                <a:endParaRPr sz="2400">
                  <a:solidFill>
                    <a:srgbClr val="78350F"/>
                  </a:solidFill>
                </a:endParaRPr>
              </a:p>
            </p:txBody>
          </p:sp>
        </mc:Fallback>
      </mc:AlternateContent>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Alphabetical order of the letters is A, I, K, R, S. Count the words that come before SIKAR.</a:t>
            </a:r>
            <a:endParaRPr sz="2400">
              <a:solidFill>
                <a:srgbClr val="111827"/>
              </a:solidFill>
            </a:endParaRP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Words starting with A, I, K or R: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oMath>
                </a14:m>
                <a:r>
                  <a:rPr sz="2400" b="0">
                    <a:solidFill>
                      <a:srgbClr val="111827"/>
                    </a:solidFill>
                    <a:latin typeface="Arial"/>
                  </a:rPr>
                  <a:t> words (24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Words starting with S: those beginning SA come first,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words.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Next, those beginning SIA: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words (SIAKR, SIARK).</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SIKAR itself is the next word, adding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probability: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in A.P. means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is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are both even or both odd;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is then determined as their mean, strictly between them.</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Words starting with A, I, K or R: </a:t>
                </a:r>
                <a:r>
                  <a:rPr lang="en-IN" sz="2400">
                    <a:solidFill>
                      <a:srgbClr val="111827"/>
                    </a:solidFill>
                    <a:latin typeface="Cambria Math" panose="02040503050406030204" pitchFamily="18" charset="0"/>
                  </a:rPr>
                  <a:t>$4\times4!=96$</a:t>
                </a:r>
                <a:r>
                  <a:rPr sz="2400" b="0">
                    <a:solidFill>
                      <a:srgbClr val="111827"/>
                    </a:solidFill>
                    <a:latin typeface="Arial"/>
                  </a:rPr>
                  <a:t> words (24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Words starting with S: those beginning SA come first, </a:t>
                </a:r>
                <a:r>
                  <a:rPr lang="en-IN" sz="2400">
                    <a:solidFill>
                      <a:srgbClr val="111827"/>
                    </a:solidFill>
                    <a:latin typeface="Cambria Math" panose="02040503050406030204" pitchFamily="18" charset="0"/>
                  </a:rPr>
                  <a:t>$3!=6$</a:t>
                </a:r>
                <a:r>
                  <a:rPr sz="2400" b="0">
                    <a:solidFill>
                      <a:srgbClr val="111827"/>
                    </a:solidFill>
                    <a:latin typeface="Arial"/>
                  </a:rPr>
                  <a:t> words.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Next, those beginning SIA: </a:t>
                </a:r>
                <a:r>
                  <a:rPr lang="en-IN" sz="2400">
                    <a:solidFill>
                      <a:srgbClr val="111827"/>
                    </a:solidFill>
                    <a:latin typeface="Cambria Math" panose="02040503050406030204" pitchFamily="18" charset="0"/>
                  </a:rPr>
                  <a:t>$2!=2$</a:t>
                </a:r>
                <a:r>
                  <a:rPr sz="2400" b="0">
                    <a:solidFill>
                      <a:srgbClr val="111827"/>
                    </a:solidFill>
                    <a:latin typeface="Arial"/>
                  </a:rPr>
                  <a:t> words (SIAKR, SIARK).</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SIKAR itself is the next word, adding </a:t>
                </a:r>
                <a:r>
                  <a:rPr lang="en-IN" sz="2400">
                    <a:solidFill>
                      <a:srgbClr val="111827"/>
                    </a:solidFill>
                    <a:latin typeface="Cambria Math" panose="02040503050406030204" pitchFamily="18" charset="0"/>
                  </a:rPr>
                  <a:t>$1$</a:t>
                </a:r>
                <a:r>
                  <a:rPr sz="2400" b="0">
                    <a:solidFill>
                      <a:srgbClr val="111827"/>
                    </a:solidFill>
                    <a:latin typeface="Arial"/>
                  </a:rPr>
                  <a:t>. So </a:t>
                </a:r>
                <a:r>
                  <a:rPr lang="en-IN" sz="2400">
                    <a:solidFill>
                      <a:srgbClr val="111827"/>
                    </a:solidFill>
                    <a:latin typeface="Cambria Math" panose="02040503050406030204" pitchFamily="18" charset="0"/>
                  </a:rPr>
                  <a:t>$k=96+6+2+1=105$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the probability: </a:t>
                </a:r>
                <a:r>
                  <a:rPr lang="en-IN" sz="2400">
                    <a:solidFill>
                      <a:srgbClr val="111827"/>
                    </a:solidFill>
                    <a:latin typeface="Cambria Math" panose="02040503050406030204" pitchFamily="18" charset="0"/>
                  </a:rPr>
                  <a:t>$a,b,c$</a:t>
                </a:r>
                <a:r>
                  <a:rPr sz="2400" b="0">
                    <a:solidFill>
                      <a:srgbClr val="111827"/>
                    </a:solidFill>
                    <a:latin typeface="Arial"/>
                  </a:rPr>
                  <a:t> in A.P. means </a:t>
                </a:r>
                <a:r>
                  <a:rPr lang="en-IN" sz="2400">
                    <a:solidFill>
                      <a:srgbClr val="111827"/>
                    </a:solidFill>
                    <a:latin typeface="Cambria Math" panose="02040503050406030204" pitchFamily="18" charset="0"/>
                  </a:rPr>
                  <a:t>$a+c=2b$</a:t>
                </a:r>
                <a:r>
                  <a:rPr sz="2400" b="0">
                    <a:solidFill>
                      <a:srgbClr val="111827"/>
                    </a:solidFill>
                    <a:latin typeface="Arial"/>
                  </a:rPr>
                  <a:t>, so </a:t>
                </a:r>
                <a:r>
                  <a:rPr lang="en-IN" sz="2400">
                    <a:solidFill>
                      <a:srgbClr val="111827"/>
                    </a:solidFill>
                    <a:latin typeface="Cambria Math" panose="02040503050406030204" pitchFamily="18" charset="0"/>
                  </a:rPr>
                  <a:t>$a+c$</a:t>
                </a:r>
                <a:r>
                  <a:rPr sz="2400" b="0">
                    <a:solidFill>
                      <a:srgbClr val="111827"/>
                    </a:solidFill>
                    <a:latin typeface="Arial"/>
                  </a:rPr>
                  <a:t> is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are both even or both odd; </a:t>
                </a:r>
                <a:r>
                  <a:rPr lang="en-IN" sz="2400">
                    <a:solidFill>
                      <a:srgbClr val="111827"/>
                    </a:solidFill>
                    <a:latin typeface="Cambria Math" panose="02040503050406030204" pitchFamily="18" charset="0"/>
                  </a:rPr>
                  <a:t>$b$</a:t>
                </a:r>
                <a:r>
                  <a:rPr sz="2400" b="0">
                    <a:solidFill>
                      <a:srgbClr val="111827"/>
                    </a:solidFill>
                    <a:latin typeface="Arial"/>
                  </a:rPr>
                  <a:t> is then determined as their mean, strictly between them.</a:t>
                </a:r>
                <a:endParaRPr sz="2400">
                  <a:solidFill>
                    <a:srgbClr val="111827"/>
                  </a:solidFill>
                </a:endParaRPr>
              </a:p>
            </p:txBody>
          </p:sp>
        </mc:Fallback>
      </mc:AlternateContent>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Favourable selections: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(two from the 50 even or two from the 50 odd numbers).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2450</m:t>
                        </m:r>
                      </m:num>
                      <m:den>
                        <m:r>
                          <a:rPr lang="en-IN" sz="2400" i="1">
                            <a:solidFill>
                              <a:srgbClr val="111827"/>
                            </a:solidFill>
                            <a:latin typeface="Cambria Math" panose="02040503050406030204" pitchFamily="18" charset="0"/>
                          </a:rPr>
                          <m:t>161700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66</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66</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172</m:t>
                    </m:r>
                  </m:oMath>
                </a14:m>
                <a:r>
                  <a:rPr sz="2400" b="0">
                    <a:solidFill>
                      <a:srgbClr val="111827"/>
                    </a:solidFill>
                    <a:latin typeface="Arial"/>
                  </a:rPr>
                  <a:t>, whose last digit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Favourable selections: </a:t>
                </a:r>
                <a:r>
                  <a:rPr lang="en-IN" sz="2400">
                    <a:solidFill>
                      <a:srgbClr val="111827"/>
                    </a:solidFill>
                    <a:latin typeface="Cambria Math" panose="02040503050406030204" pitchFamily="18" charset="0"/>
                  </a:rPr>
                  <a:t>$^{50}C_2+{}^{50}C_2$</a:t>
                </a:r>
                <a:r>
                  <a:rPr sz="2400" b="0">
                    <a:solidFill>
                      <a:srgbClr val="111827"/>
                    </a:solidFill>
                    <a:latin typeface="Arial"/>
                  </a:rPr>
                  <a:t> (two from the 50 even or two from the 50 odd numbers).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$P=\frac{{}^{50}C_2+{}^{50}C_2}{{}^{100}C_3}=\frac{2450}{161700}=\frac1{66}$</a:t>
                </a:r>
                <a:r>
                  <a:rPr sz="2400" b="0">
                    <a:solidFill>
                      <a:srgbClr val="111827"/>
                    </a:solidFill>
                    <a:latin typeface="Arial"/>
                  </a:rPr>
                  <a:t>, so </a:t>
                </a:r>
                <a:r>
                  <a:rPr lang="en-IN" sz="2400">
                    <a:solidFill>
                      <a:srgbClr val="111827"/>
                    </a:solidFill>
                    <a:latin typeface="Cambria Math" panose="02040503050406030204" pitchFamily="18" charset="0"/>
                  </a:rPr>
                  <a:t>$m=1,n=66$</a:t>
                </a:r>
                <a:r>
                  <a:rPr sz="2400" b="0">
                    <a:solidFill>
                      <a:srgbClr val="111827"/>
                    </a:solidFill>
                    <a:latin typeface="Arial"/>
                  </a:rPr>
                  <a:t> and </a:t>
                </a:r>
                <a:r>
                  <a:rPr lang="en-IN" sz="2400">
                    <a:solidFill>
                      <a:srgbClr val="111827"/>
                    </a:solidFill>
                    <a:latin typeface="Cambria Math" panose="02040503050406030204" pitchFamily="18" charset="0"/>
                  </a:rPr>
                  <a:t>$m+n=67$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$m+n+k=67+105=172$</a:t>
                </a:r>
                <a:r>
                  <a:rPr sz="2400" b="0">
                    <a:solidFill>
                      <a:srgbClr val="111827"/>
                    </a:solidFill>
                    <a:latin typeface="Arial"/>
                  </a:rPr>
                  <a:t>, whose last digit is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2</a:t>
            </a:r>
            <a:endParaRPr sz="2800">
              <a:solidFill>
                <a:srgbClr val="15803D"/>
              </a:solidFill>
            </a:endParaRP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A.P. triples by common difference </a:t>
                </a:r>
                <a14:m>
                  <m:oMath xmlns:m="http://schemas.openxmlformats.org/officeDocument/2006/math">
                    <m:r>
                      <a:rPr lang="en-IN" sz="2400" i="1">
                        <a:solidFill>
                          <a:srgbClr val="78350F"/>
                        </a:solidFill>
                        <a:latin typeface="Cambria Math" panose="02040503050406030204" pitchFamily="18" charset="0"/>
                      </a:rPr>
                      <m:t>𝑑</m:t>
                    </m:r>
                  </m:oMath>
                </a14:m>
                <a:r>
                  <a:rPr sz="2400" b="0">
                    <a:solidFill>
                      <a:srgbClr val="78350F"/>
                    </a:solidFill>
                    <a:latin typeface="Arial"/>
                  </a:rPr>
                  <a:t>: there are </a:t>
                </a:r>
                <a14:m>
                  <m:oMath xmlns:m="http://schemas.openxmlformats.org/officeDocument/2006/math">
                    <m:r>
                      <a:rPr lang="en-IN" sz="2400" i="1">
                        <a:solidFill>
                          <a:srgbClr val="78350F"/>
                        </a:solidFill>
                        <a:latin typeface="Cambria Math" panose="02040503050406030204" pitchFamily="18" charset="0"/>
                      </a:rPr>
                      <m:t>100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𝑑</m:t>
                    </m:r>
                  </m:oMath>
                </a14:m>
                <a:r>
                  <a:rPr sz="2400" b="0">
                    <a:solidFill>
                      <a:srgbClr val="78350F"/>
                    </a:solidFill>
                    <a:latin typeface="Arial"/>
                  </a:rPr>
                  <a:t> of them, and compute the rank with the factorial-base formula.</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A.P. triples by common difference </a:t>
                </a:r>
                <a:r>
                  <a:rPr lang="en-IN" sz="2400">
                    <a:solidFill>
                      <a:srgbClr val="78350F"/>
                    </a:solidFill>
                    <a:latin typeface="Cambria Math" panose="02040503050406030204" pitchFamily="18" charset="0"/>
                  </a:rPr>
                  <a:t>$d$</a:t>
                </a:r>
                <a:r>
                  <a:rPr sz="2400" b="0">
                    <a:solidFill>
                      <a:srgbClr val="78350F"/>
                    </a:solidFill>
                    <a:latin typeface="Arial"/>
                  </a:rPr>
                  <a:t>: there are </a:t>
                </a:r>
                <a:r>
                  <a:rPr lang="en-IN" sz="2400">
                    <a:solidFill>
                      <a:srgbClr val="78350F"/>
                    </a:solidFill>
                    <a:latin typeface="Cambria Math" panose="02040503050406030204" pitchFamily="18" charset="0"/>
                  </a:rPr>
                  <a:t>$100-2d$</a:t>
                </a:r>
                <a:r>
                  <a:rPr sz="2400" b="0">
                    <a:solidFill>
                      <a:srgbClr val="78350F"/>
                    </a:solidFill>
                    <a:latin typeface="Arial"/>
                  </a:rPr>
                  <a:t> of them, and compute the rank with the factorial-base formula.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 increasing A.P.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oMath>
                </a14:m>
                <a:r>
                  <a:rPr sz="2400" b="0">
                    <a:solidFill>
                      <a:srgbClr val="111827"/>
                    </a:solidFill>
                    <a:latin typeface="Arial"/>
                  </a:rPr>
                  <a:t> inside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needs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so there are </a:t>
                </a:r>
                <a14:m>
                  <m:oMath xmlns:m="http://schemas.openxmlformats.org/officeDocument/2006/math">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oMath>
                </a14:m>
                <a:r>
                  <a:rPr sz="2400" b="0">
                    <a:solidFill>
                      <a:srgbClr val="111827"/>
                    </a:solidFill>
                    <a:latin typeface="Arial"/>
                  </a:rPr>
                  <a:t> choices of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number of A.P. sets: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49</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2450</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2450</m:t>
                        </m:r>
                      </m:num>
                      <m:den>
                        <m:r>
                          <a:rPr lang="en-IN" sz="2400" i="1">
                            <a:solidFill>
                              <a:srgbClr val="111827"/>
                            </a:solidFill>
                            <a:latin typeface="Cambria Math" panose="02040503050406030204" pitchFamily="18" charset="0"/>
                          </a:rPr>
                          <m:t>161700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66</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An increasing A.P. </a:t>
                </a:r>
                <a:r>
                  <a:rPr lang="en-IN" sz="2400">
                    <a:solidFill>
                      <a:srgbClr val="111827"/>
                    </a:solidFill>
                    <a:latin typeface="Cambria Math" panose="02040503050406030204" pitchFamily="18" charset="0"/>
                  </a:rPr>
                  <a:t>$a,a+d,a+2d$</a:t>
                </a:r>
                <a:r>
                  <a:rPr sz="2400" b="0">
                    <a:solidFill>
                      <a:srgbClr val="111827"/>
                    </a:solidFill>
                    <a:latin typeface="Arial"/>
                  </a:rPr>
                  <a:t> inside </a:t>
                </a:r>
                <a:r>
                  <a:rPr lang="en-IN" sz="2400">
                    <a:solidFill>
                      <a:srgbClr val="111827"/>
                    </a:solidFill>
                    <a:latin typeface="Cambria Math" panose="02040503050406030204" pitchFamily="18" charset="0"/>
                  </a:rPr>
                  <a:t>$1..100$</a:t>
                </a:r>
                <a:r>
                  <a:rPr sz="2400" b="0">
                    <a:solidFill>
                      <a:srgbClr val="111827"/>
                    </a:solidFill>
                    <a:latin typeface="Arial"/>
                  </a:rPr>
                  <a:t> needs </a:t>
                </a:r>
                <a:r>
                  <a:rPr lang="en-IN" sz="2400">
                    <a:solidFill>
                      <a:srgbClr val="111827"/>
                    </a:solidFill>
                    <a:latin typeface="Cambria Math" panose="02040503050406030204" pitchFamily="18" charset="0"/>
                  </a:rPr>
                  <a:t>$a+2d\le100$</a:t>
                </a:r>
                <a:r>
                  <a:rPr sz="2400" b="0">
                    <a:solidFill>
                      <a:srgbClr val="111827"/>
                    </a:solidFill>
                    <a:latin typeface="Arial"/>
                  </a:rPr>
                  <a:t>, so there are </a:t>
                </a:r>
                <a:r>
                  <a:rPr lang="en-IN" sz="2400">
                    <a:solidFill>
                      <a:srgbClr val="111827"/>
                    </a:solidFill>
                    <a:latin typeface="Cambria Math" panose="02040503050406030204" pitchFamily="18" charset="0"/>
                  </a:rPr>
                  <a:t>$100-2d$</a:t>
                </a:r>
                <a:r>
                  <a:rPr sz="2400" b="0">
                    <a:solidFill>
                      <a:srgbClr val="111827"/>
                    </a:solidFill>
                    <a:latin typeface="Arial"/>
                  </a:rPr>
                  <a:t> choices of </a:t>
                </a:r>
                <a:r>
                  <a:rPr lang="en-IN" sz="2400">
                    <a:solidFill>
                      <a:srgbClr val="111827"/>
                    </a:solidFill>
                    <a:latin typeface="Cambria Math" panose="02040503050406030204" pitchFamily="18" charset="0"/>
                  </a:rPr>
                  <a:t>$a$</a:t>
                </a:r>
                <a:r>
                  <a:rPr sz="2400" b="0">
                    <a:solidFill>
                      <a:srgbClr val="111827"/>
                    </a:solidFill>
                    <a:latin typeface="Arial"/>
                  </a:rPr>
                  <a:t> for </a:t>
                </a:r>
                <a:r>
                  <a:rPr lang="en-IN" sz="2400">
                    <a:solidFill>
                      <a:srgbClr val="111827"/>
                    </a:solidFill>
                    <a:latin typeface="Cambria Math" panose="02040503050406030204" pitchFamily="18" charset="0"/>
                  </a:rPr>
                  <a:t>$d=1,\dots,49$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number of A.P. sets: </a:t>
                </a:r>
                <a:r>
                  <a:rPr lang="en-IN" sz="2400">
                    <a:solidFill>
                      <a:srgbClr val="111827"/>
                    </a:solidFill>
                    <a:latin typeface="Cambria Math" panose="02040503050406030204" pitchFamily="18" charset="0"/>
                  </a:rPr>
                  <a:t>$\sum_{d=1}^{49}(100-2d)=4900-2\cdot1225=2450$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$P=\frac{2450}{{}^{100}C_3}=\frac{2450}{161700}=\frac1{66}$</a:t>
                </a:r>
                <a:r>
                  <a:rPr sz="2400" b="0">
                    <a:solidFill>
                      <a:srgbClr val="111827"/>
                    </a:solidFill>
                    <a:latin typeface="Arial"/>
                  </a:rPr>
                  <a:t>, so </a:t>
                </a:r>
                <a:r>
                  <a:rPr lang="en-IN" sz="2400">
                    <a:solidFill>
                      <a:srgbClr val="111827"/>
                    </a:solidFill>
                    <a:latin typeface="Cambria Math" panose="02040503050406030204" pitchFamily="18" charset="0"/>
                  </a:rPr>
                  <a:t>$m+n=67$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Rank formula: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𝑛𝑢𝑚𝑏𝑒𝑟 𝑜𝑓 𝑢𝑛𝑢𝑠𝑒𝑑 𝑙𝑒𝑡𝑡𝑒𝑟𝑠 𝑠𝑚𝑎𝑙𝑙𝑒𝑟 𝑡ℎ𝑎𝑛 𝑡ℎ𝑒 𝑐𝑢𝑟𝑟𝑒𝑛𝑡 𝑙𝑒𝑡𝑡𝑒𝑟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𝑟𝑒𝑚𝑎𝑖𝑛𝑖𝑛𝑔 𝑝𝑙𝑎𝑐𝑒𝑠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 4 smaller letters,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oMath>
                </a14:m>
                <a:r>
                  <a:rPr sz="2400" b="0">
                    <a:solidFill>
                      <a:srgbClr val="111827"/>
                    </a:solidFill>
                    <a:latin typeface="Arial"/>
                  </a:rPr>
                  <a:t>. I (letters left A,I,K,R): 1 smaller,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K (left A,K,R): 1 smaller,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0. R: 0.</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67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172</m:t>
                    </m:r>
                  </m:oMath>
                </a14:m>
                <a:r>
                  <a:rPr sz="2400" b="0">
                    <a:solidFill>
                      <a:srgbClr val="111827"/>
                    </a:solidFill>
                    <a:latin typeface="Arial"/>
                  </a:rPr>
                  <a:t>, last digit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Rank formula: </a:t>
                </a:r>
                <a:r>
                  <a:rPr lang="en-IN" sz="2400">
                    <a:solidFill>
                      <a:srgbClr val="111827"/>
                    </a:solidFill>
                    <a:latin typeface="Cambria Math" panose="02040503050406030204" pitchFamily="18" charset="0"/>
                  </a:rPr>
                  <a:t>$k=1+\sum(\text{number of unused letters smaller than the current letter})\times(\text{remaining places})!$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 4 smaller letters, </a:t>
                </a:r>
                <a:r>
                  <a:rPr lang="en-IN" sz="2400">
                    <a:solidFill>
                      <a:srgbClr val="111827"/>
                    </a:solidFill>
                    <a:latin typeface="Cambria Math" panose="02040503050406030204" pitchFamily="18" charset="0"/>
                  </a:rPr>
                  <a:t>$4\times4!=96$</a:t>
                </a:r>
                <a:r>
                  <a:rPr sz="2400" b="0">
                    <a:solidFill>
                      <a:srgbClr val="111827"/>
                    </a:solidFill>
                    <a:latin typeface="Arial"/>
                  </a:rPr>
                  <a:t>. I (letters left A,I,K,R): 1 smaller, </a:t>
                </a:r>
                <a:r>
                  <a:rPr lang="en-IN" sz="2400">
                    <a:solidFill>
                      <a:srgbClr val="111827"/>
                    </a:solidFill>
                    <a:latin typeface="Cambria Math" panose="02040503050406030204" pitchFamily="18" charset="0"/>
                  </a:rPr>
                  <a:t>$1\times3!=6$</a:t>
                </a:r>
                <a:r>
                  <a:rPr sz="2400" b="0">
                    <a:solidFill>
                      <a:srgbClr val="111827"/>
                    </a:solidFill>
                    <a:latin typeface="Arial"/>
                  </a:rPr>
                  <a:t>. K (left A,K,R): 1 smaller, </a:t>
                </a:r>
                <a:r>
                  <a:rPr lang="en-IN" sz="2400">
                    <a:solidFill>
                      <a:srgbClr val="111827"/>
                    </a:solidFill>
                    <a:latin typeface="Cambria Math" panose="02040503050406030204" pitchFamily="18" charset="0"/>
                  </a:rPr>
                  <a:t>$1\times2!=2$</a:t>
                </a:r>
                <a:r>
                  <a:rPr sz="2400" b="0">
                    <a:solidFill>
                      <a:srgbClr val="111827"/>
                    </a:solidFill>
                    <a:latin typeface="Arial"/>
                  </a:rPr>
                  <a:t>. A: 0. R: 0.</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$k=1+96+6+2=105$</a:t>
                </a:r>
                <a:r>
                  <a:rPr sz="2400" b="0">
                    <a:solidFill>
                      <a:srgbClr val="111827"/>
                    </a:solidFill>
                    <a:latin typeface="Arial"/>
                  </a:rPr>
                  <a:t>, and </a:t>
                </a:r>
                <a:r>
                  <a:rPr lang="en-IN" sz="2400">
                    <a:solidFill>
                      <a:srgbClr val="111827"/>
                    </a:solidFill>
                    <a:latin typeface="Cambria Math" panose="02040503050406030204" pitchFamily="18" charset="0"/>
                  </a:rPr>
                  <a:t>$67+105=172$</a:t>
                </a:r>
                <a:r>
                  <a:rPr sz="2400" b="0">
                    <a:solidFill>
                      <a:srgbClr val="111827"/>
                    </a:solidFill>
                    <a:latin typeface="Arial"/>
                  </a:rPr>
                  <a:t>, last digit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2</a:t>
            </a:r>
            <a:endParaRPr sz="2800">
              <a:solidFill>
                <a:srgbClr val="15803D"/>
              </a:solidFill>
            </a:endParaRP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Rank of a word with distinct letters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𝑖</m:t>
                            </m:r>
                          </m:sub>
                        </m:sSub>
                      </m:e>
                    </m:nary>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is the number of unused letters smaller than the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-th letter.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3-element A.P. subsets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this is </a:t>
                </a:r>
                <a14:m>
                  <m:oMath xmlns:m="http://schemas.openxmlformats.org/officeDocument/2006/math">
                    <m:r>
                      <a:rPr lang="en-IN" sz="2400" i="1">
                        <a:solidFill>
                          <a:srgbClr val="111827"/>
                        </a:solidFill>
                        <a:latin typeface="Cambria Math" panose="02040503050406030204" pitchFamily="18" charset="0"/>
                      </a:rPr>
                      <m:t>2450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an A.P. set iff the two extremes have the same parity, because the middle term is their mean.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SIKAR check: </a:t>
                </a:r>
                <a14:m>
                  <m:oMath xmlns:m="http://schemas.openxmlformats.org/officeDocument/2006/math">
                    <m:r>
                      <m:rPr>
                        <m:nor/>
                      </m:rPr>
                      <a:rPr lang="en-IN" sz="2400" i="1">
                        <a:solidFill>
                          <a:srgbClr val="111827"/>
                        </a:solidFill>
                        <a:latin typeface="Cambria Math" panose="02040503050406030204" pitchFamily="18" charset="0"/>
                      </a:rPr>
                      <m:t>𝑟𝑎𝑛𝑘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m:t>
                    </m:r>
                  </m:oMath>
                </a14:m>
                <a:r>
                  <a:rPr sz="2400" b="0">
                    <a:solidFill>
                      <a:srgbClr val="111827"/>
                    </a:solidFill>
                    <a:latin typeface="Arial"/>
                  </a:rPr>
                  <a:t> was confirmed by listing all </a:t>
                </a:r>
                <a14:m>
                  <m:oMath xmlns:m="http://schemas.openxmlformats.org/officeDocument/2006/math">
                    <m:r>
                      <a:rPr lang="en-IN" sz="2400" i="1">
                        <a:solidFill>
                          <a:srgbClr val="111827"/>
                        </a:solidFill>
                        <a:latin typeface="Cambria Math" panose="02040503050406030204" pitchFamily="18" charset="0"/>
                      </a:rPr>
                      <m:t>120</m:t>
                    </m:r>
                  </m:oMath>
                </a14:m>
                <a:r>
                  <a:rPr sz="2400" b="0">
                    <a:solidFill>
                      <a:srgbClr val="111827"/>
                    </a:solidFill>
                    <a:latin typeface="Arial"/>
                  </a:rPr>
                  <a:t> permutations in dictionary order.</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Rank of a word with distinct letters </a:t>
                </a:r>
                <a:r>
                  <a:rPr lang="en-IN" sz="2400">
                    <a:solidFill>
                      <a:srgbClr val="111827"/>
                    </a:solidFill>
                    <a:latin typeface="Cambria Math" panose="02040503050406030204" pitchFamily="18" charset="0"/>
                  </a:rPr>
                  <a:t>$=1+\sum_i c_i\,(n-i)!$</a:t>
                </a:r>
                <a:r>
                  <a:rPr sz="2400" b="0">
                    <a:solidFill>
                      <a:srgbClr val="111827"/>
                    </a:solidFill>
                    <a:latin typeface="Arial"/>
                  </a:rPr>
                  <a:t>, where </a:t>
                </a:r>
                <a:r>
                  <a:rPr lang="en-IN" sz="2400">
                    <a:solidFill>
                      <a:srgbClr val="111827"/>
                    </a:solidFill>
                    <a:latin typeface="Cambria Math" panose="02040503050406030204" pitchFamily="18" charset="0"/>
                  </a:rPr>
                  <a:t>$c_i$</a:t>
                </a:r>
                <a:r>
                  <a:rPr sz="2400" b="0">
                    <a:solidFill>
                      <a:srgbClr val="111827"/>
                    </a:solidFill>
                    <a:latin typeface="Arial"/>
                  </a:rPr>
                  <a:t> is the number of unused letters smaller than the </a:t>
                </a:r>
                <a:r>
                  <a:rPr lang="en-IN" sz="2400">
                    <a:solidFill>
                      <a:srgbClr val="111827"/>
                    </a:solidFill>
                    <a:latin typeface="Cambria Math" panose="02040503050406030204" pitchFamily="18" charset="0"/>
                  </a:rPr>
                  <a:t>$i$</a:t>
                </a:r>
                <a:r>
                  <a:rPr sz="2400" b="0">
                    <a:solidFill>
                      <a:srgbClr val="111827"/>
                    </a:solidFill>
                    <a:latin typeface="Arial"/>
                  </a:rPr>
                  <a:t>-th letter.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3-element A.P. subsets of </a:t>
                </a:r>
                <a:r>
                  <a:rPr lang="en-IN" sz="2400">
                    <a:solidFill>
                      <a:srgbClr val="111827"/>
                    </a:solidFill>
                    <a:latin typeface="Cambria Math" panose="02040503050406030204" pitchFamily="18" charset="0"/>
                  </a:rPr>
                  <a:t>$\{1,\dots,N\}$</a:t>
                </a:r>
                <a:r>
                  <a:rPr sz="2400" b="0">
                    <a:solidFill>
                      <a:srgbClr val="111827"/>
                    </a:solidFill>
                    <a:latin typeface="Arial"/>
                  </a:rPr>
                  <a:t> is </a:t>
                </a:r>
                <a:r>
                  <a:rPr lang="en-IN" sz="2400">
                    <a:solidFill>
                      <a:srgbClr val="111827"/>
                    </a:solidFill>
                    <a:latin typeface="Cambria Math" panose="02040503050406030204" pitchFamily="18" charset="0"/>
                  </a:rPr>
                  <a:t>$\left\lfloor\frac{(N-1)^2}{4}\right\rfloor$</a:t>
                </a:r>
                <a:r>
                  <a:rPr sz="2400" b="0">
                    <a:solidFill>
                      <a:srgbClr val="111827"/>
                    </a:solidFill>
                    <a:latin typeface="Arial"/>
                  </a:rPr>
                  <a:t> (</a:t>
                </a:r>
                <a:r>
                  <a:rPr lang="en-IN" sz="2400">
                    <a:solidFill>
                      <a:srgbClr val="111827"/>
                    </a:solidFill>
                    <a:latin typeface="Cambria Math" panose="02040503050406030204" pitchFamily="18" charset="0"/>
                  </a:rPr>
                  <a:t>$=2\binom{N/2}{2}$</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for </a:t>
                </a:r>
                <a:r>
                  <a:rPr lang="en-IN" sz="2400">
                    <a:solidFill>
                      <a:srgbClr val="111827"/>
                    </a:solidFill>
                    <a:latin typeface="Cambria Math" panose="02040503050406030204" pitchFamily="18" charset="0"/>
                  </a:rPr>
                  <a:t>$N=100$</a:t>
                </a:r>
                <a:r>
                  <a:rPr sz="2400" b="0">
                    <a:solidFill>
                      <a:srgbClr val="111827"/>
                    </a:solidFill>
                    <a:latin typeface="Arial"/>
                  </a:rPr>
                  <a:t> this is </a:t>
                </a:r>
                <a:r>
                  <a:rPr lang="en-IN" sz="2400">
                    <a:solidFill>
                      <a:srgbClr val="111827"/>
                    </a:solidFill>
                    <a:latin typeface="Cambria Math" panose="02040503050406030204" pitchFamily="18" charset="0"/>
                  </a:rPr>
                  <a:t>$2450$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$\{a,b,c\}$</a:t>
                </a:r>
                <a:r>
                  <a:rPr sz="2400" b="0">
                    <a:solidFill>
                      <a:srgbClr val="111827"/>
                    </a:solidFill>
                    <a:latin typeface="Arial"/>
                  </a:rPr>
                  <a:t> is an A.P. set iff the two extremes have the same parity, because the middle term is their mean.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SIKAR check: </a:t>
                </a:r>
                <a:r>
                  <a:rPr lang="en-IN" sz="2400">
                    <a:solidFill>
                      <a:srgbClr val="111827"/>
                    </a:solidFill>
                    <a:latin typeface="Cambria Math" panose="02040503050406030204" pitchFamily="18" charset="0"/>
                  </a:rPr>
                  <a:t>$\text{rank}=105$</a:t>
                </a:r>
                <a:r>
                  <a:rPr sz="2400" b="0">
                    <a:solidFill>
                      <a:srgbClr val="111827"/>
                    </a:solidFill>
                    <a:latin typeface="Arial"/>
                  </a:rPr>
                  <a:t> was confirmed by listing all </a:t>
                </a:r>
                <a:r>
                  <a:rPr lang="en-IN" sz="2400">
                    <a:solidFill>
                      <a:srgbClr val="111827"/>
                    </a:solidFill>
                    <a:latin typeface="Cambria Math" panose="02040503050406030204" pitchFamily="18" charset="0"/>
                  </a:rPr>
                  <a:t>$120$</a:t>
                </a:r>
                <a:r>
                  <a:rPr sz="2400" b="0">
                    <a:solidFill>
                      <a:srgbClr val="111827"/>
                    </a:solidFill>
                    <a:latin typeface="Arial"/>
                  </a:rPr>
                  <a:t> permutations in dictionary order.</a:t>
                </a:r>
                <a:endParaRPr sz="2400">
                  <a:solidFill>
                    <a:srgbClr val="111827"/>
                  </a:solidFill>
                </a:endParaRPr>
              </a:p>
            </p:txBody>
          </p:sp>
        </mc:Fallback>
      </mc:AlternateContent>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complex number satisfying the equation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(B) </a:t>
                </a:r>
                <a14:m>
                  <m:oMath xmlns:m="http://schemas.openxmlformats.org/officeDocument/2006/math">
                    <m:sSup>
                      <m:e>
                        <m:r>
                          <a:rPr lang="en-IN" sz="2400" i="1">
                            <a:solidFill>
                              <a:srgbClr val="111827"/>
                            </a:solidFill>
                            <a:latin typeface="Cambria Math" panose="02040503050406030204" pitchFamily="18" charset="0"/>
                          </a:rPr>
                          <m:t>25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(C) </a:t>
                </a:r>
                <a14:m>
                  <m:oMath xmlns:m="http://schemas.openxmlformats.org/officeDocument/2006/math">
                    <m:sSup>
                      <m:e>
                        <m:r>
                          <a:rPr lang="en-IN" sz="2400" i="1">
                            <a:solidFill>
                              <a:srgbClr val="111827"/>
                            </a:solidFill>
                            <a:latin typeface="Cambria Math" panose="02040503050406030204" pitchFamily="18" charset="0"/>
                          </a:rPr>
                          <m:t>125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625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a:t>
                </a:r>
                <a:r>
                  <a:rPr sz="2400" b="0">
                    <a:solidFill>
                      <a:srgbClr val="111827"/>
                    </a:solidFill>
                    <a:latin typeface="Arial"/>
                  </a:rPr>
                  <a:t> is a complex number satisfying the equation </a:t>
                </a:r>
                <a:r>
                  <a:rPr lang="en-IN" sz="2400">
                    <a:solidFill>
                      <a:srgbClr val="111827"/>
                    </a:solidFill>
                    <a:latin typeface="Cambria Math" panose="02040503050406030204" pitchFamily="18" charset="0"/>
                  </a:rPr>
                  <a:t>$z^6-6z^3+25=0$</a:t>
                </a:r>
                <a:r>
                  <a:rPr sz="2400" b="0">
                    <a:solidFill>
                      <a:srgbClr val="111827"/>
                    </a:solidFill>
                    <a:latin typeface="Arial"/>
                  </a:rPr>
                  <a:t>, then the value of </a:t>
                </a:r>
                <a:r>
                  <a:rPr lang="en-IN" sz="2400">
                    <a:solidFill>
                      <a:srgbClr val="111827"/>
                    </a:solidFill>
                    <a:latin typeface="Cambria Math" panose="02040503050406030204" pitchFamily="18" charset="0"/>
                  </a:rPr>
                  <a:t>$|z|$</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$5^{1/3}$</a:t>
                </a:r>
                <a:r>
                  <a:rPr sz="2400" b="0">
                    <a:solidFill>
                      <a:srgbClr val="111827"/>
                    </a:solidFill>
                    <a:latin typeface="Arial"/>
                  </a:rPr>
                  <a:t>   (B) </a:t>
                </a:r>
                <a:r>
                  <a:rPr lang="en-IN" sz="2400">
                    <a:solidFill>
                      <a:srgbClr val="111827"/>
                    </a:solidFill>
                    <a:latin typeface="Cambria Math" panose="02040503050406030204" pitchFamily="18" charset="0"/>
                  </a:rPr>
                  <a:t>$25^{1/3}$</a:t>
                </a:r>
                <a:r>
                  <a:rPr sz="2400" b="0">
                    <a:solidFill>
                      <a:srgbClr val="111827"/>
                    </a:solidFill>
                    <a:latin typeface="Arial"/>
                  </a:rPr>
                  <a:t>   (C) </a:t>
                </a:r>
                <a:r>
                  <a:rPr lang="en-IN" sz="2400">
                    <a:solidFill>
                      <a:srgbClr val="111827"/>
                    </a:solidFill>
                    <a:latin typeface="Cambria Math" panose="02040503050406030204" pitchFamily="18" charset="0"/>
                  </a:rPr>
                  <a:t>$125^{1/3}$</a:t>
                </a:r>
                <a:r>
                  <a:rPr sz="2400" b="0">
                    <a:solidFill>
                      <a:srgbClr val="111827"/>
                    </a:solidFill>
                    <a:latin typeface="Arial"/>
                  </a:rPr>
                  <a:t>   (D) </a:t>
                </a:r>
                <a:r>
                  <a:rPr lang="en-IN" sz="2400">
                    <a:solidFill>
                      <a:srgbClr val="111827"/>
                    </a:solidFill>
                    <a:latin typeface="Cambria Math" panose="02040503050406030204" pitchFamily="18" charset="0"/>
                  </a:rPr>
                  <a:t>$625^{1/3}$</a:t>
                </a:r>
                <a:endParaRPr sz="2400">
                  <a:solidFill>
                    <a:srgbClr val="111827"/>
                  </a:solidFill>
                </a:endParaRPr>
              </a:p>
            </p:txBody>
          </p:sp>
        </mc:Fallback>
      </mc:AlternateContent>
      <p:sp>
        <p:nvSpPr>
          <p:cNvPr id="5" name="Rectangle 4"/>
          <p:cNvSpPr/>
          <p:nvPr/>
        </p:nvSpPr>
        <p:spPr>
          <a:xfrm>
            <a:off x="731520" y="3580383"/>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and equations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Substitute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3</m:t>
                        </m:r>
                      </m:sup>
                    </m:sSup>
                  </m:oMath>
                </a14:m>
                <a:r>
                  <a:rPr sz="2400" b="0">
                    <a:solidFill>
                      <a:srgbClr val="78350F"/>
                    </a:solidFill>
                    <a:latin typeface="Arial"/>
                  </a:rPr>
                  <a:t>: the quadratic in </a:t>
                </a:r>
                <a14:m>
                  <m:oMath xmlns:m="http://schemas.openxmlformats.org/officeDocument/2006/math">
                    <m:r>
                      <a:rPr lang="en-IN" sz="2400" i="1">
                        <a:solidFill>
                          <a:srgbClr val="78350F"/>
                        </a:solidFill>
                        <a:latin typeface="Cambria Math" panose="02040503050406030204" pitchFamily="18" charset="0"/>
                      </a:rPr>
                      <m:t>𝑡</m:t>
                    </m:r>
                  </m:oMath>
                </a14:m>
                <a:r>
                  <a:rPr sz="2400" b="0">
                    <a:solidFill>
                      <a:srgbClr val="78350F"/>
                    </a:solidFill>
                    <a:latin typeface="Arial"/>
                  </a:rPr>
                  <a:t> has conjugate complex roots, so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25</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Substitute </a:t>
                </a:r>
                <a:r>
                  <a:rPr lang="en-IN" sz="2400">
                    <a:solidFill>
                      <a:srgbClr val="78350F"/>
                    </a:solidFill>
                    <a:latin typeface="Cambria Math" panose="02040503050406030204" pitchFamily="18" charset="0"/>
                  </a:rPr>
                  <a:t>$t=z^3$</a:t>
                </a:r>
                <a:r>
                  <a:rPr sz="2400" b="0">
                    <a:solidFill>
                      <a:srgbClr val="78350F"/>
                    </a:solidFill>
                    <a:latin typeface="Arial"/>
                  </a:rPr>
                  <a:t>: the quadratic in </a:t>
                </a:r>
                <a:r>
                  <a:rPr lang="en-IN" sz="2400">
                    <a:solidFill>
                      <a:srgbClr val="78350F"/>
                    </a:solidFill>
                    <a:latin typeface="Cambria Math" panose="02040503050406030204" pitchFamily="18" charset="0"/>
                  </a:rPr>
                  <a:t>$t$</a:t>
                </a:r>
                <a:r>
                  <a:rPr sz="2400" b="0">
                    <a:solidFill>
                      <a:srgbClr val="78350F"/>
                    </a:solidFill>
                    <a:latin typeface="Arial"/>
                  </a:rPr>
                  <a:t> has conjugate complex roots, so </a:t>
                </a:r>
                <a:r>
                  <a:rPr lang="en-IN" sz="2400">
                    <a:solidFill>
                      <a:srgbClr val="78350F"/>
                    </a:solidFill>
                    <a:latin typeface="Cambria Math" panose="02040503050406030204" pitchFamily="18" charset="0"/>
                  </a:rPr>
                  <a:t>$|t|^2=25$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The equation becomes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moduli: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$z^3=t$</a:t>
                </a:r>
                <a:r>
                  <a:rPr sz="2400" b="0">
                    <a:solidFill>
                      <a:srgbClr val="111827"/>
                    </a:solidFill>
                    <a:latin typeface="Arial"/>
                  </a:rPr>
                  <a:t>. The equation becomes </a:t>
                </a:r>
                <a:r>
                  <a:rPr lang="en-IN" sz="2400">
                    <a:solidFill>
                      <a:srgbClr val="111827"/>
                    </a:solidFill>
                    <a:latin typeface="Cambria Math" panose="02040503050406030204" pitchFamily="18" charset="0"/>
                  </a:rPr>
                  <a:t>$t^2-6t+25=0$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$t=\frac{6\pm\sqrt{36-100}}{2}=\frac{6\pm\sqrt{-64}}{2}$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$t=3\pm4i$</a:t>
                </a:r>
                <a:r>
                  <a:rPr sz="2400" b="0">
                    <a:solidFill>
                      <a:srgbClr val="111827"/>
                    </a:solidFill>
                    <a:latin typeface="Arial"/>
                  </a:rPr>
                  <a:t>, i.e. </a:t>
                </a:r>
                <a:r>
                  <a:rPr lang="en-IN" sz="2400">
                    <a:solidFill>
                      <a:srgbClr val="111827"/>
                    </a:solidFill>
                    <a:latin typeface="Cambria Math" panose="02040503050406030204" pitchFamily="18" charset="0"/>
                  </a:rPr>
                  <a:t>$z^3=3\pm4i$</a:t>
                </a:r>
                <a:r>
                  <a:rPr sz="2400" b="0">
                    <a:solidFill>
                      <a:srgbClr val="111827"/>
                    </a:solidFill>
                    <a:latin typeface="Arial"/>
                  </a:rPr>
                  <a:t> and </a:t>
                </a:r>
                <a:r>
                  <a:rPr lang="en-IN" sz="2400">
                    <a:solidFill>
                      <a:srgbClr val="111827"/>
                    </a:solidFill>
                    <a:latin typeface="Cambria Math" panose="02040503050406030204" pitchFamily="18" charset="0"/>
                  </a:rPr>
                  <a:t>$z=(3\pm4i)^{1/3}$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moduli: </a:t>
                </a:r>
                <a:r>
                  <a:rPr lang="en-IN" sz="2400">
                    <a:solidFill>
                      <a:srgbClr val="111827"/>
                    </a:solidFill>
                    <a:latin typeface="Cambria Math" panose="02040503050406030204" pitchFamily="18" charset="0"/>
                  </a:rPr>
                  <a:t>$|z|=|3\pm4i|^{1/3}$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$|3\pm4i|=\sqrt{9+16}=5$</a:t>
                </a:r>
                <a:r>
                  <a:rPr sz="2400" b="0">
                    <a:solidFill>
                      <a:srgbClr val="111827"/>
                    </a:solidFill>
                    <a:latin typeface="Arial"/>
                  </a:rPr>
                  <a:t>, so </a:t>
                </a:r>
                <a:r>
                  <a:rPr lang="en-IN" sz="2400">
                    <a:solidFill>
                      <a:srgbClr val="111827"/>
                    </a:solidFill>
                    <a:latin typeface="Cambria Math" panose="02040503050406030204" pitchFamily="18" charset="0"/>
                  </a:rPr>
                  <a:t>$|z|=5^{1/3}$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sSup>
                      <m:e>
                        <m:r>
                          <a:rPr lang="en-IN" sz="2800" i="1">
                            <a:solidFill>
                              <a:srgbClr val="15803D"/>
                            </a:solidFill>
                            <a:latin typeface="Cambria Math" panose="02040503050406030204" pitchFamily="18" charset="0"/>
                          </a:rPr>
                          <m:t>5</m:t>
                        </m:r>
                      </m:e>
                      <m:sup>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$5^{1/3}$</a:t>
                </a:r>
                <a:endParaRPr sz="2800">
                  <a:solidFill>
                    <a:srgbClr val="15803D"/>
                  </a:solidFill>
                </a:endParaRPr>
              </a:p>
            </p:txBody>
          </p:sp>
        </mc:Fallback>
      </mc:AlternateContent>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roots in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3</m:t>
                        </m:r>
                      </m:sup>
                    </m:sSup>
                  </m:oMath>
                </a14:m>
                <a:r>
                  <a:rPr sz="2400" b="0">
                    <a:solidFill>
                      <a:srgbClr val="78350F"/>
                    </a:solidFill>
                    <a:latin typeface="Arial"/>
                  </a:rPr>
                  <a:t> are complex conjugates, so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is their product, read directly from the constant term.</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roots in </a:t>
                </a:r>
                <a:r>
                  <a:rPr lang="en-IN" sz="2400">
                    <a:solidFill>
                      <a:srgbClr val="78350F"/>
                    </a:solidFill>
                    <a:latin typeface="Cambria Math" panose="02040503050406030204" pitchFamily="18" charset="0"/>
                  </a:rPr>
                  <a:t>$t=z^3$</a:t>
                </a:r>
                <a:r>
                  <a:rPr sz="2400" b="0">
                    <a:solidFill>
                      <a:srgbClr val="78350F"/>
                    </a:solidFill>
                    <a:latin typeface="Arial"/>
                  </a:rPr>
                  <a:t> are complex conjugates, so </a:t>
                </a:r>
                <a:r>
                  <a:rPr lang="en-IN" sz="2400">
                    <a:solidFill>
                      <a:srgbClr val="78350F"/>
                    </a:solidFill>
                    <a:latin typeface="Cambria Math" panose="02040503050406030204" pitchFamily="18" charset="0"/>
                  </a:rPr>
                  <a:t>$|t|^2$</a:t>
                </a:r>
                <a:r>
                  <a:rPr sz="2400" b="0">
                    <a:solidFill>
                      <a:srgbClr val="78350F"/>
                    </a:solidFill>
                    <a:latin typeface="Arial"/>
                  </a:rPr>
                  <a:t> is their product, read directly from the constant term.</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the real quadratic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negative discriminant (</a:t>
                </a:r>
                <a14:m>
                  <m:oMath xmlns:m="http://schemas.openxmlformats.org/officeDocument/2006/math">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so its roots are conjugates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𝑡</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of roots: </a:t>
                </a:r>
                <a14:m>
                  <m:oMath xmlns:m="http://schemas.openxmlformats.org/officeDocument/2006/math">
                    <m:r>
                      <a:rPr lang="en-IN" sz="2400" i="1">
                        <a:solidFill>
                          <a:srgbClr val="111827"/>
                        </a:solidFill>
                        <a:latin typeface="Cambria Math" panose="02040503050406030204" pitchFamily="18" charset="0"/>
                      </a:rPr>
                      <m:t>𝑡</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𝑡</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$t=z^3$</a:t>
                </a:r>
                <a:r>
                  <a:rPr sz="2400" b="0">
                    <a:solidFill>
                      <a:srgbClr val="111827"/>
                    </a:solidFill>
                    <a:latin typeface="Arial"/>
                  </a:rPr>
                  <a:t>, the real quadratic </a:t>
                </a:r>
                <a:r>
                  <a:rPr lang="en-IN" sz="2400">
                    <a:solidFill>
                      <a:srgbClr val="111827"/>
                    </a:solidFill>
                    <a:latin typeface="Cambria Math" panose="02040503050406030204" pitchFamily="18" charset="0"/>
                  </a:rPr>
                  <a:t>$t^2-6t+25=0$</a:t>
                </a:r>
                <a:r>
                  <a:rPr sz="2400" b="0">
                    <a:solidFill>
                      <a:srgbClr val="111827"/>
                    </a:solidFill>
                    <a:latin typeface="Arial"/>
                  </a:rPr>
                  <a:t> has negative discriminant (</a:t>
                </a:r>
                <a:r>
                  <a:rPr lang="en-IN" sz="2400">
                    <a:solidFill>
                      <a:srgbClr val="111827"/>
                    </a:solidFill>
                    <a:latin typeface="Cambria Math" panose="02040503050406030204" pitchFamily="18" charset="0"/>
                  </a:rPr>
                  <a:t>$36-100&lt;0$</a:t>
                </a:r>
                <a:r>
                  <a:rPr sz="2400" b="0">
                    <a:solidFill>
                      <a:srgbClr val="111827"/>
                    </a:solidFill>
                    <a:latin typeface="Arial"/>
                  </a:rPr>
                  <a:t>), so its roots are conjugates </a:t>
                </a:r>
                <a:r>
                  <a:rPr lang="en-IN" sz="2400">
                    <a:solidFill>
                      <a:srgbClr val="111827"/>
                    </a:solidFill>
                    <a:latin typeface="Cambria Math" panose="02040503050406030204" pitchFamily="18" charset="0"/>
                  </a:rPr>
                  <a:t>$t,\bar 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of roots: </a:t>
                </a:r>
                <a:r>
                  <a:rPr lang="en-IN" sz="2400">
                    <a:solidFill>
                      <a:srgbClr val="111827"/>
                    </a:solidFill>
                    <a:latin typeface="Cambria Math" panose="02040503050406030204" pitchFamily="18" charset="0"/>
                  </a:rPr>
                  <a:t>$t\bar t=|t|^2=25$</a:t>
                </a:r>
                <a:r>
                  <a:rPr sz="2400" b="0">
                    <a:solidFill>
                      <a:srgbClr val="111827"/>
                    </a:solidFill>
                    <a:latin typeface="Arial"/>
                  </a:rPr>
                  <a:t>, so </a:t>
                </a:r>
                <a:r>
                  <a:rPr lang="en-IN" sz="2400">
                    <a:solidFill>
                      <a:srgbClr val="111827"/>
                    </a:solidFill>
                    <a:latin typeface="Cambria Math" panose="02040503050406030204" pitchFamily="18" charset="0"/>
                  </a:rPr>
                  <a:t>$|t|=5$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$|z|^3=|t|=5$</a:t>
                </a:r>
                <a:r>
                  <a:rPr sz="2400" b="0">
                    <a:solidFill>
                      <a:srgbClr val="111827"/>
                    </a:solidFill>
                    <a:latin typeface="Arial"/>
                  </a:rPr>
                  <a:t> and </a:t>
                </a:r>
                <a:r>
                  <a:rPr lang="en-IN" sz="2400">
                    <a:solidFill>
                      <a:srgbClr val="111827"/>
                    </a:solidFill>
                    <a:latin typeface="Cambria Math" panose="02040503050406030204" pitchFamily="18" charset="0"/>
                  </a:rPr>
                  <a:t>$|z|=5^{1/3}$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sSup>
                      <m:e>
                        <m:r>
                          <a:rPr lang="en-IN" sz="2800" i="1">
                            <a:solidFill>
                              <a:srgbClr val="15803D"/>
                            </a:solidFill>
                            <a:latin typeface="Cambria Math" panose="02040503050406030204" pitchFamily="18" charset="0"/>
                          </a:rPr>
                          <m:t>5</m:t>
                        </m:r>
                      </m:e>
                      <m:sup>
                        <m:r>
                          <a:rPr lang="en-IN" sz="2800" i="1">
                            <a:solidFill>
                              <a:srgbClr val="15803D"/>
                            </a:solidFill>
                            <a:latin typeface="Cambria Math" panose="02040503050406030204" pitchFamily="18" charset="0"/>
                          </a:rPr>
                          <m:t>1</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m:t>
                        </m:r>
                      </m:sup>
                    </m:sSup>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$5^{1/3}$</a:t>
                </a:r>
                <a:endParaRPr sz="2800">
                  <a:solidFill>
                    <a:srgbClr val="15803D"/>
                  </a:solidFill>
                </a:endParaRPr>
              </a:p>
            </p:txBody>
          </p:sp>
        </mc:Fallback>
      </mc:AlternateContent>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real quadratic with negative discriminant has conjugate roots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𝑡</m:t>
                        </m:r>
                      </m:e>
                    </m:acc>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nor/>
                          </m:rPr>
                          <a:rPr lang="en-IN" sz="2400" i="1">
                            <a:solidFill>
                              <a:srgbClr val="111827"/>
                            </a:solidFill>
                            <a:latin typeface="Cambria Math" panose="02040503050406030204" pitchFamily="18" charset="0"/>
                          </a:rPr>
                          <m:t>𝑝𝑟𝑜𝑑𝑢𝑐𝑡 𝑜𝑓 𝑟𝑜𝑜𝑡𝑠</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e>
                    </m:rad>
                  </m:oMath>
                </a14:m>
                <a:r>
                  <a:rPr sz="2400" b="0">
                    <a:solidFill>
                      <a:srgbClr val="111827"/>
                    </a:solidFill>
                    <a:latin typeface="Arial"/>
                  </a:rPr>
                  <a:t> (here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so equations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𝑐</m:t>
                    </m:r>
                  </m:oMath>
                </a14:m>
                <a:r>
                  <a:rPr sz="2400" b="0">
                    <a:solidFill>
                      <a:srgbClr val="111827"/>
                    </a:solidFill>
                    <a:latin typeface="Arial"/>
                  </a:rPr>
                  <a:t> give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𝑐</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(here </a:t>
                </a:r>
                <a14:m>
                  <m:oMath xmlns:m="http://schemas.openxmlformats.org/officeDocument/2006/math">
                    <m:sSup>
                      <m:e>
                        <m:r>
                          <a:rPr lang="en-IN" sz="2400" i="1">
                            <a:solidFill>
                              <a:srgbClr val="111827"/>
                            </a:solidFill>
                            <a:latin typeface="Cambria Math" panose="02040503050406030204" pitchFamily="18" charset="0"/>
                          </a:rPr>
                          <m:t>25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satisfies the equation.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real quadratic with negative discriminant has conjugate roots </a:t>
                </a:r>
                <a:r>
                  <a:rPr lang="en-IN" sz="2400">
                    <a:solidFill>
                      <a:srgbClr val="111827"/>
                    </a:solidFill>
                    <a:latin typeface="Cambria Math" panose="02040503050406030204" pitchFamily="18" charset="0"/>
                  </a:rPr>
                  <a:t>$t,\bar t$</a:t>
                </a:r>
                <a:r>
                  <a:rPr sz="2400" b="0">
                    <a:solidFill>
                      <a:srgbClr val="111827"/>
                    </a:solidFill>
                    <a:latin typeface="Arial"/>
                  </a:rPr>
                  <a:t>, so </a:t>
                </a:r>
                <a:r>
                  <a:rPr lang="en-IN" sz="2400">
                    <a:solidFill>
                      <a:srgbClr val="111827"/>
                    </a:solidFill>
                    <a:latin typeface="Cambria Math" panose="02040503050406030204" pitchFamily="18" charset="0"/>
                  </a:rPr>
                  <a:t>$|t|=\sqrt{\text{product of roots}}=\sqrt{c/a}$</a:t>
                </a:r>
                <a:r>
                  <a:rPr sz="2400" b="0">
                    <a:solidFill>
                      <a:srgbClr val="111827"/>
                    </a:solidFill>
                    <a:latin typeface="Arial"/>
                  </a:rPr>
                  <a:t> (here </a:t>
                </a:r>
                <a:r>
                  <a:rPr lang="en-IN" sz="2400">
                    <a:solidFill>
                      <a:srgbClr val="111827"/>
                    </a:solidFill>
                    <a:latin typeface="Cambria Math" panose="02040503050406030204" pitchFamily="18" charset="0"/>
                  </a:rPr>
                  <a:t>$\sqrt{25}=5$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$|z^n|=|z|^n$</a:t>
                </a:r>
                <a:r>
                  <a:rPr sz="2400" b="0">
                    <a:solidFill>
                      <a:srgbClr val="111827"/>
                    </a:solidFill>
                    <a:latin typeface="Arial"/>
                  </a:rPr>
                  <a:t>, so equations </a:t>
                </a:r>
                <a:r>
                  <a:rPr lang="en-IN" sz="2400">
                    <a:solidFill>
                      <a:srgbClr val="111827"/>
                    </a:solidFill>
                    <a:latin typeface="Cambria Math" panose="02040503050406030204" pitchFamily="18" charset="0"/>
                  </a:rPr>
                  <a:t>$z^{2n}+bz^n+c=0$</a:t>
                </a:r>
                <a:r>
                  <a:rPr sz="2400" b="0">
                    <a:solidFill>
                      <a:srgbClr val="111827"/>
                    </a:solidFill>
                    <a:latin typeface="Arial"/>
                  </a:rPr>
                  <a:t> with </a:t>
                </a:r>
                <a:r>
                  <a:rPr lang="en-IN" sz="2400">
                    <a:solidFill>
                      <a:srgbClr val="111827"/>
                    </a:solidFill>
                    <a:latin typeface="Cambria Math" panose="02040503050406030204" pitchFamily="18" charset="0"/>
                  </a:rPr>
                  <a:t>$b^2&lt;4c$</a:t>
                </a:r>
                <a:r>
                  <a:rPr sz="2400" b="0">
                    <a:solidFill>
                      <a:srgbClr val="111827"/>
                    </a:solidFill>
                    <a:latin typeface="Arial"/>
                  </a:rPr>
                  <a:t> give </a:t>
                </a:r>
                <a:r>
                  <a:rPr lang="en-IN" sz="2400">
                    <a:solidFill>
                      <a:srgbClr val="111827"/>
                    </a:solidFill>
                    <a:latin typeface="Cambria Math" panose="02040503050406030204" pitchFamily="18" charset="0"/>
                  </a:rPr>
                  <a:t>$|z|=c^{1/(2n)}$</a:t>
                </a:r>
                <a:r>
                  <a:rPr sz="2400" b="0">
                    <a:solidFill>
                      <a:srgbClr val="111827"/>
                    </a:solidFill>
                    <a:latin typeface="Arial"/>
                  </a:rPr>
                  <a:t> (here </a:t>
                </a:r>
                <a:r>
                  <a:rPr lang="en-IN" sz="2400">
                    <a:solidFill>
                      <a:srgbClr val="111827"/>
                    </a:solidFill>
                    <a:latin typeface="Cambria Math" panose="02040503050406030204" pitchFamily="18" charset="0"/>
                  </a:rPr>
                  <a:t>$25^{1/6}=5^{1/3}$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$z=5^{1/3}e^{i\theta}$</a:t>
                </a:r>
                <a:r>
                  <a:rPr sz="2400" b="0">
                    <a:solidFill>
                      <a:srgbClr val="111827"/>
                    </a:solidFill>
                    <a:latin typeface="Arial"/>
                  </a:rPr>
                  <a:t> with </a:t>
                </a:r>
                <a:r>
                  <a:rPr lang="en-IN" sz="2400">
                    <a:solidFill>
                      <a:srgbClr val="111827"/>
                    </a:solidFill>
                    <a:latin typeface="Cambria Math" panose="02040503050406030204" pitchFamily="18" charset="0"/>
                  </a:rPr>
                  <a:t>$\cos3\theta=\frac35$</a:t>
                </a:r>
                <a:r>
                  <a:rPr sz="2400" b="0">
                    <a:solidFill>
                      <a:srgbClr val="111827"/>
                    </a:solidFill>
                    <a:latin typeface="Arial"/>
                  </a:rPr>
                  <a:t> satisfies the equation.</a:t>
                </a:r>
                <a:endParaRPr sz="2400">
                  <a:solidFill>
                    <a:srgbClr val="111827"/>
                  </a:solidFill>
                </a:endParaRPr>
              </a:p>
            </p:txBody>
          </p:sp>
        </mc:Fallback>
      </mc:AlternateContent>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complex number such that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0</m:t>
                    </m:r>
                  </m:oMath>
                </a14:m>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a:t>
                </a:r>
                <a:r>
                  <a:rPr sz="2400" b="0">
                    <a:solidFill>
                      <a:srgbClr val="111827"/>
                    </a:solidFill>
                    <a:latin typeface="Arial"/>
                  </a:rPr>
                  <a:t> is a complex number such that </a:t>
                </a:r>
                <a:r>
                  <a:rPr lang="en-IN" sz="2400">
                    <a:solidFill>
                      <a:srgbClr val="111827"/>
                    </a:solidFill>
                    <a:latin typeface="Cambria Math" panose="02040503050406030204" pitchFamily="18" charset="0"/>
                  </a:rPr>
                  <a:t>$z+i|z|=i\bar z+1$</a:t>
                </a:r>
                <a:r>
                  <a:rPr sz="2400" b="0">
                    <a:solidFill>
                      <a:srgbClr val="111827"/>
                    </a:solidFill>
                    <a:latin typeface="Arial"/>
                  </a:rPr>
                  <a:t>, then </a:t>
                </a:r>
                <a:r>
                  <a:rPr lang="en-IN" sz="2400">
                    <a:solidFill>
                      <a:srgbClr val="111827"/>
                    </a:solidFill>
                    <a:latin typeface="Cambria Math" panose="02040503050406030204" pitchFamily="18" charset="0"/>
                  </a:rPr>
                  <a:t>$|z|$</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$4$</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$1$</a:t>
                </a:r>
                <a:r>
                  <a:rPr sz="2400" b="0">
                    <a:solidFill>
                      <a:srgbClr val="111827"/>
                    </a:solidFill>
                    <a:latin typeface="Arial"/>
                  </a:rPr>
                  <a:t>   (D) </a:t>
                </a:r>
                <a:r>
                  <a:rPr lang="en-IN" sz="2400">
                    <a:solidFill>
                      <a:srgbClr val="111827"/>
                    </a:solidFill>
                    <a:latin typeface="Cambria Math" panose="02040503050406030204" pitchFamily="18" charset="0"/>
                  </a:rPr>
                  <a:t>$0$</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and conjugate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Writing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𝑦</m:t>
                    </m:r>
                  </m:oMath>
                </a14:m>
                <a:r>
                  <a:rPr sz="2400" b="0">
                    <a:solidFill>
                      <a:srgbClr val="78350F"/>
                    </a:solidFill>
                    <a:latin typeface="Arial"/>
                  </a:rPr>
                  <a:t>, the real and imaginary parts give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once.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Writing </a:t>
                </a:r>
                <a:r>
                  <a:rPr lang="en-IN" sz="2400">
                    <a:solidFill>
                      <a:srgbClr val="78350F"/>
                    </a:solidFill>
                    <a:latin typeface="Cambria Math" panose="02040503050406030204" pitchFamily="18" charset="0"/>
                  </a:rPr>
                  <a:t>$z=x+iy$</a:t>
                </a:r>
                <a:r>
                  <a:rPr sz="2400" b="0">
                    <a:solidFill>
                      <a:srgbClr val="78350F"/>
                    </a:solidFill>
                    <a:latin typeface="Arial"/>
                  </a:rPr>
                  <a:t>, the real and imaginary parts give </a:t>
                </a:r>
                <a:r>
                  <a:rPr lang="en-IN" sz="2400">
                    <a:solidFill>
                      <a:srgbClr val="78350F"/>
                    </a:solidFill>
                    <a:latin typeface="Cambria Math" panose="02040503050406030204" pitchFamily="18" charset="0"/>
                  </a:rPr>
                  <a:t>$x-y=1$</a:t>
                </a:r>
                <a:r>
                  <a:rPr sz="2400" b="0">
                    <a:solidFill>
                      <a:srgbClr val="78350F"/>
                    </a:solidFill>
                    <a:latin typeface="Arial"/>
                  </a:rPr>
                  <a:t> and </a:t>
                </a:r>
                <a:r>
                  <a:rPr lang="en-IN" sz="2400">
                    <a:solidFill>
                      <a:srgbClr val="78350F"/>
                    </a:solidFill>
                    <a:latin typeface="Cambria Math" panose="02040503050406030204" pitchFamily="18" charset="0"/>
                  </a:rPr>
                  <a:t>$x-y=|z|$</a:t>
                </a:r>
                <a:r>
                  <a:rPr sz="2400" b="0">
                    <a:solidFill>
                      <a:srgbClr val="78350F"/>
                    </a:solidFill>
                    <a:latin typeface="Arial"/>
                  </a:rPr>
                  <a:t> at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equation becomes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real parts: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Equate imaginary parts: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$z=x+iy$</a:t>
                </a:r>
                <a:r>
                  <a:rPr sz="2400" b="0">
                    <a:solidFill>
                      <a:srgbClr val="111827"/>
                    </a:solidFill>
                    <a:latin typeface="Arial"/>
                  </a:rPr>
                  <a:t>, so </a:t>
                </a:r>
                <a:r>
                  <a:rPr lang="en-IN" sz="2400">
                    <a:solidFill>
                      <a:srgbClr val="111827"/>
                    </a:solidFill>
                    <a:latin typeface="Cambria Math" panose="02040503050406030204" pitchFamily="18" charset="0"/>
                  </a:rPr>
                  <a:t>$\bar z=x-iy$</a:t>
                </a:r>
                <a:r>
                  <a:rPr sz="2400" b="0">
                    <a:solidFill>
                      <a:srgbClr val="111827"/>
                    </a:solidFill>
                    <a:latin typeface="Arial"/>
                  </a:rPr>
                  <a:t> and </a:t>
                </a:r>
                <a:r>
                  <a:rPr lang="en-IN" sz="2400">
                    <a:solidFill>
                      <a:srgbClr val="111827"/>
                    </a:solidFill>
                    <a:latin typeface="Cambria Math" panose="02040503050406030204" pitchFamily="18" charset="0"/>
                  </a:rPr>
                  <a:t>$i\bar z=y+ix$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equation becomes </a:t>
                </a:r>
                <a:r>
                  <a:rPr lang="en-IN" sz="2400">
                    <a:solidFill>
                      <a:srgbClr val="111827"/>
                    </a:solidFill>
                    <a:latin typeface="Cambria Math" panose="02040503050406030204" pitchFamily="18" charset="0"/>
                  </a:rPr>
                  <a:t>$(x+iy)+i|z|=i(x-iy)+1$</a:t>
                </a:r>
                <a:r>
                  <a:rPr sz="2400" b="0">
                    <a:solidFill>
                      <a:srgbClr val="111827"/>
                    </a:solidFill>
                    <a:latin typeface="Arial"/>
                  </a:rPr>
                  <a:t>, i.e. </a:t>
                </a:r>
                <a:r>
                  <a:rPr lang="en-IN" sz="2400">
                    <a:solidFill>
                      <a:srgbClr val="111827"/>
                    </a:solidFill>
                    <a:latin typeface="Cambria Math" panose="02040503050406030204" pitchFamily="18" charset="0"/>
                  </a:rPr>
                  <a:t>$x+i(y+|z|)=(y+1)+ix$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real parts: </a:t>
                </a:r>
                <a:r>
                  <a:rPr lang="en-IN" sz="2400">
                    <a:solidFill>
                      <a:srgbClr val="111827"/>
                    </a:solidFill>
                    <a:latin typeface="Cambria Math" panose="02040503050406030204" pitchFamily="18" charset="0"/>
                  </a:rPr>
                  <a:t>$x=y+1$</a:t>
                </a:r>
                <a:r>
                  <a:rPr sz="2400" b="0">
                    <a:solidFill>
                      <a:srgbClr val="111827"/>
                    </a:solidFill>
                    <a:latin typeface="Arial"/>
                  </a:rPr>
                  <a:t>. Equate imaginary parts: </a:t>
                </a:r>
                <a:r>
                  <a:rPr lang="en-IN" sz="2400">
                    <a:solidFill>
                      <a:srgbClr val="111827"/>
                    </a:solidFill>
                    <a:latin typeface="Cambria Math" panose="02040503050406030204" pitchFamily="18" charset="0"/>
                  </a:rPr>
                  <a:t>$y+|z|=x$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$x-y=1$</a:t>
                </a:r>
                <a:r>
                  <a:rPr sz="2400" b="0">
                    <a:solidFill>
                      <a:srgbClr val="111827"/>
                    </a:solidFill>
                    <a:latin typeface="Arial"/>
                  </a:rPr>
                  <a:t> and </a:t>
                </a:r>
                <a:r>
                  <a:rPr lang="en-IN" sz="2400">
                    <a:solidFill>
                      <a:srgbClr val="111827"/>
                    </a:solidFill>
                    <a:latin typeface="Cambria Math" panose="02040503050406030204" pitchFamily="18" charset="0"/>
                  </a:rPr>
                  <a:t>$x-y=|z|$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$|z|=1$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1</a:t>
            </a:r>
            <a:endParaRPr sz="2800">
              <a:solidFill>
                <a:srgbClr val="15803D"/>
              </a:solidFill>
            </a:endParaRP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oMath>
                </a14:m>
                <a:r>
                  <a:rPr sz="2400" b="0">
                    <a:solidFill>
                      <a:srgbClr val="78350F"/>
                    </a:solidFill>
                    <a:latin typeface="Arial"/>
                  </a:rPr>
                  <a:t> is always a real multiple of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must be one too.</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lang="en-IN" sz="2400">
                    <a:solidFill>
                      <a:srgbClr val="78350F"/>
                    </a:solidFill>
                    <a:latin typeface="Cambria Math" panose="02040503050406030204" pitchFamily="18" charset="0"/>
                  </a:rPr>
                  <a:t>$z-i\bar z$</a:t>
                </a:r>
                <a:r>
                  <a:rPr sz="2400" b="0">
                    <a:solidFill>
                      <a:srgbClr val="78350F"/>
                    </a:solidFill>
                    <a:latin typeface="Arial"/>
                  </a:rPr>
                  <a:t> is always a real multiple of </a:t>
                </a:r>
                <a:r>
                  <a:rPr lang="en-IN" sz="2400">
                    <a:solidFill>
                      <a:srgbClr val="78350F"/>
                    </a:solidFill>
                    <a:latin typeface="Cambria Math" panose="02040503050406030204" pitchFamily="18" charset="0"/>
                  </a:rPr>
                  <a:t>$1-i$</a:t>
                </a:r>
                <a:r>
                  <a:rPr sz="2400" b="0">
                    <a:solidFill>
                      <a:srgbClr val="78350F"/>
                    </a:solidFill>
                    <a:latin typeface="Arial"/>
                  </a:rPr>
                  <a:t>, so </a:t>
                </a:r>
                <a:r>
                  <a:rPr lang="en-IN" sz="2400">
                    <a:solidFill>
                      <a:srgbClr val="78350F"/>
                    </a:solidFill>
                    <a:latin typeface="Cambria Math" panose="02040503050406030204" pitchFamily="18" charset="0"/>
                  </a:rPr>
                  <a:t>$1-i|z|$</a:t>
                </a:r>
                <a:r>
                  <a:rPr sz="2400" b="0">
                    <a:solidFill>
                      <a:srgbClr val="78350F"/>
                    </a:solidFill>
                    <a:latin typeface="Arial"/>
                  </a:rPr>
                  <a:t> must be one too.</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Rearrange: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real multiple of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must be a real multiple of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forces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Rearrange: </a:t>
                </a:r>
                <a:r>
                  <a:rPr lang="en-IN" sz="2400">
                    <a:solidFill>
                      <a:srgbClr val="111827"/>
                    </a:solidFill>
                    <a:latin typeface="Cambria Math" panose="02040503050406030204" pitchFamily="18" charset="0"/>
                  </a:rPr>
                  <a:t>$z-i\bar z=1-i|z|$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$z-i\bar z=(x-y)+i(y-x)=(x-y)(1-i)$</a:t>
                </a:r>
                <a:r>
                  <a:rPr sz="2400" b="0">
                    <a:solidFill>
                      <a:srgbClr val="111827"/>
                    </a:solidFill>
                    <a:latin typeface="Arial"/>
                  </a:rPr>
                  <a:t>, a real multiple of </a:t>
                </a:r>
                <a:r>
                  <a:rPr lang="en-IN" sz="2400">
                    <a:solidFill>
                      <a:srgbClr val="111827"/>
                    </a:solidFill>
                    <a:latin typeface="Cambria Math" panose="02040503050406030204" pitchFamily="18" charset="0"/>
                  </a:rPr>
                  <a:t>$1-i$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$1-i|z|$</a:t>
                </a:r>
                <a:r>
                  <a:rPr sz="2400" b="0">
                    <a:solidFill>
                      <a:srgbClr val="111827"/>
                    </a:solidFill>
                    <a:latin typeface="Arial"/>
                  </a:rPr>
                  <a:t> must be a real multiple of </a:t>
                </a:r>
                <a:r>
                  <a:rPr lang="en-IN" sz="2400">
                    <a:solidFill>
                      <a:srgbClr val="111827"/>
                    </a:solidFill>
                    <a:latin typeface="Cambria Math" panose="02040503050406030204" pitchFamily="18" charset="0"/>
                  </a:rPr>
                  <a:t>$1-i$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$1-i|z|=\lambda(1-i)$</a:t>
                </a:r>
                <a:r>
                  <a:rPr sz="2400" b="0">
                    <a:solidFill>
                      <a:srgbClr val="111827"/>
                    </a:solidFill>
                    <a:latin typeface="Arial"/>
                  </a:rPr>
                  <a:t> forces </a:t>
                </a:r>
                <a:r>
                  <a:rPr lang="en-IN" sz="2400">
                    <a:solidFill>
                      <a:srgbClr val="111827"/>
                    </a:solidFill>
                    <a:latin typeface="Cambria Math" panose="02040503050406030204" pitchFamily="18" charset="0"/>
                  </a:rPr>
                  <a:t>$\lambda=1$</a:t>
                </a:r>
                <a:r>
                  <a:rPr sz="2400" b="0">
                    <a:solidFill>
                      <a:srgbClr val="111827"/>
                    </a:solidFill>
                    <a:latin typeface="Arial"/>
                  </a:rPr>
                  <a:t> and </a:t>
                </a:r>
                <a:r>
                  <a:rPr lang="en-IN" sz="2400">
                    <a:solidFill>
                      <a:srgbClr val="111827"/>
                    </a:solidFill>
                    <a:latin typeface="Cambria Math" panose="02040503050406030204" pitchFamily="18" charset="0"/>
                  </a:rPr>
                  <a:t>$|z|=1$</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1</a:t>
            </a:r>
            <a:endParaRPr sz="2800">
              <a:solidFill>
                <a:srgbClr val="15803D"/>
              </a:solidFill>
            </a:endParaRP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these identities decode many equations involving </a:t>
                </a:r>
                <a14:m>
                  <m:oMath xmlns:m="http://schemas.openxmlformats.org/officeDocument/2006/math">
                    <m:r>
                      <a:rPr lang="en-IN" sz="2400" i="1">
                        <a:solidFill>
                          <a:srgbClr val="111827"/>
                        </a:solidFill>
                        <a:latin typeface="Cambria Math" panose="02040503050406030204" pitchFamily="18" charset="0"/>
                      </a:rPr>
                      <m:t>𝑖</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Equations containing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real-parameter equations: split into real and imaginary parts and treat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as a real number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to be fixed later by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both have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$z-i\bar z=(x-y)(1-i)$</a:t>
                </a:r>
                <a:r>
                  <a:rPr sz="2400" b="0">
                    <a:solidFill>
                      <a:srgbClr val="111827"/>
                    </a:solidFill>
                    <a:latin typeface="Arial"/>
                  </a:rPr>
                  <a:t> and </a:t>
                </a:r>
                <a:r>
                  <a:rPr lang="en-IN" sz="2400">
                    <a:solidFill>
                      <a:srgbClr val="111827"/>
                    </a:solidFill>
                    <a:latin typeface="Cambria Math" panose="02040503050406030204" pitchFamily="18" charset="0"/>
                  </a:rPr>
                  <a:t>$z+i\bar z=(x+y)(1+i)$</a:t>
                </a:r>
                <a:r>
                  <a:rPr sz="2400" b="0">
                    <a:solidFill>
                      <a:srgbClr val="111827"/>
                    </a:solidFill>
                    <a:latin typeface="Arial"/>
                  </a:rPr>
                  <a:t>: these identities decode many equations involving </a:t>
                </a:r>
                <a:r>
                  <a:rPr lang="en-IN" sz="2400">
                    <a:solidFill>
                      <a:srgbClr val="111827"/>
                    </a:solidFill>
                    <a:latin typeface="Cambria Math" panose="02040503050406030204" pitchFamily="18" charset="0"/>
                  </a:rPr>
                  <a:t>$i\bar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Equations containing </a:t>
                </a:r>
                <a:r>
                  <a:rPr lang="en-IN" sz="2400">
                    <a:solidFill>
                      <a:srgbClr val="111827"/>
                    </a:solidFill>
                    <a:latin typeface="Cambria Math" panose="02040503050406030204" pitchFamily="18" charset="0"/>
                  </a:rPr>
                  <a:t>$|z|$</a:t>
                </a:r>
                <a:r>
                  <a:rPr sz="2400" b="0">
                    <a:solidFill>
                      <a:srgbClr val="111827"/>
                    </a:solidFill>
                    <a:latin typeface="Arial"/>
                  </a:rPr>
                  <a:t> are real-parameter equations: split into real and imaginary parts and treat </a:t>
                </a:r>
                <a:r>
                  <a:rPr lang="en-IN" sz="2400">
                    <a:solidFill>
                      <a:srgbClr val="111827"/>
                    </a:solidFill>
                    <a:latin typeface="Cambria Math" panose="02040503050406030204" pitchFamily="18" charset="0"/>
                  </a:rPr>
                  <a:t>$|z|$</a:t>
                </a:r>
                <a:r>
                  <a:rPr sz="2400" b="0">
                    <a:solidFill>
                      <a:srgbClr val="111827"/>
                    </a:solidFill>
                    <a:latin typeface="Arial"/>
                  </a:rPr>
                  <a:t> as a real number </a:t>
                </a:r>
                <a:r>
                  <a:rPr lang="en-IN" sz="2400">
                    <a:solidFill>
                      <a:srgbClr val="111827"/>
                    </a:solidFill>
                    <a:latin typeface="Cambria Math" panose="02040503050406030204" pitchFamily="18" charset="0"/>
                  </a:rPr>
                  <a:t>$r$</a:t>
                </a:r>
                <a:r>
                  <a:rPr sz="2400" b="0">
                    <a:solidFill>
                      <a:srgbClr val="111827"/>
                    </a:solidFill>
                    <a:latin typeface="Arial"/>
                  </a:rPr>
                  <a:t> to be fixed later by </a:t>
                </a:r>
                <a:r>
                  <a:rPr lang="en-IN" sz="2400">
                    <a:solidFill>
                      <a:srgbClr val="111827"/>
                    </a:solidFill>
                    <a:latin typeface="Cambria Math" panose="02040503050406030204" pitchFamily="18" charset="0"/>
                  </a:rPr>
                  <a:t>$r=\sqrt{x^2+y^2}$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$z=1$</a:t>
                </a:r>
                <a:r>
                  <a:rPr sz="2400" b="0">
                    <a:solidFill>
                      <a:srgbClr val="111827"/>
                    </a:solidFill>
                    <a:latin typeface="Arial"/>
                  </a:rPr>
                  <a:t> gives </a:t>
                </a:r>
                <a:r>
                  <a:rPr lang="en-IN" sz="2400">
                    <a:solidFill>
                      <a:srgbClr val="111827"/>
                    </a:solidFill>
                    <a:latin typeface="Cambria Math" panose="02040503050406030204" pitchFamily="18" charset="0"/>
                  </a:rPr>
                  <a:t>$1+i=i\cdot1+1$</a:t>
                </a:r>
                <a:r>
                  <a:rPr sz="2400" b="0">
                    <a:solidFill>
                      <a:srgbClr val="111827"/>
                    </a:solidFill>
                    <a:latin typeface="Arial"/>
                  </a:rPr>
                  <a:t>, and </a:t>
                </a:r>
                <a:r>
                  <a:rPr lang="en-IN" sz="2400">
                    <a:solidFill>
                      <a:srgbClr val="111827"/>
                    </a:solidFill>
                    <a:latin typeface="Cambria Math" panose="02040503050406030204" pitchFamily="18" charset="0"/>
                  </a:rPr>
                  <a:t>$z=-i$</a:t>
                </a:r>
                <a:r>
                  <a:rPr sz="2400" b="0">
                    <a:solidFill>
                      <a:srgbClr val="111827"/>
                    </a:solidFill>
                    <a:latin typeface="Arial"/>
                  </a:rPr>
                  <a:t> gives </a:t>
                </a:r>
                <a:r>
                  <a:rPr lang="en-IN" sz="2400">
                    <a:solidFill>
                      <a:srgbClr val="111827"/>
                    </a:solidFill>
                    <a:latin typeface="Cambria Math" panose="02040503050406030204" pitchFamily="18" charset="0"/>
                  </a:rPr>
                  <a:t>$-i+i=i\cdot i+1=0$</a:t>
                </a:r>
                <a:r>
                  <a:rPr sz="2400" b="0">
                    <a:solidFill>
                      <a:srgbClr val="111827"/>
                    </a:solidFill>
                    <a:latin typeface="Arial"/>
                  </a:rPr>
                  <a:t>; both have </a:t>
                </a:r>
                <a:r>
                  <a:rPr lang="en-IN" sz="2400">
                    <a:solidFill>
                      <a:srgbClr val="111827"/>
                    </a:solidFill>
                    <a:latin typeface="Cambria Math" panose="02040503050406030204" pitchFamily="18" charset="0"/>
                  </a:rPr>
                  <a:t>$x-y=1$</a:t>
                </a:r>
                <a:r>
                  <a:rPr sz="2400" b="0">
                    <a:solidFill>
                      <a:srgbClr val="111827"/>
                    </a:solidFill>
                    <a:latin typeface="Arial"/>
                  </a:rPr>
                  <a:t> and </a:t>
                </a:r>
                <a:r>
                  <a:rPr lang="en-IN" sz="2400">
                    <a:solidFill>
                      <a:srgbClr val="111827"/>
                    </a:solidFill>
                    <a:latin typeface="Cambria Math" panose="02040503050406030204" pitchFamily="18" charset="0"/>
                  </a:rPr>
                  <a:t>$|z|=1$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4348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be two curves on the complex plane defined as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such that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touch each other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the value of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m:t>
                    </m:r>
                  </m:oMath>
                </a14:m>
                <a:endParaRPr sz="2400">
                  <a:solidFill>
                    <a:srgbClr val="111827"/>
                  </a:solidFill>
                </a:endParaRPr>
              </a:p>
            </p:txBody>
          </p:sp>
        </mc:Choice>
        <mc:Fallback>
          <p:sp>
            <p:nvSpPr>
              <p:cNvPr id="4" name="Rounded Rectangle 3"/>
              <p:cNvSpPr/>
              <p:nvPr/>
            </p:nvSpPr>
            <p:spPr>
              <a:xfrm>
                <a:off x="731520" y="1280160"/>
                <a:ext cx="10725912" cy="244348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be two curves on the complex plane defined as </a:t>
                </a:r>
                <a:r>
                  <a:rPr lang="en-IN" sz="2400">
                    <a:solidFill>
                      <a:srgbClr val="111827"/>
                    </a:solidFill>
                    <a:latin typeface="Cambria Math" panose="02040503050406030204" pitchFamily="18" charset="0"/>
                  </a:rPr>
                  <a:t>$C_1: z+\bar z=2|z-1|$</a:t>
                </a:r>
                <a:r>
                  <a:rPr sz="2400" b="0">
                    <a:solidFill>
                      <a:srgbClr val="111827"/>
                    </a:solidFill>
                    <a:latin typeface="Arial"/>
                  </a:rPr>
                  <a:t> and </a:t>
                </a:r>
                <a:r>
                  <a:rPr lang="en-IN" sz="2400">
                    <a:solidFill>
                      <a:srgbClr val="111827"/>
                    </a:solidFill>
                    <a:latin typeface="Cambria Math" panose="02040503050406030204" pitchFamily="18" charset="0"/>
                  </a:rPr>
                  <a:t>$C_2:\arg(z+1+i)=\alpha$</a:t>
                </a:r>
                <a:r>
                  <a:rPr sz="2400" b="0">
                    <a:solidFill>
                      <a:srgbClr val="111827"/>
                    </a:solidFill>
                    <a:latin typeface="Arial"/>
                  </a:rPr>
                  <a:t>, where </a:t>
                </a:r>
                <a:r>
                  <a:rPr lang="en-IN" sz="2400">
                    <a:solidFill>
                      <a:srgbClr val="111827"/>
                    </a:solidFill>
                    <a:latin typeface="Cambria Math" panose="02040503050406030204" pitchFamily="18" charset="0"/>
                  </a:rPr>
                  <a:t>$\alpha\in(0,\pi)$</a:t>
                </a:r>
                <a:r>
                  <a:rPr sz="2400" b="0">
                    <a:solidFill>
                      <a:srgbClr val="111827"/>
                    </a:solidFill>
                    <a:latin typeface="Arial"/>
                  </a:rPr>
                  <a:t> is such that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touch each other at </a:t>
                </a:r>
                <a:r>
                  <a:rPr lang="en-IN" sz="2400">
                    <a:solidFill>
                      <a:srgbClr val="111827"/>
                    </a:solidFill>
                    <a:latin typeface="Cambria Math" panose="02040503050406030204" pitchFamily="18" charset="0"/>
                  </a:rPr>
                  <a:t>$P(z_0)$</a:t>
                </a:r>
                <a:r>
                  <a:rPr sz="2400" b="0">
                    <a:solidFill>
                      <a:srgbClr val="111827"/>
                    </a:solidFill>
                    <a:latin typeface="Arial"/>
                  </a:rPr>
                  <a:t>. Then the value of </a:t>
                </a:r>
                <a:r>
                  <a:rPr lang="en-IN" sz="2400">
                    <a:solidFill>
                      <a:srgbClr val="111827"/>
                    </a:solidFill>
                    <a:latin typeface="Cambria Math" panose="02040503050406030204" pitchFamily="18" charset="0"/>
                  </a:rPr>
                  <a:t>$|z_0|^2$</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$3$</a:t>
                </a:r>
                <a:r>
                  <a:rPr sz="2400" b="0">
                    <a:solidFill>
                      <a:srgbClr val="111827"/>
                    </a:solidFill>
                    <a:latin typeface="Arial"/>
                  </a:rPr>
                  <a:t>   (D) </a:t>
                </a:r>
                <a:r>
                  <a:rPr lang="en-IN" sz="2400">
                    <a:solidFill>
                      <a:srgbClr val="111827"/>
                    </a:solidFill>
                    <a:latin typeface="Cambria Math" panose="02040503050406030204" pitchFamily="18" charset="0"/>
                  </a:rPr>
                  <a:t>$4$</a:t>
                </a:r>
                <a:endParaRPr sz="2400">
                  <a:solidFill>
                    <a:srgbClr val="111827"/>
                  </a:solidFill>
                </a:endParaRPr>
              </a:p>
            </p:txBody>
          </p:sp>
        </mc:Fallback>
      </mc:AlternateContent>
      <p:sp>
        <p:nvSpPr>
          <p:cNvPr id="5" name="Rectangle 4"/>
          <p:cNvSpPr/>
          <p:nvPr/>
        </p:nvSpPr>
        <p:spPr>
          <a:xfrm>
            <a:off x="731520" y="3952239"/>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loci, Parabola: tangents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is a parabola and </a:t>
                </a:r>
                <a14:m>
                  <m:oMath xmlns:m="http://schemas.openxmlformats.org/officeDocument/2006/math">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 ray from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touching means the ray lies along a tangent from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to the parabola.</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$C_1$</a:t>
                </a:r>
                <a:r>
                  <a:rPr sz="2400" b="0">
                    <a:solidFill>
                      <a:srgbClr val="78350F"/>
                    </a:solidFill>
                    <a:latin typeface="Arial"/>
                  </a:rPr>
                  <a:t> is a parabola and </a:t>
                </a:r>
                <a:r>
                  <a:rPr lang="en-IN" sz="2400">
                    <a:solidFill>
                      <a:srgbClr val="78350F"/>
                    </a:solidFill>
                    <a:latin typeface="Cambria Math" panose="02040503050406030204" pitchFamily="18" charset="0"/>
                  </a:rPr>
                  <a:t>$C_2$</a:t>
                </a:r>
                <a:r>
                  <a:rPr sz="2400" b="0">
                    <a:solidFill>
                      <a:srgbClr val="78350F"/>
                    </a:solidFill>
                    <a:latin typeface="Arial"/>
                  </a:rPr>
                  <a:t> a ray from </a:t>
                </a:r>
                <a:r>
                  <a:rPr lang="en-IN" sz="2400">
                    <a:solidFill>
                      <a:srgbClr val="78350F"/>
                    </a:solidFill>
                    <a:latin typeface="Cambria Math" panose="02040503050406030204" pitchFamily="18" charset="0"/>
                  </a:rPr>
                  <a:t>$(-1,-1)$</a:t>
                </a:r>
                <a:r>
                  <a:rPr sz="2400" b="0">
                    <a:solidFill>
                      <a:srgbClr val="78350F"/>
                    </a:solidFill>
                    <a:latin typeface="Arial"/>
                  </a:rPr>
                  <a:t>; touching means the ray lies along a tangent from </a:t>
                </a:r>
                <a:r>
                  <a:rPr lang="en-IN" sz="2400">
                    <a:solidFill>
                      <a:srgbClr val="78350F"/>
                    </a:solidFill>
                    <a:latin typeface="Cambria Math" panose="02040503050406030204" pitchFamily="18" charset="0"/>
                  </a:rPr>
                  <a:t>$(-1,-1)$</a:t>
                </a:r>
                <a:r>
                  <a:rPr sz="2400" b="0">
                    <a:solidFill>
                      <a:srgbClr val="78350F"/>
                    </a:solidFill>
                    <a:latin typeface="Arial"/>
                  </a:rPr>
                  <a:t> to the parabola.</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which gives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 parabola with vertex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arg</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is a ray starting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making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with the positive real axis.</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$C_1$</a:t>
                </a:r>
                <a:r>
                  <a:rPr sz="2400" b="0">
                    <a:solidFill>
                      <a:srgbClr val="111827"/>
                    </a:solidFill>
                    <a:latin typeface="Arial"/>
                  </a:rPr>
                  <a:t>: with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$z+\bar z=2x$</a:t>
                </a:r>
                <a:r>
                  <a:rPr sz="2400" b="0">
                    <a:solidFill>
                      <a:srgbClr val="111827"/>
                    </a:solidFill>
                    <a:latin typeface="Arial"/>
                  </a:rPr>
                  <a:t>, so </a:t>
                </a:r>
                <a:r>
                  <a:rPr lang="en-IN" sz="2400">
                    <a:solidFill>
                      <a:srgbClr val="111827"/>
                    </a:solidFill>
                    <a:latin typeface="Cambria Math" panose="02040503050406030204" pitchFamily="18" charset="0"/>
                  </a:rPr>
                  <a:t>$2x=2|(x-1)+iy|$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Square: </a:t>
                </a:r>
                <a:r>
                  <a:rPr lang="en-IN" sz="2400">
                    <a:solidFill>
                      <a:srgbClr val="111827"/>
                    </a:solidFill>
                    <a:latin typeface="Cambria Math" panose="02040503050406030204" pitchFamily="18" charset="0"/>
                  </a:rPr>
                  <a:t>$x^2=(x-1)^2+y^2$</a:t>
                </a:r>
                <a:r>
                  <a:rPr sz="2400" b="0">
                    <a:solidFill>
                      <a:srgbClr val="111827"/>
                    </a:solidFill>
                    <a:latin typeface="Arial"/>
                  </a:rPr>
                  <a:t>, which gives </a:t>
                </a:r>
                <a:r>
                  <a:rPr lang="en-IN" sz="2400">
                    <a:solidFill>
                      <a:srgbClr val="111827"/>
                    </a:solidFill>
                    <a:latin typeface="Cambria Math" panose="02040503050406030204" pitchFamily="18" charset="0"/>
                  </a:rPr>
                  <a:t>$y^2=2x-1=2\left(x-\frac12\right)$</a:t>
                </a:r>
                <a:r>
                  <a:rPr sz="2400" b="0">
                    <a:solidFill>
                      <a:srgbClr val="111827"/>
                    </a:solidFill>
                    <a:latin typeface="Arial"/>
                  </a:rPr>
                  <a:t>, a parabola with vertex </a:t>
                </a:r>
                <a:r>
                  <a:rPr lang="en-IN" sz="2400">
                    <a:solidFill>
                      <a:srgbClr val="111827"/>
                    </a:solidFill>
                    <a:latin typeface="Cambria Math" panose="02040503050406030204" pitchFamily="18" charset="0"/>
                  </a:rPr>
                  <a:t>$\left(\frac12,0\right)$</a:t>
                </a:r>
                <a:r>
                  <a:rPr sz="2400" b="0">
                    <a:solidFill>
                      <a:srgbClr val="111827"/>
                    </a:solidFill>
                    <a:latin typeface="Arial"/>
                  </a:rPr>
                  <a:t> and </a:t>
                </a:r>
                <a:r>
                  <a:rPr lang="en-IN" sz="2400">
                    <a:solidFill>
                      <a:srgbClr val="111827"/>
                    </a:solidFill>
                    <a:latin typeface="Cambria Math" panose="02040503050406030204" pitchFamily="18" charset="0"/>
                  </a:rPr>
                  <a:t>$4a=2$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$C_2$</a:t>
                </a:r>
                <a:r>
                  <a:rPr sz="2400" b="0">
                    <a:solidFill>
                      <a:srgbClr val="111827"/>
                    </a:solidFill>
                    <a:latin typeface="Arial"/>
                  </a:rPr>
                  <a:t>: </a:t>
                </a:r>
                <a:r>
                  <a:rPr lang="en-IN" sz="2400">
                    <a:solidFill>
                      <a:srgbClr val="111827"/>
                    </a:solidFill>
                    <a:latin typeface="Cambria Math" panose="02040503050406030204" pitchFamily="18" charset="0"/>
                  </a:rPr>
                  <a:t>$\arg\left(z-(-1-i)\right)=\alpha$</a:t>
                </a:r>
                <a:r>
                  <a:rPr sz="2400" b="0">
                    <a:solidFill>
                      <a:srgbClr val="111827"/>
                    </a:solidFill>
                    <a:latin typeface="Arial"/>
                  </a:rPr>
                  <a:t> is a ray starting at </a:t>
                </a:r>
                <a:r>
                  <a:rPr lang="en-IN" sz="2400">
                    <a:solidFill>
                      <a:srgbClr val="111827"/>
                    </a:solidFill>
                    <a:latin typeface="Cambria Math" panose="02040503050406030204" pitchFamily="18" charset="0"/>
                  </a:rPr>
                  <a:t>$(-1,-1)$</a:t>
                </a:r>
                <a:r>
                  <a:rPr sz="2400" b="0">
                    <a:solidFill>
                      <a:srgbClr val="111827"/>
                    </a:solidFill>
                    <a:latin typeface="Arial"/>
                  </a:rPr>
                  <a:t> making angle </a:t>
                </a:r>
                <a:r>
                  <a:rPr lang="en-IN" sz="2400">
                    <a:solidFill>
                      <a:srgbClr val="111827"/>
                    </a:solidFill>
                    <a:latin typeface="Cambria Math" panose="02040503050406030204" pitchFamily="18" charset="0"/>
                  </a:rPr>
                  <a:t>$\alpha$</a:t>
                </a:r>
                <a:r>
                  <a:rPr sz="2400" b="0">
                    <a:solidFill>
                      <a:srgbClr val="111827"/>
                    </a:solidFill>
                    <a:latin typeface="Arial"/>
                  </a:rPr>
                  <a:t> with the positive real axis.</a:t>
                </a:r>
                <a:endParaRPr sz="2400">
                  <a:solidFill>
                    <a:srgbClr val="111827"/>
                  </a:solidFill>
                </a:endParaRPr>
              </a:p>
            </p:txBody>
          </p:sp>
        </mc:Fallback>
      </mc:AlternateContent>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ray touches the parabola only if it lies along a tangent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with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Passing through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ray touches the parabola only if it lies along a tangent from </a:t>
                </a:r>
                <a:r>
                  <a:rPr lang="en-IN" sz="2400">
                    <a:solidFill>
                      <a:srgbClr val="111827"/>
                    </a:solidFill>
                    <a:latin typeface="Cambria Math" panose="02040503050406030204" pitchFamily="18" charset="0"/>
                  </a:rPr>
                  <a:t>$(-1,-1)$</a:t>
                </a:r>
                <a:r>
                  <a:rPr sz="2400" b="0">
                    <a:solidFill>
                      <a:srgbClr val="111827"/>
                    </a:solidFill>
                    <a:latin typeface="Arial"/>
                  </a:rPr>
                  <a:t> to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$y^2=2\left(x-\frac12\right)$</a:t>
                </a:r>
                <a:r>
                  <a:rPr sz="2400" b="0">
                    <a:solidFill>
                      <a:srgbClr val="111827"/>
                    </a:solidFill>
                    <a:latin typeface="Arial"/>
                  </a:rPr>
                  <a:t> with slope </a:t>
                </a:r>
                <a:r>
                  <a:rPr lang="en-IN" sz="2400">
                    <a:solidFill>
                      <a:srgbClr val="111827"/>
                    </a:solidFill>
                    <a:latin typeface="Cambria Math" panose="02040503050406030204" pitchFamily="18" charset="0"/>
                  </a:rPr>
                  <a:t>$m$</a:t>
                </a:r>
                <a:r>
                  <a:rPr sz="2400" b="0">
                    <a:solidFill>
                      <a:srgbClr val="111827"/>
                    </a:solidFill>
                    <a:latin typeface="Arial"/>
                  </a:rPr>
                  <a:t>: </a:t>
                </a:r>
                <a:r>
                  <a:rPr lang="en-IN" sz="2400">
                    <a:solidFill>
                      <a:srgbClr val="111827"/>
                    </a:solidFill>
                    <a:latin typeface="Cambria Math" panose="02040503050406030204" pitchFamily="18" charset="0"/>
                  </a:rPr>
                  <a:t>$y=m\left(x-\frac12\right)+\frac1{2m}$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Passing through </a:t>
                </a:r>
                <a:r>
                  <a:rPr lang="en-IN" sz="2400">
                    <a:solidFill>
                      <a:srgbClr val="111827"/>
                    </a:solidFill>
                    <a:latin typeface="Cambria Math" panose="02040503050406030204" pitchFamily="18" charset="0"/>
                  </a:rPr>
                  <a:t>$(-1,-1)$</a:t>
                </a:r>
                <a:r>
                  <a:rPr sz="2400" b="0">
                    <a:solidFill>
                      <a:srgbClr val="111827"/>
                    </a:solidFill>
                    <a:latin typeface="Arial"/>
                  </a:rPr>
                  <a:t>: </a:t>
                </a:r>
                <a:r>
                  <a:rPr lang="en-IN" sz="2400">
                    <a:solidFill>
                      <a:srgbClr val="111827"/>
                    </a:solidFill>
                    <a:latin typeface="Cambria Math" panose="02040503050406030204" pitchFamily="18" charset="0"/>
                  </a:rPr>
                  <a:t>$-1=-\frac{3m}{2}+\frac1{2m}$</a:t>
                </a:r>
                <a:r>
                  <a:rPr sz="2400" b="0">
                    <a:solidFill>
                      <a:srgbClr val="111827"/>
                    </a:solidFill>
                    <a:latin typeface="Arial"/>
                  </a:rPr>
                  <a:t>, so </a:t>
                </a:r>
                <a:r>
                  <a:rPr lang="en-IN" sz="2400">
                    <a:solidFill>
                      <a:srgbClr val="111827"/>
                    </a:solidFill>
                    <a:latin typeface="Cambria Math" panose="02040503050406030204" pitchFamily="18" charset="0"/>
                  </a:rPr>
                  <a:t>$3m^2-2m-1=0$</a:t>
                </a:r>
                <a:r>
                  <a:rPr sz="2400" b="0">
                    <a:solidFill>
                      <a:srgbClr val="111827"/>
                    </a:solidFill>
                    <a:latin typeface="Arial"/>
                  </a:rPr>
                  <a:t> and </a:t>
                </a:r>
                <a:r>
                  <a:rPr lang="en-IN" sz="2400">
                    <a:solidFill>
                      <a:srgbClr val="111827"/>
                    </a:solidFill>
                    <a:latin typeface="Cambria Math" panose="02040503050406030204" pitchFamily="18" charset="0"/>
                  </a:rPr>
                  <a:t>$m=1$</a:t>
                </a:r>
                <a:r>
                  <a:rPr sz="2400" b="0">
                    <a:solidFill>
                      <a:srgbClr val="111827"/>
                    </a:solidFill>
                    <a:latin typeface="Arial"/>
                  </a:rPr>
                  <a:t> or </a:t>
                </a:r>
                <a:r>
                  <a:rPr lang="en-IN" sz="2400">
                    <a:solidFill>
                      <a:srgbClr val="111827"/>
                    </a:solidFill>
                    <a:latin typeface="Cambria Math" panose="02040503050406030204" pitchFamily="18" charset="0"/>
                  </a:rPr>
                  <a:t>$m=-\frac13$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the contact point lies below the starting point, so the ray (with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pointing upward) is not tangent; reject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tangent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touching the parabola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(indeed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$m=-\frac13$</a:t>
                </a:r>
                <a:r>
                  <a:rPr sz="2400" b="0">
                    <a:solidFill>
                      <a:srgbClr val="111827"/>
                    </a:solidFill>
                    <a:latin typeface="Arial"/>
                  </a:rPr>
                  <a:t> the contact point lies below the starting point, so the ray (with </a:t>
                </a:r>
                <a:r>
                  <a:rPr lang="en-IN" sz="2400">
                    <a:solidFill>
                      <a:srgbClr val="111827"/>
                    </a:solidFill>
                    <a:latin typeface="Cambria Math" panose="02040503050406030204" pitchFamily="18" charset="0"/>
                  </a:rPr>
                  <a:t>$\alpha\in(0,\pi)$</a:t>
                </a:r>
                <a:r>
                  <a:rPr sz="2400" b="0">
                    <a:solidFill>
                      <a:srgbClr val="111827"/>
                    </a:solidFill>
                    <a:latin typeface="Arial"/>
                  </a:rPr>
                  <a:t>, pointing upward) is not tangent; reject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$m=1$</a:t>
                </a:r>
                <a:r>
                  <a:rPr sz="2400" b="0">
                    <a:solidFill>
                      <a:srgbClr val="111827"/>
                    </a:solidFill>
                    <a:latin typeface="Arial"/>
                  </a:rPr>
                  <a:t>: the tangent is </a:t>
                </a:r>
                <a:r>
                  <a:rPr lang="en-IN" sz="2400">
                    <a:solidFill>
                      <a:srgbClr val="111827"/>
                    </a:solidFill>
                    <a:latin typeface="Cambria Math" panose="02040503050406030204" pitchFamily="18" charset="0"/>
                  </a:rPr>
                  <a:t>$y=x$</a:t>
                </a:r>
                <a:r>
                  <a:rPr sz="2400" b="0">
                    <a:solidFill>
                      <a:srgbClr val="111827"/>
                    </a:solidFill>
                    <a:latin typeface="Arial"/>
                  </a:rPr>
                  <a:t>, touching the parabola at </a:t>
                </a:r>
                <a:r>
                  <a:rPr lang="en-IN" sz="2400">
                    <a:solidFill>
                      <a:srgbClr val="111827"/>
                    </a:solidFill>
                    <a:latin typeface="Cambria Math" panose="02040503050406030204" pitchFamily="18" charset="0"/>
                  </a:rPr>
                  <a:t>$(1,1)$</a:t>
                </a:r>
                <a:r>
                  <a:rPr sz="2400" b="0">
                    <a:solidFill>
                      <a:srgbClr val="111827"/>
                    </a:solidFill>
                    <a:latin typeface="Arial"/>
                  </a:rPr>
                  <a:t> (indeed </a:t>
                </a:r>
                <a:r>
                  <a:rPr lang="en-IN" sz="2400">
                    <a:solidFill>
                      <a:srgbClr val="111827"/>
                    </a:solidFill>
                    <a:latin typeface="Cambria Math" panose="02040503050406030204" pitchFamily="18" charset="0"/>
                  </a:rPr>
                  <a:t>$1=2-1$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$z_0=1+i$</a:t>
                </a:r>
                <a:r>
                  <a:rPr sz="2400" b="0">
                    <a:solidFill>
                      <a:srgbClr val="111827"/>
                    </a:solidFill>
                    <a:latin typeface="Arial"/>
                  </a:rPr>
                  <a:t> and </a:t>
                </a:r>
                <a:r>
                  <a:rPr lang="en-IN" sz="2400">
                    <a:solidFill>
                      <a:srgbClr val="111827"/>
                    </a:solidFill>
                    <a:latin typeface="Cambria Math" panose="02040503050406030204" pitchFamily="18" charset="0"/>
                  </a:rPr>
                  <a:t>$|z_0|^2=2$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2</a:t>
            </a:r>
            <a:endParaRPr sz="2800">
              <a:solidFill>
                <a:srgbClr val="15803D"/>
              </a:solidFill>
            </a:endParaRP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the parabola as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𝑡</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e>
                    </m:d>
                  </m:oMath>
                </a14:m>
                <a:r>
                  <a:rPr sz="2400" b="0">
                    <a:solidFill>
                      <a:srgbClr val="78350F"/>
                    </a:solidFill>
                    <a:latin typeface="Arial"/>
                  </a:rPr>
                  <a:t> and demand that the chord to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has the tangent's slope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𝑡</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the parabola as </a:t>
                </a:r>
                <a:r>
                  <a:rPr lang="en-IN" sz="2400">
                    <a:solidFill>
                      <a:srgbClr val="78350F"/>
                    </a:solidFill>
                    <a:latin typeface="Cambria Math" panose="02040503050406030204" pitchFamily="18" charset="0"/>
                  </a:rPr>
                  <a:t>$\left(\frac{t^2+1}{2},t\right)$</a:t>
                </a:r>
                <a:r>
                  <a:rPr sz="2400" b="0">
                    <a:solidFill>
                      <a:srgbClr val="78350F"/>
                    </a:solidFill>
                    <a:latin typeface="Arial"/>
                  </a:rPr>
                  <a:t> and demand that the chord to </a:t>
                </a:r>
                <a:r>
                  <a:rPr lang="en-IN" sz="2400">
                    <a:solidFill>
                      <a:srgbClr val="78350F"/>
                    </a:solidFill>
                    <a:latin typeface="Cambria Math" panose="02040503050406030204" pitchFamily="18" charset="0"/>
                  </a:rPr>
                  <a:t>$(-1,-1)$</a:t>
                </a:r>
                <a:r>
                  <a:rPr sz="2400" b="0">
                    <a:solidFill>
                      <a:srgbClr val="78350F"/>
                    </a:solidFill>
                    <a:latin typeface="Arial"/>
                  </a:rPr>
                  <a:t> has the tangent's slope </a:t>
                </a:r>
                <a:r>
                  <a:rPr lang="en-IN" sz="2400">
                    <a:solidFill>
                      <a:srgbClr val="78350F"/>
                    </a:solidFill>
                    <a:latin typeface="Cambria Math" panose="02040503050406030204" pitchFamily="18" charset="0"/>
                  </a:rPr>
                  <a:t>$\frac1t$</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Points of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𝑡</m:t>
                        </m:r>
                      </m:e>
                    </m:d>
                  </m:oMath>
                </a14:m>
                <a:r>
                  <a:rPr sz="2400" b="0">
                    <a:solidFill>
                      <a:srgbClr val="111827"/>
                    </a:solidFill>
                    <a:latin typeface="Arial"/>
                  </a:rPr>
                  <a:t>, and the tangent slope there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𝑦</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this point has slope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Tangency: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Points of </a:t>
                </a:r>
                <a:r>
                  <a:rPr lang="en-IN" sz="2400">
                    <a:solidFill>
                      <a:srgbClr val="111827"/>
                    </a:solidFill>
                    <a:latin typeface="Cambria Math" panose="02040503050406030204" pitchFamily="18" charset="0"/>
                  </a:rPr>
                  <a:t>$y^2=2x-1$</a:t>
                </a:r>
                <a:r>
                  <a:rPr sz="2400" b="0">
                    <a:solidFill>
                      <a:srgbClr val="111827"/>
                    </a:solidFill>
                    <a:latin typeface="Arial"/>
                  </a:rPr>
                  <a:t> are </a:t>
                </a:r>
                <a:r>
                  <a:rPr lang="en-IN" sz="2400">
                    <a:solidFill>
                      <a:srgbClr val="111827"/>
                    </a:solidFill>
                    <a:latin typeface="Cambria Math" panose="02040503050406030204" pitchFamily="18" charset="0"/>
                  </a:rPr>
                  <a:t>$\left(\frac{t^2+1}{2},\,t\right)$</a:t>
                </a:r>
                <a:r>
                  <a:rPr sz="2400" b="0">
                    <a:solidFill>
                      <a:srgbClr val="111827"/>
                    </a:solidFill>
                    <a:latin typeface="Arial"/>
                  </a:rPr>
                  <a:t>, and the tangent slope there is </a:t>
                </a:r>
                <a:r>
                  <a:rPr lang="en-IN" sz="2400">
                    <a:solidFill>
                      <a:srgbClr val="111827"/>
                    </a:solidFill>
                    <a:latin typeface="Cambria Math" panose="02040503050406030204" pitchFamily="18" charset="0"/>
                  </a:rPr>
                  <a:t>$\frac{dy}{dx}=\frac1y=\frac1t$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line from </a:t>
                </a:r>
                <a:r>
                  <a:rPr lang="en-IN" sz="2400">
                    <a:solidFill>
                      <a:srgbClr val="111827"/>
                    </a:solidFill>
                    <a:latin typeface="Cambria Math" panose="02040503050406030204" pitchFamily="18" charset="0"/>
                  </a:rPr>
                  <a:t>$(-1,-1)$</a:t>
                </a:r>
                <a:r>
                  <a:rPr sz="2400" b="0">
                    <a:solidFill>
                      <a:srgbClr val="111827"/>
                    </a:solidFill>
                    <a:latin typeface="Arial"/>
                  </a:rPr>
                  <a:t> to this point has slope </a:t>
                </a:r>
                <a:r>
                  <a:rPr lang="en-IN" sz="2400">
                    <a:solidFill>
                      <a:srgbClr val="111827"/>
                    </a:solidFill>
                    <a:latin typeface="Cambria Math" panose="02040503050406030204" pitchFamily="18" charset="0"/>
                  </a:rPr>
                  <a:t>$\frac{t+1}{\frac{t^2+1}{2}+1}=\frac{2(t+1)}{t^2+3}$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Tangency: </a:t>
                </a:r>
                <a:r>
                  <a:rPr lang="en-IN" sz="2400">
                    <a:solidFill>
                      <a:srgbClr val="111827"/>
                    </a:solidFill>
                    <a:latin typeface="Cambria Math" panose="02040503050406030204" pitchFamily="18" charset="0"/>
                  </a:rPr>
                  <a:t>$\frac{2(t+1)}{t^2+3}=\frac1t$</a:t>
                </a:r>
                <a:r>
                  <a:rPr sz="2400" b="0">
                    <a:solidFill>
                      <a:srgbClr val="111827"/>
                    </a:solidFill>
                    <a:latin typeface="Arial"/>
                  </a:rPr>
                  <a:t>, i.e. </a:t>
                </a:r>
                <a:r>
                  <a:rPr lang="en-IN" sz="2400">
                    <a:solidFill>
                      <a:srgbClr val="111827"/>
                    </a:solidFill>
                    <a:latin typeface="Cambria Math" panose="02040503050406030204" pitchFamily="18" charset="0"/>
                  </a:rPr>
                  <a:t>$2t^2+2t=t^2+3$</a:t>
                </a:r>
                <a:r>
                  <a:rPr sz="2400" b="0">
                    <a:solidFill>
                      <a:srgbClr val="111827"/>
                    </a:solidFill>
                    <a:latin typeface="Arial"/>
                  </a:rPr>
                  <a:t>, so </a:t>
                </a:r>
                <a:r>
                  <a:rPr lang="en-IN" sz="2400">
                    <a:solidFill>
                      <a:srgbClr val="111827"/>
                    </a:solidFill>
                    <a:latin typeface="Cambria Math" panose="02040503050406030204" pitchFamily="18" charset="0"/>
                  </a:rPr>
                  <a:t>$t^2+2t-3=0$</a:t>
                </a:r>
                <a:r>
                  <a:rPr sz="2400" b="0">
                    <a:solidFill>
                      <a:srgbClr val="111827"/>
                    </a:solidFill>
                    <a:latin typeface="Arial"/>
                  </a:rPr>
                  <a:t> and </a:t>
                </a:r>
                <a:r>
                  <a:rPr lang="en-IN" sz="2400">
                    <a:solidFill>
                      <a:srgbClr val="111827"/>
                    </a:solidFill>
                    <a:latin typeface="Cambria Math" panose="02040503050406030204" pitchFamily="18" charset="0"/>
                  </a:rPr>
                  <a:t>$t=1$</a:t>
                </a:r>
                <a:r>
                  <a:rPr sz="2400" b="0">
                    <a:solidFill>
                      <a:srgbClr val="111827"/>
                    </a:solidFill>
                    <a:latin typeface="Arial"/>
                  </a:rPr>
                  <a:t> or </a:t>
                </a:r>
                <a:r>
                  <a:rPr lang="en-IN" sz="2400">
                    <a:solidFill>
                      <a:srgbClr val="111827"/>
                    </a:solidFill>
                    <a:latin typeface="Cambria Math" panose="02040503050406030204" pitchFamily="18" charset="0"/>
                  </a:rPr>
                  <a:t>$t=-3$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reached by going downward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not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reject.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point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direction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$t=-3$</a:t>
                </a:r>
                <a:r>
                  <a:rPr sz="2400" b="0">
                    <a:solidFill>
                      <a:srgbClr val="111827"/>
                    </a:solidFill>
                    <a:latin typeface="Arial"/>
                  </a:rPr>
                  <a:t>: the point </a:t>
                </a:r>
                <a:r>
                  <a:rPr lang="en-IN" sz="2400">
                    <a:solidFill>
                      <a:srgbClr val="111827"/>
                    </a:solidFill>
                    <a:latin typeface="Cambria Math" panose="02040503050406030204" pitchFamily="18" charset="0"/>
                  </a:rPr>
                  <a:t>$(5,-3)$</a:t>
                </a:r>
                <a:r>
                  <a:rPr sz="2400" b="0">
                    <a:solidFill>
                      <a:srgbClr val="111827"/>
                    </a:solidFill>
                    <a:latin typeface="Arial"/>
                  </a:rPr>
                  <a:t> is reached by going downward from </a:t>
                </a:r>
                <a:r>
                  <a:rPr lang="en-IN" sz="2400">
                    <a:solidFill>
                      <a:srgbClr val="111827"/>
                    </a:solidFill>
                    <a:latin typeface="Cambria Math" panose="02040503050406030204" pitchFamily="18" charset="0"/>
                  </a:rPr>
                  <a:t>$(-1,-1)$</a:t>
                </a:r>
                <a:r>
                  <a:rPr sz="2400" b="0">
                    <a:solidFill>
                      <a:srgbClr val="111827"/>
                    </a:solidFill>
                    <a:latin typeface="Arial"/>
                  </a:rPr>
                  <a:t>, i.e. </a:t>
                </a:r>
                <a:r>
                  <a:rPr lang="en-IN" sz="2400">
                    <a:solidFill>
                      <a:srgbClr val="111827"/>
                    </a:solidFill>
                    <a:latin typeface="Cambria Math" panose="02040503050406030204" pitchFamily="18" charset="0"/>
                  </a:rPr>
                  <a:t>$\arg&lt;0$</a:t>
                </a:r>
                <a:r>
                  <a:rPr sz="2400" b="0">
                    <a:solidFill>
                      <a:srgbClr val="111827"/>
                    </a:solidFill>
                    <a:latin typeface="Arial"/>
                  </a:rPr>
                  <a:t>, not in </a:t>
                </a:r>
                <a:r>
                  <a:rPr lang="en-IN" sz="2400">
                    <a:solidFill>
                      <a:srgbClr val="111827"/>
                    </a:solidFill>
                    <a:latin typeface="Cambria Math" panose="02040503050406030204" pitchFamily="18" charset="0"/>
                  </a:rPr>
                  <a:t>$(0,\pi)$</a:t>
                </a:r>
                <a:r>
                  <a:rPr sz="2400" b="0">
                    <a:solidFill>
                      <a:srgbClr val="111827"/>
                    </a:solidFill>
                    <a:latin typeface="Arial"/>
                  </a:rPr>
                  <a:t>; reject.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$t=1$</a:t>
                </a:r>
                <a:r>
                  <a:rPr sz="2400" b="0">
                    <a:solidFill>
                      <a:srgbClr val="111827"/>
                    </a:solidFill>
                    <a:latin typeface="Arial"/>
                  </a:rPr>
                  <a:t>: the point is </a:t>
                </a:r>
                <a:r>
                  <a:rPr lang="en-IN" sz="2400">
                    <a:solidFill>
                      <a:srgbClr val="111827"/>
                    </a:solidFill>
                    <a:latin typeface="Cambria Math" panose="02040503050406030204" pitchFamily="18" charset="0"/>
                  </a:rPr>
                  <a:t>$(1,1)$</a:t>
                </a:r>
                <a:r>
                  <a:rPr sz="2400" b="0">
                    <a:solidFill>
                      <a:srgbClr val="111827"/>
                    </a:solidFill>
                    <a:latin typeface="Arial"/>
                  </a:rPr>
                  <a:t>, direction </a:t>
                </a:r>
                <a:r>
                  <a:rPr lang="en-IN" sz="2400">
                    <a:solidFill>
                      <a:srgbClr val="111827"/>
                    </a:solidFill>
                    <a:latin typeface="Cambria Math" panose="02040503050406030204" pitchFamily="18" charset="0"/>
                  </a:rPr>
                  <a:t>$(2,2)$</a:t>
                </a:r>
                <a:r>
                  <a:rPr sz="2400" b="0">
                    <a:solidFill>
                      <a:srgbClr val="111827"/>
                    </a:solidFill>
                    <a:latin typeface="Arial"/>
                  </a:rPr>
                  <a:t>, </a:t>
                </a:r>
                <a:r>
                  <a:rPr lang="en-IN" sz="2400">
                    <a:solidFill>
                      <a:srgbClr val="111827"/>
                    </a:solidFill>
                    <a:latin typeface="Cambria Math" panose="02040503050406030204" pitchFamily="18" charset="0"/>
                  </a:rPr>
                  <a:t>$\alpha=\frac\pi4$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$|z_0|^2=1+1=2$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2</a:t>
            </a:r>
            <a:endParaRPr sz="2800">
              <a:solidFill>
                <a:srgbClr val="15803D"/>
              </a:solidFill>
            </a:endParaRP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says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conic with focus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eccentricity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parabola with focus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and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is a ray (not a full line) from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always check that the contact point is on the ray, not behind its starting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with slope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from an external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slopes satisfy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(point coordinates measured from the vertex).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$z+\bar z=2k|z-a|$</a:t>
                </a:r>
                <a:r>
                  <a:rPr sz="2400" b="0">
                    <a:solidFill>
                      <a:srgbClr val="111827"/>
                    </a:solidFill>
                    <a:latin typeface="Arial"/>
                  </a:rPr>
                  <a:t> says </a:t>
                </a:r>
                <a:r>
                  <a:rPr lang="en-IN" sz="2400">
                    <a:solidFill>
                      <a:srgbClr val="111827"/>
                    </a:solidFill>
                    <a:latin typeface="Cambria Math" panose="02040503050406030204" pitchFamily="18" charset="0"/>
                  </a:rPr>
                  <a:t>$\mathrm{Re}(z)=k|z-a|$</a:t>
                </a:r>
                <a:r>
                  <a:rPr sz="2400" b="0">
                    <a:solidFill>
                      <a:srgbClr val="111827"/>
                    </a:solidFill>
                    <a:latin typeface="Arial"/>
                  </a:rPr>
                  <a:t>: a conic with focus </a:t>
                </a:r>
                <a:r>
                  <a:rPr lang="en-IN" sz="2400">
                    <a:solidFill>
                      <a:srgbClr val="111827"/>
                    </a:solidFill>
                    <a:latin typeface="Cambria Math" panose="02040503050406030204" pitchFamily="18" charset="0"/>
                  </a:rPr>
                  <a:t>$a$</a:t>
                </a:r>
                <a:r>
                  <a:rPr sz="2400" b="0">
                    <a:solidFill>
                      <a:srgbClr val="111827"/>
                    </a:solidFill>
                    <a:latin typeface="Arial"/>
                  </a:rPr>
                  <a:t>, directrix </a:t>
                </a:r>
                <a:r>
                  <a:rPr lang="en-IN" sz="2400">
                    <a:solidFill>
                      <a:srgbClr val="111827"/>
                    </a:solidFill>
                    <a:latin typeface="Cambria Math" panose="02040503050406030204" pitchFamily="18" charset="0"/>
                  </a:rPr>
                  <a:t>$x=0$</a:t>
                </a:r>
                <a:r>
                  <a:rPr sz="2400" b="0">
                    <a:solidFill>
                      <a:srgbClr val="111827"/>
                    </a:solidFill>
                    <a:latin typeface="Arial"/>
                  </a:rPr>
                  <a:t> and eccentricity </a:t>
                </a:r>
                <a:r>
                  <a:rPr lang="en-IN" sz="2400">
                    <a:solidFill>
                      <a:srgbClr val="111827"/>
                    </a:solidFill>
                    <a:latin typeface="Cambria Math" panose="02040503050406030204" pitchFamily="18" charset="0"/>
                  </a:rPr>
                  <a:t>$\frac1k$</a:t>
                </a:r>
                <a:r>
                  <a:rPr sz="2400" b="0">
                    <a:solidFill>
                      <a:srgbClr val="111827"/>
                    </a:solidFill>
                    <a:latin typeface="Arial"/>
                  </a:rPr>
                  <a:t>. For </a:t>
                </a:r>
                <a:r>
                  <a:rPr lang="en-IN" sz="2400">
                    <a:solidFill>
                      <a:srgbClr val="111827"/>
                    </a:solidFill>
                    <a:latin typeface="Cambria Math" panose="02040503050406030204" pitchFamily="18" charset="0"/>
                  </a:rPr>
                  <a:t>$k=1$</a:t>
                </a:r>
                <a:r>
                  <a:rPr sz="2400" b="0">
                    <a:solidFill>
                      <a:srgbClr val="111827"/>
                    </a:solidFill>
                    <a:latin typeface="Arial"/>
                  </a:rPr>
                  <a:t>, </a:t>
                </a:r>
                <a:r>
                  <a:rPr lang="en-IN" sz="2400">
                    <a:solidFill>
                      <a:srgbClr val="111827"/>
                    </a:solidFill>
                    <a:latin typeface="Cambria Math" panose="02040503050406030204" pitchFamily="18" charset="0"/>
                  </a:rPr>
                  <a:t>$z+\bar z=2|z-1|$</a:t>
                </a:r>
                <a:r>
                  <a:rPr sz="2400" b="0">
                    <a:solidFill>
                      <a:srgbClr val="111827"/>
                    </a:solidFill>
                    <a:latin typeface="Arial"/>
                  </a:rPr>
                  <a:t> is the parabola with focus </a:t>
                </a:r>
                <a:r>
                  <a:rPr lang="en-IN" sz="2400">
                    <a:solidFill>
                      <a:srgbClr val="111827"/>
                    </a:solidFill>
                    <a:latin typeface="Cambria Math" panose="02040503050406030204" pitchFamily="18" charset="0"/>
                  </a:rPr>
                  <a:t>$1$</a:t>
                </a:r>
                <a:r>
                  <a:rPr sz="2400" b="0">
                    <a:solidFill>
                      <a:srgbClr val="111827"/>
                    </a:solidFill>
                    <a:latin typeface="Arial"/>
                  </a:rPr>
                  <a:t> and directrix </a:t>
                </a:r>
                <a:r>
                  <a:rPr lang="en-IN" sz="2400">
                    <a:solidFill>
                      <a:srgbClr val="111827"/>
                    </a:solidFill>
                    <a:latin typeface="Cambria Math" panose="02040503050406030204" pitchFamily="18" charset="0"/>
                  </a:rPr>
                  <a:t>$x=0$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$\arg(z-z_1)=\alpha$</a:t>
                </a:r>
                <a:r>
                  <a:rPr sz="2400" b="0">
                    <a:solidFill>
                      <a:srgbClr val="111827"/>
                    </a:solidFill>
                    <a:latin typeface="Arial"/>
                  </a:rPr>
                  <a:t> is a ray (not a full line) from </a:t>
                </a:r>
                <a:r>
                  <a:rPr lang="en-IN" sz="2400">
                    <a:solidFill>
                      <a:srgbClr val="111827"/>
                    </a:solidFill>
                    <a:latin typeface="Cambria Math" panose="02040503050406030204" pitchFamily="18" charset="0"/>
                  </a:rPr>
                  <a:t>$z_1$</a:t>
                </a:r>
                <a:r>
                  <a:rPr sz="2400" b="0">
                    <a:solidFill>
                      <a:srgbClr val="111827"/>
                    </a:solidFill>
                    <a:latin typeface="Arial"/>
                  </a:rPr>
                  <a:t>; always check that the contact point is on the ray, not behind its starting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$y^2=4a x'$</a:t>
                </a:r>
                <a:r>
                  <a:rPr sz="2400" b="0">
                    <a:solidFill>
                      <a:srgbClr val="111827"/>
                    </a:solidFill>
                    <a:latin typeface="Arial"/>
                  </a:rPr>
                  <a:t> with slope </a:t>
                </a:r>
                <a:r>
                  <a:rPr lang="en-IN" sz="2400">
                    <a:solidFill>
                      <a:srgbClr val="111827"/>
                    </a:solidFill>
                    <a:latin typeface="Cambria Math" panose="02040503050406030204" pitchFamily="18" charset="0"/>
                  </a:rPr>
                  <a:t>$m$</a:t>
                </a:r>
                <a:r>
                  <a:rPr sz="2400" b="0">
                    <a:solidFill>
                      <a:srgbClr val="111827"/>
                    </a:solidFill>
                    <a:latin typeface="Arial"/>
                  </a:rPr>
                  <a:t>: </a:t>
                </a:r>
                <a:r>
                  <a:rPr lang="en-IN" sz="2400">
                    <a:solidFill>
                      <a:srgbClr val="111827"/>
                    </a:solidFill>
                    <a:latin typeface="Cambria Math" panose="02040503050406030204" pitchFamily="18" charset="0"/>
                  </a:rPr>
                  <a:t>$y=mx'+\frac am$</a:t>
                </a:r>
                <a:r>
                  <a:rPr sz="2400" b="0">
                    <a:solidFill>
                      <a:srgbClr val="111827"/>
                    </a:solidFill>
                    <a:latin typeface="Arial"/>
                  </a:rPr>
                  <a:t>; from an external point </a:t>
                </a:r>
                <a:r>
                  <a:rPr lang="en-IN" sz="2400">
                    <a:solidFill>
                      <a:srgbClr val="111827"/>
                    </a:solidFill>
                    <a:latin typeface="Cambria Math" panose="02040503050406030204" pitchFamily="18" charset="0"/>
                  </a:rPr>
                  <a:t>$(h,k)$</a:t>
                </a:r>
                <a:r>
                  <a:rPr sz="2400" b="0">
                    <a:solidFill>
                      <a:srgbClr val="111827"/>
                    </a:solidFill>
                    <a:latin typeface="Arial"/>
                  </a:rPr>
                  <a:t> the slopes satisfy </a:t>
                </a:r>
                <a:r>
                  <a:rPr lang="en-IN" sz="2400">
                    <a:solidFill>
                      <a:srgbClr val="111827"/>
                    </a:solidFill>
                    <a:latin typeface="Cambria Math" panose="02040503050406030204" pitchFamily="18" charset="0"/>
                  </a:rPr>
                  <a:t>$m^2h-mk+a=0$</a:t>
                </a:r>
                <a:r>
                  <a:rPr sz="2400" b="0">
                    <a:solidFill>
                      <a:srgbClr val="111827"/>
                    </a:solidFill>
                    <a:latin typeface="Arial"/>
                  </a:rPr>
                  <a:t> (point coordinates measured from the vertex).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$x'=x-\frac12,a=\frac12$</a:t>
                </a:r>
                <a:r>
                  <a:rPr sz="2400" b="0">
                    <a:solidFill>
                      <a:srgbClr val="111827"/>
                    </a:solidFill>
                    <a:latin typeface="Arial"/>
                  </a:rPr>
                  <a:t>: from </a:t>
                </a:r>
                <a:r>
                  <a:rPr lang="en-IN" sz="2400">
                    <a:solidFill>
                      <a:srgbClr val="111827"/>
                    </a:solidFill>
                    <a:latin typeface="Cambria Math" panose="02040503050406030204" pitchFamily="18" charset="0"/>
                  </a:rPr>
                  <a:t>$(-1,-1)$</a:t>
                </a:r>
                <a:r>
                  <a:rPr sz="2400" b="0">
                    <a:solidFill>
                      <a:srgbClr val="111827"/>
                    </a:solidFill>
                    <a:latin typeface="Arial"/>
                  </a:rPr>
                  <a:t>, </a:t>
                </a:r>
                <a:r>
                  <a:rPr lang="en-IN" sz="2400">
                    <a:solidFill>
                      <a:srgbClr val="111827"/>
                    </a:solidFill>
                    <a:latin typeface="Cambria Math" panose="02040503050406030204" pitchFamily="18" charset="0"/>
                  </a:rPr>
                  <a:t>$x'=-\frac32$</a:t>
                </a:r>
                <a:r>
                  <a:rPr sz="2400" b="0">
                    <a:solidFill>
                      <a:srgbClr val="111827"/>
                    </a:solidFill>
                    <a:latin typeface="Arial"/>
                  </a:rPr>
                  <a:t> gives </a:t>
                </a:r>
                <a:r>
                  <a:rPr lang="en-IN" sz="2400">
                    <a:solidFill>
                      <a:srgbClr val="111827"/>
                    </a:solidFill>
                    <a:latin typeface="Cambria Math" panose="02040503050406030204" pitchFamily="18" charset="0"/>
                  </a:rPr>
                  <a:t>$-\frac32m^2+m+\frac12=0$</a:t>
                </a:r>
                <a:r>
                  <a:rPr sz="2400" b="0">
                    <a:solidFill>
                      <a:srgbClr val="111827"/>
                    </a:solidFill>
                    <a:latin typeface="Arial"/>
                  </a:rPr>
                  <a:t>, i.e. </a:t>
                </a:r>
                <a:r>
                  <a:rPr lang="en-IN" sz="2400">
                    <a:solidFill>
                      <a:srgbClr val="111827"/>
                    </a:solidFill>
                    <a:latin typeface="Cambria Math" panose="02040503050406030204" pitchFamily="18" charset="0"/>
                  </a:rPr>
                  <a:t>$3m^2-2m-1=0$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oMath>
                </a14:m>
                <a:r>
                  <a:rPr sz="2400" b="0">
                    <a:solidFill>
                      <a:srgbClr val="111827"/>
                    </a:solidFill>
                    <a:latin typeface="Arial"/>
                  </a:rPr>
                  <a:t>) is a root of the equation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the number of values of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9</m:t>
                    </m:r>
                  </m:oMath>
                </a14:m>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$z=re^{i\theta}$</a:t>
                </a:r>
                <a:r>
                  <a:rPr sz="2400" b="0">
                    <a:solidFill>
                      <a:srgbClr val="111827"/>
                    </a:solidFill>
                    <a:latin typeface="Arial"/>
                  </a:rPr>
                  <a:t> (</a:t>
                </a:r>
                <a:r>
                  <a:rPr lang="en-IN" sz="2400">
                    <a:solidFill>
                      <a:srgbClr val="111827"/>
                    </a:solidFill>
                    <a:latin typeface="Cambria Math" panose="02040503050406030204" pitchFamily="18" charset="0"/>
                  </a:rPr>
                  <a:t>$r&gt;0$</a:t>
                </a:r>
                <a:r>
                  <a:rPr sz="2400" b="0">
                    <a:solidFill>
                      <a:srgbClr val="111827"/>
                    </a:solidFill>
                    <a:latin typeface="Arial"/>
                  </a:rPr>
                  <a:t>, </a:t>
                </a:r>
                <a:r>
                  <a:rPr lang="en-IN" sz="2400">
                    <a:solidFill>
                      <a:srgbClr val="111827"/>
                    </a:solidFill>
                    <a:latin typeface="Cambria Math" panose="02040503050406030204" pitchFamily="18" charset="0"/>
                  </a:rPr>
                  <a:t>$0\le\theta&lt;2\pi$</a:t>
                </a:r>
                <a:r>
                  <a:rPr sz="2400" b="0">
                    <a:solidFill>
                      <a:srgbClr val="111827"/>
                    </a:solidFill>
                    <a:latin typeface="Arial"/>
                  </a:rPr>
                  <a:t>) is a root of the equation </a:t>
                </a:r>
                <a:r>
                  <a:rPr lang="en-IN" sz="2400">
                    <a:solidFill>
                      <a:srgbClr val="111827"/>
                    </a:solidFill>
                    <a:latin typeface="Cambria Math" panose="02040503050406030204" pitchFamily="18" charset="0"/>
                  </a:rPr>
                  <a:t>$z^8-z^7+z^6-z^5+z^4-z^3+z^2-z+1=0$</a:t>
                </a:r>
                <a:r>
                  <a:rPr sz="2400" b="0">
                    <a:solidFill>
                      <a:srgbClr val="111827"/>
                    </a:solidFill>
                    <a:latin typeface="Arial"/>
                  </a:rPr>
                  <a:t>, then the number of values of </a:t>
                </a:r>
                <a:r>
                  <a:rPr lang="en-IN" sz="2400">
                    <a:solidFill>
                      <a:srgbClr val="111827"/>
                    </a:solidFill>
                    <a:latin typeface="Cambria Math" panose="02040503050406030204" pitchFamily="18" charset="0"/>
                  </a:rPr>
                  <a:t>$\theta$</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$6$</a:t>
                </a:r>
                <a:r>
                  <a:rPr sz="2400" b="0">
                    <a:solidFill>
                      <a:srgbClr val="111827"/>
                    </a:solidFill>
                    <a:latin typeface="Arial"/>
                  </a:rPr>
                  <a:t>   (B) </a:t>
                </a:r>
                <a:r>
                  <a:rPr lang="en-IN" sz="2400">
                    <a:solidFill>
                      <a:srgbClr val="111827"/>
                    </a:solidFill>
                    <a:latin typeface="Cambria Math" panose="02040503050406030204" pitchFamily="18" charset="0"/>
                  </a:rPr>
                  <a:t>$7$</a:t>
                </a:r>
                <a:r>
                  <a:rPr sz="2400" b="0">
                    <a:solidFill>
                      <a:srgbClr val="111827"/>
                    </a:solidFill>
                    <a:latin typeface="Arial"/>
                  </a:rPr>
                  <a:t>   (C) </a:t>
                </a:r>
                <a:r>
                  <a:rPr lang="en-IN" sz="2400">
                    <a:solidFill>
                      <a:srgbClr val="111827"/>
                    </a:solidFill>
                    <a:latin typeface="Cambria Math" panose="02040503050406030204" pitchFamily="18" charset="0"/>
                  </a:rPr>
                  <a:t>$8$</a:t>
                </a:r>
                <a:r>
                  <a:rPr sz="2400" b="0">
                    <a:solidFill>
                      <a:srgbClr val="111827"/>
                    </a:solidFill>
                    <a:latin typeface="Arial"/>
                  </a:rPr>
                  <a:t>   (D) </a:t>
                </a:r>
                <a:r>
                  <a:rPr lang="en-IN" sz="2400">
                    <a:solidFill>
                      <a:srgbClr val="111827"/>
                    </a:solidFill>
                    <a:latin typeface="Cambria Math" panose="02040503050406030204" pitchFamily="18" charset="0"/>
                  </a:rPr>
                  <a:t>$9$</a:t>
                </a:r>
                <a:endParaRPr sz="2400">
                  <a:solidFill>
                    <a:srgbClr val="111827"/>
                  </a:solidFill>
                </a:endParaRPr>
              </a:p>
            </p:txBody>
          </p:sp>
        </mc:Fallback>
      </mc:AlternateContent>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unity, Polynomial equations in complex numbers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polynomial is </a:t>
                </a:r>
                <a14:m>
                  <m:oMath xmlns:m="http://schemas.openxmlformats.org/officeDocument/2006/math">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9</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den>
                    </m:f>
                  </m:oMath>
                </a14:m>
                <a:r>
                  <a:rPr sz="2400" b="0">
                    <a:solidFill>
                      <a:srgbClr val="78350F"/>
                    </a:solidFill>
                    <a:latin typeface="Arial"/>
                  </a:rPr>
                  <a:t>, so its roots are the ninth roots of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other than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polynomial is </a:t>
                </a:r>
                <a:r>
                  <a:rPr lang="en-IN" sz="2400">
                    <a:solidFill>
                      <a:srgbClr val="78350F"/>
                    </a:solidFill>
                    <a:latin typeface="Cambria Math" panose="02040503050406030204" pitchFamily="18" charset="0"/>
                  </a:rPr>
                  <a:t>$\frac{z^9+1}{z+1}$</a:t>
                </a:r>
                <a:r>
                  <a:rPr sz="2400" b="0">
                    <a:solidFill>
                      <a:srgbClr val="78350F"/>
                    </a:solidFill>
                    <a:latin typeface="Arial"/>
                  </a:rPr>
                  <a:t>, so its roots are the ninth roots of </a:t>
                </a:r>
                <a:r>
                  <a:rPr lang="en-IN" sz="2400">
                    <a:solidFill>
                      <a:srgbClr val="78350F"/>
                    </a:solidFill>
                    <a:latin typeface="Cambria Math" panose="02040503050406030204" pitchFamily="18" charset="0"/>
                  </a:rPr>
                  <a:t>$-1$</a:t>
                </a:r>
                <a:r>
                  <a:rPr sz="2400" b="0">
                    <a:solidFill>
                      <a:srgbClr val="78350F"/>
                    </a:solidFill>
                    <a:latin typeface="Arial"/>
                  </a:rPr>
                  <a:t> other than </a:t>
                </a:r>
                <a:r>
                  <a:rPr lang="en-IN" sz="2400">
                    <a:solidFill>
                      <a:srgbClr val="78350F"/>
                    </a:solidFill>
                    <a:latin typeface="Cambria Math" panose="02040503050406030204" pitchFamily="18" charset="0"/>
                  </a:rPr>
                  <a:t>$-1$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expression is a geometric series with ratio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9</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expression is a geometric series with ratio </a:t>
                </a:r>
                <a:r>
                  <a:rPr lang="en-IN" sz="2400">
                    <a:solidFill>
                      <a:srgbClr val="111827"/>
                    </a:solidFill>
                    <a:latin typeface="Cambria Math" panose="02040503050406030204" pitchFamily="18" charset="0"/>
                  </a:rPr>
                  <a:t>$-z$</a:t>
                </a:r>
                <a:r>
                  <a:rPr sz="2400" b="0">
                    <a:solidFill>
                      <a:srgbClr val="111827"/>
                    </a:solidFill>
                    <a:latin typeface="Arial"/>
                  </a:rPr>
                  <a:t>: </a:t>
                </a:r>
                <a:r>
                  <a:rPr lang="en-IN" sz="2400">
                    <a:solidFill>
                      <a:srgbClr val="111827"/>
                    </a:solidFill>
                    <a:latin typeface="Cambria Math" panose="02040503050406030204" pitchFamily="18" charset="0"/>
                  </a:rPr>
                  <a:t>$\frac{1+z^9}{1+z}=0$</a:t>
                </a:r>
                <a:r>
                  <a:rPr sz="2400" b="0">
                    <a:solidFill>
                      <a:srgbClr val="111827"/>
                    </a:solidFill>
                    <a:latin typeface="Arial"/>
                  </a:rPr>
                  <a:t> with </a:t>
                </a:r>
                <a:r>
                  <a:rPr lang="en-IN" sz="2400">
                    <a:solidFill>
                      <a:srgbClr val="111827"/>
                    </a:solidFill>
                    <a:latin typeface="Cambria Math" panose="02040503050406030204" pitchFamily="18" charset="0"/>
                  </a:rPr>
                  <a:t>$z\neq-1$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$z^9=-1$</a:t>
                </a:r>
                <a:r>
                  <a:rPr sz="2400" b="0">
                    <a:solidFill>
                      <a:srgbClr val="111827"/>
                    </a:solidFill>
                    <a:latin typeface="Arial"/>
                  </a:rPr>
                  <a:t> and </a:t>
                </a:r>
                <a:r>
                  <a:rPr lang="en-IN" sz="2400">
                    <a:solidFill>
                      <a:srgbClr val="111827"/>
                    </a:solidFill>
                    <a:latin typeface="Cambria Math" panose="02040503050406030204" pitchFamily="18" charset="0"/>
                  </a:rPr>
                  <a:t>$z\ne-1$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$r^9e^{9i\theta}=e^{i\pi}$</a:t>
                </a:r>
                <a:r>
                  <a:rPr sz="2400" b="0">
                    <a:solidFill>
                      <a:srgbClr val="111827"/>
                    </a:solidFill>
                    <a:latin typeface="Arial"/>
                  </a:rPr>
                  <a:t>, so </a:t>
                </a:r>
                <a:r>
                  <a:rPr lang="en-IN" sz="2400">
                    <a:solidFill>
                      <a:srgbClr val="111827"/>
                    </a:solidFill>
                    <a:latin typeface="Cambria Math" panose="02040503050406030204" pitchFamily="18" charset="0"/>
                  </a:rPr>
                  <a:t>$r=1$</a:t>
                </a:r>
                <a:r>
                  <a:rPr sz="2400" b="0">
                    <a:solidFill>
                      <a:srgbClr val="111827"/>
                    </a:solidFill>
                    <a:latin typeface="Arial"/>
                  </a:rPr>
                  <a:t> and </a:t>
                </a:r>
                <a:r>
                  <a:rPr lang="en-IN" sz="2400">
                    <a:solidFill>
                      <a:srgbClr val="111827"/>
                    </a:solidFill>
                    <a:latin typeface="Cambria Math" panose="02040503050406030204" pitchFamily="18" charset="0"/>
                  </a:rPr>
                  <a:t>$9\theta=(2n+1)\pi$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gives the nine values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value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(that is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which is excluded.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leaves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values of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$\theta=\frac{(2n+1)\pi}{9}$</a:t>
                </a:r>
                <a:r>
                  <a:rPr sz="2400" b="0">
                    <a:solidFill>
                      <a:srgbClr val="111827"/>
                    </a:solidFill>
                    <a:latin typeface="Arial"/>
                  </a:rPr>
                  <a:t> with </a:t>
                </a:r>
                <a:r>
                  <a:rPr lang="en-IN" sz="2400">
                    <a:solidFill>
                      <a:srgbClr val="111827"/>
                    </a:solidFill>
                    <a:latin typeface="Cambria Math" panose="02040503050406030204" pitchFamily="18" charset="0"/>
                  </a:rPr>
                  <a:t>$n=0,1,\dots,8$</a:t>
                </a:r>
                <a:r>
                  <a:rPr sz="2400" b="0">
                    <a:solidFill>
                      <a:srgbClr val="111827"/>
                    </a:solidFill>
                    <a:latin typeface="Arial"/>
                  </a:rPr>
                  <a:t> gives the nine values in </a:t>
                </a:r>
                <a:r>
                  <a:rPr lang="en-IN" sz="2400">
                    <a:solidFill>
                      <a:srgbClr val="111827"/>
                    </a:solidFill>
                    <a:latin typeface="Cambria Math" panose="02040503050406030204" pitchFamily="18" charset="0"/>
                  </a:rPr>
                  <a:t>$[0,2\pi)$</a:t>
                </a:r>
                <a:r>
                  <a:rPr sz="2400" b="0">
                    <a:solidFill>
                      <a:srgbClr val="111827"/>
                    </a:solidFill>
                    <a:latin typeface="Arial"/>
                  </a:rPr>
                  <a:t>: </a:t>
                </a:r>
                <a:r>
                  <a:rPr lang="en-IN" sz="2400">
                    <a:solidFill>
                      <a:srgbClr val="111827"/>
                    </a:solidFill>
                    <a:latin typeface="Cambria Math" panose="02040503050406030204" pitchFamily="18" charset="0"/>
                  </a:rPr>
                  <a:t>$\frac\pi9,\frac{3\pi}9,\frac{5\pi}9,\frac{7\pi}9,\pi,\dots,\frac{17\pi}9$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value </a:t>
                </a:r>
                <a:r>
                  <a:rPr lang="en-IN" sz="2400">
                    <a:solidFill>
                      <a:srgbClr val="111827"/>
                    </a:solidFill>
                    <a:latin typeface="Cambria Math" panose="02040503050406030204" pitchFamily="18" charset="0"/>
                  </a:rPr>
                  <a:t>$\theta=\pi$</a:t>
                </a:r>
                <a:r>
                  <a:rPr sz="2400" b="0">
                    <a:solidFill>
                      <a:srgbClr val="111827"/>
                    </a:solidFill>
                    <a:latin typeface="Arial"/>
                  </a:rPr>
                  <a:t> (that is </a:t>
                </a:r>
                <a:r>
                  <a:rPr lang="en-IN" sz="2400">
                    <a:solidFill>
                      <a:srgbClr val="111827"/>
                    </a:solidFill>
                    <a:latin typeface="Cambria Math" panose="02040503050406030204" pitchFamily="18" charset="0"/>
                  </a:rPr>
                  <a:t>$n=4$</a:t>
                </a:r>
                <a:r>
                  <a:rPr sz="2400" b="0">
                    <a:solidFill>
                      <a:srgbClr val="111827"/>
                    </a:solidFill>
                    <a:latin typeface="Arial"/>
                  </a:rPr>
                  <a:t>) gives </a:t>
                </a:r>
                <a:r>
                  <a:rPr lang="en-IN" sz="2400">
                    <a:solidFill>
                      <a:srgbClr val="111827"/>
                    </a:solidFill>
                    <a:latin typeface="Cambria Math" panose="02040503050406030204" pitchFamily="18" charset="0"/>
                  </a:rPr>
                  <a:t>$z=-1$</a:t>
                </a:r>
                <a:r>
                  <a:rPr sz="2400" b="0">
                    <a:solidFill>
                      <a:srgbClr val="111827"/>
                    </a:solidFill>
                    <a:latin typeface="Arial"/>
                  </a:rPr>
                  <a:t>, which is excluded.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leaves </a:t>
                </a:r>
                <a:r>
                  <a:rPr lang="en-IN" sz="2400">
                    <a:solidFill>
                      <a:srgbClr val="111827"/>
                    </a:solidFill>
                    <a:latin typeface="Cambria Math" panose="02040503050406030204" pitchFamily="18" charset="0"/>
                  </a:rPr>
                  <a:t>$9-1=8$</a:t>
                </a:r>
                <a:r>
                  <a:rPr sz="2400" b="0">
                    <a:solidFill>
                      <a:srgbClr val="111827"/>
                    </a:solidFill>
                    <a:latin typeface="Arial"/>
                  </a:rPr>
                  <a:t> values of </a:t>
                </a:r>
                <a:r>
                  <a:rPr lang="en-IN" sz="2400">
                    <a:solidFill>
                      <a:srgbClr val="111827"/>
                    </a:solidFill>
                    <a:latin typeface="Cambria Math" panose="02040503050406030204" pitchFamily="18" charset="0"/>
                  </a:rPr>
                  <a:t>$\theta$</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8</a:t>
            </a:r>
            <a:endParaRPr sz="2800">
              <a:solidFill>
                <a:srgbClr val="15803D"/>
              </a:solidFill>
            </a:endParaRP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Factor </a:t>
                </a:r>
                <a14:m>
                  <m:oMath xmlns:m="http://schemas.openxmlformats.org/officeDocument/2006/math">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9</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into cyclotomic polynomials: the given polynomial has degree </a:t>
                </a:r>
                <a14:m>
                  <m:oMath xmlns:m="http://schemas.openxmlformats.org/officeDocument/2006/math">
                    <m:r>
                      <a:rPr lang="en-IN" sz="2400" i="1">
                        <a:solidFill>
                          <a:srgbClr val="78350F"/>
                        </a:solidFill>
                        <a:latin typeface="Cambria Math" panose="02040503050406030204" pitchFamily="18" charset="0"/>
                      </a:rPr>
                      <m:t>8</m:t>
                    </m:r>
                  </m:oMath>
                </a14:m>
                <a:r>
                  <a:rPr sz="2400" b="0">
                    <a:solidFill>
                      <a:srgbClr val="78350F"/>
                    </a:solidFill>
                    <a:latin typeface="Arial"/>
                  </a:rPr>
                  <a:t> and is square-free, so it has </a:t>
                </a:r>
                <a14:m>
                  <m:oMath xmlns:m="http://schemas.openxmlformats.org/officeDocument/2006/math">
                    <m:r>
                      <a:rPr lang="en-IN" sz="2400" i="1">
                        <a:solidFill>
                          <a:srgbClr val="78350F"/>
                        </a:solidFill>
                        <a:latin typeface="Cambria Math" panose="02040503050406030204" pitchFamily="18" charset="0"/>
                      </a:rPr>
                      <m:t>8</m:t>
                    </m:r>
                  </m:oMath>
                </a14:m>
                <a:r>
                  <a:rPr sz="2400" b="0">
                    <a:solidFill>
                      <a:srgbClr val="78350F"/>
                    </a:solidFill>
                    <a:latin typeface="Arial"/>
                  </a:rPr>
                  <a:t> distinct roots, all on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Factor </a:t>
                </a:r>
                <a:r>
                  <a:rPr lang="en-IN" sz="2400">
                    <a:solidFill>
                      <a:srgbClr val="78350F"/>
                    </a:solidFill>
                    <a:latin typeface="Cambria Math" panose="02040503050406030204" pitchFamily="18" charset="0"/>
                  </a:rPr>
                  <a:t>$z^9+1$</a:t>
                </a:r>
                <a:r>
                  <a:rPr sz="2400" b="0">
                    <a:solidFill>
                      <a:srgbClr val="78350F"/>
                    </a:solidFill>
                    <a:latin typeface="Arial"/>
                  </a:rPr>
                  <a:t> into cyclotomic polynomials: the given polynomial has degree </a:t>
                </a:r>
                <a:r>
                  <a:rPr lang="en-IN" sz="2400">
                    <a:solidFill>
                      <a:srgbClr val="78350F"/>
                    </a:solidFill>
                    <a:latin typeface="Cambria Math" panose="02040503050406030204" pitchFamily="18" charset="0"/>
                  </a:rPr>
                  <a:t>$8$</a:t>
                </a:r>
                <a:r>
                  <a:rPr sz="2400" b="0">
                    <a:solidFill>
                      <a:srgbClr val="78350F"/>
                    </a:solidFill>
                    <a:latin typeface="Arial"/>
                  </a:rPr>
                  <a:t> and is square-free, so it has </a:t>
                </a:r>
                <a:r>
                  <a:rPr lang="en-IN" sz="2400">
                    <a:solidFill>
                      <a:srgbClr val="78350F"/>
                    </a:solidFill>
                    <a:latin typeface="Cambria Math" panose="02040503050406030204" pitchFamily="18" charset="0"/>
                  </a:rPr>
                  <a:t>$8$</a:t>
                </a:r>
                <a:r>
                  <a:rPr sz="2400" b="0">
                    <a:solidFill>
                      <a:srgbClr val="78350F"/>
                    </a:solidFill>
                    <a:latin typeface="Arial"/>
                  </a:rPr>
                  <a:t> distinct roots, all on </a:t>
                </a:r>
                <a:r>
                  <a:rPr lang="en-IN" sz="2400">
                    <a:solidFill>
                      <a:srgbClr val="78350F"/>
                    </a:solidFill>
                    <a:latin typeface="Cambria Math" panose="02040503050406030204" pitchFamily="18" charset="0"/>
                  </a:rPr>
                  <a:t>$|z|=1$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 so the given polynomial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equals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and has degree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its derivative </a:t>
                </a:r>
                <a14:m>
                  <m:oMath xmlns:m="http://schemas.openxmlformats.org/officeDocument/2006/math">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8</m:t>
                        </m:r>
                      </m:sup>
                    </m:sSup>
                  </m:oMath>
                </a14:m>
                <a:r>
                  <a:rPr sz="2400" b="0">
                    <a:solidFill>
                      <a:srgbClr val="111827"/>
                    </a:solidFill>
                    <a:latin typeface="Arial"/>
                  </a:rPr>
                  <a:t> have no common root (the only root of </a:t>
                </a:r>
                <a14:m>
                  <m:oMath xmlns:m="http://schemas.openxmlformats.org/officeDocument/2006/math">
                    <m:r>
                      <a:rPr lang="en-IN" sz="2400" i="1">
                        <a:solidFill>
                          <a:srgbClr val="111827"/>
                        </a:solidFill>
                        <a:latin typeface="Cambria Math" panose="02040503050406030204" pitchFamily="18" charset="0"/>
                      </a:rPr>
                      <m:t>9</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8</m:t>
                        </m:r>
                      </m:sup>
                    </m:sSup>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square-free and </a:t>
                </a:r>
                <a14:m>
                  <m:oMath xmlns:m="http://schemas.openxmlformats.org/officeDocument/2006/math">
                    <m:r>
                      <a:rPr lang="en-IN" sz="2400" i="1">
                        <a:solidFill>
                          <a:srgbClr val="111827"/>
                        </a:solidFill>
                        <a:latin typeface="Cambria Math" panose="02040503050406030204" pitchFamily="18" charset="0"/>
                      </a:rPr>
                      <m:t>𝑓</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distinct roots.</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$z^9+1=(z+1)\left(z^8-z^7+\dots+1\right)$</a:t>
                </a:r>
                <a:r>
                  <a:rPr sz="2400" b="0">
                    <a:solidFill>
                      <a:srgbClr val="111827"/>
                    </a:solidFill>
                    <a:latin typeface="Arial"/>
                  </a:rPr>
                  <a:t>, so the given polynomial </a:t>
                </a:r>
                <a:r>
                  <a:rPr lang="en-IN" sz="2400">
                    <a:solidFill>
                      <a:srgbClr val="111827"/>
                    </a:solidFill>
                    <a:latin typeface="Cambria Math" panose="02040503050406030204" pitchFamily="18" charset="0"/>
                  </a:rPr>
                  <a:t>$f(z)$</a:t>
                </a:r>
                <a:r>
                  <a:rPr sz="2400" b="0">
                    <a:solidFill>
                      <a:srgbClr val="111827"/>
                    </a:solidFill>
                    <a:latin typeface="Arial"/>
                  </a:rPr>
                  <a:t> equals </a:t>
                </a:r>
                <a:r>
                  <a:rPr lang="en-IN" sz="2400">
                    <a:solidFill>
                      <a:srgbClr val="111827"/>
                    </a:solidFill>
                    <a:latin typeface="Cambria Math" panose="02040503050406030204" pitchFamily="18" charset="0"/>
                  </a:rPr>
                  <a:t>$\frac{z^9+1}{z+1}$</a:t>
                </a:r>
                <a:r>
                  <a:rPr sz="2400" b="0">
                    <a:solidFill>
                      <a:srgbClr val="111827"/>
                    </a:solidFill>
                    <a:latin typeface="Arial"/>
                  </a:rPr>
                  <a:t> and has degree </a:t>
                </a:r>
                <a:r>
                  <a:rPr lang="en-IN" sz="2400">
                    <a:solidFill>
                      <a:srgbClr val="111827"/>
                    </a:solidFill>
                    <a:latin typeface="Cambria Math" panose="02040503050406030204" pitchFamily="18" charset="0"/>
                  </a:rPr>
                  <a:t>$8$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$z^9+1$</a:t>
                </a:r>
                <a:r>
                  <a:rPr sz="2400" b="0">
                    <a:solidFill>
                      <a:srgbClr val="111827"/>
                    </a:solidFill>
                    <a:latin typeface="Arial"/>
                  </a:rPr>
                  <a:t> and its derivative </a:t>
                </a:r>
                <a:r>
                  <a:rPr lang="en-IN" sz="2400">
                    <a:solidFill>
                      <a:srgbClr val="111827"/>
                    </a:solidFill>
                    <a:latin typeface="Cambria Math" panose="02040503050406030204" pitchFamily="18" charset="0"/>
                  </a:rPr>
                  <a:t>$9z^8$</a:t>
                </a:r>
                <a:r>
                  <a:rPr sz="2400" b="0">
                    <a:solidFill>
                      <a:srgbClr val="111827"/>
                    </a:solidFill>
                    <a:latin typeface="Arial"/>
                  </a:rPr>
                  <a:t> have no common root (the only root of </a:t>
                </a:r>
                <a:r>
                  <a:rPr lang="en-IN" sz="2400">
                    <a:solidFill>
                      <a:srgbClr val="111827"/>
                    </a:solidFill>
                    <a:latin typeface="Cambria Math" panose="02040503050406030204" pitchFamily="18" charset="0"/>
                  </a:rPr>
                  <a:t>$9z^8$</a:t>
                </a:r>
                <a:r>
                  <a:rPr sz="2400" b="0">
                    <a:solidFill>
                      <a:srgbClr val="111827"/>
                    </a:solidFill>
                    <a:latin typeface="Arial"/>
                  </a:rPr>
                  <a:t> is </a:t>
                </a:r>
                <a:r>
                  <a:rPr lang="en-IN" sz="2400">
                    <a:solidFill>
                      <a:srgbClr val="111827"/>
                    </a:solidFill>
                    <a:latin typeface="Cambria Math" panose="02040503050406030204" pitchFamily="18" charset="0"/>
                  </a:rPr>
                  <a:t>$0$</a:t>
                </a:r>
                <a:r>
                  <a:rPr sz="2400" b="0">
                    <a:solidFill>
                      <a:srgbClr val="111827"/>
                    </a:solidFill>
                    <a:latin typeface="Arial"/>
                  </a:rPr>
                  <a:t>), so </a:t>
                </a:r>
                <a:r>
                  <a:rPr lang="en-IN" sz="2400">
                    <a:solidFill>
                      <a:srgbClr val="111827"/>
                    </a:solidFill>
                    <a:latin typeface="Cambria Math" panose="02040503050406030204" pitchFamily="18" charset="0"/>
                  </a:rPr>
                  <a:t>$z^9+1$</a:t>
                </a:r>
                <a:r>
                  <a:rPr sz="2400" b="0">
                    <a:solidFill>
                      <a:srgbClr val="111827"/>
                    </a:solidFill>
                    <a:latin typeface="Arial"/>
                  </a:rPr>
                  <a:t> is square-free and </a:t>
                </a:r>
                <a:r>
                  <a:rPr lang="en-IN" sz="2400">
                    <a:solidFill>
                      <a:srgbClr val="111827"/>
                    </a:solidFill>
                    <a:latin typeface="Cambria Math" panose="02040503050406030204" pitchFamily="18" charset="0"/>
                  </a:rPr>
                  <a:t>$f$</a:t>
                </a:r>
                <a:r>
                  <a:rPr sz="2400" b="0">
                    <a:solidFill>
                      <a:srgbClr val="111827"/>
                    </a:solidFill>
                    <a:latin typeface="Arial"/>
                  </a:rPr>
                  <a:t> has </a:t>
                </a:r>
                <a:r>
                  <a:rPr lang="en-IN" sz="2400">
                    <a:solidFill>
                      <a:srgbClr val="111827"/>
                    </a:solidFill>
                    <a:latin typeface="Cambria Math" panose="02040503050406030204" pitchFamily="18" charset="0"/>
                  </a:rPr>
                  <a:t>$8$</a:t>
                </a:r>
                <a:r>
                  <a:rPr sz="2400" b="0">
                    <a:solidFill>
                      <a:srgbClr val="111827"/>
                    </a:solidFill>
                    <a:latin typeface="Arial"/>
                  </a:rPr>
                  <a:t> distinct roots.</a:t>
                </a:r>
                <a:endParaRPr sz="2400">
                  <a:solidFill>
                    <a:srgbClr val="111827"/>
                  </a:solidFill>
                </a:endParaRPr>
              </a:p>
            </p:txBody>
          </p:sp>
        </mc:Fallback>
      </mc:AlternateContent>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Every root satisfies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Distinct points on the unit circle correspond to distinct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there are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values of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Every root satisfies </a:t>
                </a:r>
                <a:r>
                  <a:rPr lang="en-IN" sz="2400">
                    <a:solidFill>
                      <a:srgbClr val="111827"/>
                    </a:solidFill>
                    <a:latin typeface="Cambria Math" panose="02040503050406030204" pitchFamily="18" charset="0"/>
                  </a:rPr>
                  <a:t>$z^9=-1$</a:t>
                </a:r>
                <a:r>
                  <a:rPr sz="2400" b="0">
                    <a:solidFill>
                      <a:srgbClr val="111827"/>
                    </a:solidFill>
                    <a:latin typeface="Arial"/>
                  </a:rPr>
                  <a:t>, so </a:t>
                </a:r>
                <a:r>
                  <a:rPr lang="en-IN" sz="2400">
                    <a:solidFill>
                      <a:srgbClr val="111827"/>
                    </a:solidFill>
                    <a:latin typeface="Cambria Math" panose="02040503050406030204" pitchFamily="18" charset="0"/>
                  </a:rPr>
                  <a:t>$|z|=1$</a:t>
                </a:r>
                <a:r>
                  <a:rPr sz="2400" b="0">
                    <a:solidFill>
                      <a:srgbClr val="111827"/>
                    </a:solidFill>
                    <a:latin typeface="Arial"/>
                  </a:rPr>
                  <a:t> and </a:t>
                </a:r>
                <a:r>
                  <a:rPr lang="en-IN" sz="2400">
                    <a:solidFill>
                      <a:srgbClr val="111827"/>
                    </a:solidFill>
                    <a:latin typeface="Cambria Math" panose="02040503050406030204" pitchFamily="18" charset="0"/>
                  </a:rPr>
                  <a:t>$r=1$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Distinct points on the unit circle correspond to distinct </a:t>
                </a:r>
                <a:r>
                  <a:rPr lang="en-IN" sz="2400">
                    <a:solidFill>
                      <a:srgbClr val="111827"/>
                    </a:solidFill>
                    <a:latin typeface="Cambria Math" panose="02040503050406030204" pitchFamily="18" charset="0"/>
                  </a:rPr>
                  <a:t>$\theta\in[0,2\pi)$</a:t>
                </a:r>
                <a:r>
                  <a:rPr sz="2400" b="0">
                    <a:solidFill>
                      <a:srgbClr val="111827"/>
                    </a:solidFill>
                    <a:latin typeface="Arial"/>
                  </a:rPr>
                  <a:t>, so there are </a:t>
                </a:r>
                <a:r>
                  <a:rPr lang="en-IN" sz="2400">
                    <a:solidFill>
                      <a:srgbClr val="111827"/>
                    </a:solidFill>
                    <a:latin typeface="Cambria Math" panose="02040503050406030204" pitchFamily="18" charset="0"/>
                  </a:rPr>
                  <a:t>$8$</a:t>
                </a:r>
                <a:r>
                  <a:rPr sz="2400" b="0">
                    <a:solidFill>
                      <a:srgbClr val="111827"/>
                    </a:solidFill>
                    <a:latin typeface="Arial"/>
                  </a:rPr>
                  <a:t> values of </a:t>
                </a:r>
                <a:r>
                  <a:rPr lang="en-IN" sz="2400">
                    <a:solidFill>
                      <a:srgbClr val="111827"/>
                    </a:solidFill>
                    <a:latin typeface="Cambria Math" panose="02040503050406030204" pitchFamily="18" charset="0"/>
                  </a:rPr>
                  <a:t>$\theta$</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8</a:t>
            </a:r>
            <a:endParaRPr sz="2800">
              <a:solidFill>
                <a:srgbClr val="15803D"/>
              </a:solidFill>
            </a:endParaRP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roots are the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th roots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except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equally spaced on the unit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polynomial of degree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distinct roots has exactly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values of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if all roots have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(no root at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roots of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are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(note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starts at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all eight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sSup>
                      <m:e>
                        <m:r>
                          <a:rPr lang="en-IN" sz="2400" i="1">
                            <a:solidFill>
                              <a:srgbClr val="111827"/>
                            </a:solidFill>
                            <a:latin typeface="Cambria Math" panose="02040503050406030204" pitchFamily="18" charset="0"/>
                          </a:rPr>
                          <m:t>10</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sup>
                    </m:sSup>
                  </m:oMath>
                </a14:m>
                <a:r>
                  <a:rPr sz="2400" b="0">
                    <a:solidFill>
                      <a:srgbClr val="111827"/>
                    </a:solidFill>
                    <a:latin typeface="Arial"/>
                  </a:rPr>
                  <a:t>, while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$z^{n}-z^{n-1}+\dots+1=\frac{z^{n+1}+1}{z+1}$</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roots are the </a:t>
                </a:r>
                <a:r>
                  <a:rPr lang="en-IN" sz="2400">
                    <a:solidFill>
                      <a:srgbClr val="111827"/>
                    </a:solidFill>
                    <a:latin typeface="Cambria Math" panose="02040503050406030204" pitchFamily="18" charset="0"/>
                  </a:rPr>
                  <a:t>$(n+1)$</a:t>
                </a:r>
                <a:r>
                  <a:rPr sz="2400" b="0">
                    <a:solidFill>
                      <a:srgbClr val="111827"/>
                    </a:solidFill>
                    <a:latin typeface="Arial"/>
                  </a:rPr>
                  <a:t>th roots of </a:t>
                </a:r>
                <a:r>
                  <a:rPr lang="en-IN" sz="2400">
                    <a:solidFill>
                      <a:srgbClr val="111827"/>
                    </a:solidFill>
                    <a:latin typeface="Cambria Math" panose="02040503050406030204" pitchFamily="18" charset="0"/>
                  </a:rPr>
                  <a:t>$-1$</a:t>
                </a:r>
                <a:r>
                  <a:rPr sz="2400" b="0">
                    <a:solidFill>
                      <a:srgbClr val="111827"/>
                    </a:solidFill>
                    <a:latin typeface="Arial"/>
                  </a:rPr>
                  <a:t> except </a:t>
                </a:r>
                <a:r>
                  <a:rPr lang="en-IN" sz="2400">
                    <a:solidFill>
                      <a:srgbClr val="111827"/>
                    </a:solidFill>
                    <a:latin typeface="Cambria Math" panose="02040503050406030204" pitchFamily="18" charset="0"/>
                  </a:rPr>
                  <a:t>$-1$</a:t>
                </a:r>
                <a:r>
                  <a:rPr sz="2400" b="0">
                    <a:solidFill>
                      <a:srgbClr val="111827"/>
                    </a:solidFill>
                    <a:latin typeface="Arial"/>
                  </a:rPr>
                  <a:t>, equally spaced on the unit circle.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polynomial of degree </a:t>
                </a:r>
                <a:r>
                  <a:rPr lang="en-IN" sz="2400">
                    <a:solidFill>
                      <a:srgbClr val="111827"/>
                    </a:solidFill>
                    <a:latin typeface="Cambria Math" panose="02040503050406030204" pitchFamily="18" charset="0"/>
                  </a:rPr>
                  <a:t>$d$</a:t>
                </a:r>
                <a:r>
                  <a:rPr sz="2400" b="0">
                    <a:solidFill>
                      <a:srgbClr val="111827"/>
                    </a:solidFill>
                    <a:latin typeface="Arial"/>
                  </a:rPr>
                  <a:t> with </a:t>
                </a:r>
                <a:r>
                  <a:rPr lang="en-IN" sz="2400">
                    <a:solidFill>
                      <a:srgbClr val="111827"/>
                    </a:solidFill>
                    <a:latin typeface="Cambria Math" panose="02040503050406030204" pitchFamily="18" charset="0"/>
                  </a:rPr>
                  <a:t>$d$</a:t>
                </a:r>
                <a:r>
                  <a:rPr sz="2400" b="0">
                    <a:solidFill>
                      <a:srgbClr val="111827"/>
                    </a:solidFill>
                    <a:latin typeface="Arial"/>
                  </a:rPr>
                  <a:t> distinct roots has exactly </a:t>
                </a:r>
                <a:r>
                  <a:rPr lang="en-IN" sz="2400">
                    <a:solidFill>
                      <a:srgbClr val="111827"/>
                    </a:solidFill>
                    <a:latin typeface="Cambria Math" panose="02040503050406030204" pitchFamily="18" charset="0"/>
                  </a:rPr>
                  <a:t>$d$</a:t>
                </a:r>
                <a:r>
                  <a:rPr sz="2400" b="0">
                    <a:solidFill>
                      <a:srgbClr val="111827"/>
                    </a:solidFill>
                    <a:latin typeface="Arial"/>
                  </a:rPr>
                  <a:t> values of </a:t>
                </a:r>
                <a:r>
                  <a:rPr lang="en-IN" sz="2400">
                    <a:solidFill>
                      <a:srgbClr val="111827"/>
                    </a:solidFill>
                    <a:latin typeface="Cambria Math" panose="02040503050406030204" pitchFamily="18" charset="0"/>
                  </a:rPr>
                  <a:t>$\theta$</a:t>
                </a:r>
                <a:r>
                  <a:rPr sz="2400" b="0">
                    <a:solidFill>
                      <a:srgbClr val="111827"/>
                    </a:solidFill>
                    <a:latin typeface="Arial"/>
                  </a:rPr>
                  <a:t> if all roots have </a:t>
                </a:r>
                <a:r>
                  <a:rPr lang="en-IN" sz="2400">
                    <a:solidFill>
                      <a:srgbClr val="111827"/>
                    </a:solidFill>
                    <a:latin typeface="Cambria Math" panose="02040503050406030204" pitchFamily="18" charset="0"/>
                  </a:rPr>
                  <a:t>$r&gt;0$</a:t>
                </a:r>
                <a:r>
                  <a:rPr sz="2400" b="0">
                    <a:solidFill>
                      <a:srgbClr val="111827"/>
                    </a:solidFill>
                    <a:latin typeface="Arial"/>
                  </a:rPr>
                  <a:t> (no root at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roots of </a:t>
                </a:r>
                <a:r>
                  <a:rPr lang="en-IN" sz="2400">
                    <a:solidFill>
                      <a:srgbClr val="111827"/>
                    </a:solidFill>
                    <a:latin typeface="Cambria Math" panose="02040503050406030204" pitchFamily="18" charset="0"/>
                  </a:rPr>
                  <a:t>$z^m=-1$</a:t>
                </a:r>
                <a:r>
                  <a:rPr sz="2400" b="0">
                    <a:solidFill>
                      <a:srgbClr val="111827"/>
                    </a:solidFill>
                    <a:latin typeface="Arial"/>
                  </a:rPr>
                  <a:t> are </a:t>
                </a:r>
                <a:r>
                  <a:rPr lang="en-IN" sz="2400">
                    <a:solidFill>
                      <a:srgbClr val="111827"/>
                    </a:solidFill>
                    <a:latin typeface="Cambria Math" panose="02040503050406030204" pitchFamily="18" charset="0"/>
                  </a:rPr>
                  <a:t>$e^{i(2k+1)\pi/m}$</a:t>
                </a:r>
                <a:r>
                  <a:rPr sz="2400" b="0">
                    <a:solidFill>
                      <a:srgbClr val="111827"/>
                    </a:solidFill>
                    <a:latin typeface="Arial"/>
                  </a:rPr>
                  <a:t>, </a:t>
                </a:r>
                <a:r>
                  <a:rPr lang="en-IN" sz="2400">
                    <a:solidFill>
                      <a:srgbClr val="111827"/>
                    </a:solidFill>
                    <a:latin typeface="Cambria Math" panose="02040503050406030204" pitchFamily="18" charset="0"/>
                  </a:rPr>
                  <a:t>$k=0,\dots,m-1$</a:t>
                </a:r>
                <a:r>
                  <a:rPr sz="2400" b="0">
                    <a:solidFill>
                      <a:srgbClr val="111827"/>
                    </a:solidFill>
                    <a:latin typeface="Arial"/>
                  </a:rPr>
                  <a:t> (note </a:t>
                </a:r>
                <a:r>
                  <a:rPr lang="en-IN" sz="2400">
                    <a:solidFill>
                      <a:srgbClr val="111827"/>
                    </a:solidFill>
                    <a:latin typeface="Cambria Math" panose="02040503050406030204" pitchFamily="18" charset="0"/>
                  </a:rPr>
                  <a:t>$k$</a:t>
                </a:r>
                <a:r>
                  <a:rPr sz="2400" b="0">
                    <a:solidFill>
                      <a:srgbClr val="111827"/>
                    </a:solidFill>
                    <a:latin typeface="Arial"/>
                  </a:rPr>
                  <a:t> starts at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all eight </a:t>
                </a:r>
                <a:r>
                  <a:rPr lang="en-IN" sz="2400">
                    <a:solidFill>
                      <a:srgbClr val="111827"/>
                    </a:solidFill>
                    <a:latin typeface="Cambria Math" panose="02040503050406030204" pitchFamily="18" charset="0"/>
                  </a:rPr>
                  <a:t>$e^{i(2n+1)\pi/9}$</a:t>
                </a:r>
                <a:r>
                  <a:rPr sz="2400" b="0">
                    <a:solidFill>
                      <a:srgbClr val="111827"/>
                    </a:solidFill>
                    <a:latin typeface="Arial"/>
                  </a:rPr>
                  <a:t>, </a:t>
                </a:r>
                <a:r>
                  <a:rPr lang="en-IN" sz="2400">
                    <a:solidFill>
                      <a:srgbClr val="111827"/>
                    </a:solidFill>
                    <a:latin typeface="Cambria Math" panose="02040503050406030204" pitchFamily="18" charset="0"/>
                  </a:rPr>
                  <a:t>$n\ne4$</a:t>
                </a:r>
                <a:r>
                  <a:rPr sz="2400" b="0">
                    <a:solidFill>
                      <a:srgbClr val="111827"/>
                    </a:solidFill>
                    <a:latin typeface="Arial"/>
                  </a:rPr>
                  <a:t>, give </a:t>
                </a:r>
                <a:r>
                  <a:rPr lang="en-IN" sz="2400">
                    <a:solidFill>
                      <a:srgbClr val="111827"/>
                    </a:solidFill>
                    <a:latin typeface="Cambria Math" panose="02040503050406030204" pitchFamily="18" charset="0"/>
                  </a:rPr>
                  <a:t>$|f(z)|&lt;10^{-9}$</a:t>
                </a:r>
                <a:r>
                  <a:rPr sz="2400" b="0">
                    <a:solidFill>
                      <a:srgbClr val="111827"/>
                    </a:solidFill>
                    <a:latin typeface="Arial"/>
                  </a:rPr>
                  <a:t>, while </a:t>
                </a:r>
                <a:r>
                  <a:rPr lang="en-IN" sz="2400">
                    <a:solidFill>
                      <a:srgbClr val="111827"/>
                    </a:solidFill>
                    <a:latin typeface="Cambria Math" panose="02040503050406030204" pitchFamily="18" charset="0"/>
                  </a:rPr>
                  <a:t>$z=-1$</a:t>
                </a:r>
                <a:r>
                  <a:rPr sz="2400" b="0">
                    <a:solidFill>
                      <a:srgbClr val="111827"/>
                    </a:solidFill>
                    <a:latin typeface="Arial"/>
                  </a:rPr>
                  <a:t> gives </a:t>
                </a:r>
                <a:r>
                  <a:rPr lang="en-IN" sz="2400">
                    <a:solidFill>
                      <a:srgbClr val="111827"/>
                    </a:solidFill>
                    <a:latin typeface="Cambria Math" panose="02040503050406030204" pitchFamily="18" charset="0"/>
                  </a:rPr>
                  <a:t>$f(-1)=9$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complex numbers such that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then the maximum value of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58</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29</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87</m:t>
                    </m:r>
                  </m:oMath>
                </a14:m>
                <a:r>
                  <a:rPr sz="2400" b="0">
                    <a:solidFill>
                      <a:srgbClr val="111827"/>
                    </a:solidFill>
                    <a:latin typeface="Arial"/>
                  </a:rPr>
                  <a:t>   (D) None of these</a:t>
                </a:r>
                <a:endParaRPr sz="2400">
                  <a:solidFill>
                    <a:srgbClr val="111827"/>
                  </a:solidFill>
                </a:endParaRPr>
              </a:p>
            </p:txBody>
          </p:sp>
        </mc:Choice>
        <mc:Fallback>
          <p:sp>
            <p:nvSpPr>
              <p:cNvPr id="4" name="Rounded Rectangle 3"/>
              <p:cNvSpPr/>
              <p:nvPr/>
            </p:nvSpPr>
            <p:spPr>
              <a:xfrm>
                <a:off x="731520" y="1280160"/>
                <a:ext cx="10725912" cy="207162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$z_1,z_2,z_3$</a:t>
                </a:r>
                <a:r>
                  <a:rPr sz="2400" b="0">
                    <a:solidFill>
                      <a:srgbClr val="111827"/>
                    </a:solidFill>
                    <a:latin typeface="Arial"/>
                  </a:rPr>
                  <a:t> are complex numbers such that </a:t>
                </a:r>
                <a:r>
                  <a:rPr lang="en-IN" sz="2400">
                    <a:solidFill>
                      <a:srgbClr val="111827"/>
                    </a:solidFill>
                    <a:latin typeface="Cambria Math" panose="02040503050406030204" pitchFamily="18" charset="0"/>
                  </a:rPr>
                  <a:t>$|z_1|=2$</a:t>
                </a:r>
                <a:r>
                  <a:rPr sz="2400" b="0">
                    <a:solidFill>
                      <a:srgbClr val="111827"/>
                    </a:solidFill>
                    <a:latin typeface="Arial"/>
                  </a:rPr>
                  <a:t>, </a:t>
                </a:r>
                <a:r>
                  <a:rPr lang="en-IN" sz="2400">
                    <a:solidFill>
                      <a:srgbClr val="111827"/>
                    </a:solidFill>
                    <a:latin typeface="Cambria Math" panose="02040503050406030204" pitchFamily="18" charset="0"/>
                  </a:rPr>
                  <a:t>$|z_2|=3$</a:t>
                </a:r>
                <a:r>
                  <a:rPr sz="2400" b="0">
                    <a:solidFill>
                      <a:srgbClr val="111827"/>
                    </a:solidFill>
                    <a:latin typeface="Arial"/>
                  </a:rPr>
                  <a:t>, </a:t>
                </a:r>
                <a:r>
                  <a:rPr lang="en-IN" sz="2400">
                    <a:solidFill>
                      <a:srgbClr val="111827"/>
                    </a:solidFill>
                    <a:latin typeface="Cambria Math" panose="02040503050406030204" pitchFamily="18" charset="0"/>
                  </a:rPr>
                  <a:t>$|z_3|=4$</a:t>
                </a:r>
                <a:r>
                  <a:rPr sz="2400" b="0">
                    <a:solidFill>
                      <a:srgbClr val="111827"/>
                    </a:solidFill>
                    <a:latin typeface="Arial"/>
                  </a:rPr>
                  <a:t>, then the maximum value of </a:t>
                </a:r>
                <a:r>
                  <a:rPr lang="en-IN" sz="2400">
                    <a:solidFill>
                      <a:srgbClr val="111827"/>
                    </a:solidFill>
                    <a:latin typeface="Cambria Math" panose="02040503050406030204" pitchFamily="18" charset="0"/>
                  </a:rPr>
                  <a:t>$|z_1-z_2|^2+|z_2-z_3|^2+|z_3-z_1|^2$</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$58$</a:t>
                </a:r>
                <a:r>
                  <a:rPr sz="2400" b="0">
                    <a:solidFill>
                      <a:srgbClr val="111827"/>
                    </a:solidFill>
                    <a:latin typeface="Arial"/>
                  </a:rPr>
                  <a:t>   (B) </a:t>
                </a:r>
                <a:r>
                  <a:rPr lang="en-IN" sz="2400">
                    <a:solidFill>
                      <a:srgbClr val="111827"/>
                    </a:solidFill>
                    <a:latin typeface="Cambria Math" panose="02040503050406030204" pitchFamily="18" charset="0"/>
                  </a:rPr>
                  <a:t>$29$</a:t>
                </a:r>
                <a:r>
                  <a:rPr sz="2400" b="0">
                    <a:solidFill>
                      <a:srgbClr val="111827"/>
                    </a:solidFill>
                    <a:latin typeface="Arial"/>
                  </a:rPr>
                  <a:t>   (C) </a:t>
                </a:r>
                <a:r>
                  <a:rPr lang="en-IN" sz="2400">
                    <a:solidFill>
                      <a:srgbClr val="111827"/>
                    </a:solidFill>
                    <a:latin typeface="Cambria Math" panose="02040503050406030204" pitchFamily="18" charset="0"/>
                  </a:rPr>
                  <a:t>$87$</a:t>
                </a:r>
                <a:r>
                  <a:rPr sz="2400" b="0">
                    <a:solidFill>
                      <a:srgbClr val="111827"/>
                    </a:solidFill>
                    <a:latin typeface="Arial"/>
                  </a:rPr>
                  <a:t>   (D) None of these</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and geometry of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5" name="Rectangle 4"/>
              <p:cNvSpPr/>
              <p:nvPr/>
            </p:nvSpPr>
            <p:spPr>
              <a:xfrm>
                <a:off x="731520" y="358038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and geometry of </a:t>
                </a:r>
                <a:r>
                  <a:rPr lang="en-IN" sz="2400">
                    <a:solidFill>
                      <a:srgbClr val="111827"/>
                    </a:solidFill>
                    <a:latin typeface="Cambria Math" panose="02040503050406030204" pitchFamily="18" charset="0"/>
                  </a:rPr>
                  <a:t>$|z_1-z_2|$</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Expanding gives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𝑖</m:t>
                        </m:r>
                      </m:sub>
                    </m:sSub>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so the sum is largest when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Expanding gives </a:t>
                </a:r>
                <a:r>
                  <a:rPr lang="en-IN" sz="2400">
                    <a:solidFill>
                      <a:srgbClr val="78350F"/>
                    </a:solidFill>
                    <a:latin typeface="Cambria Math" panose="02040503050406030204" pitchFamily="18" charset="0"/>
                  </a:rPr>
                  <a:t>$3\sum|z_i|^2-|z_1+z_2+z_3|^2$</a:t>
                </a:r>
                <a:r>
                  <a:rPr sz="2400" b="0">
                    <a:solidFill>
                      <a:srgbClr val="78350F"/>
                    </a:solidFill>
                    <a:latin typeface="Arial"/>
                  </a:rPr>
                  <a:t>, so the sum is largest when </a:t>
                </a:r>
                <a:r>
                  <a:rPr lang="en-IN" sz="2400">
                    <a:solidFill>
                      <a:srgbClr val="78350F"/>
                    </a:solidFill>
                    <a:latin typeface="Cambria Math" panose="02040503050406030204" pitchFamily="18" charset="0"/>
                  </a:rPr>
                  <a:t>$z_1+z_2+z_3=0$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oMath>
                </a14:m>
                <a:r>
                  <a:rPr sz="2400" b="0">
                    <a:solidFill>
                      <a:srgbClr val="111827"/>
                    </a:solidFill>
                    <a:latin typeface="Arial"/>
                  </a:rPr>
                  <a:t> be the position vectors of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each square: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oMath>
                </a14:m>
                <a:r>
                  <a:rPr sz="2400" b="0">
                    <a:solidFill>
                      <a:srgbClr val="111827"/>
                    </a:solidFill>
                    <a:latin typeface="Arial"/>
                  </a:rPr>
                  <a:t>, and similarly for the other two.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$\vec a,\vec b,\vec c$</a:t>
                </a:r>
                <a:r>
                  <a:rPr sz="2400" b="0">
                    <a:solidFill>
                      <a:srgbClr val="111827"/>
                    </a:solidFill>
                    <a:latin typeface="Arial"/>
                  </a:rPr>
                  <a:t> be the position vectors of </a:t>
                </a:r>
                <a:r>
                  <a:rPr lang="en-IN" sz="2400">
                    <a:solidFill>
                      <a:srgbClr val="111827"/>
                    </a:solidFill>
                    <a:latin typeface="Cambria Math" panose="02040503050406030204" pitchFamily="18" charset="0"/>
                  </a:rPr>
                  <a:t>$z_1,z_2,z_3$</a:t>
                </a:r>
                <a:r>
                  <a:rPr sz="2400" b="0">
                    <a:solidFill>
                      <a:srgbClr val="111827"/>
                    </a:solidFill>
                    <a:latin typeface="Arial"/>
                  </a:rPr>
                  <a:t>, so </a:t>
                </a:r>
                <a:r>
                  <a:rPr lang="en-IN" sz="2400">
                    <a:solidFill>
                      <a:srgbClr val="111827"/>
                    </a:solidFill>
                    <a:latin typeface="Cambria Math" panose="02040503050406030204" pitchFamily="18" charset="0"/>
                  </a:rPr>
                  <a:t>$|\vec a|=2$</a:t>
                </a:r>
                <a:r>
                  <a:rPr sz="2400" b="0">
                    <a:solidFill>
                      <a:srgbClr val="111827"/>
                    </a:solidFill>
                    <a:latin typeface="Arial"/>
                  </a:rPr>
                  <a:t>, </a:t>
                </a:r>
                <a:r>
                  <a:rPr lang="en-IN" sz="2400">
                    <a:solidFill>
                      <a:srgbClr val="111827"/>
                    </a:solidFill>
                    <a:latin typeface="Cambria Math" panose="02040503050406030204" pitchFamily="18" charset="0"/>
                  </a:rPr>
                  <a:t>$|\vec b|=3$</a:t>
                </a:r>
                <a:r>
                  <a:rPr sz="2400" b="0">
                    <a:solidFill>
                      <a:srgbClr val="111827"/>
                    </a:solidFill>
                    <a:latin typeface="Arial"/>
                  </a:rPr>
                  <a:t>, </a:t>
                </a:r>
                <a:r>
                  <a:rPr lang="en-IN" sz="2400">
                    <a:solidFill>
                      <a:srgbClr val="111827"/>
                    </a:solidFill>
                    <a:latin typeface="Cambria Math" panose="02040503050406030204" pitchFamily="18" charset="0"/>
                  </a:rPr>
                  <a:t>$|\vec c|=4$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each square: </a:t>
                </a:r>
                <a:r>
                  <a:rPr lang="en-IN" sz="2400">
                    <a:solidFill>
                      <a:srgbClr val="111827"/>
                    </a:solidFill>
                    <a:latin typeface="Cambria Math" panose="02040503050406030204" pitchFamily="18" charset="0"/>
                  </a:rPr>
                  <a:t>$|z_1-z_2|^2=|\vec a|^2+|\vec b|^2-2\vec a\cdot\vec b$</a:t>
                </a:r>
                <a:r>
                  <a:rPr sz="2400" b="0">
                    <a:solidFill>
                      <a:srgbClr val="111827"/>
                    </a:solidFill>
                    <a:latin typeface="Arial"/>
                  </a:rPr>
                  <a:t>, and similarly for the other two.</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$S=2(4+9+16)-2(\vec a\cdot\vec b+\vec b\cdot\vec c+\vec c\cdot\vec a)=58-2(\vec a\cdot\vec b+\vec b\cdot\vec c+\vec c\cdot\vec 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r>
                  <a:rPr lang="en-IN" sz="2400">
                    <a:solidFill>
                      <a:srgbClr val="111827"/>
                    </a:solidFill>
                    <a:latin typeface="Cambria Math" panose="02040503050406030204" pitchFamily="18" charset="0"/>
                  </a:rPr>
                  <a:t>$|\vec a+\vec b+\vec c|^2=29+2(\vec a\cdot\vec b+\vec b\cdot\vec c+\vec c\cdot\vec a)\ge 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is maximum when the dot-product sum is smallest, i.e.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maximum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29</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bound is attained: since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4</m:t>
                    </m:r>
                  </m:oMath>
                </a14:m>
                <a:r>
                  <a:rPr sz="2400" b="0">
                    <a:solidFill>
                      <a:srgbClr val="111827"/>
                    </a:solidFill>
                    <a:latin typeface="Arial"/>
                  </a:rPr>
                  <a:t> (triangle inequality on the moduli), vectors of lengths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can be chosen with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𝑎</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𝑏</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𝑐</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0</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maximum value is </a:t>
                </a:r>
                <a14:m>
                  <m:oMath xmlns:m="http://schemas.openxmlformats.org/officeDocument/2006/math">
                    <m:r>
                      <a:rPr lang="en-IN" sz="2400" i="1">
                        <a:solidFill>
                          <a:srgbClr val="111827"/>
                        </a:solidFill>
                        <a:latin typeface="Cambria Math" panose="02040503050406030204" pitchFamily="18" charset="0"/>
                      </a:rPr>
                      <m:t>87</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$\vec a\cdot\vec b+\vec b\cdot\vec c+\vec c\cdot\vec a\ge -\frac{29}{2}$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a:t>
                </a:r>
                <a:r>
                  <a:rPr sz="2400" b="0">
                    <a:solidFill>
                      <a:srgbClr val="111827"/>
                    </a:solidFill>
                    <a:latin typeface="Arial"/>
                  </a:rPr>
                  <a:t> is maximum when the dot-product sum is smallest, i.e. </a:t>
                </a:r>
                <a:r>
                  <a:rPr lang="en-IN" sz="2400">
                    <a:solidFill>
                      <a:srgbClr val="111827"/>
                    </a:solidFill>
                    <a:latin typeface="Cambria Math" panose="02040503050406030204" pitchFamily="18" charset="0"/>
                  </a:rPr>
                  <a:t>$-\frac{29}{2}$</a:t>
                </a:r>
                <a:r>
                  <a:rPr sz="2400" b="0">
                    <a:solidFill>
                      <a:srgbClr val="111827"/>
                    </a:solidFill>
                    <a:latin typeface="Arial"/>
                  </a:rPr>
                  <a:t>: maximum </a:t>
                </a:r>
                <a:r>
                  <a:rPr lang="en-IN" sz="2400">
                    <a:solidFill>
                      <a:srgbClr val="111827"/>
                    </a:solidFill>
                    <a:latin typeface="Cambria Math" panose="02040503050406030204" pitchFamily="18" charset="0"/>
                  </a:rPr>
                  <a:t>$S=58-2\times\left(-\frac{29}{2}\right)=87$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bound is attained: since </a:t>
                </a:r>
                <a:r>
                  <a:rPr lang="en-IN" sz="2400">
                    <a:solidFill>
                      <a:srgbClr val="111827"/>
                    </a:solidFill>
                    <a:latin typeface="Cambria Math" panose="02040503050406030204" pitchFamily="18" charset="0"/>
                  </a:rPr>
                  <a:t>$2+3&gt;4$</a:t>
                </a:r>
                <a:r>
                  <a:rPr sz="2400" b="0">
                    <a:solidFill>
                      <a:srgbClr val="111827"/>
                    </a:solidFill>
                    <a:latin typeface="Arial"/>
                  </a:rPr>
                  <a:t> (triangle inequality on the moduli), vectors of lengths </a:t>
                </a:r>
                <a:r>
                  <a:rPr lang="en-IN" sz="2400">
                    <a:solidFill>
                      <a:srgbClr val="111827"/>
                    </a:solidFill>
                    <a:latin typeface="Cambria Math" panose="02040503050406030204" pitchFamily="18" charset="0"/>
                  </a:rPr>
                  <a:t>$2,3,4$</a:t>
                </a:r>
                <a:r>
                  <a:rPr sz="2400" b="0">
                    <a:solidFill>
                      <a:srgbClr val="111827"/>
                    </a:solidFill>
                    <a:latin typeface="Arial"/>
                  </a:rPr>
                  <a:t> can be chosen with </a:t>
                </a:r>
                <a:r>
                  <a:rPr lang="en-IN" sz="2400">
                    <a:solidFill>
                      <a:srgbClr val="111827"/>
                    </a:solidFill>
                    <a:latin typeface="Cambria Math" panose="02040503050406030204" pitchFamily="18" charset="0"/>
                  </a:rPr>
                  <a:t>$\vec a+\vec b+\vec c=\vec 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maximum value is </a:t>
                </a:r>
                <a:r>
                  <a:rPr lang="en-IN" sz="2400">
                    <a:solidFill>
                      <a:srgbClr val="111827"/>
                    </a:solidFill>
                    <a:latin typeface="Cambria Math" panose="02040503050406030204" pitchFamily="18" charset="0"/>
                  </a:rPr>
                  <a:t>$87$</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87</a:t>
            </a:r>
            <a:endParaRPr sz="2800">
              <a:solidFill>
                <a:srgbClr val="15803D"/>
              </a:solidFill>
            </a:endParaRP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three complex numbers,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on the left and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on the right).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fixed moduli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that satisfy the triangle inequalities, the maximum is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(attained when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the minimum is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(all same argument). Here the minimum is </a:t>
                </a:r>
                <a14:m>
                  <m:oMath xmlns:m="http://schemas.openxmlformats.org/officeDocument/2006/math">
                    <m:r>
                      <a:rPr lang="en-IN" sz="2400" i="1">
                        <a:solidFill>
                          <a:srgbClr val="111827"/>
                        </a:solidFill>
                        <a:latin typeface="Cambria Math" panose="02040503050406030204" pitchFamily="18" charset="0"/>
                      </a:rPr>
                      <m:t>87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one modulus exceeds the sum of the other two,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impossible; then the smallest possible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(largest modulus)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(sum of the others), and the maximum becomes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𝑡ℎ𝑎𝑡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Parallelogram law: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three complex numbers, </a:t>
                </a:r>
                <a:r>
                  <a:rPr lang="en-IN" sz="2400">
                    <a:solidFill>
                      <a:srgbClr val="111827"/>
                    </a:solidFill>
                    <a:latin typeface="Cambria Math" panose="02040503050406030204" pitchFamily="18" charset="0"/>
                  </a:rPr>
                  <a:t>$|z_1-z_2|^2+|z_2-z_3|^2+|z_3-z_1|^2=3(|z_1|^2+|z_2|^2+|z_3|^2)-|z_1+z_2+z_3|^2$</a:t>
                </a:r>
                <a:r>
                  <a:rPr sz="2400" b="0">
                    <a:solidFill>
                      <a:srgbClr val="111827"/>
                    </a:solidFill>
                    <a:latin typeface="Arial"/>
                  </a:rPr>
                  <a:t> (check: </a:t>
                </a:r>
                <a:r>
                  <a:rPr lang="en-IN" sz="2400">
                    <a:solidFill>
                      <a:srgbClr val="111827"/>
                    </a:solidFill>
                    <a:latin typeface="Cambria Math" panose="02040503050406030204" pitchFamily="18" charset="0"/>
                  </a:rPr>
                  <a:t>$z=1,i,-1$</a:t>
                </a:r>
                <a:r>
                  <a:rPr sz="2400" b="0">
                    <a:solidFill>
                      <a:srgbClr val="111827"/>
                    </a:solidFill>
                    <a:latin typeface="Arial"/>
                  </a:rPr>
                  <a:t> gives </a:t>
                </a:r>
                <a:r>
                  <a:rPr lang="en-IN" sz="2400">
                    <a:solidFill>
                      <a:srgbClr val="111827"/>
                    </a:solidFill>
                    <a:latin typeface="Cambria Math" panose="02040503050406030204" pitchFamily="18" charset="0"/>
                  </a:rPr>
                  <a:t>$2+4+2=8$</a:t>
                </a:r>
                <a:r>
                  <a:rPr sz="2400" b="0">
                    <a:solidFill>
                      <a:srgbClr val="111827"/>
                    </a:solidFill>
                    <a:latin typeface="Arial"/>
                  </a:rPr>
                  <a:t> on the left and </a:t>
                </a:r>
                <a:r>
                  <a:rPr lang="en-IN" sz="2400">
                    <a:solidFill>
                      <a:srgbClr val="111827"/>
                    </a:solidFill>
                    <a:latin typeface="Cambria Math" panose="02040503050406030204" pitchFamily="18" charset="0"/>
                  </a:rPr>
                  <a:t>$9-1=8$</a:t>
                </a:r>
                <a:r>
                  <a:rPr sz="2400" b="0">
                    <a:solidFill>
                      <a:srgbClr val="111827"/>
                    </a:solidFill>
                    <a:latin typeface="Arial"/>
                  </a:rPr>
                  <a:t> on the right).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fixed moduli </a:t>
                </a:r>
                <a:r>
                  <a:rPr lang="en-IN" sz="2400">
                    <a:solidFill>
                      <a:srgbClr val="111827"/>
                    </a:solidFill>
                    <a:latin typeface="Cambria Math" panose="02040503050406030204" pitchFamily="18" charset="0"/>
                  </a:rPr>
                  <a:t>$r_1,r_2,r_3$</a:t>
                </a:r>
                <a:r>
                  <a:rPr sz="2400" b="0">
                    <a:solidFill>
                      <a:srgbClr val="111827"/>
                    </a:solidFill>
                    <a:latin typeface="Arial"/>
                  </a:rPr>
                  <a:t> that satisfy the triangle inequalities, the maximum is </a:t>
                </a:r>
                <a:r>
                  <a:rPr lang="en-IN" sz="2400">
                    <a:solidFill>
                      <a:srgbClr val="111827"/>
                    </a:solidFill>
                    <a:latin typeface="Cambria Math" panose="02040503050406030204" pitchFamily="18" charset="0"/>
                  </a:rPr>
                  <a:t>$3\sum r_i^2$</a:t>
                </a:r>
                <a:r>
                  <a:rPr sz="2400" b="0">
                    <a:solidFill>
                      <a:srgbClr val="111827"/>
                    </a:solidFill>
                    <a:latin typeface="Arial"/>
                  </a:rPr>
                  <a:t> (attained when </a:t>
                </a:r>
                <a:r>
                  <a:rPr lang="en-IN" sz="2400">
                    <a:solidFill>
                      <a:srgbClr val="111827"/>
                    </a:solidFill>
                    <a:latin typeface="Cambria Math" panose="02040503050406030204" pitchFamily="18" charset="0"/>
                  </a:rPr>
                  <a:t>$z_1+z_2+z_3=0$</a:t>
                </a:r>
                <a:r>
                  <a:rPr sz="2400" b="0">
                    <a:solidFill>
                      <a:srgbClr val="111827"/>
                    </a:solidFill>
                    <a:latin typeface="Arial"/>
                  </a:rPr>
                  <a:t>) and the minimum is </a:t>
                </a:r>
                <a:r>
                  <a:rPr lang="en-IN" sz="2400">
                    <a:solidFill>
                      <a:srgbClr val="111827"/>
                    </a:solidFill>
                    <a:latin typeface="Cambria Math" panose="02040503050406030204" pitchFamily="18" charset="0"/>
                  </a:rPr>
                  <a:t>$3\sum r_i^2-(r_1+r_2+r_3)^2$</a:t>
                </a:r>
                <a:r>
                  <a:rPr sz="2400" b="0">
                    <a:solidFill>
                      <a:srgbClr val="111827"/>
                    </a:solidFill>
                    <a:latin typeface="Arial"/>
                  </a:rPr>
                  <a:t> (all same argument). Here the minimum is </a:t>
                </a:r>
                <a:r>
                  <a:rPr lang="en-IN" sz="2400">
                    <a:solidFill>
                      <a:srgbClr val="111827"/>
                    </a:solidFill>
                    <a:latin typeface="Cambria Math" panose="02040503050406030204" pitchFamily="18" charset="0"/>
                  </a:rPr>
                  <a:t>$87-81=6$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one modulus exceeds the sum of the other two, </a:t>
                </a:r>
                <a:r>
                  <a:rPr lang="en-IN" sz="2400">
                    <a:solidFill>
                      <a:srgbClr val="111827"/>
                    </a:solidFill>
                    <a:latin typeface="Cambria Math" panose="02040503050406030204" pitchFamily="18" charset="0"/>
                  </a:rPr>
                  <a:t>$z_1+z_2+z_3=0$</a:t>
                </a:r>
                <a:r>
                  <a:rPr sz="2400" b="0">
                    <a:solidFill>
                      <a:srgbClr val="111827"/>
                    </a:solidFill>
                    <a:latin typeface="Arial"/>
                  </a:rPr>
                  <a:t> is impossible; then the smallest possible </a:t>
                </a:r>
                <a:r>
                  <a:rPr lang="en-IN" sz="2400">
                    <a:solidFill>
                      <a:srgbClr val="111827"/>
                    </a:solidFill>
                    <a:latin typeface="Cambria Math" panose="02040503050406030204" pitchFamily="18" charset="0"/>
                  </a:rPr>
                  <a:t>$|z_1+z_2+z_3|$</a:t>
                </a:r>
                <a:r>
                  <a:rPr sz="2400" b="0">
                    <a:solidFill>
                      <a:srgbClr val="111827"/>
                    </a:solidFill>
                    <a:latin typeface="Arial"/>
                  </a:rPr>
                  <a:t> is (largest modulus) </a:t>
                </a:r>
                <a:r>
                  <a:rPr lang="en-IN" sz="2400">
                    <a:solidFill>
                      <a:srgbClr val="111827"/>
                    </a:solidFill>
                    <a:latin typeface="Cambria Math" panose="02040503050406030204" pitchFamily="18" charset="0"/>
                  </a:rPr>
                  <a:t>$-$</a:t>
                </a:r>
                <a:r>
                  <a:rPr sz="2400" b="0">
                    <a:solidFill>
                      <a:srgbClr val="111827"/>
                    </a:solidFill>
                    <a:latin typeface="Arial"/>
                  </a:rPr>
                  <a:t> (sum of the others), and the maximum becomes </a:t>
                </a:r>
                <a:r>
                  <a:rPr lang="en-IN" sz="2400">
                    <a:solidFill>
                      <a:srgbClr val="111827"/>
                    </a:solidFill>
                    <a:latin typeface="Cambria Math" panose="02040503050406030204" pitchFamily="18" charset="0"/>
                  </a:rPr>
                  <a:t>$3\sum r_i^2-(\text{that})^2$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Parallelogram law: </a:t>
                </a:r>
                <a:r>
                  <a:rPr lang="en-IN" sz="2400">
                    <a:solidFill>
                      <a:srgbClr val="111827"/>
                    </a:solidFill>
                    <a:latin typeface="Cambria Math" panose="02040503050406030204" pitchFamily="18" charset="0"/>
                  </a:rPr>
                  <a:t>$|z_1-z_2|^2+|z_1+z_2|^2=2(|z_1|^2+|z_2|^2)$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434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100</m:t>
                        </m:r>
                      </m: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e>
                        </m:d>
                      </m:e>
                    </m:nary>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 is a complex cube root of unity,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190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192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190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192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endParaRPr sz="2400">
                  <a:solidFill>
                    <a:srgbClr val="111827"/>
                  </a:solidFill>
                </a:endParaRPr>
              </a:p>
            </p:txBody>
          </p:sp>
        </mc:Choice>
        <mc:Fallback>
          <p:sp>
            <p:nvSpPr>
              <p:cNvPr id="4" name="Rounded Rectangle 3"/>
              <p:cNvSpPr/>
              <p:nvPr/>
            </p:nvSpPr>
            <p:spPr>
              <a:xfrm>
                <a:off x="731520" y="1280160"/>
                <a:ext cx="10725912" cy="24434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$\sum_{k=1}^{100}\left(i^{k!}+\omega^{k!}\right)$</a:t>
                </a:r>
                <a:r>
                  <a:rPr sz="2400" b="0">
                    <a:solidFill>
                      <a:srgbClr val="111827"/>
                    </a:solidFill>
                    <a:latin typeface="Arial"/>
                  </a:rPr>
                  <a:t>, where </a:t>
                </a:r>
                <a:r>
                  <a:rPr lang="en-IN" sz="2400">
                    <a:solidFill>
                      <a:srgbClr val="111827"/>
                    </a:solidFill>
                    <a:latin typeface="Cambria Math" panose="02040503050406030204" pitchFamily="18" charset="0"/>
                  </a:rPr>
                  <a:t>$i=\sqrt{-1}$</a:t>
                </a:r>
                <a:r>
                  <a:rPr sz="2400" b="0">
                    <a:solidFill>
                      <a:srgbClr val="111827"/>
                    </a:solidFill>
                    <a:latin typeface="Arial"/>
                  </a:rPr>
                  <a:t> and </a:t>
                </a:r>
                <a:r>
                  <a:rPr lang="en-IN" sz="2400">
                    <a:solidFill>
                      <a:srgbClr val="111827"/>
                    </a:solidFill>
                    <a:latin typeface="Cambria Math" panose="02040503050406030204" pitchFamily="18" charset="0"/>
                  </a:rPr>
                  <a:t>$\omega$</a:t>
                </a:r>
                <a:r>
                  <a:rPr sz="2400" b="0">
                    <a:solidFill>
                      <a:srgbClr val="111827"/>
                    </a:solidFill>
                    <a:latin typeface="Arial"/>
                  </a:rPr>
                  <a:t> is a complex cube root of unity,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$190+\omega$</a:t>
                </a:r>
                <a:r>
                  <a:rPr sz="2400" b="0">
                    <a:solidFill>
                      <a:srgbClr val="111827"/>
                    </a:solidFill>
                    <a:latin typeface="Arial"/>
                  </a:rPr>
                  <a:t>   (B) </a:t>
                </a:r>
                <a:r>
                  <a:rPr lang="en-IN" sz="2400">
                    <a:solidFill>
                      <a:srgbClr val="111827"/>
                    </a:solidFill>
                    <a:latin typeface="Cambria Math" panose="02040503050406030204" pitchFamily="18" charset="0"/>
                  </a:rPr>
                  <a:t>$192+\omega^2$</a:t>
                </a:r>
                <a:r>
                  <a:rPr sz="2400" b="0">
                    <a:solidFill>
                      <a:srgbClr val="111827"/>
                    </a:solidFill>
                    <a:latin typeface="Arial"/>
                  </a:rPr>
                  <a:t>   (C) </a:t>
                </a:r>
                <a:r>
                  <a:rPr lang="en-IN" sz="2400">
                    <a:solidFill>
                      <a:srgbClr val="111827"/>
                    </a:solidFill>
                    <a:latin typeface="Cambria Math" panose="02040503050406030204" pitchFamily="18" charset="0"/>
                  </a:rPr>
                  <a:t>$190+i$</a:t>
                </a:r>
                <a:r>
                  <a:rPr sz="2400" b="0">
                    <a:solidFill>
                      <a:srgbClr val="111827"/>
                    </a:solidFill>
                    <a:latin typeface="Arial"/>
                  </a:rPr>
                  <a:t>   (D) </a:t>
                </a:r>
                <a:r>
                  <a:rPr lang="en-IN" sz="2400">
                    <a:solidFill>
                      <a:srgbClr val="111827"/>
                    </a:solidFill>
                    <a:latin typeface="Cambria Math" panose="02040503050406030204" pitchFamily="18" charset="0"/>
                  </a:rPr>
                  <a:t>$192+i$</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9522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Powers of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and cube roots of unity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5" name="Rectangle 4"/>
              <p:cNvSpPr/>
              <p:nvPr/>
            </p:nvSpPr>
            <p:spPr>
              <a:xfrm>
                <a:off x="731520" y="39522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Powers of </a:t>
                </a:r>
                <a:r>
                  <a:rPr lang="en-IN" sz="2400">
                    <a:solidFill>
                      <a:srgbClr val="111827"/>
                    </a:solidFill>
                    <a:latin typeface="Cambria Math" panose="02040503050406030204" pitchFamily="18" charset="0"/>
                  </a:rPr>
                  <a:t>$i$</a:t>
                </a:r>
                <a:r>
                  <a:rPr sz="2400" b="0">
                    <a:solidFill>
                      <a:srgbClr val="111827"/>
                    </a:solidFill>
                    <a:latin typeface="Arial"/>
                  </a:rPr>
                  <a:t> and cube roots of unity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14:m>
                  <m:oMath xmlns:m="http://schemas.openxmlformats.org/officeDocument/2006/math">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sSup>
                      <m:e>
                        <m:r>
                          <a:rPr lang="en-IN" sz="2400" i="1">
                            <a:solidFill>
                              <a:srgbClr val="78350F"/>
                            </a:solidFill>
                            <a:latin typeface="Cambria Math" panose="02040503050406030204" pitchFamily="18" charset="0"/>
                          </a:rPr>
                          <m:t>𝑖</m:t>
                        </m:r>
                      </m:e>
                      <m:sup>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for </a:t>
                </a:r>
                <a14:m>
                  <m:oMath xmlns:m="http://schemas.openxmlformats.org/officeDocument/2006/math">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t>
                </a:r>
                <a:r>
                  <a:rPr lang="en-IN" sz="2400">
                    <a:solidFill>
                      <a:srgbClr val="78350F"/>
                    </a:solidFill>
                    <a:latin typeface="Cambria Math" panose="02040503050406030204" pitchFamily="18" charset="0"/>
                  </a:rPr>
                  <a:t>$k\ge4$</a:t>
                </a:r>
                <a:r>
                  <a:rPr sz="2400" b="0">
                    <a:solidFill>
                      <a:srgbClr val="78350F"/>
                    </a:solidFill>
                    <a:latin typeface="Arial"/>
                  </a:rPr>
                  <a:t>, </a:t>
                </a:r>
                <a:r>
                  <a:rPr lang="en-IN" sz="2400">
                    <a:solidFill>
                      <a:srgbClr val="78350F"/>
                    </a:solidFill>
                    <a:latin typeface="Cambria Math" panose="02040503050406030204" pitchFamily="18" charset="0"/>
                  </a:rPr>
                  <a:t>$4\mid k!$</a:t>
                </a:r>
                <a:r>
                  <a:rPr sz="2400" b="0">
                    <a:solidFill>
                      <a:srgbClr val="78350F"/>
                    </a:solidFill>
                    <a:latin typeface="Arial"/>
                  </a:rPr>
                  <a:t> so </a:t>
                </a:r>
                <a:r>
                  <a:rPr lang="en-IN" sz="2400">
                    <a:solidFill>
                      <a:srgbClr val="78350F"/>
                    </a:solidFill>
                    <a:latin typeface="Cambria Math" panose="02040503050406030204" pitchFamily="18" charset="0"/>
                  </a:rPr>
                  <a:t>$i^{k!}=1$</a:t>
                </a:r>
                <a:r>
                  <a:rPr sz="2400" b="0">
                    <a:solidFill>
                      <a:srgbClr val="78350F"/>
                    </a:solidFill>
                    <a:latin typeface="Arial"/>
                  </a:rPr>
                  <a:t>; for </a:t>
                </a:r>
                <a:r>
                  <a:rPr lang="en-IN" sz="2400">
                    <a:solidFill>
                      <a:srgbClr val="78350F"/>
                    </a:solidFill>
                    <a:latin typeface="Cambria Math" panose="02040503050406030204" pitchFamily="18" charset="0"/>
                  </a:rPr>
                  <a:t>$k\ge3$</a:t>
                </a:r>
                <a:r>
                  <a:rPr sz="2400" b="0">
                    <a:solidFill>
                      <a:srgbClr val="78350F"/>
                    </a:solidFill>
                    <a:latin typeface="Arial"/>
                  </a:rPr>
                  <a:t>, </a:t>
                </a:r>
                <a:r>
                  <a:rPr lang="en-IN" sz="2400">
                    <a:solidFill>
                      <a:srgbClr val="78350F"/>
                    </a:solidFill>
                    <a:latin typeface="Cambria Math" panose="02040503050406030204" pitchFamily="18" charset="0"/>
                  </a:rPr>
                  <a:t>$3\mid k!$</a:t>
                </a:r>
                <a:r>
                  <a:rPr sz="2400" b="0">
                    <a:solidFill>
                      <a:srgbClr val="78350F"/>
                    </a:solidFill>
                    <a:latin typeface="Arial"/>
                  </a:rPr>
                  <a:t> so </a:t>
                </a:r>
                <a:r>
                  <a:rPr lang="en-IN" sz="2400">
                    <a:solidFill>
                      <a:srgbClr val="78350F"/>
                    </a:solidFill>
                    <a:latin typeface="Cambria Math" panose="02040503050406030204" pitchFamily="18" charset="0"/>
                  </a:rPr>
                  <a:t>$\omega^{k!}=1$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Split the sum: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100</m:t>
                        </m:r>
                      </m:sup>
                      <m:e>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100</m:t>
                        </m:r>
                      </m:sup>
                      <m:e>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e>
                    </m:nary>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every term with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because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There are </a:t>
                </a:r>
                <a14:m>
                  <m:oMath xmlns:m="http://schemas.openxmlformats.org/officeDocument/2006/math">
                    <m:r>
                      <a:rPr lang="en-IN" sz="2400" i="1">
                        <a:solidFill>
                          <a:srgbClr val="111827"/>
                        </a:solidFill>
                        <a:latin typeface="Cambria Math" panose="02040503050406030204" pitchFamily="18" charset="0"/>
                      </a:rPr>
                      <m:t>97</m:t>
                    </m:r>
                  </m:oMath>
                </a14:m>
                <a:r>
                  <a:rPr sz="2400" b="0">
                    <a:solidFill>
                      <a:srgbClr val="111827"/>
                    </a:solidFill>
                    <a:latin typeface="Arial"/>
                  </a:rPr>
                  <a:t> such terms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Split the sum: </a:t>
                </a:r>
                <a:r>
                  <a:rPr lang="en-IN" sz="2400">
                    <a:solidFill>
                      <a:srgbClr val="111827"/>
                    </a:solidFill>
                    <a:latin typeface="Cambria Math" panose="02040503050406030204" pitchFamily="18" charset="0"/>
                  </a:rPr>
                  <a:t>$\sum_{k=1}^{100}i^{k!}+\sum_{k=1}^{100}\omega^{k!}$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 i^{k!}=i^{1!}+i^{2!}+i^{3!}+i^{4!}+\cdots+i^{100!}=i^1+i^2+i^6+1+1+\cdots+1$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$i^2=-1$</a:t>
                </a:r>
                <a:r>
                  <a:rPr sz="2400" b="0">
                    <a:solidFill>
                      <a:srgbClr val="111827"/>
                    </a:solidFill>
                    <a:latin typeface="Arial"/>
                  </a:rPr>
                  <a:t> and </a:t>
                </a:r>
                <a:r>
                  <a:rPr lang="en-IN" sz="2400">
                    <a:solidFill>
                      <a:srgbClr val="111827"/>
                    </a:solidFill>
                    <a:latin typeface="Cambria Math" panose="02040503050406030204" pitchFamily="18" charset="0"/>
                  </a:rPr>
                  <a:t>$i^6=i^4\cdot i^2=-1$</a:t>
                </a:r>
                <a:r>
                  <a:rPr sz="2400" b="0">
                    <a:solidFill>
                      <a:srgbClr val="111827"/>
                    </a:solidFill>
                    <a:latin typeface="Arial"/>
                  </a:rPr>
                  <a:t>; every term with </a:t>
                </a:r>
                <a:r>
                  <a:rPr lang="en-IN" sz="2400">
                    <a:solidFill>
                      <a:srgbClr val="111827"/>
                    </a:solidFill>
                    <a:latin typeface="Cambria Math" panose="02040503050406030204" pitchFamily="18" charset="0"/>
                  </a:rPr>
                  <a:t>$k\ge4$</a:t>
                </a:r>
                <a:r>
                  <a:rPr sz="2400" b="0">
                    <a:solidFill>
                      <a:srgbClr val="111827"/>
                    </a:solidFill>
                    <a:latin typeface="Arial"/>
                  </a:rPr>
                  <a:t> is </a:t>
                </a:r>
                <a:r>
                  <a:rPr lang="en-IN" sz="2400">
                    <a:solidFill>
                      <a:srgbClr val="111827"/>
                    </a:solidFill>
                    <a:latin typeface="Cambria Math" panose="02040503050406030204" pitchFamily="18" charset="0"/>
                  </a:rPr>
                  <a:t>$1$</a:t>
                </a:r>
                <a:r>
                  <a:rPr sz="2400" b="0">
                    <a:solidFill>
                      <a:srgbClr val="111827"/>
                    </a:solidFill>
                    <a:latin typeface="Arial"/>
                  </a:rPr>
                  <a:t> because </a:t>
                </a:r>
                <a:r>
                  <a:rPr lang="en-IN" sz="2400">
                    <a:solidFill>
                      <a:srgbClr val="111827"/>
                    </a:solidFill>
                    <a:latin typeface="Cambria Math" panose="02040503050406030204" pitchFamily="18" charset="0"/>
                  </a:rPr>
                  <a:t>$4\mid k!$</a:t>
                </a:r>
                <a:r>
                  <a:rPr sz="2400" b="0">
                    <a:solidFill>
                      <a:srgbClr val="111827"/>
                    </a:solidFill>
                    <a:latin typeface="Arial"/>
                  </a:rPr>
                  <a:t>. There are </a:t>
                </a:r>
                <a:r>
                  <a:rPr lang="en-IN" sz="2400">
                    <a:solidFill>
                      <a:srgbClr val="111827"/>
                    </a:solidFill>
                    <a:latin typeface="Cambria Math" panose="02040503050406030204" pitchFamily="18" charset="0"/>
                  </a:rPr>
                  <a:t>$97$</a:t>
                </a:r>
                <a:r>
                  <a:rPr sz="2400" b="0">
                    <a:solidFill>
                      <a:srgbClr val="111827"/>
                    </a:solidFill>
                    <a:latin typeface="Arial"/>
                  </a:rPr>
                  <a:t> such terms (</a:t>
                </a:r>
                <a:r>
                  <a:rPr lang="en-IN" sz="2400">
                    <a:solidFill>
                      <a:srgbClr val="111827"/>
                    </a:solidFill>
                    <a:latin typeface="Cambria Math" panose="02040503050406030204" pitchFamily="18" charset="0"/>
                  </a:rPr>
                  <a:t>$k=4,\ldots,100$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$\sum i^{k!}=i-1-1+97=i-2+97=i+95$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because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 are </a:t>
                </a:r>
                <a14:m>
                  <m:oMath xmlns:m="http://schemas.openxmlformats.org/officeDocument/2006/math">
                    <m:r>
                      <a:rPr lang="en-IN" sz="2400" i="1">
                        <a:solidFill>
                          <a:srgbClr val="111827"/>
                        </a:solidFill>
                        <a:latin typeface="Cambria Math" panose="02040503050406030204" pitchFamily="18" charset="0"/>
                      </a:rPr>
                      <m:t>98</m:t>
                    </m:r>
                  </m:oMath>
                </a14:m>
                <a:r>
                  <a:rPr sz="2400" b="0">
                    <a:solidFill>
                      <a:srgbClr val="111827"/>
                    </a:solidFill>
                    <a:latin typeface="Arial"/>
                  </a:rPr>
                  <a:t> terms equal to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$\sum\omega^{k!}=\omega^{1!}+\omega^{2!}+\omega^{3!}+\cdots+\omega^{100!}=\omega+\omega^2+1+1+\cdots+1$</a:t>
                </a:r>
                <a:r>
                  <a:rPr sz="2400" b="0">
                    <a:solidFill>
                      <a:srgbClr val="111827"/>
                    </a:solidFill>
                    <a:latin typeface="Arial"/>
                  </a:rPr>
                  <a:t>, because </a:t>
                </a:r>
                <a:r>
                  <a:rPr lang="en-IN" sz="2400">
                    <a:solidFill>
                      <a:srgbClr val="111827"/>
                    </a:solidFill>
                    <a:latin typeface="Cambria Math" panose="02040503050406030204" pitchFamily="18" charset="0"/>
                  </a:rPr>
                  <a:t>$3\mid k!$</a:t>
                </a:r>
                <a:r>
                  <a:rPr sz="2400" b="0">
                    <a:solidFill>
                      <a:srgbClr val="111827"/>
                    </a:solidFill>
                    <a:latin typeface="Arial"/>
                  </a:rPr>
                  <a:t> for </a:t>
                </a:r>
                <a:r>
                  <a:rPr lang="en-IN" sz="2400">
                    <a:solidFill>
                      <a:srgbClr val="111827"/>
                    </a:solidFill>
                    <a:latin typeface="Cambria Math" panose="02040503050406030204" pitchFamily="18" charset="0"/>
                  </a:rPr>
                  <a:t>$k\ge3$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 are </a:t>
                </a:r>
                <a:r>
                  <a:rPr lang="en-IN" sz="2400">
                    <a:solidFill>
                      <a:srgbClr val="111827"/>
                    </a:solidFill>
                    <a:latin typeface="Cambria Math" panose="02040503050406030204" pitchFamily="18" charset="0"/>
                  </a:rPr>
                  <a:t>$98$</a:t>
                </a:r>
                <a:r>
                  <a:rPr sz="2400" b="0">
                    <a:solidFill>
                      <a:srgbClr val="111827"/>
                    </a:solidFill>
                    <a:latin typeface="Arial"/>
                  </a:rPr>
                  <a:t> terms equal to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$k=3,\ldots,100$</a:t>
                </a:r>
                <a:r>
                  <a:rPr sz="2400" b="0">
                    <a:solidFill>
                      <a:srgbClr val="111827"/>
                    </a:solidFill>
                    <a:latin typeface="Arial"/>
                  </a:rPr>
                  <a:t>), and </a:t>
                </a:r>
                <a:r>
                  <a:rPr lang="en-IN" sz="2400">
                    <a:solidFill>
                      <a:srgbClr val="111827"/>
                    </a:solidFill>
                    <a:latin typeface="Cambria Math" panose="02040503050406030204" pitchFamily="18" charset="0"/>
                  </a:rPr>
                  <a:t>$\omega+\omega^2=-1$</a:t>
                </a:r>
                <a:r>
                  <a:rPr sz="2400" b="0">
                    <a:solidFill>
                      <a:srgbClr val="111827"/>
                    </a:solidFill>
                    <a:latin typeface="Arial"/>
                  </a:rPr>
                  <a:t>, so </a:t>
                </a:r>
                <a:r>
                  <a:rPr lang="en-IN" sz="2400">
                    <a:solidFill>
                      <a:srgbClr val="111827"/>
                    </a:solidFill>
                    <a:latin typeface="Cambria Math" panose="02040503050406030204" pitchFamily="18" charset="0"/>
                  </a:rPr>
                  <a:t>$\sum\omega^{k!}=-1+98=97$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$=i+95+97=i+192$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192 + i</a:t>
            </a:r>
            <a:endParaRPr sz="2800">
              <a:solidFill>
                <a:srgbClr val="15803D"/>
              </a:solidFill>
            </a:endParaRP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root of unity of order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only the first few terms of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need care.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depends on </a:t>
                </a:r>
                <a14:m>
                  <m:oMath xmlns:m="http://schemas.openxmlformats.org/officeDocument/2006/math">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depends on </a:t>
                </a:r>
                <a14:m>
                  <m:oMath xmlns:m="http://schemas.openxmlformats.org/officeDocument/2006/math">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a:t>
                </a:r>
                <a:r>
                  <a:rPr sz="2400" b="0">
                    <a:solidFill>
                      <a:srgbClr val="111827"/>
                    </a:solidFill>
                    <a:latin typeface="Arial"/>
                  </a:rPr>
                  <a:t> is a root of unity of order </a:t>
                </a:r>
                <a:r>
                  <a:rPr lang="en-IN" sz="2400">
                    <a:solidFill>
                      <a:srgbClr val="111827"/>
                    </a:solidFill>
                    <a:latin typeface="Cambria Math" panose="02040503050406030204" pitchFamily="18" charset="0"/>
                  </a:rPr>
                  <a:t>$m$</a:t>
                </a:r>
                <a:r>
                  <a:rPr sz="2400" b="0">
                    <a:solidFill>
                      <a:srgbClr val="111827"/>
                    </a:solidFill>
                    <a:latin typeface="Arial"/>
                  </a:rPr>
                  <a:t>, then </a:t>
                </a:r>
                <a:r>
                  <a:rPr lang="en-IN" sz="2400">
                    <a:solidFill>
                      <a:srgbClr val="111827"/>
                    </a:solidFill>
                    <a:latin typeface="Cambria Math" panose="02040503050406030204" pitchFamily="18" charset="0"/>
                  </a:rPr>
                  <a:t>$z^{k!}=1$</a:t>
                </a:r>
                <a:r>
                  <a:rPr sz="2400" b="0">
                    <a:solidFill>
                      <a:srgbClr val="111827"/>
                    </a:solidFill>
                    <a:latin typeface="Arial"/>
                  </a:rPr>
                  <a:t> for every </a:t>
                </a:r>
                <a:r>
                  <a:rPr lang="en-IN" sz="2400">
                    <a:solidFill>
                      <a:srgbClr val="111827"/>
                    </a:solidFill>
                    <a:latin typeface="Cambria Math" panose="02040503050406030204" pitchFamily="18" charset="0"/>
                  </a:rPr>
                  <a:t>$k\ge m$</a:t>
                </a:r>
                <a:r>
                  <a:rPr sz="2400" b="0">
                    <a:solidFill>
                      <a:srgbClr val="111827"/>
                    </a:solidFill>
                    <a:latin typeface="Arial"/>
                  </a:rPr>
                  <a:t> (since </a:t>
                </a:r>
                <a:r>
                  <a:rPr lang="en-IN" sz="2400">
                    <a:solidFill>
                      <a:srgbClr val="111827"/>
                    </a:solidFill>
                    <a:latin typeface="Cambria Math" panose="02040503050406030204" pitchFamily="18" charset="0"/>
                  </a:rPr>
                  <a:t>$m\mid k!$</a:t>
                </a:r>
                <a:r>
                  <a:rPr sz="2400" b="0">
                    <a:solidFill>
                      <a:srgbClr val="111827"/>
                    </a:solidFill>
                    <a:latin typeface="Arial"/>
                  </a:rPr>
                  <a:t>); only the first few terms of </a:t>
                </a:r>
                <a:r>
                  <a:rPr lang="en-IN" sz="2400">
                    <a:solidFill>
                      <a:srgbClr val="111827"/>
                    </a:solidFill>
                    <a:latin typeface="Cambria Math" panose="02040503050406030204" pitchFamily="18" charset="0"/>
                  </a:rPr>
                  <a:t>$\sum z^{k!}$</a:t>
                </a:r>
                <a:r>
                  <a:rPr sz="2400" b="0">
                    <a:solidFill>
                      <a:srgbClr val="111827"/>
                    </a:solidFill>
                    <a:latin typeface="Arial"/>
                  </a:rPr>
                  <a:t> need care.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$i^m$</a:t>
                </a:r>
                <a:r>
                  <a:rPr sz="2400" b="0">
                    <a:solidFill>
                      <a:srgbClr val="111827"/>
                    </a:solidFill>
                    <a:latin typeface="Arial"/>
                  </a:rPr>
                  <a:t> depends on </a:t>
                </a:r>
                <a:r>
                  <a:rPr lang="en-IN" sz="2400">
                    <a:solidFill>
                      <a:srgbClr val="111827"/>
                    </a:solidFill>
                    <a:latin typeface="Cambria Math" panose="02040503050406030204" pitchFamily="18" charset="0"/>
                  </a:rPr>
                  <a:t>$m \bmod 4$</a:t>
                </a:r>
                <a:r>
                  <a:rPr sz="2400" b="0">
                    <a:solidFill>
                      <a:srgbClr val="111827"/>
                    </a:solidFill>
                    <a:latin typeface="Arial"/>
                  </a:rPr>
                  <a:t>: </a:t>
                </a:r>
                <a:r>
                  <a:rPr lang="en-IN" sz="2400">
                    <a:solidFill>
                      <a:srgbClr val="111827"/>
                    </a:solidFill>
                    <a:latin typeface="Cambria Math" panose="02040503050406030204" pitchFamily="18" charset="0"/>
                  </a:rPr>
                  <a:t>$i^{1!}=i$</a:t>
                </a:r>
                <a:r>
                  <a:rPr sz="2400" b="0">
                    <a:solidFill>
                      <a:srgbClr val="111827"/>
                    </a:solidFill>
                    <a:latin typeface="Arial"/>
                  </a:rPr>
                  <a:t>, </a:t>
                </a:r>
                <a:r>
                  <a:rPr lang="en-IN" sz="2400">
                    <a:solidFill>
                      <a:srgbClr val="111827"/>
                    </a:solidFill>
                    <a:latin typeface="Cambria Math" panose="02040503050406030204" pitchFamily="18" charset="0"/>
                  </a:rPr>
                  <a:t>$i^{2!}=-1$</a:t>
                </a:r>
                <a:r>
                  <a:rPr sz="2400" b="0">
                    <a:solidFill>
                      <a:srgbClr val="111827"/>
                    </a:solidFill>
                    <a:latin typeface="Arial"/>
                  </a:rPr>
                  <a:t>, </a:t>
                </a:r>
                <a:r>
                  <a:rPr lang="en-IN" sz="2400">
                    <a:solidFill>
                      <a:srgbClr val="111827"/>
                    </a:solidFill>
                    <a:latin typeface="Cambria Math" panose="02040503050406030204" pitchFamily="18" charset="0"/>
                  </a:rPr>
                  <a:t>$i^{3!}=i^6=-1$</a:t>
                </a:r>
                <a:r>
                  <a:rPr sz="2400" b="0">
                    <a:solidFill>
                      <a:srgbClr val="111827"/>
                    </a:solidFill>
                    <a:latin typeface="Arial"/>
                  </a:rPr>
                  <a:t>, </a:t>
                </a:r>
                <a:r>
                  <a:rPr lang="en-IN" sz="2400">
                    <a:solidFill>
                      <a:srgbClr val="111827"/>
                    </a:solidFill>
                    <a:latin typeface="Cambria Math" panose="02040503050406030204" pitchFamily="18" charset="0"/>
                  </a:rPr>
                  <a:t>$i^{k!}=1$</a:t>
                </a:r>
                <a:r>
                  <a:rPr sz="2400" b="0">
                    <a:solidFill>
                      <a:srgbClr val="111827"/>
                    </a:solidFill>
                    <a:latin typeface="Arial"/>
                  </a:rPr>
                  <a:t> for </a:t>
                </a:r>
                <a:r>
                  <a:rPr lang="en-IN" sz="2400">
                    <a:solidFill>
                      <a:srgbClr val="111827"/>
                    </a:solidFill>
                    <a:latin typeface="Cambria Math" panose="02040503050406030204" pitchFamily="18" charset="0"/>
                  </a:rPr>
                  <a:t>$k\ge4$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$1+\omega+\omega^2=0$</a:t>
                </a:r>
                <a:r>
                  <a:rPr sz="2400" b="0">
                    <a:solidFill>
                      <a:srgbClr val="111827"/>
                    </a:solidFill>
                    <a:latin typeface="Arial"/>
                  </a:rPr>
                  <a:t>, and </a:t>
                </a:r>
                <a:r>
                  <a:rPr lang="en-IN" sz="2400">
                    <a:solidFill>
                      <a:srgbClr val="111827"/>
                    </a:solidFill>
                    <a:latin typeface="Cambria Math" panose="02040503050406030204" pitchFamily="18" charset="0"/>
                  </a:rPr>
                  <a:t>$\omega^m$</a:t>
                </a:r>
                <a:r>
                  <a:rPr sz="2400" b="0">
                    <a:solidFill>
                      <a:srgbClr val="111827"/>
                    </a:solidFill>
                    <a:latin typeface="Arial"/>
                  </a:rPr>
                  <a:t> depends on </a:t>
                </a:r>
                <a:r>
                  <a:rPr lang="en-IN" sz="2400">
                    <a:solidFill>
                      <a:srgbClr val="111827"/>
                    </a:solidFill>
                    <a:latin typeface="Cambria Math" panose="02040503050406030204" pitchFamily="18" charset="0"/>
                  </a:rPr>
                  <a:t>$m\bmod 3$</a:t>
                </a:r>
                <a:r>
                  <a:rPr sz="2400" b="0">
                    <a:solidFill>
                      <a:srgbClr val="111827"/>
                    </a:solidFill>
                    <a:latin typeface="Arial"/>
                  </a:rPr>
                  <a:t>: </a:t>
                </a:r>
                <a:r>
                  <a:rPr lang="en-IN" sz="2400">
                    <a:solidFill>
                      <a:srgbClr val="111827"/>
                    </a:solidFill>
                    <a:latin typeface="Cambria Math" panose="02040503050406030204" pitchFamily="18" charset="0"/>
                  </a:rPr>
                  <a:t>$\omega^{1!}=\omega$</a:t>
                </a:r>
                <a:r>
                  <a:rPr sz="2400" b="0">
                    <a:solidFill>
                      <a:srgbClr val="111827"/>
                    </a:solidFill>
                    <a:latin typeface="Arial"/>
                  </a:rPr>
                  <a:t>, </a:t>
                </a:r>
                <a:r>
                  <a:rPr lang="en-IN" sz="2400">
                    <a:solidFill>
                      <a:srgbClr val="111827"/>
                    </a:solidFill>
                    <a:latin typeface="Cambria Math" panose="02040503050406030204" pitchFamily="18" charset="0"/>
                  </a:rPr>
                  <a:t>$\omega^{2!}=\omega^2$</a:t>
                </a:r>
                <a:r>
                  <a:rPr sz="2400" b="0">
                    <a:solidFill>
                      <a:srgbClr val="111827"/>
                    </a:solidFill>
                    <a:latin typeface="Arial"/>
                  </a:rPr>
                  <a:t>, </a:t>
                </a:r>
                <a:r>
                  <a:rPr lang="en-IN" sz="2400">
                    <a:solidFill>
                      <a:srgbClr val="111827"/>
                    </a:solidFill>
                    <a:latin typeface="Cambria Math" panose="02040503050406030204" pitchFamily="18" charset="0"/>
                  </a:rPr>
                  <a:t>$\omega^{k!}=1$</a:t>
                </a:r>
                <a:r>
                  <a:rPr sz="2400" b="0">
                    <a:solidFill>
                      <a:srgbClr val="111827"/>
                    </a:solidFill>
                    <a:latin typeface="Arial"/>
                  </a:rPr>
                  <a:t> for </a:t>
                </a:r>
                <a:r>
                  <a:rPr lang="en-IN" sz="2400">
                    <a:solidFill>
                      <a:srgbClr val="111827"/>
                    </a:solidFill>
                    <a:latin typeface="Cambria Math" panose="02040503050406030204" pitchFamily="18" charset="0"/>
                  </a:rPr>
                  <a:t>$k\ge3$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Three different numbers are selected at random from the set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probability that the product of two numbers equals the third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are relatively prime positive integers. Then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39</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41</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42</m:t>
                    </m:r>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Three different numbers are selected at random from the set </a:t>
                </a:r>
                <a:r>
                  <a:rPr lang="en-IN" sz="2400">
                    <a:solidFill>
                      <a:srgbClr val="111827"/>
                    </a:solidFill>
                    <a:latin typeface="Cambria Math" panose="02040503050406030204" pitchFamily="18" charset="0"/>
                  </a:rPr>
                  <a:t>$A=\{1,2,3,\ldots,10\}$</a:t>
                </a:r>
                <a:r>
                  <a:rPr sz="2400" b="0">
                    <a:solidFill>
                      <a:srgbClr val="111827"/>
                    </a:solidFill>
                    <a:latin typeface="Arial"/>
                  </a:rPr>
                  <a:t>. The probability that the product of two numbers equals the third is </a:t>
                </a:r>
                <a:r>
                  <a:rPr lang="en-IN" sz="2400">
                    <a:solidFill>
                      <a:srgbClr val="111827"/>
                    </a:solidFill>
                    <a:latin typeface="Cambria Math" panose="02040503050406030204" pitchFamily="18" charset="0"/>
                  </a:rPr>
                  <a:t>$\frac{p}{q}$</a:t>
                </a:r>
                <a:r>
                  <a:rPr sz="2400" b="0">
                    <a:solidFill>
                      <a:srgbClr val="111827"/>
                    </a:solidFill>
                    <a:latin typeface="Arial"/>
                  </a:rPr>
                  <a:t>, where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relatively prime positive integers. Then the value of </a:t>
                </a:r>
                <a:r>
                  <a:rPr lang="en-IN" sz="2400">
                    <a:solidFill>
                      <a:srgbClr val="111827"/>
                    </a:solidFill>
                    <a:latin typeface="Cambria Math" panose="02040503050406030204" pitchFamily="18" charset="0"/>
                  </a:rPr>
                  <a:t>$(p+q)$</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$39$</a:t>
                </a:r>
                <a:r>
                  <a:rPr sz="2400" b="0">
                    <a:solidFill>
                      <a:srgbClr val="111827"/>
                    </a:solidFill>
                    <a:latin typeface="Arial"/>
                  </a:rPr>
                  <a:t>   (B) </a:t>
                </a:r>
                <a:r>
                  <a:rPr lang="en-IN" sz="2400">
                    <a:solidFill>
                      <a:srgbClr val="111827"/>
                    </a:solidFill>
                    <a:latin typeface="Cambria Math" panose="02040503050406030204" pitchFamily="18" charset="0"/>
                  </a:rPr>
                  <a:t>$40$</a:t>
                </a:r>
                <a:r>
                  <a:rPr sz="2400" b="0">
                    <a:solidFill>
                      <a:srgbClr val="111827"/>
                    </a:solidFill>
                    <a:latin typeface="Arial"/>
                  </a:rPr>
                  <a:t>   (C) </a:t>
                </a:r>
                <a:r>
                  <a:rPr lang="en-IN" sz="2400">
                    <a:solidFill>
                      <a:srgbClr val="111827"/>
                    </a:solidFill>
                    <a:latin typeface="Cambria Math" panose="02040503050406030204" pitchFamily="18" charset="0"/>
                  </a:rPr>
                  <a:t>$41$</a:t>
                </a:r>
                <a:r>
                  <a:rPr sz="2400" b="0">
                    <a:solidFill>
                      <a:srgbClr val="111827"/>
                    </a:solidFill>
                    <a:latin typeface="Arial"/>
                  </a:rPr>
                  <a:t>   (D) </a:t>
                </a:r>
                <a:r>
                  <a:rPr lang="en-IN" sz="2400">
                    <a:solidFill>
                      <a:srgbClr val="111827"/>
                    </a:solidFill>
                    <a:latin typeface="Cambria Math" panose="02040503050406030204" pitchFamily="18" charset="0"/>
                  </a:rPr>
                  <a:t>$42$</a:t>
                </a:r>
                <a:endParaRPr sz="2400">
                  <a:solidFill>
                    <a:srgbClr val="111827"/>
                  </a:solidFill>
                </a:endParaRPr>
              </a:p>
            </p:txBody>
          </p:sp>
        </mc:Fallback>
      </mc:AlternateContent>
      <p:sp>
        <p:nvSpPr>
          <p:cNvPr id="5" name="Rectangle 4"/>
          <p:cNvSpPr/>
          <p:nvPr/>
        </p:nvSpPr>
        <p:spPr>
          <a:xfrm>
            <a:off x="731520" y="406196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Classical probability: counting favourable selections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List the triples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𝑏</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can never be used because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oMath>
                </a14:m>
                <a:r>
                  <a:rPr sz="2400" b="0">
                    <a:solidFill>
                      <a:srgbClr val="78350F"/>
                    </a:solidFill>
                    <a:latin typeface="Arial"/>
                  </a:rPr>
                  <a:t> repeats a number.</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List the triples </a:t>
                </a:r>
                <a:r>
                  <a:rPr lang="en-IN" sz="2400">
                    <a:solidFill>
                      <a:srgbClr val="78350F"/>
                    </a:solidFill>
                    <a:latin typeface="Cambria Math" panose="02040503050406030204" pitchFamily="18" charset="0"/>
                  </a:rPr>
                  <a:t>$\{a,b,ab\}$</a:t>
                </a:r>
                <a:r>
                  <a:rPr sz="2400" b="0">
                    <a:solidFill>
                      <a:srgbClr val="78350F"/>
                    </a:solidFill>
                    <a:latin typeface="Arial"/>
                  </a:rPr>
                  <a:t> with </a:t>
                </a:r>
                <a:r>
                  <a:rPr lang="en-IN" sz="2400">
                    <a:solidFill>
                      <a:srgbClr val="78350F"/>
                    </a:solidFill>
                    <a:latin typeface="Cambria Math" panose="02040503050406030204" pitchFamily="18" charset="0"/>
                  </a:rPr>
                  <a:t>$1&lt;a&lt;b$</a:t>
                </a:r>
                <a:r>
                  <a:rPr sz="2400" b="0">
                    <a:solidFill>
                      <a:srgbClr val="78350F"/>
                    </a:solidFill>
                    <a:latin typeface="Arial"/>
                  </a:rPr>
                  <a:t> and </a:t>
                </a:r>
                <a:r>
                  <a:rPr lang="en-IN" sz="2400">
                    <a:solidFill>
                      <a:srgbClr val="78350F"/>
                    </a:solidFill>
                    <a:latin typeface="Cambria Math" panose="02040503050406030204" pitchFamily="18" charset="0"/>
                  </a:rPr>
                  <a:t>$ab\le10$</a:t>
                </a:r>
                <a:r>
                  <a:rPr sz="2400" b="0">
                    <a:solidFill>
                      <a:srgbClr val="78350F"/>
                    </a:solidFill>
                    <a:latin typeface="Arial"/>
                  </a:rPr>
                  <a:t>; </a:t>
                </a:r>
                <a:r>
                  <a:rPr lang="en-IN" sz="2400">
                    <a:solidFill>
                      <a:srgbClr val="78350F"/>
                    </a:solidFill>
                    <a:latin typeface="Cambria Math" panose="02040503050406030204" pitchFamily="18" charset="0"/>
                  </a:rPr>
                  <a:t>$1$</a:t>
                </a:r>
                <a:r>
                  <a:rPr sz="2400" b="0">
                    <a:solidFill>
                      <a:srgbClr val="78350F"/>
                    </a:solidFill>
                    <a:latin typeface="Arial"/>
                  </a:rPr>
                  <a:t> can never be used because </a:t>
                </a:r>
                <a:r>
                  <a:rPr lang="en-IN" sz="2400">
                    <a:solidFill>
                      <a:srgbClr val="78350F"/>
                    </a:solidFill>
                    <a:latin typeface="Cambria Math" panose="02040503050406030204" pitchFamily="18" charset="0"/>
                  </a:rPr>
                  <a:t>$1\cdot b=b$</a:t>
                </a:r>
                <a:r>
                  <a:rPr sz="2400" b="0">
                    <a:solidFill>
                      <a:srgbClr val="78350F"/>
                    </a:solidFill>
                    <a:latin typeface="Arial"/>
                  </a:rPr>
                  <a:t> repeats a number.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Three distinct numbers are chosen, so the total number of selections is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is one of the numbers, say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which is not allowed (numbers must be different); so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is not in a favourable triple.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𝑏</m:t>
                    </m:r>
                  </m:oMath>
                </a14:m>
                <a:r>
                  <a:rPr sz="2400" b="0">
                    <a:solidFill>
                      <a:srgbClr val="111827"/>
                    </a:solidFill>
                    <a:latin typeface="Arial"/>
                  </a:rPr>
                  <a:t> both at least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needs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impossible.</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Three distinct numbers are chosen, so the total number of selections is </a:t>
                </a:r>
                <a:r>
                  <a:rPr lang="en-IN" sz="2400">
                    <a:solidFill>
                      <a:srgbClr val="111827"/>
                    </a:solidFill>
                    <a:latin typeface="Cambria Math" panose="02040503050406030204" pitchFamily="18" charset="0"/>
                  </a:rPr>
                  <a:t>$^{10}C_3=120$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$1$</a:t>
                </a:r>
                <a:r>
                  <a:rPr sz="2400" b="0">
                    <a:solidFill>
                      <a:srgbClr val="111827"/>
                    </a:solidFill>
                    <a:latin typeface="Arial"/>
                  </a:rPr>
                  <a:t> is one of the numbers, say </a:t>
                </a:r>
                <a:r>
                  <a:rPr lang="en-IN" sz="2400">
                    <a:solidFill>
                      <a:srgbClr val="111827"/>
                    </a:solidFill>
                    <a:latin typeface="Cambria Math" panose="02040503050406030204" pitchFamily="18" charset="0"/>
                  </a:rPr>
                  <a:t>$1\cdot b=c$</a:t>
                </a:r>
                <a:r>
                  <a:rPr sz="2400" b="0">
                    <a:solidFill>
                      <a:srgbClr val="111827"/>
                    </a:solidFill>
                    <a:latin typeface="Arial"/>
                  </a:rPr>
                  <a:t>, then </a:t>
                </a:r>
                <a:r>
                  <a:rPr lang="en-IN" sz="2400">
                    <a:solidFill>
                      <a:srgbClr val="111827"/>
                    </a:solidFill>
                    <a:latin typeface="Cambria Math" panose="02040503050406030204" pitchFamily="18" charset="0"/>
                  </a:rPr>
                  <a:t>$c=b$</a:t>
                </a:r>
                <a:r>
                  <a:rPr sz="2400" b="0">
                    <a:solidFill>
                      <a:srgbClr val="111827"/>
                    </a:solidFill>
                    <a:latin typeface="Arial"/>
                  </a:rPr>
                  <a:t>, which is not allowed (numbers must be different); so </a:t>
                </a:r>
                <a:r>
                  <a:rPr lang="en-IN" sz="2400">
                    <a:solidFill>
                      <a:srgbClr val="111827"/>
                    </a:solidFill>
                    <a:latin typeface="Cambria Math" panose="02040503050406030204" pitchFamily="18" charset="0"/>
                  </a:rPr>
                  <a:t>$1$</a:t>
                </a:r>
                <a:r>
                  <a:rPr sz="2400" b="0">
                    <a:solidFill>
                      <a:srgbClr val="111827"/>
                    </a:solidFill>
                    <a:latin typeface="Arial"/>
                  </a:rPr>
                  <a:t> is not in a favourable triple.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$a&lt;b$</a:t>
                </a:r>
                <a:r>
                  <a:rPr sz="2400" b="0">
                    <a:solidFill>
                      <a:srgbClr val="111827"/>
                    </a:solidFill>
                    <a:latin typeface="Arial"/>
                  </a:rPr>
                  <a:t> both at least </a:t>
                </a:r>
                <a:r>
                  <a:rPr lang="en-IN" sz="2400">
                    <a:solidFill>
                      <a:srgbClr val="111827"/>
                    </a:solidFill>
                    <a:latin typeface="Cambria Math" panose="02040503050406030204" pitchFamily="18" charset="0"/>
                  </a:rPr>
                  <a:t>$2$</a:t>
                </a:r>
                <a:r>
                  <a:rPr sz="2400" b="0">
                    <a:solidFill>
                      <a:srgbClr val="111827"/>
                    </a:solidFill>
                    <a:latin typeface="Arial"/>
                  </a:rPr>
                  <a:t> and </a:t>
                </a:r>
                <a:r>
                  <a:rPr lang="en-IN" sz="2400">
                    <a:solidFill>
                      <a:srgbClr val="111827"/>
                    </a:solidFill>
                    <a:latin typeface="Cambria Math" panose="02040503050406030204" pitchFamily="18" charset="0"/>
                  </a:rPr>
                  <a:t>$ab\le10$</a:t>
                </a:r>
                <a:r>
                  <a:rPr sz="2400" b="0">
                    <a:solidFill>
                      <a:srgbClr val="111827"/>
                    </a:solidFill>
                    <a:latin typeface="Arial"/>
                  </a:rPr>
                  <a:t>: </a:t>
                </a:r>
                <a:r>
                  <a:rPr lang="en-IN" sz="2400">
                    <a:solidFill>
                      <a:srgbClr val="111827"/>
                    </a:solidFill>
                    <a:latin typeface="Cambria Math" panose="02040503050406030204" pitchFamily="18" charset="0"/>
                  </a:rPr>
                  <a:t>$a=2$</a:t>
                </a:r>
                <a:r>
                  <a:rPr sz="2400" b="0">
                    <a:solidFill>
                      <a:srgbClr val="111827"/>
                    </a:solidFill>
                    <a:latin typeface="Arial"/>
                  </a:rPr>
                  <a:t> gives </a:t>
                </a:r>
                <a:r>
                  <a:rPr lang="en-IN" sz="2400">
                    <a:solidFill>
                      <a:srgbClr val="111827"/>
                    </a:solidFill>
                    <a:latin typeface="Cambria Math" panose="02040503050406030204" pitchFamily="18" charset="0"/>
                  </a:rPr>
                  <a:t>$b=3,4,5$</a:t>
                </a:r>
                <a:r>
                  <a:rPr sz="2400" b="0">
                    <a:solidFill>
                      <a:srgbClr val="111827"/>
                    </a:solidFill>
                    <a:latin typeface="Arial"/>
                  </a:rPr>
                  <a:t>; </a:t>
                </a:r>
                <a:r>
                  <a:rPr lang="en-IN" sz="2400">
                    <a:solidFill>
                      <a:srgbClr val="111827"/>
                    </a:solidFill>
                    <a:latin typeface="Cambria Math" panose="02040503050406030204" pitchFamily="18" charset="0"/>
                  </a:rPr>
                  <a:t>$a=3$</a:t>
                </a:r>
                <a:r>
                  <a:rPr sz="2400" b="0">
                    <a:solidFill>
                      <a:srgbClr val="111827"/>
                    </a:solidFill>
                    <a:latin typeface="Arial"/>
                  </a:rPr>
                  <a:t> needs </a:t>
                </a:r>
                <a:r>
                  <a:rPr lang="en-IN" sz="2400">
                    <a:solidFill>
                      <a:srgbClr val="111827"/>
                    </a:solidFill>
                    <a:latin typeface="Cambria Math" panose="02040503050406030204" pitchFamily="18" charset="0"/>
                  </a:rPr>
                  <a:t>$b\ge4$</a:t>
                </a:r>
                <a:r>
                  <a:rPr sz="2400" b="0">
                    <a:solidFill>
                      <a:srgbClr val="111827"/>
                    </a:solidFill>
                    <a:latin typeface="Arial"/>
                  </a:rPr>
                  <a:t> and </a:t>
                </a:r>
                <a:r>
                  <a:rPr lang="en-IN" sz="2400">
                    <a:solidFill>
                      <a:srgbClr val="111827"/>
                    </a:solidFill>
                    <a:latin typeface="Cambria Math" panose="02040503050406030204" pitchFamily="18" charset="0"/>
                  </a:rPr>
                  <a:t>$3b\le10$</a:t>
                </a:r>
                <a:r>
                  <a:rPr sz="2400" b="0">
                    <a:solidFill>
                      <a:srgbClr val="111827"/>
                    </a:solidFill>
                    <a:latin typeface="Arial"/>
                  </a:rPr>
                  <a:t>, impossible.</a:t>
                </a:r>
                <a:endParaRPr sz="2400">
                  <a:solidFill>
                    <a:srgbClr val="111827"/>
                  </a:solidFill>
                </a:endParaRPr>
              </a:p>
            </p:txBody>
          </p:sp>
        </mc:Fallback>
      </mc:AlternateContent>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favourable triples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cases.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40</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favourable triples are </a:t>
                </a:r>
                <a:r>
                  <a:rPr lang="en-IN" sz="2400">
                    <a:solidFill>
                      <a:srgbClr val="111827"/>
                    </a:solidFill>
                    <a:latin typeface="Cambria Math" panose="02040503050406030204" pitchFamily="18" charset="0"/>
                  </a:rPr>
                  <a:t>$(2,3,6)$</a:t>
                </a:r>
                <a:r>
                  <a:rPr sz="2400" b="0">
                    <a:solidFill>
                      <a:srgbClr val="111827"/>
                    </a:solidFill>
                    <a:latin typeface="Arial"/>
                  </a:rPr>
                  <a:t>, </a:t>
                </a:r>
                <a:r>
                  <a:rPr lang="en-IN" sz="2400">
                    <a:solidFill>
                      <a:srgbClr val="111827"/>
                    </a:solidFill>
                    <a:latin typeface="Cambria Math" panose="02040503050406030204" pitchFamily="18" charset="0"/>
                  </a:rPr>
                  <a:t>$(2,4,8)$</a:t>
                </a:r>
                <a:r>
                  <a:rPr sz="2400" b="0">
                    <a:solidFill>
                      <a:srgbClr val="111827"/>
                    </a:solidFill>
                    <a:latin typeface="Arial"/>
                  </a:rPr>
                  <a:t>, </a:t>
                </a:r>
                <a:r>
                  <a:rPr lang="en-IN" sz="2400">
                    <a:solidFill>
                      <a:srgbClr val="111827"/>
                    </a:solidFill>
                    <a:latin typeface="Cambria Math" panose="02040503050406030204" pitchFamily="18" charset="0"/>
                  </a:rPr>
                  <a:t>$(2,5,10)$</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cases.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$=\frac{3}{^{10}C_3}=\frac{3}{120}=\frac{1}{40}$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$p=1$</a:t>
                </a:r>
                <a:r>
                  <a:rPr sz="2400" b="0">
                    <a:solidFill>
                      <a:srgbClr val="111827"/>
                    </a:solidFill>
                    <a:latin typeface="Arial"/>
                  </a:rPr>
                  <a:t>, </a:t>
                </a:r>
                <a:r>
                  <a:rPr lang="en-IN" sz="2400">
                    <a:solidFill>
                      <a:srgbClr val="111827"/>
                    </a:solidFill>
                    <a:latin typeface="Cambria Math" panose="02040503050406030204" pitchFamily="18" charset="0"/>
                  </a:rPr>
                  <a:t>$q=40$</a:t>
                </a:r>
                <a:r>
                  <a:rPr sz="2400" b="0">
                    <a:solidFill>
                      <a:srgbClr val="111827"/>
                    </a:solidFill>
                    <a:latin typeface="Arial"/>
                  </a:rPr>
                  <a:t> and </a:t>
                </a:r>
                <a:r>
                  <a:rPr lang="en-IN" sz="2400">
                    <a:solidFill>
                      <a:srgbClr val="111827"/>
                    </a:solidFill>
                    <a:latin typeface="Cambria Math" panose="02040503050406030204" pitchFamily="18" charset="0"/>
                  </a:rPr>
                  <a:t>$p+q=41$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41</a:t>
            </a:r>
            <a:endParaRPr sz="2800">
              <a:solidFill>
                <a:srgbClr val="15803D"/>
              </a:solidFill>
            </a:endParaRP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favourable triples by the largest number </a:t>
                </a:r>
                <a14:m>
                  <m:oMath xmlns:m="http://schemas.openxmlformats.org/officeDocument/2006/math">
                    <m:r>
                      <a:rPr lang="en-IN" sz="2400" i="1">
                        <a:solidFill>
                          <a:srgbClr val="78350F"/>
                        </a:solidFill>
                        <a:latin typeface="Cambria Math" panose="02040503050406030204" pitchFamily="18" charset="0"/>
                      </a:rPr>
                      <m:t>𝑐</m:t>
                    </m:r>
                  </m:oMath>
                </a14:m>
                <a:r>
                  <a:rPr sz="2400" b="0">
                    <a:solidFill>
                      <a:srgbClr val="78350F"/>
                    </a:solidFill>
                    <a:latin typeface="Arial"/>
                  </a:rPr>
                  <a:t>: it needs a factorisation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𝑏</m:t>
                    </m:r>
                  </m:oMath>
                </a14:m>
                <a:r>
                  <a:rPr sz="2400" b="0">
                    <a:solidFill>
                      <a:srgbClr val="78350F"/>
                    </a:solidFill>
                    <a:latin typeface="Arial"/>
                  </a:rPr>
                  <a:t>, so count divisor pairs.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favourable triples by the largest number </a:t>
                </a:r>
                <a:r>
                  <a:rPr lang="en-IN" sz="2400">
                    <a:solidFill>
                      <a:srgbClr val="78350F"/>
                    </a:solidFill>
                    <a:latin typeface="Cambria Math" panose="02040503050406030204" pitchFamily="18" charset="0"/>
                  </a:rPr>
                  <a:t>$c$</a:t>
                </a:r>
                <a:r>
                  <a:rPr sz="2400" b="0">
                    <a:solidFill>
                      <a:srgbClr val="78350F"/>
                    </a:solidFill>
                    <a:latin typeface="Arial"/>
                  </a:rPr>
                  <a:t>: it needs a factorisation </a:t>
                </a:r>
                <a:r>
                  <a:rPr lang="en-IN" sz="2400">
                    <a:solidFill>
                      <a:srgbClr val="78350F"/>
                    </a:solidFill>
                    <a:latin typeface="Cambria Math" panose="02040503050406030204" pitchFamily="18" charset="0"/>
                  </a:rPr>
                  <a:t>$c=ab$</a:t>
                </a:r>
                <a:r>
                  <a:rPr sz="2400" b="0">
                    <a:solidFill>
                      <a:srgbClr val="78350F"/>
                    </a:solidFill>
                    <a:latin typeface="Arial"/>
                  </a:rPr>
                  <a:t> with </a:t>
                </a:r>
                <a:r>
                  <a:rPr lang="en-IN" sz="2400">
                    <a:solidFill>
                      <a:srgbClr val="78350F"/>
                    </a:solidFill>
                    <a:latin typeface="Cambria Math" panose="02040503050406030204" pitchFamily="18" charset="0"/>
                  </a:rPr>
                  <a:t>$2\le a&lt;b$</a:t>
                </a:r>
                <a:r>
                  <a:rPr sz="2400" b="0">
                    <a:solidFill>
                      <a:srgbClr val="78350F"/>
                    </a:solidFill>
                    <a:latin typeface="Arial"/>
                  </a:rPr>
                  <a:t>, so count divisor pairs.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favourable triple with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the product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is the largest,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factor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would make the other two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each triple matches a value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together with a factorisation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Prime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no factorisation.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only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repeated numbers, not allowed.</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favourable triple with </a:t>
                </a:r>
                <a:r>
                  <a:rPr lang="en-IN" sz="2400">
                    <a:solidFill>
                      <a:srgbClr val="111827"/>
                    </a:solidFill>
                    <a:latin typeface="Cambria Math" panose="02040503050406030204" pitchFamily="18" charset="0"/>
                  </a:rPr>
                  <a:t>$ab=c$</a:t>
                </a:r>
                <a:r>
                  <a:rPr sz="2400" b="0">
                    <a:solidFill>
                      <a:srgbClr val="111827"/>
                    </a:solidFill>
                    <a:latin typeface="Arial"/>
                  </a:rPr>
                  <a:t>, the product </a:t>
                </a:r>
                <a:r>
                  <a:rPr lang="en-IN" sz="2400">
                    <a:solidFill>
                      <a:srgbClr val="111827"/>
                    </a:solidFill>
                    <a:latin typeface="Cambria Math" panose="02040503050406030204" pitchFamily="18" charset="0"/>
                  </a:rPr>
                  <a:t>$c$</a:t>
                </a:r>
                <a:r>
                  <a:rPr sz="2400" b="0">
                    <a:solidFill>
                      <a:srgbClr val="111827"/>
                    </a:solidFill>
                    <a:latin typeface="Arial"/>
                  </a:rPr>
                  <a:t> is the largest, and </a:t>
                </a:r>
                <a:r>
                  <a:rPr lang="en-IN" sz="2400">
                    <a:solidFill>
                      <a:srgbClr val="111827"/>
                    </a:solidFill>
                    <a:latin typeface="Cambria Math" panose="02040503050406030204" pitchFamily="18" charset="0"/>
                  </a:rPr>
                  <a:t>$a,b\ge2$</a:t>
                </a:r>
                <a:r>
                  <a:rPr sz="2400" b="0">
                    <a:solidFill>
                      <a:srgbClr val="111827"/>
                    </a:solidFill>
                    <a:latin typeface="Arial"/>
                  </a:rPr>
                  <a:t> (a factor </a:t>
                </a:r>
                <a:r>
                  <a:rPr lang="en-IN" sz="2400">
                    <a:solidFill>
                      <a:srgbClr val="111827"/>
                    </a:solidFill>
                    <a:latin typeface="Cambria Math" panose="02040503050406030204" pitchFamily="18" charset="0"/>
                  </a:rPr>
                  <a:t>$1$</a:t>
                </a:r>
                <a:r>
                  <a:rPr sz="2400" b="0">
                    <a:solidFill>
                      <a:srgbClr val="111827"/>
                    </a:solidFill>
                    <a:latin typeface="Arial"/>
                  </a:rPr>
                  <a:t> would make the other two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each triple matches a value </a:t>
                </a:r>
                <a:r>
                  <a:rPr lang="en-IN" sz="2400">
                    <a:solidFill>
                      <a:srgbClr val="111827"/>
                    </a:solidFill>
                    <a:latin typeface="Cambria Math" panose="02040503050406030204" pitchFamily="18" charset="0"/>
                  </a:rPr>
                  <a:t>$c\le10$</a:t>
                </a:r>
                <a:r>
                  <a:rPr sz="2400" b="0">
                    <a:solidFill>
                      <a:srgbClr val="111827"/>
                    </a:solidFill>
                    <a:latin typeface="Arial"/>
                  </a:rPr>
                  <a:t> together with a factorisation </a:t>
                </a:r>
                <a:r>
                  <a:rPr lang="en-IN" sz="2400">
                    <a:solidFill>
                      <a:srgbClr val="111827"/>
                    </a:solidFill>
                    <a:latin typeface="Cambria Math" panose="02040503050406030204" pitchFamily="18" charset="0"/>
                  </a:rPr>
                  <a:t>$c=ab$</a:t>
                </a:r>
                <a:r>
                  <a:rPr sz="2400" b="0">
                    <a:solidFill>
                      <a:srgbClr val="111827"/>
                    </a:solidFill>
                    <a:latin typeface="Arial"/>
                  </a:rPr>
                  <a:t>, </a:t>
                </a:r>
                <a:r>
                  <a:rPr lang="en-IN" sz="2400">
                    <a:solidFill>
                      <a:srgbClr val="111827"/>
                    </a:solidFill>
                    <a:latin typeface="Cambria Math" panose="02040503050406030204" pitchFamily="18" charset="0"/>
                  </a:rPr>
                  <a:t>$2\le a&lt;b$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Prime </a:t>
                </a:r>
                <a:r>
                  <a:rPr lang="en-IN" sz="2400">
                    <a:solidFill>
                      <a:srgbClr val="111827"/>
                    </a:solidFill>
                    <a:latin typeface="Cambria Math" panose="02040503050406030204" pitchFamily="18" charset="0"/>
                  </a:rPr>
                  <a:t>$c=2,3,5,7$</a:t>
                </a:r>
                <a:r>
                  <a:rPr sz="2400" b="0">
                    <a:solidFill>
                      <a:srgbClr val="111827"/>
                    </a:solidFill>
                    <a:latin typeface="Arial"/>
                  </a:rPr>
                  <a:t>: no factorisation. </a:t>
                </a:r>
                <a:r>
                  <a:rPr lang="en-IN" sz="2400">
                    <a:solidFill>
                      <a:srgbClr val="111827"/>
                    </a:solidFill>
                    <a:latin typeface="Cambria Math" panose="02040503050406030204" pitchFamily="18" charset="0"/>
                  </a:rPr>
                  <a:t>$c=4$</a:t>
                </a:r>
                <a:r>
                  <a:rPr sz="2400" b="0">
                    <a:solidFill>
                      <a:srgbClr val="111827"/>
                    </a:solidFill>
                    <a:latin typeface="Arial"/>
                  </a:rPr>
                  <a:t> and </a:t>
                </a:r>
                <a:r>
                  <a:rPr lang="en-IN" sz="2400">
                    <a:solidFill>
                      <a:srgbClr val="111827"/>
                    </a:solidFill>
                    <a:latin typeface="Cambria Math" panose="02040503050406030204" pitchFamily="18" charset="0"/>
                  </a:rPr>
                  <a:t>$c=9$</a:t>
                </a:r>
                <a:r>
                  <a:rPr sz="2400" b="0">
                    <a:solidFill>
                      <a:srgbClr val="111827"/>
                    </a:solidFill>
                    <a:latin typeface="Arial"/>
                  </a:rPr>
                  <a:t>: only </a:t>
                </a:r>
                <a:r>
                  <a:rPr lang="en-IN" sz="2400">
                    <a:solidFill>
                      <a:srgbClr val="111827"/>
                    </a:solidFill>
                    <a:latin typeface="Cambria Math" panose="02040503050406030204" pitchFamily="18" charset="0"/>
                  </a:rPr>
                  <a:t>$2\cdot2$</a:t>
                </a:r>
                <a:r>
                  <a:rPr sz="2400" b="0">
                    <a:solidFill>
                      <a:srgbClr val="111827"/>
                    </a:solidFill>
                    <a:latin typeface="Arial"/>
                  </a:rPr>
                  <a:t> and </a:t>
                </a:r>
                <a:r>
                  <a:rPr lang="en-IN" sz="2400">
                    <a:solidFill>
                      <a:srgbClr val="111827"/>
                    </a:solidFill>
                    <a:latin typeface="Cambria Math" panose="02040503050406030204" pitchFamily="18" charset="0"/>
                  </a:rPr>
                  <a:t>$3\cdot3$</a:t>
                </a:r>
                <a:r>
                  <a:rPr sz="2400" b="0">
                    <a:solidFill>
                      <a:srgbClr val="111827"/>
                    </a:solidFill>
                    <a:latin typeface="Arial"/>
                  </a:rPr>
                  <a:t>, repeated numbers, not allowed.</a:t>
                </a:r>
                <a:endParaRPr sz="2400">
                  <a:solidFill>
                    <a:srgbClr val="111827"/>
                  </a:solidFill>
                </a:endParaRPr>
              </a:p>
            </p:txBody>
          </p:sp>
        </mc:Fallback>
      </mc:AlternateContent>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give one triple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out of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40</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$c=6=2\cdot3$</a:t>
                </a:r>
                <a:r>
                  <a:rPr sz="2400" b="0">
                    <a:solidFill>
                      <a:srgbClr val="111827"/>
                    </a:solidFill>
                    <a:latin typeface="Arial"/>
                  </a:rPr>
                  <a:t>, </a:t>
                </a:r>
                <a:r>
                  <a:rPr lang="en-IN" sz="2400">
                    <a:solidFill>
                      <a:srgbClr val="111827"/>
                    </a:solidFill>
                    <a:latin typeface="Cambria Math" panose="02040503050406030204" pitchFamily="18" charset="0"/>
                  </a:rPr>
                  <a:t>$c=8=2\cdot4$</a:t>
                </a:r>
                <a:r>
                  <a:rPr sz="2400" b="0">
                    <a:solidFill>
                      <a:srgbClr val="111827"/>
                    </a:solidFill>
                    <a:latin typeface="Arial"/>
                  </a:rPr>
                  <a:t>, </a:t>
                </a:r>
                <a:r>
                  <a:rPr lang="en-IN" sz="2400">
                    <a:solidFill>
                      <a:srgbClr val="111827"/>
                    </a:solidFill>
                    <a:latin typeface="Cambria Math" panose="02040503050406030204" pitchFamily="18" charset="0"/>
                  </a:rPr>
                  <a:t>$c=10=2\cdot5$</a:t>
                </a:r>
                <a:r>
                  <a:rPr sz="2400" b="0">
                    <a:solidFill>
                      <a:srgbClr val="111827"/>
                    </a:solidFill>
                    <a:latin typeface="Arial"/>
                  </a:rPr>
                  <a:t> give one triple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a:t>
                </a:r>
                <a:r>
                  <a:rPr lang="en-IN" sz="2400">
                    <a:solidFill>
                      <a:srgbClr val="111827"/>
                    </a:solidFill>
                    <a:latin typeface="Cambria Math" panose="02040503050406030204" pitchFamily="18" charset="0"/>
                  </a:rPr>
                  <a:t>$=3$</a:t>
                </a:r>
                <a:r>
                  <a:rPr sz="2400" b="0">
                    <a:solidFill>
                      <a:srgbClr val="111827"/>
                    </a:solidFill>
                    <a:latin typeface="Arial"/>
                  </a:rPr>
                  <a:t> out of </a:t>
                </a:r>
                <a:r>
                  <a:rPr lang="en-IN" sz="2400">
                    <a:solidFill>
                      <a:srgbClr val="111827"/>
                    </a:solidFill>
                    <a:latin typeface="Cambria Math" panose="02040503050406030204" pitchFamily="18" charset="0"/>
                  </a:rPr>
                  <a:t>${}^{10}C_3=120$</a:t>
                </a:r>
                <a:r>
                  <a:rPr sz="2400" b="0">
                    <a:solidFill>
                      <a:srgbClr val="111827"/>
                    </a:solidFill>
                    <a:latin typeface="Arial"/>
                  </a:rPr>
                  <a:t>, so </a:t>
                </a:r>
                <a:r>
                  <a:rPr lang="en-IN" sz="2400">
                    <a:solidFill>
                      <a:srgbClr val="111827"/>
                    </a:solidFill>
                    <a:latin typeface="Cambria Math" panose="02040503050406030204" pitchFamily="18" charset="0"/>
                  </a:rPr>
                  <a:t>$P=\frac{3}{120}=\frac1{40}$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$p+q=1+40=41$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41</a:t>
            </a:r>
            <a:endParaRPr sz="2800">
              <a:solidFill>
                <a:srgbClr val="15803D"/>
              </a:solidFill>
            </a:endParaRP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set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triples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distinct elements need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𝑏</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never works.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favourable triples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it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(only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contributes).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check the 'different numbers' condition: it removes the degenerate cases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set </a:t>
                </a:r>
                <a:r>
                  <a:rPr lang="en-IN" sz="2400">
                    <a:solidFill>
                      <a:srgbClr val="111827"/>
                    </a:solidFill>
                    <a:latin typeface="Cambria Math" panose="02040503050406030204" pitchFamily="18" charset="0"/>
                  </a:rPr>
                  <a:t>$\{1,\ldots,N\}$</a:t>
                </a:r>
                <a:r>
                  <a:rPr sz="2400" b="0">
                    <a:solidFill>
                      <a:srgbClr val="111827"/>
                    </a:solidFill>
                    <a:latin typeface="Arial"/>
                  </a:rPr>
                  <a:t> the triples </a:t>
                </a:r>
                <a:r>
                  <a:rPr lang="en-IN" sz="2400">
                    <a:solidFill>
                      <a:srgbClr val="111827"/>
                    </a:solidFill>
                    <a:latin typeface="Cambria Math" panose="02040503050406030204" pitchFamily="18" charset="0"/>
                  </a:rPr>
                  <a:t>$\{a,b,ab\}$</a:t>
                </a:r>
                <a:r>
                  <a:rPr sz="2400" b="0">
                    <a:solidFill>
                      <a:srgbClr val="111827"/>
                    </a:solidFill>
                    <a:latin typeface="Arial"/>
                  </a:rPr>
                  <a:t> with distinct elements need </a:t>
                </a:r>
                <a:r>
                  <a:rPr lang="en-IN" sz="2400">
                    <a:solidFill>
                      <a:srgbClr val="111827"/>
                    </a:solidFill>
                    <a:latin typeface="Cambria Math" panose="02040503050406030204" pitchFamily="18" charset="0"/>
                  </a:rPr>
                  <a:t>$2\le a&lt;b$</a:t>
                </a:r>
                <a:r>
                  <a:rPr sz="2400" b="0">
                    <a:solidFill>
                      <a:srgbClr val="111827"/>
                    </a:solidFill>
                    <a:latin typeface="Arial"/>
                  </a:rPr>
                  <a:t> and </a:t>
                </a:r>
                <a:r>
                  <a:rPr lang="en-IN" sz="2400">
                    <a:solidFill>
                      <a:srgbClr val="111827"/>
                    </a:solidFill>
                    <a:latin typeface="Cambria Math" panose="02040503050406030204" pitchFamily="18" charset="0"/>
                  </a:rPr>
                  <a:t>$ab\le N$</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 never works.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favourable triples </a:t>
                </a:r>
                <a:r>
                  <a:rPr lang="en-IN" sz="2400">
                    <a:solidFill>
                      <a:srgbClr val="111827"/>
                    </a:solidFill>
                    <a:latin typeface="Cambria Math" panose="02040503050406030204" pitchFamily="18" charset="0"/>
                  </a:rPr>
                  <a:t>$=\sum_{a\ge2}\#\{b: a&lt;b\le N/a\}$</a:t>
                </a:r>
                <a:r>
                  <a:rPr sz="2400" b="0">
                    <a:solidFill>
                      <a:srgbClr val="111827"/>
                    </a:solidFill>
                    <a:latin typeface="Arial"/>
                  </a:rPr>
                  <a:t>; for </a:t>
                </a:r>
                <a:r>
                  <a:rPr lang="en-IN" sz="2400">
                    <a:solidFill>
                      <a:srgbClr val="111827"/>
                    </a:solidFill>
                    <a:latin typeface="Cambria Math" panose="02040503050406030204" pitchFamily="18" charset="0"/>
                  </a:rPr>
                  <a:t>$N=10$</a:t>
                </a:r>
                <a:r>
                  <a:rPr sz="2400" b="0">
                    <a:solidFill>
                      <a:srgbClr val="111827"/>
                    </a:solidFill>
                    <a:latin typeface="Arial"/>
                  </a:rPr>
                  <a:t> it is </a:t>
                </a:r>
                <a:r>
                  <a:rPr lang="en-IN" sz="2400">
                    <a:solidFill>
                      <a:srgbClr val="111827"/>
                    </a:solidFill>
                    <a:latin typeface="Cambria Math" panose="02040503050406030204" pitchFamily="18" charset="0"/>
                  </a:rPr>
                  <a:t>$3$</a:t>
                </a:r>
                <a:r>
                  <a:rPr sz="2400" b="0">
                    <a:solidFill>
                      <a:srgbClr val="111827"/>
                    </a:solidFill>
                    <a:latin typeface="Arial"/>
                  </a:rPr>
                  <a:t> (only </a:t>
                </a:r>
                <a:r>
                  <a:rPr lang="en-IN" sz="2400">
                    <a:solidFill>
                      <a:srgbClr val="111827"/>
                    </a:solidFill>
                    <a:latin typeface="Cambria Math" panose="02040503050406030204" pitchFamily="18" charset="0"/>
                  </a:rPr>
                  <a:t>$a=2$</a:t>
                </a:r>
                <a:r>
                  <a:rPr sz="2400" b="0">
                    <a:solidFill>
                      <a:srgbClr val="111827"/>
                    </a:solidFill>
                    <a:latin typeface="Arial"/>
                  </a:rPr>
                  <a:t> contributes).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check the 'different numbers' condition: it removes the degenerate cases </a:t>
                </a:r>
                <a:r>
                  <a:rPr lang="en-IN" sz="2400">
                    <a:solidFill>
                      <a:srgbClr val="111827"/>
                    </a:solidFill>
                    <a:latin typeface="Cambria Math" panose="02040503050406030204" pitchFamily="18" charset="0"/>
                  </a:rPr>
                  <a:t>$1\cdot b=b$</a:t>
                </a:r>
                <a:r>
                  <a:rPr sz="2400" b="0">
                    <a:solidFill>
                      <a:srgbClr val="111827"/>
                    </a:solidFill>
                    <a:latin typeface="Arial"/>
                  </a:rPr>
                  <a:t> and </a:t>
                </a:r>
                <a:r>
                  <a:rPr lang="en-IN" sz="2400">
                    <a:solidFill>
                      <a:srgbClr val="111827"/>
                    </a:solidFill>
                    <a:latin typeface="Cambria Math" panose="02040503050406030204" pitchFamily="18" charset="0"/>
                  </a:rPr>
                  <a:t>$a\cdot a=a^2$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41248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To obtain a gold coin, 6 men, all of different weight, are trying to build a human pyramid as shown in the figure (figure: a triangular pyramid with 1 man in the top row, 2 in the middle row and 3 in the bottom row). A human pyramid is called 'stable' if someone not in the bottom row is 'supported by' each of the two closest people beneath him and nobody can be supported by anybody of lower weight. Formation of a 'stable' pyramid is the only condition to get a gold coin. What is the probability they get a gold coin?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45</m:t>
                        </m:r>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45</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45</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oMath>
                </a14:m>
                <a:endParaRPr sz="2400">
                  <a:solidFill>
                    <a:srgbClr val="111827"/>
                  </a:solidFill>
                </a:endParaRPr>
              </a:p>
            </p:txBody>
          </p:sp>
        </mc:Choice>
        <mc:Fallback>
          <p:sp>
            <p:nvSpPr>
              <p:cNvPr id="4" name="Rounded Rectangle 3"/>
              <p:cNvSpPr/>
              <p:nvPr/>
            </p:nvSpPr>
            <p:spPr>
              <a:xfrm>
                <a:off x="731520" y="1280160"/>
                <a:ext cx="10725912" cy="441248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To obtain a gold coin, 6 men, all of different weight, are trying to build a human pyramid as shown in the figure (figure: a triangular pyramid with 1 man in the top row, 2 in the middle row and 3 in the bottom row). A human pyramid is called 'stable' if someone not in the bottom row is 'supported by' each of the two closest people beneath him and nobody can be supported by anybody of lower weight. Formation of a 'stable' pyramid is the only condition to get a gold coin. What is the probability they get a gold coin?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$\frac{1}{45}$</a:t>
                </a:r>
                <a:r>
                  <a:rPr sz="2400" b="0">
                    <a:solidFill>
                      <a:srgbClr val="111827"/>
                    </a:solidFill>
                    <a:latin typeface="Arial"/>
                  </a:rPr>
                  <a:t>   (B) </a:t>
                </a:r>
                <a:r>
                  <a:rPr lang="en-IN" sz="2400">
                    <a:solidFill>
                      <a:srgbClr val="111827"/>
                    </a:solidFill>
                    <a:latin typeface="Cambria Math" panose="02040503050406030204" pitchFamily="18" charset="0"/>
                  </a:rPr>
                  <a:t>$\frac{2}{45}$</a:t>
                </a:r>
                <a:r>
                  <a:rPr sz="2400" b="0">
                    <a:solidFill>
                      <a:srgbClr val="111827"/>
                    </a:solidFill>
                    <a:latin typeface="Arial"/>
                  </a:rPr>
                  <a:t>   (C) </a:t>
                </a:r>
                <a:r>
                  <a:rPr lang="en-IN" sz="2400">
                    <a:solidFill>
                      <a:srgbClr val="111827"/>
                    </a:solidFill>
                    <a:latin typeface="Cambria Math" panose="02040503050406030204" pitchFamily="18" charset="0"/>
                  </a:rPr>
                  <a:t>$\frac{4}{45}$</a:t>
                </a:r>
                <a:r>
                  <a:rPr sz="2400" b="0">
                    <a:solidFill>
                      <a:srgbClr val="111827"/>
                    </a:solidFill>
                    <a:latin typeface="Arial"/>
                  </a:rPr>
                  <a:t>   (D) </a:t>
                </a:r>
                <a:r>
                  <a:rPr lang="en-IN" sz="2400">
                    <a:solidFill>
                      <a:srgbClr val="111827"/>
                    </a:solidFill>
                    <a:latin typeface="Cambria Math" panose="02040503050406030204" pitchFamily="18" charset="0"/>
                  </a:rPr>
                  <a:t>$\frac{1}{5}$</a:t>
                </a:r>
                <a:endParaRPr sz="2400">
                  <a:solidFill>
                    <a:srgbClr val="111827"/>
                  </a:solidFill>
                </a:endParaRPr>
              </a:p>
            </p:txBody>
          </p:sp>
        </mc:Fallback>
      </mc:AlternateContent>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with ordered arrangements (poset counting)</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Stability means each man is lighter than both men beneath him, so rank the men by weight and place the lightest first.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6 men can be arranged in the 6 places in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720</m:t>
                    </m:r>
                  </m:oMath>
                </a14:m>
                <a:r>
                  <a:rPr sz="2400" b="0">
                    <a:solidFill>
                      <a:srgbClr val="111827"/>
                    </a:solidFill>
                    <a:latin typeface="Arial"/>
                  </a:rPr>
                  <a:t> ways.</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6 men can be arranged in the 6 places in </a:t>
                </a:r>
                <a:r>
                  <a:rPr lang="en-IN" sz="2400">
                    <a:solidFill>
                      <a:srgbClr val="111827"/>
                    </a:solidFill>
                    <a:latin typeface="Cambria Math" panose="02040503050406030204" pitchFamily="18" charset="0"/>
                  </a:rPr>
                  <a:t>$n=6!=720$</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Stable means every man above the bottom row is lighter than each of the two men supporting him (nobody is supported by someone lighter).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top man is the lightest of all (rank 1), and rank 2 must stand in the middle row (a bottom man is heavier than the middle man above him).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1: the middle row holds ranks 2 and 3. They can be ordered in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ways, and the three heaviest men fill the bottom row in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ways; every support condition holds. This gives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Stable means every man above the bottom row is lighter than each of the two men supporting him (nobody is supported by someone lighter).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top man is the lightest of all (rank 1), and rank 2 must stand in the middle row (a bottom man is heavier than the middle man above him).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1: the middle row holds ranks 2 and 3. They can be ordered in </a:t>
                </a:r>
                <a:r>
                  <a:rPr lang="en-IN" sz="2400">
                    <a:solidFill>
                      <a:srgbClr val="111827"/>
                    </a:solidFill>
                    <a:latin typeface="Cambria Math" panose="02040503050406030204" pitchFamily="18" charset="0"/>
                  </a:rPr>
                  <a:t>$2!$</a:t>
                </a:r>
                <a:r>
                  <a:rPr sz="2400" b="0">
                    <a:solidFill>
                      <a:srgbClr val="111827"/>
                    </a:solidFill>
                    <a:latin typeface="Arial"/>
                  </a:rPr>
                  <a:t> ways, and the three heaviest men fill the bottom row in </a:t>
                </a:r>
                <a:r>
                  <a:rPr lang="en-IN" sz="2400">
                    <a:solidFill>
                      <a:srgbClr val="111827"/>
                    </a:solidFill>
                    <a:latin typeface="Cambria Math" panose="02040503050406030204" pitchFamily="18" charset="0"/>
                  </a:rPr>
                  <a:t>$3!$</a:t>
                </a:r>
                <a:r>
                  <a:rPr sz="2400" b="0">
                    <a:solidFill>
                      <a:srgbClr val="111827"/>
                    </a:solidFill>
                    <a:latin typeface="Arial"/>
                  </a:rPr>
                  <a:t> ways; every support condition holds. This gives </a:t>
                </a:r>
                <a:r>
                  <a:rPr lang="en-IN" sz="2400">
                    <a:solidFill>
                      <a:srgbClr val="111827"/>
                    </a:solidFill>
                    <a:latin typeface="Cambria Math" panose="02040503050406030204" pitchFamily="18" charset="0"/>
                  </a:rPr>
                  <a:t>$3!\times2!=12$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2: rank 3 is in the bottom row. It can be supported only by one man, so it stands at a corner under rank 2 (the centre place would be under two middle men, both lighter, so the centre man must be heavier than both).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middle row is ranks 2 and 4: any heavier middle man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would force ranks 3 and 4 (both lighter) into bottom places under rank 2 only, but only one corner exists. There are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orders for the middle row, and rank 3 goes to the corner under rank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remaining ranks 5 and 6 fill the other two bottom places in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ways, giving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cases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2: rank 3 is in the bottom row. It can be supported only by one man, so it stands at a corner under rank 2 (the centre place would be under two middle men, both lighter, so the centre man must be heavier than both).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middle row is ranks 2 and 4: any heavier middle man </a:t>
                </a:r>
                <a:r>
                  <a:rPr lang="en-IN" sz="2400">
                    <a:solidFill>
                      <a:srgbClr val="111827"/>
                    </a:solidFill>
                    <a:latin typeface="Cambria Math" panose="02040503050406030204" pitchFamily="18" charset="0"/>
                  </a:rPr>
                  <a:t>$x\ge5$</a:t>
                </a:r>
                <a:r>
                  <a:rPr sz="2400" b="0">
                    <a:solidFill>
                      <a:srgbClr val="111827"/>
                    </a:solidFill>
                    <a:latin typeface="Arial"/>
                  </a:rPr>
                  <a:t> would force ranks 3 and 4 (both lighter) into bottom places under rank 2 only, but only one corner exists. There are </a:t>
                </a:r>
                <a:r>
                  <a:rPr lang="en-IN" sz="2400">
                    <a:solidFill>
                      <a:srgbClr val="111827"/>
                    </a:solidFill>
                    <a:latin typeface="Cambria Math" panose="02040503050406030204" pitchFamily="18" charset="0"/>
                  </a:rPr>
                  <a:t>$2!$</a:t>
                </a:r>
                <a:r>
                  <a:rPr sz="2400" b="0">
                    <a:solidFill>
                      <a:srgbClr val="111827"/>
                    </a:solidFill>
                    <a:latin typeface="Arial"/>
                  </a:rPr>
                  <a:t> orders for the middle row, and rank 3 goes to the corner under rank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remaining ranks 5 and 6 fill the other two bottom places in </a:t>
                </a:r>
                <a:r>
                  <a:rPr lang="en-IN" sz="2400">
                    <a:solidFill>
                      <a:srgbClr val="111827"/>
                    </a:solidFill>
                    <a:latin typeface="Cambria Math" panose="02040503050406030204" pitchFamily="18" charset="0"/>
                  </a:rPr>
                  <a:t>$2!$</a:t>
                </a:r>
                <a:r>
                  <a:rPr sz="2400" b="0">
                    <a:solidFill>
                      <a:srgbClr val="111827"/>
                    </a:solidFill>
                    <a:latin typeface="Arial"/>
                  </a:rPr>
                  <a:t> ways, giving </a:t>
                </a:r>
                <a:r>
                  <a:rPr lang="en-IN" sz="2400">
                    <a:solidFill>
                      <a:srgbClr val="111827"/>
                    </a:solidFill>
                    <a:latin typeface="Cambria Math" panose="02040503050406030204" pitchFamily="18" charset="0"/>
                  </a:rPr>
                  <a:t>$2!\times2!=4$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cases </a:t>
                </a:r>
                <a:r>
                  <a:rPr lang="en-IN" sz="2400">
                    <a:solidFill>
                      <a:srgbClr val="111827"/>
                    </a:solidFill>
                    <a:latin typeface="Cambria Math" panose="02040503050406030204" pitchFamily="18" charset="0"/>
                  </a:rPr>
                  <a:t>$m=(3!\times2!)+(2!\times2!)=16$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720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45</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$=\frac{16}{6!}=\frac{16}{720}=\frac{1}{45}$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1/45</a:t>
            </a:r>
            <a:endParaRPr sz="2800">
              <a:solidFill>
                <a:srgbClr val="15803D"/>
              </a:solidFill>
            </a:endParaRP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With the lightest man on top, stability is a zigzag condition on the other five, counted by the Euler zigzag number </a:t>
                </a:r>
                <a14:m>
                  <m:oMath xmlns:m="http://schemas.openxmlformats.org/officeDocument/2006/math">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5</m:t>
                        </m:r>
                      </m:sub>
                    </m:sSub>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With the lightest man on top, stability is a zigzag condition on the other five, counted by the Euler zigzag number </a:t>
                </a:r>
                <a:r>
                  <a:rPr lang="en-IN" sz="2400">
                    <a:solidFill>
                      <a:srgbClr val="78350F"/>
                    </a:solidFill>
                    <a:latin typeface="Cambria Math" panose="02040503050406030204" pitchFamily="18" charset="0"/>
                  </a:rPr>
                  <a:t>$E_5$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Top man is the lightest. Label the others: middle row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bottom row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above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above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Stability needs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in weight (the top man is then automatically lighter than </a:t>
                </a:r>
                <a14:m>
                  <m:oMath xmlns:m="http://schemas.openxmlformats.org/officeDocument/2006/math">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Read along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the weights must satisfy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𝑀</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 zigzag.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arrangements of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distinct weights with this alternating pattern is the Euler number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Top man is the lightest. Label the others: middle row </a:t>
                </a:r>
                <a:r>
                  <a:rPr lang="en-IN" sz="2400">
                    <a:solidFill>
                      <a:srgbClr val="111827"/>
                    </a:solidFill>
                    <a:latin typeface="Cambria Math" panose="02040503050406030204" pitchFamily="18" charset="0"/>
                  </a:rPr>
                  <a:t>$M_1,M_2$</a:t>
                </a:r>
                <a:r>
                  <a:rPr sz="2400" b="0">
                    <a:solidFill>
                      <a:srgbClr val="111827"/>
                    </a:solidFill>
                    <a:latin typeface="Arial"/>
                  </a:rPr>
                  <a:t>; bottom row </a:t>
                </a:r>
                <a:r>
                  <a:rPr lang="en-IN" sz="2400">
                    <a:solidFill>
                      <a:srgbClr val="111827"/>
                    </a:solidFill>
                    <a:latin typeface="Cambria Math" panose="02040503050406030204" pitchFamily="18" charset="0"/>
                  </a:rPr>
                  <a:t>$B_1,B_2,B_3$</a:t>
                </a:r>
                <a:r>
                  <a:rPr sz="2400" b="0">
                    <a:solidFill>
                      <a:srgbClr val="111827"/>
                    </a:solidFill>
                    <a:latin typeface="Arial"/>
                  </a:rPr>
                  <a:t>, with </a:t>
                </a:r>
                <a:r>
                  <a:rPr lang="en-IN" sz="2400">
                    <a:solidFill>
                      <a:srgbClr val="111827"/>
                    </a:solidFill>
                    <a:latin typeface="Cambria Math" panose="02040503050406030204" pitchFamily="18" charset="0"/>
                  </a:rPr>
                  <a:t>$M_1$</a:t>
                </a:r>
                <a:r>
                  <a:rPr sz="2400" b="0">
                    <a:solidFill>
                      <a:srgbClr val="111827"/>
                    </a:solidFill>
                    <a:latin typeface="Arial"/>
                  </a:rPr>
                  <a:t> above </a:t>
                </a:r>
                <a:r>
                  <a:rPr lang="en-IN" sz="2400">
                    <a:solidFill>
                      <a:srgbClr val="111827"/>
                    </a:solidFill>
                    <a:latin typeface="Cambria Math" panose="02040503050406030204" pitchFamily="18" charset="0"/>
                  </a:rPr>
                  <a:t>$B_1,B_2$</a:t>
                </a:r>
                <a:r>
                  <a:rPr sz="2400" b="0">
                    <a:solidFill>
                      <a:srgbClr val="111827"/>
                    </a:solidFill>
                    <a:latin typeface="Arial"/>
                  </a:rPr>
                  <a:t> and </a:t>
                </a:r>
                <a:r>
                  <a:rPr lang="en-IN" sz="2400">
                    <a:solidFill>
                      <a:srgbClr val="111827"/>
                    </a:solidFill>
                    <a:latin typeface="Cambria Math" panose="02040503050406030204" pitchFamily="18" charset="0"/>
                  </a:rPr>
                  <a:t>$M_2$</a:t>
                </a:r>
                <a:r>
                  <a:rPr sz="2400" b="0">
                    <a:solidFill>
                      <a:srgbClr val="111827"/>
                    </a:solidFill>
                    <a:latin typeface="Arial"/>
                  </a:rPr>
                  <a:t> above </a:t>
                </a:r>
                <a:r>
                  <a:rPr lang="en-IN" sz="2400">
                    <a:solidFill>
                      <a:srgbClr val="111827"/>
                    </a:solidFill>
                    <a:latin typeface="Cambria Math" panose="02040503050406030204" pitchFamily="18" charset="0"/>
                  </a:rPr>
                  <a:t>$B_2,B_3$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Stability needs </a:t>
                </a:r>
                <a:r>
                  <a:rPr lang="en-IN" sz="2400">
                    <a:solidFill>
                      <a:srgbClr val="111827"/>
                    </a:solidFill>
                    <a:latin typeface="Cambria Math" panose="02040503050406030204" pitchFamily="18" charset="0"/>
                  </a:rPr>
                  <a:t>$M_1&lt;B_1,\ M_1&lt;B_2,\ M_2&lt;B_2,\ M_2&lt;B_3$</a:t>
                </a:r>
                <a:r>
                  <a:rPr sz="2400" b="0">
                    <a:solidFill>
                      <a:srgbClr val="111827"/>
                    </a:solidFill>
                    <a:latin typeface="Arial"/>
                  </a:rPr>
                  <a:t> in weight (the top man is then automatically lighter than </a:t>
                </a:r>
                <a:r>
                  <a:rPr lang="en-IN" sz="2400">
                    <a:solidFill>
                      <a:srgbClr val="111827"/>
                    </a:solidFill>
                    <a:latin typeface="Cambria Math" panose="02040503050406030204" pitchFamily="18" charset="0"/>
                  </a:rPr>
                  <a:t>$M_1,M_2$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Read along </a:t>
                </a:r>
                <a:r>
                  <a:rPr lang="en-IN" sz="2400">
                    <a:solidFill>
                      <a:srgbClr val="111827"/>
                    </a:solidFill>
                    <a:latin typeface="Cambria Math" panose="02040503050406030204" pitchFamily="18" charset="0"/>
                  </a:rPr>
                  <a:t>$B_1,M_1,B_2,M_2,B_3$</a:t>
                </a:r>
                <a:r>
                  <a:rPr sz="2400" b="0">
                    <a:solidFill>
                      <a:srgbClr val="111827"/>
                    </a:solidFill>
                    <a:latin typeface="Arial"/>
                  </a:rPr>
                  <a:t>: the weights must satisfy </a:t>
                </a:r>
                <a:r>
                  <a:rPr lang="en-IN" sz="2400">
                    <a:solidFill>
                      <a:srgbClr val="111827"/>
                    </a:solidFill>
                    <a:latin typeface="Cambria Math" panose="02040503050406030204" pitchFamily="18" charset="0"/>
                  </a:rPr>
                  <a:t>$B_1&gt;M_1&lt;B_2&gt;M_2&lt;B_3$</a:t>
                </a:r>
                <a:r>
                  <a:rPr sz="2400" b="0">
                    <a:solidFill>
                      <a:srgbClr val="111827"/>
                    </a:solidFill>
                    <a:latin typeface="Arial"/>
                  </a:rPr>
                  <a:t>, a zigzag.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arrangements of </a:t>
                </a:r>
                <a:r>
                  <a:rPr lang="en-IN" sz="2400">
                    <a:solidFill>
                      <a:srgbClr val="111827"/>
                    </a:solidFill>
                    <a:latin typeface="Cambria Math" panose="02040503050406030204" pitchFamily="18" charset="0"/>
                  </a:rPr>
                  <a:t>$5$</a:t>
                </a:r>
                <a:r>
                  <a:rPr sz="2400" b="0">
                    <a:solidFill>
                      <a:srgbClr val="111827"/>
                    </a:solidFill>
                    <a:latin typeface="Arial"/>
                  </a:rPr>
                  <a:t> distinct weights with this alternating pattern is the Euler number </a:t>
                </a:r>
                <a:r>
                  <a:rPr lang="en-IN" sz="2400">
                    <a:solidFill>
                      <a:srgbClr val="111827"/>
                    </a:solidFill>
                    <a:latin typeface="Cambria Math" panose="02040503050406030204" pitchFamily="18" charset="0"/>
                  </a:rPr>
                  <a:t>$E_5$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Recursion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e>
                    </m:nary>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𝑘</m:t>
                        </m:r>
                      </m:sub>
                    </m:sSub>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b>
                    </m:sSub>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arrangements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out of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720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45</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Recursion </a:t>
                </a:r>
                <a:r>
                  <a:rPr lang="en-IN" sz="2400">
                    <a:solidFill>
                      <a:srgbClr val="111827"/>
                    </a:solidFill>
                    <a:latin typeface="Cambria Math" panose="02040503050406030204" pitchFamily="18" charset="0"/>
                  </a:rPr>
                  <a:t>$2E_{n+1}=\sum_{k}\binom nkE_kE_{n-k}$</a:t>
                </a:r>
                <a:r>
                  <a:rPr sz="2400" b="0">
                    <a:solidFill>
                      <a:srgbClr val="111827"/>
                    </a:solidFill>
                    <a:latin typeface="Arial"/>
                  </a:rPr>
                  <a:t> with </a:t>
                </a:r>
                <a:r>
                  <a:rPr lang="en-IN" sz="2400">
                    <a:solidFill>
                      <a:srgbClr val="111827"/>
                    </a:solidFill>
                    <a:latin typeface="Cambria Math" panose="02040503050406030204" pitchFamily="18" charset="0"/>
                  </a:rPr>
                  <a:t>$E_0,\dots,E_4=1,1,1,2,5$</a:t>
                </a:r>
                <a:r>
                  <a:rPr sz="2400" b="0">
                    <a:solidFill>
                      <a:srgbClr val="111827"/>
                    </a:solidFill>
                    <a:latin typeface="Arial"/>
                  </a:rPr>
                  <a:t>: </a:t>
                </a:r>
                <a:r>
                  <a:rPr lang="en-IN" sz="2400">
                    <a:solidFill>
                      <a:srgbClr val="111827"/>
                    </a:solidFill>
                    <a:latin typeface="Cambria Math" panose="02040503050406030204" pitchFamily="18" charset="0"/>
                  </a:rPr>
                  <a:t>$2E_5=5+8+6+8+5=32$</a:t>
                </a:r>
                <a:r>
                  <a:rPr sz="2400" b="0">
                    <a:solidFill>
                      <a:srgbClr val="111827"/>
                    </a:solidFill>
                    <a:latin typeface="Arial"/>
                  </a:rPr>
                  <a:t>, so </a:t>
                </a:r>
                <a:r>
                  <a:rPr lang="en-IN" sz="2400">
                    <a:solidFill>
                      <a:srgbClr val="111827"/>
                    </a:solidFill>
                    <a:latin typeface="Cambria Math" panose="02040503050406030204" pitchFamily="18" charset="0"/>
                  </a:rPr>
                  <a:t>$E_5=16$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arrangements </a:t>
                </a:r>
                <a:r>
                  <a:rPr lang="en-IN" sz="2400">
                    <a:solidFill>
                      <a:srgbClr val="111827"/>
                    </a:solidFill>
                    <a:latin typeface="Cambria Math" panose="02040503050406030204" pitchFamily="18" charset="0"/>
                  </a:rPr>
                  <a:t>$=16$</a:t>
                </a:r>
                <a:r>
                  <a:rPr sz="2400" b="0">
                    <a:solidFill>
                      <a:srgbClr val="111827"/>
                    </a:solidFill>
                    <a:latin typeface="Arial"/>
                  </a:rPr>
                  <a:t> out of </a:t>
                </a:r>
                <a:r>
                  <a:rPr lang="en-IN" sz="2400">
                    <a:solidFill>
                      <a:srgbClr val="111827"/>
                    </a:solidFill>
                    <a:latin typeface="Cambria Math" panose="02040503050406030204" pitchFamily="18" charset="0"/>
                  </a:rPr>
                  <a:t>$6!=720$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$P=\frac{16}{720}=\frac1{45}$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1/45</a:t>
            </a:r>
            <a:endParaRPr sz="2800">
              <a:solidFill>
                <a:srgbClr val="15803D"/>
              </a:solidFill>
            </a:endParaRP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'heavier supports lighter' pyramid is a linear extension of a partial order: build it by placing men from lightest to heaviest, always in a place whose upper supports are already filled.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every stable pyramid the apex is the lightest man and the second lightest is directly below the apex (middle row).</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Smaller check: a 2-row pyramid of 3 men has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stable arrangements out of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Counting rule used: when a man has more than one supporter, he must be heavier than all of them, which restricts the centre of the bottom row.</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'heavier supports lighter' pyramid is a linear extension of a partial order: build it by placing men from lightest to heaviest, always in a place whose upper supports are already filled.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every stable pyramid the apex is the lightest man and the second lightest is directly below the apex (middle row).</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Smaller check: a 2-row pyramid of 3 men has </a:t>
                </a:r>
                <a:r>
                  <a:rPr lang="en-IN" sz="2400">
                    <a:solidFill>
                      <a:srgbClr val="111827"/>
                    </a:solidFill>
                    <a:latin typeface="Cambria Math" panose="02040503050406030204" pitchFamily="18" charset="0"/>
                  </a:rPr>
                  <a:t>$2$</a:t>
                </a:r>
                <a:r>
                  <a:rPr sz="2400" b="0">
                    <a:solidFill>
                      <a:srgbClr val="111827"/>
                    </a:solidFill>
                    <a:latin typeface="Arial"/>
                  </a:rPr>
                  <a:t> stable arrangements out of </a:t>
                </a:r>
                <a:r>
                  <a:rPr lang="en-IN" sz="2400">
                    <a:solidFill>
                      <a:srgbClr val="111827"/>
                    </a:solidFill>
                    <a:latin typeface="Cambria Math" panose="02040503050406030204" pitchFamily="18" charset="0"/>
                  </a:rPr>
                  <a:t>$3!$</a:t>
                </a:r>
                <a:r>
                  <a:rPr sz="2400" b="0">
                    <a:solidFill>
                      <a:srgbClr val="111827"/>
                    </a:solidFill>
                    <a:latin typeface="Arial"/>
                  </a:rPr>
                  <a:t>, probability </a:t>
                </a:r>
                <a:r>
                  <a:rPr lang="en-IN" sz="2400">
                    <a:solidFill>
                      <a:srgbClr val="111827"/>
                    </a:solidFill>
                    <a:latin typeface="Cambria Math" panose="02040503050406030204" pitchFamily="18" charset="0"/>
                  </a:rPr>
                  <a:t>$\frac13$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Counting rule used: when a man has more than one supporter, he must be heavier than all of them, which restricts the centre of the bottom row.</a:t>
                </a:r>
                <a:endParaRPr sz="2400">
                  <a:solidFill>
                    <a:srgbClr val="111827"/>
                  </a:solidFill>
                </a:endParaRPr>
              </a:p>
            </p:txBody>
          </p:sp>
        </mc:Fallback>
      </mc:AlternateContent>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2</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One or more than one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Q28 – Q49</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2910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complex number satisfying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denotes the real part of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less than: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m:t>
                    </m:r>
                  </m:oMath>
                </a14:m>
                <a:endParaRPr sz="2400">
                  <a:solidFill>
                    <a:srgbClr val="111827"/>
                  </a:solidFill>
                </a:endParaRPr>
              </a:p>
            </p:txBody>
          </p:sp>
        </mc:Choice>
        <mc:Fallback>
          <p:sp>
            <p:nvSpPr>
              <p:cNvPr id="4" name="Rounded Rectangle 3"/>
              <p:cNvSpPr/>
              <p:nvPr/>
            </p:nvSpPr>
            <p:spPr>
              <a:xfrm>
                <a:off x="731520" y="1280160"/>
                <a:ext cx="10725912" cy="22910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$z$</a:t>
                </a:r>
                <a:r>
                  <a:rPr sz="2400" b="0">
                    <a:solidFill>
                      <a:srgbClr val="111827"/>
                    </a:solidFill>
                    <a:latin typeface="Arial"/>
                  </a:rPr>
                  <a:t> is a complex number satisfying </a:t>
                </a:r>
                <a:r>
                  <a:rPr lang="en-IN" sz="2400">
                    <a:solidFill>
                      <a:srgbClr val="111827"/>
                    </a:solidFill>
                    <a:latin typeface="Cambria Math" panose="02040503050406030204" pitchFamily="18" charset="0"/>
                  </a:rPr>
                  <a:t>$z^2-z-|z|^2+\frac{64}{|z|^5}=0$</a:t>
                </a:r>
                <a:r>
                  <a:rPr sz="2400" b="0">
                    <a:solidFill>
                      <a:srgbClr val="111827"/>
                    </a:solidFill>
                    <a:latin typeface="Arial"/>
                  </a:rPr>
                  <a:t> and </a:t>
                </a:r>
                <a:r>
                  <a:rPr lang="en-IN" sz="2400">
                    <a:solidFill>
                      <a:srgbClr val="111827"/>
                    </a:solidFill>
                    <a:latin typeface="Cambria Math" panose="02040503050406030204" pitchFamily="18" charset="0"/>
                  </a:rPr>
                  <a:t>$\mathrm{Re}(z)\neq\frac12$</a:t>
                </a:r>
                <a:r>
                  <a:rPr sz="2400" b="0">
                    <a:solidFill>
                      <a:srgbClr val="111827"/>
                    </a:solidFill>
                    <a:latin typeface="Arial"/>
                  </a:rPr>
                  <a:t> (where </a:t>
                </a:r>
                <a:r>
                  <a:rPr lang="en-IN" sz="2400">
                    <a:solidFill>
                      <a:srgbClr val="111827"/>
                    </a:solidFill>
                    <a:latin typeface="Cambria Math" panose="02040503050406030204" pitchFamily="18" charset="0"/>
                  </a:rPr>
                  <a:t>$\mathrm{Re}(z)$</a:t>
                </a:r>
                <a:r>
                  <a:rPr sz="2400" b="0">
                    <a:solidFill>
                      <a:srgbClr val="111827"/>
                    </a:solidFill>
                    <a:latin typeface="Arial"/>
                  </a:rPr>
                  <a:t> denotes the real part of </a:t>
                </a:r>
                <a:r>
                  <a:rPr lang="en-IN" sz="2400">
                    <a:solidFill>
                      <a:srgbClr val="111827"/>
                    </a:solidFill>
                    <a:latin typeface="Cambria Math" panose="02040503050406030204" pitchFamily="18" charset="0"/>
                  </a:rPr>
                  <a:t>$z$</a:t>
                </a:r>
                <a:r>
                  <a:rPr sz="2400" b="0">
                    <a:solidFill>
                      <a:srgbClr val="111827"/>
                    </a:solidFill>
                    <a:latin typeface="Arial"/>
                  </a:rPr>
                  <a:t>), then </a:t>
                </a:r>
                <a:r>
                  <a:rPr lang="en-IN" sz="2400">
                    <a:solidFill>
                      <a:srgbClr val="111827"/>
                    </a:solidFill>
                    <a:latin typeface="Cambria Math" panose="02040503050406030204" pitchFamily="18" charset="0"/>
                  </a:rPr>
                  <a:t>$|z|$</a:t>
                </a:r>
                <a:r>
                  <a:rPr sz="2400" b="0">
                    <a:solidFill>
                      <a:srgbClr val="111827"/>
                    </a:solidFill>
                    <a:latin typeface="Arial"/>
                  </a:rPr>
                  <a:t> is less than: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$2$</a:t>
                </a:r>
                <a:r>
                  <a:rPr sz="2400" b="0">
                    <a:solidFill>
                      <a:srgbClr val="111827"/>
                    </a:solidFill>
                    <a:latin typeface="Arial"/>
                  </a:rPr>
                  <a:t>   (C) </a:t>
                </a:r>
                <a:r>
                  <a:rPr lang="en-IN" sz="2400">
                    <a:solidFill>
                      <a:srgbClr val="111827"/>
                    </a:solidFill>
                    <a:latin typeface="Cambria Math" panose="02040503050406030204" pitchFamily="18" charset="0"/>
                  </a:rPr>
                  <a:t>$3$</a:t>
                </a:r>
                <a:r>
                  <a:rPr sz="2400" b="0">
                    <a:solidFill>
                      <a:srgbClr val="111827"/>
                    </a:solidFill>
                    <a:latin typeface="Arial"/>
                  </a:rPr>
                  <a:t>   (D) </a:t>
                </a:r>
                <a:r>
                  <a:rPr lang="en-IN" sz="2400">
                    <a:solidFill>
                      <a:srgbClr val="111827"/>
                    </a:solidFill>
                    <a:latin typeface="Cambria Math" panose="02040503050406030204" pitchFamily="18" charset="0"/>
                  </a:rPr>
                  <a:t>$4$</a:t>
                </a:r>
                <a:endParaRPr sz="2400">
                  <a:solidFill>
                    <a:srgbClr val="111827"/>
                  </a:solidFill>
                </a:endParaRPr>
              </a:p>
            </p:txBody>
          </p:sp>
        </mc:Fallback>
      </mc:AlternateContent>
      <p:sp>
        <p:nvSpPr>
          <p:cNvPr id="5" name="Rectangle 4"/>
          <p:cNvSpPr/>
          <p:nvPr/>
        </p:nvSpPr>
        <p:spPr>
          <a:xfrm>
            <a:off x="731520" y="3799839"/>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and conjugate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oMath>
                </a14:m>
                <a:r>
                  <a:rPr sz="2400" b="0">
                    <a:solidFill>
                      <a:srgbClr val="78350F"/>
                    </a:solidFill>
                    <a:latin typeface="Arial"/>
                  </a:rPr>
                  <a:t> equals a real number, so its imaginary part </a:t>
                </a:r>
                <a14:m>
                  <m:oMath xmlns:m="http://schemas.openxmlformats.org/officeDocument/2006/math">
                    <m:r>
                      <a:rPr lang="en-IN" sz="2400" i="1">
                        <a:solidFill>
                          <a:srgbClr val="78350F"/>
                        </a:solidFill>
                        <a:latin typeface="Cambria Math" panose="02040503050406030204" pitchFamily="18" charset="0"/>
                      </a:rPr>
                      <m:t>𝑦</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vanishes; since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is real.</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$z^2-z$</a:t>
                </a:r>
                <a:r>
                  <a:rPr sz="2400" b="0">
                    <a:solidFill>
                      <a:srgbClr val="78350F"/>
                    </a:solidFill>
                    <a:latin typeface="Arial"/>
                  </a:rPr>
                  <a:t> equals a real number, so its imaginary part </a:t>
                </a:r>
                <a:r>
                  <a:rPr lang="en-IN" sz="2400">
                    <a:solidFill>
                      <a:srgbClr val="78350F"/>
                    </a:solidFill>
                    <a:latin typeface="Cambria Math" panose="02040503050406030204" pitchFamily="18" charset="0"/>
                  </a:rPr>
                  <a:t>$y(2x-1)$</a:t>
                </a:r>
                <a:r>
                  <a:rPr sz="2400" b="0">
                    <a:solidFill>
                      <a:srgbClr val="78350F"/>
                    </a:solidFill>
                    <a:latin typeface="Arial"/>
                  </a:rPr>
                  <a:t> vanishes; since </a:t>
                </a:r>
                <a:r>
                  <a:rPr lang="en-IN" sz="2400">
                    <a:solidFill>
                      <a:srgbClr val="78350F"/>
                    </a:solidFill>
                    <a:latin typeface="Cambria Math" panose="02040503050406030204" pitchFamily="18" charset="0"/>
                  </a:rPr>
                  <a:t>$x\ne\frac12$</a:t>
                </a:r>
                <a:r>
                  <a:rPr sz="2400" b="0">
                    <a:solidFill>
                      <a:srgbClr val="78350F"/>
                    </a:solidFill>
                    <a:latin typeface="Arial"/>
                  </a:rPr>
                  <a:t>, </a:t>
                </a:r>
                <a:r>
                  <a:rPr lang="en-IN" sz="2400">
                    <a:solidFill>
                      <a:srgbClr val="78350F"/>
                    </a:solidFill>
                    <a:latin typeface="Cambria Math" panose="02040503050406030204" pitchFamily="18" charset="0"/>
                  </a:rPr>
                  <a:t>$z$</a:t>
                </a:r>
                <a:r>
                  <a:rPr sz="2400" b="0">
                    <a:solidFill>
                      <a:srgbClr val="78350F"/>
                    </a:solidFill>
                    <a:latin typeface="Arial"/>
                  </a:rPr>
                  <a:t> is real.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Rewrite: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den>
                    </m:f>
                  </m:oMath>
                </a14:m>
                <a:r>
                  <a:rPr sz="2400" b="0">
                    <a:solidFill>
                      <a:srgbClr val="111827"/>
                    </a:solidFill>
                    <a:latin typeface="Arial"/>
                  </a:rPr>
                  <a:t>, which is a purely real number.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e>
                    </m:ba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because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therefore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Rewrite: </a:t>
                </a:r>
                <a:r>
                  <a:rPr lang="en-IN" sz="2400">
                    <a:solidFill>
                      <a:srgbClr val="111827"/>
                    </a:solidFill>
                    <a:latin typeface="Cambria Math" panose="02040503050406030204" pitchFamily="18" charset="0"/>
                  </a:rPr>
                  <a:t>$z^2-z=|z|^2-\frac{64}{|z|^5}$</a:t>
                </a:r>
                <a:r>
                  <a:rPr sz="2400" b="0">
                    <a:solidFill>
                      <a:srgbClr val="111827"/>
                    </a:solidFill>
                    <a:latin typeface="Arial"/>
                  </a:rPr>
                  <a:t>, which is a purely real number.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$z^2-z=\overline{z^2-z}$</a:t>
                </a:r>
                <a:r>
                  <a:rPr sz="2400" b="0">
                    <a:solidFill>
                      <a:srgbClr val="111827"/>
                    </a:solidFill>
                    <a:latin typeface="Arial"/>
                  </a:rPr>
                  <a:t>, i.e. </a:t>
                </a:r>
                <a:r>
                  <a:rPr lang="en-IN" sz="2400">
                    <a:solidFill>
                      <a:srgbClr val="111827"/>
                    </a:solidFill>
                    <a:latin typeface="Cambria Math" panose="02040503050406030204" pitchFamily="18" charset="0"/>
                  </a:rPr>
                  <a:t>$z^2-z=\bar z^2-\bar 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$(z^2-\bar z^2)-(z-\bar z)=0$</a:t>
                </a:r>
                <a:r>
                  <a:rPr sz="2400" b="0">
                    <a:solidFill>
                      <a:srgbClr val="111827"/>
                    </a:solidFill>
                    <a:latin typeface="Arial"/>
                  </a:rPr>
                  <a:t>, i.e. </a:t>
                </a:r>
                <a:r>
                  <a:rPr lang="en-IN" sz="2400">
                    <a:solidFill>
                      <a:srgbClr val="111827"/>
                    </a:solidFill>
                    <a:latin typeface="Cambria Math" panose="02040503050406030204" pitchFamily="18" charset="0"/>
                  </a:rPr>
                  <a:t>$(z-\bar z)(z+\bar z-1)=0$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r>
                  <a:rPr lang="en-IN" sz="2400">
                    <a:solidFill>
                      <a:srgbClr val="111827"/>
                    </a:solidFill>
                    <a:latin typeface="Cambria Math" panose="02040503050406030204" pitchFamily="18" charset="0"/>
                  </a:rPr>
                  <a:t>$z+\bar z-1=2\,\mathrm{Re}(z)-1\neq0$</a:t>
                </a:r>
                <a:r>
                  <a:rPr sz="2400" b="0">
                    <a:solidFill>
                      <a:srgbClr val="111827"/>
                    </a:solidFill>
                    <a:latin typeface="Arial"/>
                  </a:rPr>
                  <a:t> because </a:t>
                </a:r>
                <a:r>
                  <a:rPr lang="en-IN" sz="2400">
                    <a:solidFill>
                      <a:srgbClr val="111827"/>
                    </a:solidFill>
                    <a:latin typeface="Cambria Math" panose="02040503050406030204" pitchFamily="18" charset="0"/>
                  </a:rPr>
                  <a:t>$\mathrm{Re}(z)\neq\frac12$</a:t>
                </a:r>
                <a:r>
                  <a:rPr sz="2400" b="0">
                    <a:solidFill>
                      <a:srgbClr val="111827"/>
                    </a:solidFill>
                    <a:latin typeface="Arial"/>
                  </a:rPr>
                  <a:t>; therefore </a:t>
                </a:r>
                <a:r>
                  <a:rPr lang="en-IN" sz="2400">
                    <a:solidFill>
                      <a:srgbClr val="111827"/>
                    </a:solidFill>
                    <a:latin typeface="Cambria Math" panose="02040503050406030204" pitchFamily="18" charset="0"/>
                  </a:rPr>
                  <a:t>$z-\bar z=0$</a:t>
                </a:r>
                <a:r>
                  <a:rPr sz="2400" b="0">
                    <a:solidFill>
                      <a:srgbClr val="111827"/>
                    </a:solidFill>
                    <a:latin typeface="Arial"/>
                  </a:rPr>
                  <a:t> and </a:t>
                </a:r>
                <a:r>
                  <a:rPr lang="en-IN" sz="2400">
                    <a:solidFill>
                      <a:srgbClr val="111827"/>
                    </a:solidFill>
                    <a:latin typeface="Cambria Math" panose="02040503050406030204" pitchFamily="18" charset="0"/>
                  </a:rPr>
                  <a:t>$z=\bar z$</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purely real. Put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in the given equation: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this becomes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is not possible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which is less than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and less than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options (C) and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a:t>
                </a:r>
                <a:r>
                  <a:rPr sz="2400" b="0">
                    <a:solidFill>
                      <a:srgbClr val="111827"/>
                    </a:solidFill>
                    <a:latin typeface="Arial"/>
                  </a:rPr>
                  <a:t> is purely real. Put </a:t>
                </a:r>
                <a:r>
                  <a:rPr lang="en-IN" sz="2400">
                    <a:solidFill>
                      <a:srgbClr val="111827"/>
                    </a:solidFill>
                    <a:latin typeface="Cambria Math" panose="02040503050406030204" pitchFamily="18" charset="0"/>
                  </a:rPr>
                  <a:t>$z=x$</a:t>
                </a:r>
                <a:r>
                  <a:rPr sz="2400" b="0">
                    <a:solidFill>
                      <a:srgbClr val="111827"/>
                    </a:solidFill>
                    <a:latin typeface="Arial"/>
                  </a:rPr>
                  <a:t> in the given equation: </a:t>
                </a:r>
                <a:r>
                  <a:rPr lang="en-IN" sz="2400">
                    <a:solidFill>
                      <a:srgbClr val="111827"/>
                    </a:solidFill>
                    <a:latin typeface="Cambria Math" panose="02040503050406030204" pitchFamily="18" charset="0"/>
                  </a:rPr>
                  <a:t>$x^2-x-|x|^2+\frac{64}{|x|^5}=0$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$x^2=|x|^2$</a:t>
                </a:r>
                <a:r>
                  <a:rPr sz="2400" b="0">
                    <a:solidFill>
                      <a:srgbClr val="111827"/>
                    </a:solidFill>
                    <a:latin typeface="Arial"/>
                  </a:rPr>
                  <a:t>, this becomes </a:t>
                </a:r>
                <a:r>
                  <a:rPr lang="en-IN" sz="2400">
                    <a:solidFill>
                      <a:srgbClr val="111827"/>
                    </a:solidFill>
                    <a:latin typeface="Cambria Math" panose="02040503050406030204" pitchFamily="18" charset="0"/>
                  </a:rPr>
                  <a:t>$-x+\frac{64}{|x|^5}=0$</a:t>
                </a:r>
                <a:r>
                  <a:rPr sz="2400" b="0">
                    <a:solidFill>
                      <a:srgbClr val="111827"/>
                    </a:solidFill>
                    <a:latin typeface="Arial"/>
                  </a:rPr>
                  <a:t>, i.e. </a:t>
                </a:r>
                <a:r>
                  <a:rPr lang="en-IN" sz="2400">
                    <a:solidFill>
                      <a:srgbClr val="111827"/>
                    </a:solidFill>
                    <a:latin typeface="Cambria Math" panose="02040503050406030204" pitchFamily="18" charset="0"/>
                  </a:rPr>
                  <a:t>$x=\frac{64}{|x|^5}&gt;0$</a:t>
                </a:r>
                <a:r>
                  <a:rPr sz="2400" b="0">
                    <a:solidFill>
                      <a:srgbClr val="111827"/>
                    </a:solidFill>
                    <a:latin typeface="Arial"/>
                  </a:rPr>
                  <a:t>, so </a:t>
                </a:r>
                <a:r>
                  <a:rPr lang="en-IN" sz="2400">
                    <a:solidFill>
                      <a:srgbClr val="111827"/>
                    </a:solidFill>
                    <a:latin typeface="Cambria Math" panose="02040503050406030204" pitchFamily="18" charset="0"/>
                  </a:rPr>
                  <a:t>$x&lt;0$</a:t>
                </a:r>
                <a:r>
                  <a:rPr sz="2400" b="0">
                    <a:solidFill>
                      <a:srgbClr val="111827"/>
                    </a:solidFill>
                    <a:latin typeface="Arial"/>
                  </a:rPr>
                  <a:t> is not possible and </a:t>
                </a:r>
                <a:r>
                  <a:rPr lang="en-IN" sz="2400">
                    <a:solidFill>
                      <a:srgbClr val="111827"/>
                    </a:solidFill>
                    <a:latin typeface="Cambria Math" panose="02040503050406030204" pitchFamily="18" charset="0"/>
                  </a:rPr>
                  <a:t>$x&gt;0$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$x&gt;0$</a:t>
                </a:r>
                <a:r>
                  <a:rPr sz="2400" b="0">
                    <a:solidFill>
                      <a:srgbClr val="111827"/>
                    </a:solidFill>
                    <a:latin typeface="Arial"/>
                  </a:rPr>
                  <a:t>: </a:t>
                </a:r>
                <a:r>
                  <a:rPr lang="en-IN" sz="2400">
                    <a:solidFill>
                      <a:srgbClr val="111827"/>
                    </a:solidFill>
                    <a:latin typeface="Cambria Math" panose="02040503050406030204" pitchFamily="18" charset="0"/>
                  </a:rPr>
                  <a:t>$x^6=64$</a:t>
                </a:r>
                <a:r>
                  <a:rPr sz="2400" b="0">
                    <a:solidFill>
                      <a:srgbClr val="111827"/>
                    </a:solidFill>
                    <a:latin typeface="Arial"/>
                  </a:rPr>
                  <a:t>, so </a:t>
                </a:r>
                <a:r>
                  <a:rPr lang="en-IN" sz="2400">
                    <a:solidFill>
                      <a:srgbClr val="111827"/>
                    </a:solidFill>
                    <a:latin typeface="Cambria Math" panose="02040503050406030204" pitchFamily="18" charset="0"/>
                  </a:rPr>
                  <a:t>$x=2$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$|z|=2$</a:t>
                </a:r>
                <a:r>
                  <a:rPr sz="2400" b="0">
                    <a:solidFill>
                      <a:srgbClr val="111827"/>
                    </a:solidFill>
                    <a:latin typeface="Arial"/>
                  </a:rPr>
                  <a:t>, which is less than </a:t>
                </a:r>
                <a:r>
                  <a:rPr lang="en-IN" sz="2400">
                    <a:solidFill>
                      <a:srgbClr val="111827"/>
                    </a:solidFill>
                    <a:latin typeface="Cambria Math" panose="02040503050406030204" pitchFamily="18" charset="0"/>
                  </a:rPr>
                  <a:t>$3$</a:t>
                </a:r>
                <a:r>
                  <a:rPr sz="2400" b="0">
                    <a:solidFill>
                      <a:srgbClr val="111827"/>
                    </a:solidFill>
                    <a:latin typeface="Arial"/>
                  </a:rPr>
                  <a:t> and less than </a:t>
                </a:r>
                <a:r>
                  <a:rPr lang="en-IN" sz="2400">
                    <a:solidFill>
                      <a:srgbClr val="111827"/>
                    </a:solidFill>
                    <a:latin typeface="Cambria Math" panose="02040503050406030204" pitchFamily="18" charset="0"/>
                  </a:rPr>
                  <a:t>$4$</a:t>
                </a:r>
                <a:r>
                  <a:rPr sz="2400" b="0">
                    <a:solidFill>
                      <a:srgbClr val="111827"/>
                    </a:solidFill>
                    <a:latin typeface="Arial"/>
                  </a:rPr>
                  <a:t>: options (C) and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D)</a:t>
            </a:r>
            <a:endParaRPr sz="2800">
              <a:solidFill>
                <a:srgbClr val="15803D"/>
              </a:solidFill>
            </a:endParaRP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an expression in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known to be real, set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this factorises 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real or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coordinates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hypothesis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exactly what removes the second branch; for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imaginary part vanishes automatically.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an expression in </a:t>
                </a:r>
                <a:r>
                  <a:rPr lang="en-IN" sz="2400">
                    <a:solidFill>
                      <a:srgbClr val="111827"/>
                    </a:solidFill>
                    <a:latin typeface="Cambria Math" panose="02040503050406030204" pitchFamily="18" charset="0"/>
                  </a:rPr>
                  <a:t>$z$</a:t>
                </a:r>
                <a:r>
                  <a:rPr sz="2400" b="0">
                    <a:solidFill>
                      <a:srgbClr val="111827"/>
                    </a:solidFill>
                    <a:latin typeface="Arial"/>
                  </a:rPr>
                  <a:t> is known to be real, set </a:t>
                </a:r>
                <a:r>
                  <a:rPr lang="en-IN" sz="2400">
                    <a:solidFill>
                      <a:srgbClr val="111827"/>
                    </a:solidFill>
                    <a:latin typeface="Cambria Math" panose="02040503050406030204" pitchFamily="18" charset="0"/>
                  </a:rPr>
                  <a:t>$w=\bar w$</a:t>
                </a:r>
                <a:r>
                  <a:rPr sz="2400" b="0">
                    <a:solidFill>
                      <a:srgbClr val="111827"/>
                    </a:solidFill>
                    <a:latin typeface="Arial"/>
                  </a:rPr>
                  <a:t>; for </a:t>
                </a:r>
                <a:r>
                  <a:rPr lang="en-IN" sz="2400">
                    <a:solidFill>
                      <a:srgbClr val="111827"/>
                    </a:solidFill>
                    <a:latin typeface="Cambria Math" panose="02040503050406030204" pitchFamily="18" charset="0"/>
                  </a:rPr>
                  <a:t>$w=z^2-z$</a:t>
                </a:r>
                <a:r>
                  <a:rPr sz="2400" b="0">
                    <a:solidFill>
                      <a:srgbClr val="111827"/>
                    </a:solidFill>
                    <a:latin typeface="Arial"/>
                  </a:rPr>
                  <a:t> this factorises as </a:t>
                </a:r>
                <a:r>
                  <a:rPr lang="en-IN" sz="2400">
                    <a:solidFill>
                      <a:srgbClr val="111827"/>
                    </a:solidFill>
                    <a:latin typeface="Cambria Math" panose="02040503050406030204" pitchFamily="18" charset="0"/>
                  </a:rPr>
                  <a:t>$(z-\bar z)(z+\bar z-1)$</a:t>
                </a:r>
                <a:r>
                  <a:rPr sz="2400" b="0">
                    <a:solidFill>
                      <a:srgbClr val="111827"/>
                    </a:solidFill>
                    <a:latin typeface="Arial"/>
                  </a:rPr>
                  <a:t>, so </a:t>
                </a:r>
                <a:r>
                  <a:rPr lang="en-IN" sz="2400">
                    <a:solidFill>
                      <a:srgbClr val="111827"/>
                    </a:solidFill>
                    <a:latin typeface="Cambria Math" panose="02040503050406030204" pitchFamily="18" charset="0"/>
                  </a:rPr>
                  <a:t>$z$</a:t>
                </a:r>
                <a:r>
                  <a:rPr sz="2400" b="0">
                    <a:solidFill>
                      <a:srgbClr val="111827"/>
                    </a:solidFill>
                    <a:latin typeface="Arial"/>
                  </a:rPr>
                  <a:t> is real or </a:t>
                </a:r>
                <a:r>
                  <a:rPr lang="en-IN" sz="2400">
                    <a:solidFill>
                      <a:srgbClr val="111827"/>
                    </a:solidFill>
                    <a:latin typeface="Cambria Math" panose="02040503050406030204" pitchFamily="18" charset="0"/>
                  </a:rPr>
                  <a:t>$\mathrm{Re}(z)=\frac12$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coordinates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$\mathrm{Im}(z^2-z)=y(2x-1)$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hypothesis </a:t>
                </a:r>
                <a:r>
                  <a:rPr lang="en-IN" sz="2400">
                    <a:solidFill>
                      <a:srgbClr val="111827"/>
                    </a:solidFill>
                    <a:latin typeface="Cambria Math" panose="02040503050406030204" pitchFamily="18" charset="0"/>
                  </a:rPr>
                  <a:t>$\mathrm{Re}(z)\neq\frac12$</a:t>
                </a:r>
                <a:r>
                  <a:rPr sz="2400" b="0">
                    <a:solidFill>
                      <a:srgbClr val="111827"/>
                    </a:solidFill>
                    <a:latin typeface="Arial"/>
                  </a:rPr>
                  <a:t> is exactly what removes the second branch; for </a:t>
                </a:r>
                <a:r>
                  <a:rPr lang="en-IN" sz="2400">
                    <a:solidFill>
                      <a:srgbClr val="111827"/>
                    </a:solidFill>
                    <a:latin typeface="Cambria Math" panose="02040503050406030204" pitchFamily="18" charset="0"/>
                  </a:rPr>
                  <a:t>$\mathrm{Re}(z)=\frac12$</a:t>
                </a:r>
                <a:r>
                  <a:rPr sz="2400" b="0">
                    <a:solidFill>
                      <a:srgbClr val="111827"/>
                    </a:solidFill>
                    <a:latin typeface="Arial"/>
                  </a:rPr>
                  <a:t> the imaginary part vanishes automatically.</a:t>
                </a:r>
                <a:endParaRPr sz="2400">
                  <a:solidFill>
                    <a:srgbClr val="111827"/>
                  </a:solidFill>
                </a:endParaRPr>
              </a:p>
            </p:txBody>
          </p:sp>
        </mc:Fallback>
      </mc:AlternateContent>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2910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is the digit at the unit place in the number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can be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9</m:t>
                    </m:r>
                  </m:oMath>
                </a14:m>
                <a:endParaRPr sz="2400">
                  <a:solidFill>
                    <a:srgbClr val="111827"/>
                  </a:solidFill>
                </a:endParaRPr>
              </a:p>
            </p:txBody>
          </p:sp>
        </mc:Choice>
        <mc:Fallback>
          <p:sp>
            <p:nvSpPr>
              <p:cNvPr id="4" name="Rounded Rectangle 3"/>
              <p:cNvSpPr/>
              <p:nvPr/>
            </p:nvSpPr>
            <p:spPr>
              <a:xfrm>
                <a:off x="731520" y="1280160"/>
                <a:ext cx="10725912" cy="22910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$x+\frac1x=1$</a:t>
                </a:r>
                <a:r>
                  <a:rPr sz="2400" b="0">
                    <a:solidFill>
                      <a:srgbClr val="111827"/>
                    </a:solidFill>
                    <a:latin typeface="Arial"/>
                  </a:rPr>
                  <a:t> and </a:t>
                </a:r>
                <a:r>
                  <a:rPr lang="en-IN" sz="2400">
                    <a:solidFill>
                      <a:srgbClr val="111827"/>
                    </a:solidFill>
                    <a:latin typeface="Cambria Math" panose="02040503050406030204" pitchFamily="18" charset="0"/>
                  </a:rPr>
                  <a:t>$a=x^{2010}+\frac{1}{x^{2010}}$</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is the digit at the unit place in the number </a:t>
                </a:r>
                <a:r>
                  <a:rPr lang="en-IN" sz="2400">
                    <a:solidFill>
                      <a:srgbClr val="111827"/>
                    </a:solidFill>
                    <a:latin typeface="Cambria Math" panose="02040503050406030204" pitchFamily="18" charset="0"/>
                  </a:rPr>
                  <a:t>$2^{2n}+1$</a:t>
                </a:r>
                <a:r>
                  <a:rPr sz="2400" b="0">
                    <a:solidFill>
                      <a:srgbClr val="111827"/>
                    </a:solidFill>
                    <a:latin typeface="Arial"/>
                  </a:rPr>
                  <a:t>, </a:t>
                </a:r>
                <a:r>
                  <a:rPr lang="en-IN" sz="2400">
                    <a:solidFill>
                      <a:srgbClr val="111827"/>
                    </a:solidFill>
                    <a:latin typeface="Cambria Math" panose="02040503050406030204" pitchFamily="18" charset="0"/>
                  </a:rPr>
                  <a:t>$n\in N$</a:t>
                </a:r>
                <a:r>
                  <a:rPr sz="2400" b="0">
                    <a:solidFill>
                      <a:srgbClr val="111827"/>
                    </a:solidFill>
                    <a:latin typeface="Arial"/>
                  </a:rPr>
                  <a:t> and </a:t>
                </a:r>
                <a:r>
                  <a:rPr lang="en-IN" sz="2400">
                    <a:solidFill>
                      <a:srgbClr val="111827"/>
                    </a:solidFill>
                    <a:latin typeface="Cambria Math" panose="02040503050406030204" pitchFamily="18" charset="0"/>
                  </a:rPr>
                  <a:t>$n&gt;1$</a:t>
                </a:r>
                <a:r>
                  <a:rPr sz="2400" b="0">
                    <a:solidFill>
                      <a:srgbClr val="111827"/>
                    </a:solidFill>
                    <a:latin typeface="Arial"/>
                  </a:rPr>
                  <a:t>, then </a:t>
                </a:r>
                <a:r>
                  <a:rPr lang="en-IN" sz="2400">
                    <a:solidFill>
                      <a:srgbClr val="111827"/>
                    </a:solidFill>
                    <a:latin typeface="Cambria Math" panose="02040503050406030204" pitchFamily="18" charset="0"/>
                  </a:rPr>
                  <a:t>$a+b$</a:t>
                </a:r>
                <a:r>
                  <a:rPr sz="2400" b="0">
                    <a:solidFill>
                      <a:srgbClr val="111827"/>
                    </a:solidFill>
                    <a:latin typeface="Arial"/>
                  </a:rPr>
                  <a:t> can be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$4$</a:t>
                </a:r>
                <a:r>
                  <a:rPr sz="2400" b="0">
                    <a:solidFill>
                      <a:srgbClr val="111827"/>
                    </a:solidFill>
                    <a:latin typeface="Arial"/>
                  </a:rPr>
                  <a:t>   (B) </a:t>
                </a:r>
                <a:r>
                  <a:rPr lang="en-IN" sz="2400">
                    <a:solidFill>
                      <a:srgbClr val="111827"/>
                    </a:solidFill>
                    <a:latin typeface="Cambria Math" panose="02040503050406030204" pitchFamily="18" charset="0"/>
                  </a:rPr>
                  <a:t>$6$</a:t>
                </a:r>
                <a:r>
                  <a:rPr sz="2400" b="0">
                    <a:solidFill>
                      <a:srgbClr val="111827"/>
                    </a:solidFill>
                    <a:latin typeface="Arial"/>
                  </a:rPr>
                  <a:t>   (C) </a:t>
                </a:r>
                <a:r>
                  <a:rPr lang="en-IN" sz="2400">
                    <a:solidFill>
                      <a:srgbClr val="111827"/>
                    </a:solidFill>
                    <a:latin typeface="Cambria Math" panose="02040503050406030204" pitchFamily="18" charset="0"/>
                  </a:rPr>
                  <a:t>$7$</a:t>
                </a:r>
                <a:r>
                  <a:rPr sz="2400" b="0">
                    <a:solidFill>
                      <a:srgbClr val="111827"/>
                    </a:solidFill>
                    <a:latin typeface="Arial"/>
                  </a:rPr>
                  <a:t>   (D) </a:t>
                </a:r>
                <a:r>
                  <a:rPr lang="en-IN" sz="2400">
                    <a:solidFill>
                      <a:srgbClr val="111827"/>
                    </a:solidFill>
                    <a:latin typeface="Cambria Math" panose="02040503050406030204" pitchFamily="18" charset="0"/>
                  </a:rPr>
                  <a:t>$9$</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7998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Cube roots of unity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Unit digit of powers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2.5(A little easier than Average JEE Advanced Level)</a:t>
                </a:r>
                <a:endParaRPr sz="2400">
                  <a:solidFill>
                    <a:srgbClr val="111827"/>
                  </a:solidFill>
                </a:endParaRPr>
              </a:p>
            </p:txBody>
          </p:sp>
        </mc:Choice>
        <mc:Fallback>
          <p:sp>
            <p:nvSpPr>
              <p:cNvPr id="5" name="Rectangle 4"/>
              <p:cNvSpPr/>
              <p:nvPr/>
            </p:nvSpPr>
            <p:spPr>
              <a:xfrm>
                <a:off x="731520" y="37998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Cube roots of unity (</a:t>
                </a:r>
                <a:r>
                  <a:rPr lang="en-IN" sz="2400">
                    <a:solidFill>
                      <a:srgbClr val="111827"/>
                    </a:solidFill>
                    <a:latin typeface="Cambria Math" panose="02040503050406030204" pitchFamily="18" charset="0"/>
                  </a:rPr>
                  <a:t>$x+\frac1x=1$</a:t>
                </a:r>
                <a:r>
                  <a:rPr sz="2400" b="0">
                    <a:solidFill>
                      <a:srgbClr val="111827"/>
                    </a:solidFill>
                    <a:latin typeface="Arial"/>
                  </a:rPr>
                  <a:t>), Unit digit of powers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2.5(A little easier than Average JEE Advanced Level)</a:t>
                </a:r>
                <a:endParaRPr sz="2400">
                  <a:solidFill>
                    <a:srgbClr val="111827"/>
                  </a:solidFill>
                </a:endParaRPr>
              </a:p>
            </p:txBody>
          </p:sp>
        </mc:Fallback>
      </mc:AlternateContent>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𝑥</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means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3</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sin</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so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6</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2010</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as </a:t>
                </a:r>
                <a14:m>
                  <m:oMath xmlns:m="http://schemas.openxmlformats.org/officeDocument/2006/math">
                    <m:r>
                      <a:rPr lang="en-IN" sz="2400" i="1">
                        <a:solidFill>
                          <a:srgbClr val="78350F"/>
                        </a:solidFill>
                        <a:latin typeface="Cambria Math" panose="02040503050406030204" pitchFamily="18" charset="0"/>
                      </a:rPr>
                      <m:t>6</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2010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$x+\frac1x=1$</a:t>
                </a:r>
                <a:r>
                  <a:rPr sz="2400" b="0">
                    <a:solidFill>
                      <a:srgbClr val="78350F"/>
                    </a:solidFill>
                    <a:latin typeface="Arial"/>
                  </a:rPr>
                  <a:t> means </a:t>
                </a:r>
                <a:r>
                  <a:rPr lang="en-IN" sz="2400">
                    <a:solidFill>
                      <a:srgbClr val="78350F"/>
                    </a:solidFill>
                    <a:latin typeface="Cambria Math" panose="02040503050406030204" pitchFamily="18" charset="0"/>
                  </a:rPr>
                  <a:t>$x=\cos\frac\pi3\pm i\sin\frac\pi3$</a:t>
                </a:r>
                <a:r>
                  <a:rPr sz="2400" b="0">
                    <a:solidFill>
                      <a:srgbClr val="78350F"/>
                    </a:solidFill>
                    <a:latin typeface="Arial"/>
                  </a:rPr>
                  <a:t>, so </a:t>
                </a:r>
                <a:r>
                  <a:rPr lang="en-IN" sz="2400">
                    <a:solidFill>
                      <a:srgbClr val="78350F"/>
                    </a:solidFill>
                    <a:latin typeface="Cambria Math" panose="02040503050406030204" pitchFamily="18" charset="0"/>
                  </a:rPr>
                  <a:t>$x^6=1$</a:t>
                </a:r>
                <a:r>
                  <a:rPr sz="2400" b="0">
                    <a:solidFill>
                      <a:srgbClr val="78350F"/>
                    </a:solidFill>
                    <a:latin typeface="Arial"/>
                  </a:rPr>
                  <a:t> and </a:t>
                </a:r>
                <a:r>
                  <a:rPr lang="en-IN" sz="2400">
                    <a:solidFill>
                      <a:srgbClr val="78350F"/>
                    </a:solidFill>
                    <a:latin typeface="Cambria Math" panose="02040503050406030204" pitchFamily="18" charset="0"/>
                  </a:rPr>
                  <a:t>$x^{2010}=1$</a:t>
                </a:r>
                <a:r>
                  <a:rPr sz="2400" b="0">
                    <a:solidFill>
                      <a:srgbClr val="78350F"/>
                    </a:solidFill>
                    <a:latin typeface="Arial"/>
                  </a:rPr>
                  <a:t> as </a:t>
                </a:r>
                <a:r>
                  <a:rPr lang="en-IN" sz="2400">
                    <a:solidFill>
                      <a:srgbClr val="78350F"/>
                    </a:solidFill>
                    <a:latin typeface="Cambria Math" panose="02040503050406030204" pitchFamily="18" charset="0"/>
                  </a:rPr>
                  <a:t>$6\mid2010$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De Moivre,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2010</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2010</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2010</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670</m:t>
                    </m:r>
                    <m:r>
                      <a:rPr lang="en-IN" sz="2400" i="1">
                        <a:solidFill>
                          <a:srgbClr val="111827"/>
                        </a:solidFill>
                        <a:latin typeface="Cambria Math" panose="02040503050406030204" pitchFamily="18" charset="0"/>
                      </a:rPr>
                      <m:t>π</m:t>
                    </m:r>
                  </m:oMath>
                </a14:m>
                <a:r>
                  <a:rPr sz="2400" b="0">
                    <a:solidFill>
                      <a:srgbClr val="111827"/>
                    </a:solidFill>
                    <a:latin typeface="Arial"/>
                  </a:rPr>
                  <a:t>, an even multiple of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$x+\frac1x=1\Rightarrow x^2-x+1=0$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$x=\frac12\pm i\frac{\sqrt3}{2}=\cos\frac\pi3\pm i\sin\frac\pi3$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De Moivre, </a:t>
                </a:r>
                <a:r>
                  <a:rPr lang="en-IN" sz="2400">
                    <a:solidFill>
                      <a:srgbClr val="111827"/>
                    </a:solidFill>
                    <a:latin typeface="Cambria Math" panose="02040503050406030204" pitchFamily="18" charset="0"/>
                  </a:rPr>
                  <a:t>$x^{2010}=\cos\frac{2010\pi}{3}\pm i\sin\frac{2010\pi}{3}$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$\frac{2010\pi}{3}=670\pi$</a:t>
                </a:r>
                <a:r>
                  <a:rPr sz="2400" b="0">
                    <a:solidFill>
                      <a:srgbClr val="111827"/>
                    </a:solidFill>
                    <a:latin typeface="Arial"/>
                  </a:rPr>
                  <a:t>, an even multiple of </a:t>
                </a:r>
                <a:r>
                  <a:rPr lang="en-IN" sz="2400">
                    <a:solidFill>
                      <a:srgbClr val="111827"/>
                    </a:solidFill>
                    <a:latin typeface="Cambria Math" panose="02040503050406030204" pitchFamily="18" charset="0"/>
                  </a:rPr>
                  <a:t>$\pi$</a:t>
                </a:r>
                <a:r>
                  <a:rPr sz="2400" b="0">
                    <a:solidFill>
                      <a:srgbClr val="111827"/>
                    </a:solidFill>
                    <a:latin typeface="Arial"/>
                  </a:rPr>
                  <a:t>, so </a:t>
                </a:r>
                <a:r>
                  <a:rPr lang="en-IN" sz="2400">
                    <a:solidFill>
                      <a:srgbClr val="111827"/>
                    </a:solidFill>
                    <a:latin typeface="Cambria Math" panose="02040503050406030204" pitchFamily="18" charset="0"/>
                  </a:rPr>
                  <a:t>$x^{2010}=1$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unit digit of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for odd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(both occur since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 is free).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the unit digit of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can be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options (C) and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$a=x^{2010}+\frac1{x^{2010}}=1+1=2$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$2^{2n}+1=4^n+1$</a:t>
                </a:r>
                <a:r>
                  <a:rPr sz="2400" b="0">
                    <a:solidFill>
                      <a:srgbClr val="111827"/>
                    </a:solidFill>
                    <a:latin typeface="Arial"/>
                  </a:rPr>
                  <a:t>. The unit digit of </a:t>
                </a:r>
                <a:r>
                  <a:rPr lang="en-IN" sz="2400">
                    <a:solidFill>
                      <a:srgbClr val="111827"/>
                    </a:solidFill>
                    <a:latin typeface="Cambria Math" panose="02040503050406030204" pitchFamily="18" charset="0"/>
                  </a:rPr>
                  <a:t>$4^n$</a:t>
                </a:r>
                <a:r>
                  <a:rPr sz="2400" b="0">
                    <a:solidFill>
                      <a:srgbClr val="111827"/>
                    </a:solidFill>
                    <a:latin typeface="Arial"/>
                  </a:rPr>
                  <a:t> is </a:t>
                </a:r>
                <a:r>
                  <a:rPr lang="en-IN" sz="2400">
                    <a:solidFill>
                      <a:srgbClr val="111827"/>
                    </a:solidFill>
                    <a:latin typeface="Cambria Math" panose="02040503050406030204" pitchFamily="18" charset="0"/>
                  </a:rPr>
                  <a:t>$4$</a:t>
                </a:r>
                <a:r>
                  <a:rPr sz="2400" b="0">
                    <a:solidFill>
                      <a:srgbClr val="111827"/>
                    </a:solidFill>
                    <a:latin typeface="Arial"/>
                  </a:rPr>
                  <a:t> for odd </a:t>
                </a:r>
                <a:r>
                  <a:rPr lang="en-IN" sz="2400">
                    <a:solidFill>
                      <a:srgbClr val="111827"/>
                    </a:solidFill>
                    <a:latin typeface="Cambria Math" panose="02040503050406030204" pitchFamily="18" charset="0"/>
                  </a:rPr>
                  <a:t>$n$</a:t>
                </a:r>
                <a:r>
                  <a:rPr sz="2400" b="0">
                    <a:solidFill>
                      <a:srgbClr val="111827"/>
                    </a:solidFill>
                    <a:latin typeface="Arial"/>
                  </a:rPr>
                  <a:t> and </a:t>
                </a:r>
                <a:r>
                  <a:rPr lang="en-IN" sz="2400">
                    <a:solidFill>
                      <a:srgbClr val="111827"/>
                    </a:solidFill>
                    <a:latin typeface="Cambria Math" panose="02040503050406030204" pitchFamily="18" charset="0"/>
                  </a:rPr>
                  <a:t>$6$</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(both occur since </a:t>
                </a:r>
                <a:r>
                  <a:rPr lang="en-IN" sz="2400">
                    <a:solidFill>
                      <a:srgbClr val="111827"/>
                    </a:solidFill>
                    <a:latin typeface="Cambria Math" panose="02040503050406030204" pitchFamily="18" charset="0"/>
                  </a:rPr>
                  <a:t>$n&gt;1$</a:t>
                </a:r>
                <a:r>
                  <a:rPr sz="2400" b="0">
                    <a:solidFill>
                      <a:srgbClr val="111827"/>
                    </a:solidFill>
                    <a:latin typeface="Arial"/>
                  </a:rPr>
                  <a:t> is free).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$b$</a:t>
                </a:r>
                <a:r>
                  <a:rPr sz="2400" b="0">
                    <a:solidFill>
                      <a:srgbClr val="111827"/>
                    </a:solidFill>
                    <a:latin typeface="Arial"/>
                  </a:rPr>
                  <a:t>, the unit digit of </a:t>
                </a:r>
                <a:r>
                  <a:rPr lang="en-IN" sz="2400">
                    <a:solidFill>
                      <a:srgbClr val="111827"/>
                    </a:solidFill>
                    <a:latin typeface="Cambria Math" panose="02040503050406030204" pitchFamily="18" charset="0"/>
                  </a:rPr>
                  <a:t>$4^n+1$</a:t>
                </a:r>
                <a:r>
                  <a:rPr sz="2400" b="0">
                    <a:solidFill>
                      <a:srgbClr val="111827"/>
                    </a:solidFill>
                    <a:latin typeface="Arial"/>
                  </a:rPr>
                  <a:t>, is </a:t>
                </a:r>
                <a:r>
                  <a:rPr lang="en-IN" sz="2400">
                    <a:solidFill>
                      <a:srgbClr val="111827"/>
                    </a:solidFill>
                    <a:latin typeface="Cambria Math" panose="02040503050406030204" pitchFamily="18" charset="0"/>
                  </a:rPr>
                  <a:t>$5$</a:t>
                </a:r>
                <a:r>
                  <a:rPr sz="2400" b="0">
                    <a:solidFill>
                      <a:srgbClr val="111827"/>
                    </a:solidFill>
                    <a:latin typeface="Arial"/>
                  </a:rPr>
                  <a:t> or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$a+b=2+5=7$</a:t>
                </a:r>
                <a:r>
                  <a:rPr sz="2400" b="0">
                    <a:solidFill>
                      <a:srgbClr val="111827"/>
                    </a:solidFill>
                    <a:latin typeface="Arial"/>
                  </a:rPr>
                  <a:t> or </a:t>
                </a:r>
                <a:r>
                  <a:rPr lang="en-IN" sz="2400">
                    <a:solidFill>
                      <a:srgbClr val="111827"/>
                    </a:solidFill>
                    <a:latin typeface="Cambria Math" panose="02040503050406030204" pitchFamily="18" charset="0"/>
                  </a:rPr>
                  <a:t>$2+7=9$</a:t>
                </a:r>
                <a:r>
                  <a:rPr sz="2400" b="0">
                    <a:solidFill>
                      <a:srgbClr val="111827"/>
                    </a:solidFill>
                    <a:latin typeface="Arial"/>
                  </a:rPr>
                  <a:t>, so </a:t>
                </a:r>
                <a:r>
                  <a:rPr lang="en-IN" sz="2400">
                    <a:solidFill>
                      <a:srgbClr val="111827"/>
                    </a:solidFill>
                    <a:latin typeface="Cambria Math" panose="02040503050406030204" pitchFamily="18" charset="0"/>
                  </a:rPr>
                  <a:t>$a+b$</a:t>
                </a:r>
                <a:r>
                  <a:rPr sz="2400" b="0">
                    <a:solidFill>
                      <a:srgbClr val="111827"/>
                    </a:solidFill>
                    <a:latin typeface="Arial"/>
                  </a:rPr>
                  <a:t> can be </a:t>
                </a:r>
                <a:r>
                  <a:rPr lang="en-IN" sz="2400">
                    <a:solidFill>
                      <a:srgbClr val="111827"/>
                    </a:solidFill>
                    <a:latin typeface="Cambria Math" panose="02040503050406030204" pitchFamily="18" charset="0"/>
                  </a:rPr>
                  <a:t>$7$</a:t>
                </a:r>
                <a:r>
                  <a:rPr sz="2400" b="0">
                    <a:solidFill>
                      <a:srgbClr val="111827"/>
                    </a:solidFill>
                    <a:latin typeface="Arial"/>
                  </a:rPr>
                  <a:t> or </a:t>
                </a:r>
                <a:r>
                  <a:rPr lang="en-IN" sz="2400">
                    <a:solidFill>
                      <a:srgbClr val="111827"/>
                    </a:solidFill>
                    <a:latin typeface="Cambria Math" panose="02040503050406030204" pitchFamily="18" charset="0"/>
                  </a:rPr>
                  <a:t>$9$</a:t>
                </a:r>
                <a:r>
                  <a:rPr sz="2400" b="0">
                    <a:solidFill>
                      <a:srgbClr val="111827"/>
                    </a:solidFill>
                    <a:latin typeface="Arial"/>
                  </a:rPr>
                  <a:t>: options (C) and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D)</a:t>
            </a:r>
            <a:endParaRPr sz="2800">
              <a:solidFill>
                <a:srgbClr val="15803D"/>
              </a:solidFill>
            </a:endParaRP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(from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for powers of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 and a mod-</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 argument for the last digit instead of the cycle of </a:t>
                </a:r>
                <a14:m>
                  <m:oMath xmlns:m="http://schemas.openxmlformats.org/officeDocument/2006/math">
                    <m:sSup>
                      <m:e>
                        <m:r>
                          <a:rPr lang="en-IN" sz="2400" i="1">
                            <a:solidFill>
                              <a:srgbClr val="78350F"/>
                            </a:solidFill>
                            <a:latin typeface="Cambria Math" panose="02040503050406030204" pitchFamily="18" charset="0"/>
                          </a:rPr>
                          <m:t>4</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r>
                  <a:rPr lang="en-IN" sz="2400">
                    <a:solidFill>
                      <a:srgbClr val="78350F"/>
                    </a:solidFill>
                    <a:latin typeface="Cambria Math" panose="02040503050406030204" pitchFamily="18" charset="0"/>
                  </a:rPr>
                  <a:t>$x^3=-1$</a:t>
                </a:r>
                <a:r>
                  <a:rPr sz="2400" b="0">
                    <a:solidFill>
                      <a:srgbClr val="78350F"/>
                    </a:solidFill>
                    <a:latin typeface="Arial"/>
                  </a:rPr>
                  <a:t> (from </a:t>
                </a:r>
                <a:r>
                  <a:rPr lang="en-IN" sz="2400">
                    <a:solidFill>
                      <a:srgbClr val="78350F"/>
                    </a:solidFill>
                    <a:latin typeface="Cambria Math" panose="02040503050406030204" pitchFamily="18" charset="0"/>
                  </a:rPr>
                  <a:t>$x^2-x+1=0$</a:t>
                </a:r>
                <a:r>
                  <a:rPr sz="2400" b="0">
                    <a:solidFill>
                      <a:srgbClr val="78350F"/>
                    </a:solidFill>
                    <a:latin typeface="Arial"/>
                  </a:rPr>
                  <a:t>) for powers of </a:t>
                </a:r>
                <a:r>
                  <a:rPr lang="en-IN" sz="2400">
                    <a:solidFill>
                      <a:srgbClr val="78350F"/>
                    </a:solidFill>
                    <a:latin typeface="Cambria Math" panose="02040503050406030204" pitchFamily="18" charset="0"/>
                  </a:rPr>
                  <a:t>$x$</a:t>
                </a:r>
                <a:r>
                  <a:rPr sz="2400" b="0">
                    <a:solidFill>
                      <a:srgbClr val="78350F"/>
                    </a:solidFill>
                    <a:latin typeface="Arial"/>
                  </a:rPr>
                  <a:t>, and a mod-</a:t>
                </a:r>
                <a:r>
                  <a:rPr lang="en-IN" sz="2400">
                    <a:solidFill>
                      <a:srgbClr val="78350F"/>
                    </a:solidFill>
                    <a:latin typeface="Cambria Math" panose="02040503050406030204" pitchFamily="18" charset="0"/>
                  </a:rPr>
                  <a:t>$5$</a:t>
                </a:r>
                <a:r>
                  <a:rPr sz="2400" b="0">
                    <a:solidFill>
                      <a:srgbClr val="78350F"/>
                    </a:solidFill>
                    <a:latin typeface="Arial"/>
                  </a:rPr>
                  <a:t> argument for the last digit instead of the cycle of </a:t>
                </a:r>
                <a:r>
                  <a:rPr lang="en-IN" sz="2400">
                    <a:solidFill>
                      <a:srgbClr val="78350F"/>
                    </a:solidFill>
                    <a:latin typeface="Cambria Math" panose="02040503050406030204" pitchFamily="18" charset="0"/>
                  </a:rPr>
                  <a:t>$4^n$</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multiplying by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335</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2010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335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odd, so its last digit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which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for odd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$x+\frac1x=1\Rightarrow x^2-x+1=0$</a:t>
                </a:r>
                <a:r>
                  <a:rPr sz="2400" b="0">
                    <a:solidFill>
                      <a:srgbClr val="111827"/>
                    </a:solidFill>
                    <a:latin typeface="Arial"/>
                  </a:rPr>
                  <a:t>; multiplying by </a:t>
                </a:r>
                <a:r>
                  <a:rPr lang="en-IN" sz="2400">
                    <a:solidFill>
                      <a:srgbClr val="111827"/>
                    </a:solidFill>
                    <a:latin typeface="Cambria Math" panose="02040503050406030204" pitchFamily="18" charset="0"/>
                  </a:rPr>
                  <a:t>$(x+1)$</a:t>
                </a:r>
                <a:r>
                  <a:rPr sz="2400" b="0">
                    <a:solidFill>
                      <a:srgbClr val="111827"/>
                    </a:solidFill>
                    <a:latin typeface="Arial"/>
                  </a:rPr>
                  <a:t> gives </a:t>
                </a:r>
                <a:r>
                  <a:rPr lang="en-IN" sz="2400">
                    <a:solidFill>
                      <a:srgbClr val="111827"/>
                    </a:solidFill>
                    <a:latin typeface="Cambria Math" panose="02040503050406030204" pitchFamily="18" charset="0"/>
                  </a:rPr>
                  <a:t>$x^3=-1$</a:t>
                </a:r>
                <a:r>
                  <a:rPr sz="2400" b="0">
                    <a:solidFill>
                      <a:srgbClr val="111827"/>
                    </a:solidFill>
                    <a:latin typeface="Arial"/>
                  </a:rPr>
                  <a:t>, so </a:t>
                </a:r>
                <a:r>
                  <a:rPr lang="en-IN" sz="2400">
                    <a:solidFill>
                      <a:srgbClr val="111827"/>
                    </a:solidFill>
                    <a:latin typeface="Cambria Math" panose="02040503050406030204" pitchFamily="18" charset="0"/>
                  </a:rPr>
                  <a:t>$x^6=1$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$2010=6\times335$</a:t>
                </a:r>
                <a:r>
                  <a:rPr sz="2400" b="0">
                    <a:solidFill>
                      <a:srgbClr val="111827"/>
                    </a:solidFill>
                    <a:latin typeface="Arial"/>
                  </a:rPr>
                  <a:t>, so </a:t>
                </a:r>
                <a:r>
                  <a:rPr lang="en-IN" sz="2400">
                    <a:solidFill>
                      <a:srgbClr val="111827"/>
                    </a:solidFill>
                    <a:latin typeface="Cambria Math" panose="02040503050406030204" pitchFamily="18" charset="0"/>
                  </a:rPr>
                  <a:t>$x^{2010}=(x^6)^{335}=1$</a:t>
                </a:r>
                <a:r>
                  <a:rPr sz="2400" b="0">
                    <a:solidFill>
                      <a:srgbClr val="111827"/>
                    </a:solidFill>
                    <a:latin typeface="Arial"/>
                  </a:rPr>
                  <a:t> and </a:t>
                </a:r>
                <a:r>
                  <a:rPr lang="en-IN" sz="2400">
                    <a:solidFill>
                      <a:srgbClr val="111827"/>
                    </a:solidFill>
                    <a:latin typeface="Cambria Math" panose="02040503050406030204" pitchFamily="18" charset="0"/>
                  </a:rPr>
                  <a:t>$a=1+1=2$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$N=2^{2n}+1=4^n+1$</a:t>
                </a:r>
                <a:r>
                  <a:rPr sz="2400" b="0">
                    <a:solidFill>
                      <a:srgbClr val="111827"/>
                    </a:solidFill>
                    <a:latin typeface="Arial"/>
                  </a:rPr>
                  <a:t> is odd, so its last digit is </a:t>
                </a:r>
                <a:r>
                  <a:rPr lang="en-IN" sz="2400">
                    <a:solidFill>
                      <a:srgbClr val="111827"/>
                    </a:solidFill>
                    <a:latin typeface="Cambria Math" panose="02040503050406030204" pitchFamily="18" charset="0"/>
                  </a:rPr>
                  <a:t>$1,3,5,7$</a:t>
                </a:r>
                <a:r>
                  <a:rPr sz="2400" b="0">
                    <a:solidFill>
                      <a:srgbClr val="111827"/>
                    </a:solidFill>
                    <a:latin typeface="Arial"/>
                  </a:rPr>
                  <a:t> or </a:t>
                </a:r>
                <a:r>
                  <a:rPr lang="en-IN" sz="2400">
                    <a:solidFill>
                      <a:srgbClr val="111827"/>
                    </a:solidFill>
                    <a:latin typeface="Cambria Math" panose="02040503050406030204" pitchFamily="18" charset="0"/>
                  </a:rPr>
                  <a:t>$9$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 </a:t>
                </a:r>
                <a:r>
                  <a:rPr lang="en-IN" sz="2400">
                    <a:solidFill>
                      <a:srgbClr val="111827"/>
                    </a:solidFill>
                    <a:latin typeface="Cambria Math" panose="02040503050406030204" pitchFamily="18" charset="0"/>
                  </a:rPr>
                  <a:t>$5$</a:t>
                </a:r>
                <a:r>
                  <a:rPr sz="2400" b="0">
                    <a:solidFill>
                      <a:srgbClr val="111827"/>
                    </a:solidFill>
                    <a:latin typeface="Arial"/>
                  </a:rPr>
                  <a:t>: </a:t>
                </a:r>
                <a:r>
                  <a:rPr lang="en-IN" sz="2400">
                    <a:solidFill>
                      <a:srgbClr val="111827"/>
                    </a:solidFill>
                    <a:latin typeface="Cambria Math" panose="02040503050406030204" pitchFamily="18" charset="0"/>
                  </a:rPr>
                  <a:t>$4\equiv-1$</a:t>
                </a:r>
                <a:r>
                  <a:rPr sz="2400" b="0">
                    <a:solidFill>
                      <a:srgbClr val="111827"/>
                    </a:solidFill>
                    <a:latin typeface="Arial"/>
                  </a:rPr>
                  <a:t>, so </a:t>
                </a:r>
                <a:r>
                  <a:rPr lang="en-IN" sz="2400">
                    <a:solidFill>
                      <a:srgbClr val="111827"/>
                    </a:solidFill>
                    <a:latin typeface="Cambria Math" panose="02040503050406030204" pitchFamily="18" charset="0"/>
                  </a:rPr>
                  <a:t>$N\equiv(-1)^n+1$</a:t>
                </a:r>
                <a:r>
                  <a:rPr sz="2400" b="0">
                    <a:solidFill>
                      <a:srgbClr val="111827"/>
                    </a:solidFill>
                    <a:latin typeface="Arial"/>
                  </a:rPr>
                  <a:t>, which is </a:t>
                </a:r>
                <a:r>
                  <a:rPr lang="en-IN" sz="2400">
                    <a:solidFill>
                      <a:srgbClr val="111827"/>
                    </a:solidFill>
                    <a:latin typeface="Cambria Math" panose="02040503050406030204" pitchFamily="18" charset="0"/>
                  </a:rPr>
                  <a:t>$2$</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and </a:t>
                </a:r>
                <a:r>
                  <a:rPr lang="en-IN" sz="2400">
                    <a:solidFill>
                      <a:srgbClr val="111827"/>
                    </a:solidFill>
                    <a:latin typeface="Cambria Math" panose="02040503050406030204" pitchFamily="18" charset="0"/>
                  </a:rPr>
                  <a:t>$0$</a:t>
                </a:r>
                <a:r>
                  <a:rPr sz="2400" b="0">
                    <a:solidFill>
                      <a:srgbClr val="111827"/>
                    </a:solidFill>
                    <a:latin typeface="Arial"/>
                  </a:rPr>
                  <a:t> for odd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Odd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odd, so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odd, so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occur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65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options (C) and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Odd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$N\equiv0\pmod5$</a:t>
                </a:r>
                <a:r>
                  <a:rPr sz="2400" b="0">
                    <a:solidFill>
                      <a:srgbClr val="111827"/>
                    </a:solidFill>
                    <a:latin typeface="Arial"/>
                  </a:rPr>
                  <a:t> and odd, so </a:t>
                </a:r>
                <a:r>
                  <a:rPr lang="en-IN" sz="2400">
                    <a:solidFill>
                      <a:srgbClr val="111827"/>
                    </a:solidFill>
                    <a:latin typeface="Cambria Math" panose="02040503050406030204" pitchFamily="18" charset="0"/>
                  </a:rPr>
                  <a:t>$b=5$</a:t>
                </a:r>
                <a:r>
                  <a:rPr sz="2400" b="0">
                    <a:solidFill>
                      <a:srgbClr val="111827"/>
                    </a:solidFill>
                    <a:latin typeface="Arial"/>
                  </a:rPr>
                  <a:t>. Even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$N\equiv2\pmod5$</a:t>
                </a:r>
                <a:r>
                  <a:rPr sz="2400" b="0">
                    <a:solidFill>
                      <a:srgbClr val="111827"/>
                    </a:solidFill>
                    <a:latin typeface="Arial"/>
                  </a:rPr>
                  <a:t> and odd, so </a:t>
                </a:r>
                <a:r>
                  <a:rPr lang="en-IN" sz="2400">
                    <a:solidFill>
                      <a:srgbClr val="111827"/>
                    </a:solidFill>
                    <a:latin typeface="Cambria Math" panose="02040503050406030204" pitchFamily="18" charset="0"/>
                  </a:rPr>
                  <a:t>$b=7$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occur for </a:t>
                </a:r>
                <a:r>
                  <a:rPr lang="en-IN" sz="2400">
                    <a:solidFill>
                      <a:srgbClr val="111827"/>
                    </a:solidFill>
                    <a:latin typeface="Cambria Math" panose="02040503050406030204" pitchFamily="18" charset="0"/>
                  </a:rPr>
                  <a:t>$n&gt;1$</a:t>
                </a:r>
                <a:r>
                  <a:rPr sz="2400" b="0">
                    <a:solidFill>
                      <a:srgbClr val="111827"/>
                    </a:solidFill>
                    <a:latin typeface="Arial"/>
                  </a:rPr>
                  <a:t> (</a:t>
                </a:r>
                <a:r>
                  <a:rPr lang="en-IN" sz="2400">
                    <a:solidFill>
                      <a:srgbClr val="111827"/>
                    </a:solidFill>
                    <a:latin typeface="Cambria Math" panose="02040503050406030204" pitchFamily="18" charset="0"/>
                  </a:rPr>
                  <a:t>$n=3$</a:t>
                </a:r>
                <a:r>
                  <a:rPr sz="2400" b="0">
                    <a:solidFill>
                      <a:srgbClr val="111827"/>
                    </a:solidFill>
                    <a:latin typeface="Arial"/>
                  </a:rPr>
                  <a:t> gives </a:t>
                </a:r>
                <a:r>
                  <a:rPr lang="en-IN" sz="2400">
                    <a:solidFill>
                      <a:srgbClr val="111827"/>
                    </a:solidFill>
                    <a:latin typeface="Cambria Math" panose="02040503050406030204" pitchFamily="18" charset="0"/>
                  </a:rPr>
                  <a:t>$65$</a:t>
                </a:r>
                <a:r>
                  <a:rPr sz="2400" b="0">
                    <a:solidFill>
                      <a:srgbClr val="111827"/>
                    </a:solidFill>
                    <a:latin typeface="Arial"/>
                  </a:rPr>
                  <a:t>; </a:t>
                </a:r>
                <a:r>
                  <a:rPr lang="en-IN" sz="2400">
                    <a:solidFill>
                      <a:srgbClr val="111827"/>
                    </a:solidFill>
                    <a:latin typeface="Cambria Math" panose="02040503050406030204" pitchFamily="18" charset="0"/>
                  </a:rPr>
                  <a:t>$n=2$</a:t>
                </a:r>
                <a:r>
                  <a:rPr sz="2400" b="0">
                    <a:solidFill>
                      <a:srgbClr val="111827"/>
                    </a:solidFill>
                    <a:latin typeface="Arial"/>
                  </a:rPr>
                  <a:t> gives </a:t>
                </a:r>
                <a:r>
                  <a:rPr lang="en-IN" sz="2400">
                    <a:solidFill>
                      <a:srgbClr val="111827"/>
                    </a:solidFill>
                    <a:latin typeface="Cambria Math" panose="02040503050406030204" pitchFamily="18" charset="0"/>
                  </a:rPr>
                  <a:t>$17$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$a+b=2+5=7$</a:t>
                </a:r>
                <a:r>
                  <a:rPr sz="2400" b="0">
                    <a:solidFill>
                      <a:srgbClr val="111827"/>
                    </a:solidFill>
                    <a:latin typeface="Arial"/>
                  </a:rPr>
                  <a:t> or </a:t>
                </a:r>
                <a:r>
                  <a:rPr lang="en-IN" sz="2400">
                    <a:solidFill>
                      <a:srgbClr val="111827"/>
                    </a:solidFill>
                    <a:latin typeface="Cambria Math" panose="02040503050406030204" pitchFamily="18" charset="0"/>
                  </a:rPr>
                  <a:t>$2+7=9$</a:t>
                </a:r>
                <a:r>
                  <a:rPr sz="2400" b="0">
                    <a:solidFill>
                      <a:srgbClr val="111827"/>
                    </a:solidFill>
                    <a:latin typeface="Arial"/>
                  </a:rPr>
                  <a:t>: options (C) and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D)</a:t>
            </a:r>
            <a:endParaRPr sz="2800">
              <a:solidFill>
                <a:srgbClr val="15803D"/>
              </a:solidFill>
            </a:endParaRP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29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the sequence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periodic with period 6: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 root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(these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digit of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alternates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it cycles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'Can be equal to' in a multi-correct question means every value attainable as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varies, not just one.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$x+\frac1x=2\cos\theta\Rightarrow x^n+\frac1{x^n}=2\cos n\theta$</a:t>
                </a:r>
                <a:r>
                  <a:rPr sz="2400" b="0">
                    <a:solidFill>
                      <a:srgbClr val="111827"/>
                    </a:solidFill>
                    <a:latin typeface="Arial"/>
                  </a:rPr>
                  <a:t>; for </a:t>
                </a:r>
                <a:r>
                  <a:rPr lang="en-IN" sz="2400">
                    <a:solidFill>
                      <a:srgbClr val="111827"/>
                    </a:solidFill>
                    <a:latin typeface="Cambria Math" panose="02040503050406030204" pitchFamily="18" charset="0"/>
                  </a:rPr>
                  <a:t>$x+\frac1x=1$</a:t>
                </a:r>
                <a:r>
                  <a:rPr sz="2400" b="0">
                    <a:solidFill>
                      <a:srgbClr val="111827"/>
                    </a:solidFill>
                    <a:latin typeface="Arial"/>
                  </a:rPr>
                  <a:t>, </a:t>
                </a:r>
                <a:r>
                  <a:rPr lang="en-IN" sz="2400">
                    <a:solidFill>
                      <a:srgbClr val="111827"/>
                    </a:solidFill>
                    <a:latin typeface="Cambria Math" panose="02040503050406030204" pitchFamily="18" charset="0"/>
                  </a:rPr>
                  <a:t>$\theta=\frac\pi3$</a:t>
                </a:r>
                <a:r>
                  <a:rPr sz="2400" b="0">
                    <a:solidFill>
                      <a:srgbClr val="111827"/>
                    </a:solidFill>
                    <a:latin typeface="Arial"/>
                  </a:rPr>
                  <a:t> and the sequence </a:t>
                </a:r>
                <a:r>
                  <a:rPr lang="en-IN" sz="2400">
                    <a:solidFill>
                      <a:srgbClr val="111827"/>
                    </a:solidFill>
                    <a:latin typeface="Cambria Math" panose="02040503050406030204" pitchFamily="18" charset="0"/>
                  </a:rPr>
                  <a:t>$x^n+x^{-n}$</a:t>
                </a:r>
                <a:r>
                  <a:rPr sz="2400" b="0">
                    <a:solidFill>
                      <a:srgbClr val="111827"/>
                    </a:solidFill>
                    <a:latin typeface="Arial"/>
                  </a:rPr>
                  <a:t> (</a:t>
                </a:r>
                <a:r>
                  <a:rPr lang="en-IN" sz="2400">
                    <a:solidFill>
                      <a:srgbClr val="111827"/>
                    </a:solidFill>
                    <a:latin typeface="Cambria Math" panose="02040503050406030204" pitchFamily="18" charset="0"/>
                  </a:rPr>
                  <a:t>$n=1,2,\ldots$</a:t>
                </a:r>
                <a:r>
                  <a:rPr sz="2400" b="0">
                    <a:solidFill>
                      <a:srgbClr val="111827"/>
                    </a:solidFill>
                    <a:latin typeface="Arial"/>
                  </a:rPr>
                  <a:t>) is periodic with period 6: </a:t>
                </a:r>
                <a:r>
                  <a:rPr lang="en-IN" sz="2400">
                    <a:solidFill>
                      <a:srgbClr val="111827"/>
                    </a:solidFill>
                    <a:latin typeface="Cambria Math" panose="02040503050406030204" pitchFamily="18" charset="0"/>
                  </a:rPr>
                  <a:t>$1,-1,-2,-1,1,2$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$x^3=-1$</a:t>
                </a:r>
                <a:r>
                  <a:rPr sz="2400" b="0">
                    <a:solidFill>
                      <a:srgbClr val="111827"/>
                    </a:solidFill>
                    <a:latin typeface="Arial"/>
                  </a:rPr>
                  <a:t> and </a:t>
                </a:r>
                <a:r>
                  <a:rPr lang="en-IN" sz="2400">
                    <a:solidFill>
                      <a:srgbClr val="111827"/>
                    </a:solidFill>
                    <a:latin typeface="Cambria Math" panose="02040503050406030204" pitchFamily="18" charset="0"/>
                  </a:rPr>
                  <a:t>$x^6=1$</a:t>
                </a:r>
                <a:r>
                  <a:rPr sz="2400" b="0">
                    <a:solidFill>
                      <a:srgbClr val="111827"/>
                    </a:solidFill>
                    <a:latin typeface="Arial"/>
                  </a:rPr>
                  <a:t> for a root of </a:t>
                </a:r>
                <a:r>
                  <a:rPr lang="en-IN" sz="2400">
                    <a:solidFill>
                      <a:srgbClr val="111827"/>
                    </a:solidFill>
                    <a:latin typeface="Cambria Math" panose="02040503050406030204" pitchFamily="18" charset="0"/>
                  </a:rPr>
                  <a:t>$x^2-x+1=0$</a:t>
                </a:r>
                <a:r>
                  <a:rPr sz="2400" b="0">
                    <a:solidFill>
                      <a:srgbClr val="111827"/>
                    </a:solidFill>
                    <a:latin typeface="Arial"/>
                  </a:rPr>
                  <a:t> (these are </a:t>
                </a:r>
                <a:r>
                  <a:rPr lang="en-IN" sz="2400">
                    <a:solidFill>
                      <a:srgbClr val="111827"/>
                    </a:solidFill>
                    <a:latin typeface="Cambria Math" panose="02040503050406030204" pitchFamily="18" charset="0"/>
                  </a:rPr>
                  <a:t>$-\omega$</a:t>
                </a:r>
                <a:r>
                  <a:rPr sz="2400" b="0">
                    <a:solidFill>
                      <a:srgbClr val="111827"/>
                    </a:solidFill>
                    <a:latin typeface="Arial"/>
                  </a:rPr>
                  <a:t> and </a:t>
                </a:r>
                <a:r>
                  <a:rPr lang="en-IN" sz="2400">
                    <a:solidFill>
                      <a:srgbClr val="111827"/>
                    </a:solidFill>
                    <a:latin typeface="Cambria Math" panose="02040503050406030204" pitchFamily="18" charset="0"/>
                  </a:rPr>
                  <a:t>$-\omega^2$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digit of </a:t>
                </a:r>
                <a:r>
                  <a:rPr lang="en-IN" sz="2400">
                    <a:solidFill>
                      <a:srgbClr val="111827"/>
                    </a:solidFill>
                    <a:latin typeface="Cambria Math" panose="02040503050406030204" pitchFamily="18" charset="0"/>
                  </a:rPr>
                  <a:t>$4^n$</a:t>
                </a:r>
                <a:r>
                  <a:rPr sz="2400" b="0">
                    <a:solidFill>
                      <a:srgbClr val="111827"/>
                    </a:solidFill>
                    <a:latin typeface="Arial"/>
                  </a:rPr>
                  <a:t> alternates </a:t>
                </a:r>
                <a:r>
                  <a:rPr lang="en-IN" sz="2400">
                    <a:solidFill>
                      <a:srgbClr val="111827"/>
                    </a:solidFill>
                    <a:latin typeface="Cambria Math" panose="02040503050406030204" pitchFamily="18" charset="0"/>
                  </a:rPr>
                  <a:t>$4,6,4,6,\ldots$</a:t>
                </a:r>
                <a:r>
                  <a:rPr sz="2400" b="0">
                    <a:solidFill>
                      <a:srgbClr val="111827"/>
                    </a:solidFill>
                    <a:latin typeface="Arial"/>
                  </a:rPr>
                  <a:t>; of </a:t>
                </a:r>
                <a:r>
                  <a:rPr lang="en-IN" sz="2400">
                    <a:solidFill>
                      <a:srgbClr val="111827"/>
                    </a:solidFill>
                    <a:latin typeface="Cambria Math" panose="02040503050406030204" pitchFamily="18" charset="0"/>
                  </a:rPr>
                  <a:t>$2^m$</a:t>
                </a:r>
                <a:r>
                  <a:rPr sz="2400" b="0">
                    <a:solidFill>
                      <a:srgbClr val="111827"/>
                    </a:solidFill>
                    <a:latin typeface="Arial"/>
                  </a:rPr>
                  <a:t> it cycles </a:t>
                </a:r>
                <a:r>
                  <a:rPr lang="en-IN" sz="2400">
                    <a:solidFill>
                      <a:srgbClr val="111827"/>
                    </a:solidFill>
                    <a:latin typeface="Cambria Math" panose="02040503050406030204" pitchFamily="18" charset="0"/>
                  </a:rPr>
                  <a:t>$2,4,8,6$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'Can be equal to' in a multi-correct question means every value attainable as </a:t>
                </a:r>
                <a:r>
                  <a:rPr lang="en-IN" sz="2400">
                    <a:solidFill>
                      <a:srgbClr val="111827"/>
                    </a:solidFill>
                    <a:latin typeface="Cambria Math" panose="02040503050406030204" pitchFamily="18" charset="0"/>
                  </a:rPr>
                  <a:t>$n$</a:t>
                </a:r>
                <a:r>
                  <a:rPr sz="2400" b="0">
                    <a:solidFill>
                      <a:srgbClr val="111827"/>
                    </a:solidFill>
                    <a:latin typeface="Arial"/>
                  </a:rPr>
                  <a:t> varies, not just one.</a:t>
                </a:r>
                <a:endParaRPr sz="2400">
                  <a:solidFill>
                    <a:srgbClr val="111827"/>
                  </a:solidFill>
                </a:endParaRPr>
              </a:p>
            </p:txBody>
          </p:sp>
        </mc:Fallback>
      </mc:AlternateContent>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0058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set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Set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is a subset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has exactly 11 elements. The sum of elements of all possible sets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divisible by 8</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divisible by 4</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divisible by 11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divisible by 17</a:t>
                </a:r>
                <a:endParaRPr sz="2400">
                  <a:solidFill>
                    <a:srgbClr val="111827"/>
                  </a:solidFill>
                </a:endParaRPr>
              </a:p>
            </p:txBody>
          </p:sp>
        </mc:Choice>
        <mc:Fallback>
          <p:sp>
            <p:nvSpPr>
              <p:cNvPr id="4" name="Rounded Rectangle 3"/>
              <p:cNvSpPr/>
              <p:nvPr/>
            </p:nvSpPr>
            <p:spPr>
              <a:xfrm>
                <a:off x="731520" y="1280160"/>
                <a:ext cx="10725912" cy="30058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set </a:t>
                </a:r>
                <a:r>
                  <a:rPr lang="en-IN" sz="2400">
                    <a:solidFill>
                      <a:srgbClr val="111827"/>
                    </a:solidFill>
                    <a:latin typeface="Cambria Math" panose="02040503050406030204" pitchFamily="18" charset="0"/>
                  </a:rPr>
                  <a:t>$A=\{1,2,3,\ldots,22\}$</a:t>
                </a:r>
                <a:r>
                  <a:rPr sz="2400" b="0">
                    <a:solidFill>
                      <a:srgbClr val="111827"/>
                    </a:solidFill>
                    <a:latin typeface="Arial"/>
                  </a:rPr>
                  <a:t>. Set </a:t>
                </a:r>
                <a:r>
                  <a:rPr lang="en-IN" sz="2400">
                    <a:solidFill>
                      <a:srgbClr val="111827"/>
                    </a:solidFill>
                    <a:latin typeface="Cambria Math" panose="02040503050406030204" pitchFamily="18" charset="0"/>
                  </a:rPr>
                  <a:t>$B$</a:t>
                </a:r>
                <a:r>
                  <a:rPr sz="2400" b="0">
                    <a:solidFill>
                      <a:srgbClr val="111827"/>
                    </a:solidFill>
                    <a:latin typeface="Arial"/>
                  </a:rPr>
                  <a:t> is a subset of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has exactly 11 elements. The sum of elements of all possible sets </a:t>
                </a:r>
                <a:r>
                  <a:rPr lang="en-IN" sz="2400">
                    <a:solidFill>
                      <a:srgbClr val="111827"/>
                    </a:solidFill>
                    <a:latin typeface="Cambria Math" panose="02040503050406030204" pitchFamily="18" charset="0"/>
                  </a:rPr>
                  <a:t>$B$</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divisible by 8</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divisible by 4</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divisible by 11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divisible by 17</a:t>
                </a:r>
                <a:endParaRPr sz="2400">
                  <a:solidFill>
                    <a:srgbClr val="111827"/>
                  </a:solidFill>
                </a:endParaRPr>
              </a:p>
            </p:txBody>
          </p:sp>
        </mc:Fallback>
      </mc:AlternateContent>
      <p:sp>
        <p:nvSpPr>
          <p:cNvPr id="5" name="Rectangle 4"/>
          <p:cNvSpPr/>
          <p:nvPr/>
        </p:nvSpPr>
        <p:spPr>
          <a:xfrm>
            <a:off x="731520" y="4514596"/>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Combinations: sum over all subsets of fixed size, Divisibility (number theory)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element of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lies in exactly </a:t>
                </a:r>
                <a14:m>
                  <m:oMath xmlns:m="http://schemas.openxmlformats.org/officeDocument/2006/math">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21</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10</m:t>
                        </m:r>
                      </m:sub>
                    </m:sSub>
                  </m:oMath>
                </a14:m>
                <a:r>
                  <a:rPr sz="2400" b="0">
                    <a:solidFill>
                      <a:srgbClr val="78350F"/>
                    </a:solidFill>
                    <a:latin typeface="Arial"/>
                  </a:rPr>
                  <a:t> of the 11-element subsets, so the total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21</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10</m:t>
                        </m:r>
                      </m:sub>
                    </m:sSub>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element of </a:t>
                </a:r>
                <a:r>
                  <a:rPr lang="en-IN" sz="2400">
                    <a:solidFill>
                      <a:srgbClr val="78350F"/>
                    </a:solidFill>
                    <a:latin typeface="Cambria Math" panose="02040503050406030204" pitchFamily="18" charset="0"/>
                  </a:rPr>
                  <a:t>$A$</a:t>
                </a:r>
                <a:r>
                  <a:rPr sz="2400" b="0">
                    <a:solidFill>
                      <a:srgbClr val="78350F"/>
                    </a:solidFill>
                    <a:latin typeface="Arial"/>
                  </a:rPr>
                  <a:t> lies in exactly </a:t>
                </a:r>
                <a:r>
                  <a:rPr lang="en-IN" sz="2400">
                    <a:solidFill>
                      <a:srgbClr val="78350F"/>
                    </a:solidFill>
                    <a:latin typeface="Cambria Math" panose="02040503050406030204" pitchFamily="18" charset="0"/>
                  </a:rPr>
                  <a:t>$^{21}C_{10}$</a:t>
                </a:r>
                <a:r>
                  <a:rPr sz="2400" b="0">
                    <a:solidFill>
                      <a:srgbClr val="78350F"/>
                    </a:solidFill>
                    <a:latin typeface="Arial"/>
                  </a:rPr>
                  <a:t> of the 11-element subsets, so the total is </a:t>
                </a:r>
                <a:r>
                  <a:rPr lang="en-IN" sz="2400">
                    <a:solidFill>
                      <a:srgbClr val="78350F"/>
                    </a:solidFill>
                    <a:latin typeface="Cambria Math" panose="02040503050406030204" pitchFamily="18" charset="0"/>
                  </a:rPr>
                  <a:t>$(1+2+\cdots+22)\,{}^{21}C_{10}$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Fix an element </a:t>
                </a:r>
                <a14:m>
                  <m:oMath xmlns:m="http://schemas.openxmlformats.org/officeDocument/2006/math">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The subsets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containing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are obtained by choosing the other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elements from the remaining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r>
                  <a:rPr sz="2400" b="0">
                    <a:solidFill>
                      <a:srgbClr val="111827"/>
                    </a:solidFill>
                    <a:latin typeface="Arial"/>
                  </a:rPr>
                  <a:t> subsets.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of all elements of all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m:t>
                    </m:r>
                  </m:oMath>
                </a14:m>
                <a:r>
                  <a:rPr sz="2400" b="0">
                    <a:solidFill>
                      <a:srgbClr val="111827"/>
                    </a:solidFill>
                    <a:latin typeface="Arial"/>
                  </a:rPr>
                  <a:t>, so the sum is divisible by </a:t>
                </a:r>
                <a14:m>
                  <m:oMath xmlns:m="http://schemas.openxmlformats.org/officeDocument/2006/math">
                    <m:r>
                      <a:rPr lang="en-IN" sz="2400" i="1">
                        <a:solidFill>
                          <a:srgbClr val="111827"/>
                        </a:solidFill>
                        <a:latin typeface="Cambria Math" panose="02040503050406030204" pitchFamily="18" charset="0"/>
                      </a:rPr>
                      <m:t>11</m:t>
                    </m:r>
                  </m:oMath>
                </a14:m>
                <a:r>
                  <a:rPr sz="2400" b="0">
                    <a:solidFill>
                      <a:srgbClr val="111827"/>
                    </a:solidFill>
                    <a:latin typeface="Arial"/>
                  </a:rPr>
                  <a:t>: (C) is correct.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Fix an element </a:t>
                </a:r>
                <a:r>
                  <a:rPr lang="en-IN" sz="2400">
                    <a:solidFill>
                      <a:srgbClr val="111827"/>
                    </a:solidFill>
                    <a:latin typeface="Cambria Math" panose="02040503050406030204" pitchFamily="18" charset="0"/>
                  </a:rPr>
                  <a:t>$j\in A$</a:t>
                </a:r>
                <a:r>
                  <a:rPr sz="2400" b="0">
                    <a:solidFill>
                      <a:srgbClr val="111827"/>
                    </a:solidFill>
                    <a:latin typeface="Arial"/>
                  </a:rPr>
                  <a:t>. The subsets </a:t>
                </a:r>
                <a:r>
                  <a:rPr lang="en-IN" sz="2400">
                    <a:solidFill>
                      <a:srgbClr val="111827"/>
                    </a:solidFill>
                    <a:latin typeface="Cambria Math" panose="02040503050406030204" pitchFamily="18" charset="0"/>
                  </a:rPr>
                  <a:t>$B$</a:t>
                </a:r>
                <a:r>
                  <a:rPr sz="2400" b="0">
                    <a:solidFill>
                      <a:srgbClr val="111827"/>
                    </a:solidFill>
                    <a:latin typeface="Arial"/>
                  </a:rPr>
                  <a:t> containing </a:t>
                </a:r>
                <a:r>
                  <a:rPr lang="en-IN" sz="2400">
                    <a:solidFill>
                      <a:srgbClr val="111827"/>
                    </a:solidFill>
                    <a:latin typeface="Cambria Math" panose="02040503050406030204" pitchFamily="18" charset="0"/>
                  </a:rPr>
                  <a:t>$j$</a:t>
                </a:r>
                <a:r>
                  <a:rPr sz="2400" b="0">
                    <a:solidFill>
                      <a:srgbClr val="111827"/>
                    </a:solidFill>
                    <a:latin typeface="Arial"/>
                  </a:rPr>
                  <a:t> are obtained by choosing the other </a:t>
                </a:r>
                <a:r>
                  <a:rPr lang="en-IN" sz="2400">
                    <a:solidFill>
                      <a:srgbClr val="111827"/>
                    </a:solidFill>
                    <a:latin typeface="Cambria Math" panose="02040503050406030204" pitchFamily="18" charset="0"/>
                  </a:rPr>
                  <a:t>$10$</a:t>
                </a:r>
                <a:r>
                  <a:rPr sz="2400" b="0">
                    <a:solidFill>
                      <a:srgbClr val="111827"/>
                    </a:solidFill>
                    <a:latin typeface="Arial"/>
                  </a:rPr>
                  <a:t> elements from the remaining </a:t>
                </a:r>
                <a:r>
                  <a:rPr lang="en-IN" sz="2400">
                    <a:solidFill>
                      <a:srgbClr val="111827"/>
                    </a:solidFill>
                    <a:latin typeface="Cambria Math" panose="02040503050406030204" pitchFamily="18" charset="0"/>
                  </a:rPr>
                  <a:t>$21$</a:t>
                </a:r>
                <a:r>
                  <a:rPr sz="2400" b="0">
                    <a:solidFill>
                      <a:srgbClr val="111827"/>
                    </a:solidFill>
                    <a:latin typeface="Arial"/>
                  </a:rPr>
                  <a:t>: </a:t>
                </a:r>
                <a:r>
                  <a:rPr lang="en-IN" sz="2400">
                    <a:solidFill>
                      <a:srgbClr val="111827"/>
                    </a:solidFill>
                    <a:latin typeface="Cambria Math" panose="02040503050406030204" pitchFamily="18" charset="0"/>
                  </a:rPr>
                  <a:t>$^{21}C_{10}$</a:t>
                </a:r>
                <a:r>
                  <a:rPr sz="2400" b="0">
                    <a:solidFill>
                      <a:srgbClr val="111827"/>
                    </a:solidFill>
                    <a:latin typeface="Arial"/>
                  </a:rPr>
                  <a:t> subsets.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of all elements of all </a:t>
                </a:r>
                <a:r>
                  <a:rPr lang="en-IN" sz="2400">
                    <a:solidFill>
                      <a:srgbClr val="111827"/>
                    </a:solidFill>
                    <a:latin typeface="Cambria Math" panose="02040503050406030204" pitchFamily="18" charset="0"/>
                  </a:rPr>
                  <a:t>$B$</a:t>
                </a:r>
                <a:r>
                  <a:rPr sz="2400" b="0">
                    <a:solidFill>
                      <a:srgbClr val="111827"/>
                    </a:solidFill>
                    <a:latin typeface="Arial"/>
                  </a:rPr>
                  <a:t> is </a:t>
                </a:r>
                <a:r>
                  <a:rPr lang="en-IN" sz="2400">
                    <a:solidFill>
                      <a:srgbClr val="111827"/>
                    </a:solidFill>
                    <a:latin typeface="Cambria Math" panose="02040503050406030204" pitchFamily="18" charset="0"/>
                  </a:rPr>
                  <a:t>$1(^{21}C_{10})+2(^{21}C_{10})+\cdots+22(^{21}C_{10})$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$=(1+2+\cdots+22)\,{}^{21}C_{10}=253\cdot{}^{21}C_{10}$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$253=11\times23$</a:t>
                </a:r>
                <a:r>
                  <a:rPr sz="2400" b="0">
                    <a:solidFill>
                      <a:srgbClr val="111827"/>
                    </a:solidFill>
                    <a:latin typeface="Arial"/>
                  </a:rPr>
                  <a:t>, so the sum is divisible by </a:t>
                </a:r>
                <a:r>
                  <a:rPr lang="en-IN" sz="2400">
                    <a:solidFill>
                      <a:srgbClr val="111827"/>
                    </a:solidFill>
                    <a:latin typeface="Cambria Math" panose="02040503050406030204" pitchFamily="18" charset="0"/>
                  </a:rPr>
                  <a:t>$11$</a:t>
                </a:r>
                <a:r>
                  <a:rPr sz="2400" b="0">
                    <a:solidFill>
                      <a:srgbClr val="111827"/>
                    </a:solidFill>
                    <a:latin typeface="Arial"/>
                  </a:rPr>
                  <a:t>: (C) is correct.</a:t>
                </a:r>
                <a:endParaRPr sz="2400">
                  <a:solidFill>
                    <a:srgbClr val="111827"/>
                  </a:solidFill>
                </a:endParaRPr>
              </a:p>
            </p:txBody>
          </p:sp>
        </mc:Fallback>
      </mc:AlternateContent>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352716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253</m:t>
                    </m:r>
                  </m:oMath>
                </a14:m>
                <a:r>
                  <a:rPr sz="2400" b="0">
                    <a:solidFill>
                      <a:srgbClr val="111827"/>
                    </a:solidFill>
                    <a:latin typeface="Arial"/>
                  </a:rPr>
                  <a:t> is odd, the sum has exactly two factors of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divisible by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(B correct) but not by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(A false).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 divides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r>
                  <a:rPr sz="2400" b="0">
                    <a:solidFill>
                      <a:srgbClr val="111827"/>
                    </a:solidFill>
                    <a:latin typeface="Arial"/>
                  </a:rPr>
                  <a:t>, so the sum is divisible by </a:t>
                </a: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 (D) is correct.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Correct options: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$^{21}C_{10}=352716=2^2\cdot3\cdot7\cdot13\cdot17\cdot19$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$253$</a:t>
                </a:r>
                <a:r>
                  <a:rPr sz="2400" b="0">
                    <a:solidFill>
                      <a:srgbClr val="111827"/>
                    </a:solidFill>
                    <a:latin typeface="Arial"/>
                  </a:rPr>
                  <a:t> is odd, the sum has exactly two factors of </a:t>
                </a:r>
                <a:r>
                  <a:rPr lang="en-IN" sz="2400">
                    <a:solidFill>
                      <a:srgbClr val="111827"/>
                    </a:solidFill>
                    <a:latin typeface="Cambria Math" panose="02040503050406030204" pitchFamily="18" charset="0"/>
                  </a:rPr>
                  <a:t>$2$</a:t>
                </a:r>
                <a:r>
                  <a:rPr sz="2400" b="0">
                    <a:solidFill>
                      <a:srgbClr val="111827"/>
                    </a:solidFill>
                    <a:latin typeface="Arial"/>
                  </a:rPr>
                  <a:t>: divisible by </a:t>
                </a:r>
                <a:r>
                  <a:rPr lang="en-IN" sz="2400">
                    <a:solidFill>
                      <a:srgbClr val="111827"/>
                    </a:solidFill>
                    <a:latin typeface="Cambria Math" panose="02040503050406030204" pitchFamily="18" charset="0"/>
                  </a:rPr>
                  <a:t>$4$</a:t>
                </a:r>
                <a:r>
                  <a:rPr sz="2400" b="0">
                    <a:solidFill>
                      <a:srgbClr val="111827"/>
                    </a:solidFill>
                    <a:latin typeface="Arial"/>
                  </a:rPr>
                  <a:t> (B correct) but not by </a:t>
                </a:r>
                <a:r>
                  <a:rPr lang="en-IN" sz="2400">
                    <a:solidFill>
                      <a:srgbClr val="111827"/>
                    </a:solidFill>
                    <a:latin typeface="Cambria Math" panose="02040503050406030204" pitchFamily="18" charset="0"/>
                  </a:rPr>
                  <a:t>$8$</a:t>
                </a:r>
                <a:r>
                  <a:rPr sz="2400" b="0">
                    <a:solidFill>
                      <a:srgbClr val="111827"/>
                    </a:solidFill>
                    <a:latin typeface="Arial"/>
                  </a:rPr>
                  <a:t> (A false).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$17$</a:t>
                </a:r>
                <a:r>
                  <a:rPr sz="2400" b="0">
                    <a:solidFill>
                      <a:srgbClr val="111827"/>
                    </a:solidFill>
                    <a:latin typeface="Arial"/>
                  </a:rPr>
                  <a:t> divides </a:t>
                </a:r>
                <a:r>
                  <a:rPr lang="en-IN" sz="2400">
                    <a:solidFill>
                      <a:srgbClr val="111827"/>
                    </a:solidFill>
                    <a:latin typeface="Cambria Math" panose="02040503050406030204" pitchFamily="18" charset="0"/>
                  </a:rPr>
                  <a:t>$^{21}C_{10}$</a:t>
                </a:r>
                <a:r>
                  <a:rPr sz="2400" b="0">
                    <a:solidFill>
                      <a:srgbClr val="111827"/>
                    </a:solidFill>
                    <a:latin typeface="Arial"/>
                  </a:rPr>
                  <a:t>, so the sum is divisible by </a:t>
                </a:r>
                <a:r>
                  <a:rPr lang="en-IN" sz="2400">
                    <a:solidFill>
                      <a:srgbClr val="111827"/>
                    </a:solidFill>
                    <a:latin typeface="Cambria Math" panose="02040503050406030204" pitchFamily="18" charset="0"/>
                  </a:rPr>
                  <a:t>$17$</a:t>
                </a:r>
                <a:r>
                  <a:rPr sz="2400" b="0">
                    <a:solidFill>
                      <a:srgbClr val="111827"/>
                    </a:solidFill>
                    <a:latin typeface="Arial"/>
                  </a:rPr>
                  <a:t>: (D) is correct.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Correct options: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 D)</a:t>
            </a:r>
            <a:endParaRPr sz="2800">
              <a:solidFill>
                <a:srgbClr val="15803D"/>
              </a:solidFill>
            </a:endParaRP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Pair every 11-element subset with its complement; each pair has total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253</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Pair every 11-element subset with its complement; each pair has total </a:t>
                </a:r>
                <a:r>
                  <a:rPr lang="en-IN" sz="2400">
                    <a:solidFill>
                      <a:srgbClr val="78350F"/>
                    </a:solidFill>
                    <a:latin typeface="Cambria Math" panose="02040503050406030204" pitchFamily="18" charset="0"/>
                  </a:rPr>
                  <a:t>$1+2+\cdots+22=253$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complement of an 11-element subset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is also an 11-element subset, and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𝑐</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r>
                              <a:rPr lang="en-IN" sz="2400" i="1">
                                <a:solidFill>
                                  <a:srgbClr val="111827"/>
                                </a:solidFill>
                                <a:latin typeface="Cambria Math" panose="02040503050406030204" pitchFamily="18" charset="0"/>
                              </a:rPr>
                              <m:t>11</m:t>
                            </m:r>
                          </m:den>
                        </m:f>
                      </m:e>
                    </m:d>
                  </m:oMath>
                </a14:m>
                <a:r>
                  <a:rPr sz="2400" b="0">
                    <a:solidFill>
                      <a:srgbClr val="111827"/>
                    </a:solidFill>
                    <a:latin typeface="Arial"/>
                  </a:rPr>
                  <a:t> subsets split into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r>
                              <a:rPr lang="en-IN" sz="2400" i="1">
                                <a:solidFill>
                                  <a:srgbClr val="111827"/>
                                </a:solidFill>
                                <a:latin typeface="Cambria Math" panose="02040503050406030204" pitchFamily="18" charset="0"/>
                              </a:rPr>
                              <m:t>11</m:t>
                            </m:r>
                          </m:den>
                        </m:f>
                      </m:e>
                    </m:d>
                  </m:oMath>
                </a14:m>
                <a:r>
                  <a:rPr sz="2400" b="0">
                    <a:solidFill>
                      <a:srgbClr val="111827"/>
                    </a:solidFill>
                    <a:latin typeface="Arial"/>
                  </a:rPr>
                  <a:t> complementary pairs.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pair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total sum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complement of an 11-element subset </a:t>
                </a:r>
                <a:r>
                  <a:rPr lang="en-IN" sz="2400">
                    <a:solidFill>
                      <a:srgbClr val="111827"/>
                    </a:solidFill>
                    <a:latin typeface="Cambria Math" panose="02040503050406030204" pitchFamily="18" charset="0"/>
                  </a:rPr>
                  <a:t>$B$</a:t>
                </a:r>
                <a:r>
                  <a:rPr sz="2400" b="0">
                    <a:solidFill>
                      <a:srgbClr val="111827"/>
                    </a:solidFill>
                    <a:latin typeface="Arial"/>
                  </a:rPr>
                  <a:t> of </a:t>
                </a:r>
                <a:r>
                  <a:rPr lang="en-IN" sz="2400">
                    <a:solidFill>
                      <a:srgbClr val="111827"/>
                    </a:solidFill>
                    <a:latin typeface="Cambria Math" panose="02040503050406030204" pitchFamily="18" charset="0"/>
                  </a:rPr>
                  <a:t>$A$</a:t>
                </a:r>
                <a:r>
                  <a:rPr sz="2400" b="0">
                    <a:solidFill>
                      <a:srgbClr val="111827"/>
                    </a:solidFill>
                    <a:latin typeface="Arial"/>
                  </a:rPr>
                  <a:t> is also an 11-element subset, and </a:t>
                </a:r>
                <a:r>
                  <a:rPr lang="en-IN" sz="2400">
                    <a:solidFill>
                      <a:srgbClr val="111827"/>
                    </a:solidFill>
                    <a:latin typeface="Cambria Math" panose="02040503050406030204" pitchFamily="18" charset="0"/>
                  </a:rPr>
                  <a:t>$B\neq 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t>
                </a:r>
                <a:r>
                  <a:rPr lang="en-IN" sz="2400">
                    <a:solidFill>
                      <a:srgbClr val="111827"/>
                    </a:solidFill>
                    <a:latin typeface="Cambria Math" panose="02040503050406030204" pitchFamily="18" charset="0"/>
                  </a:rPr>
                  <a:t>$\binom{22}{11}$</a:t>
                </a:r>
                <a:r>
                  <a:rPr sz="2400" b="0">
                    <a:solidFill>
                      <a:srgbClr val="111827"/>
                    </a:solidFill>
                    <a:latin typeface="Arial"/>
                  </a:rPr>
                  <a:t> subsets split into </a:t>
                </a:r>
                <a:r>
                  <a:rPr lang="en-IN" sz="2400">
                    <a:solidFill>
                      <a:srgbClr val="111827"/>
                    </a:solidFill>
                    <a:latin typeface="Cambria Math" panose="02040503050406030204" pitchFamily="18" charset="0"/>
                  </a:rPr>
                  <a:t>$\frac12\binom{22}{11}$</a:t>
                </a:r>
                <a:r>
                  <a:rPr sz="2400" b="0">
                    <a:solidFill>
                      <a:srgbClr val="111827"/>
                    </a:solidFill>
                    <a:latin typeface="Arial"/>
                  </a:rPr>
                  <a:t> complementary pairs.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pair </a:t>
                </a:r>
                <a:r>
                  <a:rPr lang="en-IN" sz="2400">
                    <a:solidFill>
                      <a:srgbClr val="111827"/>
                    </a:solidFill>
                    <a:latin typeface="Cambria Math" panose="02040503050406030204" pitchFamily="18" charset="0"/>
                  </a:rPr>
                  <a:t>$\{B,B^c\}$</a:t>
                </a:r>
                <a:r>
                  <a:rPr sz="2400" b="0">
                    <a:solidFill>
                      <a:srgbClr val="111827"/>
                    </a:solidFill>
                    <a:latin typeface="Arial"/>
                  </a:rPr>
                  <a:t> has total sum </a:t>
                </a:r>
                <a:r>
                  <a:rPr lang="en-IN" sz="2400">
                    <a:solidFill>
                      <a:srgbClr val="111827"/>
                    </a:solidFill>
                    <a:latin typeface="Cambria Math" panose="02040503050406030204" pitchFamily="18" charset="0"/>
                  </a:rPr>
                  <a:t>$1+2+\cdots+22=253$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r>
                              <a:rPr lang="en-IN" sz="2400" i="1">
                                <a:solidFill>
                                  <a:srgbClr val="111827"/>
                                </a:solidFill>
                                <a:latin typeface="Cambria Math" panose="02040503050406030204" pitchFamily="18" charset="0"/>
                              </a:rPr>
                              <m:t>11</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705432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352716</m:t>
                    </m:r>
                  </m:oMath>
                </a14:m>
                <a:r>
                  <a:rPr sz="2400" b="0">
                    <a:solidFill>
                      <a:srgbClr val="111827"/>
                    </a:solidFill>
                    <a:latin typeface="Arial"/>
                  </a:rPr>
                  <a:t>, the same as </a:t>
                </a:r>
                <a14:m>
                  <m:oMath xmlns:m="http://schemas.openxmlformats.org/officeDocument/2006/math">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r>
                  <a:rPr sz="2400" b="0">
                    <a:solidFill>
                      <a:srgbClr val="111827"/>
                    </a:solidFill>
                    <a:latin typeface="Arial"/>
                  </a:rPr>
                  <a:t> (since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r>
                              <a:rPr lang="en-IN" sz="2400" i="1">
                                <a:solidFill>
                                  <a:srgbClr val="111827"/>
                                </a:solidFill>
                                <a:latin typeface="Cambria Math" panose="02040503050406030204" pitchFamily="18" charset="0"/>
                              </a:rPr>
                              <m:t>11</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21</m:t>
                            </m:r>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divisibility by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 and not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follows from </a:t>
                </a:r>
                <a14:m>
                  <m:oMath xmlns:m="http://schemas.openxmlformats.org/officeDocument/2006/math">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352716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$=253\cdot\frac12\binom{22}{11}=253\cdot\frac{705432}{2}=253\cdot352716$</a:t>
                </a:r>
                <a:r>
                  <a:rPr sz="2400" b="0">
                    <a:solidFill>
                      <a:srgbClr val="111827"/>
                    </a:solidFill>
                    <a:latin typeface="Arial"/>
                  </a:rPr>
                  <a:t>, the same as </a:t>
                </a:r>
                <a:r>
                  <a:rPr lang="en-IN" sz="2400">
                    <a:solidFill>
                      <a:srgbClr val="111827"/>
                    </a:solidFill>
                    <a:latin typeface="Cambria Math" panose="02040503050406030204" pitchFamily="18" charset="0"/>
                  </a:rPr>
                  <a:t>$253\cdot{}^{21}C_{10}$</a:t>
                </a:r>
                <a:r>
                  <a:rPr sz="2400" b="0">
                    <a:solidFill>
                      <a:srgbClr val="111827"/>
                    </a:solidFill>
                    <a:latin typeface="Arial"/>
                  </a:rPr>
                  <a:t> (since </a:t>
                </a:r>
                <a:r>
                  <a:rPr lang="en-IN" sz="2400">
                    <a:solidFill>
                      <a:srgbClr val="111827"/>
                    </a:solidFill>
                    <a:latin typeface="Cambria Math" panose="02040503050406030204" pitchFamily="18" charset="0"/>
                  </a:rPr>
                  <a:t>$\binom{22}{11}=2\binom{21}{10}$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divisibility by </a:t>
                </a:r>
                <a:r>
                  <a:rPr lang="en-IN" sz="2400">
                    <a:solidFill>
                      <a:srgbClr val="111827"/>
                    </a:solidFill>
                    <a:latin typeface="Cambria Math" panose="02040503050406030204" pitchFamily="18" charset="0"/>
                  </a:rPr>
                  <a:t>$4$</a:t>
                </a:r>
                <a:r>
                  <a:rPr sz="2400" b="0">
                    <a:solidFill>
                      <a:srgbClr val="111827"/>
                    </a:solidFill>
                    <a:latin typeface="Arial"/>
                  </a:rPr>
                  <a:t>, </a:t>
                </a:r>
                <a:r>
                  <a:rPr lang="en-IN" sz="2400">
                    <a:solidFill>
                      <a:srgbClr val="111827"/>
                    </a:solidFill>
                    <a:latin typeface="Cambria Math" panose="02040503050406030204" pitchFamily="18" charset="0"/>
                  </a:rPr>
                  <a:t>$11$</a:t>
                </a:r>
                <a:r>
                  <a:rPr sz="2400" b="0">
                    <a:solidFill>
                      <a:srgbClr val="111827"/>
                    </a:solidFill>
                    <a:latin typeface="Arial"/>
                  </a:rPr>
                  <a:t>, </a:t>
                </a:r>
                <a:r>
                  <a:rPr lang="en-IN" sz="2400">
                    <a:solidFill>
                      <a:srgbClr val="111827"/>
                    </a:solidFill>
                    <a:latin typeface="Cambria Math" panose="02040503050406030204" pitchFamily="18" charset="0"/>
                  </a:rPr>
                  <a:t>$17$</a:t>
                </a:r>
                <a:r>
                  <a:rPr sz="2400" b="0">
                    <a:solidFill>
                      <a:srgbClr val="111827"/>
                    </a:solidFill>
                    <a:latin typeface="Arial"/>
                  </a:rPr>
                  <a:t> and not </a:t>
                </a:r>
                <a:r>
                  <a:rPr lang="en-IN" sz="2400">
                    <a:solidFill>
                      <a:srgbClr val="111827"/>
                    </a:solidFill>
                    <a:latin typeface="Cambria Math" panose="02040503050406030204" pitchFamily="18" charset="0"/>
                  </a:rPr>
                  <a:t>$8$</a:t>
                </a:r>
                <a:r>
                  <a:rPr sz="2400" b="0">
                    <a:solidFill>
                      <a:srgbClr val="111827"/>
                    </a:solidFill>
                    <a:latin typeface="Arial"/>
                  </a:rPr>
                  <a:t> follows from </a:t>
                </a:r>
                <a:r>
                  <a:rPr lang="en-IN" sz="2400">
                    <a:solidFill>
                      <a:srgbClr val="111827"/>
                    </a:solidFill>
                    <a:latin typeface="Cambria Math" panose="02040503050406030204" pitchFamily="18" charset="0"/>
                  </a:rPr>
                  <a:t>$253\cdot352716=11\cdot23\cdot2^2\cdot3\cdot7\cdot13\cdot17\cdot19$</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 D)</a:t>
            </a:r>
            <a:endParaRPr sz="2800">
              <a:solidFill>
                <a:srgbClr val="15803D"/>
              </a:solidFill>
            </a:endParaRP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over all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-subsets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their elements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 (each element occurs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 times).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253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352716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89237148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Complement pairing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oMath>
                </a14:m>
                <a:r>
                  <a:rPr sz="2400" b="0">
                    <a:solidFill>
                      <a:srgbClr val="111827"/>
                    </a:solidFill>
                    <a:latin typeface="Arial"/>
                  </a:rPr>
                  <a:t>: sum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𝑘</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Kummer's theorem: the exponent of a prime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𝑛</m:t>
                            </m:r>
                          </m:den>
                        </m:f>
                      </m:e>
                    </m:d>
                  </m:oMath>
                </a14:m>
                <a:r>
                  <a:rPr sz="2400" b="0">
                    <a:solidFill>
                      <a:srgbClr val="111827"/>
                    </a:solidFill>
                    <a:latin typeface="Arial"/>
                  </a:rPr>
                  <a:t> equals the number of carries when adding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in base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For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21</m:t>
                            </m:r>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 in base 2, </a:t>
                </a: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carries, so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21</m:t>
                            </m:r>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Average subset sum is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126.5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over all </a:t>
                </a:r>
                <a:r>
                  <a:rPr lang="en-IN" sz="2400">
                    <a:solidFill>
                      <a:srgbClr val="111827"/>
                    </a:solidFill>
                    <a:latin typeface="Cambria Math" panose="02040503050406030204" pitchFamily="18" charset="0"/>
                  </a:rPr>
                  <a:t>$k$</a:t>
                </a:r>
                <a:r>
                  <a:rPr sz="2400" b="0">
                    <a:solidFill>
                      <a:srgbClr val="111827"/>
                    </a:solidFill>
                    <a:latin typeface="Arial"/>
                  </a:rPr>
                  <a:t>-subsets of </a:t>
                </a:r>
                <a:r>
                  <a:rPr lang="en-IN" sz="2400">
                    <a:solidFill>
                      <a:srgbClr val="111827"/>
                    </a:solidFill>
                    <a:latin typeface="Cambria Math" panose="02040503050406030204" pitchFamily="18" charset="0"/>
                  </a:rPr>
                  <a:t>$\{1,\ldots,N\}$</a:t>
                </a:r>
                <a:r>
                  <a:rPr sz="2400" b="0">
                    <a:solidFill>
                      <a:srgbClr val="111827"/>
                    </a:solidFill>
                    <a:latin typeface="Arial"/>
                  </a:rPr>
                  <a:t> of their elements </a:t>
                </a:r>
                <a:r>
                  <a:rPr lang="en-IN" sz="2400">
                    <a:solidFill>
                      <a:srgbClr val="111827"/>
                    </a:solidFill>
                    <a:latin typeface="Cambria Math" panose="02040503050406030204" pitchFamily="18" charset="0"/>
                  </a:rPr>
                  <a:t>$=\frac{N(N+1)}{2}\binom{N-1}{k-1}$</a:t>
                </a:r>
                <a:r>
                  <a:rPr sz="2400" b="0">
                    <a:solidFill>
                      <a:srgbClr val="111827"/>
                    </a:solidFill>
                    <a:latin typeface="Arial"/>
                  </a:rPr>
                  <a:t> (each element occurs </a:t>
                </a:r>
                <a:r>
                  <a:rPr lang="en-IN" sz="2400">
                    <a:solidFill>
                      <a:srgbClr val="111827"/>
                    </a:solidFill>
                    <a:latin typeface="Cambria Math" panose="02040503050406030204" pitchFamily="18" charset="0"/>
                  </a:rPr>
                  <a:t>$\binom{N-1}{k-1}$</a:t>
                </a:r>
                <a:r>
                  <a:rPr sz="2400" b="0">
                    <a:solidFill>
                      <a:srgbClr val="111827"/>
                    </a:solidFill>
                    <a:latin typeface="Arial"/>
                  </a:rPr>
                  <a:t> times). For </a:t>
                </a:r>
                <a:r>
                  <a:rPr lang="en-IN" sz="2400">
                    <a:solidFill>
                      <a:srgbClr val="111827"/>
                    </a:solidFill>
                    <a:latin typeface="Cambria Math" panose="02040503050406030204" pitchFamily="18" charset="0"/>
                  </a:rPr>
                  <a:t>$N=22,k=11$</a:t>
                </a:r>
                <a:r>
                  <a:rPr sz="2400" b="0">
                    <a:solidFill>
                      <a:srgbClr val="111827"/>
                    </a:solidFill>
                    <a:latin typeface="Arial"/>
                  </a:rPr>
                  <a:t>: </a:t>
                </a:r>
                <a:r>
                  <a:rPr lang="en-IN" sz="2400">
                    <a:solidFill>
                      <a:srgbClr val="111827"/>
                    </a:solidFill>
                    <a:latin typeface="Cambria Math" panose="02040503050406030204" pitchFamily="18" charset="0"/>
                  </a:rPr>
                  <a:t>$253\cdot352716=89237148$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Complement pairing for </a:t>
                </a:r>
                <a:r>
                  <a:rPr lang="en-IN" sz="2400">
                    <a:solidFill>
                      <a:srgbClr val="111827"/>
                    </a:solidFill>
                    <a:latin typeface="Cambria Math" panose="02040503050406030204" pitchFamily="18" charset="0"/>
                  </a:rPr>
                  <a:t>$N=2k$</a:t>
                </a:r>
                <a:r>
                  <a:rPr sz="2400" b="0">
                    <a:solidFill>
                      <a:srgbClr val="111827"/>
                    </a:solidFill>
                    <a:latin typeface="Arial"/>
                  </a:rPr>
                  <a:t>: sum </a:t>
                </a:r>
                <a:r>
                  <a:rPr lang="en-IN" sz="2400">
                    <a:solidFill>
                      <a:srgbClr val="111827"/>
                    </a:solidFill>
                    <a:latin typeface="Cambria Math" panose="02040503050406030204" pitchFamily="18" charset="0"/>
                  </a:rPr>
                  <a:t>$=\frac{N(N+1)}2\cdot\frac12\binom{N}{k}$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Kummer's theorem: the exponent of a prime </a:t>
                </a:r>
                <a:r>
                  <a:rPr lang="en-IN" sz="2400">
                    <a:solidFill>
                      <a:srgbClr val="111827"/>
                    </a:solidFill>
                    <a:latin typeface="Cambria Math" panose="02040503050406030204" pitchFamily="18" charset="0"/>
                  </a:rPr>
                  <a:t>$p$</a:t>
                </a:r>
                <a:r>
                  <a:rPr sz="2400" b="0">
                    <a:solidFill>
                      <a:srgbClr val="111827"/>
                    </a:solidFill>
                    <a:latin typeface="Arial"/>
                  </a:rPr>
                  <a:t> in </a:t>
                </a:r>
                <a:r>
                  <a:rPr lang="en-IN" sz="2400">
                    <a:solidFill>
                      <a:srgbClr val="111827"/>
                    </a:solidFill>
                    <a:latin typeface="Cambria Math" panose="02040503050406030204" pitchFamily="18" charset="0"/>
                  </a:rPr>
                  <a:t>$\binom{m}{n}$</a:t>
                </a:r>
                <a:r>
                  <a:rPr sz="2400" b="0">
                    <a:solidFill>
                      <a:srgbClr val="111827"/>
                    </a:solidFill>
                    <a:latin typeface="Arial"/>
                  </a:rPr>
                  <a:t> equals the number of carries when adding </a:t>
                </a:r>
                <a:r>
                  <a:rPr lang="en-IN" sz="2400">
                    <a:solidFill>
                      <a:srgbClr val="111827"/>
                    </a:solidFill>
                    <a:latin typeface="Cambria Math" panose="02040503050406030204" pitchFamily="18" charset="0"/>
                  </a:rPr>
                  <a:t>$n$</a:t>
                </a:r>
                <a:r>
                  <a:rPr sz="2400" b="0">
                    <a:solidFill>
                      <a:srgbClr val="111827"/>
                    </a:solidFill>
                    <a:latin typeface="Arial"/>
                  </a:rPr>
                  <a:t> and </a:t>
                </a:r>
                <a:r>
                  <a:rPr lang="en-IN" sz="2400">
                    <a:solidFill>
                      <a:srgbClr val="111827"/>
                    </a:solidFill>
                    <a:latin typeface="Cambria Math" panose="02040503050406030204" pitchFamily="18" charset="0"/>
                  </a:rPr>
                  <a:t>$m-n$</a:t>
                </a:r>
                <a:r>
                  <a:rPr sz="2400" b="0">
                    <a:solidFill>
                      <a:srgbClr val="111827"/>
                    </a:solidFill>
                    <a:latin typeface="Arial"/>
                  </a:rPr>
                  <a:t> in base </a:t>
                </a:r>
                <a:r>
                  <a:rPr lang="en-IN" sz="2400">
                    <a:solidFill>
                      <a:srgbClr val="111827"/>
                    </a:solidFill>
                    <a:latin typeface="Cambria Math" panose="02040503050406030204" pitchFamily="18" charset="0"/>
                  </a:rPr>
                  <a:t>$p$</a:t>
                </a:r>
                <a:r>
                  <a:rPr sz="2400" b="0">
                    <a:solidFill>
                      <a:srgbClr val="111827"/>
                    </a:solidFill>
                    <a:latin typeface="Arial"/>
                  </a:rPr>
                  <a:t>. For </a:t>
                </a:r>
                <a:r>
                  <a:rPr lang="en-IN" sz="2400">
                    <a:solidFill>
                      <a:srgbClr val="111827"/>
                    </a:solidFill>
                    <a:latin typeface="Cambria Math" panose="02040503050406030204" pitchFamily="18" charset="0"/>
                  </a:rPr>
                  <a:t>$\binom{21}{10}$</a:t>
                </a:r>
                <a:r>
                  <a:rPr sz="2400" b="0">
                    <a:solidFill>
                      <a:srgbClr val="111827"/>
                    </a:solidFill>
                    <a:latin typeface="Arial"/>
                  </a:rPr>
                  <a:t> in base 2, </a:t>
                </a:r>
                <a:r>
                  <a:rPr lang="en-IN" sz="2400">
                    <a:solidFill>
                      <a:srgbClr val="111827"/>
                    </a:solidFill>
                    <a:latin typeface="Cambria Math" panose="02040503050406030204" pitchFamily="18" charset="0"/>
                  </a:rPr>
                  <a:t>$10+11$</a:t>
                </a:r>
                <a:r>
                  <a:rPr sz="2400" b="0">
                    <a:solidFill>
                      <a:srgbClr val="111827"/>
                    </a:solidFill>
                    <a:latin typeface="Arial"/>
                  </a:rPr>
                  <a:t> has </a:t>
                </a:r>
                <a:r>
                  <a:rPr lang="en-IN" sz="2400">
                    <a:solidFill>
                      <a:srgbClr val="111827"/>
                    </a:solidFill>
                    <a:latin typeface="Cambria Math" panose="02040503050406030204" pitchFamily="18" charset="0"/>
                  </a:rPr>
                  <a:t>$2$</a:t>
                </a:r>
                <a:r>
                  <a:rPr sz="2400" b="0">
                    <a:solidFill>
                      <a:srgbClr val="111827"/>
                    </a:solidFill>
                    <a:latin typeface="Arial"/>
                  </a:rPr>
                  <a:t> carries, so </a:t>
                </a:r>
                <a:r>
                  <a:rPr lang="en-IN" sz="2400">
                    <a:solidFill>
                      <a:srgbClr val="111827"/>
                    </a:solidFill>
                    <a:latin typeface="Cambria Math" panose="02040503050406030204" pitchFamily="18" charset="0"/>
                  </a:rPr>
                  <a:t>$2^2\,\|\,\binom{21}{10}$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Average subset sum is </a:t>
                </a:r>
                <a:r>
                  <a:rPr lang="en-IN" sz="2400">
                    <a:solidFill>
                      <a:srgbClr val="111827"/>
                    </a:solidFill>
                    <a:latin typeface="Cambria Math" panose="02040503050406030204" pitchFamily="18" charset="0"/>
                  </a:rPr>
                  <a:t>$k\cdot\frac{N+1}{2}$</a:t>
                </a:r>
                <a:r>
                  <a:rPr sz="2400" b="0">
                    <a:solidFill>
                      <a:srgbClr val="111827"/>
                    </a:solidFill>
                    <a:latin typeface="Arial"/>
                  </a:rPr>
                  <a:t> (here </a:t>
                </a:r>
                <a:r>
                  <a:rPr lang="en-IN" sz="2400">
                    <a:solidFill>
                      <a:srgbClr val="111827"/>
                    </a:solidFill>
                    <a:latin typeface="Cambria Math" panose="02040503050406030204" pitchFamily="18" charset="0"/>
                  </a:rPr>
                  <a:t>$11\cdot11.5=126.5$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integers from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10</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which contain exactly one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exactly one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and exactly one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must be: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more than 2000   (B) more than 3000   (C) 2940   (D) 3270</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integers from </a:t>
                </a:r>
                <a:r>
                  <a:rPr lang="en-IN" sz="2400">
                    <a:solidFill>
                      <a:srgbClr val="111827"/>
                    </a:solidFill>
                    <a:latin typeface="Cambria Math" panose="02040503050406030204" pitchFamily="18" charset="0"/>
                  </a:rPr>
                  <a:t>$1$</a:t>
                </a:r>
                <a:r>
                  <a:rPr sz="2400" b="0">
                    <a:solidFill>
                      <a:srgbClr val="111827"/>
                    </a:solidFill>
                    <a:latin typeface="Arial"/>
                  </a:rPr>
                  <a:t> to </a:t>
                </a:r>
                <a:r>
                  <a:rPr lang="en-IN" sz="2400">
                    <a:solidFill>
                      <a:srgbClr val="111827"/>
                    </a:solidFill>
                    <a:latin typeface="Cambria Math" panose="02040503050406030204" pitchFamily="18" charset="0"/>
                  </a:rPr>
                  <a:t>$10^5$</a:t>
                </a:r>
                <a:r>
                  <a:rPr sz="2400" b="0">
                    <a:solidFill>
                      <a:srgbClr val="111827"/>
                    </a:solidFill>
                    <a:latin typeface="Arial"/>
                  </a:rPr>
                  <a:t> which contain exactly one </a:t>
                </a:r>
                <a:r>
                  <a:rPr lang="en-IN" sz="2400">
                    <a:solidFill>
                      <a:srgbClr val="111827"/>
                    </a:solidFill>
                    <a:latin typeface="Cambria Math" panose="02040503050406030204" pitchFamily="18" charset="0"/>
                  </a:rPr>
                  <a:t>$3$</a:t>
                </a:r>
                <a:r>
                  <a:rPr sz="2400" b="0">
                    <a:solidFill>
                      <a:srgbClr val="111827"/>
                    </a:solidFill>
                    <a:latin typeface="Arial"/>
                  </a:rPr>
                  <a:t>, exactly one </a:t>
                </a:r>
                <a:r>
                  <a:rPr lang="en-IN" sz="2400">
                    <a:solidFill>
                      <a:srgbClr val="111827"/>
                    </a:solidFill>
                    <a:latin typeface="Cambria Math" panose="02040503050406030204" pitchFamily="18" charset="0"/>
                  </a:rPr>
                  <a:t>$4$</a:t>
                </a:r>
                <a:r>
                  <a:rPr sz="2400" b="0">
                    <a:solidFill>
                      <a:srgbClr val="111827"/>
                    </a:solidFill>
                    <a:latin typeface="Arial"/>
                  </a:rPr>
                  <a:t> and exactly one </a:t>
                </a:r>
                <a:r>
                  <a:rPr lang="en-IN" sz="2400">
                    <a:solidFill>
                      <a:srgbClr val="111827"/>
                    </a:solidFill>
                    <a:latin typeface="Cambria Math" panose="02040503050406030204" pitchFamily="18" charset="0"/>
                  </a:rPr>
                  <a:t>$5$</a:t>
                </a:r>
                <a:r>
                  <a:rPr sz="2400" b="0">
                    <a:solidFill>
                      <a:srgbClr val="111827"/>
                    </a:solidFill>
                    <a:latin typeface="Arial"/>
                  </a:rPr>
                  <a:t> must be: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more than 2000   (B) more than 3000   (C) 2940   (D) 3270</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Counting digits: numbers with prescribed digits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Treat every number below </a:t>
                </a:r>
                <a14:m>
                  <m:oMath xmlns:m="http://schemas.openxmlformats.org/officeDocument/2006/math">
                    <m:sSup>
                      <m:e>
                        <m:r>
                          <a:rPr lang="en-IN" sz="2400" i="1">
                            <a:solidFill>
                              <a:srgbClr val="78350F"/>
                            </a:solidFill>
                            <a:latin typeface="Cambria Math" panose="02040503050406030204" pitchFamily="18" charset="0"/>
                          </a:rPr>
                          <m:t>10</m:t>
                        </m:r>
                      </m:e>
                      <m:sup>
                        <m:r>
                          <a:rPr lang="en-IN" sz="2400" i="1">
                            <a:solidFill>
                              <a:srgbClr val="78350F"/>
                            </a:solidFill>
                            <a:latin typeface="Cambria Math" panose="02040503050406030204" pitchFamily="18" charset="0"/>
                          </a:rPr>
                          <m:t>5</m:t>
                        </m:r>
                      </m:sup>
                    </m:sSup>
                  </m:oMath>
                </a14:m>
                <a:r>
                  <a:rPr sz="2400" b="0">
                    <a:solidFill>
                      <a:srgbClr val="78350F"/>
                    </a:solidFill>
                    <a:latin typeface="Arial"/>
                  </a:rPr>
                  <a:t> as a 5-digit string with leading zeros: place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in distinct places, fill the other two with any of the 7 other digits.</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Treat every number below </a:t>
                </a:r>
                <a:r>
                  <a:rPr lang="en-IN" sz="2400">
                    <a:solidFill>
                      <a:srgbClr val="78350F"/>
                    </a:solidFill>
                    <a:latin typeface="Cambria Math" panose="02040503050406030204" pitchFamily="18" charset="0"/>
                  </a:rPr>
                  <a:t>$10^5$</a:t>
                </a:r>
                <a:r>
                  <a:rPr sz="2400" b="0">
                    <a:solidFill>
                      <a:srgbClr val="78350F"/>
                    </a:solidFill>
                    <a:latin typeface="Arial"/>
                  </a:rPr>
                  <a:t> as a 5-digit string with leading zeros: place </a:t>
                </a:r>
                <a:r>
                  <a:rPr lang="en-IN" sz="2400">
                    <a:solidFill>
                      <a:srgbClr val="78350F"/>
                    </a:solidFill>
                    <a:latin typeface="Cambria Math" panose="02040503050406030204" pitchFamily="18" charset="0"/>
                  </a:rPr>
                  <a:t>$3,4,5$</a:t>
                </a:r>
                <a:r>
                  <a:rPr sz="2400" b="0">
                    <a:solidFill>
                      <a:srgbClr val="78350F"/>
                    </a:solidFill>
                    <a:latin typeface="Arial"/>
                  </a:rPr>
                  <a:t> in distinct places, fill the other two with any of the 7 other digits.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10</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itself contains no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only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99999</m:t>
                    </m:r>
                  </m:oMath>
                </a14:m>
                <a:r>
                  <a:rPr sz="2400" b="0">
                    <a:solidFill>
                      <a:srgbClr val="111827"/>
                    </a:solidFill>
                    <a:latin typeface="Arial"/>
                  </a:rPr>
                  <a:t> matter; write each as a 5-digit string with leading zeros (zeros never interfere with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the place of the digit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the place of the digit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among the remaining places: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ways; then the place of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ways.</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$10^5$</a:t>
                </a:r>
                <a:r>
                  <a:rPr sz="2400" b="0">
                    <a:solidFill>
                      <a:srgbClr val="111827"/>
                    </a:solidFill>
                    <a:latin typeface="Arial"/>
                  </a:rPr>
                  <a:t> itself contains no </a:t>
                </a:r>
                <a:r>
                  <a:rPr lang="en-IN" sz="2400">
                    <a:solidFill>
                      <a:srgbClr val="111827"/>
                    </a:solidFill>
                    <a:latin typeface="Cambria Math" panose="02040503050406030204" pitchFamily="18" charset="0"/>
                  </a:rPr>
                  <a:t>$3,4,5$</a:t>
                </a:r>
                <a:r>
                  <a:rPr sz="2400" b="0">
                    <a:solidFill>
                      <a:srgbClr val="111827"/>
                    </a:solidFill>
                    <a:latin typeface="Arial"/>
                  </a:rPr>
                  <a:t>, so only </a:t>
                </a:r>
                <a:r>
                  <a:rPr lang="en-IN" sz="2400">
                    <a:solidFill>
                      <a:srgbClr val="111827"/>
                    </a:solidFill>
                    <a:latin typeface="Cambria Math" panose="02040503050406030204" pitchFamily="18" charset="0"/>
                  </a:rPr>
                  <a:t>$1$</a:t>
                </a:r>
                <a:r>
                  <a:rPr sz="2400" b="0">
                    <a:solidFill>
                      <a:srgbClr val="111827"/>
                    </a:solidFill>
                    <a:latin typeface="Arial"/>
                  </a:rPr>
                  <a:t> to </a:t>
                </a:r>
                <a:r>
                  <a:rPr lang="en-IN" sz="2400">
                    <a:solidFill>
                      <a:srgbClr val="111827"/>
                    </a:solidFill>
                    <a:latin typeface="Cambria Math" panose="02040503050406030204" pitchFamily="18" charset="0"/>
                  </a:rPr>
                  <a:t>$99999$</a:t>
                </a:r>
                <a:r>
                  <a:rPr sz="2400" b="0">
                    <a:solidFill>
                      <a:srgbClr val="111827"/>
                    </a:solidFill>
                    <a:latin typeface="Arial"/>
                  </a:rPr>
                  <a:t> matter; write each as a 5-digit string with leading zeros (zeros never interfere with </a:t>
                </a:r>
                <a:r>
                  <a:rPr lang="en-IN" sz="2400">
                    <a:solidFill>
                      <a:srgbClr val="111827"/>
                    </a:solidFill>
                    <a:latin typeface="Cambria Math" panose="02040503050406030204" pitchFamily="18" charset="0"/>
                  </a:rPr>
                  <a:t>$3,4,5$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the place of the digit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$5$</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the place of the digit </a:t>
                </a:r>
                <a:r>
                  <a:rPr lang="en-IN" sz="2400">
                    <a:solidFill>
                      <a:srgbClr val="111827"/>
                    </a:solidFill>
                    <a:latin typeface="Cambria Math" panose="02040503050406030204" pitchFamily="18" charset="0"/>
                  </a:rPr>
                  <a:t>$4$</a:t>
                </a:r>
                <a:r>
                  <a:rPr sz="2400" b="0">
                    <a:solidFill>
                      <a:srgbClr val="111827"/>
                    </a:solidFill>
                    <a:latin typeface="Arial"/>
                  </a:rPr>
                  <a:t> among the remaining places: </a:t>
                </a:r>
                <a:r>
                  <a:rPr lang="en-IN" sz="2400">
                    <a:solidFill>
                      <a:srgbClr val="111827"/>
                    </a:solidFill>
                    <a:latin typeface="Cambria Math" panose="02040503050406030204" pitchFamily="18" charset="0"/>
                  </a:rPr>
                  <a:t>$4$</a:t>
                </a:r>
                <a:r>
                  <a:rPr sz="2400" b="0">
                    <a:solidFill>
                      <a:srgbClr val="111827"/>
                    </a:solidFill>
                    <a:latin typeface="Arial"/>
                  </a:rPr>
                  <a:t> ways; then the place of </a:t>
                </a:r>
                <a:r>
                  <a:rPr lang="en-IN" sz="2400">
                    <a:solidFill>
                      <a:srgbClr val="111827"/>
                    </a:solidFill>
                    <a:latin typeface="Cambria Math" panose="02040503050406030204" pitchFamily="18" charset="0"/>
                  </a:rPr>
                  <a:t>$5$</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of the two remaining places holds a digit different from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i.e. one of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ways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number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2940</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2000</m:t>
                    </m:r>
                  </m:oMath>
                </a14:m>
                <a:r>
                  <a:rPr sz="2400" b="0">
                    <a:solidFill>
                      <a:srgbClr val="111827"/>
                    </a:solidFill>
                    <a:latin typeface="Arial"/>
                  </a:rPr>
                  <a:t> so (A) is correct; </a:t>
                </a:r>
                <a14:m>
                  <m:oMath xmlns:m="http://schemas.openxmlformats.org/officeDocument/2006/math">
                    <m:r>
                      <a:rPr lang="en-IN" sz="2400" i="1">
                        <a:solidFill>
                          <a:srgbClr val="111827"/>
                        </a:solidFill>
                        <a:latin typeface="Cambria Math" panose="02040503050406030204" pitchFamily="18" charset="0"/>
                      </a:rPr>
                      <m:t>2940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3000</m:t>
                    </m:r>
                  </m:oMath>
                </a14:m>
                <a:r>
                  <a:rPr sz="2400" b="0">
                    <a:solidFill>
                      <a:srgbClr val="111827"/>
                    </a:solidFill>
                    <a:latin typeface="Arial"/>
                  </a:rPr>
                  <a:t> so (B) is false; (C) </a:t>
                </a:r>
                <a14:m>
                  <m:oMath xmlns:m="http://schemas.openxmlformats.org/officeDocument/2006/math">
                    <m:r>
                      <a:rPr lang="en-IN" sz="2400" i="1">
                        <a:solidFill>
                          <a:srgbClr val="111827"/>
                        </a:solidFill>
                        <a:latin typeface="Cambria Math" panose="02040503050406030204" pitchFamily="18" charset="0"/>
                      </a:rPr>
                      <m:t>2940</m:t>
                    </m:r>
                  </m:oMath>
                </a14:m>
                <a:r>
                  <a:rPr sz="2400" b="0">
                    <a:solidFill>
                      <a:srgbClr val="111827"/>
                    </a:solidFill>
                    <a:latin typeface="Arial"/>
                  </a:rPr>
                  <a:t> is correct and (D) </a:t>
                </a:r>
                <a14:m>
                  <m:oMath xmlns:m="http://schemas.openxmlformats.org/officeDocument/2006/math">
                    <m:r>
                      <a:rPr lang="en-IN" sz="2400" i="1">
                        <a:solidFill>
                          <a:srgbClr val="111827"/>
                        </a:solidFill>
                        <a:latin typeface="Cambria Math" panose="02040503050406030204" pitchFamily="18" charset="0"/>
                      </a:rPr>
                      <m:t>3270</m:t>
                    </m:r>
                  </m:oMath>
                </a14:m>
                <a:r>
                  <a:rPr sz="2400" b="0">
                    <a:solidFill>
                      <a:srgbClr val="111827"/>
                    </a:solidFill>
                    <a:latin typeface="Arial"/>
                  </a:rPr>
                  <a:t> is false.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of the two remaining places holds a digit different from </a:t>
                </a:r>
                <a:r>
                  <a:rPr lang="en-IN" sz="2400">
                    <a:solidFill>
                      <a:srgbClr val="111827"/>
                    </a:solidFill>
                    <a:latin typeface="Cambria Math" panose="02040503050406030204" pitchFamily="18" charset="0"/>
                  </a:rPr>
                  <a:t>$3,4,5$</a:t>
                </a:r>
                <a:r>
                  <a:rPr sz="2400" b="0">
                    <a:solidFill>
                      <a:srgbClr val="111827"/>
                    </a:solidFill>
                    <a:latin typeface="Arial"/>
                  </a:rPr>
                  <a:t>, i.e. one of </a:t>
                </a:r>
                <a:r>
                  <a:rPr lang="en-IN" sz="2400">
                    <a:solidFill>
                      <a:srgbClr val="111827"/>
                    </a:solidFill>
                    <a:latin typeface="Cambria Math" panose="02040503050406030204" pitchFamily="18" charset="0"/>
                  </a:rPr>
                  <a:t>$0,1,2,6,7,8,9$</a:t>
                </a:r>
                <a:r>
                  <a:rPr sz="2400" b="0">
                    <a:solidFill>
                      <a:srgbClr val="111827"/>
                    </a:solidFill>
                    <a:latin typeface="Arial"/>
                  </a:rPr>
                  <a:t>: </a:t>
                </a:r>
                <a:r>
                  <a:rPr lang="en-IN" sz="2400">
                    <a:solidFill>
                      <a:srgbClr val="111827"/>
                    </a:solidFill>
                    <a:latin typeface="Cambria Math" panose="02040503050406030204" pitchFamily="18" charset="0"/>
                  </a:rPr>
                  <a:t>$7$</a:t>
                </a:r>
                <a:r>
                  <a:rPr sz="2400" b="0">
                    <a:solidFill>
                      <a:srgbClr val="111827"/>
                    </a:solidFill>
                    <a:latin typeface="Arial"/>
                  </a:rPr>
                  <a:t> ways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number </a:t>
                </a:r>
                <a:r>
                  <a:rPr lang="en-IN" sz="2400">
                    <a:solidFill>
                      <a:srgbClr val="111827"/>
                    </a:solidFill>
                    <a:latin typeface="Cambria Math" panose="02040503050406030204" pitchFamily="18" charset="0"/>
                  </a:rPr>
                  <a:t>$=5\times4\times3\times7\times7=2940$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$2940&gt;2000$</a:t>
                </a:r>
                <a:r>
                  <a:rPr sz="2400" b="0">
                    <a:solidFill>
                      <a:srgbClr val="111827"/>
                    </a:solidFill>
                    <a:latin typeface="Arial"/>
                  </a:rPr>
                  <a:t> so (A) is correct; </a:t>
                </a:r>
                <a:r>
                  <a:rPr lang="en-IN" sz="2400">
                    <a:solidFill>
                      <a:srgbClr val="111827"/>
                    </a:solidFill>
                    <a:latin typeface="Cambria Math" panose="02040503050406030204" pitchFamily="18" charset="0"/>
                  </a:rPr>
                  <a:t>$2940&lt;3000$</a:t>
                </a:r>
                <a:r>
                  <a:rPr sz="2400" b="0">
                    <a:solidFill>
                      <a:srgbClr val="111827"/>
                    </a:solidFill>
                    <a:latin typeface="Arial"/>
                  </a:rPr>
                  <a:t> so (B) is false; (C) </a:t>
                </a:r>
                <a:r>
                  <a:rPr lang="en-IN" sz="2400">
                    <a:solidFill>
                      <a:srgbClr val="111827"/>
                    </a:solidFill>
                    <a:latin typeface="Cambria Math" panose="02040503050406030204" pitchFamily="18" charset="0"/>
                  </a:rPr>
                  <a:t>$2940$</a:t>
                </a:r>
                <a:r>
                  <a:rPr sz="2400" b="0">
                    <a:solidFill>
                      <a:srgbClr val="111827"/>
                    </a:solidFill>
                    <a:latin typeface="Arial"/>
                  </a:rPr>
                  <a:t> is correct and (D) </a:t>
                </a:r>
                <a:r>
                  <a:rPr lang="en-IN" sz="2400">
                    <a:solidFill>
                      <a:srgbClr val="111827"/>
                    </a:solidFill>
                    <a:latin typeface="Cambria Math" panose="02040503050406030204" pitchFamily="18" charset="0"/>
                  </a:rPr>
                  <a:t>$3270$</a:t>
                </a:r>
                <a:r>
                  <a:rPr sz="2400" b="0">
                    <a:solidFill>
                      <a:srgbClr val="111827"/>
                    </a:solidFill>
                    <a:latin typeface="Arial"/>
                  </a:rPr>
                  <a:t> is false.</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C)</a:t>
            </a:r>
            <a:endParaRPr sz="2800">
              <a:solidFill>
                <a:srgbClr val="15803D"/>
              </a:solidFill>
            </a:endParaRP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Exponential generating function: each of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appears exactly once (factor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 the other digits are free (factor </a:t>
                </a:r>
                <a14:m>
                  <m:oMath xmlns:m="http://schemas.openxmlformats.org/officeDocument/2006/math">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7</m:t>
                        </m:r>
                        <m:r>
                          <a:rPr lang="en-IN" sz="2400" i="1">
                            <a:solidFill>
                              <a:srgbClr val="78350F"/>
                            </a:solidFill>
                            <a:latin typeface="Cambria Math" panose="02040503050406030204" pitchFamily="18" charset="0"/>
                          </a:rPr>
                          <m:t>𝑥</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Exponential generating function: each of </a:t>
                </a:r>
                <a:r>
                  <a:rPr lang="en-IN" sz="2400">
                    <a:solidFill>
                      <a:srgbClr val="78350F"/>
                    </a:solidFill>
                    <a:latin typeface="Cambria Math" panose="02040503050406030204" pitchFamily="18" charset="0"/>
                  </a:rPr>
                  <a:t>$3,4,5$</a:t>
                </a:r>
                <a:r>
                  <a:rPr sz="2400" b="0">
                    <a:solidFill>
                      <a:srgbClr val="78350F"/>
                    </a:solidFill>
                    <a:latin typeface="Arial"/>
                  </a:rPr>
                  <a:t> appears exactly once (factor </a:t>
                </a:r>
                <a:r>
                  <a:rPr lang="en-IN" sz="2400">
                    <a:solidFill>
                      <a:srgbClr val="78350F"/>
                    </a:solidFill>
                    <a:latin typeface="Cambria Math" panose="02040503050406030204" pitchFamily="18" charset="0"/>
                  </a:rPr>
                  <a:t>$x$</a:t>
                </a:r>
                <a:r>
                  <a:rPr sz="2400" b="0">
                    <a:solidFill>
                      <a:srgbClr val="78350F"/>
                    </a:solidFill>
                    <a:latin typeface="Arial"/>
                  </a:rPr>
                  <a:t>), the other digits are free (factor </a:t>
                </a:r>
                <a:r>
                  <a:rPr lang="en-IN" sz="2400">
                    <a:solidFill>
                      <a:srgbClr val="78350F"/>
                    </a:solidFill>
                    <a:latin typeface="Cambria Math" panose="02040503050406030204" pitchFamily="18" charset="0"/>
                  </a:rPr>
                  <a:t>$e^{7x}$</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Pad to 5-digit strings; zeros are harmless, so the other allowed digits are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choices.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length-</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strings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𝑥</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factor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for each of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means exactly one copy;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𝑥</m:t>
                        </m:r>
                      </m:sup>
                    </m:sSup>
                  </m:oMath>
                </a14:m>
                <a:r>
                  <a:rPr sz="2400" b="0">
                    <a:solidFill>
                      <a:srgbClr val="111827"/>
                    </a:solidFill>
                    <a:latin typeface="Arial"/>
                  </a:rPr>
                  <a:t> allows any number of copies of the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other digits.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Pad to 5-digit strings; zeros are harmless, so the other allowed digits are </a:t>
                </a:r>
                <a:r>
                  <a:rPr lang="en-IN" sz="2400">
                    <a:solidFill>
                      <a:srgbClr val="111827"/>
                    </a:solidFill>
                    <a:latin typeface="Cambria Math" panose="02040503050406030204" pitchFamily="18" charset="0"/>
                  </a:rPr>
                  <a:t>$0,1,2,6,7,8,9$</a:t>
                </a:r>
                <a:r>
                  <a:rPr sz="2400" b="0">
                    <a:solidFill>
                      <a:srgbClr val="111827"/>
                    </a:solidFill>
                    <a:latin typeface="Arial"/>
                  </a:rPr>
                  <a:t>: </a:t>
                </a:r>
                <a:r>
                  <a:rPr lang="en-IN" sz="2400">
                    <a:solidFill>
                      <a:srgbClr val="111827"/>
                    </a:solidFill>
                    <a:latin typeface="Cambria Math" panose="02040503050406030204" pitchFamily="18" charset="0"/>
                  </a:rPr>
                  <a:t>$7$</a:t>
                </a:r>
                <a:r>
                  <a:rPr sz="2400" b="0">
                    <a:solidFill>
                      <a:srgbClr val="111827"/>
                    </a:solidFill>
                    <a:latin typeface="Arial"/>
                  </a:rPr>
                  <a:t> choices.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length-</a:t>
                </a:r>
                <a:r>
                  <a:rPr lang="en-IN" sz="2400">
                    <a:solidFill>
                      <a:srgbClr val="111827"/>
                    </a:solidFill>
                    <a:latin typeface="Cambria Math" panose="02040503050406030204" pitchFamily="18" charset="0"/>
                  </a:rPr>
                  <a:t>$5$</a:t>
                </a:r>
                <a:r>
                  <a:rPr sz="2400" b="0">
                    <a:solidFill>
                      <a:srgbClr val="111827"/>
                    </a:solidFill>
                    <a:latin typeface="Arial"/>
                  </a:rPr>
                  <a:t> strings </a:t>
                </a:r>
                <a:r>
                  <a:rPr lang="en-IN" sz="2400">
                    <a:solidFill>
                      <a:srgbClr val="111827"/>
                    </a:solidFill>
                    <a:latin typeface="Cambria Math" panose="02040503050406030204" pitchFamily="18" charset="0"/>
                  </a:rPr>
                  <a:t>$=5!\,[x^5]\left(x\cdot x\cdot x\cdot e^{7x}\right)$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factor </a:t>
                </a:r>
                <a:r>
                  <a:rPr lang="en-IN" sz="2400">
                    <a:solidFill>
                      <a:srgbClr val="111827"/>
                    </a:solidFill>
                    <a:latin typeface="Cambria Math" panose="02040503050406030204" pitchFamily="18" charset="0"/>
                  </a:rPr>
                  <a:t>$x$</a:t>
                </a:r>
                <a:r>
                  <a:rPr sz="2400" b="0">
                    <a:solidFill>
                      <a:srgbClr val="111827"/>
                    </a:solidFill>
                    <a:latin typeface="Arial"/>
                  </a:rPr>
                  <a:t> for each of </a:t>
                </a:r>
                <a:r>
                  <a:rPr lang="en-IN" sz="2400">
                    <a:solidFill>
                      <a:srgbClr val="111827"/>
                    </a:solidFill>
                    <a:latin typeface="Cambria Math" panose="02040503050406030204" pitchFamily="18" charset="0"/>
                  </a:rPr>
                  <a:t>$3,4,5$</a:t>
                </a:r>
                <a:r>
                  <a:rPr sz="2400" b="0">
                    <a:solidFill>
                      <a:srgbClr val="111827"/>
                    </a:solidFill>
                    <a:latin typeface="Arial"/>
                  </a:rPr>
                  <a:t> means exactly one copy; </a:t>
                </a:r>
                <a:r>
                  <a:rPr lang="en-IN" sz="2400">
                    <a:solidFill>
                      <a:srgbClr val="111827"/>
                    </a:solidFill>
                    <a:latin typeface="Cambria Math" panose="02040503050406030204" pitchFamily="18" charset="0"/>
                  </a:rPr>
                  <a:t>$e^{7x}$</a:t>
                </a:r>
                <a:r>
                  <a:rPr sz="2400" b="0">
                    <a:solidFill>
                      <a:srgbClr val="111827"/>
                    </a:solidFill>
                    <a:latin typeface="Arial"/>
                  </a:rPr>
                  <a:t> allows any number of copies of the </a:t>
                </a:r>
                <a:r>
                  <a:rPr lang="en-IN" sz="2400">
                    <a:solidFill>
                      <a:srgbClr val="111827"/>
                    </a:solidFill>
                    <a:latin typeface="Cambria Math" panose="02040503050406030204" pitchFamily="18" charset="0"/>
                  </a:rPr>
                  <a:t>$7$</a:t>
                </a:r>
                <a:r>
                  <a:rPr sz="2400" b="0">
                    <a:solidFill>
                      <a:srgbClr val="111827"/>
                    </a:solidFill>
                    <a:latin typeface="Arial"/>
                  </a:rPr>
                  <a:t> other digits.</a:t>
                </a:r>
                <a:endParaRPr sz="2400">
                  <a:solidFill>
                    <a:srgbClr val="111827"/>
                  </a:solidFill>
                </a:endParaRPr>
              </a:p>
            </p:txBody>
          </p:sp>
        </mc:Fallback>
      </mc:AlternateContent>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Count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10</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has no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the count is </a:t>
                </a:r>
                <a14:m>
                  <m:oMath xmlns:m="http://schemas.openxmlformats.org/officeDocument/2006/math">
                    <m:r>
                      <a:rPr lang="en-IN" sz="2400" i="1">
                        <a:solidFill>
                          <a:srgbClr val="111827"/>
                        </a:solidFill>
                        <a:latin typeface="Cambria Math" panose="02040503050406030204" pitchFamily="18" charset="0"/>
                      </a:rPr>
                      <m:t>2940</m:t>
                    </m:r>
                  </m:oMath>
                </a14:m>
                <a:r>
                  <a:rPr sz="2400" b="0">
                    <a:solidFill>
                      <a:srgbClr val="111827"/>
                    </a:solidFill>
                    <a:latin typeface="Arial"/>
                  </a:rPr>
                  <a:t>: more than </a:t>
                </a:r>
                <a14:m>
                  <m:oMath xmlns:m="http://schemas.openxmlformats.org/officeDocument/2006/math">
                    <m:r>
                      <a:rPr lang="en-IN" sz="2400" i="1">
                        <a:solidFill>
                          <a:srgbClr val="111827"/>
                        </a:solidFill>
                        <a:latin typeface="Cambria Math" panose="02040503050406030204" pitchFamily="18" charset="0"/>
                      </a:rPr>
                      <m:t>2000</m:t>
                    </m:r>
                  </m:oMath>
                </a14:m>
                <a:r>
                  <a:rPr sz="2400" b="0">
                    <a:solidFill>
                      <a:srgbClr val="111827"/>
                    </a:solidFill>
                    <a:latin typeface="Arial"/>
                  </a:rPr>
                  <a:t> (A) and equal to </a:t>
                </a:r>
                <a14:m>
                  <m:oMath xmlns:m="http://schemas.openxmlformats.org/officeDocument/2006/math">
                    <m:r>
                      <a:rPr lang="en-IN" sz="2400" i="1">
                        <a:solidFill>
                          <a:srgbClr val="111827"/>
                        </a:solidFill>
                        <a:latin typeface="Cambria Math" panose="02040503050406030204" pitchFamily="18" charset="0"/>
                      </a:rPr>
                      <m:t>2940</m:t>
                    </m:r>
                  </m:oMath>
                </a14:m>
                <a:r>
                  <a:rPr sz="2400" b="0">
                    <a:solidFill>
                      <a:srgbClr val="111827"/>
                    </a:solidFill>
                    <a:latin typeface="Arial"/>
                  </a:rPr>
                  <a:t>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$[x^5]\,x^3e^{7x}=[x^2]\,e^{7x}=\frac{7^2}{2!}=\frac{49}{2}$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Count </a:t>
                </a:r>
                <a:r>
                  <a:rPr lang="en-IN" sz="2400">
                    <a:solidFill>
                      <a:srgbClr val="111827"/>
                    </a:solidFill>
                    <a:latin typeface="Cambria Math" panose="02040503050406030204" pitchFamily="18" charset="0"/>
                  </a:rPr>
                  <a:t>$=5!\times\frac{49}{2}=120\times\frac{49}{2}=2940$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$10^5$</a:t>
                </a:r>
                <a:r>
                  <a:rPr sz="2400" b="0">
                    <a:solidFill>
                      <a:srgbClr val="111827"/>
                    </a:solidFill>
                    <a:latin typeface="Arial"/>
                  </a:rPr>
                  <a:t> has no </a:t>
                </a:r>
                <a:r>
                  <a:rPr lang="en-IN" sz="2400">
                    <a:solidFill>
                      <a:srgbClr val="111827"/>
                    </a:solidFill>
                    <a:latin typeface="Cambria Math" panose="02040503050406030204" pitchFamily="18" charset="0"/>
                  </a:rPr>
                  <a:t>$3,4,5$</a:t>
                </a:r>
                <a:r>
                  <a:rPr sz="2400" b="0">
                    <a:solidFill>
                      <a:srgbClr val="111827"/>
                    </a:solidFill>
                    <a:latin typeface="Arial"/>
                  </a:rPr>
                  <a:t>, so the count is </a:t>
                </a:r>
                <a:r>
                  <a:rPr lang="en-IN" sz="2400">
                    <a:solidFill>
                      <a:srgbClr val="111827"/>
                    </a:solidFill>
                    <a:latin typeface="Cambria Math" panose="02040503050406030204" pitchFamily="18" charset="0"/>
                  </a:rPr>
                  <a:t>$2940$</a:t>
                </a:r>
                <a:r>
                  <a:rPr sz="2400" b="0">
                    <a:solidFill>
                      <a:srgbClr val="111827"/>
                    </a:solidFill>
                    <a:latin typeface="Arial"/>
                  </a:rPr>
                  <a:t>: more than </a:t>
                </a:r>
                <a:r>
                  <a:rPr lang="en-IN" sz="2400">
                    <a:solidFill>
                      <a:srgbClr val="111827"/>
                    </a:solidFill>
                    <a:latin typeface="Cambria Math" panose="02040503050406030204" pitchFamily="18" charset="0"/>
                  </a:rPr>
                  <a:t>$2000$</a:t>
                </a:r>
                <a:r>
                  <a:rPr sz="2400" b="0">
                    <a:solidFill>
                      <a:srgbClr val="111827"/>
                    </a:solidFill>
                    <a:latin typeface="Arial"/>
                  </a:rPr>
                  <a:t> (A) and equal to </a:t>
                </a:r>
                <a:r>
                  <a:rPr lang="en-IN" sz="2400">
                    <a:solidFill>
                      <a:srgbClr val="111827"/>
                    </a:solidFill>
                    <a:latin typeface="Cambria Math" panose="02040503050406030204" pitchFamily="18" charset="0"/>
                  </a:rPr>
                  <a:t>$2940$</a:t>
                </a:r>
                <a:r>
                  <a:rPr sz="2400" b="0">
                    <a:solidFill>
                      <a:srgbClr val="111827"/>
                    </a:solidFill>
                    <a:latin typeface="Arial"/>
                  </a:rPr>
                  <a:t> (C).</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C)</a:t>
            </a:r>
            <a:endParaRPr sz="2800">
              <a:solidFill>
                <a:srgbClr val="15803D"/>
              </a:solidFill>
            </a:endParaRP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-digit strings (leading zeros allowed) with each of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specified non-zero digits exactly once: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sup>
                    </m:sSup>
                  </m:oMath>
                </a14:m>
                <a:r>
                  <a:rPr sz="2400" b="0">
                    <a:solidFill>
                      <a:srgbClr val="111827"/>
                    </a:solidFill>
                    <a:latin typeface="Arial"/>
                  </a:rPr>
                  <a: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Leading zeros are harmless when the digits being counted are non-zero; otherwise treat the first place separately.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the end point of a range: </a:t>
                </a:r>
                <a14:m>
                  <m:oMath xmlns:m="http://schemas.openxmlformats.org/officeDocument/2006/math">
                    <m:sSup>
                      <m:e>
                        <m:r>
                          <a:rPr lang="en-IN" sz="2400" i="1">
                            <a:solidFill>
                              <a:srgbClr val="111827"/>
                            </a:solidFill>
                            <a:latin typeface="Cambria Math" panose="02040503050406030204" pitchFamily="18" charset="0"/>
                          </a:rPr>
                          <m:t>10</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has a 1 and zeros, so it never matters here.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 of </a:t>
                </a:r>
                <a:r>
                  <a:rPr lang="en-IN" sz="2400">
                    <a:solidFill>
                      <a:srgbClr val="111827"/>
                    </a:solidFill>
                    <a:latin typeface="Cambria Math" panose="02040503050406030204" pitchFamily="18" charset="0"/>
                  </a:rPr>
                  <a:t>$m$</a:t>
                </a:r>
                <a:r>
                  <a:rPr sz="2400" b="0">
                    <a:solidFill>
                      <a:srgbClr val="111827"/>
                    </a:solidFill>
                    <a:latin typeface="Arial"/>
                  </a:rPr>
                  <a:t>-digit strings (leading zeros allowed) with each of </a:t>
                </a:r>
                <a:r>
                  <a:rPr lang="en-IN" sz="2400">
                    <a:solidFill>
                      <a:srgbClr val="111827"/>
                    </a:solidFill>
                    <a:latin typeface="Cambria Math" panose="02040503050406030204" pitchFamily="18" charset="0"/>
                  </a:rPr>
                  <a:t>$j$</a:t>
                </a:r>
                <a:r>
                  <a:rPr sz="2400" b="0">
                    <a:solidFill>
                      <a:srgbClr val="111827"/>
                    </a:solidFill>
                    <a:latin typeface="Arial"/>
                  </a:rPr>
                  <a:t> specified non-zero digits exactly once: </a:t>
                </a:r>
                <a:r>
                  <a:rPr lang="en-IN" sz="2400">
                    <a:solidFill>
                      <a:srgbClr val="111827"/>
                    </a:solidFill>
                    <a:latin typeface="Cambria Math" panose="02040503050406030204" pitchFamily="18" charset="0"/>
                  </a:rPr>
                  <a:t>$\frac{m!}{(m-j)!}(10-j)^{m-j}$</a:t>
                </a:r>
                <a:r>
                  <a:rPr sz="2400" b="0">
                    <a:solidFill>
                      <a:srgbClr val="111827"/>
                    </a:solidFill>
                    <a:latin typeface="Arial"/>
                  </a:rPr>
                  <a:t>; here </a:t>
                </a:r>
                <a:r>
                  <a:rPr lang="en-IN" sz="2400">
                    <a:solidFill>
                      <a:srgbClr val="111827"/>
                    </a:solidFill>
                    <a:latin typeface="Cambria Math" panose="02040503050406030204" pitchFamily="18" charset="0"/>
                  </a:rPr>
                  <a:t>$\frac{5!}{2!}\cdot7^2=2940$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Leading zeros are harmless when the digits being counted are non-zero; otherwise treat the first place separately.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the end point of a range: </a:t>
                </a:r>
                <a:r>
                  <a:rPr lang="en-IN" sz="2400">
                    <a:solidFill>
                      <a:srgbClr val="111827"/>
                    </a:solidFill>
                    <a:latin typeface="Cambria Math" panose="02040503050406030204" pitchFamily="18" charset="0"/>
                  </a:rPr>
                  <a:t>$10^5$</a:t>
                </a:r>
                <a:r>
                  <a:rPr sz="2400" b="0">
                    <a:solidFill>
                      <a:srgbClr val="111827"/>
                    </a:solidFill>
                    <a:latin typeface="Arial"/>
                  </a:rPr>
                  <a:t> has a 1 and zeros, so it never matters here.</a:t>
                </a:r>
                <a:endParaRPr sz="2400">
                  <a:solidFill>
                    <a:srgbClr val="111827"/>
                  </a:solidFill>
                </a:endParaRPr>
              </a:p>
            </p:txBody>
          </p:sp>
        </mc:Fallback>
      </mc:AlternateContent>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9192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endParaRPr sz="2400">
                  <a:solidFill>
                    <a:srgbClr val="111827"/>
                  </a:solidFill>
                </a:endParaRPr>
              </a:p>
            </p:txBody>
          </p:sp>
        </mc:Choice>
        <mc:Fallback>
          <p:sp>
            <p:nvSpPr>
              <p:cNvPr id="4" name="Rounded Rectangle 3"/>
              <p:cNvSpPr/>
              <p:nvPr/>
            </p:nvSpPr>
            <p:spPr>
              <a:xfrm>
                <a:off x="731520" y="1280160"/>
                <a:ext cx="10725912" cy="19192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$\sum_{r=0}^{n}\frac{r}{{}^nC_r}=\sum_{r=0}^{n}\frac{n^2-4n+6}{2\cdot{}^nC_r}$</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$n=1$</a:t>
                </a:r>
                <a:r>
                  <a:rPr sz="2400" b="0">
                    <a:solidFill>
                      <a:srgbClr val="111827"/>
                    </a:solidFill>
                    <a:latin typeface="Arial"/>
                  </a:rPr>
                  <a:t>   (B) </a:t>
                </a:r>
                <a:r>
                  <a:rPr lang="en-IN" sz="2400">
                    <a:solidFill>
                      <a:srgbClr val="111827"/>
                    </a:solidFill>
                    <a:latin typeface="Cambria Math" panose="02040503050406030204" pitchFamily="18" charset="0"/>
                  </a:rPr>
                  <a:t>$n=2$</a:t>
                </a:r>
                <a:r>
                  <a:rPr sz="2400" b="0">
                    <a:solidFill>
                      <a:srgbClr val="111827"/>
                    </a:solidFill>
                    <a:latin typeface="Arial"/>
                  </a:rPr>
                  <a:t>   (C) </a:t>
                </a:r>
                <a:r>
                  <a:rPr lang="en-IN" sz="2400">
                    <a:solidFill>
                      <a:srgbClr val="111827"/>
                    </a:solidFill>
                    <a:latin typeface="Cambria Math" panose="02040503050406030204" pitchFamily="18" charset="0"/>
                  </a:rPr>
                  <a:t>$n=3$</a:t>
                </a:r>
                <a:r>
                  <a:rPr sz="2400" b="0">
                    <a:solidFill>
                      <a:srgbClr val="111827"/>
                    </a:solidFill>
                    <a:latin typeface="Arial"/>
                  </a:rPr>
                  <a:t>   (D) </a:t>
                </a:r>
                <a:r>
                  <a:rPr lang="en-IN" sz="2400">
                    <a:solidFill>
                      <a:srgbClr val="111827"/>
                    </a:solidFill>
                    <a:latin typeface="Cambria Math" panose="02040503050406030204" pitchFamily="18" charset="0"/>
                  </a:rPr>
                  <a:t>$n=4$</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427984"/>
                <a:ext cx="10725912" cy="20848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coefficients: sums involving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oMath>
                </a14:m>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5" name="Rectangle 4"/>
              <p:cNvSpPr/>
              <p:nvPr/>
            </p:nvSpPr>
            <p:spPr>
              <a:xfrm>
                <a:off x="731520" y="3427984"/>
                <a:ext cx="10725912" cy="20848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coefficients: sums involving </a:t>
                </a:r>
                <a:r>
                  <a:rPr lang="en-IN" sz="2400">
                    <a:solidFill>
                      <a:srgbClr val="111827"/>
                    </a:solidFill>
                    <a:latin typeface="Cambria Math" panose="02040503050406030204" pitchFamily="18" charset="0"/>
                  </a:rPr>
                  <a:t>$\frac{r}{{}^nC_r}$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84734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Replace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 by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𝑟</m:t>
                        </m:r>
                      </m:num>
                      <m:den>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𝑛</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84734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Replace </a:t>
                </a:r>
                <a:r>
                  <a:rPr lang="en-IN" sz="2400">
                    <a:solidFill>
                      <a:srgbClr val="78350F"/>
                    </a:solidFill>
                    <a:latin typeface="Cambria Math" panose="02040503050406030204" pitchFamily="18" charset="0"/>
                  </a:rPr>
                  <a:t>$r$</a:t>
                </a:r>
                <a:r>
                  <a:rPr sz="2400" b="0">
                    <a:solidFill>
                      <a:srgbClr val="78350F"/>
                    </a:solidFill>
                    <a:latin typeface="Arial"/>
                  </a:rPr>
                  <a:t> by </a:t>
                </a:r>
                <a:r>
                  <a:rPr lang="en-IN" sz="2400">
                    <a:solidFill>
                      <a:srgbClr val="78350F"/>
                    </a:solidFill>
                    <a:latin typeface="Cambria Math" panose="02040503050406030204" pitchFamily="18" charset="0"/>
                  </a:rPr>
                  <a:t>$n-r$</a:t>
                </a:r>
                <a:r>
                  <a:rPr sz="2400" b="0">
                    <a:solidFill>
                      <a:srgbClr val="78350F"/>
                    </a:solidFill>
                    <a:latin typeface="Arial"/>
                  </a:rPr>
                  <a:t>: </a:t>
                </a:r>
                <a:r>
                  <a:rPr lang="en-IN" sz="2400">
                    <a:solidFill>
                      <a:srgbClr val="78350F"/>
                    </a:solidFill>
                    <a:latin typeface="Cambria Math" panose="02040503050406030204" pitchFamily="18" charset="0"/>
                  </a:rPr>
                  <a:t>$\sum\frac{r}{{}^nC_r}=\frac n2\sum\frac{1}{{}^nC_r}$</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264664"/>
                <a:ext cx="10725912" cy="441045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Replace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by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(the same range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Sub>
                          </m:den>
                        </m:f>
                      </m:e>
                    </m:nary>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this equals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 this to the original sum: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right-hand side of the given equation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264664"/>
                <a:ext cx="10725912" cy="441045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Replace </a:t>
                </a:r>
                <a:r>
                  <a:rPr lang="en-IN" sz="2400">
                    <a:solidFill>
                      <a:srgbClr val="111827"/>
                    </a:solidFill>
                    <a:latin typeface="Cambria Math" panose="02040503050406030204" pitchFamily="18" charset="0"/>
                  </a:rPr>
                  <a:t>$r$</a:t>
                </a:r>
                <a:r>
                  <a:rPr sz="2400" b="0">
                    <a:solidFill>
                      <a:srgbClr val="111827"/>
                    </a:solidFill>
                    <a:latin typeface="Arial"/>
                  </a:rPr>
                  <a:t> by </a:t>
                </a:r>
                <a:r>
                  <a:rPr lang="en-IN" sz="2400">
                    <a:solidFill>
                      <a:srgbClr val="111827"/>
                    </a:solidFill>
                    <a:latin typeface="Cambria Math" panose="02040503050406030204" pitchFamily="18" charset="0"/>
                  </a:rPr>
                  <a:t>$n-r$</a:t>
                </a:r>
                <a:r>
                  <a:rPr sz="2400" b="0">
                    <a:solidFill>
                      <a:srgbClr val="111827"/>
                    </a:solidFill>
                    <a:latin typeface="Arial"/>
                  </a:rPr>
                  <a:t> (the same range </a:t>
                </a:r>
                <a:r>
                  <a:rPr lang="en-IN" sz="2400">
                    <a:solidFill>
                      <a:srgbClr val="111827"/>
                    </a:solidFill>
                    <a:latin typeface="Cambria Math" panose="02040503050406030204" pitchFamily="18" charset="0"/>
                  </a:rPr>
                  <a:t>$0$</a:t>
                </a:r>
                <a:r>
                  <a:rPr sz="2400" b="0">
                    <a:solidFill>
                      <a:srgbClr val="111827"/>
                    </a:solidFill>
                    <a:latin typeface="Arial"/>
                  </a:rPr>
                  <a:t> to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$\sum_{r=0}^{n}\frac{r}{{}^nC_r}=\sum_{r=0}^{n}\frac{n-r}{{}^nC_{n-r}}$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$^nC_{n-r}={}^nC_r$</a:t>
                </a:r>
                <a:r>
                  <a:rPr sz="2400" b="0">
                    <a:solidFill>
                      <a:srgbClr val="111827"/>
                    </a:solidFill>
                    <a:latin typeface="Arial"/>
                  </a:rPr>
                  <a:t>, this equals </a:t>
                </a:r>
                <a:r>
                  <a:rPr lang="en-IN" sz="2400">
                    <a:solidFill>
                      <a:srgbClr val="111827"/>
                    </a:solidFill>
                    <a:latin typeface="Cambria Math" panose="02040503050406030204" pitchFamily="18" charset="0"/>
                  </a:rPr>
                  <a:t>$\sum_{r=0}^{n}\frac{n-r}{{}^nC_r}$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 this to the original sum: </a:t>
                </a:r>
                <a:r>
                  <a:rPr lang="en-IN" sz="2400">
                    <a:solidFill>
                      <a:srgbClr val="111827"/>
                    </a:solidFill>
                    <a:latin typeface="Cambria Math" panose="02040503050406030204" pitchFamily="18" charset="0"/>
                  </a:rPr>
                  <a:t>$2\sum\frac{r}{{}^nC_r}=\sum\frac{n}{{}^nC_r}$</a:t>
                </a:r>
                <a:r>
                  <a:rPr sz="2400" b="0">
                    <a:solidFill>
                      <a:srgbClr val="111827"/>
                    </a:solidFill>
                    <a:latin typeface="Arial"/>
                  </a:rPr>
                  <a:t>, so </a:t>
                </a:r>
                <a:r>
                  <a:rPr lang="en-IN" sz="2400">
                    <a:solidFill>
                      <a:srgbClr val="111827"/>
                    </a:solidFill>
                    <a:latin typeface="Cambria Math" panose="02040503050406030204" pitchFamily="18" charset="0"/>
                  </a:rPr>
                  <a:t>$\sum\frac{r}{{}^nC_r}=\frac n2\sum_{r=0}^{n}\frac1{{}^nC_r}$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right-hand side of the given equation is </a:t>
                </a:r>
                <a:r>
                  <a:rPr lang="en-IN" sz="2400">
                    <a:solidFill>
                      <a:srgbClr val="111827"/>
                    </a:solidFill>
                    <a:latin typeface="Cambria Math" panose="02040503050406030204" pitchFamily="18" charset="0"/>
                  </a:rPr>
                  <a:t>$\frac{n^2-4n+6}{2}\sum_{r=0}^{n}\frac1{{}^nC_r}$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cancel it: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options (B) and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$\sum\frac1{{}^nC_r}&gt;0$</a:t>
                </a:r>
                <a:r>
                  <a:rPr sz="2400" b="0">
                    <a:solidFill>
                      <a:srgbClr val="111827"/>
                    </a:solidFill>
                    <a:latin typeface="Arial"/>
                  </a:rPr>
                  <a:t>, cancel it: </a:t>
                </a:r>
                <a:r>
                  <a:rPr lang="en-IN" sz="2400">
                    <a:solidFill>
                      <a:srgbClr val="111827"/>
                    </a:solidFill>
                    <a:latin typeface="Cambria Math" panose="02040503050406030204" pitchFamily="18" charset="0"/>
                  </a:rPr>
                  <a:t>$\frac n2=\frac{n^2-4n+6}{2}$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$n^2-4n+6=n$</a:t>
                </a:r>
                <a:r>
                  <a:rPr sz="2400" b="0">
                    <a:solidFill>
                      <a:srgbClr val="111827"/>
                    </a:solidFill>
                    <a:latin typeface="Arial"/>
                  </a:rPr>
                  <a:t>, i.e. </a:t>
                </a:r>
                <a:r>
                  <a:rPr lang="en-IN" sz="2400">
                    <a:solidFill>
                      <a:srgbClr val="111827"/>
                    </a:solidFill>
                    <a:latin typeface="Cambria Math" panose="02040503050406030204" pitchFamily="18" charset="0"/>
                  </a:rPr>
                  <a:t>$n^2-5n+6=0$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$(n-2)(n-3)=0$</a:t>
                </a:r>
                <a:r>
                  <a:rPr sz="2400" b="0">
                    <a:solidFill>
                      <a:srgbClr val="111827"/>
                    </a:solidFill>
                    <a:latin typeface="Arial"/>
                  </a:rPr>
                  <a:t>, so </a:t>
                </a:r>
                <a:r>
                  <a:rPr lang="en-IN" sz="2400">
                    <a:solidFill>
                      <a:srgbClr val="111827"/>
                    </a:solidFill>
                    <a:latin typeface="Cambria Math" panose="02040503050406030204" pitchFamily="18" charset="0"/>
                  </a:rPr>
                  <a:t>$n=2$</a:t>
                </a:r>
                <a:r>
                  <a:rPr sz="2400" b="0">
                    <a:solidFill>
                      <a:srgbClr val="111827"/>
                    </a:solidFill>
                    <a:latin typeface="Arial"/>
                  </a:rPr>
                  <a:t> or </a:t>
                </a:r>
                <a:r>
                  <a:rPr lang="en-IN" sz="2400">
                    <a:solidFill>
                      <a:srgbClr val="111827"/>
                    </a:solidFill>
                    <a:latin typeface="Cambria Math" panose="02040503050406030204" pitchFamily="18" charset="0"/>
                  </a:rPr>
                  <a:t>$n=3$</a:t>
                </a:r>
                <a:r>
                  <a:rPr sz="2400" b="0">
                    <a:solidFill>
                      <a:srgbClr val="111827"/>
                    </a:solidFill>
                    <a:latin typeface="Arial"/>
                  </a:rPr>
                  <a:t>: options (B) and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four options directly: both sides are finite sums, so evaluate them for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four options directly: both sides are finite sums, so evaluate them for </a:t>
                </a:r>
                <a:r>
                  <a:rPr lang="en-IN" sz="2400">
                    <a:solidFill>
                      <a:srgbClr val="78350F"/>
                    </a:solidFill>
                    <a:latin typeface="Cambria Math" panose="02040503050406030204" pitchFamily="18" charset="0"/>
                  </a:rPr>
                  <a:t>$n=1,2,3,4$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LHS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RHS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Not equal.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LHS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RHS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Equal.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LHS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RHS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Equal.</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$n=1$</a:t>
                </a:r>
                <a:r>
                  <a:rPr sz="2400" b="0">
                    <a:solidFill>
                      <a:srgbClr val="111827"/>
                    </a:solidFill>
                    <a:latin typeface="Arial"/>
                  </a:rPr>
                  <a:t>: LHS </a:t>
                </a:r>
                <a:r>
                  <a:rPr lang="en-IN" sz="2400">
                    <a:solidFill>
                      <a:srgbClr val="111827"/>
                    </a:solidFill>
                    <a:latin typeface="Cambria Math" panose="02040503050406030204" pitchFamily="18" charset="0"/>
                  </a:rPr>
                  <a:t>$=\frac{0}{1}+\frac11=1$</a:t>
                </a:r>
                <a:r>
                  <a:rPr sz="2400" b="0">
                    <a:solidFill>
                      <a:srgbClr val="111827"/>
                    </a:solidFill>
                    <a:latin typeface="Arial"/>
                  </a:rPr>
                  <a:t>; RHS </a:t>
                </a:r>
                <a:r>
                  <a:rPr lang="en-IN" sz="2400">
                    <a:solidFill>
                      <a:srgbClr val="111827"/>
                    </a:solidFill>
                    <a:latin typeface="Cambria Math" panose="02040503050406030204" pitchFamily="18" charset="0"/>
                  </a:rPr>
                  <a:t>$=\frac{3}{2}(1+1)=3$</a:t>
                </a:r>
                <a:r>
                  <a:rPr sz="2400" b="0">
                    <a:solidFill>
                      <a:srgbClr val="111827"/>
                    </a:solidFill>
                    <a:latin typeface="Arial"/>
                  </a:rPr>
                  <a:t>. Not equal.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$n=2$</a:t>
                </a:r>
                <a:r>
                  <a:rPr sz="2400" b="0">
                    <a:solidFill>
                      <a:srgbClr val="111827"/>
                    </a:solidFill>
                    <a:latin typeface="Arial"/>
                  </a:rPr>
                  <a:t>: LHS </a:t>
                </a:r>
                <a:r>
                  <a:rPr lang="en-IN" sz="2400">
                    <a:solidFill>
                      <a:srgbClr val="111827"/>
                    </a:solidFill>
                    <a:latin typeface="Cambria Math" panose="02040503050406030204" pitchFamily="18" charset="0"/>
                  </a:rPr>
                  <a:t>$=0+\frac12+2=\frac52$</a:t>
                </a:r>
                <a:r>
                  <a:rPr sz="2400" b="0">
                    <a:solidFill>
                      <a:srgbClr val="111827"/>
                    </a:solidFill>
                    <a:latin typeface="Arial"/>
                  </a:rPr>
                  <a:t>; RHS </a:t>
                </a:r>
                <a:r>
                  <a:rPr lang="en-IN" sz="2400">
                    <a:solidFill>
                      <a:srgbClr val="111827"/>
                    </a:solidFill>
                    <a:latin typeface="Cambria Math" panose="02040503050406030204" pitchFamily="18" charset="0"/>
                  </a:rPr>
                  <a:t>$=\frac{4-8+6}{2}\left(1+\frac12+1\right)=1\times\frac52=\frac52$</a:t>
                </a:r>
                <a:r>
                  <a:rPr sz="2400" b="0">
                    <a:solidFill>
                      <a:srgbClr val="111827"/>
                    </a:solidFill>
                    <a:latin typeface="Arial"/>
                  </a:rPr>
                  <a:t>. Equal.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$n=3$</a:t>
                </a:r>
                <a:r>
                  <a:rPr sz="2400" b="0">
                    <a:solidFill>
                      <a:srgbClr val="111827"/>
                    </a:solidFill>
                    <a:latin typeface="Arial"/>
                  </a:rPr>
                  <a:t>: LHS </a:t>
                </a:r>
                <a:r>
                  <a:rPr lang="en-IN" sz="2400">
                    <a:solidFill>
                      <a:srgbClr val="111827"/>
                    </a:solidFill>
                    <a:latin typeface="Cambria Math" panose="02040503050406030204" pitchFamily="18" charset="0"/>
                  </a:rPr>
                  <a:t>$=0+\frac13+\frac23+3=4$</a:t>
                </a:r>
                <a:r>
                  <a:rPr sz="2400" b="0">
                    <a:solidFill>
                      <a:srgbClr val="111827"/>
                    </a:solidFill>
                    <a:latin typeface="Arial"/>
                  </a:rPr>
                  <a:t>; RHS </a:t>
                </a:r>
                <a:r>
                  <a:rPr lang="en-IN" sz="2400">
                    <a:solidFill>
                      <a:srgbClr val="111827"/>
                    </a:solidFill>
                    <a:latin typeface="Cambria Math" panose="02040503050406030204" pitchFamily="18" charset="0"/>
                  </a:rPr>
                  <a:t>$=\frac{9-12+6}{2}\left(1+\frac13+\frac13+1\right)=\frac32\times\frac83=4$</a:t>
                </a:r>
                <a:r>
                  <a:rPr sz="2400" b="0">
                    <a:solidFill>
                      <a:srgbClr val="111827"/>
                    </a:solidFill>
                    <a:latin typeface="Arial"/>
                  </a:rPr>
                  <a:t>. Equal.</a:t>
                </a:r>
                <a:endParaRPr sz="2400">
                  <a:solidFill>
                    <a:srgbClr val="111827"/>
                  </a:solidFill>
                </a:endParaRPr>
              </a:p>
            </p:txBody>
          </p:sp>
        </mc:Fallback>
      </mc:AlternateContent>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LHS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RHS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Not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satisfy the equation: (B) and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$n=4$</a:t>
                </a:r>
                <a:r>
                  <a:rPr sz="2400" b="0">
                    <a:solidFill>
                      <a:srgbClr val="111827"/>
                    </a:solidFill>
                    <a:latin typeface="Arial"/>
                  </a:rPr>
                  <a:t>: LHS </a:t>
                </a:r>
                <a:r>
                  <a:rPr lang="en-IN" sz="2400">
                    <a:solidFill>
                      <a:srgbClr val="111827"/>
                    </a:solidFill>
                    <a:latin typeface="Cambria Math" panose="02040503050406030204" pitchFamily="18" charset="0"/>
                  </a:rPr>
                  <a:t>$=0+\frac14+\frac26+\frac34+4=\frac{16}{3}$</a:t>
                </a:r>
                <a:r>
                  <a:rPr sz="2400" b="0">
                    <a:solidFill>
                      <a:srgbClr val="111827"/>
                    </a:solidFill>
                    <a:latin typeface="Arial"/>
                  </a:rPr>
                  <a:t>; RHS </a:t>
                </a:r>
                <a:r>
                  <a:rPr lang="en-IN" sz="2400">
                    <a:solidFill>
                      <a:srgbClr val="111827"/>
                    </a:solidFill>
                    <a:latin typeface="Cambria Math" panose="02040503050406030204" pitchFamily="18" charset="0"/>
                  </a:rPr>
                  <a:t>$=3\left(1+\frac14+\frac16+\frac14+1\right)=3\times\frac83=8$</a:t>
                </a:r>
                <a:r>
                  <a:rPr sz="2400" b="0">
                    <a:solidFill>
                      <a:srgbClr val="111827"/>
                    </a:solidFill>
                    <a:latin typeface="Arial"/>
                  </a:rPr>
                  <a:t>. Not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$n=2$</a:t>
                </a:r>
                <a:r>
                  <a:rPr sz="2400" b="0">
                    <a:solidFill>
                      <a:srgbClr val="111827"/>
                    </a:solidFill>
                    <a:latin typeface="Arial"/>
                  </a:rPr>
                  <a:t> and </a:t>
                </a:r>
                <a:r>
                  <a:rPr lang="en-IN" sz="2400">
                    <a:solidFill>
                      <a:srgbClr val="111827"/>
                    </a:solidFill>
                    <a:latin typeface="Cambria Math" panose="02040503050406030204" pitchFamily="18" charset="0"/>
                  </a:rPr>
                  <a:t>$n=3$</a:t>
                </a:r>
                <a:r>
                  <a:rPr sz="2400" b="0">
                    <a:solidFill>
                      <a:srgbClr val="111827"/>
                    </a:solidFill>
                    <a:latin typeface="Arial"/>
                  </a:rPr>
                  <a:t> satisfy the equation: (B) and (C).</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Reflection trick: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en>
                    </m:f>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𝑘</m:t>
                                </m:r>
                              </m:sup>
                            </m:sSup>
                          </m:num>
                          <m:den>
                            <m:r>
                              <a:rPr lang="en-IN" sz="2400" i="1">
                                <a:solidFill>
                                  <a:srgbClr val="111827"/>
                                </a:solidFill>
                                <a:latin typeface="Cambria Math" panose="02040503050406030204" pitchFamily="18" charset="0"/>
                              </a:rPr>
                              <m:t>𝑘</m:t>
                            </m:r>
                          </m:den>
                        </m:f>
                      </m:e>
                    </m:nary>
                  </m:oMath>
                </a14:m>
                <a:r>
                  <a:rPr sz="2400" b="0">
                    <a:solidFill>
                      <a:srgbClr val="111827"/>
                    </a:solidFill>
                    <a:latin typeface="Arial"/>
                  </a:rPr>
                  <a:t> (check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symmetry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Reflection trick: </a:t>
                </a:r>
                <a:r>
                  <a:rPr lang="en-IN" sz="2400">
                    <a:solidFill>
                      <a:srgbClr val="111827"/>
                    </a:solidFill>
                    <a:latin typeface="Cambria Math" panose="02040503050406030204" pitchFamily="18" charset="0"/>
                  </a:rPr>
                  <a:t>$\sum_{r=0}^{n}\frac{g(r)}{{}^nC_r}=\sum_{r=0}^{n}\frac{g(n-r)}{{}^nC_r}$</a:t>
                </a:r>
                <a:r>
                  <a:rPr sz="2400" b="0">
                    <a:solidFill>
                      <a:srgbClr val="111827"/>
                    </a:solidFill>
                    <a:latin typeface="Arial"/>
                  </a:rPr>
                  <a:t>, so </a:t>
                </a:r>
                <a:r>
                  <a:rPr lang="en-IN" sz="2400">
                    <a:solidFill>
                      <a:srgbClr val="111827"/>
                    </a:solidFill>
                    <a:latin typeface="Cambria Math" panose="02040503050406030204" pitchFamily="18" charset="0"/>
                  </a:rPr>
                  <a:t>$\sum\frac{r}{{}^nC_r}=\frac n2\sum\frac1{{}^nC_r}$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$\sum_{r=0}^{n}\frac{1}{{}^nC_r}=\frac{n+1}{2^{n+1}}\sum_{k=1}^{n+1}\frac{2^k}{k}$</a:t>
                </a:r>
                <a:r>
                  <a:rPr sz="2400" b="0">
                    <a:solidFill>
                      <a:srgbClr val="111827"/>
                    </a:solidFill>
                    <a:latin typeface="Arial"/>
                  </a:rPr>
                  <a:t> (check </a:t>
                </a:r>
                <a:r>
                  <a:rPr lang="en-IN" sz="2400">
                    <a:solidFill>
                      <a:srgbClr val="111827"/>
                    </a:solidFill>
                    <a:latin typeface="Cambria Math" panose="02040503050406030204" pitchFamily="18" charset="0"/>
                  </a:rPr>
                  <a:t>$n=2$</a:t>
                </a:r>
                <a:r>
                  <a:rPr sz="2400" b="0">
                    <a:solidFill>
                      <a:srgbClr val="111827"/>
                    </a:solidFill>
                    <a:latin typeface="Arial"/>
                  </a:rPr>
                  <a:t>: </a:t>
                </a:r>
                <a:r>
                  <a:rPr lang="en-IN" sz="2400">
                    <a:solidFill>
                      <a:srgbClr val="111827"/>
                    </a:solidFill>
                    <a:latin typeface="Cambria Math" panose="02040503050406030204" pitchFamily="18" charset="0"/>
                  </a:rPr>
                  <a:t>$\frac{3}{8}\cdot\frac{20}{3}=\frac52$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same symmetry gives </a:t>
                </a:r>
                <a:r>
                  <a:rPr lang="en-IN" sz="2400">
                    <a:solidFill>
                      <a:srgbClr val="111827"/>
                    </a:solidFill>
                    <a:latin typeface="Cambria Math" panose="02040503050406030204" pitchFamily="18" charset="0"/>
                  </a:rPr>
                  <a:t>$\sum r\binom nr=\frac n2\sum\binom nr=n2^{n-1}$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81660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numbers are chosen randomly from the set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without replacement, then the probability they are in increasing geometric progression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odd)</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odd)</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num>
                      <m:den>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a:t>
                </a:r>
                <a:endParaRPr sz="2400">
                  <a:solidFill>
                    <a:srgbClr val="111827"/>
                  </a:solidFill>
                </a:endParaRPr>
              </a:p>
            </p:txBody>
          </p:sp>
        </mc:Choice>
        <mc:Fallback>
          <p:sp>
            <p:nvSpPr>
              <p:cNvPr id="4" name="Rounded Rectangle 3"/>
              <p:cNvSpPr/>
              <p:nvPr/>
            </p:nvSpPr>
            <p:spPr>
              <a:xfrm>
                <a:off x="731520" y="1280160"/>
                <a:ext cx="10725912" cy="381660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$3$</a:t>
                </a:r>
                <a:r>
                  <a:rPr sz="2400" b="0">
                    <a:solidFill>
                      <a:srgbClr val="111827"/>
                    </a:solidFill>
                    <a:latin typeface="Arial"/>
                  </a:rPr>
                  <a:t> numbers are chosen randomly from the set </a:t>
                </a:r>
                <a:r>
                  <a:rPr lang="en-IN" sz="2400">
                    <a:solidFill>
                      <a:srgbClr val="111827"/>
                    </a:solidFill>
                    <a:latin typeface="Cambria Math" panose="02040503050406030204" pitchFamily="18" charset="0"/>
                  </a:rPr>
                  <a:t>$\{1,2,2^2,\ldots,2^n\}$</a:t>
                </a:r>
                <a:r>
                  <a:rPr sz="2400" b="0">
                    <a:solidFill>
                      <a:srgbClr val="111827"/>
                    </a:solidFill>
                    <a:latin typeface="Arial"/>
                  </a:rPr>
                  <a:t> without replacement, then the probability they are in increasing geometric progression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$\frac{3}{2n}$</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odd)</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$\frac{4}{3n-1}$</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odd)</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$\frac{3n}{2(n^2-1)}$</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even)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$\frac{2n}{n^2+4}$</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even)</a:t>
                </a:r>
                <a:endParaRPr sz="2400">
                  <a:solidFill>
                    <a:srgbClr val="111827"/>
                  </a:solidFill>
                </a:endParaRPr>
              </a:p>
            </p:txBody>
          </p:sp>
        </mc:Fallback>
      </mc:AlternateContent>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with geometric progressions (counting 3-term AP of exponents)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Powers of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are in G.P. exactly when their exponents are in A.P., so count pairs of exponents with the same parity.</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Powers of </a:t>
                </a:r>
                <a:r>
                  <a:rPr lang="en-IN" sz="2400">
                    <a:solidFill>
                      <a:srgbClr val="78350F"/>
                    </a:solidFill>
                    <a:latin typeface="Cambria Math" panose="02040503050406030204" pitchFamily="18" charset="0"/>
                  </a:rPr>
                  <a:t>$2$</a:t>
                </a:r>
                <a:r>
                  <a:rPr sz="2400" b="0">
                    <a:solidFill>
                      <a:srgbClr val="78350F"/>
                    </a:solidFill>
                    <a:latin typeface="Arial"/>
                  </a:rPr>
                  <a:t> are in G.P. exactly when their exponents are in A.P., so count pairs of exponents with the same parity.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set has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numbers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three of them can be chosen in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ways.</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set has </a:t>
                </a:r>
                <a:r>
                  <a:rPr lang="en-IN" sz="2400">
                    <a:solidFill>
                      <a:srgbClr val="111827"/>
                    </a:solidFill>
                    <a:latin typeface="Cambria Math" panose="02040503050406030204" pitchFamily="18" charset="0"/>
                  </a:rPr>
                  <a:t>$n+1$</a:t>
                </a:r>
                <a:r>
                  <a:rPr sz="2400" b="0">
                    <a:solidFill>
                      <a:srgbClr val="111827"/>
                    </a:solidFill>
                    <a:latin typeface="Arial"/>
                  </a:rPr>
                  <a:t> numbers </a:t>
                </a:r>
                <a:r>
                  <a:rPr lang="en-IN" sz="2400">
                    <a:solidFill>
                      <a:srgbClr val="111827"/>
                    </a:solidFill>
                    <a:latin typeface="Cambria Math" panose="02040503050406030204" pitchFamily="18" charset="0"/>
                  </a:rPr>
                  <a:t>$2^0,2^1,\ldots,2^n$</a:t>
                </a:r>
                <a:r>
                  <a:rPr sz="2400" b="0">
                    <a:solidFill>
                      <a:srgbClr val="111827"/>
                    </a:solidFill>
                    <a:latin typeface="Arial"/>
                  </a:rPr>
                  <a:t>; three of them can be chosen in </a:t>
                </a:r>
                <a:r>
                  <a:rPr lang="en-IN" sz="2400">
                    <a:solidFill>
                      <a:srgbClr val="111827"/>
                    </a:solidFill>
                    <a:latin typeface="Cambria Math" panose="02040503050406030204" pitchFamily="18" charset="0"/>
                  </a:rPr>
                  <a:t>$^{n+1}C_3$</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𝑎</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𝑏</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𝑐</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𝑐</m:t>
                    </m:r>
                  </m:oMath>
                </a14:m>
                <a:r>
                  <a:rPr sz="2400" b="0">
                    <a:solidFill>
                      <a:srgbClr val="111827"/>
                    </a:solidFill>
                    <a:latin typeface="Arial"/>
                  </a:rPr>
                  <a:t>) are in G.P. iff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have the same parity and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then determined.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cases = number of ways to pick two exponents of the same parity (both even or both odd).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oMath>
                </a14:m>
                <a:r>
                  <a:rPr sz="2400" b="0">
                    <a:solidFill>
                      <a:srgbClr val="111827"/>
                    </a:solidFill>
                    <a:latin typeface="Arial"/>
                  </a:rPr>
                  <a:t>. Exponents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oMath>
                </a14:m>
                <a:r>
                  <a:rPr sz="2400" b="0">
                    <a:solidFill>
                      <a:srgbClr val="111827"/>
                    </a:solidFill>
                    <a:latin typeface="Arial"/>
                  </a:rPr>
                  <a:t> contain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even and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odd ones: favourable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 </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option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odd,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Exponents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contain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even and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odd ones: favourable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$2^a,2^b,2^c$</a:t>
                </a:r>
                <a:r>
                  <a:rPr sz="2400" b="0">
                    <a:solidFill>
                      <a:srgbClr val="111827"/>
                    </a:solidFill>
                    <a:latin typeface="Arial"/>
                  </a:rPr>
                  <a:t> (</a:t>
                </a:r>
                <a:r>
                  <a:rPr lang="en-IN" sz="2400">
                    <a:solidFill>
                      <a:srgbClr val="111827"/>
                    </a:solidFill>
                    <a:latin typeface="Cambria Math" panose="02040503050406030204" pitchFamily="18" charset="0"/>
                  </a:rPr>
                  <a:t>$a&lt;b&lt;c$</a:t>
                </a:r>
                <a:r>
                  <a:rPr sz="2400" b="0">
                    <a:solidFill>
                      <a:srgbClr val="111827"/>
                    </a:solidFill>
                    <a:latin typeface="Arial"/>
                  </a:rPr>
                  <a:t>) are in G.P. iff </a:t>
                </a:r>
                <a:r>
                  <a:rPr lang="en-IN" sz="2400">
                    <a:solidFill>
                      <a:srgbClr val="111827"/>
                    </a:solidFill>
                    <a:latin typeface="Cambria Math" panose="02040503050406030204" pitchFamily="18" charset="0"/>
                  </a:rPr>
                  <a:t>$2b=a+c$</a:t>
                </a:r>
                <a:r>
                  <a:rPr sz="2400" b="0">
                    <a:solidFill>
                      <a:srgbClr val="111827"/>
                    </a:solidFill>
                    <a:latin typeface="Arial"/>
                  </a:rPr>
                  <a:t>, so </a:t>
                </a:r>
                <a:r>
                  <a:rPr lang="en-IN" sz="2400">
                    <a:solidFill>
                      <a:srgbClr val="111827"/>
                    </a:solidFill>
                    <a:latin typeface="Cambria Math" panose="02040503050406030204" pitchFamily="18" charset="0"/>
                  </a:rPr>
                  <a:t>$a,c$</a:t>
                </a:r>
                <a:r>
                  <a:rPr sz="2400" b="0">
                    <a:solidFill>
                      <a:srgbClr val="111827"/>
                    </a:solidFill>
                    <a:latin typeface="Arial"/>
                  </a:rPr>
                  <a:t> have the same parity and </a:t>
                </a:r>
                <a:r>
                  <a:rPr lang="en-IN" sz="2400">
                    <a:solidFill>
                      <a:srgbClr val="111827"/>
                    </a:solidFill>
                    <a:latin typeface="Cambria Math" panose="02040503050406030204" pitchFamily="18" charset="0"/>
                  </a:rPr>
                  <a:t>$b=\frac{a+c}{2}$</a:t>
                </a:r>
                <a:r>
                  <a:rPr sz="2400" b="0">
                    <a:solidFill>
                      <a:srgbClr val="111827"/>
                    </a:solidFill>
                    <a:latin typeface="Arial"/>
                  </a:rPr>
                  <a:t> is then determined.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cases = number of ways to pick two exponents of the same parity (both even or both odd).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a:t>
                </a:r>
                <a:r>
                  <a:rPr lang="en-IN" sz="2400">
                    <a:solidFill>
                      <a:srgbClr val="111827"/>
                    </a:solidFill>
                    <a:latin typeface="Cambria Math" panose="02040503050406030204" pitchFamily="18" charset="0"/>
                  </a:rPr>
                  <a:t>$n$</a:t>
                </a:r>
                <a:r>
                  <a:rPr sz="2400" b="0">
                    <a:solidFill>
                      <a:srgbClr val="111827"/>
                    </a:solidFill>
                    <a:latin typeface="Arial"/>
                  </a:rPr>
                  <a:t> even, </a:t>
                </a:r>
                <a:r>
                  <a:rPr lang="en-IN" sz="2400">
                    <a:solidFill>
                      <a:srgbClr val="111827"/>
                    </a:solidFill>
                    <a:latin typeface="Cambria Math" panose="02040503050406030204" pitchFamily="18" charset="0"/>
                  </a:rPr>
                  <a:t>$n=2k$</a:t>
                </a:r>
                <a:r>
                  <a:rPr sz="2400" b="0">
                    <a:solidFill>
                      <a:srgbClr val="111827"/>
                    </a:solidFill>
                    <a:latin typeface="Arial"/>
                  </a:rPr>
                  <a:t>. Exponents </a:t>
                </a:r>
                <a:r>
                  <a:rPr lang="en-IN" sz="2400">
                    <a:solidFill>
                      <a:srgbClr val="111827"/>
                    </a:solidFill>
                    <a:latin typeface="Cambria Math" panose="02040503050406030204" pitchFamily="18" charset="0"/>
                  </a:rPr>
                  <a:t>$0,\ldots,2k$</a:t>
                </a:r>
                <a:r>
                  <a:rPr sz="2400" b="0">
                    <a:solidFill>
                      <a:srgbClr val="111827"/>
                    </a:solidFill>
                    <a:latin typeface="Arial"/>
                  </a:rPr>
                  <a:t> contain </a:t>
                </a:r>
                <a:r>
                  <a:rPr lang="en-IN" sz="2400">
                    <a:solidFill>
                      <a:srgbClr val="111827"/>
                    </a:solidFill>
                    <a:latin typeface="Cambria Math" panose="02040503050406030204" pitchFamily="18" charset="0"/>
                  </a:rPr>
                  <a:t>$k+1$</a:t>
                </a:r>
                <a:r>
                  <a:rPr sz="2400" b="0">
                    <a:solidFill>
                      <a:srgbClr val="111827"/>
                    </a:solidFill>
                    <a:latin typeface="Arial"/>
                  </a:rPr>
                  <a:t> even and </a:t>
                </a:r>
                <a:r>
                  <a:rPr lang="en-IN" sz="2400">
                    <a:solidFill>
                      <a:srgbClr val="111827"/>
                    </a:solidFill>
                    <a:latin typeface="Cambria Math" panose="02040503050406030204" pitchFamily="18" charset="0"/>
                  </a:rPr>
                  <a:t>$k$</a:t>
                </a:r>
                <a:r>
                  <a:rPr sz="2400" b="0">
                    <a:solidFill>
                      <a:srgbClr val="111827"/>
                    </a:solidFill>
                    <a:latin typeface="Arial"/>
                  </a:rPr>
                  <a:t> odd ones: favourable </a:t>
                </a:r>
                <a:r>
                  <a:rPr lang="en-IN" sz="2400">
                    <a:solidFill>
                      <a:srgbClr val="111827"/>
                    </a:solidFill>
                    <a:latin typeface="Cambria Math" panose="02040503050406030204" pitchFamily="18" charset="0"/>
                  </a:rPr>
                  <a:t>$=\,^{k+1}C_2+{}^{k}C_2=k^2$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$=\frac{k^2}{^{2k+1}C_3}=\frac{6k^2}{(2k+1)(2k)(2k-1)}=\frac{3k}{4k^2-1}=\frac{3n}{2(n^2-1)}$</a:t>
                </a:r>
                <a:r>
                  <a:rPr sz="2400" b="0">
                    <a:solidFill>
                      <a:srgbClr val="111827"/>
                    </a:solidFill>
                    <a:latin typeface="Arial"/>
                  </a:rPr>
                  <a:t>: option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II: </a:t>
                </a:r>
                <a:r>
                  <a:rPr lang="en-IN" sz="2400">
                    <a:solidFill>
                      <a:srgbClr val="111827"/>
                    </a:solidFill>
                    <a:latin typeface="Cambria Math" panose="02040503050406030204" pitchFamily="18" charset="0"/>
                  </a:rPr>
                  <a:t>$n$</a:t>
                </a:r>
                <a:r>
                  <a:rPr sz="2400" b="0">
                    <a:solidFill>
                      <a:srgbClr val="111827"/>
                    </a:solidFill>
                    <a:latin typeface="Arial"/>
                  </a:rPr>
                  <a:t> odd, </a:t>
                </a:r>
                <a:r>
                  <a:rPr lang="en-IN" sz="2400">
                    <a:solidFill>
                      <a:srgbClr val="111827"/>
                    </a:solidFill>
                    <a:latin typeface="Cambria Math" panose="02040503050406030204" pitchFamily="18" charset="0"/>
                  </a:rPr>
                  <a:t>$n=2k+1$</a:t>
                </a:r>
                <a:r>
                  <a:rPr sz="2400" b="0">
                    <a:solidFill>
                      <a:srgbClr val="111827"/>
                    </a:solidFill>
                    <a:latin typeface="Arial"/>
                  </a:rPr>
                  <a:t>. Exponents </a:t>
                </a:r>
                <a:r>
                  <a:rPr lang="en-IN" sz="2400">
                    <a:solidFill>
                      <a:srgbClr val="111827"/>
                    </a:solidFill>
                    <a:latin typeface="Cambria Math" panose="02040503050406030204" pitchFamily="18" charset="0"/>
                  </a:rPr>
                  <a:t>$0,\ldots,2k+1$</a:t>
                </a:r>
                <a:r>
                  <a:rPr sz="2400" b="0">
                    <a:solidFill>
                      <a:srgbClr val="111827"/>
                    </a:solidFill>
                    <a:latin typeface="Arial"/>
                  </a:rPr>
                  <a:t> contain </a:t>
                </a:r>
                <a:r>
                  <a:rPr lang="en-IN" sz="2400">
                    <a:solidFill>
                      <a:srgbClr val="111827"/>
                    </a:solidFill>
                    <a:latin typeface="Cambria Math" panose="02040503050406030204" pitchFamily="18" charset="0"/>
                  </a:rPr>
                  <a:t>$k+1$</a:t>
                </a:r>
                <a:r>
                  <a:rPr sz="2400" b="0">
                    <a:solidFill>
                      <a:srgbClr val="111827"/>
                    </a:solidFill>
                    <a:latin typeface="Arial"/>
                  </a:rPr>
                  <a:t> even and </a:t>
                </a:r>
                <a:r>
                  <a:rPr lang="en-IN" sz="2400">
                    <a:solidFill>
                      <a:srgbClr val="111827"/>
                    </a:solidFill>
                    <a:latin typeface="Cambria Math" panose="02040503050406030204" pitchFamily="18" charset="0"/>
                  </a:rPr>
                  <a:t>$k+1$</a:t>
                </a:r>
                <a:r>
                  <a:rPr sz="2400" b="0">
                    <a:solidFill>
                      <a:srgbClr val="111827"/>
                    </a:solidFill>
                    <a:latin typeface="Arial"/>
                  </a:rPr>
                  <a:t> odd ones: favourable </a:t>
                </a:r>
                <a:r>
                  <a:rPr lang="en-IN" sz="2400">
                    <a:solidFill>
                      <a:srgbClr val="111827"/>
                    </a:solidFill>
                    <a:latin typeface="Cambria Math" panose="02040503050406030204" pitchFamily="18" charset="0"/>
                  </a:rPr>
                  <a:t>$=2\,{}^{k+1}C_2=k(k+1)=\frac{n^2-1}{4}$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den>
                    </m:f>
                  </m:oMath>
                </a14:m>
                <a:r>
                  <a:rPr sz="2400" b="0">
                    <a:solidFill>
                      <a:srgbClr val="111827"/>
                    </a:solidFill>
                    <a:latin typeface="Arial"/>
                  </a:rPr>
                  <a:t>: option (A).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and (D) fail: e.g.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14</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35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40</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$=\frac{k(k+1)}{^{2k+2}C_3}=\frac{(n^2-1)/4}{(n+1)n(n-1)/6}=\frac{3}{2n}$</a:t>
                </a:r>
                <a:r>
                  <a:rPr sz="2400" b="0">
                    <a:solidFill>
                      <a:srgbClr val="111827"/>
                    </a:solidFill>
                    <a:latin typeface="Arial"/>
                  </a:rPr>
                  <a:t>: option (A).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and (D) fail: e.g. </a:t>
                </a:r>
                <a:r>
                  <a:rPr lang="en-IN" sz="2400">
                    <a:solidFill>
                      <a:srgbClr val="111827"/>
                    </a:solidFill>
                    <a:latin typeface="Cambria Math" panose="02040503050406030204" pitchFamily="18" charset="0"/>
                  </a:rPr>
                  <a:t>$n=5$</a:t>
                </a:r>
                <a:r>
                  <a:rPr sz="2400" b="0">
                    <a:solidFill>
                      <a:srgbClr val="111827"/>
                    </a:solidFill>
                    <a:latin typeface="Arial"/>
                  </a:rPr>
                  <a:t> gives </a:t>
                </a:r>
                <a:r>
                  <a:rPr lang="en-IN" sz="2400">
                    <a:solidFill>
                      <a:srgbClr val="111827"/>
                    </a:solidFill>
                    <a:latin typeface="Cambria Math" panose="02040503050406030204" pitchFamily="18" charset="0"/>
                  </a:rPr>
                  <a:t>$\frac3{10}\neq\frac{4}{14}$</a:t>
                </a:r>
                <a:r>
                  <a:rPr sz="2400" b="0">
                    <a:solidFill>
                      <a:srgbClr val="111827"/>
                    </a:solidFill>
                    <a:latin typeface="Arial"/>
                  </a:rPr>
                  <a:t> and </a:t>
                </a:r>
                <a:r>
                  <a:rPr lang="en-IN" sz="2400">
                    <a:solidFill>
                      <a:srgbClr val="111827"/>
                    </a:solidFill>
                    <a:latin typeface="Cambria Math" panose="02040503050406030204" pitchFamily="18" charset="0"/>
                  </a:rPr>
                  <a:t>$n=6$</a:t>
                </a:r>
                <a:r>
                  <a:rPr sz="2400" b="0">
                    <a:solidFill>
                      <a:srgbClr val="111827"/>
                    </a:solidFill>
                    <a:latin typeface="Arial"/>
                  </a:rPr>
                  <a:t> gives </a:t>
                </a:r>
                <a:r>
                  <a:rPr lang="en-IN" sz="2400">
                    <a:solidFill>
                      <a:srgbClr val="111827"/>
                    </a:solidFill>
                    <a:latin typeface="Cambria Math" panose="02040503050406030204" pitchFamily="18" charset="0"/>
                  </a:rPr>
                  <a:t>$\frac{9}{35}\neq\frac{12}{40}$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C)</a:t>
            </a:r>
            <a:endParaRPr sz="2800">
              <a:solidFill>
                <a:srgbClr val="15803D"/>
              </a:solidFill>
            </a:endParaRP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the progressions by common difference </a:t>
                </a:r>
                <a14:m>
                  <m:oMath xmlns:m="http://schemas.openxmlformats.org/officeDocument/2006/math">
                    <m:r>
                      <a:rPr lang="en-IN" sz="2400" i="1">
                        <a:solidFill>
                          <a:srgbClr val="78350F"/>
                        </a:solidFill>
                        <a:latin typeface="Cambria Math" panose="02040503050406030204" pitchFamily="18" charset="0"/>
                      </a:rPr>
                      <m:t>𝑑</m:t>
                    </m:r>
                  </m:oMath>
                </a14:m>
                <a:r>
                  <a:rPr sz="2400" b="0">
                    <a:solidFill>
                      <a:srgbClr val="78350F"/>
                    </a:solidFill>
                    <a:latin typeface="Arial"/>
                  </a:rPr>
                  <a:t> of the exponents instead of by parity.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the progressions by common difference </a:t>
                </a:r>
                <a:r>
                  <a:rPr lang="en-IN" sz="2400">
                    <a:solidFill>
                      <a:srgbClr val="78350F"/>
                    </a:solidFill>
                    <a:latin typeface="Cambria Math" panose="02040503050406030204" pitchFamily="18" charset="0"/>
                  </a:rPr>
                  <a:t>$d$</a:t>
                </a:r>
                <a:r>
                  <a:rPr sz="2400" b="0">
                    <a:solidFill>
                      <a:srgbClr val="78350F"/>
                    </a:solidFill>
                    <a:latin typeface="Arial"/>
                  </a:rPr>
                  <a:t> of the exponents instead of by parity.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Exponents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oMath>
                </a14:m>
                <a:r>
                  <a:rPr sz="2400" b="0">
                    <a:solidFill>
                      <a:srgbClr val="111827"/>
                    </a:solidFill>
                    <a:latin typeface="Arial"/>
                  </a:rPr>
                  <a:t> must lie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oMath>
                </a14:m>
                <a:r>
                  <a:rPr sz="2400" b="0">
                    <a:solidFill>
                      <a:srgbClr val="111827"/>
                    </a:solidFill>
                    <a:latin typeface="Arial"/>
                  </a:rPr>
                  <a:t>: there are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oMath>
                </a14:m>
                <a:r>
                  <a:rPr sz="2400" b="0">
                    <a:solidFill>
                      <a:srgbClr val="111827"/>
                    </a:solidFill>
                    <a:latin typeface="Arial"/>
                  </a:rPr>
                  <a:t> choices of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for each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ranges over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Exponents </a:t>
                </a:r>
                <a:r>
                  <a:rPr lang="en-IN" sz="2400">
                    <a:solidFill>
                      <a:srgbClr val="111827"/>
                    </a:solidFill>
                    <a:latin typeface="Cambria Math" panose="02040503050406030204" pitchFamily="18" charset="0"/>
                  </a:rPr>
                  <a:t>$a,a+d,a+2d$</a:t>
                </a:r>
                <a:r>
                  <a:rPr sz="2400" b="0">
                    <a:solidFill>
                      <a:srgbClr val="111827"/>
                    </a:solidFill>
                    <a:latin typeface="Arial"/>
                  </a:rPr>
                  <a:t> must lie in </a:t>
                </a:r>
                <a:r>
                  <a:rPr lang="en-IN" sz="2400">
                    <a:solidFill>
                      <a:srgbClr val="111827"/>
                    </a:solidFill>
                    <a:latin typeface="Cambria Math" panose="02040503050406030204" pitchFamily="18" charset="0"/>
                  </a:rPr>
                  <a:t>$\{0,\ldots,n\}$</a:t>
                </a:r>
                <a:r>
                  <a:rPr sz="2400" b="0">
                    <a:solidFill>
                      <a:srgbClr val="111827"/>
                    </a:solidFill>
                    <a:latin typeface="Arial"/>
                  </a:rPr>
                  <a:t>, so </a:t>
                </a:r>
                <a:r>
                  <a:rPr lang="en-IN" sz="2400">
                    <a:solidFill>
                      <a:srgbClr val="111827"/>
                    </a:solidFill>
                    <a:latin typeface="Cambria Math" panose="02040503050406030204" pitchFamily="18" charset="0"/>
                  </a:rPr>
                  <a:t>$a\le n-2d$</a:t>
                </a:r>
                <a:r>
                  <a:rPr sz="2400" b="0">
                    <a:solidFill>
                      <a:srgbClr val="111827"/>
                    </a:solidFill>
                    <a:latin typeface="Arial"/>
                  </a:rPr>
                  <a:t>: there are </a:t>
                </a:r>
                <a:r>
                  <a:rPr lang="en-IN" sz="2400">
                    <a:solidFill>
                      <a:srgbClr val="111827"/>
                    </a:solidFill>
                    <a:latin typeface="Cambria Math" panose="02040503050406030204" pitchFamily="18" charset="0"/>
                  </a:rPr>
                  <a:t>$n+1-2d$</a:t>
                </a:r>
                <a:r>
                  <a:rPr sz="2400" b="0">
                    <a:solidFill>
                      <a:srgbClr val="111827"/>
                    </a:solidFill>
                    <a:latin typeface="Arial"/>
                  </a:rPr>
                  <a:t> choices of </a:t>
                </a:r>
                <a:r>
                  <a:rPr lang="en-IN" sz="2400">
                    <a:solidFill>
                      <a:srgbClr val="111827"/>
                    </a:solidFill>
                    <a:latin typeface="Cambria Math" panose="02040503050406030204" pitchFamily="18" charset="0"/>
                  </a:rPr>
                  <a:t>$a$</a:t>
                </a:r>
                <a:r>
                  <a:rPr sz="2400" b="0">
                    <a:solidFill>
                      <a:srgbClr val="111827"/>
                    </a:solidFill>
                    <a:latin typeface="Arial"/>
                  </a:rPr>
                  <a:t> for each </a:t>
                </a:r>
                <a:r>
                  <a:rPr lang="en-IN" sz="2400">
                    <a:solidFill>
                      <a:srgbClr val="111827"/>
                    </a:solidFill>
                    <a:latin typeface="Cambria Math" panose="02040503050406030204" pitchFamily="18" charset="0"/>
                  </a:rPr>
                  <a:t>$d\ge1$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a:t>
                </a:r>
                <a:r>
                  <a:rPr sz="2400" b="0">
                    <a:solidFill>
                      <a:srgbClr val="111827"/>
                    </a:solidFill>
                    <a:latin typeface="Arial"/>
                  </a:rPr>
                  <a:t> ranges over </a:t>
                </a:r>
                <a:r>
                  <a:rPr lang="en-IN" sz="2400">
                    <a:solidFill>
                      <a:srgbClr val="111827"/>
                    </a:solidFill>
                    <a:latin typeface="Cambria Math" panose="02040503050406030204" pitchFamily="18" charset="0"/>
                  </a:rPr>
                  <a:t>$1,\ldots,\lfloor n/2\rfloor$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a:t>
                </a:r>
                <a:r>
                  <a:rPr sz="2400" b="0">
                    <a:solidFill>
                      <a:srgbClr val="111827"/>
                    </a:solidFill>
                    <a:latin typeface="Arial"/>
                  </a:rPr>
                  <a:t> even: </a:t>
                </a:r>
                <a:r>
                  <a:rPr lang="en-IN" sz="2400">
                    <a:solidFill>
                      <a:srgbClr val="111827"/>
                    </a:solidFill>
                    <a:latin typeface="Cambria Math" panose="02040503050406030204" pitchFamily="18" charset="0"/>
                  </a:rPr>
                  <a:t>$\sum_{d=1}^{n/2}(n+1-2d)=\frac n2(n+1)-\frac n2\left(\frac n2+1\right)=\frac{n^2}{4}$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odd: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Divide by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odd, as before.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a:t>
                </a:r>
                <a:r>
                  <a:rPr sz="2400" b="0">
                    <a:solidFill>
                      <a:srgbClr val="111827"/>
                    </a:solidFill>
                    <a:latin typeface="Arial"/>
                  </a:rPr>
                  <a:t> odd: </a:t>
                </a:r>
                <a:r>
                  <a:rPr lang="en-IN" sz="2400">
                    <a:solidFill>
                      <a:srgbClr val="111827"/>
                    </a:solidFill>
                    <a:latin typeface="Cambria Math" panose="02040503050406030204" pitchFamily="18" charset="0"/>
                  </a:rPr>
                  <a:t>$\sum_{d=1}^{(n-1)/2}(n+1-2d)=\frac{n-1}{2}(n+1)-\frac{n-1}{2}\cdot\frac{n+1}{2}=\frac{n^2-1}{4}$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Divide by </a:t>
                </a:r>
                <a:r>
                  <a:rPr lang="en-IN" sz="2400">
                    <a:solidFill>
                      <a:srgbClr val="111827"/>
                    </a:solidFill>
                    <a:latin typeface="Cambria Math" panose="02040503050406030204" pitchFamily="18" charset="0"/>
                  </a:rPr>
                  <a:t>$^{n+1}C_3=\frac{(n+1)n(n-1)}{6}$</a:t>
                </a:r>
                <a:r>
                  <a:rPr sz="2400" b="0">
                    <a:solidFill>
                      <a:srgbClr val="111827"/>
                    </a:solidFill>
                    <a:latin typeface="Arial"/>
                  </a:rPr>
                  <a:t>: </a:t>
                </a:r>
                <a:r>
                  <a:rPr lang="en-IN" sz="2400">
                    <a:solidFill>
                      <a:srgbClr val="111827"/>
                    </a:solidFill>
                    <a:latin typeface="Cambria Math" panose="02040503050406030204" pitchFamily="18" charset="0"/>
                  </a:rPr>
                  <a:t>$\frac{3n}{2(n^2-1)}$</a:t>
                </a:r>
                <a:r>
                  <a:rPr sz="2400" b="0">
                    <a:solidFill>
                      <a:srgbClr val="111827"/>
                    </a:solidFill>
                    <a:latin typeface="Arial"/>
                  </a:rPr>
                  <a:t> for </a:t>
                </a:r>
                <a:r>
                  <a:rPr lang="en-IN" sz="2400">
                    <a:solidFill>
                      <a:srgbClr val="111827"/>
                    </a:solidFill>
                    <a:latin typeface="Cambria Math" panose="02040503050406030204" pitchFamily="18" charset="0"/>
                  </a:rPr>
                  <a:t>$n$</a:t>
                </a:r>
                <a:r>
                  <a:rPr sz="2400" b="0">
                    <a:solidFill>
                      <a:srgbClr val="111827"/>
                    </a:solidFill>
                    <a:latin typeface="Arial"/>
                  </a:rPr>
                  <a:t> even and </a:t>
                </a:r>
                <a:r>
                  <a:rPr lang="en-IN" sz="2400">
                    <a:solidFill>
                      <a:srgbClr val="111827"/>
                    </a:solidFill>
                    <a:latin typeface="Cambria Math" panose="02040503050406030204" pitchFamily="18" charset="0"/>
                  </a:rPr>
                  <a:t>$\frac{3}{2n}$</a:t>
                </a:r>
                <a:r>
                  <a:rPr sz="2400" b="0">
                    <a:solidFill>
                      <a:srgbClr val="111827"/>
                    </a:solidFill>
                    <a:latin typeface="Arial"/>
                  </a:rPr>
                  <a:t> for </a:t>
                </a:r>
                <a:r>
                  <a:rPr lang="en-IN" sz="2400">
                    <a:solidFill>
                      <a:srgbClr val="111827"/>
                    </a:solidFill>
                    <a:latin typeface="Cambria Math" panose="02040503050406030204" pitchFamily="18" charset="0"/>
                  </a:rPr>
                  <a:t>$n$</a:t>
                </a:r>
                <a:r>
                  <a:rPr sz="2400" b="0">
                    <a:solidFill>
                      <a:srgbClr val="111827"/>
                    </a:solidFill>
                    <a:latin typeface="Arial"/>
                  </a:rPr>
                  <a:t> odd, as before.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C)</a:t>
            </a:r>
            <a:endParaRPr sz="2800">
              <a:solidFill>
                <a:srgbClr val="15803D"/>
              </a:solidFill>
            </a:endParaRP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set of the form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triple is in G.P. iff its exponents are in A.P.; the number of increasing 3-term A.P.s inside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Equivalently: same-parity pairs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since the middle term is the average.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odd) (checked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 by enumeration).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general A.P. count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same pairing argument gives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set of the form </a:t>
                </a:r>
                <a:r>
                  <a:rPr lang="en-IN" sz="2400">
                    <a:solidFill>
                      <a:srgbClr val="111827"/>
                    </a:solidFill>
                    <a:latin typeface="Cambria Math" panose="02040503050406030204" pitchFamily="18" charset="0"/>
                  </a:rPr>
                  <a:t>$\{r^0,r^1,\ldots,r^n\}$</a:t>
                </a:r>
                <a:r>
                  <a:rPr sz="2400" b="0">
                    <a:solidFill>
                      <a:srgbClr val="111827"/>
                    </a:solidFill>
                    <a:latin typeface="Arial"/>
                  </a:rPr>
                  <a:t> a triple is in G.P. iff its exponents are in A.P.; the number of increasing 3-term A.P.s inside </a:t>
                </a:r>
                <a:r>
                  <a:rPr lang="en-IN" sz="2400">
                    <a:solidFill>
                      <a:srgbClr val="111827"/>
                    </a:solidFill>
                    <a:latin typeface="Cambria Math" panose="02040503050406030204" pitchFamily="18" charset="0"/>
                  </a:rPr>
                  <a:t>$\{0,\ldots,n\}$</a:t>
                </a:r>
                <a:r>
                  <a:rPr sz="2400" b="0">
                    <a:solidFill>
                      <a:srgbClr val="111827"/>
                    </a:solidFill>
                    <a:latin typeface="Arial"/>
                  </a:rPr>
                  <a:t> is </a:t>
                </a:r>
                <a:r>
                  <a:rPr lang="en-IN" sz="2400">
                    <a:solidFill>
                      <a:srgbClr val="111827"/>
                    </a:solidFill>
                    <a:latin typeface="Cambria Math" panose="02040503050406030204" pitchFamily="18" charset="0"/>
                  </a:rPr>
                  <a:t>$\lfloor n^2/4\rfloor$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Equivalently: same-parity pairs </a:t>
                </a:r>
                <a:r>
                  <a:rPr lang="en-IN" sz="2400">
                    <a:solidFill>
                      <a:srgbClr val="111827"/>
                    </a:solidFill>
                    <a:latin typeface="Cambria Math" panose="02040503050406030204" pitchFamily="18" charset="0"/>
                  </a:rPr>
                  <a:t>$\binom{\lceil (n+1)/2\rceil}{2}+\binom{\lfloor (n+1)/2\rfloor}{2}$</a:t>
                </a:r>
                <a:r>
                  <a:rPr sz="2400" b="0">
                    <a:solidFill>
                      <a:srgbClr val="111827"/>
                    </a:solidFill>
                    <a:latin typeface="Arial"/>
                  </a:rPr>
                  <a:t>, since the middle term is the average.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$=\frac{3n}{2(n^2-1)}$</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even), </a:t>
                </a:r>
                <a:r>
                  <a:rPr lang="en-IN" sz="2400">
                    <a:solidFill>
                      <a:srgbClr val="111827"/>
                    </a:solidFill>
                    <a:latin typeface="Cambria Math" panose="02040503050406030204" pitchFamily="18" charset="0"/>
                  </a:rPr>
                  <a:t>$\frac{3}{2n}$</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odd) (checked for </a:t>
                </a:r>
                <a:r>
                  <a:rPr lang="en-IN" sz="2400">
                    <a:solidFill>
                      <a:srgbClr val="111827"/>
                    </a:solidFill>
                    <a:latin typeface="Cambria Math" panose="02040503050406030204" pitchFamily="18" charset="0"/>
                  </a:rPr>
                  <a:t>$n=2,\ldots,13$</a:t>
                </a:r>
                <a:r>
                  <a:rPr sz="2400" b="0">
                    <a:solidFill>
                      <a:srgbClr val="111827"/>
                    </a:solidFill>
                    <a:latin typeface="Arial"/>
                  </a:rPr>
                  <a:t> by enumeration).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general A.P. count in </a:t>
                </a:r>
                <a:r>
                  <a:rPr lang="en-IN" sz="2400">
                    <a:solidFill>
                      <a:srgbClr val="111827"/>
                    </a:solidFill>
                    <a:latin typeface="Cambria Math" panose="02040503050406030204" pitchFamily="18" charset="0"/>
                  </a:rPr>
                  <a:t>$\{1,\ldots,N\}$</a:t>
                </a:r>
                <a:r>
                  <a:rPr sz="2400" b="0">
                    <a:solidFill>
                      <a:srgbClr val="111827"/>
                    </a:solidFill>
                    <a:latin typeface="Arial"/>
                  </a:rPr>
                  <a:t> the same pairing argument gives </a:t>
                </a:r>
                <a:r>
                  <a:rPr lang="en-IN" sz="2400">
                    <a:solidFill>
                      <a:srgbClr val="111827"/>
                    </a:solidFill>
                    <a:latin typeface="Cambria Math" panose="02040503050406030204" pitchFamily="18" charset="0"/>
                  </a:rPr>
                  <a:t>$\lfloor (N-1)^2/4\rfloor$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71271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system of equations </a:t>
                </a:r>
                <a14:m>
                  <m:oMath xmlns:m="http://schemas.openxmlformats.org/officeDocument/2006/math">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Statement I: The probability that the system of equations has two solutions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64</m:t>
                        </m:r>
                      </m:den>
                    </m:f>
                  </m:oMath>
                </a14:m>
                <a:r>
                  <a:rPr sz="2400" b="0">
                    <a:solidFill>
                      <a:srgbClr val="111827"/>
                    </a:solidFill>
                    <a:latin typeface="Arial"/>
                  </a:rPr>
                  <a:t>. Statement II: It is given that the system of equations has exactly one solution, then the probability that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55</m:t>
                        </m:r>
                      </m:den>
                    </m:f>
                  </m:oMath>
                </a14:m>
                <a:r>
                  <a:rPr sz="2400" b="0">
                    <a:solidFill>
                      <a:srgbClr val="111827"/>
                    </a:solidFill>
                    <a:latin typeface="Arial"/>
                  </a:rPr>
                  <a:t>. Then the correct option(s) is/are: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Statement I is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Statement II is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Statement I is false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Statement II is false</a:t>
                </a:r>
                <a:endParaRPr sz="2400">
                  <a:solidFill>
                    <a:srgbClr val="111827"/>
                  </a:solidFill>
                </a:endParaRPr>
              </a:p>
            </p:txBody>
          </p:sp>
        </mc:Choice>
        <mc:Fallback>
          <p:sp>
            <p:nvSpPr>
              <p:cNvPr id="4" name="Rounded Rectangle 3"/>
              <p:cNvSpPr/>
              <p:nvPr/>
            </p:nvSpPr>
            <p:spPr>
              <a:xfrm>
                <a:off x="731520" y="1280160"/>
                <a:ext cx="10725912" cy="471271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system of equations </a:t>
                </a:r>
                <a:r>
                  <a:rPr lang="en-IN" sz="2400">
                    <a:solidFill>
                      <a:srgbClr val="111827"/>
                    </a:solidFill>
                    <a:latin typeface="Cambria Math" panose="02040503050406030204" pitchFamily="18" charset="0"/>
                  </a:rPr>
                  <a:t>$px^2+qx=0$</a:t>
                </a:r>
                <a:r>
                  <a:rPr sz="2400" b="0">
                    <a:solidFill>
                      <a:srgbClr val="111827"/>
                    </a:solidFill>
                    <a:latin typeface="Arial"/>
                  </a:rPr>
                  <a:t>, </a:t>
                </a:r>
                <a:r>
                  <a:rPr lang="en-IN" sz="2400">
                    <a:solidFill>
                      <a:srgbClr val="111827"/>
                    </a:solidFill>
                    <a:latin typeface="Cambria Math" panose="02040503050406030204" pitchFamily="18" charset="0"/>
                  </a:rPr>
                  <a:t>$rx^2+sx=0$</a:t>
                </a:r>
                <a:r>
                  <a:rPr sz="2400" b="0">
                    <a:solidFill>
                      <a:srgbClr val="111827"/>
                    </a:solidFill>
                    <a:latin typeface="Arial"/>
                  </a:rPr>
                  <a:t>, where </a:t>
                </a:r>
                <a:r>
                  <a:rPr lang="en-IN" sz="2400">
                    <a:solidFill>
                      <a:srgbClr val="111827"/>
                    </a:solidFill>
                    <a:latin typeface="Cambria Math" panose="02040503050406030204" pitchFamily="18" charset="0"/>
                  </a:rPr>
                  <a:t>$p,q,r,s\in\{2,3,4,6\}$</a:t>
                </a:r>
                <a:r>
                  <a:rPr sz="2400" b="0">
                    <a:solidFill>
                      <a:srgbClr val="111827"/>
                    </a:solidFill>
                    <a:latin typeface="Arial"/>
                  </a:rPr>
                  <a:t>. Statement I: The probability that the system of equations has two solutions is </a:t>
                </a:r>
                <a:r>
                  <a:rPr lang="en-IN" sz="2400">
                    <a:solidFill>
                      <a:srgbClr val="111827"/>
                    </a:solidFill>
                    <a:latin typeface="Cambria Math" panose="02040503050406030204" pitchFamily="18" charset="0"/>
                  </a:rPr>
                  <a:t>$\frac{9}{64}$</a:t>
                </a:r>
                <a:r>
                  <a:rPr sz="2400" b="0">
                    <a:solidFill>
                      <a:srgbClr val="111827"/>
                    </a:solidFill>
                    <a:latin typeface="Arial"/>
                  </a:rPr>
                  <a:t>. Statement II: It is given that the system of equations has exactly one solution, then the probability that </a:t>
                </a:r>
                <a:r>
                  <a:rPr lang="en-IN" sz="2400">
                    <a:solidFill>
                      <a:srgbClr val="111827"/>
                    </a:solidFill>
                    <a:latin typeface="Cambria Math" panose="02040503050406030204" pitchFamily="18" charset="0"/>
                  </a:rPr>
                  <a:t>$p=r$</a:t>
                </a:r>
                <a:r>
                  <a:rPr sz="2400" b="0">
                    <a:solidFill>
                      <a:srgbClr val="111827"/>
                    </a:solidFill>
                    <a:latin typeface="Arial"/>
                  </a:rPr>
                  <a:t> is </a:t>
                </a:r>
                <a:r>
                  <a:rPr lang="en-IN" sz="2400">
                    <a:solidFill>
                      <a:srgbClr val="111827"/>
                    </a:solidFill>
                    <a:latin typeface="Cambria Math" panose="02040503050406030204" pitchFamily="18" charset="0"/>
                  </a:rPr>
                  <a:t>$\frac{12}{55}$</a:t>
                </a:r>
                <a:r>
                  <a:rPr sz="2400" b="0">
                    <a:solidFill>
                      <a:srgbClr val="111827"/>
                    </a:solidFill>
                    <a:latin typeface="Arial"/>
                  </a:rPr>
                  <a:t>. Then the correct option(s) is/are: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Statement I is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Statement II is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Statement I is false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Statement II is false</a:t>
                </a:r>
                <a:endParaRPr sz="2400">
                  <a:solidFill>
                    <a:srgbClr val="111827"/>
                  </a:solidFill>
                </a:endParaRPr>
              </a:p>
            </p:txBody>
          </p:sp>
        </mc:Fallback>
      </mc:AlternateContent>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Quadratic equations: roots of </a:t>
                </a:r>
                <a14:m>
                  <m:oMath xmlns:m="http://schemas.openxmlformats.org/officeDocument/2006/math">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Probability: counting favourable ordered quadruples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Choice>
        <mc:Fallback>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Quadratic equations: roots of </a:t>
                </a:r>
                <a:r>
                  <a:rPr lang="en-IN" sz="2400">
                    <a:solidFill>
                      <a:srgbClr val="111827"/>
                    </a:solidFill>
                    <a:latin typeface="Cambria Math" panose="02040503050406030204" pitchFamily="18" charset="0"/>
                  </a:rPr>
                  <a:t>$ax^2+bx=0$</a:t>
                </a:r>
                <a:r>
                  <a:rPr sz="2400" b="0">
                    <a:solidFill>
                      <a:srgbClr val="111827"/>
                    </a:solidFill>
                    <a:latin typeface="Arial"/>
                  </a:rPr>
                  <a:t>, Probability: counting favourable ordered quadruples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3438144"/>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Both equations have the root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 the other roots are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𝑞</m:t>
                        </m:r>
                      </m:num>
                      <m:den>
                        <m:r>
                          <a:rPr lang="en-IN" sz="2400" i="1">
                            <a:solidFill>
                              <a:srgbClr val="78350F"/>
                            </a:solidFill>
                            <a:latin typeface="Cambria Math" panose="02040503050406030204" pitchFamily="18" charset="0"/>
                          </a:rPr>
                          <m:t>𝑝</m:t>
                        </m:r>
                      </m:den>
                    </m:f>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𝑠</m:t>
                        </m:r>
                      </m:num>
                      <m:den>
                        <m:r>
                          <a:rPr lang="en-IN" sz="2400" i="1">
                            <a:solidFill>
                              <a:srgbClr val="78350F"/>
                            </a:solidFill>
                            <a:latin typeface="Cambria Math" panose="02040503050406030204" pitchFamily="18" charset="0"/>
                          </a:rPr>
                          <m:t>𝑟</m:t>
                        </m:r>
                      </m:den>
                    </m:f>
                  </m:oMath>
                </a14:m>
                <a:r>
                  <a:rPr sz="2400" b="0">
                    <a:solidFill>
                      <a:srgbClr val="78350F"/>
                    </a:solidFill>
                    <a:latin typeface="Arial"/>
                  </a:rPr>
                  <a:t>, so there are exactly two solutions iff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𝑝</m:t>
                        </m:r>
                      </m:num>
                      <m:den>
                        <m:r>
                          <a:rPr lang="en-IN" sz="2400" i="1">
                            <a:solidFill>
                              <a:srgbClr val="78350F"/>
                            </a:solidFill>
                            <a:latin typeface="Cambria Math" panose="02040503050406030204" pitchFamily="18" charset="0"/>
                          </a:rPr>
                          <m:t>𝑟</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𝑞</m:t>
                        </m:r>
                      </m:num>
                      <m:den>
                        <m:r>
                          <a:rPr lang="en-IN" sz="2400" i="1">
                            <a:solidFill>
                              <a:srgbClr val="78350F"/>
                            </a:solidFill>
                            <a:latin typeface="Cambria Math" panose="02040503050406030204" pitchFamily="18" charset="0"/>
                          </a:rPr>
                          <m:t>𝑠</m:t>
                        </m:r>
                      </m:den>
                    </m:f>
                  </m:oMath>
                </a14:m>
                <a:r>
                  <a:rPr sz="2400" b="0">
                    <a:solidFill>
                      <a:srgbClr val="78350F"/>
                    </a:solidFill>
                    <a:latin typeface="Arial"/>
                  </a:rPr>
                  <a:t> and three otherwise.</a:t>
                </a:r>
                <a:endParaRPr sz="2400">
                  <a:solidFill>
                    <a:srgbClr val="78350F"/>
                  </a:solidFill>
                </a:endParaRPr>
              </a:p>
            </p:txBody>
          </p:sp>
        </mc:Choice>
        <mc:Fallback>
          <p:sp>
            <p:nvSpPr>
              <p:cNvPr id="5" name="Rounded Rectangle 4"/>
              <p:cNvSpPr/>
              <p:nvPr/>
            </p:nvSpPr>
            <p:spPr>
              <a:xfrm>
                <a:off x="731520" y="3438144"/>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Both equations have the root </a:t>
                </a:r>
                <a:r>
                  <a:rPr lang="en-IN" sz="2400">
                    <a:solidFill>
                      <a:srgbClr val="78350F"/>
                    </a:solidFill>
                    <a:latin typeface="Cambria Math" panose="02040503050406030204" pitchFamily="18" charset="0"/>
                  </a:rPr>
                  <a:t>$0$</a:t>
                </a:r>
                <a:r>
                  <a:rPr sz="2400" b="0">
                    <a:solidFill>
                      <a:srgbClr val="78350F"/>
                    </a:solidFill>
                    <a:latin typeface="Arial"/>
                  </a:rPr>
                  <a:t>; the other roots are </a:t>
                </a:r>
                <a:r>
                  <a:rPr lang="en-IN" sz="2400">
                    <a:solidFill>
                      <a:srgbClr val="78350F"/>
                    </a:solidFill>
                    <a:latin typeface="Cambria Math" panose="02040503050406030204" pitchFamily="18" charset="0"/>
                  </a:rPr>
                  <a:t>$-\frac qp$</a:t>
                </a:r>
                <a:r>
                  <a:rPr sz="2400" b="0">
                    <a:solidFill>
                      <a:srgbClr val="78350F"/>
                    </a:solidFill>
                    <a:latin typeface="Arial"/>
                  </a:rPr>
                  <a:t> and </a:t>
                </a:r>
                <a:r>
                  <a:rPr lang="en-IN" sz="2400">
                    <a:solidFill>
                      <a:srgbClr val="78350F"/>
                    </a:solidFill>
                    <a:latin typeface="Cambria Math" panose="02040503050406030204" pitchFamily="18" charset="0"/>
                  </a:rPr>
                  <a:t>$-\frac sr$</a:t>
                </a:r>
                <a:r>
                  <a:rPr sz="2400" b="0">
                    <a:solidFill>
                      <a:srgbClr val="78350F"/>
                    </a:solidFill>
                    <a:latin typeface="Arial"/>
                  </a:rPr>
                  <a:t>, so there are exactly two solutions iff </a:t>
                </a:r>
                <a:r>
                  <a:rPr lang="en-IN" sz="2400">
                    <a:solidFill>
                      <a:srgbClr val="78350F"/>
                    </a:solidFill>
                    <a:latin typeface="Cambria Math" panose="02040503050406030204" pitchFamily="18" charset="0"/>
                  </a:rPr>
                  <a:t>$\frac pr=\frac qs$</a:t>
                </a:r>
                <a:r>
                  <a:rPr sz="2400" b="0">
                    <a:solidFill>
                      <a:srgbClr val="78350F"/>
                    </a:solidFill>
                    <a:latin typeface="Arial"/>
                  </a:rPr>
                  <a:t> and three otherwise.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have the common root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further roots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𝑝</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(both non-zero).</a:t>
                </a:r>
                <a:endParaRPr sz="2400">
                  <a:solidFill>
                    <a:srgbClr val="111827"/>
                  </a:solidFill>
                </a:endParaRPr>
              </a:p>
            </p:txBody>
          </p:sp>
        </mc:Choice>
        <mc:Fallback>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$x(px+q)=0$</a:t>
                </a:r>
                <a:r>
                  <a:rPr sz="2400" b="0">
                    <a:solidFill>
                      <a:srgbClr val="111827"/>
                    </a:solidFill>
                    <a:latin typeface="Arial"/>
                  </a:rPr>
                  <a:t> and </a:t>
                </a:r>
                <a:r>
                  <a:rPr lang="en-IN" sz="2400">
                    <a:solidFill>
                      <a:srgbClr val="111827"/>
                    </a:solidFill>
                    <a:latin typeface="Cambria Math" panose="02040503050406030204" pitchFamily="18" charset="0"/>
                  </a:rPr>
                  <a:t>$x(rx+s)=0$</a:t>
                </a:r>
                <a:r>
                  <a:rPr sz="2400" b="0">
                    <a:solidFill>
                      <a:srgbClr val="111827"/>
                    </a:solidFill>
                    <a:latin typeface="Arial"/>
                  </a:rPr>
                  <a:t> have the common root </a:t>
                </a:r>
                <a:r>
                  <a:rPr lang="en-IN" sz="2400">
                    <a:solidFill>
                      <a:srgbClr val="111827"/>
                    </a:solidFill>
                    <a:latin typeface="Cambria Math" panose="02040503050406030204" pitchFamily="18" charset="0"/>
                  </a:rPr>
                  <a:t>$0$</a:t>
                </a:r>
                <a:r>
                  <a:rPr sz="2400" b="0">
                    <a:solidFill>
                      <a:srgbClr val="111827"/>
                    </a:solidFill>
                    <a:latin typeface="Arial"/>
                  </a:rPr>
                  <a:t> and further roots </a:t>
                </a:r>
                <a:r>
                  <a:rPr lang="en-IN" sz="2400">
                    <a:solidFill>
                      <a:srgbClr val="111827"/>
                    </a:solidFill>
                    <a:latin typeface="Cambria Math" panose="02040503050406030204" pitchFamily="18" charset="0"/>
                  </a:rPr>
                  <a:t>$-\frac qp$</a:t>
                </a:r>
                <a:r>
                  <a:rPr sz="2400" b="0">
                    <a:solidFill>
                      <a:srgbClr val="111827"/>
                    </a:solidFill>
                    <a:latin typeface="Arial"/>
                  </a:rPr>
                  <a:t>, </a:t>
                </a:r>
                <a:r>
                  <a:rPr lang="en-IN" sz="2400">
                    <a:solidFill>
                      <a:srgbClr val="111827"/>
                    </a:solidFill>
                    <a:latin typeface="Cambria Math" panose="02040503050406030204" pitchFamily="18" charset="0"/>
                  </a:rPr>
                  <a:t>$-\frac sr$</a:t>
                </a:r>
                <a:r>
                  <a:rPr sz="2400" b="0">
                    <a:solidFill>
                      <a:srgbClr val="111827"/>
                    </a:solidFill>
                    <a:latin typeface="Arial"/>
                  </a:rPr>
                  <a:t> (both non-zero).</a:t>
                </a:r>
                <a:endParaRPr sz="2400">
                  <a:solidFill>
                    <a:srgbClr val="111827"/>
                  </a:solidFill>
                </a:endParaRPr>
              </a:p>
            </p:txBody>
          </p:sp>
        </mc:Fallback>
      </mc:AlternateContent>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system has two solutions exactly when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𝑝</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𝑠</m:t>
                        </m:r>
                      </m:den>
                    </m:f>
                  </m:oMath>
                </a14:m>
                <a:r>
                  <a:rPr sz="2400" b="0">
                    <a:solidFill>
                      <a:srgbClr val="111827"/>
                    </a:solidFill>
                    <a:latin typeface="Arial"/>
                  </a:rPr>
                  <a:t>; otherwise it has three. The total number of ordered quadruples is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Statement I: count quadruples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𝑠</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𝑠</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quadruples.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quadruples.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quadruples.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quadruples.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quadruples.</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system has two solutions exactly when </a:t>
                </a:r>
                <a:r>
                  <a:rPr lang="en-IN" sz="2400">
                    <a:solidFill>
                      <a:srgbClr val="111827"/>
                    </a:solidFill>
                    <a:latin typeface="Cambria Math" panose="02040503050406030204" pitchFamily="18" charset="0"/>
                  </a:rPr>
                  <a:t>$-\frac qp=-\frac sr$</a:t>
                </a:r>
                <a:r>
                  <a:rPr sz="2400" b="0">
                    <a:solidFill>
                      <a:srgbClr val="111827"/>
                    </a:solidFill>
                    <a:latin typeface="Arial"/>
                  </a:rPr>
                  <a:t>, i.e. </a:t>
                </a:r>
                <a:r>
                  <a:rPr lang="en-IN" sz="2400">
                    <a:solidFill>
                      <a:srgbClr val="111827"/>
                    </a:solidFill>
                    <a:latin typeface="Cambria Math" panose="02040503050406030204" pitchFamily="18" charset="0"/>
                  </a:rPr>
                  <a:t>$\frac pr=\frac qs$</a:t>
                </a:r>
                <a:r>
                  <a:rPr sz="2400" b="0">
                    <a:solidFill>
                      <a:srgbClr val="111827"/>
                    </a:solidFill>
                    <a:latin typeface="Arial"/>
                  </a:rPr>
                  <a:t>; otherwise it has three. The total number of ordered quadruples is </a:t>
                </a:r>
                <a:r>
                  <a:rPr lang="en-IN" sz="2400">
                    <a:solidFill>
                      <a:srgbClr val="111827"/>
                    </a:solidFill>
                    <a:latin typeface="Cambria Math" panose="02040503050406030204" pitchFamily="18" charset="0"/>
                  </a:rPr>
                  <a:t>$4^4=256$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Statement I: count quadruples with </a:t>
                </a:r>
                <a:r>
                  <a:rPr lang="en-IN" sz="2400">
                    <a:solidFill>
                      <a:srgbClr val="111827"/>
                    </a:solidFill>
                    <a:latin typeface="Cambria Math" panose="02040503050406030204" pitchFamily="18" charset="0"/>
                  </a:rPr>
                  <a:t>$\frac pr=\frac qs$</a:t>
                </a:r>
                <a:r>
                  <a:rPr sz="2400" b="0">
                    <a:solidFill>
                      <a:srgbClr val="111827"/>
                    </a:solidFill>
                    <a:latin typeface="Arial"/>
                  </a:rPr>
                  <a:t>. </a:t>
                </a:r>
                <a:r>
                  <a:rPr lang="en-IN" sz="2400">
                    <a:solidFill>
                      <a:srgbClr val="111827"/>
                    </a:solidFill>
                    <a:latin typeface="Cambria Math" panose="02040503050406030204" pitchFamily="18" charset="0"/>
                  </a:rPr>
                  <a:t>$\frac pr=1=\frac qs$</a:t>
                </a:r>
                <a:r>
                  <a:rPr sz="2400" b="0">
                    <a:solidFill>
                      <a:srgbClr val="111827"/>
                    </a:solidFill>
                    <a:latin typeface="Arial"/>
                  </a:rPr>
                  <a:t>: </a:t>
                </a:r>
                <a:r>
                  <a:rPr lang="en-IN" sz="2400">
                    <a:solidFill>
                      <a:srgbClr val="111827"/>
                    </a:solidFill>
                    <a:latin typeface="Cambria Math" panose="02040503050406030204" pitchFamily="18" charset="0"/>
                  </a:rPr>
                  <a:t>$4\times4=16$</a:t>
                </a:r>
                <a:r>
                  <a:rPr sz="2400" b="0">
                    <a:solidFill>
                      <a:srgbClr val="111827"/>
                    </a:solidFill>
                    <a:latin typeface="Arial"/>
                  </a:rPr>
                  <a:t> quadruples.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 pr=\frac23$</a:t>
                </a:r>
                <a:r>
                  <a:rPr sz="2400" b="0">
                    <a:solidFill>
                      <a:srgbClr val="111827"/>
                    </a:solidFill>
                    <a:latin typeface="Arial"/>
                  </a:rPr>
                  <a:t> or </a:t>
                </a:r>
                <a:r>
                  <a:rPr lang="en-IN" sz="2400">
                    <a:solidFill>
                      <a:srgbClr val="111827"/>
                    </a:solidFill>
                    <a:latin typeface="Cambria Math" panose="02040503050406030204" pitchFamily="18" charset="0"/>
                  </a:rPr>
                  <a:t>$\frac32$</a:t>
                </a:r>
                <a:r>
                  <a:rPr sz="2400" b="0">
                    <a:solidFill>
                      <a:srgbClr val="111827"/>
                    </a:solidFill>
                    <a:latin typeface="Arial"/>
                  </a:rPr>
                  <a:t>: </a:t>
                </a:r>
                <a:r>
                  <a:rPr lang="en-IN" sz="2400">
                    <a:solidFill>
                      <a:srgbClr val="111827"/>
                    </a:solidFill>
                    <a:latin typeface="Cambria Math" panose="02040503050406030204" pitchFamily="18" charset="0"/>
                  </a:rPr>
                  <a:t>$8$</a:t>
                </a:r>
                <a:r>
                  <a:rPr sz="2400" b="0">
                    <a:solidFill>
                      <a:srgbClr val="111827"/>
                    </a:solidFill>
                    <a:latin typeface="Arial"/>
                  </a:rPr>
                  <a:t> quadruples.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 pr=\frac12$</a:t>
                </a:r>
                <a:r>
                  <a:rPr sz="2400" b="0">
                    <a:solidFill>
                      <a:srgbClr val="111827"/>
                    </a:solidFill>
                    <a:latin typeface="Arial"/>
                  </a:rPr>
                  <a:t> or </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$8$</a:t>
                </a:r>
                <a:r>
                  <a:rPr sz="2400" b="0">
                    <a:solidFill>
                      <a:srgbClr val="111827"/>
                    </a:solidFill>
                    <a:latin typeface="Arial"/>
                  </a:rPr>
                  <a:t> quadruples.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 pr=\frac13$</a:t>
                </a:r>
                <a:r>
                  <a:rPr sz="2400" b="0">
                    <a:solidFill>
                      <a:srgbClr val="111827"/>
                    </a:solidFill>
                    <a:latin typeface="Arial"/>
                  </a:rPr>
                  <a:t> or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$2$</a:t>
                </a:r>
                <a:r>
                  <a:rPr sz="2400" b="0">
                    <a:solidFill>
                      <a:srgbClr val="111827"/>
                    </a:solidFill>
                    <a:latin typeface="Arial"/>
                  </a:rPr>
                  <a:t> quadruples. </a:t>
                </a:r>
                <a:r>
                  <a:rPr lang="en-IN" sz="2400">
                    <a:solidFill>
                      <a:srgbClr val="111827"/>
                    </a:solidFill>
                    <a:latin typeface="Cambria Math" panose="02040503050406030204" pitchFamily="18" charset="0"/>
                  </a:rPr>
                  <a:t>$\frac pr=\frac34$</a:t>
                </a:r>
                <a:r>
                  <a:rPr sz="2400" b="0">
                    <a:solidFill>
                      <a:srgbClr val="111827"/>
                    </a:solidFill>
                    <a:latin typeface="Arial"/>
                  </a:rPr>
                  <a:t> or </a:t>
                </a:r>
                <a:r>
                  <a:rPr lang="en-IN" sz="2400">
                    <a:solidFill>
                      <a:srgbClr val="111827"/>
                    </a:solidFill>
                    <a:latin typeface="Cambria Math" panose="02040503050406030204" pitchFamily="18" charset="0"/>
                  </a:rPr>
                  <a:t>$\frac43$</a:t>
                </a:r>
                <a:r>
                  <a:rPr sz="2400" b="0">
                    <a:solidFill>
                      <a:srgbClr val="111827"/>
                    </a:solidFill>
                    <a:latin typeface="Arial"/>
                  </a:rPr>
                  <a:t>: </a:t>
                </a:r>
                <a:r>
                  <a:rPr lang="en-IN" sz="2400">
                    <a:solidFill>
                      <a:srgbClr val="111827"/>
                    </a:solidFill>
                    <a:latin typeface="Cambria Math" panose="02040503050406030204" pitchFamily="18" charset="0"/>
                  </a:rPr>
                  <a:t>$2$</a:t>
                </a:r>
                <a:r>
                  <a:rPr sz="2400" b="0">
                    <a:solidFill>
                      <a:srgbClr val="111827"/>
                    </a:solidFill>
                    <a:latin typeface="Arial"/>
                  </a:rPr>
                  <a:t> quadruples.</a:t>
                </a:r>
                <a:endParaRPr sz="2400">
                  <a:solidFill>
                    <a:srgbClr val="111827"/>
                  </a:solidFill>
                </a:endParaRPr>
              </a:p>
            </p:txBody>
          </p:sp>
        </mc:Fallback>
      </mc:AlternateContent>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256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64</m:t>
                        </m:r>
                      </m:den>
                    </m:f>
                  </m:oMath>
                </a14:m>
                <a:r>
                  <a:rPr sz="2400" b="0">
                    <a:solidFill>
                      <a:srgbClr val="111827"/>
                    </a:solidFill>
                    <a:latin typeface="Arial"/>
                  </a:rPr>
                  <a:t>: Statement I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Statement II: the printed 'exactly one solution' is impossible (the system always has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𝑝</m:t>
                        </m:r>
                      </m:den>
                    </m:f>
                  </m:oMath>
                </a14:m>
                <a:r>
                  <a:rPr sz="2400" b="0">
                    <a:solidFill>
                      <a:srgbClr val="111827"/>
                    </a:solidFill>
                    <a:latin typeface="Arial"/>
                  </a:rPr>
                  <a:t>), so the intended condition is 'exactly three solutions'; those quadruples number </a:t>
                </a:r>
                <a14:m>
                  <m:oMath xmlns:m="http://schemas.openxmlformats.org/officeDocument/2006/math">
                    <m:r>
                      <a:rPr lang="en-IN" sz="2400" i="1">
                        <a:solidFill>
                          <a:srgbClr val="111827"/>
                        </a:solidFill>
                        <a:latin typeface="Cambria Math" panose="02040503050406030204" pitchFamily="18" charset="0"/>
                      </a:rPr>
                      <m:t>256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$=\frac{16+8+8+2+2}{4\times4\times4\times4}=\frac{36}{256}=\frac{9}{64}$</a:t>
                </a:r>
                <a:r>
                  <a:rPr sz="2400" b="0">
                    <a:solidFill>
                      <a:srgbClr val="111827"/>
                    </a:solidFill>
                    <a:latin typeface="Arial"/>
                  </a:rPr>
                  <a:t>: Statement I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Statement II: the printed 'exactly one solution' is impossible (the system always has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$-\frac qp$</a:t>
                </a:r>
                <a:r>
                  <a:rPr sz="2400" b="0">
                    <a:solidFill>
                      <a:srgbClr val="111827"/>
                    </a:solidFill>
                    <a:latin typeface="Arial"/>
                  </a:rPr>
                  <a:t>), so the intended condition is 'exactly three solutions'; those quadruples number </a:t>
                </a:r>
                <a:r>
                  <a:rPr lang="en-IN" sz="2400">
                    <a:solidFill>
                      <a:srgbClr val="111827"/>
                    </a:solidFill>
                    <a:latin typeface="Cambria Math" panose="02040503050406030204" pitchFamily="18" charset="0"/>
                  </a:rPr>
                  <a:t>$256-36=220$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Among them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choices of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ordered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48</m:t>
                    </m:r>
                  </m:oMath>
                </a14:m>
                <a:r>
                  <a:rPr sz="2400" b="0">
                    <a:solidFill>
                      <a:srgbClr val="111827"/>
                    </a:solidFill>
                    <a:latin typeface="Arial"/>
                  </a:rPr>
                  <a:t> favourable.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55</m:t>
                        </m:r>
                      </m:den>
                    </m:f>
                  </m:oMath>
                </a14:m>
                <a:r>
                  <a:rPr sz="2400" b="0">
                    <a:solidFill>
                      <a:srgbClr val="111827"/>
                    </a:solidFill>
                    <a:latin typeface="Arial"/>
                  </a:rPr>
                  <a:t>: Statement II is true. Correct options: (A) and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Among them </a:t>
                </a:r>
                <a:r>
                  <a:rPr lang="en-IN" sz="2400">
                    <a:solidFill>
                      <a:srgbClr val="111827"/>
                    </a:solidFill>
                    <a:latin typeface="Cambria Math" panose="02040503050406030204" pitchFamily="18" charset="0"/>
                  </a:rPr>
                  <a:t>$p=r$</a:t>
                </a:r>
                <a:r>
                  <a:rPr sz="2400" b="0">
                    <a:solidFill>
                      <a:srgbClr val="111827"/>
                    </a:solidFill>
                    <a:latin typeface="Arial"/>
                  </a:rPr>
                  <a:t> with </a:t>
                </a:r>
                <a:r>
                  <a:rPr lang="en-IN" sz="2400">
                    <a:solidFill>
                      <a:srgbClr val="111827"/>
                    </a:solidFill>
                    <a:latin typeface="Cambria Math" panose="02040503050406030204" pitchFamily="18" charset="0"/>
                  </a:rPr>
                  <a:t>$q\neq s$</a:t>
                </a:r>
                <a:r>
                  <a:rPr sz="2400" b="0">
                    <a:solidFill>
                      <a:srgbClr val="111827"/>
                    </a:solidFill>
                    <a:latin typeface="Arial"/>
                  </a:rPr>
                  <a:t>: </a:t>
                </a:r>
                <a:r>
                  <a:rPr lang="en-IN" sz="2400">
                    <a:solidFill>
                      <a:srgbClr val="111827"/>
                    </a:solidFill>
                    <a:latin typeface="Cambria Math" panose="02040503050406030204" pitchFamily="18" charset="0"/>
                  </a:rPr>
                  <a:t>$4$</a:t>
                </a:r>
                <a:r>
                  <a:rPr sz="2400" b="0">
                    <a:solidFill>
                      <a:srgbClr val="111827"/>
                    </a:solidFill>
                    <a:latin typeface="Arial"/>
                  </a:rPr>
                  <a:t> choices of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$4\times3=12$</a:t>
                </a:r>
                <a:r>
                  <a:rPr sz="2400" b="0">
                    <a:solidFill>
                      <a:srgbClr val="111827"/>
                    </a:solidFill>
                    <a:latin typeface="Arial"/>
                  </a:rPr>
                  <a:t> ordered </a:t>
                </a:r>
                <a:r>
                  <a:rPr lang="en-IN" sz="2400">
                    <a:solidFill>
                      <a:srgbClr val="111827"/>
                    </a:solidFill>
                    <a:latin typeface="Cambria Math" panose="02040503050406030204" pitchFamily="18" charset="0"/>
                  </a:rPr>
                  <a:t>$(q,s)$</a:t>
                </a:r>
                <a:r>
                  <a:rPr sz="2400" b="0">
                    <a:solidFill>
                      <a:srgbClr val="111827"/>
                    </a:solidFill>
                    <a:latin typeface="Arial"/>
                  </a:rPr>
                  <a:t>, so </a:t>
                </a:r>
                <a:r>
                  <a:rPr lang="en-IN" sz="2400">
                    <a:solidFill>
                      <a:srgbClr val="111827"/>
                    </a:solidFill>
                    <a:latin typeface="Cambria Math" panose="02040503050406030204" pitchFamily="18" charset="0"/>
                  </a:rPr>
                  <a:t>$12\times4=48$</a:t>
                </a:r>
                <a:r>
                  <a:rPr sz="2400" b="0">
                    <a:solidFill>
                      <a:srgbClr val="111827"/>
                    </a:solidFill>
                    <a:latin typeface="Arial"/>
                  </a:rPr>
                  <a:t> favourable.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$=\frac{12\times4}{220}=\frac{12}{55}$</a:t>
                </a:r>
                <a:r>
                  <a:rPr sz="2400" b="0">
                    <a:solidFill>
                      <a:srgbClr val="111827"/>
                    </a:solidFill>
                    <a:latin typeface="Arial"/>
                  </a:rPr>
                  <a:t>: Statement II is true. Correct options: (A) and (B).</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a:t>
            </a:r>
            <a:endParaRPr sz="2800">
              <a:solidFill>
                <a:srgbClr val="15803D"/>
              </a:solidFill>
            </a:endParaRP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𝑝</m:t>
                        </m:r>
                      </m:num>
                      <m:den>
                        <m:r>
                          <a:rPr lang="en-IN" sz="2400" i="1">
                            <a:solidFill>
                              <a:srgbClr val="78350F"/>
                            </a:solidFill>
                            <a:latin typeface="Cambria Math" panose="02040503050406030204" pitchFamily="18" charset="0"/>
                          </a:rPr>
                          <m:t>𝑟</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𝑞</m:t>
                        </m:r>
                      </m:num>
                      <m:den>
                        <m:r>
                          <a:rPr lang="en-IN" sz="2400" i="1">
                            <a:solidFill>
                              <a:srgbClr val="78350F"/>
                            </a:solidFill>
                            <a:latin typeface="Cambria Math" panose="02040503050406030204" pitchFamily="18" charset="0"/>
                          </a:rPr>
                          <m:t>𝑠</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𝑝</m:t>
                    </m:r>
                    <m:r>
                      <a:rPr lang="en-IN" sz="2400" i="1">
                        <a:solidFill>
                          <a:srgbClr val="78350F"/>
                        </a:solidFill>
                        <a:latin typeface="Cambria Math" panose="02040503050406030204" pitchFamily="18" charset="0"/>
                      </a:rPr>
                      <m:t>𝑠</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𝑞</m:t>
                    </m:r>
                    <m:r>
                      <a:rPr lang="en-IN" sz="2400" i="1">
                        <a:solidFill>
                          <a:srgbClr val="78350F"/>
                        </a:solidFill>
                        <a:latin typeface="Cambria Math" panose="02040503050406030204" pitchFamily="18" charset="0"/>
                      </a:rPr>
                      <m:t>𝑟</m:t>
                    </m:r>
                  </m:oMath>
                </a14:m>
                <a:r>
                  <a:rPr sz="2400" b="0">
                    <a:solidFill>
                      <a:srgbClr val="78350F"/>
                    </a:solidFill>
                    <a:latin typeface="Arial"/>
                  </a:rPr>
                  <a:t>: count quadruples by the multiplicity of each product.</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lang="en-IN" sz="2400">
                    <a:solidFill>
                      <a:srgbClr val="78350F"/>
                    </a:solidFill>
                    <a:latin typeface="Cambria Math" panose="02040503050406030204" pitchFamily="18" charset="0"/>
                  </a:rPr>
                  <a:t>$\frac pr=\frac qs\iff ps=qr$</a:t>
                </a:r>
                <a:r>
                  <a:rPr sz="2400" b="0">
                    <a:solidFill>
                      <a:srgbClr val="78350F"/>
                    </a:solidFill>
                    <a:latin typeface="Arial"/>
                  </a:rPr>
                  <a:t>: count quadruples by the multiplicity of each product.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𝑠</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𝑟</m:t>
                    </m:r>
                  </m:oMath>
                </a14:m>
                <a:r>
                  <a:rPr sz="2400" b="0">
                    <a:solidFill>
                      <a:srgbClr val="111827"/>
                    </a:solidFill>
                    <a:latin typeface="Arial"/>
                  </a:rPr>
                  <a:t>, so count ordered pairs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the same product.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Products of two elements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(16 ordered pairs):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(1 pair),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(2),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(2),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(1),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(4), </a:t>
                </a:r>
                <a14:m>
                  <m:oMath xmlns:m="http://schemas.openxmlformats.org/officeDocument/2006/math">
                    <m:r>
                      <a:rPr lang="en-IN" sz="2400" i="1">
                        <a:solidFill>
                          <a:srgbClr val="111827"/>
                        </a:solidFill>
                        <a:latin typeface="Cambria Math" panose="02040503050406030204" pitchFamily="18" charset="0"/>
                      </a:rPr>
                      <m:t>16</m:t>
                    </m:r>
                  </m:oMath>
                </a14:m>
                <a:r>
                  <a:rPr sz="2400" b="0">
                    <a:solidFill>
                      <a:srgbClr val="111827"/>
                    </a:solidFill>
                    <a:latin typeface="Arial"/>
                  </a:rPr>
                  <a:t> (1), </a:t>
                </a:r>
                <a14:m>
                  <m:oMath xmlns:m="http://schemas.openxmlformats.org/officeDocument/2006/math">
                    <m:r>
                      <a:rPr lang="en-IN" sz="2400" i="1">
                        <a:solidFill>
                          <a:srgbClr val="111827"/>
                        </a:solidFill>
                        <a:latin typeface="Cambria Math" panose="02040503050406030204" pitchFamily="18" charset="0"/>
                      </a:rPr>
                      <m:t>18</m:t>
                    </m:r>
                  </m:oMath>
                </a14:m>
                <a:r>
                  <a:rPr sz="2400" b="0">
                    <a:solidFill>
                      <a:srgbClr val="111827"/>
                    </a:solidFill>
                    <a:latin typeface="Arial"/>
                  </a:rPr>
                  <a:t> (2), </a:t>
                </a:r>
                <a14:m>
                  <m:oMath xmlns:m="http://schemas.openxmlformats.org/officeDocument/2006/math">
                    <m:r>
                      <a:rPr lang="en-IN" sz="2400" i="1">
                        <a:solidFill>
                          <a:srgbClr val="111827"/>
                        </a:solidFill>
                        <a:latin typeface="Cambria Math" panose="02040503050406030204" pitchFamily="18" charset="0"/>
                      </a:rPr>
                      <m:t>24</m:t>
                    </m:r>
                  </m:oMath>
                </a14:m>
                <a:r>
                  <a:rPr sz="2400" b="0">
                    <a:solidFill>
                      <a:srgbClr val="111827"/>
                    </a:solidFill>
                    <a:latin typeface="Arial"/>
                  </a:rPr>
                  <a:t> (2),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quadruple needs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the same product class, so the count is the sum of squares of multiplicities: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 pr=\frac qs\iff ps=qr$</a:t>
                </a:r>
                <a:r>
                  <a:rPr sz="2400" b="0">
                    <a:solidFill>
                      <a:srgbClr val="111827"/>
                    </a:solidFill>
                    <a:latin typeface="Arial"/>
                  </a:rPr>
                  <a:t>, so count ordered pairs </a:t>
                </a:r>
                <a:r>
                  <a:rPr lang="en-IN" sz="2400">
                    <a:solidFill>
                      <a:srgbClr val="111827"/>
                    </a:solidFill>
                    <a:latin typeface="Cambria Math" panose="02040503050406030204" pitchFamily="18" charset="0"/>
                  </a:rPr>
                  <a:t>$(p,s)$</a:t>
                </a:r>
                <a:r>
                  <a:rPr sz="2400" b="0">
                    <a:solidFill>
                      <a:srgbClr val="111827"/>
                    </a:solidFill>
                    <a:latin typeface="Arial"/>
                  </a:rPr>
                  <a:t> and </a:t>
                </a:r>
                <a:r>
                  <a:rPr lang="en-IN" sz="2400">
                    <a:solidFill>
                      <a:srgbClr val="111827"/>
                    </a:solidFill>
                    <a:latin typeface="Cambria Math" panose="02040503050406030204" pitchFamily="18" charset="0"/>
                  </a:rPr>
                  <a:t>$(q,r)$</a:t>
                </a:r>
                <a:r>
                  <a:rPr sz="2400" b="0">
                    <a:solidFill>
                      <a:srgbClr val="111827"/>
                    </a:solidFill>
                    <a:latin typeface="Arial"/>
                  </a:rPr>
                  <a:t> with the same product.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Products of two elements of </a:t>
                </a:r>
                <a:r>
                  <a:rPr lang="en-IN" sz="2400">
                    <a:solidFill>
                      <a:srgbClr val="111827"/>
                    </a:solidFill>
                    <a:latin typeface="Cambria Math" panose="02040503050406030204" pitchFamily="18" charset="0"/>
                  </a:rPr>
                  <a:t>$\{2,3,4,6\}$</a:t>
                </a:r>
                <a:r>
                  <a:rPr sz="2400" b="0">
                    <a:solidFill>
                      <a:srgbClr val="111827"/>
                    </a:solidFill>
                    <a:latin typeface="Arial"/>
                  </a:rPr>
                  <a:t> (16 ordered pairs): </a:t>
                </a:r>
                <a:r>
                  <a:rPr lang="en-IN" sz="2400">
                    <a:solidFill>
                      <a:srgbClr val="111827"/>
                    </a:solidFill>
                    <a:latin typeface="Cambria Math" panose="02040503050406030204" pitchFamily="18" charset="0"/>
                  </a:rPr>
                  <a:t>$4$</a:t>
                </a:r>
                <a:r>
                  <a:rPr sz="2400" b="0">
                    <a:solidFill>
                      <a:srgbClr val="111827"/>
                    </a:solidFill>
                    <a:latin typeface="Arial"/>
                  </a:rPr>
                  <a:t> (1 pair), </a:t>
                </a:r>
                <a:r>
                  <a:rPr lang="en-IN" sz="2400">
                    <a:solidFill>
                      <a:srgbClr val="111827"/>
                    </a:solidFill>
                    <a:latin typeface="Cambria Math" panose="02040503050406030204" pitchFamily="18" charset="0"/>
                  </a:rPr>
                  <a:t>$6$</a:t>
                </a:r>
                <a:r>
                  <a:rPr sz="2400" b="0">
                    <a:solidFill>
                      <a:srgbClr val="111827"/>
                    </a:solidFill>
                    <a:latin typeface="Arial"/>
                  </a:rPr>
                  <a:t> (2), </a:t>
                </a:r>
                <a:r>
                  <a:rPr lang="en-IN" sz="2400">
                    <a:solidFill>
                      <a:srgbClr val="111827"/>
                    </a:solidFill>
                    <a:latin typeface="Cambria Math" panose="02040503050406030204" pitchFamily="18" charset="0"/>
                  </a:rPr>
                  <a:t>$8$</a:t>
                </a:r>
                <a:r>
                  <a:rPr sz="2400" b="0">
                    <a:solidFill>
                      <a:srgbClr val="111827"/>
                    </a:solidFill>
                    <a:latin typeface="Arial"/>
                  </a:rPr>
                  <a:t> (2), </a:t>
                </a:r>
                <a:r>
                  <a:rPr lang="en-IN" sz="2400">
                    <a:solidFill>
                      <a:srgbClr val="111827"/>
                    </a:solidFill>
                    <a:latin typeface="Cambria Math" panose="02040503050406030204" pitchFamily="18" charset="0"/>
                  </a:rPr>
                  <a:t>$9$</a:t>
                </a:r>
                <a:r>
                  <a:rPr sz="2400" b="0">
                    <a:solidFill>
                      <a:srgbClr val="111827"/>
                    </a:solidFill>
                    <a:latin typeface="Arial"/>
                  </a:rPr>
                  <a:t> (1), </a:t>
                </a:r>
                <a:r>
                  <a:rPr lang="en-IN" sz="2400">
                    <a:solidFill>
                      <a:srgbClr val="111827"/>
                    </a:solidFill>
                    <a:latin typeface="Cambria Math" panose="02040503050406030204" pitchFamily="18" charset="0"/>
                  </a:rPr>
                  <a:t>$12$</a:t>
                </a:r>
                <a:r>
                  <a:rPr sz="2400" b="0">
                    <a:solidFill>
                      <a:srgbClr val="111827"/>
                    </a:solidFill>
                    <a:latin typeface="Arial"/>
                  </a:rPr>
                  <a:t> (4), </a:t>
                </a:r>
                <a:r>
                  <a:rPr lang="en-IN" sz="2400">
                    <a:solidFill>
                      <a:srgbClr val="111827"/>
                    </a:solidFill>
                    <a:latin typeface="Cambria Math" panose="02040503050406030204" pitchFamily="18" charset="0"/>
                  </a:rPr>
                  <a:t>$16$</a:t>
                </a:r>
                <a:r>
                  <a:rPr sz="2400" b="0">
                    <a:solidFill>
                      <a:srgbClr val="111827"/>
                    </a:solidFill>
                    <a:latin typeface="Arial"/>
                  </a:rPr>
                  <a:t> (1), </a:t>
                </a:r>
                <a:r>
                  <a:rPr lang="en-IN" sz="2400">
                    <a:solidFill>
                      <a:srgbClr val="111827"/>
                    </a:solidFill>
                    <a:latin typeface="Cambria Math" panose="02040503050406030204" pitchFamily="18" charset="0"/>
                  </a:rPr>
                  <a:t>$18$</a:t>
                </a:r>
                <a:r>
                  <a:rPr sz="2400" b="0">
                    <a:solidFill>
                      <a:srgbClr val="111827"/>
                    </a:solidFill>
                    <a:latin typeface="Arial"/>
                  </a:rPr>
                  <a:t> (2), </a:t>
                </a:r>
                <a:r>
                  <a:rPr lang="en-IN" sz="2400">
                    <a:solidFill>
                      <a:srgbClr val="111827"/>
                    </a:solidFill>
                    <a:latin typeface="Cambria Math" panose="02040503050406030204" pitchFamily="18" charset="0"/>
                  </a:rPr>
                  <a:t>$24$</a:t>
                </a:r>
                <a:r>
                  <a:rPr sz="2400" b="0">
                    <a:solidFill>
                      <a:srgbClr val="111827"/>
                    </a:solidFill>
                    <a:latin typeface="Arial"/>
                  </a:rPr>
                  <a:t> (2), </a:t>
                </a:r>
                <a:r>
                  <a:rPr lang="en-IN" sz="2400">
                    <a:solidFill>
                      <a:srgbClr val="111827"/>
                    </a:solidFill>
                    <a:latin typeface="Cambria Math" panose="02040503050406030204" pitchFamily="18" charset="0"/>
                  </a:rPr>
                  <a:t>$36$</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quadruple needs </a:t>
                </a:r>
                <a:r>
                  <a:rPr lang="en-IN" sz="2400">
                    <a:solidFill>
                      <a:srgbClr val="111827"/>
                    </a:solidFill>
                    <a:latin typeface="Cambria Math" panose="02040503050406030204" pitchFamily="18" charset="0"/>
                  </a:rPr>
                  <a:t>$(p,s)$</a:t>
                </a:r>
                <a:r>
                  <a:rPr sz="2400" b="0">
                    <a:solidFill>
                      <a:srgbClr val="111827"/>
                    </a:solidFill>
                    <a:latin typeface="Arial"/>
                  </a:rPr>
                  <a:t> and </a:t>
                </a:r>
                <a:r>
                  <a:rPr lang="en-IN" sz="2400">
                    <a:solidFill>
                      <a:srgbClr val="111827"/>
                    </a:solidFill>
                    <a:latin typeface="Cambria Math" panose="02040503050406030204" pitchFamily="18" charset="0"/>
                  </a:rPr>
                  <a:t>$(q,r)$</a:t>
                </a:r>
                <a:r>
                  <a:rPr sz="2400" b="0">
                    <a:solidFill>
                      <a:srgbClr val="111827"/>
                    </a:solidFill>
                    <a:latin typeface="Arial"/>
                  </a:rPr>
                  <a:t> from the same product class, so the count is the sum of squares of multiplicities: </a:t>
                </a:r>
                <a:r>
                  <a:rPr lang="en-IN" sz="2400">
                    <a:solidFill>
                      <a:srgbClr val="111827"/>
                    </a:solidFill>
                    <a:latin typeface="Cambria Math" panose="02040503050406030204" pitchFamily="18" charset="0"/>
                  </a:rPr>
                  <a:t>$1+4+4+1+16+1+4+4+1=36$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This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256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64</m:t>
                        </m:r>
                      </m:den>
                    </m:f>
                  </m:oMath>
                </a14:m>
                <a:r>
                  <a:rPr sz="2400" b="0">
                    <a:solidFill>
                      <a:srgbClr val="111827"/>
                    </a:solidFill>
                    <a:latin typeface="Arial"/>
                  </a:rPr>
                  <a:t> for Statement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Statement II use the complement: </a:t>
                </a:r>
                <a14:m>
                  <m:oMath xmlns:m="http://schemas.openxmlformats.org/officeDocument/2006/math">
                    <m:r>
                      <a:rPr lang="en-IN" sz="2400" i="1">
                        <a:solidFill>
                          <a:srgbClr val="111827"/>
                        </a:solidFill>
                        <a:latin typeface="Cambria Math" panose="02040503050406030204" pitchFamily="18" charset="0"/>
                      </a:rPr>
                      <m:t>256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220</m:t>
                    </m:r>
                  </m:oMath>
                </a14:m>
                <a:r>
                  <a:rPr sz="2400" b="0">
                    <a:solidFill>
                      <a:srgbClr val="111827"/>
                    </a:solidFill>
                    <a:latin typeface="Arial"/>
                  </a:rPr>
                  <a:t> quadruples with three solutions, of which </a:t>
                </a:r>
                <a14:m>
                  <m:oMath xmlns:m="http://schemas.openxmlformats.org/officeDocument/2006/math">
                    <m:r>
                      <a:rPr lang="en-IN" sz="2400" i="1">
                        <a:solidFill>
                          <a:srgbClr val="111827"/>
                        </a:solidFill>
                        <a:latin typeface="Cambria Math" panose="02040503050406030204" pitchFamily="18" charset="0"/>
                      </a:rPr>
                      <m:t>48</m:t>
                    </m:r>
                  </m:oMath>
                </a14:m>
                <a:r>
                  <a:rPr sz="2400" b="0">
                    <a:solidFill>
                      <a:srgbClr val="111827"/>
                    </a:solidFill>
                    <a:latin typeface="Arial"/>
                  </a:rPr>
                  <a:t> have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48</m:t>
                        </m:r>
                      </m:num>
                      <m:den>
                        <m:r>
                          <a:rPr lang="en-IN" sz="2400" i="1">
                            <a:solidFill>
                              <a:srgbClr val="111827"/>
                            </a:solidFill>
                            <a:latin typeface="Cambria Math" panose="02040503050406030204" pitchFamily="18" charset="0"/>
                          </a:rPr>
                          <m:t>220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55</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This gives </a:t>
                </a:r>
                <a:r>
                  <a:rPr lang="en-IN" sz="2400">
                    <a:solidFill>
                      <a:srgbClr val="111827"/>
                    </a:solidFill>
                    <a:latin typeface="Cambria Math" panose="02040503050406030204" pitchFamily="18" charset="0"/>
                  </a:rPr>
                  <a:t>$\frac{36}{256}=\frac9{64}$</a:t>
                </a:r>
                <a:r>
                  <a:rPr sz="2400" b="0">
                    <a:solidFill>
                      <a:srgbClr val="111827"/>
                    </a:solidFill>
                    <a:latin typeface="Arial"/>
                  </a:rPr>
                  <a:t> for Statement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Statement II use the complement: </a:t>
                </a:r>
                <a:r>
                  <a:rPr lang="en-IN" sz="2400">
                    <a:solidFill>
                      <a:srgbClr val="111827"/>
                    </a:solidFill>
                    <a:latin typeface="Cambria Math" panose="02040503050406030204" pitchFamily="18" charset="0"/>
                  </a:rPr>
                  <a:t>$256-36=220$</a:t>
                </a:r>
                <a:r>
                  <a:rPr sz="2400" b="0">
                    <a:solidFill>
                      <a:srgbClr val="111827"/>
                    </a:solidFill>
                    <a:latin typeface="Arial"/>
                  </a:rPr>
                  <a:t> quadruples with three solutions, of which </a:t>
                </a:r>
                <a:r>
                  <a:rPr lang="en-IN" sz="2400">
                    <a:solidFill>
                      <a:srgbClr val="111827"/>
                    </a:solidFill>
                    <a:latin typeface="Cambria Math" panose="02040503050406030204" pitchFamily="18" charset="0"/>
                  </a:rPr>
                  <a:t>$48$</a:t>
                </a:r>
                <a:r>
                  <a:rPr sz="2400" b="0">
                    <a:solidFill>
                      <a:srgbClr val="111827"/>
                    </a:solidFill>
                    <a:latin typeface="Arial"/>
                  </a:rPr>
                  <a:t> have </a:t>
                </a:r>
                <a:r>
                  <a:rPr lang="en-IN" sz="2400">
                    <a:solidFill>
                      <a:srgbClr val="111827"/>
                    </a:solidFill>
                    <a:latin typeface="Cambria Math" panose="02040503050406030204" pitchFamily="18" charset="0"/>
                  </a:rPr>
                  <a:t>$p=r$</a:t>
                </a:r>
                <a:r>
                  <a:rPr sz="2400" b="0">
                    <a:solidFill>
                      <a:srgbClr val="111827"/>
                    </a:solidFill>
                    <a:latin typeface="Arial"/>
                  </a:rPr>
                  <a:t> (then </a:t>
                </a:r>
                <a:r>
                  <a:rPr lang="en-IN" sz="2400">
                    <a:solidFill>
                      <a:srgbClr val="111827"/>
                    </a:solidFill>
                    <a:latin typeface="Cambria Math" panose="02040503050406030204" pitchFamily="18" charset="0"/>
                  </a:rPr>
                  <a:t>$q\neq s$</a:t>
                </a:r>
                <a:r>
                  <a:rPr sz="2400" b="0">
                    <a:solidFill>
                      <a:srgbClr val="111827"/>
                    </a:solidFill>
                    <a:latin typeface="Arial"/>
                  </a:rPr>
                  <a:t>): </a:t>
                </a:r>
                <a:r>
                  <a:rPr lang="en-IN" sz="2400">
                    <a:solidFill>
                      <a:srgbClr val="111827"/>
                    </a:solidFill>
                    <a:latin typeface="Cambria Math" panose="02040503050406030204" pitchFamily="18" charset="0"/>
                  </a:rPr>
                  <a:t>$\frac{48}{220}=\frac{12}{55}$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a:t>
            </a:r>
            <a:endParaRPr sz="2800">
              <a:solidFill>
                <a:srgbClr val="15803D"/>
              </a:solidFill>
            </a:endParaRP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roots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two such equations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share all roots iff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𝑐</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ordered quadruples with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oMath>
                </a14:m>
                <a:r>
                  <a:rPr sz="2400" b="0">
                    <a:solidFill>
                      <a:srgbClr val="111827"/>
                    </a:solidFill>
                    <a:latin typeface="Arial"/>
                  </a:rPr>
                  <a:t> drawn from a set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𝑃</m:t>
                        </m:r>
                      </m:sub>
                      <m:sup>
                        <m:r>
                          <a:rPr lang="en-IN" sz="2400" i="1">
                            <a:solidFill>
                              <a:srgbClr val="111827"/>
                            </a:solidFill>
                            <a:latin typeface="Cambria Math" panose="02040503050406030204" pitchFamily="18" charset="0"/>
                          </a:rPr>
                          <m:t>​</m:t>
                        </m:r>
                      </m:sup>
                      <m:e>
                        <m:sSubSup>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𝑃</m:t>
                            </m:r>
                          </m:sub>
                          <m:sup>
                            <m:r>
                              <a:rPr lang="en-IN" sz="2400" i="1">
                                <a:solidFill>
                                  <a:srgbClr val="111827"/>
                                </a:solidFill>
                                <a:latin typeface="Cambria Math" panose="02040503050406030204" pitchFamily="18" charset="0"/>
                              </a:rPr>
                              <m:t>2</m:t>
                            </m:r>
                          </m:sup>
                        </m:sSubSup>
                      </m:e>
                    </m:nary>
                  </m:oMath>
                </a14:m>
                <a:r>
                  <a:rPr sz="2400" b="0">
                    <a:solidFill>
                      <a:srgbClr val="111827"/>
                    </a:solidFill>
                    <a:latin typeface="Arial"/>
                  </a:rPr>
                  <a:t>, where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𝑃</m:t>
                        </m:r>
                      </m:sub>
                    </m:sSub>
                  </m:oMath>
                </a14:m>
                <a:r>
                  <a:rPr sz="2400" b="0">
                    <a:solidFill>
                      <a:srgbClr val="111827"/>
                    </a:solidFill>
                    <a:latin typeface="Arial"/>
                  </a:rPr>
                  <a:t> is the number of ordered pairs with product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Conditional probability: restrict the sample space first (here </a:t>
                </a:r>
                <a14:m>
                  <m:oMath xmlns:m="http://schemas.openxmlformats.org/officeDocument/2006/math">
                    <m:r>
                      <a:rPr lang="en-IN" sz="2400" i="1">
                        <a:solidFill>
                          <a:srgbClr val="111827"/>
                        </a:solidFill>
                        <a:latin typeface="Cambria Math" panose="02040503050406030204" pitchFamily="18" charset="0"/>
                      </a:rPr>
                      <m:t>220</m:t>
                    </m:r>
                  </m:oMath>
                </a14:m>
                <a:r>
                  <a:rPr sz="2400" b="0">
                    <a:solidFill>
                      <a:srgbClr val="111827"/>
                    </a:solidFill>
                    <a:latin typeface="Arial"/>
                  </a:rPr>
                  <a:t> quadruples), then count favourable cases inside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statement 'given exactly one/three solutions' must be checked for feasibility; an impossible condition makes the conditional probability meaningless.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$ax^2+bx=0$</a:t>
                </a:r>
                <a:r>
                  <a:rPr sz="2400" b="0">
                    <a:solidFill>
                      <a:srgbClr val="111827"/>
                    </a:solidFill>
                    <a:latin typeface="Arial"/>
                  </a:rPr>
                  <a:t> has roots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$-\frac ba$</a:t>
                </a:r>
                <a:r>
                  <a:rPr sz="2400" b="0">
                    <a:solidFill>
                      <a:srgbClr val="111827"/>
                    </a:solidFill>
                    <a:latin typeface="Arial"/>
                  </a:rPr>
                  <a:t>; two such equations (with </a:t>
                </a:r>
                <a:r>
                  <a:rPr lang="en-IN" sz="2400">
                    <a:solidFill>
                      <a:srgbClr val="111827"/>
                    </a:solidFill>
                    <a:latin typeface="Cambria Math" panose="02040503050406030204" pitchFamily="18" charset="0"/>
                  </a:rPr>
                  <a:t>$a,b,c,d\neq0$</a:t>
                </a:r>
                <a:r>
                  <a:rPr sz="2400" b="0">
                    <a:solidFill>
                      <a:srgbClr val="111827"/>
                    </a:solidFill>
                    <a:latin typeface="Arial"/>
                  </a:rPr>
                  <a:t>) share all roots iff </a:t>
                </a:r>
                <a:r>
                  <a:rPr lang="en-IN" sz="2400">
                    <a:solidFill>
                      <a:srgbClr val="111827"/>
                    </a:solidFill>
                    <a:latin typeface="Cambria Math" panose="02040503050406030204" pitchFamily="18" charset="0"/>
                  </a:rPr>
                  <a:t>$\frac ba=\frac dc$</a:t>
                </a:r>
                <a:r>
                  <a:rPr sz="2400" b="0">
                    <a:solidFill>
                      <a:srgbClr val="111827"/>
                    </a:solidFill>
                    <a:latin typeface="Arial"/>
                  </a:rPr>
                  <a:t>, i.e. </a:t>
                </a:r>
                <a:r>
                  <a:rPr lang="en-IN" sz="2400">
                    <a:solidFill>
                      <a:srgbClr val="111827"/>
                    </a:solidFill>
                    <a:latin typeface="Cambria Math" panose="02040503050406030204" pitchFamily="18" charset="0"/>
                  </a:rPr>
                  <a:t>$ad=bc$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ordered quadruples with </a:t>
                </a:r>
                <a:r>
                  <a:rPr lang="en-IN" sz="2400">
                    <a:solidFill>
                      <a:srgbClr val="111827"/>
                    </a:solidFill>
                    <a:latin typeface="Cambria Math" panose="02040503050406030204" pitchFamily="18" charset="0"/>
                  </a:rPr>
                  <a:t>$ad=bc$</a:t>
                </a:r>
                <a:r>
                  <a:rPr sz="2400" b="0">
                    <a:solidFill>
                      <a:srgbClr val="111827"/>
                    </a:solidFill>
                    <a:latin typeface="Arial"/>
                  </a:rPr>
                  <a:t> drawn from a set </a:t>
                </a:r>
                <a:r>
                  <a:rPr lang="en-IN" sz="2400">
                    <a:solidFill>
                      <a:srgbClr val="111827"/>
                    </a:solidFill>
                    <a:latin typeface="Cambria Math" panose="02040503050406030204" pitchFamily="18" charset="0"/>
                  </a:rPr>
                  <a:t>$=\sum_P m_P^2$</a:t>
                </a:r>
                <a:r>
                  <a:rPr sz="2400" b="0">
                    <a:solidFill>
                      <a:srgbClr val="111827"/>
                    </a:solidFill>
                    <a:latin typeface="Arial"/>
                  </a:rPr>
                  <a:t>, where </a:t>
                </a:r>
                <a:r>
                  <a:rPr lang="en-IN" sz="2400">
                    <a:solidFill>
                      <a:srgbClr val="111827"/>
                    </a:solidFill>
                    <a:latin typeface="Cambria Math" panose="02040503050406030204" pitchFamily="18" charset="0"/>
                  </a:rPr>
                  <a:t>$m_P$</a:t>
                </a:r>
                <a:r>
                  <a:rPr sz="2400" b="0">
                    <a:solidFill>
                      <a:srgbClr val="111827"/>
                    </a:solidFill>
                    <a:latin typeface="Arial"/>
                  </a:rPr>
                  <a:t> is the number of ordered pairs with product </a:t>
                </a:r>
                <a:r>
                  <a:rPr lang="en-IN" sz="2400">
                    <a:solidFill>
                      <a:srgbClr val="111827"/>
                    </a:solidFill>
                    <a:latin typeface="Cambria Math" panose="02040503050406030204" pitchFamily="18" charset="0"/>
                  </a:rPr>
                  <a:t>$P$</a:t>
                </a:r>
                <a:r>
                  <a:rPr sz="2400" b="0">
                    <a:solidFill>
                      <a:srgbClr val="111827"/>
                    </a:solidFill>
                    <a:latin typeface="Arial"/>
                  </a:rPr>
                  <a:t> (here </a:t>
                </a:r>
                <a:r>
                  <a:rPr lang="en-IN" sz="2400">
                    <a:solidFill>
                      <a:srgbClr val="111827"/>
                    </a:solidFill>
                    <a:latin typeface="Cambria Math" panose="02040503050406030204" pitchFamily="18" charset="0"/>
                  </a:rPr>
                  <a:t>$36$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Conditional probability: restrict the sample space first (here </a:t>
                </a:r>
                <a:r>
                  <a:rPr lang="en-IN" sz="2400">
                    <a:solidFill>
                      <a:srgbClr val="111827"/>
                    </a:solidFill>
                    <a:latin typeface="Cambria Math" panose="02040503050406030204" pitchFamily="18" charset="0"/>
                  </a:rPr>
                  <a:t>$220$</a:t>
                </a:r>
                <a:r>
                  <a:rPr sz="2400" b="0">
                    <a:solidFill>
                      <a:srgbClr val="111827"/>
                    </a:solidFill>
                    <a:latin typeface="Arial"/>
                  </a:rPr>
                  <a:t> quadruples), then count favourable cases inside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statement 'given exactly one/three solutions' must be checked for feasibility; an impossible condition makes the conditional probability meaningless.</a:t>
                </a:r>
                <a:endParaRPr sz="2400">
                  <a:solidFill>
                    <a:srgbClr val="111827"/>
                  </a:solidFill>
                </a:endParaRPr>
              </a:p>
            </p:txBody>
          </p:sp>
        </mc:Fallback>
      </mc:AlternateContent>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bag contains four tickets marked with </a:t>
                </a:r>
                <a14:m>
                  <m:oMath xmlns:m="http://schemas.openxmlformats.org/officeDocument/2006/math">
                    <m:r>
                      <a:rPr lang="en-IN" sz="2400" i="1">
                        <a:solidFill>
                          <a:srgbClr val="111827"/>
                        </a:solidFill>
                        <a:latin typeface="Cambria Math" panose="02040503050406030204" pitchFamily="18" charset="0"/>
                      </a:rPr>
                      <m:t>112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222</m:t>
                    </m:r>
                  </m:oMath>
                </a14:m>
                <a:r>
                  <a:rPr sz="2400" b="0">
                    <a:solidFill>
                      <a:srgbClr val="111827"/>
                    </a:solidFill>
                    <a:latin typeface="Arial"/>
                  </a:rPr>
                  <a:t>. One ticket is drawn at random from the bag. Let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denote the event that the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ℎ</m:t>
                        </m:r>
                      </m:sup>
                    </m:sSup>
                  </m:oMath>
                </a14:m>
                <a:r>
                  <a:rPr sz="2400" b="0">
                    <a:solidFill>
                      <a:srgbClr val="111827"/>
                    </a:solidFill>
                    <a:latin typeface="Arial"/>
                  </a:rPr>
                  <a:t> digit on the ticket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independent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independent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are independent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independent</a:t>
                </a:r>
                <a:endParaRPr sz="2400">
                  <a:solidFill>
                    <a:srgbClr val="111827"/>
                  </a:solidFill>
                </a:endParaRPr>
              </a:p>
            </p:txBody>
          </p:sp>
        </mc:Choice>
        <mc:Fallback>
          <p:sp>
            <p:nvSpPr>
              <p:cNvPr id="4" name="Rounded Rectangle 3"/>
              <p:cNvSpPr/>
              <p:nvPr/>
            </p:nvSpPr>
            <p:spPr>
              <a:xfrm>
                <a:off x="731520" y="1280160"/>
                <a:ext cx="10725912" cy="3377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bag contains four tickets marked with </a:t>
                </a:r>
                <a:r>
                  <a:rPr lang="en-IN" sz="2400">
                    <a:solidFill>
                      <a:srgbClr val="111827"/>
                    </a:solidFill>
                    <a:latin typeface="Cambria Math" panose="02040503050406030204" pitchFamily="18" charset="0"/>
                  </a:rPr>
                  <a:t>$112,121,211,222$</a:t>
                </a:r>
                <a:r>
                  <a:rPr sz="2400" b="0">
                    <a:solidFill>
                      <a:srgbClr val="111827"/>
                    </a:solidFill>
                    <a:latin typeface="Arial"/>
                  </a:rPr>
                  <a:t>. One ticket is drawn at random from the bag. Let </a:t>
                </a:r>
                <a:r>
                  <a:rPr lang="en-IN" sz="2400">
                    <a:solidFill>
                      <a:srgbClr val="111827"/>
                    </a:solidFill>
                    <a:latin typeface="Cambria Math" panose="02040503050406030204" pitchFamily="18" charset="0"/>
                  </a:rPr>
                  <a:t>$E_i$</a:t>
                </a:r>
                <a:r>
                  <a:rPr sz="2400" b="0">
                    <a:solidFill>
                      <a:srgbClr val="111827"/>
                    </a:solidFill>
                    <a:latin typeface="Arial"/>
                  </a:rPr>
                  <a:t> (</a:t>
                </a:r>
                <a:r>
                  <a:rPr lang="en-IN" sz="2400">
                    <a:solidFill>
                      <a:srgbClr val="111827"/>
                    </a:solidFill>
                    <a:latin typeface="Cambria Math" panose="02040503050406030204" pitchFamily="18" charset="0"/>
                  </a:rPr>
                  <a:t>$i=1,2,3$</a:t>
                </a:r>
                <a:r>
                  <a:rPr sz="2400" b="0">
                    <a:solidFill>
                      <a:srgbClr val="111827"/>
                    </a:solidFill>
                    <a:latin typeface="Arial"/>
                  </a:rPr>
                  <a:t>) denote the event that the </a:t>
                </a:r>
                <a:r>
                  <a:rPr lang="en-IN" sz="2400">
                    <a:solidFill>
                      <a:srgbClr val="111827"/>
                    </a:solidFill>
                    <a:latin typeface="Cambria Math" panose="02040503050406030204" pitchFamily="18" charset="0"/>
                  </a:rPr>
                  <a:t>$i^{th}$</a:t>
                </a:r>
                <a:r>
                  <a:rPr sz="2400" b="0">
                    <a:solidFill>
                      <a:srgbClr val="111827"/>
                    </a:solidFill>
                    <a:latin typeface="Arial"/>
                  </a:rPr>
                  <a:t> digit on the ticket is </a:t>
                </a:r>
                <a:r>
                  <a:rPr lang="en-IN" sz="2400">
                    <a:solidFill>
                      <a:srgbClr val="111827"/>
                    </a:solidFill>
                    <a:latin typeface="Cambria Math" panose="02040503050406030204" pitchFamily="18" charset="0"/>
                  </a:rPr>
                  <a:t>$2$</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$E_1$</a:t>
                </a:r>
                <a:r>
                  <a:rPr sz="2400" b="0">
                    <a:solidFill>
                      <a:srgbClr val="111827"/>
                    </a:solidFill>
                    <a:latin typeface="Arial"/>
                  </a:rPr>
                  <a:t> and </a:t>
                </a:r>
                <a:r>
                  <a:rPr lang="en-IN" sz="2400">
                    <a:solidFill>
                      <a:srgbClr val="111827"/>
                    </a:solidFill>
                    <a:latin typeface="Cambria Math" panose="02040503050406030204" pitchFamily="18" charset="0"/>
                  </a:rPr>
                  <a:t>$E_2$</a:t>
                </a:r>
                <a:r>
                  <a:rPr sz="2400" b="0">
                    <a:solidFill>
                      <a:srgbClr val="111827"/>
                    </a:solidFill>
                    <a:latin typeface="Arial"/>
                  </a:rPr>
                  <a:t> are independent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$E_2$</a:t>
                </a:r>
                <a:r>
                  <a:rPr sz="2400" b="0">
                    <a:solidFill>
                      <a:srgbClr val="111827"/>
                    </a:solidFill>
                    <a:latin typeface="Arial"/>
                  </a:rPr>
                  <a:t> and </a:t>
                </a:r>
                <a:r>
                  <a:rPr lang="en-IN" sz="2400">
                    <a:solidFill>
                      <a:srgbClr val="111827"/>
                    </a:solidFill>
                    <a:latin typeface="Cambria Math" panose="02040503050406030204" pitchFamily="18" charset="0"/>
                  </a:rPr>
                  <a:t>$E_3$</a:t>
                </a:r>
                <a:r>
                  <a:rPr sz="2400" b="0">
                    <a:solidFill>
                      <a:srgbClr val="111827"/>
                    </a:solidFill>
                    <a:latin typeface="Arial"/>
                  </a:rPr>
                  <a:t> are independent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$E_3$</a:t>
                </a:r>
                <a:r>
                  <a:rPr sz="2400" b="0">
                    <a:solidFill>
                      <a:srgbClr val="111827"/>
                    </a:solidFill>
                    <a:latin typeface="Arial"/>
                  </a:rPr>
                  <a:t> and </a:t>
                </a:r>
                <a:r>
                  <a:rPr lang="en-IN" sz="2400">
                    <a:solidFill>
                      <a:srgbClr val="111827"/>
                    </a:solidFill>
                    <a:latin typeface="Cambria Math" panose="02040503050406030204" pitchFamily="18" charset="0"/>
                  </a:rPr>
                  <a:t>$E_1$</a:t>
                </a:r>
                <a:r>
                  <a:rPr sz="2400" b="0">
                    <a:solidFill>
                      <a:srgbClr val="111827"/>
                    </a:solidFill>
                    <a:latin typeface="Arial"/>
                  </a:rPr>
                  <a:t> are independent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$E_1,E_2,E_3$</a:t>
                </a:r>
                <a:r>
                  <a:rPr sz="2400" b="0">
                    <a:solidFill>
                      <a:srgbClr val="111827"/>
                    </a:solidFill>
                    <a:latin typeface="Arial"/>
                  </a:rPr>
                  <a:t> are independent</a:t>
                </a:r>
                <a:endParaRPr sz="2400">
                  <a:solidFill>
                    <a:srgbClr val="111827"/>
                  </a:solidFill>
                </a:endParaRPr>
              </a:p>
            </p:txBody>
          </p:sp>
        </mc:Fallback>
      </mc:AlternateContent>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Independence of events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Compute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𝑗</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𝐸</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pairwise independence does not imply mutual independence.</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Compute </a:t>
                </a:r>
                <a:r>
                  <a:rPr lang="en-IN" sz="2400">
                    <a:solidFill>
                      <a:srgbClr val="78350F"/>
                    </a:solidFill>
                    <a:latin typeface="Cambria Math" panose="02040503050406030204" pitchFamily="18" charset="0"/>
                  </a:rPr>
                  <a:t>$P(E_i)$</a:t>
                </a:r>
                <a:r>
                  <a:rPr sz="2400" b="0">
                    <a:solidFill>
                      <a:srgbClr val="78350F"/>
                    </a:solidFill>
                    <a:latin typeface="Arial"/>
                  </a:rPr>
                  <a:t>, </a:t>
                </a:r>
                <a:r>
                  <a:rPr lang="en-IN" sz="2400">
                    <a:solidFill>
                      <a:srgbClr val="78350F"/>
                    </a:solidFill>
                    <a:latin typeface="Cambria Math" panose="02040503050406030204" pitchFamily="18" charset="0"/>
                  </a:rPr>
                  <a:t>$P(E_i\cap E_j)$</a:t>
                </a:r>
                <a:r>
                  <a:rPr sz="2400" b="0">
                    <a:solidFill>
                      <a:srgbClr val="78350F"/>
                    </a:solidFill>
                    <a:latin typeface="Arial"/>
                  </a:rPr>
                  <a:t> and </a:t>
                </a:r>
                <a:r>
                  <a:rPr lang="en-IN" sz="2400">
                    <a:solidFill>
                      <a:srgbClr val="78350F"/>
                    </a:solidFill>
                    <a:latin typeface="Cambria Math" panose="02040503050406030204" pitchFamily="18" charset="0"/>
                  </a:rPr>
                  <a:t>$P(E_1\cap E_2\cap E_3)$</a:t>
                </a:r>
                <a:r>
                  <a:rPr sz="2400" b="0">
                    <a:solidFill>
                      <a:srgbClr val="78350F"/>
                    </a:solidFill>
                    <a:latin typeface="Arial"/>
                  </a:rPr>
                  <a:t>; pairwise independence does not imply mutual independence.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ticket has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-th digit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on exactly two tickets for each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211, 222;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121, 222;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112, 222).</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ticket has probability </a:t>
                </a:r>
                <a:r>
                  <a:rPr lang="en-IN" sz="2400">
                    <a:solidFill>
                      <a:srgbClr val="111827"/>
                    </a:solidFill>
                    <a:latin typeface="Cambria Math" panose="02040503050406030204" pitchFamily="18" charset="0"/>
                  </a:rPr>
                  <a:t>$\frac14$</a:t>
                </a:r>
                <a:r>
                  <a:rPr sz="2400" b="0">
                    <a:solidFill>
                      <a:srgbClr val="111827"/>
                    </a:solidFill>
                    <a:latin typeface="Arial"/>
                  </a:rPr>
                  <a:t>. The </a:t>
                </a:r>
                <a:r>
                  <a:rPr lang="en-IN" sz="2400">
                    <a:solidFill>
                      <a:srgbClr val="111827"/>
                    </a:solidFill>
                    <a:latin typeface="Cambria Math" panose="02040503050406030204" pitchFamily="18" charset="0"/>
                  </a:rPr>
                  <a:t>$i$</a:t>
                </a:r>
                <a:r>
                  <a:rPr sz="2400" b="0">
                    <a:solidFill>
                      <a:srgbClr val="111827"/>
                    </a:solidFill>
                    <a:latin typeface="Arial"/>
                  </a:rPr>
                  <a:t>-th digit is </a:t>
                </a:r>
                <a:r>
                  <a:rPr lang="en-IN" sz="2400">
                    <a:solidFill>
                      <a:srgbClr val="111827"/>
                    </a:solidFill>
                    <a:latin typeface="Cambria Math" panose="02040503050406030204" pitchFamily="18" charset="0"/>
                  </a:rPr>
                  <a:t>$2$</a:t>
                </a:r>
                <a:r>
                  <a:rPr sz="2400" b="0">
                    <a:solidFill>
                      <a:srgbClr val="111827"/>
                    </a:solidFill>
                    <a:latin typeface="Arial"/>
                  </a:rPr>
                  <a:t> on exactly two tickets for each </a:t>
                </a:r>
                <a:r>
                  <a:rPr lang="en-IN" sz="2400">
                    <a:solidFill>
                      <a:srgbClr val="111827"/>
                    </a:solidFill>
                    <a:latin typeface="Cambria Math" panose="02040503050406030204" pitchFamily="18" charset="0"/>
                  </a:rPr>
                  <a:t>$i$</a:t>
                </a:r>
                <a:r>
                  <a:rPr sz="2400" b="0">
                    <a:solidFill>
                      <a:srgbClr val="111827"/>
                    </a:solidFill>
                    <a:latin typeface="Arial"/>
                  </a:rPr>
                  <a:t> (</a:t>
                </a:r>
                <a:r>
                  <a:rPr lang="en-IN" sz="2400">
                    <a:solidFill>
                      <a:srgbClr val="111827"/>
                    </a:solidFill>
                    <a:latin typeface="Cambria Math" panose="02040503050406030204" pitchFamily="18" charset="0"/>
                  </a:rPr>
                  <a:t>$E_1$</a:t>
                </a:r>
                <a:r>
                  <a:rPr sz="2400" b="0">
                    <a:solidFill>
                      <a:srgbClr val="111827"/>
                    </a:solidFill>
                    <a:latin typeface="Arial"/>
                  </a:rPr>
                  <a:t>: 211, 222; </a:t>
                </a:r>
                <a:r>
                  <a:rPr lang="en-IN" sz="2400">
                    <a:solidFill>
                      <a:srgbClr val="111827"/>
                    </a:solidFill>
                    <a:latin typeface="Cambria Math" panose="02040503050406030204" pitchFamily="18" charset="0"/>
                  </a:rPr>
                  <a:t>$E_2$</a:t>
                </a:r>
                <a:r>
                  <a:rPr sz="2400" b="0">
                    <a:solidFill>
                      <a:srgbClr val="111827"/>
                    </a:solidFill>
                    <a:latin typeface="Arial"/>
                  </a:rPr>
                  <a:t>: 121, 222; </a:t>
                </a:r>
                <a:r>
                  <a:rPr lang="en-IN" sz="2400">
                    <a:solidFill>
                      <a:srgbClr val="111827"/>
                    </a:solidFill>
                    <a:latin typeface="Cambria Math" panose="02040503050406030204" pitchFamily="18" charset="0"/>
                  </a:rPr>
                  <a:t>$E_3$</a:t>
                </a:r>
                <a:r>
                  <a:rPr sz="2400" b="0">
                    <a:solidFill>
                      <a:srgbClr val="111827"/>
                    </a:solidFill>
                    <a:latin typeface="Arial"/>
                  </a:rPr>
                  <a:t>: 112, 222).</a:t>
                </a:r>
                <a:endParaRPr sz="2400">
                  <a:solidFill>
                    <a:srgbClr val="111827"/>
                  </a:solidFill>
                </a:endParaRPr>
              </a:p>
            </p:txBody>
          </p:sp>
        </mc:Fallback>
      </mc:AlternateContent>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oMath>
                </a14:m>
                <a:r>
                  <a:rPr sz="2400" b="0">
                    <a:solidFill>
                      <a:srgbClr val="111827"/>
                    </a:solidFill>
                    <a:latin typeface="Arial"/>
                  </a:rPr>
                  <a:t>, only the ticket </a:t>
                </a:r>
                <a14:m>
                  <m:oMath xmlns:m="http://schemas.openxmlformats.org/officeDocument/2006/math">
                    <m:r>
                      <a:rPr lang="en-IN" sz="2400" i="1">
                        <a:solidFill>
                          <a:srgbClr val="111827"/>
                        </a:solidFill>
                        <a:latin typeface="Cambria Math" panose="02040503050406030204" pitchFamily="18" charset="0"/>
                      </a:rPr>
                      <m:t>222</m:t>
                    </m:r>
                  </m:oMath>
                </a14:m>
                <a:r>
                  <a:rPr sz="2400" b="0">
                    <a:solidFill>
                      <a:srgbClr val="111827"/>
                    </a:solidFill>
                    <a:latin typeface="Arial"/>
                  </a:rPr>
                  <a:t> has the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-th and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-th digits both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are independent for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oMath>
                </a14:m>
                <a:r>
                  <a:rPr sz="2400" b="0">
                    <a:solidFill>
                      <a:srgbClr val="111827"/>
                    </a:solidFill>
                    <a:latin typeface="Arial"/>
                  </a:rPr>
                  <a:t>: (A), (B), (C) correct.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$P(E_i)=\frac24=\frac12$</a:t>
                </a:r>
                <a:r>
                  <a:rPr sz="2400" b="0">
                    <a:solidFill>
                      <a:srgbClr val="111827"/>
                    </a:solidFill>
                    <a:latin typeface="Arial"/>
                  </a:rPr>
                  <a:t> for </a:t>
                </a:r>
                <a:r>
                  <a:rPr lang="en-IN" sz="2400">
                    <a:solidFill>
                      <a:srgbClr val="111827"/>
                    </a:solidFill>
                    <a:latin typeface="Cambria Math" panose="02040503050406030204" pitchFamily="18" charset="0"/>
                  </a:rPr>
                  <a:t>$i=1,2,3$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$i\neq j$</a:t>
                </a:r>
                <a:r>
                  <a:rPr sz="2400" b="0">
                    <a:solidFill>
                      <a:srgbClr val="111827"/>
                    </a:solidFill>
                    <a:latin typeface="Arial"/>
                  </a:rPr>
                  <a:t>, only the ticket </a:t>
                </a:r>
                <a:r>
                  <a:rPr lang="en-IN" sz="2400">
                    <a:solidFill>
                      <a:srgbClr val="111827"/>
                    </a:solidFill>
                    <a:latin typeface="Cambria Math" panose="02040503050406030204" pitchFamily="18" charset="0"/>
                  </a:rPr>
                  <a:t>$222$</a:t>
                </a:r>
                <a:r>
                  <a:rPr sz="2400" b="0">
                    <a:solidFill>
                      <a:srgbClr val="111827"/>
                    </a:solidFill>
                    <a:latin typeface="Arial"/>
                  </a:rPr>
                  <a:t> has the </a:t>
                </a:r>
                <a:r>
                  <a:rPr lang="en-IN" sz="2400">
                    <a:solidFill>
                      <a:srgbClr val="111827"/>
                    </a:solidFill>
                    <a:latin typeface="Cambria Math" panose="02040503050406030204" pitchFamily="18" charset="0"/>
                  </a:rPr>
                  <a:t>$i$</a:t>
                </a:r>
                <a:r>
                  <a:rPr sz="2400" b="0">
                    <a:solidFill>
                      <a:srgbClr val="111827"/>
                    </a:solidFill>
                    <a:latin typeface="Arial"/>
                  </a:rPr>
                  <a:t>-th and </a:t>
                </a:r>
                <a:r>
                  <a:rPr lang="en-IN" sz="2400">
                    <a:solidFill>
                      <a:srgbClr val="111827"/>
                    </a:solidFill>
                    <a:latin typeface="Cambria Math" panose="02040503050406030204" pitchFamily="18" charset="0"/>
                  </a:rPr>
                  <a:t>$j$</a:t>
                </a:r>
                <a:r>
                  <a:rPr sz="2400" b="0">
                    <a:solidFill>
                      <a:srgbClr val="111827"/>
                    </a:solidFill>
                    <a:latin typeface="Arial"/>
                  </a:rPr>
                  <a:t>-th digits both </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$P(E_i\cap E_j)=\frac14$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$P(E_i)P(E_j)=\frac12\cdot\frac12=\frac14=P(E_i\cap E_j)$</a:t>
                </a:r>
                <a:r>
                  <a:rPr sz="2400" b="0">
                    <a:solidFill>
                      <a:srgbClr val="111827"/>
                    </a:solidFill>
                    <a:latin typeface="Arial"/>
                  </a:rPr>
                  <a:t>, so </a:t>
                </a:r>
                <a:r>
                  <a:rPr lang="en-IN" sz="2400">
                    <a:solidFill>
                      <a:srgbClr val="111827"/>
                    </a:solidFill>
                    <a:latin typeface="Cambria Math" panose="02040503050406030204" pitchFamily="18" charset="0"/>
                  </a:rPr>
                  <a:t>$E_i$</a:t>
                </a:r>
                <a:r>
                  <a:rPr sz="2400" b="0">
                    <a:solidFill>
                      <a:srgbClr val="111827"/>
                    </a:solidFill>
                    <a:latin typeface="Arial"/>
                  </a:rPr>
                  <a:t> and </a:t>
                </a:r>
                <a:r>
                  <a:rPr lang="en-IN" sz="2400">
                    <a:solidFill>
                      <a:srgbClr val="111827"/>
                    </a:solidFill>
                    <a:latin typeface="Cambria Math" panose="02040503050406030204" pitchFamily="18" charset="0"/>
                  </a:rPr>
                  <a:t>$E_j$</a:t>
                </a:r>
                <a:r>
                  <a:rPr sz="2400" b="0">
                    <a:solidFill>
                      <a:srgbClr val="111827"/>
                    </a:solidFill>
                    <a:latin typeface="Arial"/>
                  </a:rPr>
                  <a:t> are independent for </a:t>
                </a:r>
                <a:r>
                  <a:rPr lang="en-IN" sz="2400">
                    <a:solidFill>
                      <a:srgbClr val="111827"/>
                    </a:solidFill>
                    <a:latin typeface="Cambria Math" panose="02040503050406030204" pitchFamily="18" charset="0"/>
                  </a:rPr>
                  <a:t>$i\neq j$</a:t>
                </a:r>
                <a:r>
                  <a:rPr sz="2400" b="0">
                    <a:solidFill>
                      <a:srgbClr val="111827"/>
                    </a:solidFill>
                    <a:latin typeface="Arial"/>
                  </a:rPr>
                  <a:t>: (A), (B), (C) correct.</a:t>
                </a:r>
                <a:endParaRPr sz="2400">
                  <a:solidFill>
                    <a:srgbClr val="111827"/>
                  </a:solidFill>
                </a:endParaRPr>
              </a:p>
            </p:txBody>
          </p:sp>
        </mc:Fallback>
      </mc:AlternateContent>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Only </a:t>
                </a:r>
                <a14:m>
                  <m:oMath xmlns:m="http://schemas.openxmlformats.org/officeDocument/2006/math">
                    <m:r>
                      <a:rPr lang="en-IN" sz="2400" i="1">
                        <a:solidFill>
                          <a:srgbClr val="111827"/>
                        </a:solidFill>
                        <a:latin typeface="Cambria Math" panose="02040503050406030204" pitchFamily="18" charset="0"/>
                      </a:rPr>
                      <m:t>222</m:t>
                    </m:r>
                  </m:oMath>
                </a14:m>
                <a:r>
                  <a:rPr sz="2400" b="0">
                    <a:solidFill>
                      <a:srgbClr val="111827"/>
                    </a:solidFill>
                    <a:latin typeface="Arial"/>
                  </a:rPr>
                  <a:t> lies in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not (mutually) independent: (D) is false.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Only </a:t>
                </a:r>
                <a:r>
                  <a:rPr lang="en-IN" sz="2400">
                    <a:solidFill>
                      <a:srgbClr val="111827"/>
                    </a:solidFill>
                    <a:latin typeface="Cambria Math" panose="02040503050406030204" pitchFamily="18" charset="0"/>
                  </a:rPr>
                  <a:t>$222$</a:t>
                </a:r>
                <a:r>
                  <a:rPr sz="2400" b="0">
                    <a:solidFill>
                      <a:srgbClr val="111827"/>
                    </a:solidFill>
                    <a:latin typeface="Arial"/>
                  </a:rPr>
                  <a:t> lies in </a:t>
                </a:r>
                <a:r>
                  <a:rPr lang="en-IN" sz="2400">
                    <a:solidFill>
                      <a:srgbClr val="111827"/>
                    </a:solidFill>
                    <a:latin typeface="Cambria Math" panose="02040503050406030204" pitchFamily="18" charset="0"/>
                  </a:rPr>
                  <a:t>$E_1\cap E_2\cap E_3$</a:t>
                </a:r>
                <a:r>
                  <a:rPr sz="2400" b="0">
                    <a:solidFill>
                      <a:srgbClr val="111827"/>
                    </a:solidFill>
                    <a:latin typeface="Arial"/>
                  </a:rPr>
                  <a:t>: </a:t>
                </a:r>
                <a:r>
                  <a:rPr lang="en-IN" sz="2400">
                    <a:solidFill>
                      <a:srgbClr val="111827"/>
                    </a:solidFill>
                    <a:latin typeface="Cambria Math" panose="02040503050406030204" pitchFamily="18" charset="0"/>
                  </a:rPr>
                  <a:t>$P(E_1\cap E_2\cap E_3)=\frac14$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r>
                  <a:rPr lang="en-IN" sz="2400">
                    <a:solidFill>
                      <a:srgbClr val="111827"/>
                    </a:solidFill>
                    <a:latin typeface="Cambria Math" panose="02040503050406030204" pitchFamily="18" charset="0"/>
                  </a:rPr>
                  <a:t>$P(E_1)P(E_2)P(E_3)=\frac18\neq\frac14$</a:t>
                </a:r>
                <a:r>
                  <a:rPr sz="2400" b="0">
                    <a:solidFill>
                      <a:srgbClr val="111827"/>
                    </a:solidFill>
                    <a:latin typeface="Arial"/>
                  </a:rPr>
                  <a:t>, so </a:t>
                </a:r>
                <a:r>
                  <a:rPr lang="en-IN" sz="2400">
                    <a:solidFill>
                      <a:srgbClr val="111827"/>
                    </a:solidFill>
                    <a:latin typeface="Cambria Math" panose="02040503050406030204" pitchFamily="18" charset="0"/>
                  </a:rPr>
                  <a:t>$E_1,E_2,E_3$</a:t>
                </a:r>
                <a:r>
                  <a:rPr sz="2400" b="0">
                    <a:solidFill>
                      <a:srgbClr val="111827"/>
                    </a:solidFill>
                    <a:latin typeface="Arial"/>
                  </a:rPr>
                  <a:t> are not (mutually) independent: (D) is false.</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a:t>
            </a:r>
            <a:endParaRPr sz="2800">
              <a:solidFill>
                <a:srgbClr val="15803D"/>
              </a:solidFill>
            </a:endParaRP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Encode each ticket by bits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the four tickets are exactly the bit strings with an odd number of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s, so any two bits are uniform and independent but the third is determined by them.</a:t>
                </a:r>
                <a:endParaRPr sz="2400">
                  <a:solidFill>
                    <a:srgbClr val="78350F"/>
                  </a:solidFill>
                </a:endParaRPr>
              </a:p>
            </p:txBody>
          </p:sp>
        </mc:Choice>
        <mc:Fallback>
          <p:sp>
            <p:nvSpPr>
              <p:cNvPr id="5" name="Rounded Rectangle 4"/>
              <p:cNvSpPr/>
              <p:nvPr/>
            </p:nvSpPr>
            <p:spPr>
              <a:xfrm>
                <a:off x="731520" y="1280160"/>
                <a:ext cx="10725912" cy="18531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Encode each ticket by bits (</a:t>
                </a:r>
                <a:r>
                  <a:rPr lang="en-IN" sz="2400">
                    <a:solidFill>
                      <a:srgbClr val="78350F"/>
                    </a:solidFill>
                    <a:latin typeface="Cambria Math" panose="02040503050406030204" pitchFamily="18" charset="0"/>
                  </a:rPr>
                  <a:t>$2\to1$</a:t>
                </a:r>
                <a:r>
                  <a:rPr sz="2400" b="0">
                    <a:solidFill>
                      <a:srgbClr val="78350F"/>
                    </a:solidFill>
                    <a:latin typeface="Arial"/>
                  </a:rPr>
                  <a:t>, </a:t>
                </a:r>
                <a:r>
                  <a:rPr lang="en-IN" sz="2400">
                    <a:solidFill>
                      <a:srgbClr val="78350F"/>
                    </a:solidFill>
                    <a:latin typeface="Cambria Math" panose="02040503050406030204" pitchFamily="18" charset="0"/>
                  </a:rPr>
                  <a:t>$1\to0$</a:t>
                </a:r>
                <a:r>
                  <a:rPr sz="2400" b="0">
                    <a:solidFill>
                      <a:srgbClr val="78350F"/>
                    </a:solidFill>
                    <a:latin typeface="Arial"/>
                  </a:rPr>
                  <a:t>): the four tickets are exactly the bit strings with an odd number of </a:t>
                </a:r>
                <a:r>
                  <a:rPr lang="en-IN" sz="2400">
                    <a:solidFill>
                      <a:srgbClr val="78350F"/>
                    </a:solidFill>
                    <a:latin typeface="Cambria Math" panose="02040503050406030204" pitchFamily="18" charset="0"/>
                  </a:rPr>
                  <a:t>$1$</a:t>
                </a:r>
                <a:r>
                  <a:rPr sz="2400" b="0">
                    <a:solidFill>
                      <a:srgbClr val="78350F"/>
                    </a:solidFill>
                    <a:latin typeface="Arial"/>
                  </a:rPr>
                  <a:t>s, so any two bits are uniform and independent but the third is determined by them.</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Writing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222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111</m:t>
                    </m:r>
                  </m:oMath>
                </a14:m>
                <a:r>
                  <a:rPr sz="2400" b="0">
                    <a:solidFill>
                      <a:srgbClr val="111827"/>
                    </a:solidFill>
                    <a:latin typeface="Arial"/>
                  </a:rPr>
                  <a:t>, i.e. all strings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Choosing a ticket at random is choosing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uniformly from the four possibilities, with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determined.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independent fair bits; by symmetry the same holds for each pair, so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are independent.</a:t>
                </a:r>
                <a:endParaRPr sz="2400">
                  <a:solidFill>
                    <a:srgbClr val="111827"/>
                  </a:solidFill>
                </a:endParaRPr>
              </a:p>
            </p:txBody>
          </p:sp>
        </mc:Choice>
        <mc:Fallback>
          <p:sp>
            <p:nvSpPr>
              <p:cNvPr id="6" name="Rectangle 5"/>
              <p:cNvSpPr/>
              <p:nvPr/>
            </p:nvSpPr>
            <p:spPr>
              <a:xfrm>
                <a:off x="731520" y="3270504"/>
                <a:ext cx="10725912" cy="340461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Writing </a:t>
                </a:r>
                <a:r>
                  <a:rPr lang="en-IN" sz="2400">
                    <a:solidFill>
                      <a:srgbClr val="111827"/>
                    </a:solidFill>
                    <a:latin typeface="Cambria Math" panose="02040503050406030204" pitchFamily="18" charset="0"/>
                  </a:rPr>
                  <a:t>$2\to1$</a:t>
                </a:r>
                <a:r>
                  <a:rPr sz="2400" b="0">
                    <a:solidFill>
                      <a:srgbClr val="111827"/>
                    </a:solidFill>
                    <a:latin typeface="Arial"/>
                  </a:rPr>
                  <a:t>, </a:t>
                </a:r>
                <a:r>
                  <a:rPr lang="en-IN" sz="2400">
                    <a:solidFill>
                      <a:srgbClr val="111827"/>
                    </a:solidFill>
                    <a:latin typeface="Cambria Math" panose="02040503050406030204" pitchFamily="18" charset="0"/>
                  </a:rPr>
                  <a:t>$1\to0$</a:t>
                </a:r>
                <a:r>
                  <a:rPr sz="2400" b="0">
                    <a:solidFill>
                      <a:srgbClr val="111827"/>
                    </a:solidFill>
                    <a:latin typeface="Arial"/>
                  </a:rPr>
                  <a:t>: </a:t>
                </a:r>
                <a:r>
                  <a:rPr lang="en-IN" sz="2400">
                    <a:solidFill>
                      <a:srgbClr val="111827"/>
                    </a:solidFill>
                    <a:latin typeface="Cambria Math" panose="02040503050406030204" pitchFamily="18" charset="0"/>
                  </a:rPr>
                  <a:t>$112\to001$</a:t>
                </a:r>
                <a:r>
                  <a:rPr sz="2400" b="0">
                    <a:solidFill>
                      <a:srgbClr val="111827"/>
                    </a:solidFill>
                    <a:latin typeface="Arial"/>
                  </a:rPr>
                  <a:t>, </a:t>
                </a:r>
                <a:r>
                  <a:rPr lang="en-IN" sz="2400">
                    <a:solidFill>
                      <a:srgbClr val="111827"/>
                    </a:solidFill>
                    <a:latin typeface="Cambria Math" panose="02040503050406030204" pitchFamily="18" charset="0"/>
                  </a:rPr>
                  <a:t>$121\to010$</a:t>
                </a:r>
                <a:r>
                  <a:rPr sz="2400" b="0">
                    <a:solidFill>
                      <a:srgbClr val="111827"/>
                    </a:solidFill>
                    <a:latin typeface="Arial"/>
                  </a:rPr>
                  <a:t>, </a:t>
                </a:r>
                <a:r>
                  <a:rPr lang="en-IN" sz="2400">
                    <a:solidFill>
                      <a:srgbClr val="111827"/>
                    </a:solidFill>
                    <a:latin typeface="Cambria Math" panose="02040503050406030204" pitchFamily="18" charset="0"/>
                  </a:rPr>
                  <a:t>$211\to100$</a:t>
                </a:r>
                <a:r>
                  <a:rPr sz="2400" b="0">
                    <a:solidFill>
                      <a:srgbClr val="111827"/>
                    </a:solidFill>
                    <a:latin typeface="Arial"/>
                  </a:rPr>
                  <a:t>, </a:t>
                </a:r>
                <a:r>
                  <a:rPr lang="en-IN" sz="2400">
                    <a:solidFill>
                      <a:srgbClr val="111827"/>
                    </a:solidFill>
                    <a:latin typeface="Cambria Math" panose="02040503050406030204" pitchFamily="18" charset="0"/>
                  </a:rPr>
                  <a:t>$222\to111$</a:t>
                </a:r>
                <a:r>
                  <a:rPr sz="2400" b="0">
                    <a:solidFill>
                      <a:srgbClr val="111827"/>
                    </a:solidFill>
                    <a:latin typeface="Arial"/>
                  </a:rPr>
                  <a:t>, i.e. all strings </a:t>
                </a:r>
                <a:r>
                  <a:rPr lang="en-IN" sz="2400">
                    <a:solidFill>
                      <a:srgbClr val="111827"/>
                    </a:solidFill>
                    <a:latin typeface="Cambria Math" panose="02040503050406030204" pitchFamily="18" charset="0"/>
                  </a:rPr>
                  <a:t>$b_1b_2b_3$</a:t>
                </a:r>
                <a:r>
                  <a:rPr sz="2400" b="0">
                    <a:solidFill>
                      <a:srgbClr val="111827"/>
                    </a:solidFill>
                    <a:latin typeface="Arial"/>
                  </a:rPr>
                  <a:t> with </a:t>
                </a:r>
                <a:r>
                  <a:rPr lang="en-IN" sz="2400">
                    <a:solidFill>
                      <a:srgbClr val="111827"/>
                    </a:solidFill>
                    <a:latin typeface="Cambria Math" panose="02040503050406030204" pitchFamily="18" charset="0"/>
                  </a:rPr>
                  <a:t>$b_1\oplus b_2\oplus b_3=1$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Choosing a ticket at random is choosing </a:t>
                </a:r>
                <a:r>
                  <a:rPr lang="en-IN" sz="2400">
                    <a:solidFill>
                      <a:srgbClr val="111827"/>
                    </a:solidFill>
                    <a:latin typeface="Cambria Math" panose="02040503050406030204" pitchFamily="18" charset="0"/>
                  </a:rPr>
                  <a:t>$(b_1,b_2)$</a:t>
                </a:r>
                <a:r>
                  <a:rPr sz="2400" b="0">
                    <a:solidFill>
                      <a:srgbClr val="111827"/>
                    </a:solidFill>
                    <a:latin typeface="Arial"/>
                  </a:rPr>
                  <a:t> uniformly from the four possibilities, with </a:t>
                </a:r>
                <a:r>
                  <a:rPr lang="en-IN" sz="2400">
                    <a:solidFill>
                      <a:srgbClr val="111827"/>
                    </a:solidFill>
                    <a:latin typeface="Cambria Math" panose="02040503050406030204" pitchFamily="18" charset="0"/>
                  </a:rPr>
                  <a:t>$b_3=1\oplus b_1\oplus b_2$</a:t>
                </a:r>
                <a:r>
                  <a:rPr sz="2400" b="0">
                    <a:solidFill>
                      <a:srgbClr val="111827"/>
                    </a:solidFill>
                    <a:latin typeface="Arial"/>
                  </a:rPr>
                  <a:t> determined.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$b_1,b_2$</a:t>
                </a:r>
                <a:r>
                  <a:rPr sz="2400" b="0">
                    <a:solidFill>
                      <a:srgbClr val="111827"/>
                    </a:solidFill>
                    <a:latin typeface="Arial"/>
                  </a:rPr>
                  <a:t> are independent fair bits; by symmetry the same holds for each pair, so </a:t>
                </a:r>
                <a:r>
                  <a:rPr lang="en-IN" sz="2400">
                    <a:solidFill>
                      <a:srgbClr val="111827"/>
                    </a:solidFill>
                    <a:latin typeface="Cambria Math" panose="02040503050406030204" pitchFamily="18" charset="0"/>
                  </a:rPr>
                  <a:t>$E_1,E_2$</a:t>
                </a:r>
                <a:r>
                  <a:rPr sz="2400" b="0">
                    <a:solidFill>
                      <a:srgbClr val="111827"/>
                    </a:solidFill>
                    <a:latin typeface="Arial"/>
                  </a:rPr>
                  <a:t>; </a:t>
                </a:r>
                <a:r>
                  <a:rPr lang="en-IN" sz="2400">
                    <a:solidFill>
                      <a:srgbClr val="111827"/>
                    </a:solidFill>
                    <a:latin typeface="Cambria Math" panose="02040503050406030204" pitchFamily="18" charset="0"/>
                  </a:rPr>
                  <a:t>$E_2,E_3$</a:t>
                </a:r>
                <a:r>
                  <a:rPr sz="2400" b="0">
                    <a:solidFill>
                      <a:srgbClr val="111827"/>
                    </a:solidFill>
                    <a:latin typeface="Arial"/>
                  </a:rPr>
                  <a:t>; </a:t>
                </a:r>
                <a:r>
                  <a:rPr lang="en-IN" sz="2400">
                    <a:solidFill>
                      <a:srgbClr val="111827"/>
                    </a:solidFill>
                    <a:latin typeface="Cambria Math" panose="02040503050406030204" pitchFamily="18" charset="0"/>
                  </a:rPr>
                  <a:t>$E_3,E_1$</a:t>
                </a:r>
                <a:r>
                  <a:rPr sz="2400" b="0">
                    <a:solidFill>
                      <a:srgbClr val="111827"/>
                    </a:solidFill>
                    <a:latin typeface="Arial"/>
                  </a:rPr>
                  <a:t> are independent.</a:t>
                </a:r>
                <a:endParaRPr sz="2400">
                  <a:solidFill>
                    <a:srgbClr val="111827"/>
                  </a:solidFill>
                </a:endParaRPr>
              </a:p>
            </p:txBody>
          </p:sp>
        </mc:Fallback>
      </mc:AlternateContent>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three bits are not independent: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a function of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(e.g.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forces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 (B), (C) are correct and (D) is false.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three bits are not independent: </a:t>
                </a:r>
                <a:r>
                  <a:rPr lang="en-IN" sz="2400">
                    <a:solidFill>
                      <a:srgbClr val="111827"/>
                    </a:solidFill>
                    <a:latin typeface="Cambria Math" panose="02040503050406030204" pitchFamily="18" charset="0"/>
                  </a:rPr>
                  <a:t>$b_3$</a:t>
                </a:r>
                <a:r>
                  <a:rPr sz="2400" b="0">
                    <a:solidFill>
                      <a:srgbClr val="111827"/>
                    </a:solidFill>
                    <a:latin typeface="Arial"/>
                  </a:rPr>
                  <a:t> is a function of </a:t>
                </a:r>
                <a:r>
                  <a:rPr lang="en-IN" sz="2400">
                    <a:solidFill>
                      <a:srgbClr val="111827"/>
                    </a:solidFill>
                    <a:latin typeface="Cambria Math" panose="02040503050406030204" pitchFamily="18" charset="0"/>
                  </a:rPr>
                  <a:t>$b_1,b_2$</a:t>
                </a:r>
                <a:r>
                  <a:rPr sz="2400" b="0">
                    <a:solidFill>
                      <a:srgbClr val="111827"/>
                    </a:solidFill>
                    <a:latin typeface="Arial"/>
                  </a:rPr>
                  <a:t> (e.g. </a:t>
                </a:r>
                <a:r>
                  <a:rPr lang="en-IN" sz="2400">
                    <a:solidFill>
                      <a:srgbClr val="111827"/>
                    </a:solidFill>
                    <a:latin typeface="Cambria Math" panose="02040503050406030204" pitchFamily="18" charset="0"/>
                  </a:rPr>
                  <a:t>$b_1=b_2=1$</a:t>
                </a:r>
                <a:r>
                  <a:rPr sz="2400" b="0">
                    <a:solidFill>
                      <a:srgbClr val="111827"/>
                    </a:solidFill>
                    <a:latin typeface="Arial"/>
                  </a:rPr>
                  <a:t> forces </a:t>
                </a:r>
                <a:r>
                  <a:rPr lang="en-IN" sz="2400">
                    <a:solidFill>
                      <a:srgbClr val="111827"/>
                    </a:solidFill>
                    <a:latin typeface="Cambria Math" panose="02040503050406030204" pitchFamily="18" charset="0"/>
                  </a:rPr>
                  <a:t>$b_3=1$</a:t>
                </a:r>
                <a:r>
                  <a:rPr sz="2400" b="0">
                    <a:solidFill>
                      <a:srgbClr val="111827"/>
                    </a:solidFill>
                    <a:latin typeface="Arial"/>
                  </a:rPr>
                  <a:t>, probability </a:t>
                </a:r>
                <a:r>
                  <a:rPr lang="en-IN" sz="2400">
                    <a:solidFill>
                      <a:srgbClr val="111827"/>
                    </a:solidFill>
                    <a:latin typeface="Cambria Math" panose="02040503050406030204" pitchFamily="18" charset="0"/>
                  </a:rPr>
                  <a:t>$\frac14\neq\frac18$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 (B), (C) are correct and (D) is false.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a:t>
            </a:r>
            <a:endParaRPr sz="2800">
              <a:solidFill>
                <a:srgbClr val="15803D"/>
              </a:solidFill>
            </a:endParaRP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Pairwise independence does not imply mutual independence; for three events one needs the three pair conditions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Standard example (Bernstein): bits with </a:t>
                </a:r>
                <a14:m>
                  <m:oMath xmlns:m="http://schemas.openxmlformats.org/officeDocument/2006/math">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𝑏</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constant are pairwise independent but not mutually independent.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events, mutual independence needs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product conditions.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Pairwise independence does not imply mutual independence; for three events one needs the three pair conditions and </a:t>
                </a:r>
                <a:r>
                  <a:rPr lang="en-IN" sz="2400">
                    <a:solidFill>
                      <a:srgbClr val="111827"/>
                    </a:solidFill>
                    <a:latin typeface="Cambria Math" panose="02040503050406030204" pitchFamily="18" charset="0"/>
                  </a:rPr>
                  <a:t>$P(A\cap B\cap C)=P(A)P(B)P(C)$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Standard example (Bernstein): bits with </a:t>
                </a:r>
                <a:r>
                  <a:rPr lang="en-IN" sz="2400">
                    <a:solidFill>
                      <a:srgbClr val="111827"/>
                    </a:solidFill>
                    <a:latin typeface="Cambria Math" panose="02040503050406030204" pitchFamily="18" charset="0"/>
                  </a:rPr>
                  <a:t>$b_1\oplus b_2\oplus b_3=$</a:t>
                </a:r>
                <a:r>
                  <a:rPr sz="2400" b="0">
                    <a:solidFill>
                      <a:srgbClr val="111827"/>
                    </a:solidFill>
                    <a:latin typeface="Arial"/>
                  </a:rPr>
                  <a:t> constant are pairwise independent but not mutually independent.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a:t>
                </a:r>
                <a:r>
                  <a:rPr sz="2400" b="0">
                    <a:solidFill>
                      <a:srgbClr val="111827"/>
                    </a:solidFill>
                    <a:latin typeface="Arial"/>
                  </a:rPr>
                  <a:t> events, mutual independence needs </a:t>
                </a:r>
                <a:r>
                  <a:rPr lang="en-IN" sz="2400">
                    <a:solidFill>
                      <a:srgbClr val="111827"/>
                    </a:solidFill>
                    <a:latin typeface="Cambria Math" panose="02040503050406030204" pitchFamily="18" charset="0"/>
                  </a:rPr>
                  <a:t>$2^n-n-1$</a:t>
                </a:r>
                <a:r>
                  <a:rPr sz="2400" b="0">
                    <a:solidFill>
                      <a:srgbClr val="111827"/>
                    </a:solidFill>
                    <a:latin typeface="Arial"/>
                  </a:rPr>
                  <a:t> product conditions.</a:t>
                </a:r>
                <a:endParaRPr sz="2400">
                  <a:solidFill>
                    <a:srgbClr val="111827"/>
                  </a:solidFill>
                </a:endParaRPr>
              </a:p>
            </p:txBody>
          </p:sp>
        </mc:Fallback>
      </mc:AlternateContent>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0402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𝑘</m:t>
                        </m:r>
                      </m:sub>
                    </m:sSub>
                  </m:oMath>
                </a14:m>
                <a:r>
                  <a:rPr sz="2400" b="0">
                    <a:solidFill>
                      <a:srgbClr val="111827"/>
                    </a:solidFill>
                    <a:latin typeface="Arial"/>
                  </a:rPr>
                  <a:t> be a regular polygon of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sides, each of whose sides has length unity. Consider the set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𝑃</m:t>
                        </m:r>
                      </m:e>
                      <m:sub>
                        <m:r>
                          <a:rPr lang="en-IN" sz="2400" i="1">
                            <a:solidFill>
                              <a:srgbClr val="111827"/>
                            </a:solidFill>
                            <a:latin typeface="Cambria Math" panose="02040503050406030204" pitchFamily="18" charset="0"/>
                          </a:rPr>
                          <m:t>10</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 element is chosen from the set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Probability that all diagonals of the chosen polygon are equal in length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Probability that all diagonals of the chosen polygon are equal in length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Probability that the number of diagonals of the chosen polygon is an odd number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Probability that the number of diagonals of the chosen polygon is an odd number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530402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$P_k$</a:t>
                </a:r>
                <a:r>
                  <a:rPr sz="2400" b="0">
                    <a:solidFill>
                      <a:srgbClr val="111827"/>
                    </a:solidFill>
                    <a:latin typeface="Arial"/>
                  </a:rPr>
                  <a:t> be a regular polygon of </a:t>
                </a:r>
                <a:r>
                  <a:rPr lang="en-IN" sz="2400">
                    <a:solidFill>
                      <a:srgbClr val="111827"/>
                    </a:solidFill>
                    <a:latin typeface="Cambria Math" panose="02040503050406030204" pitchFamily="18" charset="0"/>
                  </a:rPr>
                  <a:t>$k$</a:t>
                </a:r>
                <a:r>
                  <a:rPr sz="2400" b="0">
                    <a:solidFill>
                      <a:srgbClr val="111827"/>
                    </a:solidFill>
                    <a:latin typeface="Arial"/>
                  </a:rPr>
                  <a:t> sides, each of whose sides has length unity. Consider the set </a:t>
                </a:r>
                <a:r>
                  <a:rPr lang="en-IN" sz="2400">
                    <a:solidFill>
                      <a:srgbClr val="111827"/>
                    </a:solidFill>
                    <a:latin typeface="Cambria Math" panose="02040503050406030204" pitchFamily="18" charset="0"/>
                  </a:rPr>
                  <a:t>$A=\{P_3,P_4,P_5,\ldots,P_{10}\}$</a:t>
                </a:r>
                <a:r>
                  <a:rPr sz="2400" b="0">
                    <a:solidFill>
                      <a:srgbClr val="111827"/>
                    </a:solidFill>
                    <a:latin typeface="Arial"/>
                  </a:rPr>
                  <a:t>. An element is chosen from the set </a:t>
                </a:r>
                <a:r>
                  <a:rPr lang="en-IN" sz="2400">
                    <a:solidFill>
                      <a:srgbClr val="111827"/>
                    </a:solidFill>
                    <a:latin typeface="Cambria Math" panose="02040503050406030204" pitchFamily="18" charset="0"/>
                  </a:rPr>
                  <a:t>$A$</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Probability that all diagonals of the chosen polygon are equal in length is </a:t>
                </a:r>
                <a:r>
                  <a:rPr lang="en-IN" sz="2400">
                    <a:solidFill>
                      <a:srgbClr val="111827"/>
                    </a:solidFill>
                    <a:latin typeface="Cambria Math" panose="02040503050406030204" pitchFamily="18" charset="0"/>
                  </a:rPr>
                  <a:t>$\frac18$</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Probability that all diagonals of the chosen polygon are equal in length is </a:t>
                </a:r>
                <a:r>
                  <a:rPr lang="en-IN" sz="2400">
                    <a:solidFill>
                      <a:srgbClr val="111827"/>
                    </a:solidFill>
                    <a:latin typeface="Cambria Math" panose="02040503050406030204" pitchFamily="18" charset="0"/>
                  </a:rPr>
                  <a:t>$\frac14$</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Probability that the number of diagonals of the chosen polygon is an odd number is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Probability that the number of diagonals of the chosen polygon is an odd number is </a:t>
                </a:r>
                <a:r>
                  <a:rPr lang="en-IN" sz="2400">
                    <a:solidFill>
                      <a:srgbClr val="111827"/>
                    </a:solidFill>
                    <a:latin typeface="Cambria Math" panose="02040503050406030204" pitchFamily="18" charset="0"/>
                  </a:rPr>
                  <a:t>$\frac58$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Counting diagonals of a polygon and equal diagonals of regular polygons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2.5(A little easier than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Count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for </a:t>
                </a:r>
                <a14:m>
                  <m:oMath xmlns:m="http://schemas.openxmlformats.org/officeDocument/2006/math">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oMath>
                </a14:m>
                <a:r>
                  <a:rPr sz="2400" b="0">
                    <a:solidFill>
                      <a:srgbClr val="78350F"/>
                    </a:solidFill>
                    <a:latin typeface="Arial"/>
                  </a:rPr>
                  <a:t> and use that only the square and regular pentagon have all diagonals equal.</a:t>
                </a:r>
                <a:endParaRPr sz="2400">
                  <a:solidFill>
                    <a:srgbClr val="78350F"/>
                  </a:solidFill>
                </a:endParaRPr>
              </a:p>
            </p:txBody>
          </p:sp>
        </mc:Choice>
        <mc:Fallback>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Count </a:t>
                </a:r>
                <a:r>
                  <a:rPr lang="en-IN" sz="2400">
                    <a:solidFill>
                      <a:srgbClr val="78350F"/>
                    </a:solidFill>
                    <a:latin typeface="Cambria Math" panose="02040503050406030204" pitchFamily="18" charset="0"/>
                  </a:rPr>
                  <a:t>$\frac{k(k-3)}{2}$</a:t>
                </a:r>
                <a:r>
                  <a:rPr sz="2400" b="0">
                    <a:solidFill>
                      <a:srgbClr val="78350F"/>
                    </a:solidFill>
                    <a:latin typeface="Arial"/>
                  </a:rPr>
                  <a:t> for </a:t>
                </a:r>
                <a:r>
                  <a:rPr lang="en-IN" sz="2400">
                    <a:solidFill>
                      <a:srgbClr val="78350F"/>
                    </a:solidFill>
                    <a:latin typeface="Cambria Math" panose="02040503050406030204" pitchFamily="18" charset="0"/>
                  </a:rPr>
                  <a:t>$k=3,\ldots,10$</a:t>
                </a:r>
                <a:r>
                  <a:rPr sz="2400" b="0">
                    <a:solidFill>
                      <a:srgbClr val="78350F"/>
                    </a:solidFill>
                    <a:latin typeface="Arial"/>
                  </a:rPr>
                  <a:t> and use that only the square and regular pentagon have all diagonals equal.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set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has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polygons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each equally likely.</a:t>
                </a:r>
                <a:endParaRPr sz="2400">
                  <a:solidFill>
                    <a:srgbClr val="111827"/>
                  </a:solidFill>
                </a:endParaRPr>
              </a:p>
            </p:txBody>
          </p:sp>
        </mc:Choice>
        <mc:Fallback>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set </a:t>
                </a:r>
                <a:r>
                  <a:rPr lang="en-IN" sz="2400">
                    <a:solidFill>
                      <a:srgbClr val="111827"/>
                    </a:solidFill>
                    <a:latin typeface="Cambria Math" panose="02040503050406030204" pitchFamily="18" charset="0"/>
                  </a:rPr>
                  <a:t>$A$</a:t>
                </a:r>
                <a:r>
                  <a:rPr sz="2400" b="0">
                    <a:solidFill>
                      <a:srgbClr val="111827"/>
                    </a:solidFill>
                    <a:latin typeface="Arial"/>
                  </a:rPr>
                  <a:t> has </a:t>
                </a:r>
                <a:r>
                  <a:rPr lang="en-IN" sz="2400">
                    <a:solidFill>
                      <a:srgbClr val="111827"/>
                    </a:solidFill>
                    <a:latin typeface="Cambria Math" panose="02040503050406030204" pitchFamily="18" charset="0"/>
                  </a:rPr>
                  <a:t>$8$</a:t>
                </a:r>
                <a:r>
                  <a:rPr sz="2400" b="0">
                    <a:solidFill>
                      <a:srgbClr val="111827"/>
                    </a:solidFill>
                    <a:latin typeface="Arial"/>
                  </a:rPr>
                  <a:t> polygons (</a:t>
                </a:r>
                <a:r>
                  <a:rPr lang="en-IN" sz="2400">
                    <a:solidFill>
                      <a:srgbClr val="111827"/>
                    </a:solidFill>
                    <a:latin typeface="Cambria Math" panose="02040503050406030204" pitchFamily="18" charset="0"/>
                  </a:rPr>
                  <a:t>$k=3,\ldots,10$</a:t>
                </a:r>
                <a:r>
                  <a:rPr sz="2400" b="0">
                    <a:solidFill>
                      <a:srgbClr val="111827"/>
                    </a:solidFill>
                    <a:latin typeface="Arial"/>
                  </a:rPr>
                  <a:t>), each equally likely.</a:t>
                </a:r>
                <a:endParaRPr sz="2400">
                  <a:solidFill>
                    <a:srgbClr val="111827"/>
                  </a:solidFill>
                </a:endParaRPr>
              </a:p>
            </p:txBody>
          </p:sp>
        </mc:Fallback>
      </mc:AlternateContent>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polygon with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sides has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diagonals: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square (2 diagonals) and a regular pentagon (5 diagonals) have all diagonals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the diagonals joining vertices two apart and three apart have lengths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which differ unless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e.g. a regular hexagon has diagonals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has no diagonals at all, so it is not counted; thus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of the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polygons qualify and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(B) correct, (A) false.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polygon with </a:t>
                </a:r>
                <a:r>
                  <a:rPr lang="en-IN" sz="2400">
                    <a:solidFill>
                      <a:srgbClr val="111827"/>
                    </a:solidFill>
                    <a:latin typeface="Cambria Math" panose="02040503050406030204" pitchFamily="18" charset="0"/>
                  </a:rPr>
                  <a:t>$k$</a:t>
                </a:r>
                <a:r>
                  <a:rPr sz="2400" b="0">
                    <a:solidFill>
                      <a:srgbClr val="111827"/>
                    </a:solidFill>
                    <a:latin typeface="Arial"/>
                  </a:rPr>
                  <a:t> sides has </a:t>
                </a:r>
                <a:r>
                  <a:rPr lang="en-IN" sz="2400">
                    <a:solidFill>
                      <a:srgbClr val="111827"/>
                    </a:solidFill>
                    <a:latin typeface="Cambria Math" panose="02040503050406030204" pitchFamily="18" charset="0"/>
                  </a:rPr>
                  <a:t>$\frac{k(k-3)}{2}$</a:t>
                </a:r>
                <a:r>
                  <a:rPr sz="2400" b="0">
                    <a:solidFill>
                      <a:srgbClr val="111827"/>
                    </a:solidFill>
                    <a:latin typeface="Arial"/>
                  </a:rPr>
                  <a:t> diagonals: </a:t>
                </a:r>
                <a:r>
                  <a:rPr lang="en-IN" sz="2400">
                    <a:solidFill>
                      <a:srgbClr val="111827"/>
                    </a:solidFill>
                    <a:latin typeface="Cambria Math" panose="02040503050406030204" pitchFamily="18" charset="0"/>
                  </a:rPr>
                  <a:t>$0,2,5,9,14,20,27,35$</a:t>
                </a:r>
                <a:r>
                  <a:rPr sz="2400" b="0">
                    <a:solidFill>
                      <a:srgbClr val="111827"/>
                    </a:solidFill>
                    <a:latin typeface="Arial"/>
                  </a:rPr>
                  <a:t> for </a:t>
                </a:r>
                <a:r>
                  <a:rPr lang="en-IN" sz="2400">
                    <a:solidFill>
                      <a:srgbClr val="111827"/>
                    </a:solidFill>
                    <a:latin typeface="Cambria Math" panose="02040503050406030204" pitchFamily="18" charset="0"/>
                  </a:rPr>
                  <a:t>$k=3,\ldots,10$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square (2 diagonals) and a regular pentagon (5 diagonals) have all diagonals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$k\ge6$</a:t>
                </a:r>
                <a:r>
                  <a:rPr sz="2400" b="0">
                    <a:solidFill>
                      <a:srgbClr val="111827"/>
                    </a:solidFill>
                    <a:latin typeface="Arial"/>
                  </a:rPr>
                  <a:t> the diagonals joining vertices two apart and three apart have lengths </a:t>
                </a:r>
                <a:r>
                  <a:rPr lang="en-IN" sz="2400">
                    <a:solidFill>
                      <a:srgbClr val="111827"/>
                    </a:solidFill>
                    <a:latin typeface="Cambria Math" panose="02040503050406030204" pitchFamily="18" charset="0"/>
                  </a:rPr>
                  <a:t>$2R\sin\frac{2\pi}{k}$</a:t>
                </a:r>
                <a:r>
                  <a:rPr sz="2400" b="0">
                    <a:solidFill>
                      <a:srgbClr val="111827"/>
                    </a:solidFill>
                    <a:latin typeface="Arial"/>
                  </a:rPr>
                  <a:t> and </a:t>
                </a:r>
                <a:r>
                  <a:rPr lang="en-IN" sz="2400">
                    <a:solidFill>
                      <a:srgbClr val="111827"/>
                    </a:solidFill>
                    <a:latin typeface="Cambria Math" panose="02040503050406030204" pitchFamily="18" charset="0"/>
                  </a:rPr>
                  <a:t>$2R\sin\frac{3\pi}{k}$</a:t>
                </a:r>
                <a:r>
                  <a:rPr sz="2400" b="0">
                    <a:solidFill>
                      <a:srgbClr val="111827"/>
                    </a:solidFill>
                    <a:latin typeface="Arial"/>
                  </a:rPr>
                  <a:t>, which differ unless </a:t>
                </a:r>
                <a:r>
                  <a:rPr lang="en-IN" sz="2400">
                    <a:solidFill>
                      <a:srgbClr val="111827"/>
                    </a:solidFill>
                    <a:latin typeface="Cambria Math" panose="02040503050406030204" pitchFamily="18" charset="0"/>
                  </a:rPr>
                  <a:t>$k=5$</a:t>
                </a:r>
                <a:r>
                  <a:rPr sz="2400" b="0">
                    <a:solidFill>
                      <a:srgbClr val="111827"/>
                    </a:solidFill>
                    <a:latin typeface="Arial"/>
                  </a:rPr>
                  <a:t>; e.g. a regular hexagon has diagonals </a:t>
                </a:r>
                <a:r>
                  <a:rPr lang="en-IN" sz="2400">
                    <a:solidFill>
                      <a:srgbClr val="111827"/>
                    </a:solidFill>
                    <a:latin typeface="Cambria Math" panose="02040503050406030204" pitchFamily="18" charset="0"/>
                  </a:rPr>
                  <a:t>$\sqrt3$</a:t>
                </a:r>
                <a:r>
                  <a:rPr sz="2400" b="0">
                    <a:solidFill>
                      <a:srgbClr val="111827"/>
                    </a:solidFill>
                    <a:latin typeface="Arial"/>
                  </a:rPr>
                  <a:t> and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triangle has no diagonals at all, so it is not counted; thus </a:t>
                </a:r>
                <a:r>
                  <a:rPr lang="en-IN" sz="2400">
                    <a:solidFill>
                      <a:srgbClr val="111827"/>
                    </a:solidFill>
                    <a:latin typeface="Cambria Math" panose="02040503050406030204" pitchFamily="18" charset="0"/>
                  </a:rPr>
                  <a:t>$2$</a:t>
                </a:r>
                <a:r>
                  <a:rPr sz="2400" b="0">
                    <a:solidFill>
                      <a:srgbClr val="111827"/>
                    </a:solidFill>
                    <a:latin typeface="Arial"/>
                  </a:rPr>
                  <a:t> of the </a:t>
                </a:r>
                <a:r>
                  <a:rPr lang="en-IN" sz="2400">
                    <a:solidFill>
                      <a:srgbClr val="111827"/>
                    </a:solidFill>
                    <a:latin typeface="Cambria Math" panose="02040503050406030204" pitchFamily="18" charset="0"/>
                  </a:rPr>
                  <a:t>$8$</a:t>
                </a:r>
                <a:r>
                  <a:rPr sz="2400" b="0">
                    <a:solidFill>
                      <a:srgbClr val="111827"/>
                    </a:solidFill>
                    <a:latin typeface="Arial"/>
                  </a:rPr>
                  <a:t> polygons qualify and the probability is </a:t>
                </a:r>
                <a:r>
                  <a:rPr lang="en-IN" sz="2400">
                    <a:solidFill>
                      <a:srgbClr val="111827"/>
                    </a:solidFill>
                    <a:latin typeface="Cambria Math" panose="02040503050406030204" pitchFamily="18" charset="0"/>
                  </a:rPr>
                  <a:t>$\frac28=\frac14$</a:t>
                </a:r>
                <a:r>
                  <a:rPr sz="2400" b="0">
                    <a:solidFill>
                      <a:srgbClr val="111827"/>
                    </a:solidFill>
                    <a:latin typeface="Arial"/>
                  </a:rPr>
                  <a:t>: (B) correct, (A) false.</a:t>
                </a:r>
                <a:endParaRPr sz="2400">
                  <a:solidFill>
                    <a:srgbClr val="111827"/>
                  </a:solidFill>
                </a:endParaRPr>
              </a:p>
            </p:txBody>
          </p:sp>
        </mc:Fallback>
      </mc:AlternateContent>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number of diagonals is odd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(values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 and even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 correct, (D) false.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number of diagonals is odd for </a:t>
                </a:r>
                <a:r>
                  <a:rPr lang="en-IN" sz="2400">
                    <a:solidFill>
                      <a:srgbClr val="111827"/>
                    </a:solidFill>
                    <a:latin typeface="Cambria Math" panose="02040503050406030204" pitchFamily="18" charset="0"/>
                  </a:rPr>
                  <a:t>$k=5,6,9,10$</a:t>
                </a:r>
                <a:r>
                  <a:rPr sz="2400" b="0">
                    <a:solidFill>
                      <a:srgbClr val="111827"/>
                    </a:solidFill>
                    <a:latin typeface="Arial"/>
                  </a:rPr>
                  <a:t> (values </a:t>
                </a:r>
                <a:r>
                  <a:rPr lang="en-IN" sz="2400">
                    <a:solidFill>
                      <a:srgbClr val="111827"/>
                    </a:solidFill>
                    <a:latin typeface="Cambria Math" panose="02040503050406030204" pitchFamily="18" charset="0"/>
                  </a:rPr>
                  <a:t>$5,9,27,35$</a:t>
                </a:r>
                <a:r>
                  <a:rPr sz="2400" b="0">
                    <a:solidFill>
                      <a:srgbClr val="111827"/>
                    </a:solidFill>
                    <a:latin typeface="Arial"/>
                  </a:rPr>
                  <a:t>), and even for </a:t>
                </a:r>
                <a:r>
                  <a:rPr lang="en-IN" sz="2400">
                    <a:solidFill>
                      <a:srgbClr val="111827"/>
                    </a:solidFill>
                    <a:latin typeface="Cambria Math" panose="02040503050406030204" pitchFamily="18" charset="0"/>
                  </a:rPr>
                  <a:t>$k=3,4,7,8$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$=\frac48=\frac12$</a:t>
                </a:r>
                <a:r>
                  <a:rPr sz="2400" b="0">
                    <a:solidFill>
                      <a:srgbClr val="111827"/>
                    </a:solidFill>
                    <a:latin typeface="Arial"/>
                  </a:rPr>
                  <a:t>: (C) correct, (D) false.</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Classify diagonals by the number of sides they skip, and test parity of the diagonal count modulo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Classify diagonals by the number of sides they skip, and test parity of the diagonal count modulo </a:t>
                </a:r>
                <a:r>
                  <a:rPr lang="en-IN" sz="2400">
                    <a:solidFill>
                      <a:srgbClr val="78350F"/>
                    </a:solidFill>
                    <a:latin typeface="Cambria Math" panose="02040503050406030204" pitchFamily="18" charset="0"/>
                  </a:rPr>
                  <a:t>$4$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-gon, a diagonal skipping </a:t>
                </a:r>
                <a14:m>
                  <m:oMath xmlns:m="http://schemas.openxmlformats.org/officeDocument/2006/math">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vertices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a length that depends only on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and different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give different lengths.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distinct diagonal lengths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triangle has no diagonals.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diagonals are equal iff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only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of the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polygons, so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(B).</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diagonals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odd iff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regular </a:t>
                </a:r>
                <a:r>
                  <a:rPr lang="en-IN" sz="2400">
                    <a:solidFill>
                      <a:srgbClr val="111827"/>
                    </a:solidFill>
                    <a:latin typeface="Cambria Math" panose="02040503050406030204" pitchFamily="18" charset="0"/>
                  </a:rPr>
                  <a:t>$k$</a:t>
                </a:r>
                <a:r>
                  <a:rPr sz="2400" b="0">
                    <a:solidFill>
                      <a:srgbClr val="111827"/>
                    </a:solidFill>
                    <a:latin typeface="Arial"/>
                  </a:rPr>
                  <a:t>-gon, a diagonal skipping </a:t>
                </a:r>
                <a:r>
                  <a:rPr lang="en-IN" sz="2400">
                    <a:solidFill>
                      <a:srgbClr val="111827"/>
                    </a:solidFill>
                    <a:latin typeface="Cambria Math" panose="02040503050406030204" pitchFamily="18" charset="0"/>
                  </a:rPr>
                  <a:t>$j-1$</a:t>
                </a:r>
                <a:r>
                  <a:rPr sz="2400" b="0">
                    <a:solidFill>
                      <a:srgbClr val="111827"/>
                    </a:solidFill>
                    <a:latin typeface="Arial"/>
                  </a:rPr>
                  <a:t> vertices (</a:t>
                </a:r>
                <a:r>
                  <a:rPr lang="en-IN" sz="2400">
                    <a:solidFill>
                      <a:srgbClr val="111827"/>
                    </a:solidFill>
                    <a:latin typeface="Cambria Math" panose="02040503050406030204" pitchFamily="18" charset="0"/>
                  </a:rPr>
                  <a:t>$2\le j\le\lfloor k/2\rfloor$</a:t>
                </a:r>
                <a:r>
                  <a:rPr sz="2400" b="0">
                    <a:solidFill>
                      <a:srgbClr val="111827"/>
                    </a:solidFill>
                    <a:latin typeface="Arial"/>
                  </a:rPr>
                  <a:t>) has a length that depends only on </a:t>
                </a:r>
                <a:r>
                  <a:rPr lang="en-IN" sz="2400">
                    <a:solidFill>
                      <a:srgbClr val="111827"/>
                    </a:solidFill>
                    <a:latin typeface="Cambria Math" panose="02040503050406030204" pitchFamily="18" charset="0"/>
                  </a:rPr>
                  <a:t>$j$</a:t>
                </a:r>
                <a:r>
                  <a:rPr sz="2400" b="0">
                    <a:solidFill>
                      <a:srgbClr val="111827"/>
                    </a:solidFill>
                    <a:latin typeface="Arial"/>
                  </a:rPr>
                  <a:t>, and different </a:t>
                </a:r>
                <a:r>
                  <a:rPr lang="en-IN" sz="2400">
                    <a:solidFill>
                      <a:srgbClr val="111827"/>
                    </a:solidFill>
                    <a:latin typeface="Cambria Math" panose="02040503050406030204" pitchFamily="18" charset="0"/>
                  </a:rPr>
                  <a:t>$j$</a:t>
                </a:r>
                <a:r>
                  <a:rPr sz="2400" b="0">
                    <a:solidFill>
                      <a:srgbClr val="111827"/>
                    </a:solidFill>
                    <a:latin typeface="Arial"/>
                  </a:rPr>
                  <a:t> give different lengths.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distinct diagonal lengths is </a:t>
                </a:r>
                <a:r>
                  <a:rPr lang="en-IN" sz="2400">
                    <a:solidFill>
                      <a:srgbClr val="111827"/>
                    </a:solidFill>
                    <a:latin typeface="Cambria Math" panose="02040503050406030204" pitchFamily="18" charset="0"/>
                  </a:rPr>
                  <a:t>$\lfloor k/2\rfloor-1$</a:t>
                </a:r>
                <a:r>
                  <a:rPr sz="2400" b="0">
                    <a:solidFill>
                      <a:srgbClr val="111827"/>
                    </a:solidFill>
                    <a:latin typeface="Arial"/>
                  </a:rPr>
                  <a:t> (for </a:t>
                </a:r>
                <a:r>
                  <a:rPr lang="en-IN" sz="2400">
                    <a:solidFill>
                      <a:srgbClr val="111827"/>
                    </a:solidFill>
                    <a:latin typeface="Cambria Math" panose="02040503050406030204" pitchFamily="18" charset="0"/>
                  </a:rPr>
                  <a:t>$k\ge4$</a:t>
                </a:r>
                <a:r>
                  <a:rPr sz="2400" b="0">
                    <a:solidFill>
                      <a:srgbClr val="111827"/>
                    </a:solidFill>
                    <a:latin typeface="Arial"/>
                  </a:rPr>
                  <a:t>); the triangle has no diagonals.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diagonals are equal iff </a:t>
                </a:r>
                <a:r>
                  <a:rPr lang="en-IN" sz="2400">
                    <a:solidFill>
                      <a:srgbClr val="111827"/>
                    </a:solidFill>
                    <a:latin typeface="Cambria Math" panose="02040503050406030204" pitchFamily="18" charset="0"/>
                  </a:rPr>
                  <a:t>$\lfloor k/2\rfloor-1=1$</a:t>
                </a:r>
                <a:r>
                  <a:rPr sz="2400" b="0">
                    <a:solidFill>
                      <a:srgbClr val="111827"/>
                    </a:solidFill>
                    <a:latin typeface="Arial"/>
                  </a:rPr>
                  <a:t>, i.e. </a:t>
                </a:r>
                <a:r>
                  <a:rPr lang="en-IN" sz="2400">
                    <a:solidFill>
                      <a:srgbClr val="111827"/>
                    </a:solidFill>
                    <a:latin typeface="Cambria Math" panose="02040503050406030204" pitchFamily="18" charset="0"/>
                  </a:rPr>
                  <a:t>$k=4,5$</a:t>
                </a:r>
                <a:r>
                  <a:rPr sz="2400" b="0">
                    <a:solidFill>
                      <a:srgbClr val="111827"/>
                    </a:solidFill>
                    <a:latin typeface="Arial"/>
                  </a:rPr>
                  <a:t>: only </a:t>
                </a:r>
                <a:r>
                  <a:rPr lang="en-IN" sz="2400">
                    <a:solidFill>
                      <a:srgbClr val="111827"/>
                    </a:solidFill>
                    <a:latin typeface="Cambria Math" panose="02040503050406030204" pitchFamily="18" charset="0"/>
                  </a:rPr>
                  <a:t>$2$</a:t>
                </a:r>
                <a:r>
                  <a:rPr sz="2400" b="0">
                    <a:solidFill>
                      <a:srgbClr val="111827"/>
                    </a:solidFill>
                    <a:latin typeface="Arial"/>
                  </a:rPr>
                  <a:t> of the </a:t>
                </a:r>
                <a:r>
                  <a:rPr lang="en-IN" sz="2400">
                    <a:solidFill>
                      <a:srgbClr val="111827"/>
                    </a:solidFill>
                    <a:latin typeface="Cambria Math" panose="02040503050406030204" pitchFamily="18" charset="0"/>
                  </a:rPr>
                  <a:t>$8$</a:t>
                </a:r>
                <a:r>
                  <a:rPr sz="2400" b="0">
                    <a:solidFill>
                      <a:srgbClr val="111827"/>
                    </a:solidFill>
                    <a:latin typeface="Arial"/>
                  </a:rPr>
                  <a:t> polygons, so the probability is </a:t>
                </a:r>
                <a:r>
                  <a:rPr lang="en-IN" sz="2400">
                    <a:solidFill>
                      <a:srgbClr val="111827"/>
                    </a:solidFill>
                    <a:latin typeface="Cambria Math" panose="02040503050406030204" pitchFamily="18" charset="0"/>
                  </a:rPr>
                  <a:t>$\frac28=\frac14$</a:t>
                </a:r>
                <a:r>
                  <a:rPr sz="2400" b="0">
                    <a:solidFill>
                      <a:srgbClr val="111827"/>
                    </a:solidFill>
                    <a:latin typeface="Arial"/>
                  </a:rPr>
                  <a:t> (B).</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diagonals is </a:t>
                </a:r>
                <a:r>
                  <a:rPr lang="en-IN" sz="2400">
                    <a:solidFill>
                      <a:srgbClr val="111827"/>
                    </a:solidFill>
                    <a:latin typeface="Cambria Math" panose="02040503050406030204" pitchFamily="18" charset="0"/>
                  </a:rPr>
                  <a:t>$\frac{k(k-3)}{2}$</a:t>
                </a:r>
                <a:r>
                  <a:rPr sz="2400" b="0">
                    <a:solidFill>
                      <a:srgbClr val="111827"/>
                    </a:solidFill>
                    <a:latin typeface="Arial"/>
                  </a:rPr>
                  <a:t>, odd iff </a:t>
                </a:r>
                <a:r>
                  <a:rPr lang="en-IN" sz="2400">
                    <a:solidFill>
                      <a:srgbClr val="111827"/>
                    </a:solidFill>
                    <a:latin typeface="Cambria Math" panose="02040503050406030204" pitchFamily="18" charset="0"/>
                  </a:rPr>
                  <a:t>$k(k-3)\equiv2\pmod 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residues of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mod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odd iff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this gives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and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are false; the answer is (B),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residues of </a:t>
                </a:r>
                <a:r>
                  <a:rPr lang="en-IN" sz="2400">
                    <a:solidFill>
                      <a:srgbClr val="111827"/>
                    </a:solidFill>
                    <a:latin typeface="Cambria Math" panose="02040503050406030204" pitchFamily="18" charset="0"/>
                  </a:rPr>
                  <a:t>$k$</a:t>
                </a:r>
                <a:r>
                  <a:rPr sz="2400" b="0">
                    <a:solidFill>
                      <a:srgbClr val="111827"/>
                    </a:solidFill>
                    <a:latin typeface="Arial"/>
                  </a:rPr>
                  <a:t> mod </a:t>
                </a:r>
                <a:r>
                  <a:rPr lang="en-IN" sz="2400">
                    <a:solidFill>
                      <a:srgbClr val="111827"/>
                    </a:solidFill>
                    <a:latin typeface="Cambria Math" panose="02040503050406030204" pitchFamily="18" charset="0"/>
                  </a:rPr>
                  <a:t>$4$</a:t>
                </a:r>
                <a:r>
                  <a:rPr sz="2400" b="0">
                    <a:solidFill>
                      <a:srgbClr val="111827"/>
                    </a:solidFill>
                    <a:latin typeface="Arial"/>
                  </a:rPr>
                  <a:t>: </a:t>
                </a:r>
                <a:r>
                  <a:rPr lang="en-IN" sz="2400">
                    <a:solidFill>
                      <a:srgbClr val="111827"/>
                    </a:solidFill>
                    <a:latin typeface="Cambria Math" panose="02040503050406030204" pitchFamily="18" charset="0"/>
                  </a:rPr>
                  <a:t>$0\to0$</a:t>
                </a:r>
                <a:r>
                  <a:rPr sz="2400" b="0">
                    <a:solidFill>
                      <a:srgbClr val="111827"/>
                    </a:solidFill>
                    <a:latin typeface="Arial"/>
                  </a:rPr>
                  <a:t>, </a:t>
                </a:r>
                <a:r>
                  <a:rPr lang="en-IN" sz="2400">
                    <a:solidFill>
                      <a:srgbClr val="111827"/>
                    </a:solidFill>
                    <a:latin typeface="Cambria Math" panose="02040503050406030204" pitchFamily="18" charset="0"/>
                  </a:rPr>
                  <a:t>$1\to1\cdot(-2)\equiv2$</a:t>
                </a:r>
                <a:r>
                  <a:rPr sz="2400" b="0">
                    <a:solidFill>
                      <a:srgbClr val="111827"/>
                    </a:solidFill>
                    <a:latin typeface="Arial"/>
                  </a:rPr>
                  <a:t>, </a:t>
                </a:r>
                <a:r>
                  <a:rPr lang="en-IN" sz="2400">
                    <a:solidFill>
                      <a:srgbClr val="111827"/>
                    </a:solidFill>
                    <a:latin typeface="Cambria Math" panose="02040503050406030204" pitchFamily="18" charset="0"/>
                  </a:rPr>
                  <a:t>$2\to2\cdot(-1)\equiv2$</a:t>
                </a:r>
                <a:r>
                  <a:rPr sz="2400" b="0">
                    <a:solidFill>
                      <a:srgbClr val="111827"/>
                    </a:solidFill>
                    <a:latin typeface="Arial"/>
                  </a:rPr>
                  <a:t>, </a:t>
                </a:r>
                <a:r>
                  <a:rPr lang="en-IN" sz="2400">
                    <a:solidFill>
                      <a:srgbClr val="111827"/>
                    </a:solidFill>
                    <a:latin typeface="Cambria Math" panose="02040503050406030204" pitchFamily="18" charset="0"/>
                  </a:rPr>
                  <a:t>$3\to0$</a:t>
                </a:r>
                <a:r>
                  <a:rPr sz="2400" b="0">
                    <a:solidFill>
                      <a:srgbClr val="111827"/>
                    </a:solidFill>
                    <a:latin typeface="Arial"/>
                  </a:rPr>
                  <a:t>; so odd iff </a:t>
                </a:r>
                <a:r>
                  <a:rPr lang="en-IN" sz="2400">
                    <a:solidFill>
                      <a:srgbClr val="111827"/>
                    </a:solidFill>
                    <a:latin typeface="Cambria Math" panose="02040503050406030204" pitchFamily="18" charset="0"/>
                  </a:rPr>
                  <a:t>$k\equiv1,2\pmod4$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$3\le k\le10$</a:t>
                </a:r>
                <a:r>
                  <a:rPr sz="2400" b="0">
                    <a:solidFill>
                      <a:srgbClr val="111827"/>
                    </a:solidFill>
                    <a:latin typeface="Arial"/>
                  </a:rPr>
                  <a:t> this gives </a:t>
                </a:r>
                <a:r>
                  <a:rPr lang="en-IN" sz="2400">
                    <a:solidFill>
                      <a:srgbClr val="111827"/>
                    </a:solidFill>
                    <a:latin typeface="Cambria Math" panose="02040503050406030204" pitchFamily="18" charset="0"/>
                  </a:rPr>
                  <a:t>$k=5,6,9,10$</a:t>
                </a:r>
                <a:r>
                  <a:rPr sz="2400" b="0">
                    <a:solidFill>
                      <a:srgbClr val="111827"/>
                    </a:solidFill>
                    <a:latin typeface="Arial"/>
                  </a:rPr>
                  <a:t>, i.e. </a:t>
                </a:r>
                <a:r>
                  <a:rPr lang="en-IN" sz="2400">
                    <a:solidFill>
                      <a:srgbClr val="111827"/>
                    </a:solidFill>
                    <a:latin typeface="Cambria Math" panose="02040503050406030204" pitchFamily="18" charset="0"/>
                  </a:rPr>
                  <a:t>$4$</a:t>
                </a:r>
                <a:r>
                  <a:rPr sz="2400" b="0">
                    <a:solidFill>
                      <a:srgbClr val="111827"/>
                    </a:solidFill>
                    <a:latin typeface="Arial"/>
                  </a:rPr>
                  <a:t> of </a:t>
                </a:r>
                <a:r>
                  <a:rPr lang="en-IN" sz="2400">
                    <a:solidFill>
                      <a:srgbClr val="111827"/>
                    </a:solidFill>
                    <a:latin typeface="Cambria Math" panose="02040503050406030204" pitchFamily="18" charset="0"/>
                  </a:rPr>
                  <a:t>$8$</a:t>
                </a:r>
                <a:r>
                  <a:rPr sz="2400" b="0">
                    <a:solidFill>
                      <a:srgbClr val="111827"/>
                    </a:solidFill>
                    <a:latin typeface="Arial"/>
                  </a:rPr>
                  <a:t>: probability </a:t>
                </a:r>
                <a:r>
                  <a:rPr lang="en-IN" sz="2400">
                    <a:solidFill>
                      <a:srgbClr val="111827"/>
                    </a:solidFill>
                    <a:latin typeface="Cambria Math" panose="02040503050406030204" pitchFamily="18" charset="0"/>
                  </a:rPr>
                  <a:t>$\frac12$</a:t>
                </a:r>
                <a:r>
                  <a:rPr sz="2400" b="0">
                    <a:solidFill>
                      <a:srgbClr val="111827"/>
                    </a:solidFill>
                    <a:latin typeface="Arial"/>
                  </a:rPr>
                  <a:t>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 </a:t>
                </a:r>
                <a:r>
                  <a:rPr lang="en-IN" sz="2400">
                    <a:solidFill>
                      <a:srgbClr val="111827"/>
                    </a:solidFill>
                    <a:latin typeface="Cambria Math" panose="02040503050406030204" pitchFamily="18" charset="0"/>
                  </a:rPr>
                  <a:t>$\frac18$</a:t>
                </a:r>
                <a:r>
                  <a:rPr sz="2400" b="0">
                    <a:solidFill>
                      <a:srgbClr val="111827"/>
                    </a:solidFill>
                    <a:latin typeface="Arial"/>
                  </a:rPr>
                  <a:t> and (D) </a:t>
                </a:r>
                <a:r>
                  <a:rPr lang="en-IN" sz="2400">
                    <a:solidFill>
                      <a:srgbClr val="111827"/>
                    </a:solidFill>
                    <a:latin typeface="Cambria Math" panose="02040503050406030204" pitchFamily="18" charset="0"/>
                  </a:rPr>
                  <a:t>$\frac58$</a:t>
                </a:r>
                <a:r>
                  <a:rPr sz="2400" b="0">
                    <a:solidFill>
                      <a:srgbClr val="111827"/>
                    </a:solidFill>
                    <a:latin typeface="Arial"/>
                  </a:rPr>
                  <a:t> are false; the answer is (B), (C).</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diagonals of a convex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-gon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it is odd iff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(checked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 regular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-gon with circumradius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the diagonal skipping </a:t>
                </a:r>
                <a14:m>
                  <m:oMath xmlns:m="http://schemas.openxmlformats.org/officeDocument/2006/math">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vertices has length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𝑗</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there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distinct lengths, so all diagonals are equal only for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vacuously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side length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in the question is irrelevant to which polygons have equal diagonals.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diagonals of a convex </a:t>
                </a:r>
                <a:r>
                  <a:rPr lang="en-IN" sz="2400">
                    <a:solidFill>
                      <a:srgbClr val="111827"/>
                    </a:solidFill>
                    <a:latin typeface="Cambria Math" panose="02040503050406030204" pitchFamily="18" charset="0"/>
                  </a:rPr>
                  <a:t>$k$</a:t>
                </a:r>
                <a:r>
                  <a:rPr sz="2400" b="0">
                    <a:solidFill>
                      <a:srgbClr val="111827"/>
                    </a:solidFill>
                    <a:latin typeface="Arial"/>
                  </a:rPr>
                  <a:t>-gon is </a:t>
                </a:r>
                <a:r>
                  <a:rPr lang="en-IN" sz="2400">
                    <a:solidFill>
                      <a:srgbClr val="111827"/>
                    </a:solidFill>
                    <a:latin typeface="Cambria Math" panose="02040503050406030204" pitchFamily="18" charset="0"/>
                  </a:rPr>
                  <a:t>$\frac{k(k-3)}{2}$</a:t>
                </a:r>
                <a:r>
                  <a:rPr sz="2400" b="0">
                    <a:solidFill>
                      <a:srgbClr val="111827"/>
                    </a:solidFill>
                    <a:latin typeface="Arial"/>
                  </a:rPr>
                  <a:t>; it is odd iff </a:t>
                </a:r>
                <a:r>
                  <a:rPr lang="en-IN" sz="2400">
                    <a:solidFill>
                      <a:srgbClr val="111827"/>
                    </a:solidFill>
                    <a:latin typeface="Cambria Math" panose="02040503050406030204" pitchFamily="18" charset="0"/>
                  </a:rPr>
                  <a:t>$k\equiv1$</a:t>
                </a:r>
                <a:r>
                  <a:rPr sz="2400" b="0">
                    <a:solidFill>
                      <a:srgbClr val="111827"/>
                    </a:solidFill>
                    <a:latin typeface="Arial"/>
                  </a:rPr>
                  <a:t> or </a:t>
                </a:r>
                <a:r>
                  <a:rPr lang="en-IN" sz="2400">
                    <a:solidFill>
                      <a:srgbClr val="111827"/>
                    </a:solidFill>
                    <a:latin typeface="Cambria Math" panose="02040503050406030204" pitchFamily="18" charset="0"/>
                  </a:rPr>
                  <a:t>$2\pmod 4$</a:t>
                </a:r>
                <a:r>
                  <a:rPr sz="2400" b="0">
                    <a:solidFill>
                      <a:srgbClr val="111827"/>
                    </a:solidFill>
                    <a:latin typeface="Arial"/>
                  </a:rPr>
                  <a:t> (checked for </a:t>
                </a:r>
                <a:r>
                  <a:rPr lang="en-IN" sz="2400">
                    <a:solidFill>
                      <a:srgbClr val="111827"/>
                    </a:solidFill>
                    <a:latin typeface="Cambria Math" panose="02040503050406030204" pitchFamily="18" charset="0"/>
                  </a:rPr>
                  <a:t>$k=3,\ldots,14$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 regular </a:t>
                </a:r>
                <a:r>
                  <a:rPr lang="en-IN" sz="2400">
                    <a:solidFill>
                      <a:srgbClr val="111827"/>
                    </a:solidFill>
                    <a:latin typeface="Cambria Math" panose="02040503050406030204" pitchFamily="18" charset="0"/>
                  </a:rPr>
                  <a:t>$k$</a:t>
                </a:r>
                <a:r>
                  <a:rPr sz="2400" b="0">
                    <a:solidFill>
                      <a:srgbClr val="111827"/>
                    </a:solidFill>
                    <a:latin typeface="Arial"/>
                  </a:rPr>
                  <a:t>-gon with circumradius </a:t>
                </a:r>
                <a:r>
                  <a:rPr lang="en-IN" sz="2400">
                    <a:solidFill>
                      <a:srgbClr val="111827"/>
                    </a:solidFill>
                    <a:latin typeface="Cambria Math" panose="02040503050406030204" pitchFamily="18" charset="0"/>
                  </a:rPr>
                  <a:t>$R$</a:t>
                </a:r>
                <a:r>
                  <a:rPr sz="2400" b="0">
                    <a:solidFill>
                      <a:srgbClr val="111827"/>
                    </a:solidFill>
                    <a:latin typeface="Arial"/>
                  </a:rPr>
                  <a:t> the diagonal skipping </a:t>
                </a:r>
                <a:r>
                  <a:rPr lang="en-IN" sz="2400">
                    <a:solidFill>
                      <a:srgbClr val="111827"/>
                    </a:solidFill>
                    <a:latin typeface="Cambria Math" panose="02040503050406030204" pitchFamily="18" charset="0"/>
                  </a:rPr>
                  <a:t>$j-1$</a:t>
                </a:r>
                <a:r>
                  <a:rPr sz="2400" b="0">
                    <a:solidFill>
                      <a:srgbClr val="111827"/>
                    </a:solidFill>
                    <a:latin typeface="Arial"/>
                  </a:rPr>
                  <a:t> vertices has length </a:t>
                </a:r>
                <a:r>
                  <a:rPr lang="en-IN" sz="2400">
                    <a:solidFill>
                      <a:srgbClr val="111827"/>
                    </a:solidFill>
                    <a:latin typeface="Cambria Math" panose="02040503050406030204" pitchFamily="18" charset="0"/>
                  </a:rPr>
                  <a:t>$2R\sin\frac{j\pi}{k}$</a:t>
                </a:r>
                <a:r>
                  <a:rPr sz="2400" b="0">
                    <a:solidFill>
                      <a:srgbClr val="111827"/>
                    </a:solidFill>
                    <a:latin typeface="Arial"/>
                  </a:rPr>
                  <a:t> (</a:t>
                </a:r>
                <a:r>
                  <a:rPr lang="en-IN" sz="2400">
                    <a:solidFill>
                      <a:srgbClr val="111827"/>
                    </a:solidFill>
                    <a:latin typeface="Cambria Math" panose="02040503050406030204" pitchFamily="18" charset="0"/>
                  </a:rPr>
                  <a:t>$2\le j\le\lfloor k/2\rfloor$</a:t>
                </a:r>
                <a:r>
                  <a:rPr sz="2400" b="0">
                    <a:solidFill>
                      <a:srgbClr val="111827"/>
                    </a:solidFill>
                    <a:latin typeface="Arial"/>
                  </a:rPr>
                  <a:t>); there are </a:t>
                </a:r>
                <a:r>
                  <a:rPr lang="en-IN" sz="2400">
                    <a:solidFill>
                      <a:srgbClr val="111827"/>
                    </a:solidFill>
                    <a:latin typeface="Cambria Math" panose="02040503050406030204" pitchFamily="18" charset="0"/>
                  </a:rPr>
                  <a:t>$\lfloor k/2\rfloor-1$</a:t>
                </a:r>
                <a:r>
                  <a:rPr sz="2400" b="0">
                    <a:solidFill>
                      <a:srgbClr val="111827"/>
                    </a:solidFill>
                    <a:latin typeface="Arial"/>
                  </a:rPr>
                  <a:t> distinct lengths, so all diagonals are equal only for </a:t>
                </a:r>
                <a:r>
                  <a:rPr lang="en-IN" sz="2400">
                    <a:solidFill>
                      <a:srgbClr val="111827"/>
                    </a:solidFill>
                    <a:latin typeface="Cambria Math" panose="02040503050406030204" pitchFamily="18" charset="0"/>
                  </a:rPr>
                  <a:t>$k=4,5$</a:t>
                </a:r>
                <a:r>
                  <a:rPr sz="2400" b="0">
                    <a:solidFill>
                      <a:srgbClr val="111827"/>
                    </a:solidFill>
                    <a:latin typeface="Arial"/>
                  </a:rPr>
                  <a:t> (and vacuously </a:t>
                </a:r>
                <a:r>
                  <a:rPr lang="en-IN" sz="2400">
                    <a:solidFill>
                      <a:srgbClr val="111827"/>
                    </a:solidFill>
                    <a:latin typeface="Cambria Math" panose="02040503050406030204" pitchFamily="18" charset="0"/>
                  </a:rPr>
                  <a:t>$k=3$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side length </a:t>
                </a:r>
                <a:r>
                  <a:rPr lang="en-IN" sz="2400">
                    <a:solidFill>
                      <a:srgbClr val="111827"/>
                    </a:solidFill>
                    <a:latin typeface="Cambria Math" panose="02040503050406030204" pitchFamily="18" charset="0"/>
                  </a:rPr>
                  <a:t>$1$</a:t>
                </a:r>
                <a:r>
                  <a:rPr sz="2400" b="0">
                    <a:solidFill>
                      <a:srgbClr val="111827"/>
                    </a:solidFill>
                    <a:latin typeface="Arial"/>
                  </a:rPr>
                  <a:t> in the question is irrelevant to which polygons have equal diagonals.</a:t>
                </a:r>
                <a:endParaRPr sz="2400">
                  <a:solidFill>
                    <a:srgbClr val="111827"/>
                  </a:solidFill>
                </a:endParaRPr>
              </a:p>
            </p:txBody>
          </p:sp>
        </mc:Fallback>
      </mc:AlternateContent>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4348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be the median of the data set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r>
                  <a:rPr sz="2400" b="0">
                    <a:solidFill>
                      <a:srgbClr val="111827"/>
                    </a:solidFill>
                    <a:latin typeface="Arial"/>
                  </a:rPr>
                  <a:t>. If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R</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 and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CANNOT be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endParaRPr sz="2400">
                  <a:solidFill>
                    <a:srgbClr val="111827"/>
                  </a:solidFill>
                </a:endParaRPr>
              </a:p>
            </p:txBody>
          </p:sp>
        </mc:Choice>
        <mc:Fallback>
          <p:sp>
            <p:nvSpPr>
              <p:cNvPr id="4" name="Rounded Rectangle 3"/>
              <p:cNvSpPr/>
              <p:nvPr/>
            </p:nvSpPr>
            <p:spPr>
              <a:xfrm>
                <a:off x="731520" y="1280160"/>
                <a:ext cx="10725912" cy="244348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$m$</a:t>
                </a:r>
                <a:r>
                  <a:rPr sz="2400" b="0">
                    <a:solidFill>
                      <a:srgbClr val="111827"/>
                    </a:solidFill>
                    <a:latin typeface="Arial"/>
                  </a:rPr>
                  <a:t> be the median of the data set </a:t>
                </a:r>
                <a:r>
                  <a:rPr lang="en-IN" sz="2400">
                    <a:solidFill>
                      <a:srgbClr val="111827"/>
                    </a:solidFill>
                    <a:latin typeface="Cambria Math" panose="02040503050406030204" pitchFamily="18" charset="0"/>
                  </a:rPr>
                  <a:t>$^{10}C_0, {}^{10}C_1, {}^{10}C_2, \ldots, {}^{10}C_{10}$</a:t>
                </a:r>
                <a:r>
                  <a:rPr sz="2400" b="0">
                    <a:solidFill>
                      <a:srgbClr val="111827"/>
                    </a:solidFill>
                    <a:latin typeface="Arial"/>
                  </a:rPr>
                  <a:t>. If </a:t>
                </a:r>
                <a:r>
                  <a:rPr lang="en-IN" sz="2400">
                    <a:solidFill>
                      <a:srgbClr val="111827"/>
                    </a:solidFill>
                    <a:latin typeface="Cambria Math" panose="02040503050406030204" pitchFamily="18" charset="0"/>
                  </a:rPr>
                  <a:t>$x_i\in\mathbb{R}$</a:t>
                </a:r>
                <a:r>
                  <a:rPr sz="2400" b="0">
                    <a:solidFill>
                      <a:srgbClr val="111827"/>
                    </a:solidFill>
                    <a:latin typeface="Arial"/>
                  </a:rPr>
                  <a:t>, </a:t>
                </a:r>
                <a:r>
                  <a:rPr lang="en-IN" sz="2400">
                    <a:solidFill>
                      <a:srgbClr val="111827"/>
                    </a:solidFill>
                    <a:latin typeface="Cambria Math" panose="02040503050406030204" pitchFamily="18" charset="0"/>
                  </a:rPr>
                  <a:t>$i=1,2,\ldots,n$</a:t>
                </a:r>
                <a:r>
                  <a:rPr sz="2400" b="0">
                    <a:solidFill>
                      <a:srgbClr val="111827"/>
                    </a:solidFill>
                    <a:latin typeface="Arial"/>
                  </a:rPr>
                  <a:t>, </a:t>
                </a:r>
                <a:r>
                  <a:rPr lang="en-IN" sz="2400">
                    <a:solidFill>
                      <a:srgbClr val="111827"/>
                    </a:solidFill>
                    <a:latin typeface="Cambria Math" panose="02040503050406030204" pitchFamily="18" charset="0"/>
                  </a:rPr>
                  <a:t>$\sum_{i=1}^{n}x_i=80$</a:t>
                </a:r>
                <a:r>
                  <a:rPr sz="2400" b="0">
                    <a:solidFill>
                      <a:srgbClr val="111827"/>
                    </a:solidFill>
                    <a:latin typeface="Arial"/>
                  </a:rPr>
                  <a:t> and </a:t>
                </a:r>
                <a:r>
                  <a:rPr lang="en-IN" sz="2400">
                    <a:solidFill>
                      <a:srgbClr val="111827"/>
                    </a:solidFill>
                    <a:latin typeface="Cambria Math" panose="02040503050406030204" pitchFamily="18" charset="0"/>
                  </a:rPr>
                  <a:t>$\sum_{i=1}^{n}x_i^2=400$</a:t>
                </a:r>
                <a:r>
                  <a:rPr sz="2400" b="0">
                    <a:solidFill>
                      <a:srgbClr val="111827"/>
                    </a:solidFill>
                    <a:latin typeface="Arial"/>
                  </a:rPr>
                  <a:t>, then </a:t>
                </a:r>
                <a:r>
                  <a:rPr lang="en-IN" sz="2400">
                    <a:solidFill>
                      <a:srgbClr val="111827"/>
                    </a:solidFill>
                    <a:latin typeface="Cambria Math" panose="02040503050406030204" pitchFamily="18" charset="0"/>
                  </a:rPr>
                  <a:t>$n$</a:t>
                </a:r>
                <a:r>
                  <a:rPr sz="2400" b="0">
                    <a:solidFill>
                      <a:srgbClr val="111827"/>
                    </a:solidFill>
                    <a:latin typeface="Arial"/>
                  </a:rPr>
                  <a:t> CANNOT be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$m-30$</a:t>
                </a:r>
                <a:r>
                  <a:rPr sz="2400" b="0">
                    <a:solidFill>
                      <a:srgbClr val="111827"/>
                    </a:solidFill>
                    <a:latin typeface="Arial"/>
                  </a:rPr>
                  <a:t>   (B) </a:t>
                </a:r>
                <a:r>
                  <a:rPr lang="en-IN" sz="2400">
                    <a:solidFill>
                      <a:srgbClr val="111827"/>
                    </a:solidFill>
                    <a:latin typeface="Cambria Math" panose="02040503050406030204" pitchFamily="18" charset="0"/>
                  </a:rPr>
                  <a:t>$m-33$</a:t>
                </a:r>
                <a:r>
                  <a:rPr sz="2400" b="0">
                    <a:solidFill>
                      <a:srgbClr val="111827"/>
                    </a:solidFill>
                    <a:latin typeface="Arial"/>
                  </a:rPr>
                  <a:t>   (C) </a:t>
                </a:r>
                <a:r>
                  <a:rPr lang="en-IN" sz="2400">
                    <a:solidFill>
                      <a:srgbClr val="111827"/>
                    </a:solidFill>
                    <a:latin typeface="Cambria Math" panose="02040503050406030204" pitchFamily="18" charset="0"/>
                  </a:rPr>
                  <a:t>$m-27$</a:t>
                </a:r>
                <a:r>
                  <a:rPr sz="2400" b="0">
                    <a:solidFill>
                      <a:srgbClr val="111827"/>
                    </a:solidFill>
                    <a:latin typeface="Arial"/>
                  </a:rPr>
                  <a:t>   (D) </a:t>
                </a:r>
                <a:r>
                  <a:rPr lang="en-IN" sz="2400">
                    <a:solidFill>
                      <a:srgbClr val="111827"/>
                    </a:solidFill>
                    <a:latin typeface="Cambria Math" panose="02040503050406030204" pitchFamily="18" charset="0"/>
                  </a:rPr>
                  <a:t>$m-35$</a:t>
                </a:r>
                <a:endParaRPr sz="2400">
                  <a:solidFill>
                    <a:srgbClr val="111827"/>
                  </a:solidFill>
                </a:endParaRPr>
              </a:p>
            </p:txBody>
          </p:sp>
        </mc:Fallback>
      </mc:AlternateContent>
      <p:sp>
        <p:nvSpPr>
          <p:cNvPr id="5" name="Rectangle 4"/>
          <p:cNvSpPr/>
          <p:nvPr/>
        </p:nvSpPr>
        <p:spPr>
          <a:xfrm>
            <a:off x="731520" y="39522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Median, mean and variance of data, Values of binomial coefficients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2.5(A little easier than Average JEE Advanced Level)</a:t>
            </a:r>
            <a:endParaRPr sz="2400">
              <a:solidFill>
                <a:srgbClr val="111827"/>
              </a:solidFill>
            </a:endParaRP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real </a:t>
                </a:r>
                <a14:m>
                  <m:oMath xmlns:m="http://schemas.openxmlformats.org/officeDocument/2006/math">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a:t>
                </a:r>
                <a14:m>
                  <m:oMath xmlns:m="http://schemas.openxmlformats.org/officeDocument/2006/math">
                    <m:sSup>
                      <m:e>
                        <m:d>
                          <m:dPr>
                            <m:begChr m:val="("/>
                            <m:sepChr m:val=""/>
                            <m:endChr m:val=")"/>
                            <m:grow/>
                            <m:ctrlPr>
                              <a:rPr lang="en-IN" sz="2400" i="1">
                                <a:solidFill>
                                  <a:srgbClr val="78350F"/>
                                </a:solidFill>
                                <a:latin typeface="Cambria Math" panose="02040503050406030204" pitchFamily="18" charset="0"/>
                              </a:rPr>
                            </m:ctrlPr>
                          </m:dPr>
                          <m:e>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e>
                        </m:d>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2</m:t>
                        </m:r>
                      </m:sup>
                    </m:sSubSup>
                  </m:oMath>
                </a14:m>
                <a:r>
                  <a:rPr sz="2400" b="0">
                    <a:solidFill>
                      <a:srgbClr val="78350F"/>
                    </a:solidFill>
                    <a:latin typeface="Arial"/>
                  </a:rPr>
                  <a:t> (variance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gives a lower bound on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real </a:t>
                </a:r>
                <a:r>
                  <a:rPr lang="en-IN" sz="2400">
                    <a:solidFill>
                      <a:srgbClr val="78350F"/>
                    </a:solidFill>
                    <a:latin typeface="Cambria Math" panose="02040503050406030204" pitchFamily="18" charset="0"/>
                  </a:rPr>
                  <a:t>$x_i$</a:t>
                </a:r>
                <a:r>
                  <a:rPr sz="2400" b="0">
                    <a:solidFill>
                      <a:srgbClr val="78350F"/>
                    </a:solidFill>
                    <a:latin typeface="Arial"/>
                  </a:rPr>
                  <a:t>, </a:t>
                </a:r>
                <a:r>
                  <a:rPr lang="en-IN" sz="2400">
                    <a:solidFill>
                      <a:srgbClr val="78350F"/>
                    </a:solidFill>
                    <a:latin typeface="Cambria Math" panose="02040503050406030204" pitchFamily="18" charset="0"/>
                  </a:rPr>
                  <a:t>$\left(\sum x_i\right)^2\le n\sum x_i^2$</a:t>
                </a:r>
                <a:r>
                  <a:rPr sz="2400" b="0">
                    <a:solidFill>
                      <a:srgbClr val="78350F"/>
                    </a:solidFill>
                    <a:latin typeface="Arial"/>
                  </a:rPr>
                  <a:t> (variance </a:t>
                </a:r>
                <a:r>
                  <a:rPr lang="en-IN" sz="2400">
                    <a:solidFill>
                      <a:srgbClr val="78350F"/>
                    </a:solidFill>
                    <a:latin typeface="Cambria Math" panose="02040503050406030204" pitchFamily="18" charset="0"/>
                  </a:rPr>
                  <a:t>$\ge 0$</a:t>
                </a:r>
                <a:r>
                  <a:rPr sz="2400" b="0">
                    <a:solidFill>
                      <a:srgbClr val="78350F"/>
                    </a:solidFill>
                    <a:latin typeface="Arial"/>
                  </a:rPr>
                  <a:t>) gives a lower bound on </a:t>
                </a:r>
                <a:r>
                  <a:rPr lang="en-IN" sz="2400">
                    <a:solidFill>
                      <a:srgbClr val="78350F"/>
                    </a:solidFill>
                    <a:latin typeface="Cambria Math" panose="02040503050406030204" pitchFamily="18" charset="0"/>
                  </a:rPr>
                  <a:t>$n$</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data are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(11 values). Sorted: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median is the 6th value,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real numbers, the variance is non-negative: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𝑛</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num>
                              <m:den>
                                <m:r>
                                  <a:rPr lang="en-IN" sz="2400" i="1">
                                    <a:solidFill>
                                      <a:srgbClr val="111827"/>
                                    </a:solidFill>
                                    <a:latin typeface="Cambria Math" panose="02040503050406030204" pitchFamily="18" charset="0"/>
                                  </a:rPr>
                                  <m:t>𝑛</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(equivalently the Cauchy-Schwarz inequality).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Substituting: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400</m:t>
                        </m:r>
                      </m:num>
                      <m:den>
                        <m:r>
                          <a:rPr lang="en-IN" sz="2400" i="1">
                            <a:solidFill>
                              <a:srgbClr val="111827"/>
                            </a:solidFill>
                            <a:latin typeface="Cambria Math" panose="02040503050406030204" pitchFamily="18" charset="0"/>
                          </a:rPr>
                          <m:t>𝑛</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6400</m:t>
                        </m:r>
                      </m:num>
                      <m:den>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400</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6400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data are </a:t>
                </a:r>
                <a:r>
                  <a:rPr lang="en-IN" sz="2400">
                    <a:solidFill>
                      <a:srgbClr val="111827"/>
                    </a:solidFill>
                    <a:latin typeface="Cambria Math" panose="02040503050406030204" pitchFamily="18" charset="0"/>
                  </a:rPr>
                  <a:t>$1,10,45,120,210,252,210,120,45,10,1$</a:t>
                </a:r>
                <a:r>
                  <a:rPr sz="2400" b="0">
                    <a:solidFill>
                      <a:srgbClr val="111827"/>
                    </a:solidFill>
                    <a:latin typeface="Arial"/>
                  </a:rPr>
                  <a:t> (11 values). Sorted: </a:t>
                </a:r>
                <a:r>
                  <a:rPr lang="en-IN" sz="2400">
                    <a:solidFill>
                      <a:srgbClr val="111827"/>
                    </a:solidFill>
                    <a:latin typeface="Cambria Math" panose="02040503050406030204" pitchFamily="18" charset="0"/>
                  </a:rPr>
                  <a:t>$1,1,10,10,45,45,120,120,210,210,252$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median is the 6th value, so </a:t>
                </a:r>
                <a:r>
                  <a:rPr lang="en-IN" sz="2400">
                    <a:solidFill>
                      <a:srgbClr val="111827"/>
                    </a:solidFill>
                    <a:latin typeface="Cambria Math" panose="02040503050406030204" pitchFamily="18" charset="0"/>
                  </a:rPr>
                  <a:t>$m=45$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real numbers, the variance is non-negative: </a:t>
                </a:r>
                <a:r>
                  <a:rPr lang="en-IN" sz="2400">
                    <a:solidFill>
                      <a:srgbClr val="111827"/>
                    </a:solidFill>
                    <a:latin typeface="Cambria Math" panose="02040503050406030204" pitchFamily="18" charset="0"/>
                  </a:rPr>
                  <a:t>$\frac{\sum x_i^2}{n}-\left(\frac{\sum x_i}{n}\right)^2\ge 0$</a:t>
                </a:r>
                <a:r>
                  <a:rPr sz="2400" b="0">
                    <a:solidFill>
                      <a:srgbClr val="111827"/>
                    </a:solidFill>
                    <a:latin typeface="Arial"/>
                  </a:rPr>
                  <a:t> (equivalently the Cauchy-Schwarz inequality).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Substituting: </a:t>
                </a:r>
                <a:r>
                  <a:rPr lang="en-IN" sz="2400">
                    <a:solidFill>
                      <a:srgbClr val="111827"/>
                    </a:solidFill>
                    <a:latin typeface="Cambria Math" panose="02040503050406030204" pitchFamily="18" charset="0"/>
                  </a:rPr>
                  <a:t>$\frac{400}{n}-\frac{6400}{n^2}\ge 0$</a:t>
                </a:r>
                <a:r>
                  <a:rPr sz="2400" b="0">
                    <a:solidFill>
                      <a:srgbClr val="111827"/>
                    </a:solidFill>
                    <a:latin typeface="Arial"/>
                  </a:rPr>
                  <a:t>, i.e. </a:t>
                </a:r>
                <a:r>
                  <a:rPr lang="en-IN" sz="2400">
                    <a:solidFill>
                      <a:srgbClr val="111827"/>
                    </a:solidFill>
                    <a:latin typeface="Cambria Math" panose="02040503050406030204" pitchFamily="18" charset="0"/>
                  </a:rPr>
                  <a:t>$400n\ge 6400$</a:t>
                </a:r>
                <a:r>
                  <a:rPr sz="2400" b="0">
                    <a:solidFill>
                      <a:srgbClr val="111827"/>
                    </a:solidFill>
                    <a:latin typeface="Arial"/>
                  </a:rPr>
                  <a:t>, so </a:t>
                </a:r>
                <a:r>
                  <a:rPr lang="en-IN" sz="2400">
                    <a:solidFill>
                      <a:srgbClr val="111827"/>
                    </a:solidFill>
                    <a:latin typeface="Cambria Math" panose="02040503050406030204" pitchFamily="18" charset="0"/>
                  </a:rPr>
                  <a:t>$n\ge 16$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Equality holds when all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are equal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all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works,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is achievable (e.g.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16</m:t>
                    </m:r>
                  </m:oMath>
                </a14:m>
                <a:r>
                  <a:rPr sz="2400" b="0">
                    <a:solidFill>
                      <a:srgbClr val="111827"/>
                    </a:solidFill>
                    <a:latin typeface="Arial"/>
                  </a:rPr>
                  <a:t>: impossible. (B)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16</m:t>
                    </m:r>
                  </m:oMath>
                </a14:m>
                <a:r>
                  <a:rPr sz="2400" b="0">
                    <a:solidFill>
                      <a:srgbClr val="111827"/>
                    </a:solidFill>
                    <a:latin typeface="Arial"/>
                  </a:rPr>
                  <a:t>: impossible.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possible. (D)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16</m:t>
                    </m:r>
                  </m:oMath>
                </a14:m>
                <a:r>
                  <a:rPr sz="2400" b="0">
                    <a:solidFill>
                      <a:srgbClr val="111827"/>
                    </a:solidFill>
                    <a:latin typeface="Arial"/>
                  </a:rPr>
                  <a:t>: impossible.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cannot equal (A), (B) or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Equality holds when all </a:t>
                </a:r>
                <a:r>
                  <a:rPr lang="en-IN" sz="2400">
                    <a:solidFill>
                      <a:srgbClr val="111827"/>
                    </a:solidFill>
                    <a:latin typeface="Cambria Math" panose="02040503050406030204" pitchFamily="18" charset="0"/>
                  </a:rPr>
                  <a:t>$x_i$</a:t>
                </a:r>
                <a:r>
                  <a:rPr sz="2400" b="0">
                    <a:solidFill>
                      <a:srgbClr val="111827"/>
                    </a:solidFill>
                    <a:latin typeface="Arial"/>
                  </a:rPr>
                  <a:t> are equal (</a:t>
                </a:r>
                <a:r>
                  <a:rPr lang="en-IN" sz="2400">
                    <a:solidFill>
                      <a:srgbClr val="111827"/>
                    </a:solidFill>
                    <a:latin typeface="Cambria Math" panose="02040503050406030204" pitchFamily="18" charset="0"/>
                  </a:rPr>
                  <a:t>$x_i=80/n$</a:t>
                </a:r>
                <a:r>
                  <a:rPr sz="2400" b="0">
                    <a:solidFill>
                      <a:srgbClr val="111827"/>
                    </a:solidFill>
                    <a:latin typeface="Arial"/>
                  </a:rPr>
                  <a:t>); for </a:t>
                </a:r>
                <a:r>
                  <a:rPr lang="en-IN" sz="2400">
                    <a:solidFill>
                      <a:srgbClr val="111827"/>
                    </a:solidFill>
                    <a:latin typeface="Cambria Math" panose="02040503050406030204" pitchFamily="18" charset="0"/>
                  </a:rPr>
                  <a:t>$n=16$</a:t>
                </a:r>
                <a:r>
                  <a:rPr sz="2400" b="0">
                    <a:solidFill>
                      <a:srgbClr val="111827"/>
                    </a:solidFill>
                    <a:latin typeface="Arial"/>
                  </a:rPr>
                  <a:t> all </a:t>
                </a:r>
                <a:r>
                  <a:rPr lang="en-IN" sz="2400">
                    <a:solidFill>
                      <a:srgbClr val="111827"/>
                    </a:solidFill>
                    <a:latin typeface="Cambria Math" panose="02040503050406030204" pitchFamily="18" charset="0"/>
                  </a:rPr>
                  <a:t>$x_i=5$</a:t>
                </a:r>
                <a:r>
                  <a:rPr sz="2400" b="0">
                    <a:solidFill>
                      <a:srgbClr val="111827"/>
                    </a:solidFill>
                    <a:latin typeface="Arial"/>
                  </a:rPr>
                  <a:t> works, and </a:t>
                </a:r>
                <a:r>
                  <a:rPr lang="en-IN" sz="2400">
                    <a:solidFill>
                      <a:srgbClr val="111827"/>
                    </a:solidFill>
                    <a:latin typeface="Cambria Math" panose="02040503050406030204" pitchFamily="18" charset="0"/>
                  </a:rPr>
                  <a:t>$n\ge 16$</a:t>
                </a:r>
                <a:r>
                  <a:rPr sz="2400" b="0">
                    <a:solidFill>
                      <a:srgbClr val="111827"/>
                    </a:solidFill>
                    <a:latin typeface="Arial"/>
                  </a:rPr>
                  <a:t> is achievable (e.g. </a:t>
                </a:r>
                <a:r>
                  <a:rPr lang="en-IN" sz="2400">
                    <a:solidFill>
                      <a:srgbClr val="111827"/>
                    </a:solidFill>
                    <a:latin typeface="Cambria Math" panose="02040503050406030204" pitchFamily="18" charset="0"/>
                  </a:rPr>
                  <a:t>$n=18$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$m-30=15&lt;16$</a:t>
                </a:r>
                <a:r>
                  <a:rPr sz="2400" b="0">
                    <a:solidFill>
                      <a:srgbClr val="111827"/>
                    </a:solidFill>
                    <a:latin typeface="Arial"/>
                  </a:rPr>
                  <a:t>: impossible. (B) </a:t>
                </a:r>
                <a:r>
                  <a:rPr lang="en-IN" sz="2400">
                    <a:solidFill>
                      <a:srgbClr val="111827"/>
                    </a:solidFill>
                    <a:latin typeface="Cambria Math" panose="02040503050406030204" pitchFamily="18" charset="0"/>
                  </a:rPr>
                  <a:t>$m-33=12&lt;16$</a:t>
                </a:r>
                <a:r>
                  <a:rPr sz="2400" b="0">
                    <a:solidFill>
                      <a:srgbClr val="111827"/>
                    </a:solidFill>
                    <a:latin typeface="Arial"/>
                  </a:rPr>
                  <a:t>: impossible.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$m-27=18\ge16$</a:t>
                </a:r>
                <a:r>
                  <a:rPr sz="2400" b="0">
                    <a:solidFill>
                      <a:srgbClr val="111827"/>
                    </a:solidFill>
                    <a:latin typeface="Arial"/>
                  </a:rPr>
                  <a:t>: possible. (D) </a:t>
                </a:r>
                <a:r>
                  <a:rPr lang="en-IN" sz="2400">
                    <a:solidFill>
                      <a:srgbClr val="111827"/>
                    </a:solidFill>
                    <a:latin typeface="Cambria Math" panose="02040503050406030204" pitchFamily="18" charset="0"/>
                  </a:rPr>
                  <a:t>$m-35=10&lt;16$</a:t>
                </a:r>
                <a:r>
                  <a:rPr sz="2400" b="0">
                    <a:solidFill>
                      <a:srgbClr val="111827"/>
                    </a:solidFill>
                    <a:latin typeface="Arial"/>
                  </a:rPr>
                  <a:t>: impossible.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$n$</a:t>
                </a:r>
                <a:r>
                  <a:rPr sz="2400" b="0">
                    <a:solidFill>
                      <a:srgbClr val="111827"/>
                    </a:solidFill>
                    <a:latin typeface="Arial"/>
                  </a:rPr>
                  <a:t> cannot equal (A), (B) or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D)</a:t>
            </a:r>
            <a:endParaRPr sz="2800">
              <a:solidFill>
                <a:srgbClr val="15803D"/>
              </a:solidFill>
            </a:endParaRP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Shift the data to mean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 and use that a sum of squares is non-negative.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Shift the data to mean </a:t>
                </a:r>
                <a:r>
                  <a:rPr lang="en-IN" sz="2400">
                    <a:solidFill>
                      <a:srgbClr val="78350F"/>
                    </a:solidFill>
                    <a:latin typeface="Cambria Math" panose="02040503050406030204" pitchFamily="18" charset="0"/>
                  </a:rPr>
                  <a:t>$5$</a:t>
                </a:r>
                <a:r>
                  <a:rPr sz="2400" b="0">
                    <a:solidFill>
                      <a:srgbClr val="78350F"/>
                    </a:solidFill>
                    <a:latin typeface="Arial"/>
                  </a:rPr>
                  <a:t> and use that a sum of squares is non-negative.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median is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 so the options give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for (A), (B), (C), (D).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we need </a:t>
                </a:r>
                <a14:m>
                  <m:oMath xmlns:m="http://schemas.openxmlformats.org/officeDocument/2006/math">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forces every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indeed </a:t>
                </a:r>
                <a14:m>
                  <m:oMath xmlns:m="http://schemas.openxmlformats.org/officeDocument/2006/math">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works.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median is </a:t>
                </a:r>
                <a:r>
                  <a:rPr lang="en-IN" sz="2400">
                    <a:solidFill>
                      <a:srgbClr val="111827"/>
                    </a:solidFill>
                    <a:latin typeface="Cambria Math" panose="02040503050406030204" pitchFamily="18" charset="0"/>
                  </a:rPr>
                  <a:t>$m=45$</a:t>
                </a:r>
                <a:r>
                  <a:rPr sz="2400" b="0">
                    <a:solidFill>
                      <a:srgbClr val="111827"/>
                    </a:solidFill>
                    <a:latin typeface="Arial"/>
                  </a:rPr>
                  <a:t>, so the options give </a:t>
                </a:r>
                <a:r>
                  <a:rPr lang="en-IN" sz="2400">
                    <a:solidFill>
                      <a:srgbClr val="111827"/>
                    </a:solidFill>
                    <a:latin typeface="Cambria Math" panose="02040503050406030204" pitchFamily="18" charset="0"/>
                  </a:rPr>
                  <a:t>$n=15,12,18,10$</a:t>
                </a:r>
                <a:r>
                  <a:rPr sz="2400" b="0">
                    <a:solidFill>
                      <a:srgbClr val="111827"/>
                    </a:solidFill>
                    <a:latin typeface="Arial"/>
                  </a:rPr>
                  <a:t> for (A), (B), (C), (D).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$y_i=x_i-5$</a:t>
                </a:r>
                <a:r>
                  <a:rPr sz="2400" b="0">
                    <a:solidFill>
                      <a:srgbClr val="111827"/>
                    </a:solidFill>
                    <a:latin typeface="Arial"/>
                  </a:rPr>
                  <a:t>. Then </a:t>
                </a:r>
                <a:r>
                  <a:rPr lang="en-IN" sz="2400">
                    <a:solidFill>
                      <a:srgbClr val="111827"/>
                    </a:solidFill>
                    <a:latin typeface="Cambria Math" panose="02040503050406030204" pitchFamily="18" charset="0"/>
                  </a:rPr>
                  <a:t>$\sum y_i^2=\sum x_i^2-10\sum x_i+25n=400-800+25n=25n-400$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$\sum y_i^2\ge0$</a:t>
                </a:r>
                <a:r>
                  <a:rPr sz="2400" b="0">
                    <a:solidFill>
                      <a:srgbClr val="111827"/>
                    </a:solidFill>
                    <a:latin typeface="Arial"/>
                  </a:rPr>
                  <a:t>, we need </a:t>
                </a:r>
                <a:r>
                  <a:rPr lang="en-IN" sz="2400">
                    <a:solidFill>
                      <a:srgbClr val="111827"/>
                    </a:solidFill>
                    <a:latin typeface="Cambria Math" panose="02040503050406030204" pitchFamily="18" charset="0"/>
                  </a:rPr>
                  <a:t>$25n-400\ge0$</a:t>
                </a:r>
                <a:r>
                  <a:rPr sz="2400" b="0">
                    <a:solidFill>
                      <a:srgbClr val="111827"/>
                    </a:solidFill>
                    <a:latin typeface="Arial"/>
                  </a:rPr>
                  <a:t>, i.e. </a:t>
                </a:r>
                <a:r>
                  <a:rPr lang="en-IN" sz="2400">
                    <a:solidFill>
                      <a:srgbClr val="111827"/>
                    </a:solidFill>
                    <a:latin typeface="Cambria Math" panose="02040503050406030204" pitchFamily="18" charset="0"/>
                  </a:rPr>
                  <a:t>$n\ge16$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$n=16$</a:t>
                </a:r>
                <a:r>
                  <a:rPr sz="2400" b="0">
                    <a:solidFill>
                      <a:srgbClr val="111827"/>
                    </a:solidFill>
                    <a:latin typeface="Arial"/>
                  </a:rPr>
                  <a:t>: </a:t>
                </a:r>
                <a:r>
                  <a:rPr lang="en-IN" sz="2400">
                    <a:solidFill>
                      <a:srgbClr val="111827"/>
                    </a:solidFill>
                    <a:latin typeface="Cambria Math" panose="02040503050406030204" pitchFamily="18" charset="0"/>
                  </a:rPr>
                  <a:t>$\sum y_i^2=0$</a:t>
                </a:r>
                <a:r>
                  <a:rPr sz="2400" b="0">
                    <a:solidFill>
                      <a:srgbClr val="111827"/>
                    </a:solidFill>
                    <a:latin typeface="Arial"/>
                  </a:rPr>
                  <a:t> forces every </a:t>
                </a:r>
                <a:r>
                  <a:rPr lang="en-IN" sz="2400">
                    <a:solidFill>
                      <a:srgbClr val="111827"/>
                    </a:solidFill>
                    <a:latin typeface="Cambria Math" panose="02040503050406030204" pitchFamily="18" charset="0"/>
                  </a:rPr>
                  <a:t>$x_i=5$</a:t>
                </a:r>
                <a:r>
                  <a:rPr sz="2400" b="0">
                    <a:solidFill>
                      <a:srgbClr val="111827"/>
                    </a:solidFill>
                    <a:latin typeface="Arial"/>
                  </a:rPr>
                  <a:t>, and indeed </a:t>
                </a:r>
                <a:r>
                  <a:rPr lang="en-IN" sz="2400">
                    <a:solidFill>
                      <a:srgbClr val="111827"/>
                    </a:solidFill>
                    <a:latin typeface="Cambria Math" panose="02040503050406030204" pitchFamily="18" charset="0"/>
                  </a:rPr>
                  <a:t>$16\cdot5=80$</a:t>
                </a:r>
                <a:r>
                  <a:rPr sz="2400" b="0">
                    <a:solidFill>
                      <a:srgbClr val="111827"/>
                    </a:solidFill>
                    <a:latin typeface="Arial"/>
                  </a:rPr>
                  <a:t>, so </a:t>
                </a:r>
                <a:r>
                  <a:rPr lang="en-IN" sz="2400">
                    <a:solidFill>
                      <a:srgbClr val="111827"/>
                    </a:solidFill>
                    <a:latin typeface="Cambria Math" panose="02040503050406030204" pitchFamily="18" charset="0"/>
                  </a:rPr>
                  <a:t>$n=16$</a:t>
                </a:r>
                <a:r>
                  <a:rPr sz="2400" b="0">
                    <a:solidFill>
                      <a:srgbClr val="111827"/>
                    </a:solidFill>
                    <a:latin typeface="Arial"/>
                  </a:rPr>
                  <a:t> works.</a:t>
                </a:r>
                <a:endParaRPr sz="2400">
                  <a:solidFill>
                    <a:srgbClr val="111827"/>
                  </a:solidFill>
                </a:endParaRPr>
              </a:p>
            </p:txBody>
          </p:sp>
        </mc:Fallback>
      </mc:AlternateContent>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the values exist: take </a:t>
                </a:r>
                <a14:m>
                  <m:oMath xmlns:m="http://schemas.openxmlformats.org/officeDocument/2006/math">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equal to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on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entries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on one, solving the two equations (the discriminant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exactly when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are impossible while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 is possible: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cannot be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Answer: (A), (B),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$n\ge16$</a:t>
                </a:r>
                <a:r>
                  <a:rPr sz="2400" b="0">
                    <a:solidFill>
                      <a:srgbClr val="111827"/>
                    </a:solidFill>
                    <a:latin typeface="Arial"/>
                  </a:rPr>
                  <a:t> the values exist: take </a:t>
                </a:r>
                <a:r>
                  <a:rPr lang="en-IN" sz="2400">
                    <a:solidFill>
                      <a:srgbClr val="111827"/>
                    </a:solidFill>
                    <a:latin typeface="Cambria Math" panose="02040503050406030204" pitchFamily="18" charset="0"/>
                  </a:rPr>
                  <a:t>$y_i$</a:t>
                </a:r>
                <a:r>
                  <a:rPr sz="2400" b="0">
                    <a:solidFill>
                      <a:srgbClr val="111827"/>
                    </a:solidFill>
                    <a:latin typeface="Arial"/>
                  </a:rPr>
                  <a:t> equal to </a:t>
                </a:r>
                <a:r>
                  <a:rPr lang="en-IN" sz="2400">
                    <a:solidFill>
                      <a:srgbClr val="111827"/>
                    </a:solidFill>
                    <a:latin typeface="Cambria Math" panose="02040503050406030204" pitchFamily="18" charset="0"/>
                  </a:rPr>
                  <a:t>$a$</a:t>
                </a:r>
                <a:r>
                  <a:rPr sz="2400" b="0">
                    <a:solidFill>
                      <a:srgbClr val="111827"/>
                    </a:solidFill>
                    <a:latin typeface="Arial"/>
                  </a:rPr>
                  <a:t> on </a:t>
                </a:r>
                <a:r>
                  <a:rPr lang="en-IN" sz="2400">
                    <a:solidFill>
                      <a:srgbClr val="111827"/>
                    </a:solidFill>
                    <a:latin typeface="Cambria Math" panose="02040503050406030204" pitchFamily="18" charset="0"/>
                  </a:rPr>
                  <a:t>$n-1$</a:t>
                </a:r>
                <a:r>
                  <a:rPr sz="2400" b="0">
                    <a:solidFill>
                      <a:srgbClr val="111827"/>
                    </a:solidFill>
                    <a:latin typeface="Arial"/>
                  </a:rPr>
                  <a:t> entries and </a:t>
                </a:r>
                <a:r>
                  <a:rPr lang="en-IN" sz="2400">
                    <a:solidFill>
                      <a:srgbClr val="111827"/>
                    </a:solidFill>
                    <a:latin typeface="Cambria Math" panose="02040503050406030204" pitchFamily="18" charset="0"/>
                  </a:rPr>
                  <a:t>$b$</a:t>
                </a:r>
                <a:r>
                  <a:rPr sz="2400" b="0">
                    <a:solidFill>
                      <a:srgbClr val="111827"/>
                    </a:solidFill>
                    <a:latin typeface="Arial"/>
                  </a:rPr>
                  <a:t> on one, solving the two equations (the discriminant is </a:t>
                </a:r>
                <a:r>
                  <a:rPr lang="en-IN" sz="2400">
                    <a:solidFill>
                      <a:srgbClr val="111827"/>
                    </a:solidFill>
                    <a:latin typeface="Cambria Math" panose="02040503050406030204" pitchFamily="18" charset="0"/>
                  </a:rPr>
                  <a:t>$\ge0$</a:t>
                </a:r>
                <a:r>
                  <a:rPr sz="2400" b="0">
                    <a:solidFill>
                      <a:srgbClr val="111827"/>
                    </a:solidFill>
                    <a:latin typeface="Arial"/>
                  </a:rPr>
                  <a:t> exactly when </a:t>
                </a:r>
                <a:r>
                  <a:rPr lang="en-IN" sz="2400">
                    <a:solidFill>
                      <a:srgbClr val="111827"/>
                    </a:solidFill>
                    <a:latin typeface="Cambria Math" panose="02040503050406030204" pitchFamily="18" charset="0"/>
                  </a:rPr>
                  <a:t>$n\ge16$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$n=15,12,10$</a:t>
                </a:r>
                <a:r>
                  <a:rPr sz="2400" b="0">
                    <a:solidFill>
                      <a:srgbClr val="111827"/>
                    </a:solidFill>
                    <a:latin typeface="Arial"/>
                  </a:rPr>
                  <a:t> are impossible while </a:t>
                </a:r>
                <a:r>
                  <a:rPr lang="en-IN" sz="2400">
                    <a:solidFill>
                      <a:srgbClr val="111827"/>
                    </a:solidFill>
                    <a:latin typeface="Cambria Math" panose="02040503050406030204" pitchFamily="18" charset="0"/>
                  </a:rPr>
                  <a:t>$n=18$</a:t>
                </a:r>
                <a:r>
                  <a:rPr sz="2400" b="0">
                    <a:solidFill>
                      <a:srgbClr val="111827"/>
                    </a:solidFill>
                    <a:latin typeface="Arial"/>
                  </a:rPr>
                  <a:t> is possible: </a:t>
                </a:r>
                <a:r>
                  <a:rPr lang="en-IN" sz="2400">
                    <a:solidFill>
                      <a:srgbClr val="111827"/>
                    </a:solidFill>
                    <a:latin typeface="Cambria Math" panose="02040503050406030204" pitchFamily="18" charset="0"/>
                  </a:rPr>
                  <a:t>$n$</a:t>
                </a:r>
                <a:r>
                  <a:rPr sz="2400" b="0">
                    <a:solidFill>
                      <a:srgbClr val="111827"/>
                    </a:solidFill>
                    <a:latin typeface="Arial"/>
                  </a:rPr>
                  <a:t> cannot be </a:t>
                </a:r>
                <a:r>
                  <a:rPr lang="en-IN" sz="2400">
                    <a:solidFill>
                      <a:srgbClr val="111827"/>
                    </a:solidFill>
                    <a:latin typeface="Cambria Math" panose="02040503050406030204" pitchFamily="18" charset="0"/>
                  </a:rPr>
                  <a:t>$m-30$</a:t>
                </a:r>
                <a:r>
                  <a:rPr sz="2400" b="0">
                    <a:solidFill>
                      <a:srgbClr val="111827"/>
                    </a:solidFill>
                    <a:latin typeface="Arial"/>
                  </a:rPr>
                  <a:t>, </a:t>
                </a:r>
                <a:r>
                  <a:rPr lang="en-IN" sz="2400">
                    <a:solidFill>
                      <a:srgbClr val="111827"/>
                    </a:solidFill>
                    <a:latin typeface="Cambria Math" panose="02040503050406030204" pitchFamily="18" charset="0"/>
                  </a:rPr>
                  <a:t>$m-33$</a:t>
                </a:r>
                <a:r>
                  <a:rPr sz="2400" b="0">
                    <a:solidFill>
                      <a:srgbClr val="111827"/>
                    </a:solidFill>
                    <a:latin typeface="Arial"/>
                  </a:rPr>
                  <a:t>, </a:t>
                </a:r>
                <a:r>
                  <a:rPr lang="en-IN" sz="2400">
                    <a:solidFill>
                      <a:srgbClr val="111827"/>
                    </a:solidFill>
                    <a:latin typeface="Cambria Math" panose="02040503050406030204" pitchFamily="18" charset="0"/>
                  </a:rPr>
                  <a:t>$m-35$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Answer: (A), (B),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D)</a:t>
            </a:r>
            <a:endParaRPr sz="2800">
              <a:solidFill>
                <a:srgbClr val="15803D"/>
              </a:solidFill>
            </a:endParaRP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2.5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real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with equality iff all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are equal. Here it forces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Variance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num>
                      <m:den>
                        <m:r>
                          <a:rPr lang="en-IN" sz="2400" i="1">
                            <a:solidFill>
                              <a:srgbClr val="111827"/>
                            </a:solidFill>
                            <a:latin typeface="Cambria Math" panose="02040503050406030204" pitchFamily="18" charset="0"/>
                          </a:rPr>
                          <m:t>𝑛</m:t>
                        </m:r>
                      </m:den>
                    </m:f>
                    <m:r>
                      <m:rPr>
                        <m:sty m:val="p"/>
                      </m:rPr>
                      <a:rPr lang="en-IN" sz="2400">
                        <a:solidFill>
                          <a:srgbClr val="111827"/>
                        </a:solidFill>
                        <a:latin typeface="Cambria Math" panose="02040503050406030204" pitchFamily="18" charset="0"/>
                      </a:rPr>
                      <m:t>−</m:t>
                    </m:r>
                    <m:sSup>
                      <m:e>
                        <m:r>
                          <m:rPr>
                            <m:nor/>
                          </m:rPr>
                          <a:rPr lang="en-IN" sz="2400" i="1">
                            <a:solidFill>
                              <a:srgbClr val="111827"/>
                            </a:solidFill>
                            <a:latin typeface="Cambria Math" panose="02040503050406030204" pitchFamily="18" charset="0"/>
                          </a:rPr>
                          <m:t>𝑚𝑒𝑎𝑛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the quickest way to bound the number of observations.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binomial coefficients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are symmetric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Sub>
                  </m:oMath>
                </a14:m>
                <a:r>
                  <a:rPr sz="2400" b="0">
                    <a:solidFill>
                      <a:srgbClr val="111827"/>
                    </a:solidFill>
                    <a:latin typeface="Arial"/>
                  </a:rPr>
                  <a:t>), so the median of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10</m:t>
                        </m:r>
                      </m:sub>
                    </m:sSub>
                  </m:oMath>
                </a14:m>
                <a:r>
                  <a:rPr sz="2400" b="0">
                    <a:solidFill>
                      <a:srgbClr val="111827"/>
                    </a:solidFill>
                    <a:latin typeface="Arial"/>
                  </a:rPr>
                  <a:t> is the 6th sorted value, </a:t>
                </a:r>
                <a14:m>
                  <m:oMath xmlns:m="http://schemas.openxmlformats.org/officeDocument/2006/math">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such real data exist iff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(take two distinct values to fill the gap).</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real </a:t>
                </a:r>
                <a:r>
                  <a:rPr lang="en-IN" sz="2400">
                    <a:solidFill>
                      <a:srgbClr val="111827"/>
                    </a:solidFill>
                    <a:latin typeface="Cambria Math" panose="02040503050406030204" pitchFamily="18" charset="0"/>
                  </a:rPr>
                  <a:t>$x_1,\ldots,x_n$</a:t>
                </a:r>
                <a:r>
                  <a:rPr sz="2400" b="0">
                    <a:solidFill>
                      <a:srgbClr val="111827"/>
                    </a:solidFill>
                    <a:latin typeface="Arial"/>
                  </a:rPr>
                  <a:t>: </a:t>
                </a:r>
                <a:r>
                  <a:rPr lang="en-IN" sz="2400">
                    <a:solidFill>
                      <a:srgbClr val="111827"/>
                    </a:solidFill>
                    <a:latin typeface="Cambria Math" panose="02040503050406030204" pitchFamily="18" charset="0"/>
                  </a:rPr>
                  <a:t>$\left(\sum x_i\right)^2\le n\sum x_i^2$</a:t>
                </a:r>
                <a:r>
                  <a:rPr sz="2400" b="0">
                    <a:solidFill>
                      <a:srgbClr val="111827"/>
                    </a:solidFill>
                    <a:latin typeface="Arial"/>
                  </a:rPr>
                  <a:t>, with equality iff all </a:t>
                </a:r>
                <a:r>
                  <a:rPr lang="en-IN" sz="2400">
                    <a:solidFill>
                      <a:srgbClr val="111827"/>
                    </a:solidFill>
                    <a:latin typeface="Cambria Math" panose="02040503050406030204" pitchFamily="18" charset="0"/>
                  </a:rPr>
                  <a:t>$x_i$</a:t>
                </a:r>
                <a:r>
                  <a:rPr sz="2400" b="0">
                    <a:solidFill>
                      <a:srgbClr val="111827"/>
                    </a:solidFill>
                    <a:latin typeface="Arial"/>
                  </a:rPr>
                  <a:t> are equal. Here it forces </a:t>
                </a:r>
                <a:r>
                  <a:rPr lang="en-IN" sz="2400">
                    <a:solidFill>
                      <a:srgbClr val="111827"/>
                    </a:solidFill>
                    <a:latin typeface="Cambria Math" panose="02040503050406030204" pitchFamily="18" charset="0"/>
                  </a:rPr>
                  <a:t>$n\ge 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Variance </a:t>
                </a:r>
                <a:r>
                  <a:rPr lang="en-IN" sz="2400">
                    <a:solidFill>
                      <a:srgbClr val="111827"/>
                    </a:solidFill>
                    <a:latin typeface="Cambria Math" panose="02040503050406030204" pitchFamily="18" charset="0"/>
                  </a:rPr>
                  <a:t>$=\frac{\sum x_i^2}{n}-\text{mean}^2\ge 0$</a:t>
                </a:r>
                <a:r>
                  <a:rPr sz="2400" b="0">
                    <a:solidFill>
                      <a:srgbClr val="111827"/>
                    </a:solidFill>
                    <a:latin typeface="Arial"/>
                  </a:rPr>
                  <a:t> is the quickest way to bound the number of observations.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binomial coefficients </a:t>
                </a:r>
                <a:r>
                  <a:rPr lang="en-IN" sz="2400">
                    <a:solidFill>
                      <a:srgbClr val="111827"/>
                    </a:solidFill>
                    <a:latin typeface="Cambria Math" panose="02040503050406030204" pitchFamily="18" charset="0"/>
                  </a:rPr>
                  <a:t>$^nC_r$</a:t>
                </a:r>
                <a:r>
                  <a:rPr sz="2400" b="0">
                    <a:solidFill>
                      <a:srgbClr val="111827"/>
                    </a:solidFill>
                    <a:latin typeface="Arial"/>
                  </a:rPr>
                  <a:t> are symmetric (</a:t>
                </a:r>
                <a:r>
                  <a:rPr lang="en-IN" sz="2400">
                    <a:solidFill>
                      <a:srgbClr val="111827"/>
                    </a:solidFill>
                    <a:latin typeface="Cambria Math" panose="02040503050406030204" pitchFamily="18" charset="0"/>
                  </a:rPr>
                  <a:t>$^nC_r={}^nC_{n-r}$</a:t>
                </a:r>
                <a:r>
                  <a:rPr sz="2400" b="0">
                    <a:solidFill>
                      <a:srgbClr val="111827"/>
                    </a:solidFill>
                    <a:latin typeface="Arial"/>
                  </a:rPr>
                  <a:t>), so the median of </a:t>
                </a:r>
                <a:r>
                  <a:rPr lang="en-IN" sz="2400">
                    <a:solidFill>
                      <a:srgbClr val="111827"/>
                    </a:solidFill>
                    <a:latin typeface="Cambria Math" panose="02040503050406030204" pitchFamily="18" charset="0"/>
                  </a:rPr>
                  <a:t>$^{10}C_0..{}^{10}C_{10}$</a:t>
                </a:r>
                <a:r>
                  <a:rPr sz="2400" b="0">
                    <a:solidFill>
                      <a:srgbClr val="111827"/>
                    </a:solidFill>
                    <a:latin typeface="Arial"/>
                  </a:rPr>
                  <a:t> is the 6th sorted value, </a:t>
                </a:r>
                <a:r>
                  <a:rPr lang="en-IN" sz="2400">
                    <a:solidFill>
                      <a:srgbClr val="111827"/>
                    </a:solidFill>
                    <a:latin typeface="Cambria Math" panose="02040503050406030204" pitchFamily="18" charset="0"/>
                  </a:rPr>
                  <a:t>$45$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$n$</a:t>
                </a:r>
                <a:r>
                  <a:rPr sz="2400" b="0">
                    <a:solidFill>
                      <a:srgbClr val="111827"/>
                    </a:solidFill>
                    <a:latin typeface="Arial"/>
                  </a:rPr>
                  <a:t>, such real data exist iff </a:t>
                </a:r>
                <a:r>
                  <a:rPr lang="en-IN" sz="2400">
                    <a:solidFill>
                      <a:srgbClr val="111827"/>
                    </a:solidFill>
                    <a:latin typeface="Cambria Math" panose="02040503050406030204" pitchFamily="18" charset="0"/>
                  </a:rPr>
                  <a:t>$n\ge(\sum x_i)^2/\sum x_i^2$</a:t>
                </a:r>
                <a:r>
                  <a:rPr sz="2400" b="0">
                    <a:solidFill>
                      <a:srgbClr val="111827"/>
                    </a:solidFill>
                    <a:latin typeface="Arial"/>
                  </a:rPr>
                  <a:t> (take two distinct values to fill the gap).</a:t>
                </a:r>
                <a:endParaRPr sz="2400">
                  <a:solidFill>
                    <a:srgbClr val="111827"/>
                  </a:solidFill>
                </a:endParaRPr>
              </a:p>
            </p:txBody>
          </p:sp>
        </mc:Fallback>
      </mc:AlternateContent>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25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three distinct complex numbers such that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arg</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m:rPr>
                        <m:sty m:val="p"/>
                      </m:rPr>
                      <a:rPr lang="en-IN" sz="2400">
                        <a:solidFill>
                          <a:srgbClr val="111827"/>
                        </a:solidFill>
                        <a:latin typeface="Cambria Math" panose="02040503050406030204" pitchFamily="18" charset="0"/>
                      </a:rPr>
                      <m:t>arg</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Choice>
        <mc:Fallback>
          <p:sp>
            <p:nvSpPr>
              <p:cNvPr id="4" name="Rounded Rectangle 3"/>
              <p:cNvSpPr/>
              <p:nvPr/>
            </p:nvSpPr>
            <p:spPr>
              <a:xfrm>
                <a:off x="731520" y="1280160"/>
                <a:ext cx="10725912" cy="3225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$a,b,c$</a:t>
                </a:r>
                <a:r>
                  <a:rPr sz="2400" b="0">
                    <a:solidFill>
                      <a:srgbClr val="111827"/>
                    </a:solidFill>
                    <a:latin typeface="Arial"/>
                  </a:rPr>
                  <a:t> are three distinct complex numbers such that </a:t>
                </a:r>
                <a:r>
                  <a:rPr lang="en-IN" sz="2400">
                    <a:solidFill>
                      <a:srgbClr val="111827"/>
                    </a:solidFill>
                    <a:latin typeface="Cambria Math" panose="02040503050406030204" pitchFamily="18" charset="0"/>
                  </a:rPr>
                  <a:t>$(a-b)^5+(b-c)^5+(c-a)^5=0$</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$\arg\left(\frac{a-b}{b-c}\right)=\frac{\pi}{6}$</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$\arg\left(\frac{b-c}{c-a}\right)=\frac{2\pi}{3}$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$|a-b|=|b-c|$</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None of these</a:t>
                </a:r>
                <a:endParaRPr sz="2400">
                  <a:solidFill>
                    <a:srgbClr val="111827"/>
                  </a:solidFill>
                </a:endParaRPr>
              </a:p>
            </p:txBody>
          </p:sp>
        </mc:Fallback>
      </mc:AlternateContent>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powers, roots of unity and geometry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If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and </a:t>
                </a:r>
                <a14:m>
                  <m:oMath xmlns:m="http://schemas.openxmlformats.org/officeDocument/2006/math">
                    <m:sSubSup>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up>
                        <m:r>
                          <a:rPr lang="en-IN" sz="2400" i="1">
                            <a:solidFill>
                              <a:srgbClr val="78350F"/>
                            </a:solidFill>
                            <a:latin typeface="Cambria Math" panose="02040503050406030204" pitchFamily="18" charset="0"/>
                          </a:rPr>
                          <m:t>5</m:t>
                        </m:r>
                      </m:sup>
                    </m:sSubSup>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up>
                        <m:r>
                          <a:rPr lang="en-IN" sz="2400" i="1">
                            <a:solidFill>
                              <a:srgbClr val="78350F"/>
                            </a:solidFill>
                            <a:latin typeface="Cambria Math" panose="02040503050406030204" pitchFamily="18" charset="0"/>
                          </a:rPr>
                          <m:t>5</m:t>
                        </m:r>
                      </m:sup>
                    </m:sSubSup>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up>
                        <m:r>
                          <a:rPr lang="en-IN" sz="2400" i="1">
                            <a:solidFill>
                              <a:srgbClr val="78350F"/>
                            </a:solidFill>
                            <a:latin typeface="Cambria Math" panose="02040503050406030204" pitchFamily="18" charset="0"/>
                          </a:rPr>
                          <m:t>5</m:t>
                        </m:r>
                      </m:sup>
                    </m:sSub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with all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the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are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(equilateral triangle).</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If </a:t>
                </a:r>
                <a:r>
                  <a:rPr lang="en-IN" sz="2400">
                    <a:solidFill>
                      <a:srgbClr val="78350F"/>
                    </a:solidFill>
                    <a:latin typeface="Cambria Math" panose="02040503050406030204" pitchFamily="18" charset="0"/>
                  </a:rPr>
                  <a:t>$z_1+z_2+z_3=0$</a:t>
                </a:r>
                <a:r>
                  <a:rPr sz="2400" b="0">
                    <a:solidFill>
                      <a:srgbClr val="78350F"/>
                    </a:solidFill>
                    <a:latin typeface="Arial"/>
                  </a:rPr>
                  <a:t> and </a:t>
                </a:r>
                <a:r>
                  <a:rPr lang="en-IN" sz="2400">
                    <a:solidFill>
                      <a:srgbClr val="78350F"/>
                    </a:solidFill>
                    <a:latin typeface="Cambria Math" panose="02040503050406030204" pitchFamily="18" charset="0"/>
                  </a:rPr>
                  <a:t>$z_1^5+z_2^5+z_3^5=0$</a:t>
                </a:r>
                <a:r>
                  <a:rPr sz="2400" b="0">
                    <a:solidFill>
                      <a:srgbClr val="78350F"/>
                    </a:solidFill>
                    <a:latin typeface="Arial"/>
                  </a:rPr>
                  <a:t> with all </a:t>
                </a:r>
                <a:r>
                  <a:rPr lang="en-IN" sz="2400">
                    <a:solidFill>
                      <a:srgbClr val="78350F"/>
                    </a:solidFill>
                    <a:latin typeface="Cambria Math" panose="02040503050406030204" pitchFamily="18" charset="0"/>
                  </a:rPr>
                  <a:t>$z_i\neq0$</a:t>
                </a:r>
                <a:r>
                  <a:rPr sz="2400" b="0">
                    <a:solidFill>
                      <a:srgbClr val="78350F"/>
                    </a:solidFill>
                    <a:latin typeface="Arial"/>
                  </a:rPr>
                  <a:t>, the </a:t>
                </a:r>
                <a:r>
                  <a:rPr lang="en-IN" sz="2400">
                    <a:solidFill>
                      <a:srgbClr val="78350F"/>
                    </a:solidFill>
                    <a:latin typeface="Cambria Math" panose="02040503050406030204" pitchFamily="18" charset="0"/>
                  </a:rPr>
                  <a:t>$z_i$</a:t>
                </a:r>
                <a:r>
                  <a:rPr sz="2400" b="0">
                    <a:solidFill>
                      <a:srgbClr val="78350F"/>
                    </a:solidFill>
                    <a:latin typeface="Arial"/>
                  </a:rPr>
                  <a:t> are </a:t>
                </a:r>
                <a:r>
                  <a:rPr lang="en-IN" sz="2400">
                    <a:solidFill>
                      <a:srgbClr val="78350F"/>
                    </a:solidFill>
                    <a:latin typeface="Cambria Math" panose="02040503050406030204" pitchFamily="18" charset="0"/>
                  </a:rPr>
                  <a:t>$z_1,z_1\omega,z_1\omega^2$</a:t>
                </a:r>
                <a:r>
                  <a:rPr sz="2400" b="0">
                    <a:solidFill>
                      <a:srgbClr val="78350F"/>
                    </a:solidFill>
                    <a:latin typeface="Arial"/>
                  </a:rPr>
                  <a:t> (equilateral triangle).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condition is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$z_1=a-b$</a:t>
                </a:r>
                <a:r>
                  <a:rPr sz="2400" b="0">
                    <a:solidFill>
                      <a:srgbClr val="111827"/>
                    </a:solidFill>
                    <a:latin typeface="Arial"/>
                  </a:rPr>
                  <a:t>, </a:t>
                </a:r>
                <a:r>
                  <a:rPr lang="en-IN" sz="2400">
                    <a:solidFill>
                      <a:srgbClr val="111827"/>
                    </a:solidFill>
                    <a:latin typeface="Cambria Math" panose="02040503050406030204" pitchFamily="18" charset="0"/>
                  </a:rPr>
                  <a:t>$z_2=b-c$</a:t>
                </a:r>
                <a:r>
                  <a:rPr sz="2400" b="0">
                    <a:solidFill>
                      <a:srgbClr val="111827"/>
                    </a:solidFill>
                    <a:latin typeface="Arial"/>
                  </a:rPr>
                  <a:t>, </a:t>
                </a:r>
                <a:r>
                  <a:rPr lang="en-IN" sz="2400">
                    <a:solidFill>
                      <a:srgbClr val="111827"/>
                    </a:solidFill>
                    <a:latin typeface="Cambria Math" panose="02040503050406030204" pitchFamily="18" charset="0"/>
                  </a:rPr>
                  <a:t>$z_3=c-a$</a:t>
                </a:r>
                <a:r>
                  <a:rPr sz="2400" b="0">
                    <a:solidFill>
                      <a:srgbClr val="111827"/>
                    </a:solidFill>
                    <a:latin typeface="Arial"/>
                  </a:rPr>
                  <a:t>. Then </a:t>
                </a:r>
                <a:r>
                  <a:rPr lang="en-IN" sz="2400">
                    <a:solidFill>
                      <a:srgbClr val="111827"/>
                    </a:solidFill>
                    <a:latin typeface="Cambria Math" panose="02040503050406030204" pitchFamily="18" charset="0"/>
                  </a:rPr>
                  <a:t>$z_1+z_2+z_3=0$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given condition is </a:t>
                </a:r>
                <a:r>
                  <a:rPr lang="en-IN" sz="2400">
                    <a:solidFill>
                      <a:srgbClr val="111827"/>
                    </a:solidFill>
                    <a:latin typeface="Cambria Math" panose="02040503050406030204" pitchFamily="18" charset="0"/>
                  </a:rPr>
                  <a:t>$z_1^5+z_2^5+z_3^5=0$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Newton's identity gives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distinct,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Hence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this reads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satisfies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or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ω</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or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ω</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or </a:t>
                </a:r>
                <a14:m>
                  <m:oMath xmlns:m="http://schemas.openxmlformats.org/officeDocument/2006/math">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 has argument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never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(A) is false.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$z_1+z_2+z_3=0$</a:t>
                </a:r>
                <a:r>
                  <a:rPr sz="2400" b="0">
                    <a:solidFill>
                      <a:srgbClr val="111827"/>
                    </a:solidFill>
                    <a:latin typeface="Arial"/>
                  </a:rPr>
                  <a:t>, Newton's identity gives </a:t>
                </a:r>
                <a:r>
                  <a:rPr lang="en-IN" sz="2400">
                    <a:solidFill>
                      <a:srgbClr val="111827"/>
                    </a:solidFill>
                    <a:latin typeface="Cambria Math" panose="02040503050406030204" pitchFamily="18" charset="0"/>
                  </a:rPr>
                  <a:t>$z_1^5+z_2^5+z_3^5=-5\,(z_1z_2+z_2z_3+z_3z_1)(z_1z_2z_3)$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 </a:t>
                </a:r>
                <a:r>
                  <a:rPr lang="en-IN" sz="2400">
                    <a:solidFill>
                      <a:srgbClr val="111827"/>
                    </a:solidFill>
                    <a:latin typeface="Cambria Math" panose="02040503050406030204" pitchFamily="18" charset="0"/>
                  </a:rPr>
                  <a:t>$a,b,c$</a:t>
                </a:r>
                <a:r>
                  <a:rPr sz="2400" b="0">
                    <a:solidFill>
                      <a:srgbClr val="111827"/>
                    </a:solidFill>
                    <a:latin typeface="Arial"/>
                  </a:rPr>
                  <a:t> are distinct, </a:t>
                </a:r>
                <a:r>
                  <a:rPr lang="en-IN" sz="2400">
                    <a:solidFill>
                      <a:srgbClr val="111827"/>
                    </a:solidFill>
                    <a:latin typeface="Cambria Math" panose="02040503050406030204" pitchFamily="18" charset="0"/>
                  </a:rPr>
                  <a:t>$z_i\neq 0$</a:t>
                </a:r>
                <a:r>
                  <a:rPr sz="2400" b="0">
                    <a:solidFill>
                      <a:srgbClr val="111827"/>
                    </a:solidFill>
                    <a:latin typeface="Arial"/>
                  </a:rPr>
                  <a:t>, so </a:t>
                </a:r>
                <a:r>
                  <a:rPr lang="en-IN" sz="2400">
                    <a:solidFill>
                      <a:srgbClr val="111827"/>
                    </a:solidFill>
                    <a:latin typeface="Cambria Math" panose="02040503050406030204" pitchFamily="18" charset="0"/>
                  </a:rPr>
                  <a:t>$z_1z_2z_3\neq0$</a:t>
                </a:r>
                <a:r>
                  <a:rPr sz="2400" b="0">
                    <a:solidFill>
                      <a:srgbClr val="111827"/>
                    </a:solidFill>
                    <a:latin typeface="Arial"/>
                  </a:rPr>
                  <a:t>. Hence </a:t>
                </a:r>
                <a:r>
                  <a:rPr lang="en-IN" sz="2400">
                    <a:solidFill>
                      <a:srgbClr val="111827"/>
                    </a:solidFill>
                    <a:latin typeface="Cambria Math" panose="02040503050406030204" pitchFamily="18" charset="0"/>
                  </a:rPr>
                  <a:t>$z_1z_2+z_2z_3+z_3z_1=0$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$z_3=-z_1-z_2$</a:t>
                </a:r>
                <a:r>
                  <a:rPr sz="2400" b="0">
                    <a:solidFill>
                      <a:srgbClr val="111827"/>
                    </a:solidFill>
                    <a:latin typeface="Arial"/>
                  </a:rPr>
                  <a:t> this reads </a:t>
                </a:r>
                <a:r>
                  <a:rPr lang="en-IN" sz="2400">
                    <a:solidFill>
                      <a:srgbClr val="111827"/>
                    </a:solidFill>
                    <a:latin typeface="Cambria Math" panose="02040503050406030204" pitchFamily="18" charset="0"/>
                  </a:rPr>
                  <a:t>$z_1^2+z_1z_2+z_2^2=0$</a:t>
                </a:r>
                <a:r>
                  <a:rPr sz="2400" b="0">
                    <a:solidFill>
                      <a:srgbClr val="111827"/>
                    </a:solidFill>
                    <a:latin typeface="Arial"/>
                  </a:rPr>
                  <a:t>, so </a:t>
                </a:r>
                <a:r>
                  <a:rPr lang="en-IN" sz="2400">
                    <a:solidFill>
                      <a:srgbClr val="111827"/>
                    </a:solidFill>
                    <a:latin typeface="Cambria Math" panose="02040503050406030204" pitchFamily="18" charset="0"/>
                  </a:rPr>
                  <a:t>$\frac{z_2}{z_1}$</a:t>
                </a:r>
                <a:r>
                  <a:rPr sz="2400" b="0">
                    <a:solidFill>
                      <a:srgbClr val="111827"/>
                    </a:solidFill>
                    <a:latin typeface="Arial"/>
                  </a:rPr>
                  <a:t> satisfies </a:t>
                </a:r>
                <a:r>
                  <a:rPr lang="en-IN" sz="2400">
                    <a:solidFill>
                      <a:srgbClr val="111827"/>
                    </a:solidFill>
                    <a:latin typeface="Cambria Math" panose="02040503050406030204" pitchFamily="18" charset="0"/>
                  </a:rPr>
                  <a:t>$t^2+t+1=0$</a:t>
                </a:r>
                <a:r>
                  <a:rPr sz="2400" b="0">
                    <a:solidFill>
                      <a:srgbClr val="111827"/>
                    </a:solidFill>
                    <a:latin typeface="Arial"/>
                  </a:rPr>
                  <a:t>, i.e. </a:t>
                </a:r>
                <a:r>
                  <a:rPr lang="en-IN" sz="2400">
                    <a:solidFill>
                      <a:srgbClr val="111827"/>
                    </a:solidFill>
                    <a:latin typeface="Cambria Math" panose="02040503050406030204" pitchFamily="18" charset="0"/>
                  </a:rPr>
                  <a:t>$\frac{z_2}{z_1}=\omega$</a:t>
                </a:r>
                <a:r>
                  <a:rPr sz="2400" b="0">
                    <a:solidFill>
                      <a:srgbClr val="111827"/>
                    </a:solidFill>
                    <a:latin typeface="Arial"/>
                  </a:rPr>
                  <a:t> or </a:t>
                </a:r>
                <a:r>
                  <a:rPr lang="en-IN" sz="2400">
                    <a:solidFill>
                      <a:srgbClr val="111827"/>
                    </a:solidFill>
                    <a:latin typeface="Cambria Math" panose="02040503050406030204" pitchFamily="18" charset="0"/>
                  </a:rPr>
                  <a:t>$\omega^2$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$z_2=z_1\omega$</a:t>
                </a:r>
                <a:r>
                  <a:rPr sz="2400" b="0">
                    <a:solidFill>
                      <a:srgbClr val="111827"/>
                    </a:solidFill>
                    <a:latin typeface="Arial"/>
                  </a:rPr>
                  <a:t> and </a:t>
                </a:r>
                <a:r>
                  <a:rPr lang="en-IN" sz="2400">
                    <a:solidFill>
                      <a:srgbClr val="111827"/>
                    </a:solidFill>
                    <a:latin typeface="Cambria Math" panose="02040503050406030204" pitchFamily="18" charset="0"/>
                  </a:rPr>
                  <a:t>$z_3=z_1\omega^2$</a:t>
                </a:r>
                <a:r>
                  <a:rPr sz="2400" b="0">
                    <a:solidFill>
                      <a:srgbClr val="111827"/>
                    </a:solidFill>
                    <a:latin typeface="Arial"/>
                  </a:rPr>
                  <a:t>, or </a:t>
                </a:r>
                <a:r>
                  <a:rPr lang="en-IN" sz="2400">
                    <a:solidFill>
                      <a:srgbClr val="111827"/>
                    </a:solidFill>
                    <a:latin typeface="Cambria Math" panose="02040503050406030204" pitchFamily="18" charset="0"/>
                  </a:rPr>
                  <a:t>$z_2=z_1\omega^2$</a:t>
                </a:r>
                <a:r>
                  <a:rPr sz="2400" b="0">
                    <a:solidFill>
                      <a:srgbClr val="111827"/>
                    </a:solidFill>
                    <a:latin typeface="Arial"/>
                  </a:rPr>
                  <a:t> and </a:t>
                </a:r>
                <a:r>
                  <a:rPr lang="en-IN" sz="2400">
                    <a:solidFill>
                      <a:srgbClr val="111827"/>
                    </a:solidFill>
                    <a:latin typeface="Cambria Math" panose="02040503050406030204" pitchFamily="18" charset="0"/>
                  </a:rPr>
                  <a:t>$z_3=z_1\omega$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$|z_1|=|z_2|=|z_3|$</a:t>
                </a:r>
                <a:r>
                  <a:rPr sz="2400" b="0">
                    <a:solidFill>
                      <a:srgbClr val="111827"/>
                    </a:solidFill>
                    <a:latin typeface="Arial"/>
                  </a:rPr>
                  <a:t>, i.e. </a:t>
                </a:r>
                <a:r>
                  <a:rPr lang="en-IN" sz="2400">
                    <a:solidFill>
                      <a:srgbClr val="111827"/>
                    </a:solidFill>
                    <a:latin typeface="Cambria Math" panose="02040503050406030204" pitchFamily="18" charset="0"/>
                  </a:rPr>
                  <a:t>$|a-b|=|b-c|=|c-a|$</a:t>
                </a:r>
                <a:r>
                  <a:rPr sz="2400" b="0">
                    <a:solidFill>
                      <a:srgbClr val="111827"/>
                    </a:solidFill>
                    <a:latin typeface="Arial"/>
                  </a:rPr>
                  <a:t>: (C)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$\frac{a-b}{b-c}=\frac{z_1}{z_2}=\omega^{-1}$</a:t>
                </a:r>
                <a:r>
                  <a:rPr sz="2400" b="0">
                    <a:solidFill>
                      <a:srgbClr val="111827"/>
                    </a:solidFill>
                    <a:latin typeface="Arial"/>
                  </a:rPr>
                  <a:t> or </a:t>
                </a:r>
                <a:r>
                  <a:rPr lang="en-IN" sz="2400">
                    <a:solidFill>
                      <a:srgbClr val="111827"/>
                    </a:solidFill>
                    <a:latin typeface="Cambria Math" panose="02040503050406030204" pitchFamily="18" charset="0"/>
                  </a:rPr>
                  <a:t>$\omega^{-2}$</a:t>
                </a:r>
                <a:r>
                  <a:rPr sz="2400" b="0">
                    <a:solidFill>
                      <a:srgbClr val="111827"/>
                    </a:solidFill>
                    <a:latin typeface="Arial"/>
                  </a:rPr>
                  <a:t> has argument </a:t>
                </a:r>
                <a:r>
                  <a:rPr lang="en-IN" sz="2400">
                    <a:solidFill>
                      <a:srgbClr val="111827"/>
                    </a:solidFill>
                    <a:latin typeface="Cambria Math" panose="02040503050406030204" pitchFamily="18" charset="0"/>
                  </a:rPr>
                  <a:t>$\mp\frac{2\pi}{3}$</a:t>
                </a:r>
                <a:r>
                  <a:rPr sz="2400" b="0">
                    <a:solidFill>
                      <a:srgbClr val="111827"/>
                    </a:solidFill>
                    <a:latin typeface="Arial"/>
                  </a:rPr>
                  <a:t>, never </a:t>
                </a:r>
                <a:r>
                  <a:rPr lang="en-IN" sz="2400">
                    <a:solidFill>
                      <a:srgbClr val="111827"/>
                    </a:solidFill>
                    <a:latin typeface="Cambria Math" panose="02040503050406030204" pitchFamily="18" charset="0"/>
                  </a:rPr>
                  <a:t>$\frac{\pi}{6}$</a:t>
                </a:r>
                <a:r>
                  <a:rPr sz="2400" b="0">
                    <a:solidFill>
                      <a:srgbClr val="111827"/>
                    </a:solidFill>
                    <a:latin typeface="Arial"/>
                  </a:rPr>
                  <a:t>: (A) is false.</a:t>
                </a:r>
                <a:endParaRPr sz="2400">
                  <a:solidFill>
                    <a:srgbClr val="111827"/>
                  </a:solidFill>
                </a:endParaRPr>
              </a:p>
            </p:txBody>
          </p:sp>
        </mc:Fallback>
      </mc:AlternateContent>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 has argument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occurs for one orientation of the triangle: (B) is true.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$\frac{b-c}{c-a}=\frac{z_2}{z_3}=\omega^{-1}$</a:t>
                </a:r>
                <a:r>
                  <a:rPr sz="2400" b="0">
                    <a:solidFill>
                      <a:srgbClr val="111827"/>
                    </a:solidFill>
                    <a:latin typeface="Arial"/>
                  </a:rPr>
                  <a:t> or </a:t>
                </a:r>
                <a:r>
                  <a:rPr lang="en-IN" sz="2400">
                    <a:solidFill>
                      <a:srgbClr val="111827"/>
                    </a:solidFill>
                    <a:latin typeface="Cambria Math" panose="02040503050406030204" pitchFamily="18" charset="0"/>
                  </a:rPr>
                  <a:t>$\omega$</a:t>
                </a:r>
                <a:r>
                  <a:rPr sz="2400" b="0">
                    <a:solidFill>
                      <a:srgbClr val="111827"/>
                    </a:solidFill>
                    <a:latin typeface="Arial"/>
                  </a:rPr>
                  <a:t> has argument </a:t>
                </a:r>
                <a:r>
                  <a:rPr lang="en-IN" sz="2400">
                    <a:solidFill>
                      <a:srgbClr val="111827"/>
                    </a:solidFill>
                    <a:latin typeface="Cambria Math" panose="02040503050406030204" pitchFamily="18" charset="0"/>
                  </a:rPr>
                  <a:t>$\pm\frac{2\pi}{3}$</a:t>
                </a:r>
                <a:r>
                  <a:rPr sz="2400" b="0">
                    <a:solidFill>
                      <a:srgbClr val="111827"/>
                    </a:solidFill>
                    <a:latin typeface="Arial"/>
                  </a:rPr>
                  <a:t>, and </a:t>
                </a:r>
                <a:r>
                  <a:rPr lang="en-IN" sz="2400">
                    <a:solidFill>
                      <a:srgbClr val="111827"/>
                    </a:solidFill>
                    <a:latin typeface="Cambria Math" panose="02040503050406030204" pitchFamily="18" charset="0"/>
                  </a:rPr>
                  <a:t>$\frac{2\pi}{3}$</a:t>
                </a:r>
                <a:r>
                  <a:rPr sz="2400" b="0">
                    <a:solidFill>
                      <a:srgbClr val="111827"/>
                    </a:solidFill>
                    <a:latin typeface="Arial"/>
                  </a:rPr>
                  <a:t> occurs for one orientation of the triangle: (B) is true.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Scale by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put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then the fifth-power condition factorises completely.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Scale by </a:t>
                </a:r>
                <a:r>
                  <a:rPr lang="en-IN" sz="2400">
                    <a:solidFill>
                      <a:srgbClr val="78350F"/>
                    </a:solidFill>
                    <a:latin typeface="Cambria Math" panose="02040503050406030204" pitchFamily="18" charset="0"/>
                  </a:rPr>
                  <a:t>$z_1$</a:t>
                </a:r>
                <a:r>
                  <a:rPr sz="2400" b="0">
                    <a:solidFill>
                      <a:srgbClr val="78350F"/>
                    </a:solidFill>
                    <a:latin typeface="Arial"/>
                  </a:rPr>
                  <a:t>: put </a:t>
                </a:r>
                <a:r>
                  <a:rPr lang="en-IN" sz="2400">
                    <a:solidFill>
                      <a:srgbClr val="78350F"/>
                    </a:solidFill>
                    <a:latin typeface="Cambria Math" panose="02040503050406030204" pitchFamily="18" charset="0"/>
                  </a:rPr>
                  <a:t>$t=z_2/z_1$</a:t>
                </a:r>
                <a:r>
                  <a:rPr sz="2400" b="0">
                    <a:solidFill>
                      <a:srgbClr val="78350F"/>
                    </a:solidFill>
                    <a:latin typeface="Arial"/>
                  </a:rPr>
                  <a:t> and </a:t>
                </a:r>
                <a:r>
                  <a:rPr lang="en-IN" sz="2400">
                    <a:solidFill>
                      <a:srgbClr val="78350F"/>
                    </a:solidFill>
                    <a:latin typeface="Cambria Math" panose="02040503050406030204" pitchFamily="18" charset="0"/>
                  </a:rPr>
                  <a:t>$z_3=-z_1(1+t)$</a:t>
                </a:r>
                <a:r>
                  <a:rPr sz="2400" b="0">
                    <a:solidFill>
                      <a:srgbClr val="78350F"/>
                    </a:solidFill>
                    <a:latin typeface="Arial"/>
                  </a:rPr>
                  <a:t>, then the fifth-power condition factorises completely.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Divide by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sSubSup>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condition becomes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Divide by </a:t>
                </a:r>
                <a:r>
                  <a:rPr lang="en-IN" sz="2400">
                    <a:solidFill>
                      <a:srgbClr val="111827"/>
                    </a:solidFill>
                    <a:latin typeface="Cambria Math" panose="02040503050406030204" pitchFamily="18" charset="0"/>
                  </a:rPr>
                  <a:t>$z_1^5$</a:t>
                </a:r>
                <a:r>
                  <a:rPr sz="2400" b="0">
                    <a:solidFill>
                      <a:srgbClr val="111827"/>
                    </a:solidFill>
                    <a:latin typeface="Arial"/>
                  </a:rPr>
                  <a:t> (</a:t>
                </a:r>
                <a:r>
                  <a:rPr lang="en-IN" sz="2400">
                    <a:solidFill>
                      <a:srgbClr val="111827"/>
                    </a:solidFill>
                    <a:latin typeface="Cambria Math" panose="02040503050406030204" pitchFamily="18" charset="0"/>
                  </a:rPr>
                  <a:t>$z_1\neq0$</a:t>
                </a:r>
                <a:r>
                  <a:rPr sz="2400" b="0">
                    <a:solidFill>
                      <a:srgbClr val="111827"/>
                    </a:solidFill>
                    <a:latin typeface="Arial"/>
                  </a:rPr>
                  <a:t>): with </a:t>
                </a:r>
                <a:r>
                  <a:rPr lang="en-IN" sz="2400">
                    <a:solidFill>
                      <a:srgbClr val="111827"/>
                    </a:solidFill>
                    <a:latin typeface="Cambria Math" panose="02040503050406030204" pitchFamily="18" charset="0"/>
                  </a:rPr>
                  <a:t>$t=\frac{z_2}{z_1}$</a:t>
                </a:r>
                <a:r>
                  <a:rPr sz="2400" b="0">
                    <a:solidFill>
                      <a:srgbClr val="111827"/>
                    </a:solidFill>
                    <a:latin typeface="Arial"/>
                  </a:rPr>
                  <a:t> and </a:t>
                </a:r>
                <a:r>
                  <a:rPr lang="en-IN" sz="2400">
                    <a:solidFill>
                      <a:srgbClr val="111827"/>
                    </a:solidFill>
                    <a:latin typeface="Cambria Math" panose="02040503050406030204" pitchFamily="18" charset="0"/>
                  </a:rPr>
                  <a:t>$z_3=-z_1(1+t)$</a:t>
                </a:r>
                <a:r>
                  <a:rPr sz="2400" b="0">
                    <a:solidFill>
                      <a:srgbClr val="111827"/>
                    </a:solidFill>
                    <a:latin typeface="Arial"/>
                  </a:rPr>
                  <a:t> the condition becomes </a:t>
                </a:r>
                <a:r>
                  <a:rPr lang="en-IN" sz="2400">
                    <a:solidFill>
                      <a:srgbClr val="111827"/>
                    </a:solidFill>
                    <a:latin typeface="Cambria Math" panose="02040503050406030204" pitchFamily="18" charset="0"/>
                  </a:rPr>
                  <a:t>$1+t^5-(1+t)^5=0$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r>
                  <a:rPr lang="en-IN" sz="2400">
                    <a:solidFill>
                      <a:srgbClr val="111827"/>
                    </a:solidFill>
                    <a:latin typeface="Cambria Math" panose="02040503050406030204" pitchFamily="18" charset="0"/>
                  </a:rPr>
                  <a:t>$(1+t)^5-1-t^5=5t+10t^2+10t^3+5t^4=5t(1+t)(1+t+t^2)$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since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or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the three sides have equal modulus, rotated by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 same conclusion as above.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$t\neq0$</a:t>
                </a:r>
                <a:r>
                  <a:rPr sz="2400" b="0">
                    <a:solidFill>
                      <a:srgbClr val="111827"/>
                    </a:solidFill>
                    <a:latin typeface="Arial"/>
                  </a:rPr>
                  <a:t> since </a:t>
                </a:r>
                <a:r>
                  <a:rPr lang="en-IN" sz="2400">
                    <a:solidFill>
                      <a:srgbClr val="111827"/>
                    </a:solidFill>
                    <a:latin typeface="Cambria Math" panose="02040503050406030204" pitchFamily="18" charset="0"/>
                  </a:rPr>
                  <a:t>$b\neq c$</a:t>
                </a:r>
                <a:r>
                  <a:rPr sz="2400" b="0">
                    <a:solidFill>
                      <a:srgbClr val="111827"/>
                    </a:solidFill>
                    <a:latin typeface="Arial"/>
                  </a:rPr>
                  <a:t>, and </a:t>
                </a:r>
                <a:r>
                  <a:rPr lang="en-IN" sz="2400">
                    <a:solidFill>
                      <a:srgbClr val="111827"/>
                    </a:solidFill>
                    <a:latin typeface="Cambria Math" panose="02040503050406030204" pitchFamily="18" charset="0"/>
                  </a:rPr>
                  <a:t>$t\neq-1$</a:t>
                </a:r>
                <a:r>
                  <a:rPr sz="2400" b="0">
                    <a:solidFill>
                      <a:srgbClr val="111827"/>
                    </a:solidFill>
                    <a:latin typeface="Arial"/>
                  </a:rPr>
                  <a:t> since </a:t>
                </a:r>
                <a:r>
                  <a:rPr lang="en-IN" sz="2400">
                    <a:solidFill>
                      <a:srgbClr val="111827"/>
                    </a:solidFill>
                    <a:latin typeface="Cambria Math" panose="02040503050406030204" pitchFamily="18" charset="0"/>
                  </a:rPr>
                  <a:t>$z_3\neq0$</a:t>
                </a:r>
                <a:r>
                  <a:rPr sz="2400" b="0">
                    <a:solidFill>
                      <a:srgbClr val="111827"/>
                    </a:solidFill>
                    <a:latin typeface="Arial"/>
                  </a:rPr>
                  <a:t> (</a:t>
                </a:r>
                <a:r>
                  <a:rPr lang="en-IN" sz="2400">
                    <a:solidFill>
                      <a:srgbClr val="111827"/>
                    </a:solidFill>
                    <a:latin typeface="Cambria Math" panose="02040503050406030204" pitchFamily="18" charset="0"/>
                  </a:rPr>
                  <a:t>$c\neq a$</a:t>
                </a:r>
                <a:r>
                  <a:rPr sz="2400" b="0">
                    <a:solidFill>
                      <a:srgbClr val="111827"/>
                    </a:solidFill>
                    <a:latin typeface="Arial"/>
                  </a:rPr>
                  <a:t>). So </a:t>
                </a:r>
                <a:r>
                  <a:rPr lang="en-IN" sz="2400">
                    <a:solidFill>
                      <a:srgbClr val="111827"/>
                    </a:solidFill>
                    <a:latin typeface="Cambria Math" panose="02040503050406030204" pitchFamily="18" charset="0"/>
                  </a:rPr>
                  <a:t>$t^2+t+1=0$</a:t>
                </a:r>
                <a:r>
                  <a:rPr sz="2400" b="0">
                    <a:solidFill>
                      <a:srgbClr val="111827"/>
                    </a:solidFill>
                    <a:latin typeface="Arial"/>
                  </a:rPr>
                  <a:t>, i.e. </a:t>
                </a:r>
                <a:r>
                  <a:rPr lang="en-IN" sz="2400">
                    <a:solidFill>
                      <a:srgbClr val="111827"/>
                    </a:solidFill>
                    <a:latin typeface="Cambria Math" panose="02040503050406030204" pitchFamily="18" charset="0"/>
                  </a:rPr>
                  <a:t>$t=\omega$</a:t>
                </a:r>
                <a:r>
                  <a:rPr sz="2400" b="0">
                    <a:solidFill>
                      <a:srgbClr val="111827"/>
                    </a:solidFill>
                    <a:latin typeface="Arial"/>
                  </a:rPr>
                  <a:t> or </a:t>
                </a:r>
                <a:r>
                  <a:rPr lang="en-IN" sz="2400">
                    <a:solidFill>
                      <a:srgbClr val="111827"/>
                    </a:solidFill>
                    <a:latin typeface="Cambria Math" panose="02040503050406030204" pitchFamily="18" charset="0"/>
                  </a:rPr>
                  <a:t>$\omega^2$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$z_2=z_1\omega^{\pm1}$</a:t>
                </a:r>
                <a:r>
                  <a:rPr sz="2400" b="0">
                    <a:solidFill>
                      <a:srgbClr val="111827"/>
                    </a:solidFill>
                    <a:latin typeface="Arial"/>
                  </a:rPr>
                  <a:t> and </a:t>
                </a:r>
                <a:r>
                  <a:rPr lang="en-IN" sz="2400">
                    <a:solidFill>
                      <a:srgbClr val="111827"/>
                    </a:solidFill>
                    <a:latin typeface="Cambria Math" panose="02040503050406030204" pitchFamily="18" charset="0"/>
                  </a:rPr>
                  <a:t>$z_3=-z_1(1+\omega^{\pm1})=z_1\omega^{\mp1}$</a:t>
                </a:r>
                <a:r>
                  <a:rPr sz="2400" b="0">
                    <a:solidFill>
                      <a:srgbClr val="111827"/>
                    </a:solidFill>
                    <a:latin typeface="Arial"/>
                  </a:rPr>
                  <a:t>: the three sides have equal modulus, rotated by </a:t>
                </a:r>
                <a:r>
                  <a:rPr lang="en-IN" sz="2400">
                    <a:solidFill>
                      <a:srgbClr val="111827"/>
                    </a:solidFill>
                    <a:latin typeface="Cambria Math" panose="02040503050406030204" pitchFamily="18" charset="0"/>
                  </a:rPr>
                  <a:t>$120^\circ$</a:t>
                </a:r>
                <a:r>
                  <a:rPr sz="2400" b="0">
                    <a:solidFill>
                      <a:srgbClr val="111827"/>
                    </a:solidFill>
                    <a:latin typeface="Arial"/>
                  </a:rPr>
                  <a:t> - same conclusion as above.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nonzero complex numbers with sum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are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(vertices-differences of an equilateral triangle).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Differences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always sum to zero: any symmetric condition on them can be reduced via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(only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remain).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$z_1+z_2+z_3=0$</a:t>
                </a:r>
                <a:r>
                  <a:rPr sz="2400" b="0">
                    <a:solidFill>
                      <a:srgbClr val="111827"/>
                    </a:solidFill>
                    <a:latin typeface="Arial"/>
                  </a:rPr>
                  <a:t> then </a:t>
                </a:r>
                <a:r>
                  <a:rPr lang="en-IN" sz="2400">
                    <a:solidFill>
                      <a:srgbClr val="111827"/>
                    </a:solidFill>
                    <a:latin typeface="Cambria Math" panose="02040503050406030204" pitchFamily="18" charset="0"/>
                  </a:rPr>
                  <a:t>$z_1^3+z_2^3+z_3^3=3z_1z_2z_3$</a:t>
                </a:r>
                <a:r>
                  <a:rPr sz="2400" b="0">
                    <a:solidFill>
                      <a:srgbClr val="111827"/>
                    </a:solidFill>
                    <a:latin typeface="Arial"/>
                  </a:rPr>
                  <a:t> and </a:t>
                </a:r>
                <a:r>
                  <a:rPr lang="en-IN" sz="2400">
                    <a:solidFill>
                      <a:srgbClr val="111827"/>
                    </a:solidFill>
                    <a:latin typeface="Cambria Math" panose="02040503050406030204" pitchFamily="18" charset="0"/>
                  </a:rPr>
                  <a:t>$z_1^5+z_2^5+z_3^5=-5(z_1z_2+z_2z_3+z_3z_1)(z_1z_2z_3)$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Three nonzero complex numbers with sum </a:t>
                </a:r>
                <a:r>
                  <a:rPr lang="en-IN" sz="2400">
                    <a:solidFill>
                      <a:srgbClr val="111827"/>
                    </a:solidFill>
                    <a:latin typeface="Cambria Math" panose="02040503050406030204" pitchFamily="18" charset="0"/>
                  </a:rPr>
                  <a:t>$0$</a:t>
                </a:r>
                <a:r>
                  <a:rPr sz="2400" b="0">
                    <a:solidFill>
                      <a:srgbClr val="111827"/>
                    </a:solidFill>
                    <a:latin typeface="Arial"/>
                  </a:rPr>
                  <a:t> and </a:t>
                </a:r>
                <a:r>
                  <a:rPr lang="en-IN" sz="2400">
                    <a:solidFill>
                      <a:srgbClr val="111827"/>
                    </a:solidFill>
                    <a:latin typeface="Cambria Math" panose="02040503050406030204" pitchFamily="18" charset="0"/>
                  </a:rPr>
                  <a:t>$z_1z_2+z_2z_3+z_3z_1=0$</a:t>
                </a:r>
                <a:r>
                  <a:rPr sz="2400" b="0">
                    <a:solidFill>
                      <a:srgbClr val="111827"/>
                    </a:solidFill>
                    <a:latin typeface="Arial"/>
                  </a:rPr>
                  <a:t> are </a:t>
                </a:r>
                <a:r>
                  <a:rPr lang="en-IN" sz="2400">
                    <a:solidFill>
                      <a:srgbClr val="111827"/>
                    </a:solidFill>
                    <a:latin typeface="Cambria Math" panose="02040503050406030204" pitchFamily="18" charset="0"/>
                  </a:rPr>
                  <a:t>$z_1(1,\omega,\omega^2)$</a:t>
                </a:r>
                <a:r>
                  <a:rPr sz="2400" b="0">
                    <a:solidFill>
                      <a:srgbClr val="111827"/>
                    </a:solidFill>
                    <a:latin typeface="Arial"/>
                  </a:rPr>
                  <a:t> (vertices-differences of an equilateral triangle).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Differences </a:t>
                </a:r>
                <a:r>
                  <a:rPr lang="en-IN" sz="2400">
                    <a:solidFill>
                      <a:srgbClr val="111827"/>
                    </a:solidFill>
                    <a:latin typeface="Cambria Math" panose="02040503050406030204" pitchFamily="18" charset="0"/>
                  </a:rPr>
                  <a:t>$a-b,\,b-c,\,c-a$</a:t>
                </a:r>
                <a:r>
                  <a:rPr sz="2400" b="0">
                    <a:solidFill>
                      <a:srgbClr val="111827"/>
                    </a:solidFill>
                    <a:latin typeface="Arial"/>
                  </a:rPr>
                  <a:t> always sum to zero: any symmetric condition on them can be reduced via </a:t>
                </a:r>
                <a:r>
                  <a:rPr lang="en-IN" sz="2400">
                    <a:solidFill>
                      <a:srgbClr val="111827"/>
                    </a:solidFill>
                    <a:latin typeface="Cambria Math" panose="02040503050406030204" pitchFamily="18" charset="0"/>
                  </a:rPr>
                  <a:t>$e_1=0$</a:t>
                </a:r>
                <a:r>
                  <a:rPr sz="2400" b="0">
                    <a:solidFill>
                      <a:srgbClr val="111827"/>
                    </a:solidFill>
                    <a:latin typeface="Arial"/>
                  </a:rPr>
                  <a:t> (only </a:t>
                </a:r>
                <a:r>
                  <a:rPr lang="en-IN" sz="2400">
                    <a:solidFill>
                      <a:srgbClr val="111827"/>
                    </a:solidFill>
                    <a:latin typeface="Cambria Math" panose="02040503050406030204" pitchFamily="18" charset="0"/>
                  </a:rPr>
                  <a:t>$e_2,e_3$</a:t>
                </a:r>
                <a:r>
                  <a:rPr sz="2400" b="0">
                    <a:solidFill>
                      <a:srgbClr val="111827"/>
                    </a:solidFill>
                    <a:latin typeface="Arial"/>
                  </a:rPr>
                  <a:t> remain).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$z=(1,\omega,\omega^2)$</a:t>
                </a:r>
                <a:r>
                  <a:rPr sz="2400" b="0">
                    <a:solidFill>
                      <a:srgbClr val="111827"/>
                    </a:solidFill>
                    <a:latin typeface="Arial"/>
                  </a:rPr>
                  <a:t> gives </a:t>
                </a:r>
                <a:r>
                  <a:rPr lang="en-IN" sz="2400">
                    <a:solidFill>
                      <a:srgbClr val="111827"/>
                    </a:solidFill>
                    <a:latin typeface="Cambria Math" panose="02040503050406030204" pitchFamily="18" charset="0"/>
                  </a:rPr>
                  <a:t>$1+\omega^5+\omega^{10}=1+\omega^2+\omega=0$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93217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For all real numbers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 If there exist real numbers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6</m:t>
                        </m:r>
                      </m:sub>
                    </m:sSub>
                  </m:oMath>
                </a14:m>
                <a:r>
                  <a:rPr sz="2400" b="0">
                    <a:solidFill>
                      <a:srgbClr val="111827"/>
                    </a:solidFill>
                    <a:latin typeface="Arial"/>
                  </a:rPr>
                  <a:t> for which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form a regular hexagon on the complex plane, then which of the following is/are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Area of hexagon is </a:t>
                </a:r>
                <a14:m>
                  <m:oMath xmlns:m="http://schemas.openxmlformats.org/officeDocument/2006/math">
                    <m:r>
                      <a:rPr lang="en-IN" sz="2400" i="1">
                        <a:solidFill>
                          <a:srgbClr val="111827"/>
                        </a:solidFill>
                        <a:latin typeface="Cambria Math" panose="02040503050406030204" pitchFamily="18" charset="0"/>
                      </a:rPr>
                      <m:t>6</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sq. units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Area of hexagon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8</m:t>
                        </m:r>
                      </m:den>
                    </m:f>
                  </m:oMath>
                </a14:m>
                <a:r>
                  <a:rPr sz="2400" b="0">
                    <a:solidFill>
                      <a:srgbClr val="111827"/>
                    </a:solidFill>
                    <a:latin typeface="Arial"/>
                  </a:rPr>
                  <a:t> sq. units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Centre of the circle circumscribing the hexagon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Centre of the circle circumscribing the hexagon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endParaRPr sz="2400">
                  <a:solidFill>
                    <a:srgbClr val="111827"/>
                  </a:solidFill>
                </a:endParaRPr>
              </a:p>
            </p:txBody>
          </p:sp>
        </mc:Choice>
        <mc:Fallback>
          <p:sp>
            <p:nvSpPr>
              <p:cNvPr id="4" name="Rounded Rectangle 3"/>
              <p:cNvSpPr/>
              <p:nvPr/>
            </p:nvSpPr>
            <p:spPr>
              <a:xfrm>
                <a:off x="731520" y="1280160"/>
                <a:ext cx="10725912" cy="493217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For all real numbers </a:t>
                </a:r>
                <a:r>
                  <a:rPr lang="en-IN" sz="2400">
                    <a:solidFill>
                      <a:srgbClr val="111827"/>
                    </a:solidFill>
                    <a:latin typeface="Cambria Math" panose="02040503050406030204" pitchFamily="18" charset="0"/>
                  </a:rPr>
                  <a:t>$x$</a:t>
                </a:r>
                <a:r>
                  <a:rPr sz="2400" b="0">
                    <a:solidFill>
                      <a:srgbClr val="111827"/>
                    </a:solidFill>
                    <a:latin typeface="Arial"/>
                  </a:rPr>
                  <a:t>, let </a:t>
                </a:r>
                <a:r>
                  <a:rPr lang="en-IN" sz="2400">
                    <a:solidFill>
                      <a:srgbClr val="111827"/>
                    </a:solidFill>
                    <a:latin typeface="Cambria Math" panose="02040503050406030204" pitchFamily="18" charset="0"/>
                  </a:rPr>
                  <a:t>$f(x)=\frac{1}{2x-i}$</a:t>
                </a:r>
                <a:r>
                  <a:rPr sz="2400" b="0">
                    <a:solidFill>
                      <a:srgbClr val="111827"/>
                    </a:solidFill>
                    <a:latin typeface="Arial"/>
                  </a:rPr>
                  <a:t> (</a:t>
                </a:r>
                <a:r>
                  <a:rPr lang="en-IN" sz="2400">
                    <a:solidFill>
                      <a:srgbClr val="111827"/>
                    </a:solidFill>
                    <a:latin typeface="Cambria Math" panose="02040503050406030204" pitchFamily="18" charset="0"/>
                  </a:rPr>
                  <a:t>$i=\sqrt{-1}$</a:t>
                </a:r>
                <a:r>
                  <a:rPr sz="2400" b="0">
                    <a:solidFill>
                      <a:srgbClr val="111827"/>
                    </a:solidFill>
                    <a:latin typeface="Arial"/>
                  </a:rPr>
                  <a:t>). If there exist real numbers </a:t>
                </a:r>
                <a:r>
                  <a:rPr lang="en-IN" sz="2400">
                    <a:solidFill>
                      <a:srgbClr val="111827"/>
                    </a:solidFill>
                    <a:latin typeface="Cambria Math" panose="02040503050406030204" pitchFamily="18" charset="0"/>
                  </a:rPr>
                  <a:t>$a_1,a_2,a_3,a_4,a_5,a_6$</a:t>
                </a:r>
                <a:r>
                  <a:rPr sz="2400" b="0">
                    <a:solidFill>
                      <a:srgbClr val="111827"/>
                    </a:solidFill>
                    <a:latin typeface="Arial"/>
                  </a:rPr>
                  <a:t> for which </a:t>
                </a:r>
                <a:r>
                  <a:rPr lang="en-IN" sz="2400">
                    <a:solidFill>
                      <a:srgbClr val="111827"/>
                    </a:solidFill>
                    <a:latin typeface="Cambria Math" panose="02040503050406030204" pitchFamily="18" charset="0"/>
                  </a:rPr>
                  <a:t>$f(a_1),f(a_2),f(a_3),f(a_4),f(a_5),f(a_6)$</a:t>
                </a:r>
                <a:r>
                  <a:rPr sz="2400" b="0">
                    <a:solidFill>
                      <a:srgbClr val="111827"/>
                    </a:solidFill>
                    <a:latin typeface="Arial"/>
                  </a:rPr>
                  <a:t> form a regular hexagon on the complex plane, then which of the following is/are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Area of hexagon is </a:t>
                </a:r>
                <a:r>
                  <a:rPr lang="en-IN" sz="2400">
                    <a:solidFill>
                      <a:srgbClr val="111827"/>
                    </a:solidFill>
                    <a:latin typeface="Cambria Math" panose="02040503050406030204" pitchFamily="18" charset="0"/>
                  </a:rPr>
                  <a:t>$6\sqrt3$</a:t>
                </a:r>
                <a:r>
                  <a:rPr sz="2400" b="0">
                    <a:solidFill>
                      <a:srgbClr val="111827"/>
                    </a:solidFill>
                    <a:latin typeface="Arial"/>
                  </a:rPr>
                  <a:t> sq. units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Area of hexagon is </a:t>
                </a:r>
                <a:r>
                  <a:rPr lang="en-IN" sz="2400">
                    <a:solidFill>
                      <a:srgbClr val="111827"/>
                    </a:solidFill>
                    <a:latin typeface="Cambria Math" panose="02040503050406030204" pitchFamily="18" charset="0"/>
                  </a:rPr>
                  <a:t>$\frac{3\sqrt3}{8}$</a:t>
                </a:r>
                <a:r>
                  <a:rPr sz="2400" b="0">
                    <a:solidFill>
                      <a:srgbClr val="111827"/>
                    </a:solidFill>
                    <a:latin typeface="Arial"/>
                  </a:rPr>
                  <a:t> sq. units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Centre of the circle circumscribing the hexagon is </a:t>
                </a:r>
                <a:r>
                  <a:rPr lang="en-IN" sz="2400">
                    <a:solidFill>
                      <a:srgbClr val="111827"/>
                    </a:solidFill>
                    <a:latin typeface="Cambria Math" panose="02040503050406030204" pitchFamily="18" charset="0"/>
                  </a:rPr>
                  <a:t>$\left(0,\frac12\right)$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Centre of the circle circumscribing the hexagon is </a:t>
                </a:r>
                <a:r>
                  <a:rPr lang="en-IN" sz="2400">
                    <a:solidFill>
                      <a:srgbClr val="111827"/>
                    </a:solidFill>
                    <a:latin typeface="Cambria Math" panose="02040503050406030204" pitchFamily="18" charset="0"/>
                  </a:rPr>
                  <a:t>$\left(0,-\frac12\right)$</a:t>
                </a:r>
                <a:endParaRPr sz="2400">
                  <a:solidFill>
                    <a:srgbClr val="111827"/>
                  </a:solidFill>
                </a:endParaRPr>
              </a:p>
            </p:txBody>
          </p:sp>
        </mc:Fallback>
      </mc:AlternateContent>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locus of a point and circle, Regular polygons and their area</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image of the real </a:t>
                </a:r>
                <a14:m>
                  <m:oMath xmlns:m="http://schemas.openxmlformats.org/officeDocument/2006/math">
                    <m:r>
                      <a:rPr lang="en-IN" sz="2400" i="1">
                        <a:solidFill>
                          <a:srgbClr val="78350F"/>
                        </a:solidFill>
                        <a:latin typeface="Cambria Math" panose="02040503050406030204" pitchFamily="18" charset="0"/>
                      </a:rPr>
                      <m:t>𝑥</m:t>
                    </m:r>
                  </m:oMath>
                </a14:m>
                <a:r>
                  <a:rPr sz="2400" b="0">
                    <a:solidFill>
                      <a:srgbClr val="78350F"/>
                    </a:solidFill>
                    <a:latin typeface="Arial"/>
                  </a:rPr>
                  <a:t> under </a:t>
                </a:r>
                <a14:m>
                  <m:oMath xmlns:m="http://schemas.openxmlformats.org/officeDocument/2006/math">
                    <m:r>
                      <a:rPr lang="en-IN" sz="2400" i="1">
                        <a:solidFill>
                          <a:srgbClr val="78350F"/>
                        </a:solidFill>
                        <a:latin typeface="Cambria Math" panose="02040503050406030204" pitchFamily="18" charset="0"/>
                      </a:rPr>
                      <m:t>𝑓</m:t>
                    </m:r>
                  </m:oMath>
                </a14:m>
                <a:r>
                  <a:rPr sz="2400" b="0">
                    <a:solidFill>
                      <a:srgbClr val="78350F"/>
                    </a:solidFill>
                    <a:latin typeface="Arial"/>
                  </a:rPr>
                  <a:t> is a circle: </a:t>
                </a:r>
                <a14:m>
                  <m:oMath xmlns:m="http://schemas.openxmlformats.org/officeDocument/2006/math">
                    <m:sSup>
                      <m:e>
                        <m:r>
                          <a:rPr lang="en-IN" sz="2400" i="1">
                            <a:solidFill>
                              <a:srgbClr val="78350F"/>
                            </a:solidFill>
                            <a:latin typeface="Cambria Math" panose="02040503050406030204" pitchFamily="18" charset="0"/>
                          </a:rPr>
                          <m:t>𝑢</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𝑣</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𝑣</m:t>
                    </m:r>
                  </m:oMath>
                </a14:m>
                <a:r>
                  <a:rPr sz="2400" b="0">
                    <a:solidFill>
                      <a:srgbClr val="78350F"/>
                    </a:solidFill>
                    <a:latin typeface="Arial"/>
                  </a:rPr>
                  <a:t>. A regular hexagon inscribed in it has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image of the real </a:t>
                </a:r>
                <a:r>
                  <a:rPr lang="en-IN" sz="2400">
                    <a:solidFill>
                      <a:srgbClr val="78350F"/>
                    </a:solidFill>
                    <a:latin typeface="Cambria Math" panose="02040503050406030204" pitchFamily="18" charset="0"/>
                  </a:rPr>
                  <a:t>$x$</a:t>
                </a:r>
                <a:r>
                  <a:rPr sz="2400" b="0">
                    <a:solidFill>
                      <a:srgbClr val="78350F"/>
                    </a:solidFill>
                    <a:latin typeface="Arial"/>
                  </a:rPr>
                  <a:t> under </a:t>
                </a:r>
                <a:r>
                  <a:rPr lang="en-IN" sz="2400">
                    <a:solidFill>
                      <a:srgbClr val="78350F"/>
                    </a:solidFill>
                    <a:latin typeface="Cambria Math" panose="02040503050406030204" pitchFamily="18" charset="0"/>
                  </a:rPr>
                  <a:t>$f$</a:t>
                </a:r>
                <a:r>
                  <a:rPr sz="2400" b="0">
                    <a:solidFill>
                      <a:srgbClr val="78350F"/>
                    </a:solidFill>
                    <a:latin typeface="Arial"/>
                  </a:rPr>
                  <a:t> is a circle: </a:t>
                </a:r>
                <a:r>
                  <a:rPr lang="en-IN" sz="2400">
                    <a:solidFill>
                      <a:srgbClr val="78350F"/>
                    </a:solidFill>
                    <a:latin typeface="Cambria Math" panose="02040503050406030204" pitchFamily="18" charset="0"/>
                  </a:rPr>
                  <a:t>$u^2+v^2=v$</a:t>
                </a:r>
                <a:r>
                  <a:rPr sz="2400" b="0">
                    <a:solidFill>
                      <a:srgbClr val="78350F"/>
                    </a:solidFill>
                    <a:latin typeface="Arial"/>
                  </a:rPr>
                  <a:t>. A regular hexagon inscribed in it has </a:t>
                </a:r>
                <a:r>
                  <a:rPr lang="en-IN" sz="2400">
                    <a:solidFill>
                      <a:srgbClr val="78350F"/>
                    </a:solidFill>
                    <a:latin typeface="Cambria Math" panose="02040503050406030204" pitchFamily="18" charset="0"/>
                  </a:rPr>
                  <a:t>$r=\frac12$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Rationalise: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𝑣</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Rationalise: </a:t>
                </a:r>
                <a:r>
                  <a:rPr lang="en-IN" sz="2400">
                    <a:solidFill>
                      <a:srgbClr val="111827"/>
                    </a:solidFill>
                    <a:latin typeface="Cambria Math" panose="02040503050406030204" pitchFamily="18" charset="0"/>
                  </a:rPr>
                  <a:t>$f(x)=\frac{1}{2x-i}=\frac{2x+i}{4x^2+1}$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$f(x)=u+iv$</a:t>
                </a:r>
                <a:r>
                  <a:rPr sz="2400" b="0">
                    <a:solidFill>
                      <a:srgbClr val="111827"/>
                    </a:solidFill>
                    <a:latin typeface="Arial"/>
                  </a:rPr>
                  <a:t> with </a:t>
                </a:r>
                <a:r>
                  <a:rPr lang="en-IN" sz="2400">
                    <a:solidFill>
                      <a:srgbClr val="111827"/>
                    </a:solidFill>
                    <a:latin typeface="Cambria Math" panose="02040503050406030204" pitchFamily="18" charset="0"/>
                  </a:rPr>
                  <a:t>$u=\frac{2x}{4x^2+1}$</a:t>
                </a:r>
                <a:r>
                  <a:rPr sz="2400" b="0">
                    <a:solidFill>
                      <a:srgbClr val="111827"/>
                    </a:solidFill>
                    <a:latin typeface="Arial"/>
                  </a:rPr>
                  <a:t> and </a:t>
                </a:r>
                <a:r>
                  <a:rPr lang="en-IN" sz="2400">
                    <a:solidFill>
                      <a:srgbClr val="111827"/>
                    </a:solidFill>
                    <a:latin typeface="Cambria Math" panose="02040503050406030204" pitchFamily="18" charset="0"/>
                  </a:rPr>
                  <a:t>$v=\frac{1}{4x^2+1}$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 circle with centre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and radius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(C) is true and (D)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six vertices lie on this circle, so it is the circumcircle of the regular hexagon (all points of the circle except the origin are attained, so such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𝑘</m:t>
                        </m:r>
                      </m:sub>
                    </m:sSub>
                  </m:oMath>
                </a14:m>
                <a:r>
                  <a:rPr sz="2400" b="0">
                    <a:solidFill>
                      <a:srgbClr val="111827"/>
                    </a:solidFill>
                    <a:latin typeface="Arial"/>
                  </a:rPr>
                  <a:t> exist).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$u^2+v^2=\frac{4x^2+1}{(4x^2+1)^2}=\frac{1}{4x^2+1}=v$</a:t>
                </a:r>
                <a:r>
                  <a:rPr sz="2400" b="0">
                    <a:solidFill>
                      <a:srgbClr val="111827"/>
                    </a:solidFill>
                    <a:latin typeface="Arial"/>
                  </a:rPr>
                  <a:t>, so </a:t>
                </a:r>
                <a:r>
                  <a:rPr lang="en-IN" sz="2400">
                    <a:solidFill>
                      <a:srgbClr val="111827"/>
                    </a:solidFill>
                    <a:latin typeface="Cambria Math" panose="02040503050406030204" pitchFamily="18" charset="0"/>
                  </a:rPr>
                  <a:t>$u^2+v^2=v$</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a:t>
                </a:r>
                <a:r>
                  <a:rPr lang="en-IN" sz="2400">
                    <a:solidFill>
                      <a:srgbClr val="111827"/>
                    </a:solidFill>
                    <a:latin typeface="Cambria Math" panose="02040503050406030204" pitchFamily="18" charset="0"/>
                  </a:rPr>
                  <a:t>$u^2+\left(v-\frac12\right)^2=\frac14$</a:t>
                </a:r>
                <a:r>
                  <a:rPr sz="2400" b="0">
                    <a:solidFill>
                      <a:srgbClr val="111827"/>
                    </a:solidFill>
                    <a:latin typeface="Arial"/>
                  </a:rPr>
                  <a:t>: a circle with centre </a:t>
                </a:r>
                <a:r>
                  <a:rPr lang="en-IN" sz="2400">
                    <a:solidFill>
                      <a:srgbClr val="111827"/>
                    </a:solidFill>
                    <a:latin typeface="Cambria Math" panose="02040503050406030204" pitchFamily="18" charset="0"/>
                  </a:rPr>
                  <a:t>$\left(0,\frac12\right)$</a:t>
                </a:r>
                <a:r>
                  <a:rPr sz="2400" b="0">
                    <a:solidFill>
                      <a:srgbClr val="111827"/>
                    </a:solidFill>
                    <a:latin typeface="Arial"/>
                  </a:rPr>
                  <a:t> and radius </a:t>
                </a:r>
                <a:r>
                  <a:rPr lang="en-IN" sz="2400">
                    <a:solidFill>
                      <a:srgbClr val="111827"/>
                    </a:solidFill>
                    <a:latin typeface="Cambria Math" panose="02040503050406030204" pitchFamily="18" charset="0"/>
                  </a:rPr>
                  <a:t>$r=\frac12$</a:t>
                </a:r>
                <a:r>
                  <a:rPr sz="2400" b="0">
                    <a:solidFill>
                      <a:srgbClr val="111827"/>
                    </a:solidFill>
                    <a:latin typeface="Arial"/>
                  </a:rPr>
                  <a:t>. So (C) is true and (D)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six vertices lie on this circle, so it is the circumcircle of the regular hexagon (all points of the circle except the origin are attained, so such </a:t>
                </a:r>
                <a:r>
                  <a:rPr lang="en-IN" sz="2400">
                    <a:solidFill>
                      <a:srgbClr val="111827"/>
                    </a:solidFill>
                    <a:latin typeface="Cambria Math" panose="02040503050406030204" pitchFamily="18" charset="0"/>
                  </a:rPr>
                  <a:t>$a_k$</a:t>
                </a:r>
                <a:r>
                  <a:rPr sz="2400" b="0">
                    <a:solidFill>
                      <a:srgbClr val="111827"/>
                    </a:solidFill>
                    <a:latin typeface="Arial"/>
                  </a:rPr>
                  <a:t> exist).</a:t>
                </a:r>
                <a:endParaRPr sz="2400">
                  <a:solidFill>
                    <a:srgbClr val="111827"/>
                  </a:solidFill>
                </a:endParaRPr>
              </a:p>
            </p:txBody>
          </p:sp>
        </mc:Fallback>
      </mc:AlternateContent>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regular hexagon splits into 6 equilateral triangles of side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(central angle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8</m:t>
                        </m:r>
                      </m:den>
                    </m:f>
                  </m:oMath>
                </a14:m>
                <a:r>
                  <a:rPr sz="2400" b="0">
                    <a:solidFill>
                      <a:srgbClr val="111827"/>
                    </a:solidFill>
                    <a:latin typeface="Arial"/>
                  </a:rPr>
                  <a:t> sq. units.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(B) is true and (A) is false.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regular hexagon splits into 6 equilateral triangles of side </a:t>
                </a:r>
                <a:r>
                  <a:rPr lang="en-IN" sz="2400">
                    <a:solidFill>
                      <a:srgbClr val="111827"/>
                    </a:solidFill>
                    <a:latin typeface="Cambria Math" panose="02040503050406030204" pitchFamily="18" charset="0"/>
                  </a:rPr>
                  <a:t>$r$</a:t>
                </a:r>
                <a:r>
                  <a:rPr sz="2400" b="0">
                    <a:solidFill>
                      <a:srgbClr val="111827"/>
                    </a:solidFill>
                    <a:latin typeface="Arial"/>
                  </a:rPr>
                  <a:t> (central angle </a:t>
                </a:r>
                <a:r>
                  <a:rPr lang="en-IN" sz="2400">
                    <a:solidFill>
                      <a:srgbClr val="111827"/>
                    </a:solidFill>
                    <a:latin typeface="Cambria Math" panose="02040503050406030204" pitchFamily="18" charset="0"/>
                  </a:rPr>
                  <a:t>$60^\circ$</a:t>
                </a:r>
                <a:r>
                  <a:rPr sz="2400" b="0">
                    <a:solidFill>
                      <a:srgbClr val="111827"/>
                    </a:solidFill>
                    <a:latin typeface="Arial"/>
                  </a:rPr>
                  <a:t>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$=6\cdot\frac{\sqrt3}{4}r^2=6\cdot\frac{\sqrt3}{4}\cdot\frac14=\frac{3\sqrt3}{8}$</a:t>
                </a:r>
                <a:r>
                  <a:rPr sz="2400" b="0">
                    <a:solidFill>
                      <a:srgbClr val="111827"/>
                    </a:solidFill>
                    <a:latin typeface="Arial"/>
                  </a:rPr>
                  <a:t> sq. units.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(B) is true and (A) is false.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Inversion: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𝑥</m:t>
                    </m:r>
                  </m:oMath>
                </a14:m>
                <a:r>
                  <a:rPr sz="2400" b="0">
                    <a:solidFill>
                      <a:srgbClr val="78350F"/>
                    </a:solidFill>
                    <a:latin typeface="Arial"/>
                  </a:rPr>
                  <a:t> runs over the whole real line, and </a:t>
                </a:r>
                <a14:m>
                  <m:oMath xmlns:m="http://schemas.openxmlformats.org/officeDocument/2006/math">
                    <m:r>
                      <a:rPr lang="en-IN" sz="2400" i="1">
                        <a:solidFill>
                          <a:srgbClr val="78350F"/>
                        </a:solidFill>
                        <a:latin typeface="Cambria Math" panose="02040503050406030204" pitchFamily="18" charset="0"/>
                      </a:rPr>
                      <m:t>𝑤</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𝑠</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den>
                    </m:f>
                  </m:oMath>
                </a14:m>
                <a:r>
                  <a:rPr sz="2400" b="0">
                    <a:solidFill>
                      <a:srgbClr val="78350F"/>
                    </a:solidFill>
                    <a:latin typeface="Arial"/>
                  </a:rPr>
                  <a:t> maps that line to a circle through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Inversion: </a:t>
                </a:r>
                <a:r>
                  <a:rPr lang="en-IN" sz="2400">
                    <a:solidFill>
                      <a:srgbClr val="78350F"/>
                    </a:solidFill>
                    <a:latin typeface="Cambria Math" panose="02040503050406030204" pitchFamily="18" charset="0"/>
                  </a:rPr>
                  <a:t>$x\mapsto 2x$</a:t>
                </a:r>
                <a:r>
                  <a:rPr sz="2400" b="0">
                    <a:solidFill>
                      <a:srgbClr val="78350F"/>
                    </a:solidFill>
                    <a:latin typeface="Arial"/>
                  </a:rPr>
                  <a:t> runs over the whole real line, and </a:t>
                </a:r>
                <a:r>
                  <a:rPr lang="en-IN" sz="2400">
                    <a:solidFill>
                      <a:srgbClr val="78350F"/>
                    </a:solidFill>
                    <a:latin typeface="Cambria Math" panose="02040503050406030204" pitchFamily="18" charset="0"/>
                  </a:rPr>
                  <a:t>$w=\frac{1}{s-i}$</a:t>
                </a:r>
                <a:r>
                  <a:rPr sz="2400" b="0">
                    <a:solidFill>
                      <a:srgbClr val="78350F"/>
                    </a:solidFill>
                    <a:latin typeface="Arial"/>
                  </a:rPr>
                  <a:t> maps that line to a circle through </a:t>
                </a:r>
                <a:r>
                  <a:rPr lang="en-IN" sz="2400">
                    <a:solidFill>
                      <a:srgbClr val="78350F"/>
                    </a:solidFill>
                    <a:latin typeface="Cambria Math" panose="02040503050406030204" pitchFamily="18" charset="0"/>
                  </a:rPr>
                  <a:t>$0$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R</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oMath>
                </a14:m>
                <a:r>
                  <a:rPr sz="2400" b="0">
                    <a:solidFill>
                      <a:srgbClr val="111827"/>
                    </a:solidFill>
                    <a:latin typeface="Arial"/>
                  </a:rPr>
                  <a:t>. The line </a:t>
                </a:r>
                <a14:m>
                  <m:oMath xmlns:m="http://schemas.openxmlformats.org/officeDocument/2006/math">
                    <m:r>
                      <m:rPr>
                        <m:sty m:val="p"/>
                      </m:rPr>
                      <a:rPr lang="en-IN" sz="2400">
                        <a:solidFill>
                          <a:srgbClr val="111827"/>
                        </a:solidFill>
                        <a:latin typeface="Cambria Math" panose="02040503050406030204" pitchFamily="18" charset="0"/>
                      </a:rPr>
                      <m:t>Im</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mapped by the Mobius map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oMath>
                </a14:m>
                <a:r>
                  <a:rPr sz="2400" b="0">
                    <a:solidFill>
                      <a:srgbClr val="111827"/>
                    </a:solidFill>
                    <a:latin typeface="Arial"/>
                  </a:rPr>
                  <a:t> to a circle or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𝑤</m:t>
                    </m:r>
                  </m:oMath>
                </a14:m>
                <a:r>
                  <a:rPr sz="2400" b="0">
                    <a:solidFill>
                      <a:srgbClr val="111827"/>
                    </a:solidFill>
                    <a:latin typeface="Arial"/>
                  </a:rPr>
                  <a:t> is never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real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so the image is a circle through the origin.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points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map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By symmetry about the imaginary axis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oMath>
                </a14:m>
                <a:r>
                  <a:rPr sz="2400" b="0">
                    <a:solidFill>
                      <a:srgbClr val="111827"/>
                    </a:solidFill>
                    <a:latin typeface="Arial"/>
                  </a:rPr>
                  <a:t>) the circle is symmetric about the </a:t>
                </a:r>
                <a14:m>
                  <m:oMath xmlns:m="http://schemas.openxmlformats.org/officeDocument/2006/math">
                    <m:r>
                      <a:rPr lang="en-IN" sz="2400" i="1">
                        <a:solidFill>
                          <a:srgbClr val="111827"/>
                        </a:solidFill>
                        <a:latin typeface="Cambria Math" panose="02040503050406030204" pitchFamily="18" charset="0"/>
                      </a:rPr>
                      <m:t>𝑣</m:t>
                    </m:r>
                  </m:oMath>
                </a14:m>
                <a:r>
                  <a:rPr sz="2400" b="0">
                    <a:solidFill>
                      <a:srgbClr val="111827"/>
                    </a:solidFill>
                    <a:latin typeface="Arial"/>
                  </a:rPr>
                  <a:t>-axis.</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$s=2x\in\mathbb{R}$</a:t>
                </a:r>
                <a:r>
                  <a:rPr sz="2400" b="0">
                    <a:solidFill>
                      <a:srgbClr val="111827"/>
                    </a:solidFill>
                    <a:latin typeface="Arial"/>
                  </a:rPr>
                  <a:t>: </a:t>
                </a:r>
                <a:r>
                  <a:rPr lang="en-IN" sz="2400">
                    <a:solidFill>
                      <a:srgbClr val="111827"/>
                    </a:solidFill>
                    <a:latin typeface="Cambria Math" panose="02040503050406030204" pitchFamily="18" charset="0"/>
                  </a:rPr>
                  <a:t>$f=\frac{1}{s-i}$</a:t>
                </a:r>
                <a:r>
                  <a:rPr sz="2400" b="0">
                    <a:solidFill>
                      <a:srgbClr val="111827"/>
                    </a:solidFill>
                    <a:latin typeface="Arial"/>
                  </a:rPr>
                  <a:t>. The line </a:t>
                </a:r>
                <a:r>
                  <a:rPr lang="en-IN" sz="2400">
                    <a:solidFill>
                      <a:srgbClr val="111827"/>
                    </a:solidFill>
                    <a:latin typeface="Cambria Math" panose="02040503050406030204" pitchFamily="18" charset="0"/>
                  </a:rPr>
                  <a:t>$\operatorname{Im}s=0$</a:t>
                </a:r>
                <a:r>
                  <a:rPr sz="2400" b="0">
                    <a:solidFill>
                      <a:srgbClr val="111827"/>
                    </a:solidFill>
                    <a:latin typeface="Arial"/>
                  </a:rPr>
                  <a:t> is mapped by the Mobius map </a:t>
                </a:r>
                <a:r>
                  <a:rPr lang="en-IN" sz="2400">
                    <a:solidFill>
                      <a:srgbClr val="111827"/>
                    </a:solidFill>
                    <a:latin typeface="Cambria Math" panose="02040503050406030204" pitchFamily="18" charset="0"/>
                  </a:rPr>
                  <a:t>$s\mapsto\frac{1}{s-i}$</a:t>
                </a:r>
                <a:r>
                  <a:rPr sz="2400" b="0">
                    <a:solidFill>
                      <a:srgbClr val="111827"/>
                    </a:solidFill>
                    <a:latin typeface="Arial"/>
                  </a:rPr>
                  <a:t> to a circle or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As </a:t>
                </a:r>
                <a:r>
                  <a:rPr lang="en-IN" sz="2400">
                    <a:solidFill>
                      <a:srgbClr val="111827"/>
                    </a:solidFill>
                    <a:latin typeface="Cambria Math" panose="02040503050406030204" pitchFamily="18" charset="0"/>
                  </a:rPr>
                  <a:t>$s\to\infty$</a:t>
                </a:r>
                <a:r>
                  <a:rPr sz="2400" b="0">
                    <a:solidFill>
                      <a:srgbClr val="111827"/>
                    </a:solidFill>
                    <a:latin typeface="Arial"/>
                  </a:rPr>
                  <a:t>, </a:t>
                </a:r>
                <a:r>
                  <a:rPr lang="en-IN" sz="2400">
                    <a:solidFill>
                      <a:srgbClr val="111827"/>
                    </a:solidFill>
                    <a:latin typeface="Cambria Math" panose="02040503050406030204" pitchFamily="18" charset="0"/>
                  </a:rPr>
                  <a:t>$w\to0$</a:t>
                </a:r>
                <a:r>
                  <a:rPr sz="2400" b="0">
                    <a:solidFill>
                      <a:srgbClr val="111827"/>
                    </a:solidFill>
                    <a:latin typeface="Arial"/>
                  </a:rPr>
                  <a:t>, and </a:t>
                </a:r>
                <a:r>
                  <a:rPr lang="en-IN" sz="2400">
                    <a:solidFill>
                      <a:srgbClr val="111827"/>
                    </a:solidFill>
                    <a:latin typeface="Cambria Math" panose="02040503050406030204" pitchFamily="18" charset="0"/>
                  </a:rPr>
                  <a:t>$w$</a:t>
                </a:r>
                <a:r>
                  <a:rPr sz="2400" b="0">
                    <a:solidFill>
                      <a:srgbClr val="111827"/>
                    </a:solidFill>
                    <a:latin typeface="Arial"/>
                  </a:rPr>
                  <a:t> is never </a:t>
                </a:r>
                <a:r>
                  <a:rPr lang="en-IN" sz="2400">
                    <a:solidFill>
                      <a:srgbClr val="111827"/>
                    </a:solidFill>
                    <a:latin typeface="Cambria Math" panose="02040503050406030204" pitchFamily="18" charset="0"/>
                  </a:rPr>
                  <a:t>$\infty$</a:t>
                </a:r>
                <a:r>
                  <a:rPr sz="2400" b="0">
                    <a:solidFill>
                      <a:srgbClr val="111827"/>
                    </a:solidFill>
                    <a:latin typeface="Arial"/>
                  </a:rPr>
                  <a:t> for real </a:t>
                </a:r>
                <a:r>
                  <a:rPr lang="en-IN" sz="2400">
                    <a:solidFill>
                      <a:srgbClr val="111827"/>
                    </a:solidFill>
                    <a:latin typeface="Cambria Math" panose="02040503050406030204" pitchFamily="18" charset="0"/>
                  </a:rPr>
                  <a:t>$s$</a:t>
                </a:r>
                <a:r>
                  <a:rPr sz="2400" b="0">
                    <a:solidFill>
                      <a:srgbClr val="111827"/>
                    </a:solidFill>
                    <a:latin typeface="Arial"/>
                  </a:rPr>
                  <a:t>, so the image is a circle through the origin.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points </a:t>
                </a:r>
                <a:r>
                  <a:rPr lang="en-IN" sz="2400">
                    <a:solidFill>
                      <a:srgbClr val="111827"/>
                    </a:solidFill>
                    <a:latin typeface="Cambria Math" panose="02040503050406030204" pitchFamily="18" charset="0"/>
                  </a:rPr>
                  <a:t>$s=0$</a:t>
                </a:r>
                <a:r>
                  <a:rPr sz="2400" b="0">
                    <a:solidFill>
                      <a:srgbClr val="111827"/>
                    </a:solidFill>
                    <a:latin typeface="Arial"/>
                  </a:rPr>
                  <a:t> and </a:t>
                </a:r>
                <a:r>
                  <a:rPr lang="en-IN" sz="2400">
                    <a:solidFill>
                      <a:srgbClr val="111827"/>
                    </a:solidFill>
                    <a:latin typeface="Cambria Math" panose="02040503050406030204" pitchFamily="18" charset="0"/>
                  </a:rPr>
                  <a:t>$s=\infty$</a:t>
                </a:r>
                <a:r>
                  <a:rPr sz="2400" b="0">
                    <a:solidFill>
                      <a:srgbClr val="111827"/>
                    </a:solidFill>
                    <a:latin typeface="Arial"/>
                  </a:rPr>
                  <a:t> map to </a:t>
                </a:r>
                <a:r>
                  <a:rPr lang="en-IN" sz="2400">
                    <a:solidFill>
                      <a:srgbClr val="111827"/>
                    </a:solidFill>
                    <a:latin typeface="Cambria Math" panose="02040503050406030204" pitchFamily="18" charset="0"/>
                  </a:rPr>
                  <a:t>$\frac{1}{-i}=i$</a:t>
                </a:r>
                <a:r>
                  <a:rPr sz="2400" b="0">
                    <a:solidFill>
                      <a:srgbClr val="111827"/>
                    </a:solidFill>
                    <a:latin typeface="Arial"/>
                  </a:rPr>
                  <a:t> and </a:t>
                </a:r>
                <a:r>
                  <a:rPr lang="en-IN" sz="2400">
                    <a:solidFill>
                      <a:srgbClr val="111827"/>
                    </a:solidFill>
                    <a:latin typeface="Cambria Math" panose="02040503050406030204" pitchFamily="18" charset="0"/>
                  </a:rPr>
                  <a:t>$0$</a:t>
                </a:r>
                <a:r>
                  <a:rPr sz="2400" b="0">
                    <a:solidFill>
                      <a:srgbClr val="111827"/>
                    </a:solidFill>
                    <a:latin typeface="Arial"/>
                  </a:rPr>
                  <a:t>. By symmetry about the imaginary axis (</a:t>
                </a:r>
                <a:r>
                  <a:rPr lang="en-IN" sz="2400">
                    <a:solidFill>
                      <a:srgbClr val="111827"/>
                    </a:solidFill>
                    <a:latin typeface="Cambria Math" panose="02040503050406030204" pitchFamily="18" charset="0"/>
                  </a:rPr>
                  <a:t>$s\to-s$</a:t>
                </a:r>
                <a:r>
                  <a:rPr sz="2400" b="0">
                    <a:solidFill>
                      <a:srgbClr val="111827"/>
                    </a:solidFill>
                    <a:latin typeface="Arial"/>
                  </a:rPr>
                  <a:t> gives </a:t>
                </a:r>
                <a:r>
                  <a:rPr lang="en-IN" sz="2400">
                    <a:solidFill>
                      <a:srgbClr val="111827"/>
                    </a:solidFill>
                    <a:latin typeface="Cambria Math" panose="02040503050406030204" pitchFamily="18" charset="0"/>
                  </a:rPr>
                  <a:t>$w\to-\bar w$</a:t>
                </a:r>
                <a:r>
                  <a:rPr sz="2400" b="0">
                    <a:solidFill>
                      <a:srgbClr val="111827"/>
                    </a:solidFill>
                    <a:latin typeface="Arial"/>
                  </a:rPr>
                  <a:t>) the circle is symmetric about the </a:t>
                </a:r>
                <a:r>
                  <a:rPr lang="en-IN" sz="2400">
                    <a:solidFill>
                      <a:srgbClr val="111827"/>
                    </a:solidFill>
                    <a:latin typeface="Cambria Math" panose="02040503050406030204" pitchFamily="18" charset="0"/>
                  </a:rPr>
                  <a:t>$v$</a:t>
                </a:r>
                <a:r>
                  <a:rPr sz="2400" b="0">
                    <a:solidFill>
                      <a:srgbClr val="111827"/>
                    </a:solidFill>
                    <a:latin typeface="Arial"/>
                  </a:rPr>
                  <a:t>-axis.</a:t>
                </a:r>
                <a:endParaRPr sz="2400">
                  <a:solidFill>
                    <a:srgbClr val="111827"/>
                  </a:solidFill>
                </a:endParaRPr>
              </a:p>
            </p:txBody>
          </p:sp>
        </mc:Fallback>
      </mc:AlternateContent>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diameter is the segment from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centre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radius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Hexagon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8</m:t>
                        </m:r>
                      </m:den>
                    </m:f>
                  </m:oMath>
                </a14:m>
                <a:r>
                  <a:rPr sz="2400" b="0">
                    <a:solidFill>
                      <a:srgbClr val="111827"/>
                    </a:solidFill>
                    <a:latin typeface="Arial"/>
                  </a:rPr>
                  <a:t>. Same answer.</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diameter is the segment from </a:t>
                </a:r>
                <a:r>
                  <a:rPr lang="en-IN" sz="2400">
                    <a:solidFill>
                      <a:srgbClr val="111827"/>
                    </a:solidFill>
                    <a:latin typeface="Cambria Math" panose="02040503050406030204" pitchFamily="18" charset="0"/>
                  </a:rPr>
                  <a:t>$0$</a:t>
                </a:r>
                <a:r>
                  <a:rPr sz="2400" b="0">
                    <a:solidFill>
                      <a:srgbClr val="111827"/>
                    </a:solidFill>
                    <a:latin typeface="Arial"/>
                  </a:rPr>
                  <a:t> to </a:t>
                </a:r>
                <a:r>
                  <a:rPr lang="en-IN" sz="2400">
                    <a:solidFill>
                      <a:srgbClr val="111827"/>
                    </a:solidFill>
                    <a:latin typeface="Cambria Math" panose="02040503050406030204" pitchFamily="18" charset="0"/>
                  </a:rPr>
                  <a:t>$i$</a:t>
                </a:r>
                <a:r>
                  <a:rPr sz="2400" b="0">
                    <a:solidFill>
                      <a:srgbClr val="111827"/>
                    </a:solidFill>
                    <a:latin typeface="Arial"/>
                  </a:rPr>
                  <a:t>: centre </a:t>
                </a:r>
                <a:r>
                  <a:rPr lang="en-IN" sz="2400">
                    <a:solidFill>
                      <a:srgbClr val="111827"/>
                    </a:solidFill>
                    <a:latin typeface="Cambria Math" panose="02040503050406030204" pitchFamily="18" charset="0"/>
                  </a:rPr>
                  <a:t>$\frac{i}{2}$</a:t>
                </a:r>
                <a:r>
                  <a:rPr sz="2400" b="0">
                    <a:solidFill>
                      <a:srgbClr val="111827"/>
                    </a:solidFill>
                    <a:latin typeface="Arial"/>
                  </a:rPr>
                  <a:t>, radius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Hexagon area </a:t>
                </a:r>
                <a:r>
                  <a:rPr lang="en-IN" sz="2400">
                    <a:solidFill>
                      <a:srgbClr val="111827"/>
                    </a:solidFill>
                    <a:latin typeface="Cambria Math" panose="02040503050406030204" pitchFamily="18" charset="0"/>
                  </a:rPr>
                  <a:t>$=\frac{3\sqrt3}{2}r^2=\frac{3\sqrt3}{2}\cdot\frac14=\frac{3\sqrt3}{8}$</a:t>
                </a:r>
                <a:r>
                  <a:rPr sz="2400" b="0">
                    <a:solidFill>
                      <a:srgbClr val="111827"/>
                    </a:solidFill>
                    <a:latin typeface="Arial"/>
                  </a:rPr>
                  <a:t>. Same answer.</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39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real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the point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𝑐</m:t>
                        </m:r>
                      </m:den>
                    </m:f>
                  </m:oMath>
                </a14:m>
                <a:r>
                  <a:rPr sz="2400" b="0">
                    <a:solidFill>
                      <a:srgbClr val="111827"/>
                    </a:solidFill>
                    <a:latin typeface="Arial"/>
                  </a:rPr>
                  <a:t> traces the circle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den>
                    </m:f>
                  </m:oMath>
                </a14:m>
                <a:r>
                  <a:rPr sz="2400" b="0">
                    <a:solidFill>
                      <a:srgbClr val="111827"/>
                    </a:solidFill>
                    <a:latin typeface="Arial"/>
                  </a:rPr>
                  <a:t> minus the origin; here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Regular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-gon inscribed in a circle of 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Rationalising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𝑞</m:t>
                        </m:r>
                      </m:num>
                      <m:den>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eliminating the parameter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in terms of </a:t>
                </a:r>
                <a14:m>
                  <m:oMath xmlns:m="http://schemas.openxmlformats.org/officeDocument/2006/math">
                    <m:r>
                      <a:rPr lang="en-IN" sz="2400" i="1">
                        <a:solidFill>
                          <a:srgbClr val="111827"/>
                        </a:solidFill>
                        <a:latin typeface="Cambria Math" panose="02040503050406030204" pitchFamily="18" charset="0"/>
                      </a:rPr>
                      <m:t>𝑣</m:t>
                    </m:r>
                  </m:oMath>
                </a14:m>
                <a:r>
                  <a:rPr sz="2400" b="0">
                    <a:solidFill>
                      <a:srgbClr val="111827"/>
                    </a:solidFill>
                    <a:latin typeface="Arial"/>
                  </a:rPr>
                  <a:t>) is the standard way to identify the locus.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OK.</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real </a:t>
                </a:r>
                <a:r>
                  <a:rPr lang="en-IN" sz="2400">
                    <a:solidFill>
                      <a:srgbClr val="111827"/>
                    </a:solidFill>
                    <a:latin typeface="Cambria Math" panose="02040503050406030204" pitchFamily="18" charset="0"/>
                  </a:rPr>
                  <a:t>$s$</a:t>
                </a:r>
                <a:r>
                  <a:rPr sz="2400" b="0">
                    <a:solidFill>
                      <a:srgbClr val="111827"/>
                    </a:solidFill>
                    <a:latin typeface="Arial"/>
                  </a:rPr>
                  <a:t> and </a:t>
                </a:r>
                <a:r>
                  <a:rPr lang="en-IN" sz="2400">
                    <a:solidFill>
                      <a:srgbClr val="111827"/>
                    </a:solidFill>
                    <a:latin typeface="Cambria Math" panose="02040503050406030204" pitchFamily="18" charset="0"/>
                  </a:rPr>
                  <a:t>$c&gt;0$</a:t>
                </a:r>
                <a:r>
                  <a:rPr sz="2400" b="0">
                    <a:solidFill>
                      <a:srgbClr val="111827"/>
                    </a:solidFill>
                    <a:latin typeface="Arial"/>
                  </a:rPr>
                  <a:t>, the point </a:t>
                </a:r>
                <a:r>
                  <a:rPr lang="en-IN" sz="2400">
                    <a:solidFill>
                      <a:srgbClr val="111827"/>
                    </a:solidFill>
                    <a:latin typeface="Cambria Math" panose="02040503050406030204" pitchFamily="18" charset="0"/>
                  </a:rPr>
                  <a:t>$\frac{1}{s-ic}$</a:t>
                </a:r>
                <a:r>
                  <a:rPr sz="2400" b="0">
                    <a:solidFill>
                      <a:srgbClr val="111827"/>
                    </a:solidFill>
                    <a:latin typeface="Arial"/>
                  </a:rPr>
                  <a:t> traces the circle </a:t>
                </a:r>
                <a:r>
                  <a:rPr lang="en-IN" sz="2400">
                    <a:solidFill>
                      <a:srgbClr val="111827"/>
                    </a:solidFill>
                    <a:latin typeface="Cambria Math" panose="02040503050406030204" pitchFamily="18" charset="0"/>
                  </a:rPr>
                  <a:t>$\left|w-\frac{i}{2c}\right|=\frac{1}{2c}$</a:t>
                </a:r>
                <a:r>
                  <a:rPr sz="2400" b="0">
                    <a:solidFill>
                      <a:srgbClr val="111827"/>
                    </a:solidFill>
                    <a:latin typeface="Arial"/>
                  </a:rPr>
                  <a:t> minus the origin; here </a:t>
                </a:r>
                <a:r>
                  <a:rPr lang="en-IN" sz="2400">
                    <a:solidFill>
                      <a:srgbClr val="111827"/>
                    </a:solidFill>
                    <a:latin typeface="Cambria Math" panose="02040503050406030204" pitchFamily="18" charset="0"/>
                  </a:rPr>
                  <a:t>$c=1$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Regular </a:t>
                </a:r>
                <a:r>
                  <a:rPr lang="en-IN" sz="2400">
                    <a:solidFill>
                      <a:srgbClr val="111827"/>
                    </a:solidFill>
                    <a:latin typeface="Cambria Math" panose="02040503050406030204" pitchFamily="18" charset="0"/>
                  </a:rPr>
                  <a:t>$n$</a:t>
                </a:r>
                <a:r>
                  <a:rPr sz="2400" b="0">
                    <a:solidFill>
                      <a:srgbClr val="111827"/>
                    </a:solidFill>
                    <a:latin typeface="Arial"/>
                  </a:rPr>
                  <a:t>-gon inscribed in a circle of radius </a:t>
                </a:r>
                <a:r>
                  <a:rPr lang="en-IN" sz="2400">
                    <a:solidFill>
                      <a:srgbClr val="111827"/>
                    </a:solidFill>
                    <a:latin typeface="Cambria Math" panose="02040503050406030204" pitchFamily="18" charset="0"/>
                  </a:rPr>
                  <a:t>$r$</a:t>
                </a:r>
                <a:r>
                  <a:rPr sz="2400" b="0">
                    <a:solidFill>
                      <a:srgbClr val="111827"/>
                    </a:solidFill>
                    <a:latin typeface="Arial"/>
                  </a:rPr>
                  <a:t> has area </a:t>
                </a:r>
                <a:r>
                  <a:rPr lang="en-IN" sz="2400">
                    <a:solidFill>
                      <a:srgbClr val="111827"/>
                    </a:solidFill>
                    <a:latin typeface="Cambria Math" panose="02040503050406030204" pitchFamily="18" charset="0"/>
                  </a:rPr>
                  <a:t>$\frac{n}{2}r^2\sin\frac{2\pi}{n}$</a:t>
                </a:r>
                <a:r>
                  <a:rPr sz="2400" b="0">
                    <a:solidFill>
                      <a:srgbClr val="111827"/>
                    </a:solidFill>
                    <a:latin typeface="Arial"/>
                  </a:rPr>
                  <a:t>; for </a:t>
                </a:r>
                <a:r>
                  <a:rPr lang="en-IN" sz="2400">
                    <a:solidFill>
                      <a:srgbClr val="111827"/>
                    </a:solidFill>
                    <a:latin typeface="Cambria Math" panose="02040503050406030204" pitchFamily="18" charset="0"/>
                  </a:rPr>
                  <a:t>$n=6$</a:t>
                </a:r>
                <a:r>
                  <a:rPr sz="2400" b="0">
                    <a:solidFill>
                      <a:srgbClr val="111827"/>
                    </a:solidFill>
                    <a:latin typeface="Arial"/>
                  </a:rPr>
                  <a:t>: </a:t>
                </a:r>
                <a:r>
                  <a:rPr lang="en-IN" sz="2400">
                    <a:solidFill>
                      <a:srgbClr val="111827"/>
                    </a:solidFill>
                    <a:latin typeface="Cambria Math" panose="02040503050406030204" pitchFamily="18" charset="0"/>
                  </a:rPr>
                  <a:t>$\frac{3\sqrt3}{2}r^2$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Rationalising </a:t>
                </a:r>
                <a:r>
                  <a:rPr lang="en-IN" sz="2400">
                    <a:solidFill>
                      <a:srgbClr val="111827"/>
                    </a:solidFill>
                    <a:latin typeface="Cambria Math" panose="02040503050406030204" pitchFamily="18" charset="0"/>
                  </a:rPr>
                  <a:t>$\frac{1}{p+iq}=\frac{p-iq}{p^2+q^2}$</a:t>
                </a:r>
                <a:r>
                  <a:rPr sz="2400" b="0">
                    <a:solidFill>
                      <a:srgbClr val="111827"/>
                    </a:solidFill>
                    <a:latin typeface="Arial"/>
                  </a:rPr>
                  <a:t> and eliminating the parameter (</a:t>
                </a:r>
                <a:r>
                  <a:rPr lang="en-IN" sz="2400">
                    <a:solidFill>
                      <a:srgbClr val="111827"/>
                    </a:solidFill>
                    <a:latin typeface="Cambria Math" panose="02040503050406030204" pitchFamily="18" charset="0"/>
                  </a:rPr>
                  <a:t>$u^2+v^2$</a:t>
                </a:r>
                <a:r>
                  <a:rPr sz="2400" b="0">
                    <a:solidFill>
                      <a:srgbClr val="111827"/>
                    </a:solidFill>
                    <a:latin typeface="Arial"/>
                  </a:rPr>
                  <a:t> in terms of </a:t>
                </a:r>
                <a:r>
                  <a:rPr lang="en-IN" sz="2400">
                    <a:solidFill>
                      <a:srgbClr val="111827"/>
                    </a:solidFill>
                    <a:latin typeface="Cambria Math" panose="02040503050406030204" pitchFamily="18" charset="0"/>
                  </a:rPr>
                  <a:t>$v$</a:t>
                </a:r>
                <a:r>
                  <a:rPr sz="2400" b="0">
                    <a:solidFill>
                      <a:srgbClr val="111827"/>
                    </a:solidFill>
                    <a:latin typeface="Arial"/>
                  </a:rPr>
                  <a:t>) is the standard way to identify the locus.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$x=0$</a:t>
                </a:r>
                <a:r>
                  <a:rPr sz="2400" b="0">
                    <a:solidFill>
                      <a:srgbClr val="111827"/>
                    </a:solidFill>
                    <a:latin typeface="Arial"/>
                  </a:rPr>
                  <a:t> gives </a:t>
                </a:r>
                <a:r>
                  <a:rPr lang="en-IN" sz="2400">
                    <a:solidFill>
                      <a:srgbClr val="111827"/>
                    </a:solidFill>
                    <a:latin typeface="Cambria Math" panose="02040503050406030204" pitchFamily="18" charset="0"/>
                  </a:rPr>
                  <a:t>$f=i$</a:t>
                </a:r>
                <a:r>
                  <a:rPr sz="2400" b="0">
                    <a:solidFill>
                      <a:srgbClr val="111827"/>
                    </a:solidFill>
                    <a:latin typeface="Arial"/>
                  </a:rPr>
                  <a:t>, and </a:t>
                </a:r>
                <a:r>
                  <a:rPr lang="en-IN" sz="2400">
                    <a:solidFill>
                      <a:srgbClr val="111827"/>
                    </a:solidFill>
                    <a:latin typeface="Cambria Math" panose="02040503050406030204" pitchFamily="18" charset="0"/>
                  </a:rPr>
                  <a:t>$|i-\frac i2|=\frac12$</a:t>
                </a:r>
                <a:r>
                  <a:rPr sz="2400" b="0">
                    <a:solidFill>
                      <a:srgbClr val="111827"/>
                    </a:solidFill>
                    <a:latin typeface="Arial"/>
                  </a:rPr>
                  <a:t> OK.</a:t>
                </a:r>
                <a:endParaRPr sz="2400">
                  <a:solidFill>
                    <a:srgbClr val="111827"/>
                  </a:solidFill>
                </a:endParaRPr>
              </a:p>
            </p:txBody>
          </p:sp>
        </mc:Fallback>
      </mc:AlternateContent>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81660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There is a group of 6 persons. They play a game in which each has to select a number from 1 to 4. Let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oMath>
                </a14:m>
                <a:r>
                  <a:rPr sz="2400" b="0">
                    <a:solidFill>
                      <a:srgbClr val="111827"/>
                    </a:solidFill>
                    <a:latin typeface="Arial"/>
                  </a:rPr>
                  <a:t> be the event that exactly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persons have selected the same number.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6</m:t>
                            </m:r>
                          </m:sup>
                        </m:sSup>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num>
                          <m:den>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endParaRPr sz="2400">
                  <a:solidFill>
                    <a:srgbClr val="111827"/>
                  </a:solidFill>
                </a:endParaRPr>
              </a:p>
            </p:txBody>
          </p:sp>
        </mc:Choice>
        <mc:Fallback>
          <p:sp>
            <p:nvSpPr>
              <p:cNvPr id="4" name="Rounded Rectangle 3"/>
              <p:cNvSpPr/>
              <p:nvPr/>
            </p:nvSpPr>
            <p:spPr>
              <a:xfrm>
                <a:off x="731520" y="1280160"/>
                <a:ext cx="10725912" cy="381660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There is a group of 6 persons. They play a game in which each has to select a number from 1 to 4. Let </a:t>
                </a:r>
                <a:r>
                  <a:rPr lang="en-IN" sz="2400">
                    <a:solidFill>
                      <a:srgbClr val="111827"/>
                    </a:solidFill>
                    <a:latin typeface="Cambria Math" panose="02040503050406030204" pitchFamily="18" charset="0"/>
                  </a:rPr>
                  <a:t>$A_n$</a:t>
                </a:r>
                <a:r>
                  <a:rPr sz="2400" b="0">
                    <a:solidFill>
                      <a:srgbClr val="111827"/>
                    </a:solidFill>
                    <a:latin typeface="Arial"/>
                  </a:rPr>
                  <a:t> be the event that exactly </a:t>
                </a:r>
                <a:r>
                  <a:rPr lang="en-IN" sz="2400">
                    <a:solidFill>
                      <a:srgbClr val="111827"/>
                    </a:solidFill>
                    <a:latin typeface="Cambria Math" panose="02040503050406030204" pitchFamily="18" charset="0"/>
                  </a:rPr>
                  <a:t>$n$</a:t>
                </a:r>
                <a:r>
                  <a:rPr sz="2400" b="0">
                    <a:solidFill>
                      <a:srgbClr val="111827"/>
                    </a:solidFill>
                    <a:latin typeface="Arial"/>
                  </a:rPr>
                  <a:t> persons have selected the same number.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$P(A_5)=\frac{18}{4^6}$</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$P(A_5)=\frac{18}{4^5}$</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$P(A_6)=\frac{1}{4^5}$</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$P\left(\frac{A_5}{A_6}\right)=\frac12$</a:t>
                </a:r>
                <a:endParaRPr sz="2400">
                  <a:solidFill>
                    <a:srgbClr val="111827"/>
                  </a:solidFill>
                </a:endParaRPr>
              </a:p>
            </p:txBody>
          </p:sp>
        </mc:Fallback>
      </mc:AlternateContent>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(Bernoulli) probability and conditional probability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sSub>
                      <m:e>
                        <m:r>
                          <a:rPr lang="en-IN" sz="2400" i="1">
                            <a:solidFill>
                              <a:srgbClr val="78350F"/>
                            </a:solidFill>
                            <a:latin typeface="Cambria Math" panose="02040503050406030204" pitchFamily="18" charset="0"/>
                          </a:rPr>
                          <m:t>𝐴</m:t>
                        </m:r>
                      </m:e>
                      <m:sub>
                        <m:r>
                          <a:rPr lang="en-IN" sz="2400" i="1">
                            <a:solidFill>
                              <a:srgbClr val="78350F"/>
                            </a:solidFill>
                            <a:latin typeface="Cambria Math" panose="02040503050406030204" pitchFamily="18" charset="0"/>
                          </a:rPr>
                          <m:t>5</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𝐴</m:t>
                        </m:r>
                      </m:e>
                      <m:sub>
                        <m:r>
                          <a:rPr lang="en-IN" sz="2400" i="1">
                            <a:solidFill>
                              <a:srgbClr val="78350F"/>
                            </a:solidFill>
                            <a:latin typeface="Cambria Math" panose="02040503050406030204" pitchFamily="18" charset="0"/>
                          </a:rPr>
                          <m:t>6</m:t>
                        </m:r>
                      </m:sub>
                    </m:sSub>
                  </m:oMath>
                </a14:m>
                <a:r>
                  <a:rPr sz="2400" b="0">
                    <a:solidFill>
                      <a:srgbClr val="78350F"/>
                    </a:solidFill>
                    <a:latin typeface="Arial"/>
                  </a:rPr>
                  <a:t> are mutually exclusive, so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𝐴</m:t>
                        </m:r>
                      </m:e>
                      <m:sub>
                        <m:r>
                          <a:rPr lang="en-IN" sz="2400" i="1">
                            <a:solidFill>
                              <a:srgbClr val="78350F"/>
                            </a:solidFill>
                            <a:latin typeface="Cambria Math" panose="02040503050406030204" pitchFamily="18" charset="0"/>
                          </a:rPr>
                          <m:t>5</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𝐴</m:t>
                        </m:r>
                      </m:e>
                      <m:sub>
                        <m:r>
                          <a:rPr lang="en-IN" sz="2400" i="1">
                            <a:solidFill>
                              <a:srgbClr val="78350F"/>
                            </a:solidFill>
                            <a:latin typeface="Cambria Math" panose="02040503050406030204" pitchFamily="18" charset="0"/>
                          </a:rPr>
                          <m:t>6</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the others are direct binomial counts.</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$A_5$</a:t>
                </a:r>
                <a:r>
                  <a:rPr sz="2400" b="0">
                    <a:solidFill>
                      <a:srgbClr val="78350F"/>
                    </a:solidFill>
                    <a:latin typeface="Arial"/>
                  </a:rPr>
                  <a:t> and </a:t>
                </a:r>
                <a:r>
                  <a:rPr lang="en-IN" sz="2400">
                    <a:solidFill>
                      <a:srgbClr val="78350F"/>
                    </a:solidFill>
                    <a:latin typeface="Cambria Math" panose="02040503050406030204" pitchFamily="18" charset="0"/>
                  </a:rPr>
                  <a:t>$A_6$</a:t>
                </a:r>
                <a:r>
                  <a:rPr sz="2400" b="0">
                    <a:solidFill>
                      <a:srgbClr val="78350F"/>
                    </a:solidFill>
                    <a:latin typeface="Arial"/>
                  </a:rPr>
                  <a:t> are mutually exclusive, so </a:t>
                </a:r>
                <a:r>
                  <a:rPr lang="en-IN" sz="2400">
                    <a:solidFill>
                      <a:srgbClr val="78350F"/>
                    </a:solidFill>
                    <a:latin typeface="Cambria Math" panose="02040503050406030204" pitchFamily="18" charset="0"/>
                  </a:rPr>
                  <a:t>$P(A_5|A_6)=0$</a:t>
                </a:r>
                <a:r>
                  <a:rPr sz="2400" b="0">
                    <a:solidFill>
                      <a:srgbClr val="78350F"/>
                    </a:solidFill>
                    <a:latin typeface="Arial"/>
                  </a:rPr>
                  <a:t>; the others are direct binomial counts.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outcomes: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equally likely selections (each person picks from 4 numbers).</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outcomes: </a:t>
                </a:r>
                <a:r>
                  <a:rPr lang="en-IN" sz="2400">
                    <a:solidFill>
                      <a:srgbClr val="111827"/>
                    </a:solidFill>
                    <a:latin typeface="Cambria Math" panose="02040503050406030204" pitchFamily="18" charset="0"/>
                  </a:rPr>
                  <a:t>$4^6$</a:t>
                </a:r>
                <a:r>
                  <a:rPr sz="2400" b="0">
                    <a:solidFill>
                      <a:srgbClr val="111827"/>
                    </a:solidFill>
                    <a:latin typeface="Arial"/>
                  </a:rPr>
                  <a:t> equally likely selections (each person picks from 4 numbers).</a:t>
                </a:r>
                <a:endParaRPr sz="2400">
                  <a:solidFill>
                    <a:srgbClr val="111827"/>
                  </a:solidFill>
                </a:endParaRPr>
              </a:p>
            </p:txBody>
          </p:sp>
        </mc:Fallback>
      </mc:AlternateContent>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choose the 5 persons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choose the common number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the sixth person picks one of the other 3 numbers.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5</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6</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72</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6</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(B) is true and (A) is false.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$P(A_5)$</a:t>
                </a:r>
                <a:r>
                  <a:rPr sz="2400" b="0">
                    <a:solidFill>
                      <a:srgbClr val="111827"/>
                    </a:solidFill>
                    <a:latin typeface="Arial"/>
                  </a:rPr>
                  <a:t>: choose the 5 persons (</a:t>
                </a:r>
                <a:r>
                  <a:rPr lang="en-IN" sz="2400">
                    <a:solidFill>
                      <a:srgbClr val="111827"/>
                    </a:solidFill>
                    <a:latin typeface="Cambria Math" panose="02040503050406030204" pitchFamily="18" charset="0"/>
                  </a:rPr>
                  <a:t>$^6C_5$</a:t>
                </a:r>
                <a:r>
                  <a:rPr sz="2400" b="0">
                    <a:solidFill>
                      <a:srgbClr val="111827"/>
                    </a:solidFill>
                    <a:latin typeface="Arial"/>
                  </a:rPr>
                  <a:t>), choose the common number (</a:t>
                </a:r>
                <a:r>
                  <a:rPr lang="en-IN" sz="2400">
                    <a:solidFill>
                      <a:srgbClr val="111827"/>
                    </a:solidFill>
                    <a:latin typeface="Cambria Math" panose="02040503050406030204" pitchFamily="18" charset="0"/>
                  </a:rPr>
                  <a:t>$^4C_1$</a:t>
                </a:r>
                <a:r>
                  <a:rPr sz="2400" b="0">
                    <a:solidFill>
                      <a:srgbClr val="111827"/>
                    </a:solidFill>
                    <a:latin typeface="Arial"/>
                  </a:rPr>
                  <a:t>), the sixth person picks one of the other 3 numbers.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$P(A_5)={}^6C_5\times{}^4C_1\times\left(\frac14\right)^5\left(\frac34\right)=\frac{6\cdot4\cdot3}{4^6}=\frac{72}{4^6}=\frac{18}{4^5}$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(B) is true and (A) is false.</a:t>
                </a:r>
                <a:endParaRPr sz="2400">
                  <a:solidFill>
                    <a:srgbClr val="111827"/>
                  </a:solidFill>
                </a:endParaRPr>
              </a:p>
            </p:txBody>
          </p:sp>
        </mc:Fallback>
      </mc:AlternateContent>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6</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r>
                  <a:rPr sz="2400" b="0">
                    <a:solidFill>
                      <a:srgbClr val="111827"/>
                    </a:solidFill>
                    <a:latin typeface="Arial"/>
                  </a:rPr>
                  <a:t>, so (C)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(exactly five alike) and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oMath>
                </a14:m>
                <a:r>
                  <a:rPr sz="2400" b="0">
                    <a:solidFill>
                      <a:srgbClr val="111827"/>
                    </a:solidFill>
                    <a:latin typeface="Arial"/>
                  </a:rPr>
                  <a:t> (all six alike) cannot occur together,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num>
                          <m:den>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(D) is false.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$P(A_6)={}^4C_1\times\left(\frac14\right)^6=\frac{4}{4^6}=\frac{1}{4^5}$</a:t>
                </a:r>
                <a:r>
                  <a:rPr sz="2400" b="0">
                    <a:solidFill>
                      <a:srgbClr val="111827"/>
                    </a:solidFill>
                    <a:latin typeface="Arial"/>
                  </a:rPr>
                  <a:t>, so (C)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$A_5$</a:t>
                </a:r>
                <a:r>
                  <a:rPr sz="2400" b="0">
                    <a:solidFill>
                      <a:srgbClr val="111827"/>
                    </a:solidFill>
                    <a:latin typeface="Arial"/>
                  </a:rPr>
                  <a:t> (exactly five alike) and </a:t>
                </a:r>
                <a:r>
                  <a:rPr lang="en-IN" sz="2400">
                    <a:solidFill>
                      <a:srgbClr val="111827"/>
                    </a:solidFill>
                    <a:latin typeface="Cambria Math" panose="02040503050406030204" pitchFamily="18" charset="0"/>
                  </a:rPr>
                  <a:t>$A_6$</a:t>
                </a:r>
                <a:r>
                  <a:rPr sz="2400" b="0">
                    <a:solidFill>
                      <a:srgbClr val="111827"/>
                    </a:solidFill>
                    <a:latin typeface="Arial"/>
                  </a:rPr>
                  <a:t> (all six alike) cannot occur together, so </a:t>
                </a:r>
                <a:r>
                  <a:rPr lang="en-IN" sz="2400">
                    <a:solidFill>
                      <a:srgbClr val="111827"/>
                    </a:solidFill>
                    <a:latin typeface="Cambria Math" panose="02040503050406030204" pitchFamily="18" charset="0"/>
                  </a:rPr>
                  <a:t>$P(A_5\cap A_6)=0$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$P\left(\frac{A_5}{A_6}\right)=0\neq\frac12$</a:t>
                </a:r>
                <a:r>
                  <a:rPr sz="2400" b="0">
                    <a:solidFill>
                      <a:srgbClr val="111827"/>
                    </a:solidFill>
                    <a:latin typeface="Arial"/>
                  </a:rPr>
                  <a:t>: (D) is false.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person 1's number and count how many of the other five match it, instead of choosing the group first.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Person 1 picks any number; each other person independently matches it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differs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oMath>
                </a14:m>
                <a:r>
                  <a:rPr sz="2400" b="0">
                    <a:solidFill>
                      <a:srgbClr val="111827"/>
                    </a:solidFill>
                    <a:latin typeface="Arial"/>
                  </a:rPr>
                  <a:t>: all five others match: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r>
                  <a:rPr sz="2400" b="0">
                    <a:solidFill>
                      <a:srgbClr val="111827"/>
                    </a:solidFill>
                    <a:latin typeface="Arial"/>
                  </a:rPr>
                  <a:t>, so (C) is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splits into two disjoint cases: person 1 is the odd one out, or person 1 is in the group of five.</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Person 1 picks any number; each other person independently matches it with probability </a:t>
                </a:r>
                <a:r>
                  <a:rPr lang="en-IN" sz="2400">
                    <a:solidFill>
                      <a:srgbClr val="111827"/>
                    </a:solidFill>
                    <a:latin typeface="Cambria Math" panose="02040503050406030204" pitchFamily="18" charset="0"/>
                  </a:rPr>
                  <a:t>$\frac14$</a:t>
                </a:r>
                <a:r>
                  <a:rPr sz="2400" b="0">
                    <a:solidFill>
                      <a:srgbClr val="111827"/>
                    </a:solidFill>
                    <a:latin typeface="Arial"/>
                  </a:rPr>
                  <a:t> and differs with probability </a:t>
                </a:r>
                <a:r>
                  <a:rPr lang="en-IN" sz="2400">
                    <a:solidFill>
                      <a:srgbClr val="111827"/>
                    </a:solidFill>
                    <a:latin typeface="Cambria Math" panose="02040503050406030204" pitchFamily="18" charset="0"/>
                  </a:rPr>
                  <a:t>$\frac34$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$A_6$</a:t>
                </a:r>
                <a:r>
                  <a:rPr sz="2400" b="0">
                    <a:solidFill>
                      <a:srgbClr val="111827"/>
                    </a:solidFill>
                    <a:latin typeface="Arial"/>
                  </a:rPr>
                  <a:t>: all five others match: </a:t>
                </a:r>
                <a:r>
                  <a:rPr lang="en-IN" sz="2400">
                    <a:solidFill>
                      <a:srgbClr val="111827"/>
                    </a:solidFill>
                    <a:latin typeface="Cambria Math" panose="02040503050406030204" pitchFamily="18" charset="0"/>
                  </a:rPr>
                  <a:t>$P(A_6)=\left(\frac14\right)^5=\frac1{4^5}$</a:t>
                </a:r>
                <a:r>
                  <a:rPr sz="2400" b="0">
                    <a:solidFill>
                      <a:srgbClr val="111827"/>
                    </a:solidFill>
                    <a:latin typeface="Arial"/>
                  </a:rPr>
                  <a:t>, so (C) is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$A_5$</a:t>
                </a:r>
                <a:r>
                  <a:rPr sz="2400" b="0">
                    <a:solidFill>
                      <a:srgbClr val="111827"/>
                    </a:solidFill>
                    <a:latin typeface="Arial"/>
                  </a:rPr>
                  <a:t> splits into two disjoint cases: person 1 is the odd one out, or person 1 is in the group of five.</a:t>
                </a:r>
                <a:endParaRPr sz="2400">
                  <a:solidFill>
                    <a:srgbClr val="111827"/>
                  </a:solidFill>
                </a:endParaRPr>
              </a:p>
            </p:txBody>
          </p:sp>
        </mc:Fallback>
      </mc:AlternateContent>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Person 1 odd: persons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all agree on one of the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other numbers: </a:t>
                </a:r>
                <a14:m>
                  <m:oMath xmlns:m="http://schemas.openxmlformats.org/officeDocument/2006/math">
                    <m:r>
                      <a:rPr lang="en-IN" sz="2400" i="1">
                        <a:solidFill>
                          <a:srgbClr val="111827"/>
                        </a:solidFill>
                        <a:latin typeface="Cambria Math" panose="02040503050406030204" pitchFamily="18" charset="0"/>
                      </a:rPr>
                      <m:t>3</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5</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Person 1 in the group: exactly one of persons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differs: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5</m:t>
                            </m:r>
                          </m:sup>
                        </m:sSup>
                      </m:den>
                    </m:f>
                  </m:oMath>
                </a14:m>
                <a:r>
                  <a:rPr sz="2400" b="0">
                    <a:solidFill>
                      <a:srgbClr val="111827"/>
                    </a:solidFill>
                    <a:latin typeface="Arial"/>
                  </a:rPr>
                  <a:t>, so (B) is true and (A) is false.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oMath>
                </a14:m>
                <a:r>
                  <a:rPr sz="2400" b="0">
                    <a:solidFill>
                      <a:srgbClr val="111827"/>
                    </a:solidFill>
                    <a:latin typeface="Arial"/>
                  </a:rPr>
                  <a:t> cannot occur together,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Answer: (B),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Person 1 odd: persons </a:t>
                </a:r>
                <a:r>
                  <a:rPr lang="en-IN" sz="2400">
                    <a:solidFill>
                      <a:srgbClr val="111827"/>
                    </a:solidFill>
                    <a:latin typeface="Cambria Math" panose="02040503050406030204" pitchFamily="18" charset="0"/>
                  </a:rPr>
                  <a:t>$2$</a:t>
                </a:r>
                <a:r>
                  <a:rPr sz="2400" b="0">
                    <a:solidFill>
                      <a:srgbClr val="111827"/>
                    </a:solidFill>
                    <a:latin typeface="Arial"/>
                  </a:rPr>
                  <a:t> to </a:t>
                </a:r>
                <a:r>
                  <a:rPr lang="en-IN" sz="2400">
                    <a:solidFill>
                      <a:srgbClr val="111827"/>
                    </a:solidFill>
                    <a:latin typeface="Cambria Math" panose="02040503050406030204" pitchFamily="18" charset="0"/>
                  </a:rPr>
                  <a:t>$6$</a:t>
                </a:r>
                <a:r>
                  <a:rPr sz="2400" b="0">
                    <a:solidFill>
                      <a:srgbClr val="111827"/>
                    </a:solidFill>
                    <a:latin typeface="Arial"/>
                  </a:rPr>
                  <a:t> all agree on one of the </a:t>
                </a:r>
                <a:r>
                  <a:rPr lang="en-IN" sz="2400">
                    <a:solidFill>
                      <a:srgbClr val="111827"/>
                    </a:solidFill>
                    <a:latin typeface="Cambria Math" panose="02040503050406030204" pitchFamily="18" charset="0"/>
                  </a:rPr>
                  <a:t>$3$</a:t>
                </a:r>
                <a:r>
                  <a:rPr sz="2400" b="0">
                    <a:solidFill>
                      <a:srgbClr val="111827"/>
                    </a:solidFill>
                    <a:latin typeface="Arial"/>
                  </a:rPr>
                  <a:t> other numbers: </a:t>
                </a:r>
                <a:r>
                  <a:rPr lang="en-IN" sz="2400">
                    <a:solidFill>
                      <a:srgbClr val="111827"/>
                    </a:solidFill>
                    <a:latin typeface="Cambria Math" panose="02040503050406030204" pitchFamily="18" charset="0"/>
                  </a:rPr>
                  <a:t>$3\left(\frac14\right)^5$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Person 1 in the group: exactly one of persons </a:t>
                </a:r>
                <a:r>
                  <a:rPr lang="en-IN" sz="2400">
                    <a:solidFill>
                      <a:srgbClr val="111827"/>
                    </a:solidFill>
                    <a:latin typeface="Cambria Math" panose="02040503050406030204" pitchFamily="18" charset="0"/>
                  </a:rPr>
                  <a:t>$2,\dots,6$</a:t>
                </a:r>
                <a:r>
                  <a:rPr sz="2400" b="0">
                    <a:solidFill>
                      <a:srgbClr val="111827"/>
                    </a:solidFill>
                    <a:latin typeface="Arial"/>
                  </a:rPr>
                  <a:t> differs: </a:t>
                </a:r>
                <a:r>
                  <a:rPr lang="en-IN" sz="2400">
                    <a:solidFill>
                      <a:srgbClr val="111827"/>
                    </a:solidFill>
                    <a:latin typeface="Cambria Math" panose="02040503050406030204" pitchFamily="18" charset="0"/>
                  </a:rPr>
                  <a:t>$5\cdot\frac34\left(\frac14\right)^4=\frac{15}{4^5}$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$P(A_5)=\frac{3+15}{4^5}=\frac{18}{4^5}$</a:t>
                </a:r>
                <a:r>
                  <a:rPr sz="2400" b="0">
                    <a:solidFill>
                      <a:srgbClr val="111827"/>
                    </a:solidFill>
                    <a:latin typeface="Arial"/>
                  </a:rPr>
                  <a:t>, so (B) is true and (A) is false.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$A_5$</a:t>
                </a:r>
                <a:r>
                  <a:rPr sz="2400" b="0">
                    <a:solidFill>
                      <a:srgbClr val="111827"/>
                    </a:solidFill>
                    <a:latin typeface="Arial"/>
                  </a:rPr>
                  <a:t> and </a:t>
                </a:r>
                <a:r>
                  <a:rPr lang="en-IN" sz="2400">
                    <a:solidFill>
                      <a:srgbClr val="111827"/>
                    </a:solidFill>
                    <a:latin typeface="Cambria Math" panose="02040503050406030204" pitchFamily="18" charset="0"/>
                  </a:rPr>
                  <a:t>$A_6$</a:t>
                </a:r>
                <a:r>
                  <a:rPr sz="2400" b="0">
                    <a:solidFill>
                      <a:srgbClr val="111827"/>
                    </a:solidFill>
                    <a:latin typeface="Arial"/>
                  </a:rPr>
                  <a:t> cannot occur together, so </a:t>
                </a:r>
                <a:r>
                  <a:rPr lang="en-IN" sz="2400">
                    <a:solidFill>
                      <a:srgbClr val="111827"/>
                    </a:solidFill>
                    <a:latin typeface="Cambria Math" panose="02040503050406030204" pitchFamily="18" charset="0"/>
                  </a:rPr>
                  <a:t>$P(A_5/A_6)=0\ne\frac12$</a:t>
                </a:r>
                <a:r>
                  <a:rPr sz="2400" b="0">
                    <a:solidFill>
                      <a:srgbClr val="111827"/>
                    </a:solidFill>
                    <a:latin typeface="Arial"/>
                  </a:rPr>
                  <a:t>. Answer: (B), (C).</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people choosing among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numbers: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𝑒𝑥𝑎𝑐𝑡𝑙𝑦 </m:t>
                    </m:r>
                    <m:r>
                      <a:rPr lang="en-IN" sz="2400" i="1">
                        <a:solidFill>
                          <a:srgbClr val="111827"/>
                        </a:solidFill>
                        <a:latin typeface="Cambria Math" panose="02040503050406030204" pitchFamily="18" charset="0"/>
                      </a:rPr>
                      <m:t>𝑚</m:t>
                    </m:r>
                    <m:r>
                      <m:rPr>
                        <m:nor/>
                      </m:rPr>
                      <a:rPr lang="en-IN" sz="2400" i="1">
                        <a:solidFill>
                          <a:srgbClr val="111827"/>
                        </a:solidFill>
                        <a:latin typeface="Cambria Math" panose="02040503050406030204" pitchFamily="18" charset="0"/>
                      </a:rPr>
                      <m:t> 𝑠ℎ𝑎𝑟𝑒 𝑎 𝑔𝑖𝑣𝑒𝑛 𝑛𝑢𝑚𝑏𝑒𝑟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𝑚</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e>
                        </m:d>
                      </m:e>
                      <m:sup>
                        <m:r>
                          <a:rPr lang="en-IN" sz="2400" i="1">
                            <a:solidFill>
                              <a:srgbClr val="111827"/>
                            </a:solidFill>
                            <a:latin typeface="Cambria Math" panose="02040503050406030204" pitchFamily="18" charset="0"/>
                          </a:rPr>
                          <m:t>𝑚</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oMath>
                </a14:m>
                <a:r>
                  <a:rPr sz="2400" b="0">
                    <a:solidFill>
                      <a:srgbClr val="111827"/>
                    </a:solidFill>
                    <a:latin typeface="Arial"/>
                  </a:rPr>
                  <a:t>; multiply by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for 'some number'.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works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(no two numbers can both be chosen by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people), so the factor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is legitimate only then.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Events 'exactly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and 'exactly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are mutually exclusive, so their conditional probability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by brute force: of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4096</m:t>
                    </m:r>
                  </m:oMath>
                </a14:m>
                <a:r>
                  <a:rPr sz="2400" b="0">
                    <a:solidFill>
                      <a:srgbClr val="111827"/>
                    </a:solidFill>
                    <a:latin typeface="Arial"/>
                  </a:rPr>
                  <a:t> selections, </a:t>
                </a:r>
                <a14:m>
                  <m:oMath xmlns:m="http://schemas.openxmlformats.org/officeDocument/2006/math">
                    <m:r>
                      <a:rPr lang="en-IN" sz="2400" i="1">
                        <a:solidFill>
                          <a:srgbClr val="111827"/>
                        </a:solidFill>
                        <a:latin typeface="Cambria Math" panose="02040503050406030204" pitchFamily="18" charset="0"/>
                      </a:rPr>
                      <m:t>72</m:t>
                    </m:r>
                  </m:oMath>
                </a14:m>
                <a:r>
                  <a:rPr sz="2400" b="0">
                    <a:solidFill>
                      <a:srgbClr val="111827"/>
                    </a:solidFill>
                    <a:latin typeface="Arial"/>
                  </a:rPr>
                  <a:t> have exactly five alike and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have all six alike.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a:t>
                </a:r>
                <a:r>
                  <a:rPr sz="2400" b="0">
                    <a:solidFill>
                      <a:srgbClr val="111827"/>
                    </a:solidFill>
                    <a:latin typeface="Arial"/>
                  </a:rPr>
                  <a:t> people choosing among </a:t>
                </a:r>
                <a:r>
                  <a:rPr lang="en-IN" sz="2400">
                    <a:solidFill>
                      <a:srgbClr val="111827"/>
                    </a:solidFill>
                    <a:latin typeface="Cambria Math" panose="02040503050406030204" pitchFamily="18" charset="0"/>
                  </a:rPr>
                  <a:t>$k$</a:t>
                </a:r>
                <a:r>
                  <a:rPr sz="2400" b="0">
                    <a:solidFill>
                      <a:srgbClr val="111827"/>
                    </a:solidFill>
                    <a:latin typeface="Arial"/>
                  </a:rPr>
                  <a:t> numbers: </a:t>
                </a:r>
                <a:r>
                  <a:rPr lang="en-IN" sz="2400">
                    <a:solidFill>
                      <a:srgbClr val="111827"/>
                    </a:solidFill>
                    <a:latin typeface="Cambria Math" panose="02040503050406030204" pitchFamily="18" charset="0"/>
                  </a:rPr>
                  <a:t>$P(\text{exactly } m\text{ share a given number})=\binom nm\left(\frac1k\right)^m\left(\frac{k-1}{k}\right)^{n-m}$</a:t>
                </a:r>
                <a:r>
                  <a:rPr sz="2400" b="0">
                    <a:solidFill>
                      <a:srgbClr val="111827"/>
                    </a:solidFill>
                    <a:latin typeface="Arial"/>
                  </a:rPr>
                  <a:t>; multiply by </a:t>
                </a:r>
                <a:r>
                  <a:rPr lang="en-IN" sz="2400">
                    <a:solidFill>
                      <a:srgbClr val="111827"/>
                    </a:solidFill>
                    <a:latin typeface="Cambria Math" panose="02040503050406030204" pitchFamily="18" charset="0"/>
                  </a:rPr>
                  <a:t>$k$</a:t>
                </a:r>
                <a:r>
                  <a:rPr sz="2400" b="0">
                    <a:solidFill>
                      <a:srgbClr val="111827"/>
                    </a:solidFill>
                    <a:latin typeface="Arial"/>
                  </a:rPr>
                  <a:t> for 'some number'.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works for </a:t>
                </a:r>
                <a:r>
                  <a:rPr lang="en-IN" sz="2400">
                    <a:solidFill>
                      <a:srgbClr val="111827"/>
                    </a:solidFill>
                    <a:latin typeface="Cambria Math" panose="02040503050406030204" pitchFamily="18" charset="0"/>
                  </a:rPr>
                  <a:t>$m&gt;n/2$</a:t>
                </a:r>
                <a:r>
                  <a:rPr sz="2400" b="0">
                    <a:solidFill>
                      <a:srgbClr val="111827"/>
                    </a:solidFill>
                    <a:latin typeface="Arial"/>
                  </a:rPr>
                  <a:t> (no two numbers can both be chosen by </a:t>
                </a:r>
                <a:r>
                  <a:rPr lang="en-IN" sz="2400">
                    <a:solidFill>
                      <a:srgbClr val="111827"/>
                    </a:solidFill>
                    <a:latin typeface="Cambria Math" panose="02040503050406030204" pitchFamily="18" charset="0"/>
                  </a:rPr>
                  <a:t>$m$</a:t>
                </a:r>
                <a:r>
                  <a:rPr sz="2400" b="0">
                    <a:solidFill>
                      <a:srgbClr val="111827"/>
                    </a:solidFill>
                    <a:latin typeface="Arial"/>
                  </a:rPr>
                  <a:t> people), so the factor </a:t>
                </a:r>
                <a:r>
                  <a:rPr lang="en-IN" sz="2400">
                    <a:solidFill>
                      <a:srgbClr val="111827"/>
                    </a:solidFill>
                    <a:latin typeface="Cambria Math" panose="02040503050406030204" pitchFamily="18" charset="0"/>
                  </a:rPr>
                  <a:t>$k$</a:t>
                </a:r>
                <a:r>
                  <a:rPr sz="2400" b="0">
                    <a:solidFill>
                      <a:srgbClr val="111827"/>
                    </a:solidFill>
                    <a:latin typeface="Arial"/>
                  </a:rPr>
                  <a:t> is legitimate only then.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Events 'exactly </a:t>
                </a:r>
                <a:r>
                  <a:rPr lang="en-IN" sz="2400">
                    <a:solidFill>
                      <a:srgbClr val="111827"/>
                    </a:solidFill>
                    <a:latin typeface="Cambria Math" panose="02040503050406030204" pitchFamily="18" charset="0"/>
                  </a:rPr>
                  <a:t>$r$</a:t>
                </a:r>
                <a:r>
                  <a:rPr sz="2400" b="0">
                    <a:solidFill>
                      <a:srgbClr val="111827"/>
                    </a:solidFill>
                    <a:latin typeface="Arial"/>
                  </a:rPr>
                  <a:t>' and 'exactly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$r\neq s$</a:t>
                </a:r>
                <a:r>
                  <a:rPr sz="2400" b="0">
                    <a:solidFill>
                      <a:srgbClr val="111827"/>
                    </a:solidFill>
                    <a:latin typeface="Arial"/>
                  </a:rPr>
                  <a:t>) are mutually exclusive, so their conditional probability is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by brute force: of </a:t>
                </a:r>
                <a:r>
                  <a:rPr lang="en-IN" sz="2400">
                    <a:solidFill>
                      <a:srgbClr val="111827"/>
                    </a:solidFill>
                    <a:latin typeface="Cambria Math" panose="02040503050406030204" pitchFamily="18" charset="0"/>
                  </a:rPr>
                  <a:t>$4^6=4096$</a:t>
                </a:r>
                <a:r>
                  <a:rPr sz="2400" b="0">
                    <a:solidFill>
                      <a:srgbClr val="111827"/>
                    </a:solidFill>
                    <a:latin typeface="Arial"/>
                  </a:rPr>
                  <a:t> selections, </a:t>
                </a:r>
                <a:r>
                  <a:rPr lang="en-IN" sz="2400">
                    <a:solidFill>
                      <a:srgbClr val="111827"/>
                    </a:solidFill>
                    <a:latin typeface="Cambria Math" panose="02040503050406030204" pitchFamily="18" charset="0"/>
                  </a:rPr>
                  <a:t>$72$</a:t>
                </a:r>
                <a:r>
                  <a:rPr sz="2400" b="0">
                    <a:solidFill>
                      <a:srgbClr val="111827"/>
                    </a:solidFill>
                    <a:latin typeface="Arial"/>
                  </a:rPr>
                  <a:t> have exactly five alike and </a:t>
                </a:r>
                <a:r>
                  <a:rPr lang="en-IN" sz="2400">
                    <a:solidFill>
                      <a:srgbClr val="111827"/>
                    </a:solidFill>
                    <a:latin typeface="Cambria Math" panose="02040503050406030204" pitchFamily="18" charset="0"/>
                  </a:rPr>
                  <a:t>$4$</a:t>
                </a:r>
                <a:r>
                  <a:rPr sz="2400" b="0">
                    <a:solidFill>
                      <a:srgbClr val="111827"/>
                    </a:solidFill>
                    <a:latin typeface="Arial"/>
                  </a:rPr>
                  <a:t> have all six alike.</a:t>
                </a:r>
                <a:endParaRPr sz="2400">
                  <a:solidFill>
                    <a:srgbClr val="111827"/>
                  </a:solidFill>
                </a:endParaRPr>
              </a:p>
            </p:txBody>
          </p:sp>
        </mc:Fallback>
      </mc:AlternateContent>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 flip 4 fair coins and eat all of the coins that land on tails. I flip all the uneaten coins again and then eat all the coins that land on tails. The probability that I have eaten at least 3 coins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are coprime),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189</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endParaRPr sz="2400">
                  <a:solidFill>
                    <a:srgbClr val="111827"/>
                  </a:solidFill>
                </a:endParaRPr>
              </a:p>
            </p:txBody>
          </p:sp>
        </mc:Choice>
        <mc:Fallback>
          <p:sp>
            <p:nvSpPr>
              <p:cNvPr id="4" name="Rounded Rectangle 3"/>
              <p:cNvSpPr/>
              <p:nvPr/>
            </p:nvSpPr>
            <p:spPr>
              <a:xfrm>
                <a:off x="731520" y="1280160"/>
                <a:ext cx="10725912" cy="25532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 flip 4 fair coins and eat all of the coins that land on tails. I flip all the uneaten coins again and then eat all the coins that land on tails. The probability that I have eaten at least 3 coins is </a:t>
                </a:r>
                <a:r>
                  <a:rPr lang="en-IN" sz="2400">
                    <a:solidFill>
                      <a:srgbClr val="111827"/>
                    </a:solidFill>
                    <a:latin typeface="Cambria Math" panose="02040503050406030204" pitchFamily="18" charset="0"/>
                  </a:rPr>
                  <a:t>$\frac{p}{q}$</a:t>
                </a:r>
                <a:r>
                  <a:rPr sz="2400" b="0">
                    <a:solidFill>
                      <a:srgbClr val="111827"/>
                    </a:solidFill>
                    <a:latin typeface="Arial"/>
                  </a:rPr>
                  <a:t> (where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coprime),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$p=189$</a:t>
                </a:r>
                <a:r>
                  <a:rPr sz="2400" b="0">
                    <a:solidFill>
                      <a:srgbClr val="111827"/>
                    </a:solidFill>
                    <a:latin typeface="Arial"/>
                  </a:rPr>
                  <a:t>   (B) </a:t>
                </a:r>
                <a:r>
                  <a:rPr lang="en-IN" sz="2400">
                    <a:solidFill>
                      <a:srgbClr val="111827"/>
                    </a:solidFill>
                    <a:latin typeface="Cambria Math" panose="02040503050406030204" pitchFamily="18" charset="0"/>
                  </a:rPr>
                  <a:t>$p=11$</a:t>
                </a:r>
                <a:r>
                  <a:rPr sz="2400" b="0">
                    <a:solidFill>
                      <a:srgbClr val="111827"/>
                    </a:solidFill>
                    <a:latin typeface="Arial"/>
                  </a:rPr>
                  <a:t>   (C) </a:t>
                </a:r>
                <a:r>
                  <a:rPr lang="en-IN" sz="2400">
                    <a:solidFill>
                      <a:srgbClr val="111827"/>
                    </a:solidFill>
                    <a:latin typeface="Cambria Math" panose="02040503050406030204" pitchFamily="18" charset="0"/>
                  </a:rPr>
                  <a:t>$q=16$</a:t>
                </a:r>
                <a:r>
                  <a:rPr sz="2400" b="0">
                    <a:solidFill>
                      <a:srgbClr val="111827"/>
                    </a:solidFill>
                    <a:latin typeface="Arial"/>
                  </a:rPr>
                  <a:t>   (D) </a:t>
                </a:r>
                <a:r>
                  <a:rPr lang="en-IN" sz="2400">
                    <a:solidFill>
                      <a:srgbClr val="111827"/>
                    </a:solidFill>
                    <a:latin typeface="Cambria Math" panose="02040503050406030204" pitchFamily="18" charset="0"/>
                  </a:rPr>
                  <a:t>$q=256$</a:t>
                </a:r>
                <a:endParaRPr sz="2400">
                  <a:solidFill>
                    <a:srgbClr val="111827"/>
                  </a:solidFill>
                </a:endParaRPr>
              </a:p>
            </p:txBody>
          </p:sp>
        </mc:Fallback>
      </mc:AlternateContent>
      <p:sp>
        <p:nvSpPr>
          <p:cNvPr id="5" name="Rectangle 4"/>
          <p:cNvSpPr/>
          <p:nvPr/>
        </p:nvSpPr>
        <p:spPr>
          <a:xfrm>
            <a:off x="731520" y="406196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distribution and independent events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coin is eaten independently with probability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 so the number eaten is </a:t>
                </a:r>
                <a14:m>
                  <m:oMath xmlns:m="http://schemas.openxmlformats.org/officeDocument/2006/math">
                    <m:r>
                      <m:rPr>
                        <m:nor/>
                      </m:rPr>
                      <a:rPr lang="en-IN" sz="2400" i="1">
                        <a:solidFill>
                          <a:srgbClr val="78350F"/>
                        </a:solidFill>
                        <a:latin typeface="Cambria Math" panose="02040503050406030204" pitchFamily="18" charset="0"/>
                      </a:rPr>
                      <m:t>𝐵𝑖𝑛</m:t>
                    </m:r>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3</m:t>
                            </m:r>
                          </m:num>
                          <m:den>
                            <m:r>
                              <a:rPr lang="en-IN" sz="2400" i="1">
                                <a:solidFill>
                                  <a:srgbClr val="78350F"/>
                                </a:solidFill>
                                <a:latin typeface="Cambria Math" panose="02040503050406030204" pitchFamily="18" charset="0"/>
                              </a:rPr>
                              <m:t>4</m:t>
                            </m:r>
                          </m:den>
                        </m:f>
                      </m:e>
                    </m:d>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coin is eaten independently with probability </a:t>
                </a:r>
                <a:r>
                  <a:rPr lang="en-IN" sz="2400">
                    <a:solidFill>
                      <a:srgbClr val="78350F"/>
                    </a:solidFill>
                    <a:latin typeface="Cambria Math" panose="02040503050406030204" pitchFamily="18" charset="0"/>
                  </a:rPr>
                  <a:t>$1-\frac12\cdot\frac12=\frac34$</a:t>
                </a:r>
                <a:r>
                  <a:rPr sz="2400" b="0">
                    <a:solidFill>
                      <a:srgbClr val="78350F"/>
                    </a:solidFill>
                    <a:latin typeface="Arial"/>
                  </a:rPr>
                  <a:t>, so the number eaten is </a:t>
                </a:r>
                <a:r>
                  <a:rPr lang="en-IN" sz="2400">
                    <a:solidFill>
                      <a:srgbClr val="78350F"/>
                    </a:solidFill>
                    <a:latin typeface="Cambria Math" panose="02040503050406030204" pitchFamily="18" charset="0"/>
                  </a:rPr>
                  <a:t>$\text{Bin}\left(4,\frac34\right)$</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coins behave independently, so consider one coin.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coin is NOT eaten only if it lands heads on both flips: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any given coin is eaten with probability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coins eaten </a:t>
                </a:r>
                <a14:m>
                  <m:oMath xmlns:m="http://schemas.openxmlformats.org/officeDocument/2006/math">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𝐵𝑖𝑛</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we need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coins behave independently, so consider one coin.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coin is NOT eaten only if it lands heads on both flips: probability </a:t>
                </a:r>
                <a:r>
                  <a:rPr lang="en-IN" sz="2400">
                    <a:solidFill>
                      <a:srgbClr val="111827"/>
                    </a:solidFill>
                    <a:latin typeface="Cambria Math" panose="02040503050406030204" pitchFamily="18" charset="0"/>
                  </a:rPr>
                  <a:t>$\frac12\times\frac12=\frac14$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any given coin is eaten with probability </a:t>
                </a:r>
                <a:r>
                  <a:rPr lang="en-IN" sz="2400">
                    <a:solidFill>
                      <a:srgbClr val="111827"/>
                    </a:solidFill>
                    <a:latin typeface="Cambria Math" panose="02040503050406030204" pitchFamily="18" charset="0"/>
                  </a:rPr>
                  <a:t>$1-\frac14=\frac34$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coins eaten </a:t>
                </a:r>
                <a:r>
                  <a:rPr lang="en-IN" sz="2400">
                    <a:solidFill>
                      <a:srgbClr val="111827"/>
                    </a:solidFill>
                    <a:latin typeface="Cambria Math" panose="02040503050406030204" pitchFamily="18" charset="0"/>
                  </a:rPr>
                  <a:t>$\sim\text{Bin}\left(4,\frac34\right)$</a:t>
                </a:r>
                <a:r>
                  <a:rPr sz="2400" b="0">
                    <a:solidFill>
                      <a:srgbClr val="111827"/>
                    </a:solidFill>
                    <a:latin typeface="Arial"/>
                  </a:rPr>
                  <a:t>; we need </a:t>
                </a:r>
                <a:r>
                  <a:rPr lang="en-IN" sz="2400">
                    <a:solidFill>
                      <a:srgbClr val="111827"/>
                    </a:solidFill>
                    <a:latin typeface="Cambria Math" panose="02040503050406030204" pitchFamily="18" charset="0"/>
                  </a:rPr>
                  <a:t>$P(X\ge3)=P(X=3)+P(X=4)$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3</m:t>
                        </m:r>
                      </m:sup>
                    </m:sSup>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108</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4</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256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189</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189</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256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8</m:t>
                        </m:r>
                      </m:sup>
                    </m:sSup>
                  </m:oMath>
                </a14:m>
                <a:r>
                  <a:rPr sz="2400" b="0">
                    <a:solidFill>
                      <a:srgbClr val="111827"/>
                    </a:solidFill>
                    <a:latin typeface="Arial"/>
                  </a:rPr>
                  <a:t> are coprime,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 (A) and (D) are true; (B), (C) false.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$P(X=3)=\binom43\left(\frac34\right)^3\left(\frac14\right)=\frac{108}{256}$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$P(X=4)=\binom44\left(\frac34\right)^4=\frac{81}{256}$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$P(X\ge3)=\frac{108+81}{256}=\frac{189}{256}$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$189=3^3\cdot7$</a:t>
                </a:r>
                <a:r>
                  <a:rPr sz="2400" b="0">
                    <a:solidFill>
                      <a:srgbClr val="111827"/>
                    </a:solidFill>
                    <a:latin typeface="Arial"/>
                  </a:rPr>
                  <a:t> and </a:t>
                </a:r>
                <a:r>
                  <a:rPr lang="en-IN" sz="2400">
                    <a:solidFill>
                      <a:srgbClr val="111827"/>
                    </a:solidFill>
                    <a:latin typeface="Cambria Math" panose="02040503050406030204" pitchFamily="18" charset="0"/>
                  </a:rPr>
                  <a:t>$256=2^8$</a:t>
                </a:r>
                <a:r>
                  <a:rPr sz="2400" b="0">
                    <a:solidFill>
                      <a:srgbClr val="111827"/>
                    </a:solidFill>
                    <a:latin typeface="Arial"/>
                  </a:rPr>
                  <a:t> are coprime, so </a:t>
                </a:r>
                <a:r>
                  <a:rPr lang="en-IN" sz="2400">
                    <a:solidFill>
                      <a:srgbClr val="111827"/>
                    </a:solidFill>
                    <a:latin typeface="Cambria Math" panose="02040503050406030204" pitchFamily="18" charset="0"/>
                  </a:rPr>
                  <a:t>$p=189$</a:t>
                </a:r>
                <a:r>
                  <a:rPr sz="2400" b="0">
                    <a:solidFill>
                      <a:srgbClr val="111827"/>
                    </a:solidFill>
                    <a:latin typeface="Arial"/>
                  </a:rPr>
                  <a:t>, </a:t>
                </a:r>
                <a:r>
                  <a:rPr lang="en-IN" sz="2400">
                    <a:solidFill>
                      <a:srgbClr val="111827"/>
                    </a:solidFill>
                    <a:latin typeface="Cambria Math" panose="02040503050406030204" pitchFamily="18" charset="0"/>
                  </a:rPr>
                  <a:t>$q=256$</a:t>
                </a:r>
                <a:r>
                  <a:rPr sz="2400" b="0">
                    <a:solidFill>
                      <a:srgbClr val="111827"/>
                    </a:solidFill>
                    <a:latin typeface="Arial"/>
                  </a:rPr>
                  <a:t>: (A) and (D) are true; (B), (C) false.</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D)</a:t>
            </a:r>
            <a:endParaRPr sz="2800">
              <a:solidFill>
                <a:srgbClr val="15803D"/>
              </a:solidFill>
            </a:endParaRP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Condition on the number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of tails in the first round; the second round is then a binomial on the </a:t>
                </a:r>
                <a14:m>
                  <m:oMath xmlns:m="http://schemas.openxmlformats.org/officeDocument/2006/math">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oMath>
                </a14:m>
                <a:r>
                  <a:rPr sz="2400" b="0">
                    <a:solidFill>
                      <a:srgbClr val="78350F"/>
                    </a:solidFill>
                    <a:latin typeface="Arial"/>
                  </a:rPr>
                  <a:t> uneaten coins.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Condition on the number </a:t>
                </a:r>
                <a:r>
                  <a:rPr lang="en-IN" sz="2400">
                    <a:solidFill>
                      <a:srgbClr val="78350F"/>
                    </a:solidFill>
                    <a:latin typeface="Cambria Math" panose="02040503050406030204" pitchFamily="18" charset="0"/>
                  </a:rPr>
                  <a:t>$k$</a:t>
                </a:r>
                <a:r>
                  <a:rPr sz="2400" b="0">
                    <a:solidFill>
                      <a:srgbClr val="78350F"/>
                    </a:solidFill>
                    <a:latin typeface="Arial"/>
                  </a:rPr>
                  <a:t> of tails in the first round; the second round is then a binomial on the </a:t>
                </a:r>
                <a:r>
                  <a:rPr lang="en-IN" sz="2400">
                    <a:solidFill>
                      <a:srgbClr val="78350F"/>
                    </a:solidFill>
                    <a:latin typeface="Cambria Math" panose="02040503050406030204" pitchFamily="18" charset="0"/>
                  </a:rPr>
                  <a:t>$4-k$</a:t>
                </a:r>
                <a:r>
                  <a:rPr sz="2400" b="0">
                    <a:solidFill>
                      <a:srgbClr val="78350F"/>
                    </a:solidFill>
                    <a:latin typeface="Arial"/>
                  </a:rPr>
                  <a:t> uneaten coins.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round: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tails (eaten) with probability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𝑘</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r>
                  <a:rPr sz="2400" b="0">
                    <a:solidFill>
                      <a:srgbClr val="111827"/>
                    </a:solidFill>
                    <a:latin typeface="Arial"/>
                  </a:rPr>
                  <a:t>. Second round: the remaining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coins give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more tails with probability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𝑗</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(prob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m:t>
                        </m:r>
                      </m:den>
                    </m:f>
                  </m:oMath>
                </a14:m>
                <a:r>
                  <a:rPr sz="2400" b="0">
                    <a:solidFill>
                      <a:srgbClr val="111827"/>
                    </a:solidFill>
                    <a:latin typeface="Arial"/>
                  </a:rPr>
                  <a:t>): already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eaten. Contribution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(prob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16</m:t>
                        </m:r>
                      </m:den>
                    </m:f>
                  </m:oMath>
                </a14:m>
                <a:r>
                  <a:rPr sz="2400" b="0">
                    <a:solidFill>
                      <a:srgbClr val="111827"/>
                    </a:solidFill>
                    <a:latin typeface="Arial"/>
                  </a:rPr>
                  <a:t>): already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eaten. Contribution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(prob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16</m:t>
                        </m:r>
                      </m:den>
                    </m:f>
                  </m:oMath>
                </a14:m>
                <a:r>
                  <a:rPr sz="2400" b="0">
                    <a:solidFill>
                      <a:srgbClr val="111827"/>
                    </a:solidFill>
                    <a:latin typeface="Arial"/>
                  </a:rPr>
                  <a:t>): need at least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tail from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coins: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Contribution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16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72</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round: </a:t>
                </a:r>
                <a:r>
                  <a:rPr lang="en-IN" sz="2400">
                    <a:solidFill>
                      <a:srgbClr val="111827"/>
                    </a:solidFill>
                    <a:latin typeface="Cambria Math" panose="02040503050406030204" pitchFamily="18" charset="0"/>
                  </a:rPr>
                  <a:t>$k$</a:t>
                </a:r>
                <a:r>
                  <a:rPr sz="2400" b="0">
                    <a:solidFill>
                      <a:srgbClr val="111827"/>
                    </a:solidFill>
                    <a:latin typeface="Arial"/>
                  </a:rPr>
                  <a:t> tails (eaten) with probability </a:t>
                </a:r>
                <a:r>
                  <a:rPr lang="en-IN" sz="2400">
                    <a:solidFill>
                      <a:srgbClr val="111827"/>
                    </a:solidFill>
                    <a:latin typeface="Cambria Math" panose="02040503050406030204" pitchFamily="18" charset="0"/>
                  </a:rPr>
                  <a:t>$\binom4k/16$</a:t>
                </a:r>
                <a:r>
                  <a:rPr sz="2400" b="0">
                    <a:solidFill>
                      <a:srgbClr val="111827"/>
                    </a:solidFill>
                    <a:latin typeface="Arial"/>
                  </a:rPr>
                  <a:t>. Second round: the remaining </a:t>
                </a:r>
                <a:r>
                  <a:rPr lang="en-IN" sz="2400">
                    <a:solidFill>
                      <a:srgbClr val="111827"/>
                    </a:solidFill>
                    <a:latin typeface="Cambria Math" panose="02040503050406030204" pitchFamily="18" charset="0"/>
                  </a:rPr>
                  <a:t>$4-k$</a:t>
                </a:r>
                <a:r>
                  <a:rPr sz="2400" b="0">
                    <a:solidFill>
                      <a:srgbClr val="111827"/>
                    </a:solidFill>
                    <a:latin typeface="Arial"/>
                  </a:rPr>
                  <a:t> coins give </a:t>
                </a:r>
                <a:r>
                  <a:rPr lang="en-IN" sz="2400">
                    <a:solidFill>
                      <a:srgbClr val="111827"/>
                    </a:solidFill>
                    <a:latin typeface="Cambria Math" panose="02040503050406030204" pitchFamily="18" charset="0"/>
                  </a:rPr>
                  <a:t>$j$</a:t>
                </a:r>
                <a:r>
                  <a:rPr sz="2400" b="0">
                    <a:solidFill>
                      <a:srgbClr val="111827"/>
                    </a:solidFill>
                    <a:latin typeface="Arial"/>
                  </a:rPr>
                  <a:t> more tails with probability </a:t>
                </a:r>
                <a:r>
                  <a:rPr lang="en-IN" sz="2400">
                    <a:solidFill>
                      <a:srgbClr val="111827"/>
                    </a:solidFill>
                    <a:latin typeface="Cambria Math" panose="02040503050406030204" pitchFamily="18" charset="0"/>
                  </a:rPr>
                  <a:t>$\binom{4-k}{j}/2^{4-k}$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$k=4$</a:t>
                </a:r>
                <a:r>
                  <a:rPr sz="2400" b="0">
                    <a:solidFill>
                      <a:srgbClr val="111827"/>
                    </a:solidFill>
                    <a:latin typeface="Arial"/>
                  </a:rPr>
                  <a:t> (prob </a:t>
                </a:r>
                <a:r>
                  <a:rPr lang="en-IN" sz="2400">
                    <a:solidFill>
                      <a:srgbClr val="111827"/>
                    </a:solidFill>
                    <a:latin typeface="Cambria Math" panose="02040503050406030204" pitchFamily="18" charset="0"/>
                  </a:rPr>
                  <a:t>$\frac1{16}$</a:t>
                </a:r>
                <a:r>
                  <a:rPr sz="2400" b="0">
                    <a:solidFill>
                      <a:srgbClr val="111827"/>
                    </a:solidFill>
                    <a:latin typeface="Arial"/>
                  </a:rPr>
                  <a:t>): already </a:t>
                </a:r>
                <a:r>
                  <a:rPr lang="en-IN" sz="2400">
                    <a:solidFill>
                      <a:srgbClr val="111827"/>
                    </a:solidFill>
                    <a:latin typeface="Cambria Math" panose="02040503050406030204" pitchFamily="18" charset="0"/>
                  </a:rPr>
                  <a:t>$4\ge3$</a:t>
                </a:r>
                <a:r>
                  <a:rPr sz="2400" b="0">
                    <a:solidFill>
                      <a:srgbClr val="111827"/>
                    </a:solidFill>
                    <a:latin typeface="Arial"/>
                  </a:rPr>
                  <a:t> eaten. Contribution </a:t>
                </a:r>
                <a:r>
                  <a:rPr lang="en-IN" sz="2400">
                    <a:solidFill>
                      <a:srgbClr val="111827"/>
                    </a:solidFill>
                    <a:latin typeface="Cambria Math" panose="02040503050406030204" pitchFamily="18" charset="0"/>
                  </a:rPr>
                  <a:t>$\frac{16}{256}$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$k=3$</a:t>
                </a:r>
                <a:r>
                  <a:rPr sz="2400" b="0">
                    <a:solidFill>
                      <a:srgbClr val="111827"/>
                    </a:solidFill>
                    <a:latin typeface="Arial"/>
                  </a:rPr>
                  <a:t> (prob </a:t>
                </a:r>
                <a:r>
                  <a:rPr lang="en-IN" sz="2400">
                    <a:solidFill>
                      <a:srgbClr val="111827"/>
                    </a:solidFill>
                    <a:latin typeface="Cambria Math" panose="02040503050406030204" pitchFamily="18" charset="0"/>
                  </a:rPr>
                  <a:t>$\frac4{16}$</a:t>
                </a:r>
                <a:r>
                  <a:rPr sz="2400" b="0">
                    <a:solidFill>
                      <a:srgbClr val="111827"/>
                    </a:solidFill>
                    <a:latin typeface="Arial"/>
                  </a:rPr>
                  <a:t>): already </a:t>
                </a:r>
                <a:r>
                  <a:rPr lang="en-IN" sz="2400">
                    <a:solidFill>
                      <a:srgbClr val="111827"/>
                    </a:solidFill>
                    <a:latin typeface="Cambria Math" panose="02040503050406030204" pitchFamily="18" charset="0"/>
                  </a:rPr>
                  <a:t>$3$</a:t>
                </a:r>
                <a:r>
                  <a:rPr sz="2400" b="0">
                    <a:solidFill>
                      <a:srgbClr val="111827"/>
                    </a:solidFill>
                    <a:latin typeface="Arial"/>
                  </a:rPr>
                  <a:t> eaten. Contribution </a:t>
                </a:r>
                <a:r>
                  <a:rPr lang="en-IN" sz="2400">
                    <a:solidFill>
                      <a:srgbClr val="111827"/>
                    </a:solidFill>
                    <a:latin typeface="Cambria Math" panose="02040503050406030204" pitchFamily="18" charset="0"/>
                  </a:rPr>
                  <a:t>$\frac{64}{256}$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$k=2$</a:t>
                </a:r>
                <a:r>
                  <a:rPr sz="2400" b="0">
                    <a:solidFill>
                      <a:srgbClr val="111827"/>
                    </a:solidFill>
                    <a:latin typeface="Arial"/>
                  </a:rPr>
                  <a:t> (prob </a:t>
                </a:r>
                <a:r>
                  <a:rPr lang="en-IN" sz="2400">
                    <a:solidFill>
                      <a:srgbClr val="111827"/>
                    </a:solidFill>
                    <a:latin typeface="Cambria Math" panose="02040503050406030204" pitchFamily="18" charset="0"/>
                  </a:rPr>
                  <a:t>$\frac6{16}$</a:t>
                </a:r>
                <a:r>
                  <a:rPr sz="2400" b="0">
                    <a:solidFill>
                      <a:srgbClr val="111827"/>
                    </a:solidFill>
                    <a:latin typeface="Arial"/>
                  </a:rPr>
                  <a:t>): need at least </a:t>
                </a:r>
                <a:r>
                  <a:rPr lang="en-IN" sz="2400">
                    <a:solidFill>
                      <a:srgbClr val="111827"/>
                    </a:solidFill>
                    <a:latin typeface="Cambria Math" panose="02040503050406030204" pitchFamily="18" charset="0"/>
                  </a:rPr>
                  <a:t>$1$</a:t>
                </a:r>
                <a:r>
                  <a:rPr sz="2400" b="0">
                    <a:solidFill>
                      <a:srgbClr val="111827"/>
                    </a:solidFill>
                    <a:latin typeface="Arial"/>
                  </a:rPr>
                  <a:t> tail from </a:t>
                </a:r>
                <a:r>
                  <a:rPr lang="en-IN" sz="2400">
                    <a:solidFill>
                      <a:srgbClr val="111827"/>
                    </a:solidFill>
                    <a:latin typeface="Cambria Math" panose="02040503050406030204" pitchFamily="18" charset="0"/>
                  </a:rPr>
                  <a:t>$2$</a:t>
                </a:r>
                <a:r>
                  <a:rPr sz="2400" b="0">
                    <a:solidFill>
                      <a:srgbClr val="111827"/>
                    </a:solidFill>
                    <a:latin typeface="Arial"/>
                  </a:rPr>
                  <a:t> coins: </a:t>
                </a:r>
                <a:r>
                  <a:rPr lang="en-IN" sz="2400">
                    <a:solidFill>
                      <a:srgbClr val="111827"/>
                    </a:solidFill>
                    <a:latin typeface="Cambria Math" panose="02040503050406030204" pitchFamily="18" charset="0"/>
                  </a:rPr>
                  <a:t>$\frac34$</a:t>
                </a:r>
                <a:r>
                  <a:rPr sz="2400" b="0">
                    <a:solidFill>
                      <a:srgbClr val="111827"/>
                    </a:solidFill>
                    <a:latin typeface="Arial"/>
                  </a:rPr>
                  <a:t>. Contribution </a:t>
                </a:r>
                <a:r>
                  <a:rPr lang="en-IN" sz="2400">
                    <a:solidFill>
                      <a:srgbClr val="111827"/>
                    </a:solidFill>
                    <a:latin typeface="Cambria Math" panose="02040503050406030204" pitchFamily="18" charset="0"/>
                  </a:rPr>
                  <a:t>$\frac6{16}\cdot\frac34=\frac{72}{256}$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(prob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16</m:t>
                        </m:r>
                      </m:den>
                    </m:f>
                  </m:oMath>
                </a14:m>
                <a:r>
                  <a:rPr sz="2400" b="0">
                    <a:solidFill>
                      <a:srgbClr val="111827"/>
                    </a:solidFill>
                    <a:latin typeface="Arial"/>
                  </a:rPr>
                  <a:t>): need at least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tails from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coins: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Contribution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32</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(prob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m:t>
                        </m:r>
                      </m:den>
                    </m:f>
                  </m:oMath>
                </a14:m>
                <a:r>
                  <a:rPr sz="2400" b="0">
                    <a:solidFill>
                      <a:srgbClr val="111827"/>
                    </a:solidFill>
                    <a:latin typeface="Arial"/>
                  </a:rPr>
                  <a:t>): need at least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tails from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coins: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16</m:t>
                        </m:r>
                      </m:den>
                    </m:f>
                  </m:oMath>
                </a14:m>
                <a:r>
                  <a:rPr sz="2400" b="0">
                    <a:solidFill>
                      <a:srgbClr val="111827"/>
                    </a:solidFill>
                    <a:latin typeface="Arial"/>
                  </a:rPr>
                  <a:t>. Contribution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256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189</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 matching the direct method.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$k=1$</a:t>
                </a:r>
                <a:r>
                  <a:rPr sz="2400" b="0">
                    <a:solidFill>
                      <a:srgbClr val="111827"/>
                    </a:solidFill>
                    <a:latin typeface="Arial"/>
                  </a:rPr>
                  <a:t> (prob </a:t>
                </a:r>
                <a:r>
                  <a:rPr lang="en-IN" sz="2400">
                    <a:solidFill>
                      <a:srgbClr val="111827"/>
                    </a:solidFill>
                    <a:latin typeface="Cambria Math" panose="02040503050406030204" pitchFamily="18" charset="0"/>
                  </a:rPr>
                  <a:t>$\frac4{16}$</a:t>
                </a:r>
                <a:r>
                  <a:rPr sz="2400" b="0">
                    <a:solidFill>
                      <a:srgbClr val="111827"/>
                    </a:solidFill>
                    <a:latin typeface="Arial"/>
                  </a:rPr>
                  <a:t>): need at least </a:t>
                </a:r>
                <a:r>
                  <a:rPr lang="en-IN" sz="2400">
                    <a:solidFill>
                      <a:srgbClr val="111827"/>
                    </a:solidFill>
                    <a:latin typeface="Cambria Math" panose="02040503050406030204" pitchFamily="18" charset="0"/>
                  </a:rPr>
                  <a:t>$2$</a:t>
                </a:r>
                <a:r>
                  <a:rPr sz="2400" b="0">
                    <a:solidFill>
                      <a:srgbClr val="111827"/>
                    </a:solidFill>
                    <a:latin typeface="Arial"/>
                  </a:rPr>
                  <a:t> tails from </a:t>
                </a:r>
                <a:r>
                  <a:rPr lang="en-IN" sz="2400">
                    <a:solidFill>
                      <a:srgbClr val="111827"/>
                    </a:solidFill>
                    <a:latin typeface="Cambria Math" panose="02040503050406030204" pitchFamily="18" charset="0"/>
                  </a:rPr>
                  <a:t>$3$</a:t>
                </a:r>
                <a:r>
                  <a:rPr sz="2400" b="0">
                    <a:solidFill>
                      <a:srgbClr val="111827"/>
                    </a:solidFill>
                    <a:latin typeface="Arial"/>
                  </a:rPr>
                  <a:t> coins: </a:t>
                </a:r>
                <a:r>
                  <a:rPr lang="en-IN" sz="2400">
                    <a:solidFill>
                      <a:srgbClr val="111827"/>
                    </a:solidFill>
                    <a:latin typeface="Cambria Math" panose="02040503050406030204" pitchFamily="18" charset="0"/>
                  </a:rPr>
                  <a:t>$\frac48=\frac12$</a:t>
                </a:r>
                <a:r>
                  <a:rPr sz="2400" b="0">
                    <a:solidFill>
                      <a:srgbClr val="111827"/>
                    </a:solidFill>
                    <a:latin typeface="Arial"/>
                  </a:rPr>
                  <a:t>. Contribution </a:t>
                </a:r>
                <a:r>
                  <a:rPr lang="en-IN" sz="2400">
                    <a:solidFill>
                      <a:srgbClr val="111827"/>
                    </a:solidFill>
                    <a:latin typeface="Cambria Math" panose="02040503050406030204" pitchFamily="18" charset="0"/>
                  </a:rPr>
                  <a:t>$\frac{32}{256}$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$k=0$</a:t>
                </a:r>
                <a:r>
                  <a:rPr sz="2400" b="0">
                    <a:solidFill>
                      <a:srgbClr val="111827"/>
                    </a:solidFill>
                    <a:latin typeface="Arial"/>
                  </a:rPr>
                  <a:t> (prob </a:t>
                </a:r>
                <a:r>
                  <a:rPr lang="en-IN" sz="2400">
                    <a:solidFill>
                      <a:srgbClr val="111827"/>
                    </a:solidFill>
                    <a:latin typeface="Cambria Math" panose="02040503050406030204" pitchFamily="18" charset="0"/>
                  </a:rPr>
                  <a:t>$\frac1{16}$</a:t>
                </a:r>
                <a:r>
                  <a:rPr sz="2400" b="0">
                    <a:solidFill>
                      <a:srgbClr val="111827"/>
                    </a:solidFill>
                    <a:latin typeface="Arial"/>
                  </a:rPr>
                  <a:t>): need at least </a:t>
                </a:r>
                <a:r>
                  <a:rPr lang="en-IN" sz="2400">
                    <a:solidFill>
                      <a:srgbClr val="111827"/>
                    </a:solidFill>
                    <a:latin typeface="Cambria Math" panose="02040503050406030204" pitchFamily="18" charset="0"/>
                  </a:rPr>
                  <a:t>$3$</a:t>
                </a:r>
                <a:r>
                  <a:rPr sz="2400" b="0">
                    <a:solidFill>
                      <a:srgbClr val="111827"/>
                    </a:solidFill>
                    <a:latin typeface="Arial"/>
                  </a:rPr>
                  <a:t> tails from </a:t>
                </a:r>
                <a:r>
                  <a:rPr lang="en-IN" sz="2400">
                    <a:solidFill>
                      <a:srgbClr val="111827"/>
                    </a:solidFill>
                    <a:latin typeface="Cambria Math" panose="02040503050406030204" pitchFamily="18" charset="0"/>
                  </a:rPr>
                  <a:t>$4$</a:t>
                </a:r>
                <a:r>
                  <a:rPr sz="2400" b="0">
                    <a:solidFill>
                      <a:srgbClr val="111827"/>
                    </a:solidFill>
                    <a:latin typeface="Arial"/>
                  </a:rPr>
                  <a:t> coins: </a:t>
                </a:r>
                <a:r>
                  <a:rPr lang="en-IN" sz="2400">
                    <a:solidFill>
                      <a:srgbClr val="111827"/>
                    </a:solidFill>
                    <a:latin typeface="Cambria Math" panose="02040503050406030204" pitchFamily="18" charset="0"/>
                  </a:rPr>
                  <a:t>$\frac5{16}$</a:t>
                </a:r>
                <a:r>
                  <a:rPr sz="2400" b="0">
                    <a:solidFill>
                      <a:srgbClr val="111827"/>
                    </a:solidFill>
                    <a:latin typeface="Arial"/>
                  </a:rPr>
                  <a:t>. Contribution </a:t>
                </a:r>
                <a:r>
                  <a:rPr lang="en-IN" sz="2400">
                    <a:solidFill>
                      <a:srgbClr val="111827"/>
                    </a:solidFill>
                    <a:latin typeface="Cambria Math" panose="02040503050406030204" pitchFamily="18" charset="0"/>
                  </a:rPr>
                  <a:t>$\frac5{256}$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$=\frac{16+64+72+32+5}{256}=\frac{189}{256}$</a:t>
                </a:r>
                <a:r>
                  <a:rPr sz="2400" b="0">
                    <a:solidFill>
                      <a:srgbClr val="111827"/>
                    </a:solidFill>
                    <a:latin typeface="Arial"/>
                  </a:rPr>
                  <a:t>, matching the direct method.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D)</a:t>
            </a:r>
            <a:endParaRPr sz="2800">
              <a:solidFill>
                <a:srgbClr val="15803D"/>
              </a:solidFill>
            </a:endParaRP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 process gives every object two independent 'chances' with probabilities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each object survives with probability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count is then a single binomial.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multi-stage elimination of independent coins collapses to one stage: number eaten </a:t>
                </a:r>
                <a14:m>
                  <m:oMath xmlns:m="http://schemas.openxmlformats.org/officeDocument/2006/math">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𝐵𝑖𝑛</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least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with success probability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4</m:t>
                        </m:r>
                      </m:sup>
                    </m:sSup>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189</m:t>
                        </m:r>
                      </m:num>
                      <m:den>
                        <m:r>
                          <a:rPr lang="en-IN" sz="2400" i="1">
                            <a:solidFill>
                              <a:srgbClr val="111827"/>
                            </a:solidFill>
                            <a:latin typeface="Cambria Math" panose="02040503050406030204" pitchFamily="18" charset="0"/>
                          </a:rPr>
                          <m:t>256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𝑃</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 process gives every object two independent 'chances' with probabilities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each object survives with probability </a:t>
                </a:r>
                <a:r>
                  <a:rPr lang="en-IN" sz="2400">
                    <a:solidFill>
                      <a:srgbClr val="111827"/>
                    </a:solidFill>
                    <a:latin typeface="Cambria Math" panose="02040503050406030204" pitchFamily="18" charset="0"/>
                  </a:rPr>
                  <a:t>$(1-a)(1-b)$</a:t>
                </a:r>
                <a:r>
                  <a:rPr sz="2400" b="0">
                    <a:solidFill>
                      <a:srgbClr val="111827"/>
                    </a:solidFill>
                    <a:latin typeface="Arial"/>
                  </a:rPr>
                  <a:t>; the count is then a single binomial.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multi-stage elimination of independent coins collapses to one stage: number eaten </a:t>
                </a:r>
                <a:r>
                  <a:rPr lang="en-IN" sz="2400">
                    <a:solidFill>
                      <a:srgbClr val="111827"/>
                    </a:solidFill>
                    <a:latin typeface="Cambria Math" panose="02040503050406030204" pitchFamily="18" charset="0"/>
                  </a:rPr>
                  <a:t>$\sim\text{Bin}\left(n,1-(1-p_1)(1-p_2)\right)$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least </a:t>
                </a:r>
                <a:r>
                  <a:rPr lang="en-IN" sz="2400">
                    <a:solidFill>
                      <a:srgbClr val="111827"/>
                    </a:solidFill>
                    <a:latin typeface="Cambria Math" panose="02040503050406030204" pitchFamily="18" charset="0"/>
                  </a:rPr>
                  <a:t>$3$</a:t>
                </a:r>
                <a:r>
                  <a:rPr sz="2400" b="0">
                    <a:solidFill>
                      <a:srgbClr val="111827"/>
                    </a:solidFill>
                    <a:latin typeface="Arial"/>
                  </a:rPr>
                  <a:t> of </a:t>
                </a:r>
                <a:r>
                  <a:rPr lang="en-IN" sz="2400">
                    <a:solidFill>
                      <a:srgbClr val="111827"/>
                    </a:solidFill>
                    <a:latin typeface="Cambria Math" panose="02040503050406030204" pitchFamily="18" charset="0"/>
                  </a:rPr>
                  <a:t>$4$</a:t>
                </a:r>
                <a:r>
                  <a:rPr sz="2400" b="0">
                    <a:solidFill>
                      <a:srgbClr val="111827"/>
                    </a:solidFill>
                    <a:latin typeface="Arial"/>
                  </a:rPr>
                  <a:t> with success probability </a:t>
                </a:r>
                <a:r>
                  <a:rPr lang="en-IN" sz="2400">
                    <a:solidFill>
                      <a:srgbClr val="111827"/>
                    </a:solidFill>
                    <a:latin typeface="Cambria Math" panose="02040503050406030204" pitchFamily="18" charset="0"/>
                  </a:rPr>
                  <a:t>$s$</a:t>
                </a:r>
                <a:r>
                  <a:rPr sz="2400" b="0">
                    <a:solidFill>
                      <a:srgbClr val="111827"/>
                    </a:solidFill>
                    <a:latin typeface="Arial"/>
                  </a:rPr>
                  <a:t>: </a:t>
                </a:r>
                <a:r>
                  <a:rPr lang="en-IN" sz="2400">
                    <a:solidFill>
                      <a:srgbClr val="111827"/>
                    </a:solidFill>
                    <a:latin typeface="Cambria Math" panose="02040503050406030204" pitchFamily="18" charset="0"/>
                  </a:rPr>
                  <a:t>$4s^3(1-s)+s^4$</a:t>
                </a:r>
                <a:r>
                  <a:rPr sz="2400" b="0">
                    <a:solidFill>
                      <a:srgbClr val="111827"/>
                    </a:solidFill>
                    <a:latin typeface="Arial"/>
                  </a:rPr>
                  <a:t>; here </a:t>
                </a:r>
                <a:r>
                  <a:rPr lang="en-IN" sz="2400">
                    <a:solidFill>
                      <a:srgbClr val="111827"/>
                    </a:solidFill>
                    <a:latin typeface="Cambria Math" panose="02040503050406030204" pitchFamily="18" charset="0"/>
                  </a:rPr>
                  <a:t>$s=\frac34$</a:t>
                </a:r>
                <a:r>
                  <a:rPr sz="2400" b="0">
                    <a:solidFill>
                      <a:srgbClr val="111827"/>
                    </a:solidFill>
                    <a:latin typeface="Arial"/>
                  </a:rPr>
                  <a:t> gives </a:t>
                </a:r>
                <a:r>
                  <a:rPr lang="en-IN" sz="2400">
                    <a:solidFill>
                      <a:srgbClr val="111827"/>
                    </a:solidFill>
                    <a:latin typeface="Cambria Math" panose="02040503050406030204" pitchFamily="18" charset="0"/>
                  </a:rPr>
                  <a:t>$\frac{189}{256}$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$\sum_{k}P(X=k)=\left(\frac14+\frac34\right)^4=1$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155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then the locus of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 is equivalent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31155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$|z|=1$</a:t>
                </a:r>
                <a:r>
                  <a:rPr sz="2400" b="0">
                    <a:solidFill>
                      <a:srgbClr val="111827"/>
                    </a:solidFill>
                    <a:latin typeface="Arial"/>
                  </a:rPr>
                  <a:t> and </a:t>
                </a:r>
                <a:r>
                  <a:rPr lang="en-IN" sz="2400">
                    <a:solidFill>
                      <a:srgbClr val="111827"/>
                    </a:solidFill>
                    <a:latin typeface="Cambria Math" panose="02040503050406030204" pitchFamily="18" charset="0"/>
                  </a:rPr>
                  <a:t>$\omega=\frac{(1-z)^2}{1-z^2}$</a:t>
                </a:r>
                <a:r>
                  <a:rPr sz="2400" b="0">
                    <a:solidFill>
                      <a:srgbClr val="111827"/>
                    </a:solidFill>
                    <a:latin typeface="Arial"/>
                  </a:rPr>
                  <a:t>, then the locus of </a:t>
                </a:r>
                <a:r>
                  <a:rPr lang="en-IN" sz="2400">
                    <a:solidFill>
                      <a:srgbClr val="111827"/>
                    </a:solidFill>
                    <a:latin typeface="Cambria Math" panose="02040503050406030204" pitchFamily="18" charset="0"/>
                  </a:rPr>
                  <a:t>$\omega$</a:t>
                </a:r>
                <a:r>
                  <a:rPr sz="2400" b="0">
                    <a:solidFill>
                      <a:srgbClr val="111827"/>
                    </a:solidFill>
                    <a:latin typeface="Arial"/>
                  </a:rPr>
                  <a:t> is equivalent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$|z-2-4i|=|z-2+4i|$</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$|z-3+4i|=|z+3+4i|$</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$|z-2|=|z+2|$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$\left||z-i|-|z+i|\right|=2$</a:t>
                </a:r>
                <a:endParaRPr sz="2400">
                  <a:solidFill>
                    <a:srgbClr val="111827"/>
                  </a:solidFill>
                </a:endParaRPr>
              </a:p>
            </p:txBody>
          </p:sp>
        </mc:Fallback>
      </mc:AlternateContent>
      <p:sp>
        <p:nvSpPr>
          <p:cNvPr id="5" name="Rectangle 4"/>
          <p:cNvSpPr/>
          <p:nvPr/>
        </p:nvSpPr>
        <p:spPr>
          <a:xfrm>
            <a:off x="731520" y="4624323"/>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conjugate and locus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On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oMath>
                </a14:m>
                <a:r>
                  <a:rPr sz="2400" b="0">
                    <a:solidFill>
                      <a:srgbClr val="78350F"/>
                    </a:solidFill>
                    <a:latin typeface="Arial"/>
                  </a:rPr>
                  <a:t> makes </a:t>
                </a:r>
                <a14:m>
                  <m:oMath xmlns:m="http://schemas.openxmlformats.org/officeDocument/2006/math">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num>
                      <m:den>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den>
                    </m:f>
                  </m:oMath>
                </a14:m>
                <a:r>
                  <a:rPr sz="2400" b="0">
                    <a:solidFill>
                      <a:srgbClr val="78350F"/>
                    </a:solidFill>
                    <a:latin typeface="Arial"/>
                  </a:rPr>
                  <a:t> purely imaginary, and it covers the whole imaginary axis.</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On </a:t>
                </a:r>
                <a:r>
                  <a:rPr lang="en-IN" sz="2400">
                    <a:solidFill>
                      <a:srgbClr val="78350F"/>
                    </a:solidFill>
                    <a:latin typeface="Cambria Math" panose="02040503050406030204" pitchFamily="18" charset="0"/>
                  </a:rPr>
                  <a:t>$|z|=1$</a:t>
                </a:r>
                <a:r>
                  <a:rPr sz="2400" b="0">
                    <a:solidFill>
                      <a:srgbClr val="78350F"/>
                    </a:solidFill>
                    <a:latin typeface="Arial"/>
                  </a:rPr>
                  <a:t>, </a:t>
                </a:r>
                <a:r>
                  <a:rPr lang="en-IN" sz="2400">
                    <a:solidFill>
                      <a:srgbClr val="78350F"/>
                    </a:solidFill>
                    <a:latin typeface="Cambria Math" panose="02040503050406030204" pitchFamily="18" charset="0"/>
                  </a:rPr>
                  <a:t>$\bar z=1/z$</a:t>
                </a:r>
                <a:r>
                  <a:rPr sz="2400" b="0">
                    <a:solidFill>
                      <a:srgbClr val="78350F"/>
                    </a:solidFill>
                    <a:latin typeface="Arial"/>
                  </a:rPr>
                  <a:t> makes </a:t>
                </a:r>
                <a:r>
                  <a:rPr lang="en-IN" sz="2400">
                    <a:solidFill>
                      <a:srgbClr val="78350F"/>
                    </a:solidFill>
                    <a:latin typeface="Cambria Math" panose="02040503050406030204" pitchFamily="18" charset="0"/>
                  </a:rPr>
                  <a:t>$\omega=\frac{1-z}{1+z}$</a:t>
                </a:r>
                <a:r>
                  <a:rPr sz="2400" b="0">
                    <a:solidFill>
                      <a:srgbClr val="78350F"/>
                    </a:solidFill>
                    <a:latin typeface="Arial"/>
                  </a:rPr>
                  <a:t> purely imaginary, and it covers the whole imaginary axis.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numerator and denominator by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and use </a:t>
                </a:r>
                <a14:m>
                  <m:oMath xmlns:m="http://schemas.openxmlformats.org/officeDocument/2006/math">
                    <m:r>
                      <a:rPr lang="en-IN" sz="2400" i="1">
                        <a:solidFill>
                          <a:srgbClr val="111827"/>
                        </a:solidFill>
                        <a:latin typeface="Cambria Math" panose="02040503050406030204" pitchFamily="18" charset="0"/>
                      </a:rPr>
                      <m:t>𝑧</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ω</m:t>
                        </m:r>
                      </m:e>
                    </m:acc>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$1-z^2=(1-z)(1+z)$</a:t>
                </a:r>
                <a:r>
                  <a:rPr sz="2400" b="0">
                    <a:solidFill>
                      <a:srgbClr val="111827"/>
                    </a:solidFill>
                    <a:latin typeface="Arial"/>
                  </a:rPr>
                  <a:t>, </a:t>
                </a:r>
                <a:r>
                  <a:rPr lang="en-IN" sz="2400">
                    <a:solidFill>
                      <a:srgbClr val="111827"/>
                    </a:solidFill>
                    <a:latin typeface="Cambria Math" panose="02040503050406030204" pitchFamily="18" charset="0"/>
                  </a:rPr>
                  <a:t>$\omega=\frac{(1-z)^2}{(1-z)(1+z)}=\frac{1-z}{1+z}$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numerator and denominator by </a:t>
                </a:r>
                <a:r>
                  <a:rPr lang="en-IN" sz="2400">
                    <a:solidFill>
                      <a:srgbClr val="111827"/>
                    </a:solidFill>
                    <a:latin typeface="Cambria Math" panose="02040503050406030204" pitchFamily="18" charset="0"/>
                  </a:rPr>
                  <a:t>$\bar z$</a:t>
                </a:r>
                <a:r>
                  <a:rPr sz="2400" b="0">
                    <a:solidFill>
                      <a:srgbClr val="111827"/>
                    </a:solidFill>
                    <a:latin typeface="Arial"/>
                  </a:rPr>
                  <a:t> and use </a:t>
                </a:r>
                <a:r>
                  <a:rPr lang="en-IN" sz="2400">
                    <a:solidFill>
                      <a:srgbClr val="111827"/>
                    </a:solidFill>
                    <a:latin typeface="Cambria Math" panose="02040503050406030204" pitchFamily="18" charset="0"/>
                  </a:rPr>
                  <a:t>$z\bar z=1$</a:t>
                </a:r>
                <a:r>
                  <a:rPr sz="2400" b="0">
                    <a:solidFill>
                      <a:srgbClr val="111827"/>
                    </a:solidFill>
                    <a:latin typeface="Arial"/>
                  </a:rPr>
                  <a:t> (as </a:t>
                </a:r>
                <a:r>
                  <a:rPr lang="en-IN" sz="2400">
                    <a:solidFill>
                      <a:srgbClr val="111827"/>
                    </a:solidFill>
                    <a:latin typeface="Cambria Math" panose="02040503050406030204" pitchFamily="18" charset="0"/>
                  </a:rPr>
                  <a:t>$|z|=1$</a:t>
                </a:r>
                <a:r>
                  <a:rPr sz="2400" b="0">
                    <a:solidFill>
                      <a:srgbClr val="111827"/>
                    </a:solidFill>
                    <a:latin typeface="Arial"/>
                  </a:rPr>
                  <a:t>): </a:t>
                </a:r>
                <a:r>
                  <a:rPr lang="en-IN" sz="2400">
                    <a:solidFill>
                      <a:srgbClr val="111827"/>
                    </a:solidFill>
                    <a:latin typeface="Cambria Math" panose="02040503050406030204" pitchFamily="18" charset="0"/>
                  </a:rPr>
                  <a:t>$\omega=\frac{(1-z)\bar z}{(1+z)\bar z}=\frac{\bar z-1}{\bar z+1}$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$\frac{\bar z-1}{\bar z+1}=-\frac{1-\bar z}{1+\bar z}=-\bar\omega$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ω</m:t>
                        </m:r>
                      </m:e>
                    </m:acc>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ω</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 is purely imaginary and lies on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Writing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takes every imaginary value, so the locus is the whole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(the point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excluded from the domain).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on the perpendicular bisector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is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not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$\omega=-\bar\omega$</a:t>
                </a:r>
                <a:r>
                  <a:rPr sz="2400" b="0">
                    <a:solidFill>
                      <a:srgbClr val="111827"/>
                    </a:solidFill>
                    <a:latin typeface="Arial"/>
                  </a:rPr>
                  <a:t>, i.e. </a:t>
                </a:r>
                <a:r>
                  <a:rPr lang="en-IN" sz="2400">
                    <a:solidFill>
                      <a:srgbClr val="111827"/>
                    </a:solidFill>
                    <a:latin typeface="Cambria Math" panose="02040503050406030204" pitchFamily="18" charset="0"/>
                  </a:rPr>
                  <a:t>$\omega+\bar\omega=0$</a:t>
                </a:r>
                <a:r>
                  <a:rPr sz="2400" b="0">
                    <a:solidFill>
                      <a:srgbClr val="111827"/>
                    </a:solidFill>
                    <a:latin typeface="Arial"/>
                  </a:rPr>
                  <a:t>: </a:t>
                </a:r>
                <a:r>
                  <a:rPr lang="en-IN" sz="2400">
                    <a:solidFill>
                      <a:srgbClr val="111827"/>
                    </a:solidFill>
                    <a:latin typeface="Cambria Math" panose="02040503050406030204" pitchFamily="18" charset="0"/>
                  </a:rPr>
                  <a:t>$\omega$</a:t>
                </a:r>
                <a:r>
                  <a:rPr sz="2400" b="0">
                    <a:solidFill>
                      <a:srgbClr val="111827"/>
                    </a:solidFill>
                    <a:latin typeface="Arial"/>
                  </a:rPr>
                  <a:t> is purely imaginary and lies on the </a:t>
                </a:r>
                <a:r>
                  <a:rPr lang="en-IN" sz="2400">
                    <a:solidFill>
                      <a:srgbClr val="111827"/>
                    </a:solidFill>
                    <a:latin typeface="Cambria Math" panose="02040503050406030204" pitchFamily="18" charset="0"/>
                  </a:rPr>
                  <a:t>$y$</a:t>
                </a:r>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Writing </a:t>
                </a:r>
                <a:r>
                  <a:rPr lang="en-IN" sz="2400">
                    <a:solidFill>
                      <a:srgbClr val="111827"/>
                    </a:solidFill>
                    <a:latin typeface="Cambria Math" panose="02040503050406030204" pitchFamily="18" charset="0"/>
                  </a:rPr>
                  <a:t>$z=e^{i\theta}$</a:t>
                </a:r>
                <a:r>
                  <a:rPr sz="2400" b="0">
                    <a:solidFill>
                      <a:srgbClr val="111827"/>
                    </a:solidFill>
                    <a:latin typeface="Arial"/>
                  </a:rPr>
                  <a:t>, </a:t>
                </a:r>
                <a:r>
                  <a:rPr lang="en-IN" sz="2400">
                    <a:solidFill>
                      <a:srgbClr val="111827"/>
                    </a:solidFill>
                    <a:latin typeface="Cambria Math" panose="02040503050406030204" pitchFamily="18" charset="0"/>
                  </a:rPr>
                  <a:t>$\omega=-i\tan\frac\theta2$</a:t>
                </a:r>
                <a:r>
                  <a:rPr sz="2400" b="0">
                    <a:solidFill>
                      <a:srgbClr val="111827"/>
                    </a:solidFill>
                    <a:latin typeface="Arial"/>
                  </a:rPr>
                  <a:t> takes every imaginary value, so the locus is the whole </a:t>
                </a:r>
                <a:r>
                  <a:rPr lang="en-IN" sz="2400">
                    <a:solidFill>
                      <a:srgbClr val="111827"/>
                    </a:solidFill>
                    <a:latin typeface="Cambria Math" panose="02040503050406030204" pitchFamily="18" charset="0"/>
                  </a:rPr>
                  <a:t>$y$</a:t>
                </a:r>
                <a:r>
                  <a:rPr sz="2400" b="0">
                    <a:solidFill>
                      <a:srgbClr val="111827"/>
                    </a:solidFill>
                    <a:latin typeface="Arial"/>
                  </a:rPr>
                  <a:t>-axis (the point </a:t>
                </a:r>
                <a:r>
                  <a:rPr lang="en-IN" sz="2400">
                    <a:solidFill>
                      <a:srgbClr val="111827"/>
                    </a:solidFill>
                    <a:latin typeface="Cambria Math" panose="02040503050406030204" pitchFamily="18" charset="0"/>
                  </a:rPr>
                  <a:t>$z=-1$</a:t>
                </a:r>
                <a:r>
                  <a:rPr sz="2400" b="0">
                    <a:solidFill>
                      <a:srgbClr val="111827"/>
                    </a:solidFill>
                    <a:latin typeface="Arial"/>
                  </a:rPr>
                  <a:t> is excluded from the domain).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$z$</a:t>
                </a:r>
                <a:r>
                  <a:rPr sz="2400" b="0">
                    <a:solidFill>
                      <a:srgbClr val="111827"/>
                    </a:solidFill>
                    <a:latin typeface="Arial"/>
                  </a:rPr>
                  <a:t> on the perpendicular bisector of </a:t>
                </a:r>
                <a:r>
                  <a:rPr lang="en-IN" sz="2400">
                    <a:solidFill>
                      <a:srgbClr val="111827"/>
                    </a:solidFill>
                    <a:latin typeface="Cambria Math" panose="02040503050406030204" pitchFamily="18" charset="0"/>
                  </a:rPr>
                  <a:t>$(2,4)$</a:t>
                </a:r>
                <a:r>
                  <a:rPr sz="2400" b="0">
                    <a:solidFill>
                      <a:srgbClr val="111827"/>
                    </a:solidFill>
                    <a:latin typeface="Arial"/>
                  </a:rPr>
                  <a:t> and </a:t>
                </a:r>
                <a:r>
                  <a:rPr lang="en-IN" sz="2400">
                    <a:solidFill>
                      <a:srgbClr val="111827"/>
                    </a:solidFill>
                    <a:latin typeface="Cambria Math" panose="02040503050406030204" pitchFamily="18" charset="0"/>
                  </a:rPr>
                  <a:t>$(2,-4)$</a:t>
                </a:r>
                <a:r>
                  <a:rPr sz="2400" b="0">
                    <a:solidFill>
                      <a:srgbClr val="111827"/>
                    </a:solidFill>
                    <a:latin typeface="Arial"/>
                  </a:rPr>
                  <a:t>, which is the </a:t>
                </a:r>
                <a:r>
                  <a:rPr lang="en-IN" sz="2400">
                    <a:solidFill>
                      <a:srgbClr val="111827"/>
                    </a:solidFill>
                    <a:latin typeface="Cambria Math" panose="02040503050406030204" pitchFamily="18" charset="0"/>
                  </a:rPr>
                  <a:t>$x$</a:t>
                </a:r>
                <a:r>
                  <a:rPr sz="2400" b="0">
                    <a:solidFill>
                      <a:srgbClr val="111827"/>
                    </a:solidFill>
                    <a:latin typeface="Arial"/>
                  </a:rPr>
                  <a:t>-axis: not the </a:t>
                </a:r>
                <a:r>
                  <a:rPr lang="en-IN" sz="2400">
                    <a:solidFill>
                      <a:srgbClr val="111827"/>
                    </a:solidFill>
                    <a:latin typeface="Cambria Math" panose="02040503050406030204" pitchFamily="18" charset="0"/>
                  </a:rPr>
                  <a:t>$y$</a:t>
                </a:r>
                <a:r>
                  <a:rPr sz="2400" b="0">
                    <a:solidFill>
                      <a:srgbClr val="111827"/>
                    </a:solidFill>
                    <a:latin typeface="Arial"/>
                  </a:rPr>
                  <a:t>-axis.</a:t>
                </a:r>
                <a:endParaRPr sz="2400">
                  <a:solidFill>
                    <a:srgbClr val="111827"/>
                  </a:solidFill>
                </a:endParaRPr>
              </a:p>
            </p:txBody>
          </p:sp>
        </mc:Fallback>
      </mc:AlternateContent>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Perpendicular bisector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Perpendicular bisector of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for </a:t>
                </a:r>
                <a14:m>
                  <m:oMath xmlns:m="http://schemas.openxmlformats.org/officeDocument/2006/math">
                    <m:sSub>
                      <m:e>
                        <m:r>
                          <a:rPr lang="en-IN" sz="2400" i="1">
                            <a:solidFill>
                              <a:srgbClr val="111827"/>
                            </a:solidFill>
                            <a:latin typeface="Cambria Math" panose="02040503050406030204" pitchFamily="18" charset="0"/>
                          </a:rPr>
                          <m:t>𝐹</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only the two rays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of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not the complete axis: false. Answer: (B),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Perpendicular bisector of </a:t>
                </a:r>
                <a:r>
                  <a:rPr lang="en-IN" sz="2400">
                    <a:solidFill>
                      <a:srgbClr val="111827"/>
                    </a:solidFill>
                    <a:latin typeface="Cambria Math" panose="02040503050406030204" pitchFamily="18" charset="0"/>
                  </a:rPr>
                  <a:t>$(3,-4)$</a:t>
                </a:r>
                <a:r>
                  <a:rPr sz="2400" b="0">
                    <a:solidFill>
                      <a:srgbClr val="111827"/>
                    </a:solidFill>
                    <a:latin typeface="Arial"/>
                  </a:rPr>
                  <a:t> and </a:t>
                </a:r>
                <a:r>
                  <a:rPr lang="en-IN" sz="2400">
                    <a:solidFill>
                      <a:srgbClr val="111827"/>
                    </a:solidFill>
                    <a:latin typeface="Cambria Math" panose="02040503050406030204" pitchFamily="18" charset="0"/>
                  </a:rPr>
                  <a:t>$(-3,-4)$</a:t>
                </a:r>
                <a:r>
                  <a:rPr sz="2400" b="0">
                    <a:solidFill>
                      <a:srgbClr val="111827"/>
                    </a:solidFill>
                    <a:latin typeface="Arial"/>
                  </a:rPr>
                  <a:t> is the </a:t>
                </a:r>
                <a:r>
                  <a:rPr lang="en-IN" sz="2400">
                    <a:solidFill>
                      <a:srgbClr val="111827"/>
                    </a:solidFill>
                    <a:latin typeface="Cambria Math" panose="02040503050406030204" pitchFamily="18" charset="0"/>
                  </a:rPr>
                  <a:t>$y$</a:t>
                </a:r>
                <a:r>
                  <a:rPr sz="2400" b="0">
                    <a:solidFill>
                      <a:srgbClr val="111827"/>
                    </a:solidFill>
                    <a:latin typeface="Arial"/>
                  </a:rPr>
                  <a:t>-axis: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Perpendicular bisector of </a:t>
                </a:r>
                <a:r>
                  <a:rPr lang="en-IN" sz="2400">
                    <a:solidFill>
                      <a:srgbClr val="111827"/>
                    </a:solidFill>
                    <a:latin typeface="Cambria Math" panose="02040503050406030204" pitchFamily="18" charset="0"/>
                  </a:rPr>
                  <a:t>$(-2,0)$</a:t>
                </a:r>
                <a:r>
                  <a:rPr sz="2400" b="0">
                    <a:solidFill>
                      <a:srgbClr val="111827"/>
                    </a:solidFill>
                    <a:latin typeface="Arial"/>
                  </a:rPr>
                  <a:t> and </a:t>
                </a:r>
                <a:r>
                  <a:rPr lang="en-IN" sz="2400">
                    <a:solidFill>
                      <a:srgbClr val="111827"/>
                    </a:solidFill>
                    <a:latin typeface="Cambria Math" panose="02040503050406030204" pitchFamily="18" charset="0"/>
                  </a:rPr>
                  <a:t>$(2,0)$</a:t>
                </a:r>
                <a:r>
                  <a:rPr sz="2400" b="0">
                    <a:solidFill>
                      <a:srgbClr val="111827"/>
                    </a:solidFill>
                    <a:latin typeface="Arial"/>
                  </a:rPr>
                  <a:t> is the </a:t>
                </a:r>
                <a:r>
                  <a:rPr lang="en-IN" sz="2400">
                    <a:solidFill>
                      <a:srgbClr val="111827"/>
                    </a:solidFill>
                    <a:latin typeface="Cambria Math" panose="02040503050406030204" pitchFamily="18" charset="0"/>
                  </a:rPr>
                  <a:t>$y$</a:t>
                </a:r>
                <a:r>
                  <a:rPr sz="2400" b="0">
                    <a:solidFill>
                      <a:srgbClr val="111827"/>
                    </a:solidFill>
                    <a:latin typeface="Arial"/>
                  </a:rPr>
                  <a:t>-axis: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$\left||PF_1|-|PF_2|\right|=2=F_1F_2$</a:t>
                </a:r>
                <a:r>
                  <a:rPr sz="2400" b="0">
                    <a:solidFill>
                      <a:srgbClr val="111827"/>
                    </a:solidFill>
                    <a:latin typeface="Arial"/>
                  </a:rPr>
                  <a:t> for </a:t>
                </a:r>
                <a:r>
                  <a:rPr lang="en-IN" sz="2400">
                    <a:solidFill>
                      <a:srgbClr val="111827"/>
                    </a:solidFill>
                    <a:latin typeface="Cambria Math" panose="02040503050406030204" pitchFamily="18" charset="0"/>
                  </a:rPr>
                  <a:t>$F_{1,2}=(0,\pm1)$</a:t>
                </a:r>
                <a:r>
                  <a:rPr sz="2400" b="0">
                    <a:solidFill>
                      <a:srgbClr val="111827"/>
                    </a:solidFill>
                    <a:latin typeface="Arial"/>
                  </a:rPr>
                  <a:t>: only the two rays </a:t>
                </a:r>
                <a:r>
                  <a:rPr lang="en-IN" sz="2400">
                    <a:solidFill>
                      <a:srgbClr val="111827"/>
                    </a:solidFill>
                    <a:latin typeface="Cambria Math" panose="02040503050406030204" pitchFamily="18" charset="0"/>
                  </a:rPr>
                  <a:t>$|y|\ge1$</a:t>
                </a:r>
                <a:r>
                  <a:rPr sz="2400" b="0">
                    <a:solidFill>
                      <a:srgbClr val="111827"/>
                    </a:solidFill>
                    <a:latin typeface="Arial"/>
                  </a:rPr>
                  <a:t> of the </a:t>
                </a:r>
                <a:r>
                  <a:rPr lang="en-IN" sz="2400">
                    <a:solidFill>
                      <a:srgbClr val="111827"/>
                    </a:solidFill>
                    <a:latin typeface="Cambria Math" panose="02040503050406030204" pitchFamily="18" charset="0"/>
                  </a:rPr>
                  <a:t>$y$</a:t>
                </a:r>
                <a:r>
                  <a:rPr sz="2400" b="0">
                    <a:solidFill>
                      <a:srgbClr val="111827"/>
                    </a:solidFill>
                    <a:latin typeface="Arial"/>
                  </a:rPr>
                  <a:t>-axis, not the complete axis: false. Answer: (B),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a:t>
            </a:r>
            <a:endParaRPr sz="2800">
              <a:solidFill>
                <a:srgbClr val="15803D"/>
              </a:solidFill>
            </a:endParaRP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84734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θ</m:t>
                        </m:r>
                      </m:sup>
                    </m:sSup>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num>
                      <m:den>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tan</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θ</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at once.</a:t>
                </a:r>
                <a:endParaRPr sz="2400">
                  <a:solidFill>
                    <a:srgbClr val="78350F"/>
                  </a:solidFill>
                </a:endParaRPr>
              </a:p>
            </p:txBody>
          </p:sp>
        </mc:Choice>
        <mc:Fallback>
          <p:sp>
            <p:nvSpPr>
              <p:cNvPr id="5" name="Rounded Rectangle 4"/>
              <p:cNvSpPr/>
              <p:nvPr/>
            </p:nvSpPr>
            <p:spPr>
              <a:xfrm>
                <a:off x="731520" y="1280160"/>
                <a:ext cx="10725912" cy="84734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Parametrise </a:t>
                </a:r>
                <a:r>
                  <a:rPr lang="en-IN" sz="2400">
                    <a:solidFill>
                      <a:srgbClr val="78350F"/>
                    </a:solidFill>
                    <a:latin typeface="Cambria Math" panose="02040503050406030204" pitchFamily="18" charset="0"/>
                  </a:rPr>
                  <a:t>$z=e^{i\theta}$</a:t>
                </a:r>
                <a:r>
                  <a:rPr sz="2400" b="0">
                    <a:solidFill>
                      <a:srgbClr val="78350F"/>
                    </a:solidFill>
                    <a:latin typeface="Arial"/>
                  </a:rPr>
                  <a:t>: </a:t>
                </a:r>
                <a:r>
                  <a:rPr lang="en-IN" sz="2400">
                    <a:solidFill>
                      <a:srgbClr val="78350F"/>
                    </a:solidFill>
                    <a:latin typeface="Cambria Math" panose="02040503050406030204" pitchFamily="18" charset="0"/>
                  </a:rPr>
                  <a:t>$\omega=\frac{1-z}{1+z}=-i\tan\frac\theta2$</a:t>
                </a:r>
                <a:r>
                  <a:rPr sz="2400" b="0">
                    <a:solidFill>
                      <a:srgbClr val="78350F"/>
                    </a:solidFill>
                    <a:latin typeface="Arial"/>
                  </a:rPr>
                  <a:t> at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264664"/>
                <a:ext cx="10725912" cy="441045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 from top and bottom: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264664"/>
                <a:ext cx="10725912" cy="4410456"/>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$z=e^{i\theta}$</a:t>
                </a:r>
                <a:r>
                  <a:rPr sz="2400" b="0">
                    <a:solidFill>
                      <a:srgbClr val="111827"/>
                    </a:solidFill>
                    <a:latin typeface="Arial"/>
                  </a:rPr>
                  <a:t>, </a:t>
                </a:r>
                <a:r>
                  <a:rPr lang="en-IN" sz="2400">
                    <a:solidFill>
                      <a:srgbClr val="111827"/>
                    </a:solidFill>
                    <a:latin typeface="Cambria Math" panose="02040503050406030204" pitchFamily="18" charset="0"/>
                  </a:rPr>
                  <a:t>$\theta\neq\pi$</a:t>
                </a:r>
                <a:r>
                  <a:rPr sz="2400" b="0">
                    <a:solidFill>
                      <a:srgbClr val="111827"/>
                    </a:solidFill>
                    <a:latin typeface="Arial"/>
                  </a:rPr>
                  <a:t>. Then </a:t>
                </a:r>
                <a:r>
                  <a:rPr lang="en-IN" sz="2400">
                    <a:solidFill>
                      <a:srgbClr val="111827"/>
                    </a:solidFill>
                    <a:latin typeface="Cambria Math" panose="02040503050406030204" pitchFamily="18" charset="0"/>
                  </a:rPr>
                  <a:t>$\omega=\frac{1-e^{i\theta}}{1+e^{i\theta}}$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a:t>
                </a:r>
                <a:r>
                  <a:rPr lang="en-IN" sz="2400">
                    <a:solidFill>
                      <a:srgbClr val="111827"/>
                    </a:solidFill>
                    <a:latin typeface="Cambria Math" panose="02040503050406030204" pitchFamily="18" charset="0"/>
                  </a:rPr>
                  <a:t>$e^{i\theta/2}$</a:t>
                </a:r>
                <a:r>
                  <a:rPr sz="2400" b="0">
                    <a:solidFill>
                      <a:srgbClr val="111827"/>
                    </a:solidFill>
                    <a:latin typeface="Arial"/>
                  </a:rPr>
                  <a:t> from top and bottom: </a:t>
                </a:r>
                <a:r>
                  <a:rPr lang="en-IN" sz="2400">
                    <a:solidFill>
                      <a:srgbClr val="111827"/>
                    </a:solidFill>
                    <a:latin typeface="Cambria Math" panose="02040503050406030204" pitchFamily="18" charset="0"/>
                  </a:rPr>
                  <a:t>$\frac{e^{-i\theta/2}-e^{i\theta/2}}{e^{-i\theta/2}+e^{i\theta/2}}=\frac{-2i\sin\frac\theta2}{2\cos\frac\theta2}=-i\tan\frac\theta2$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ranges over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takes every real value, so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 covers the entire imaginary axis: the locus is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Identify the options as before: (B) and (C) describe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(A) the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-axis; (D) two rays.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As </a:t>
                </a:r>
                <a:r>
                  <a:rPr lang="en-IN" sz="2400">
                    <a:solidFill>
                      <a:srgbClr val="111827"/>
                    </a:solidFill>
                    <a:latin typeface="Cambria Math" panose="02040503050406030204" pitchFamily="18" charset="0"/>
                  </a:rPr>
                  <a:t>$\theta$</a:t>
                </a:r>
                <a:r>
                  <a:rPr sz="2400" b="0">
                    <a:solidFill>
                      <a:srgbClr val="111827"/>
                    </a:solidFill>
                    <a:latin typeface="Arial"/>
                  </a:rPr>
                  <a:t> ranges over </a:t>
                </a:r>
                <a:r>
                  <a:rPr lang="en-IN" sz="2400">
                    <a:solidFill>
                      <a:srgbClr val="111827"/>
                    </a:solidFill>
                    <a:latin typeface="Cambria Math" panose="02040503050406030204" pitchFamily="18" charset="0"/>
                  </a:rPr>
                  <a:t>$(-\pi,\pi)$</a:t>
                </a:r>
                <a:r>
                  <a:rPr sz="2400" b="0">
                    <a:solidFill>
                      <a:srgbClr val="111827"/>
                    </a:solidFill>
                    <a:latin typeface="Arial"/>
                  </a:rPr>
                  <a:t>, </a:t>
                </a:r>
                <a:r>
                  <a:rPr lang="en-IN" sz="2400">
                    <a:solidFill>
                      <a:srgbClr val="111827"/>
                    </a:solidFill>
                    <a:latin typeface="Cambria Math" panose="02040503050406030204" pitchFamily="18" charset="0"/>
                  </a:rPr>
                  <a:t>$\tan\frac\theta2$</a:t>
                </a:r>
                <a:r>
                  <a:rPr sz="2400" b="0">
                    <a:solidFill>
                      <a:srgbClr val="111827"/>
                    </a:solidFill>
                    <a:latin typeface="Arial"/>
                  </a:rPr>
                  <a:t> takes every real value, so </a:t>
                </a:r>
                <a:r>
                  <a:rPr lang="en-IN" sz="2400">
                    <a:solidFill>
                      <a:srgbClr val="111827"/>
                    </a:solidFill>
                    <a:latin typeface="Cambria Math" panose="02040503050406030204" pitchFamily="18" charset="0"/>
                  </a:rPr>
                  <a:t>$\omega$</a:t>
                </a:r>
                <a:r>
                  <a:rPr sz="2400" b="0">
                    <a:solidFill>
                      <a:srgbClr val="111827"/>
                    </a:solidFill>
                    <a:latin typeface="Arial"/>
                  </a:rPr>
                  <a:t> covers the entire imaginary axis: the locus is the </a:t>
                </a:r>
                <a:r>
                  <a:rPr lang="en-IN" sz="2400">
                    <a:solidFill>
                      <a:srgbClr val="111827"/>
                    </a:solidFill>
                    <a:latin typeface="Cambria Math" panose="02040503050406030204" pitchFamily="18" charset="0"/>
                  </a:rPr>
                  <a:t>$y$</a:t>
                </a:r>
                <a:r>
                  <a:rPr sz="2400" b="0">
                    <a:solidFill>
                      <a:srgbClr val="111827"/>
                    </a:solidFill>
                    <a:latin typeface="Arial"/>
                  </a:rPr>
                  <a:t>-axis.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Identify the options as before: (B) and (C) describe the </a:t>
                </a:r>
                <a:r>
                  <a:rPr lang="en-IN" sz="2400">
                    <a:solidFill>
                      <a:srgbClr val="111827"/>
                    </a:solidFill>
                    <a:latin typeface="Cambria Math" panose="02040503050406030204" pitchFamily="18" charset="0"/>
                  </a:rPr>
                  <a:t>$y$</a:t>
                </a:r>
                <a:r>
                  <a:rPr sz="2400" b="0">
                    <a:solidFill>
                      <a:srgbClr val="111827"/>
                    </a:solidFill>
                    <a:latin typeface="Arial"/>
                  </a:rPr>
                  <a:t>-axis; (A) the </a:t>
                </a:r>
                <a:r>
                  <a:rPr lang="en-IN" sz="2400">
                    <a:solidFill>
                      <a:srgbClr val="111827"/>
                    </a:solidFill>
                    <a:latin typeface="Cambria Math" panose="02040503050406030204" pitchFamily="18" charset="0"/>
                  </a:rPr>
                  <a:t>$x$</a:t>
                </a:r>
                <a:r>
                  <a:rPr sz="2400" b="0">
                    <a:solidFill>
                      <a:srgbClr val="111827"/>
                    </a:solidFill>
                    <a:latin typeface="Arial"/>
                  </a:rPr>
                  <a:t>-axis; (D) two rays.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a:t>
            </a:r>
            <a:endParaRPr sz="2800">
              <a:solidFill>
                <a:srgbClr val="15803D"/>
              </a:solidFill>
            </a:endParaRP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(both purely imaginary).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perpendicular bisector of the points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two rays, with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hyperbola branch pair.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use it to test whether an expression is real or purely imaginary.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tan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OK.</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$|z|=1$</a:t>
                </a:r>
                <a:r>
                  <a:rPr sz="2400" b="0">
                    <a:solidFill>
                      <a:srgbClr val="111827"/>
                    </a:solidFill>
                    <a:latin typeface="Arial"/>
                  </a:rPr>
                  <a:t>: </a:t>
                </a:r>
                <a:r>
                  <a:rPr lang="en-IN" sz="2400">
                    <a:solidFill>
                      <a:srgbClr val="111827"/>
                    </a:solidFill>
                    <a:latin typeface="Cambria Math" panose="02040503050406030204" pitchFamily="18" charset="0"/>
                  </a:rPr>
                  <a:t>$\frac{1-z}{1+z}=-i\tan\frac{\arg z}{2}$</a:t>
                </a:r>
                <a:r>
                  <a:rPr sz="2400" b="0">
                    <a:solidFill>
                      <a:srgbClr val="111827"/>
                    </a:solidFill>
                    <a:latin typeface="Arial"/>
                  </a:rPr>
                  <a:t> and </a:t>
                </a:r>
                <a:r>
                  <a:rPr lang="en-IN" sz="2400">
                    <a:solidFill>
                      <a:srgbClr val="111827"/>
                    </a:solidFill>
                    <a:latin typeface="Cambria Math" panose="02040503050406030204" pitchFamily="18" charset="0"/>
                  </a:rPr>
                  <a:t>$\frac{1+z}{1-z}=i\cot\frac{\arg z}{2}$</a:t>
                </a:r>
                <a:r>
                  <a:rPr sz="2400" b="0">
                    <a:solidFill>
                      <a:srgbClr val="111827"/>
                    </a:solidFill>
                    <a:latin typeface="Arial"/>
                  </a:rPr>
                  <a:t> (both purely imaginary).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$|z-a|=|z-b|$</a:t>
                </a:r>
                <a:r>
                  <a:rPr sz="2400" b="0">
                    <a:solidFill>
                      <a:srgbClr val="111827"/>
                    </a:solidFill>
                    <a:latin typeface="Arial"/>
                  </a:rPr>
                  <a:t> is the perpendicular bisector of the points </a:t>
                </a:r>
                <a:r>
                  <a:rPr lang="en-IN" sz="2400">
                    <a:solidFill>
                      <a:srgbClr val="111827"/>
                    </a:solidFill>
                    <a:latin typeface="Cambria Math" panose="02040503050406030204" pitchFamily="18" charset="0"/>
                  </a:rPr>
                  <a:t>$a,b$</a:t>
                </a:r>
                <a:r>
                  <a:rPr sz="2400" b="0">
                    <a:solidFill>
                      <a:srgbClr val="111827"/>
                    </a:solidFill>
                    <a:latin typeface="Arial"/>
                  </a:rPr>
                  <a:t>; </a:t>
                </a:r>
                <a:r>
                  <a:rPr lang="en-IN" sz="2400">
                    <a:solidFill>
                      <a:srgbClr val="111827"/>
                    </a:solidFill>
                    <a:latin typeface="Cambria Math" panose="02040503050406030204" pitchFamily="18" charset="0"/>
                  </a:rPr>
                  <a:t>$||z-a|-|z-b||=k$</a:t>
                </a:r>
                <a:r>
                  <a:rPr sz="2400" b="0">
                    <a:solidFill>
                      <a:srgbClr val="111827"/>
                    </a:solidFill>
                    <a:latin typeface="Arial"/>
                  </a:rPr>
                  <a:t> with </a:t>
                </a:r>
                <a:r>
                  <a:rPr lang="en-IN" sz="2400">
                    <a:solidFill>
                      <a:srgbClr val="111827"/>
                    </a:solidFill>
                    <a:latin typeface="Cambria Math" panose="02040503050406030204" pitchFamily="18" charset="0"/>
                  </a:rPr>
                  <a:t>$k=|a-b|$</a:t>
                </a:r>
                <a:r>
                  <a:rPr sz="2400" b="0">
                    <a:solidFill>
                      <a:srgbClr val="111827"/>
                    </a:solidFill>
                    <a:latin typeface="Arial"/>
                  </a:rPr>
                  <a:t> gives two rays, with </a:t>
                </a:r>
                <a:r>
                  <a:rPr lang="en-IN" sz="2400">
                    <a:solidFill>
                      <a:srgbClr val="111827"/>
                    </a:solidFill>
                    <a:latin typeface="Cambria Math" panose="02040503050406030204" pitchFamily="18" charset="0"/>
                  </a:rPr>
                  <a:t>$k&lt;|a-b|$</a:t>
                </a:r>
                <a:r>
                  <a:rPr sz="2400" b="0">
                    <a:solidFill>
                      <a:srgbClr val="111827"/>
                    </a:solidFill>
                    <a:latin typeface="Arial"/>
                  </a:rPr>
                  <a:t> a hyperbola branch pair.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$|z|=1$</a:t>
                </a:r>
                <a:r>
                  <a:rPr sz="2400" b="0">
                    <a:solidFill>
                      <a:srgbClr val="111827"/>
                    </a:solidFill>
                    <a:latin typeface="Arial"/>
                  </a:rPr>
                  <a:t> then </a:t>
                </a:r>
                <a:r>
                  <a:rPr lang="en-IN" sz="2400">
                    <a:solidFill>
                      <a:srgbClr val="111827"/>
                    </a:solidFill>
                    <a:latin typeface="Cambria Math" panose="02040503050406030204" pitchFamily="18" charset="0"/>
                  </a:rPr>
                  <a:t>$\bar z=1/z$</a:t>
                </a:r>
                <a:r>
                  <a:rPr sz="2400" b="0">
                    <a:solidFill>
                      <a:srgbClr val="111827"/>
                    </a:solidFill>
                    <a:latin typeface="Arial"/>
                  </a:rPr>
                  <a:t>: use it to test whether an expression is real or purely imaginary.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$z=i$</a:t>
                </a:r>
                <a:r>
                  <a:rPr sz="2400" b="0">
                    <a:solidFill>
                      <a:srgbClr val="111827"/>
                    </a:solidFill>
                    <a:latin typeface="Arial"/>
                  </a:rPr>
                  <a:t> gives </a:t>
                </a:r>
                <a:r>
                  <a:rPr lang="en-IN" sz="2400">
                    <a:solidFill>
                      <a:srgbClr val="111827"/>
                    </a:solidFill>
                    <a:latin typeface="Cambria Math" panose="02040503050406030204" pitchFamily="18" charset="0"/>
                  </a:rPr>
                  <a:t>$\omega=\frac{1-i}{1+i}=-i=-i\tan\frac\pi4$</a:t>
                </a:r>
                <a:r>
                  <a:rPr sz="2400" b="0">
                    <a:solidFill>
                      <a:srgbClr val="111827"/>
                    </a:solidFill>
                    <a:latin typeface="Arial"/>
                  </a:rPr>
                  <a:t> OK.</a:t>
                </a:r>
                <a:endParaRPr sz="2400">
                  <a:solidFill>
                    <a:srgbClr val="111827"/>
                  </a:solidFill>
                </a:endParaRPr>
              </a:p>
            </p:txBody>
          </p:sp>
        </mc:Fallback>
      </mc:AlternateContent>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25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vertices of an equilateral triangle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in the complex plane,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endParaRPr sz="2400">
                  <a:solidFill>
                    <a:srgbClr val="111827"/>
                  </a:solidFill>
                </a:endParaRPr>
              </a:p>
            </p:txBody>
          </p:sp>
        </mc:Choice>
        <mc:Fallback>
          <p:sp>
            <p:nvSpPr>
              <p:cNvPr id="4" name="Rounded Rectangle 3"/>
              <p:cNvSpPr/>
              <p:nvPr/>
            </p:nvSpPr>
            <p:spPr>
              <a:xfrm>
                <a:off x="731520" y="1280160"/>
                <a:ext cx="10725912" cy="3225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$A(Z_1)$</a:t>
                </a:r>
                <a:r>
                  <a:rPr sz="2400" b="0">
                    <a:solidFill>
                      <a:srgbClr val="111827"/>
                    </a:solidFill>
                    <a:latin typeface="Arial"/>
                  </a:rPr>
                  <a:t>, </a:t>
                </a:r>
                <a:r>
                  <a:rPr lang="en-IN" sz="2400">
                    <a:solidFill>
                      <a:srgbClr val="111827"/>
                    </a:solidFill>
                    <a:latin typeface="Cambria Math" panose="02040503050406030204" pitchFamily="18" charset="0"/>
                  </a:rPr>
                  <a:t>$B(Z_2)$</a:t>
                </a:r>
                <a:r>
                  <a:rPr sz="2400" b="0">
                    <a:solidFill>
                      <a:srgbClr val="111827"/>
                    </a:solidFill>
                    <a:latin typeface="Arial"/>
                  </a:rPr>
                  <a:t> and </a:t>
                </a:r>
                <a:r>
                  <a:rPr lang="en-IN" sz="2400">
                    <a:solidFill>
                      <a:srgbClr val="111827"/>
                    </a:solidFill>
                    <a:latin typeface="Cambria Math" panose="02040503050406030204" pitchFamily="18" charset="0"/>
                  </a:rPr>
                  <a:t>$C(Z_3)$</a:t>
                </a:r>
                <a:r>
                  <a:rPr sz="2400" b="0">
                    <a:solidFill>
                      <a:srgbClr val="111827"/>
                    </a:solidFill>
                    <a:latin typeface="Arial"/>
                  </a:rPr>
                  <a:t> be the vertices of an equilateral triangle </a:t>
                </a:r>
                <a:r>
                  <a:rPr lang="en-IN" sz="2400">
                    <a:solidFill>
                      <a:srgbClr val="111827"/>
                    </a:solidFill>
                    <a:latin typeface="Cambria Math" panose="02040503050406030204" pitchFamily="18" charset="0"/>
                  </a:rPr>
                  <a:t>$ABC$</a:t>
                </a:r>
                <a:r>
                  <a:rPr sz="2400" b="0">
                    <a:solidFill>
                      <a:srgbClr val="111827"/>
                    </a:solidFill>
                    <a:latin typeface="Arial"/>
                  </a:rPr>
                  <a:t> in the complex plane,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$\frac{1}{Z_1-Z_2}+\frac{1}{Z_2-Z_3}+\frac{1}{Z_3-Z_1}=0$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$Z_1^2+Z_2^2+Z_3^2=Z_1Z_2+Z_2Z_3+Z_3Z_1$</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$Z_1^3+Z_2^3+Z_3^3=3Z_1Z_2Z_3$</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$\frac{Z_1-Z_2}{Z_3-Z_2}=\frac12\pm i\frac{\sqrt3}{2}$</a:t>
                </a:r>
                <a:endParaRPr sz="2400">
                  <a:solidFill>
                    <a:srgbClr val="111827"/>
                  </a:solidFill>
                </a:endParaRPr>
              </a:p>
            </p:txBody>
          </p:sp>
        </mc:Fallback>
      </mc:AlternateContent>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equilateral triangle condition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differences </a:t>
                </a:r>
                <a14:m>
                  <m:oMath xmlns:m="http://schemas.openxmlformats.org/officeDocument/2006/math">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𝑣</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𝑤</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 have equal modulus and sum to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𝑢</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𝑣</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𝑤</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differences </a:t>
                </a:r>
                <a:r>
                  <a:rPr lang="en-IN" sz="2400">
                    <a:solidFill>
                      <a:srgbClr val="78350F"/>
                    </a:solidFill>
                    <a:latin typeface="Cambria Math" panose="02040503050406030204" pitchFamily="18" charset="0"/>
                  </a:rPr>
                  <a:t>$u=Z_1-Z_2$</a:t>
                </a:r>
                <a:r>
                  <a:rPr sz="2400" b="0">
                    <a:solidFill>
                      <a:srgbClr val="78350F"/>
                    </a:solidFill>
                    <a:latin typeface="Arial"/>
                  </a:rPr>
                  <a:t>, </a:t>
                </a:r>
                <a:r>
                  <a:rPr lang="en-IN" sz="2400">
                    <a:solidFill>
                      <a:srgbClr val="78350F"/>
                    </a:solidFill>
                    <a:latin typeface="Cambria Math" panose="02040503050406030204" pitchFamily="18" charset="0"/>
                  </a:rPr>
                  <a:t>$v=Z_2-Z_3$</a:t>
                </a:r>
                <a:r>
                  <a:rPr sz="2400" b="0">
                    <a:solidFill>
                      <a:srgbClr val="78350F"/>
                    </a:solidFill>
                    <a:latin typeface="Arial"/>
                  </a:rPr>
                  <a:t>, </a:t>
                </a:r>
                <a:r>
                  <a:rPr lang="en-IN" sz="2400">
                    <a:solidFill>
                      <a:srgbClr val="78350F"/>
                    </a:solidFill>
                    <a:latin typeface="Cambria Math" panose="02040503050406030204" pitchFamily="18" charset="0"/>
                  </a:rPr>
                  <a:t>$w=Z_3-Z_1$</a:t>
                </a:r>
                <a:r>
                  <a:rPr sz="2400" b="0">
                    <a:solidFill>
                      <a:srgbClr val="78350F"/>
                    </a:solidFill>
                    <a:latin typeface="Arial"/>
                  </a:rPr>
                  <a:t> have equal modulus and sum to </a:t>
                </a:r>
                <a:r>
                  <a:rPr lang="en-IN" sz="2400">
                    <a:solidFill>
                      <a:srgbClr val="78350F"/>
                    </a:solidFill>
                    <a:latin typeface="Cambria Math" panose="02040503050406030204" pitchFamily="18" charset="0"/>
                  </a:rPr>
                  <a:t>$0$</a:t>
                </a:r>
                <a:r>
                  <a:rPr sz="2400" b="0">
                    <a:solidFill>
                      <a:srgbClr val="78350F"/>
                    </a:solidFill>
                    <a:latin typeface="Arial"/>
                  </a:rPr>
                  <a:t>, so </a:t>
                </a:r>
                <a:r>
                  <a:rPr lang="en-IN" sz="2400">
                    <a:solidFill>
                      <a:srgbClr val="78350F"/>
                    </a:solidFill>
                    <a:latin typeface="Cambria Math" panose="02040503050406030204" pitchFamily="18" charset="0"/>
                  </a:rPr>
                  <a:t>$u:v:w=1:\omega:\omega^2$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𝐴</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$AB=BC=CA$</a:t>
                </a:r>
                <a:r>
                  <a:rPr sz="2400" b="0">
                    <a:solidFill>
                      <a:srgbClr val="111827"/>
                    </a:solidFill>
                    <a:latin typeface="Arial"/>
                  </a:rPr>
                  <a:t>, so </a:t>
                </a:r>
                <a:r>
                  <a:rPr lang="en-IN" sz="2400">
                    <a:solidFill>
                      <a:srgbClr val="111827"/>
                    </a:solidFill>
                    <a:latin typeface="Cambria Math" panose="02040503050406030204" pitchFamily="18" charset="0"/>
                  </a:rPr>
                  <a:t>$|Z_1-Z_2|=|Z_2-Z_3|=|Z_3-Z_1|=a$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$u=Z_1-Z_2$</a:t>
                </a:r>
                <a:r>
                  <a:rPr sz="2400" b="0">
                    <a:solidFill>
                      <a:srgbClr val="111827"/>
                    </a:solidFill>
                    <a:latin typeface="Arial"/>
                  </a:rPr>
                  <a:t>, </a:t>
                </a:r>
                <a:r>
                  <a:rPr lang="en-IN" sz="2400">
                    <a:solidFill>
                      <a:srgbClr val="111827"/>
                    </a:solidFill>
                    <a:latin typeface="Cambria Math" panose="02040503050406030204" pitchFamily="18" charset="0"/>
                  </a:rPr>
                  <a:t>$v=Z_2-Z_3$</a:t>
                </a:r>
                <a:r>
                  <a:rPr sz="2400" b="0">
                    <a:solidFill>
                      <a:srgbClr val="111827"/>
                    </a:solidFill>
                    <a:latin typeface="Arial"/>
                  </a:rPr>
                  <a:t>, </a:t>
                </a:r>
                <a:r>
                  <a:rPr lang="en-IN" sz="2400">
                    <a:solidFill>
                      <a:srgbClr val="111827"/>
                    </a:solidFill>
                    <a:latin typeface="Cambria Math" panose="02040503050406030204" pitchFamily="18" charset="0"/>
                  </a:rPr>
                  <a:t>$w=Z_3-Z_1$</a:t>
                </a:r>
                <a:r>
                  <a:rPr sz="2400" b="0">
                    <a:solidFill>
                      <a:srgbClr val="111827"/>
                    </a:solidFill>
                    <a:latin typeface="Arial"/>
                  </a:rPr>
                  <a:t>: </a:t>
                </a:r>
                <a:r>
                  <a:rPr lang="en-IN" sz="2400">
                    <a:solidFill>
                      <a:srgbClr val="111827"/>
                    </a:solidFill>
                    <a:latin typeface="Cambria Math" panose="02040503050406030204" pitchFamily="18" charset="0"/>
                  </a:rPr>
                  <a:t>$u+v+w=0$</a:t>
                </a:r>
                <a:r>
                  <a:rPr sz="2400" b="0">
                    <a:solidFill>
                      <a:srgbClr val="111827"/>
                    </a:solidFill>
                    <a:latin typeface="Arial"/>
                  </a:rPr>
                  <a:t> and </a:t>
                </a:r>
                <a:r>
                  <a:rPr lang="en-IN" sz="2400">
                    <a:solidFill>
                      <a:srgbClr val="111827"/>
                    </a:solidFill>
                    <a:latin typeface="Cambria Math" panose="02040503050406030204" pitchFamily="18" charset="0"/>
                  </a:rPr>
                  <a:t>$|u|=|v|=|w|=a$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𝑢</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we get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𝑢</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𝑣</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𝑤</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𝑢</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𝑣</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num>
                      <m:den>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 is true, and clearing denominators, </a:t>
                </a:r>
                <a14:m>
                  <m:oMath xmlns:m="http://schemas.openxmlformats.org/officeDocument/2006/math">
                    <m:r>
                      <a:rPr lang="en-IN" sz="2400" i="1">
                        <a:solidFill>
                          <a:srgbClr val="111827"/>
                        </a:solidFill>
                        <a:latin typeface="Cambria Math" panose="02040503050406030204" pitchFamily="18" charset="0"/>
                      </a:rPr>
                      <m:t>𝑢</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𝑢</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𝑢</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𝑣</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𝑢</m:t>
                    </m:r>
                    <m:r>
                      <a:rPr lang="en-IN" sz="2400" i="1">
                        <a:solidFill>
                          <a:srgbClr val="111827"/>
                        </a:solidFill>
                        <a:latin typeface="Cambria Math" panose="02040503050406030204" pitchFamily="18" charset="0"/>
                      </a:rPr>
                      <m:t>𝑣</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𝑣</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a:rPr lang="en-IN" sz="2400" i="1">
                        <a:solidFill>
                          <a:srgbClr val="111827"/>
                        </a:solidFill>
                        <a:latin typeface="Cambria Math" panose="02040503050406030204" pitchFamily="18" charset="0"/>
                      </a:rPr>
                      <m:t>𝑢</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Identity: </a:t>
                </a:r>
                <a14:m>
                  <m:oMath xmlns:m="http://schemas.openxmlformats.org/officeDocument/2006/math">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by (B): (C) is true.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$\frac1u=\frac{\bar u}{|u|^2}=\frac{\bar u}{a^2}$</a:t>
                </a:r>
                <a:r>
                  <a:rPr sz="2400" b="0">
                    <a:solidFill>
                      <a:srgbClr val="111827"/>
                    </a:solidFill>
                    <a:latin typeface="Arial"/>
                  </a:rPr>
                  <a:t>, we get </a:t>
                </a:r>
                <a:r>
                  <a:rPr lang="en-IN" sz="2400">
                    <a:solidFill>
                      <a:srgbClr val="111827"/>
                    </a:solidFill>
                    <a:latin typeface="Cambria Math" panose="02040503050406030204" pitchFamily="18" charset="0"/>
                  </a:rPr>
                  <a:t>$\frac1u+\frac1v+\frac1w=\frac{\bar u+\bar v+\bar w}{a^2}=0$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That is </a:t>
                </a:r>
                <a:r>
                  <a:rPr lang="en-IN" sz="2400">
                    <a:solidFill>
                      <a:srgbClr val="111827"/>
                    </a:solidFill>
                    <a:latin typeface="Cambria Math" panose="02040503050406030204" pitchFamily="18" charset="0"/>
                  </a:rPr>
                  <a:t>$\frac1{Z_1-Z_2}+\frac1{Z_2-Z_3}+\frac1{Z_3-Z_1}=0$</a:t>
                </a:r>
                <a:r>
                  <a:rPr sz="2400" b="0">
                    <a:solidFill>
                      <a:srgbClr val="111827"/>
                    </a:solidFill>
                    <a:latin typeface="Arial"/>
                  </a:rPr>
                  <a:t>: (A) is true, and clearing denominators, </a:t>
                </a:r>
                <a:r>
                  <a:rPr lang="en-IN" sz="2400">
                    <a:solidFill>
                      <a:srgbClr val="111827"/>
                    </a:solidFill>
                    <a:latin typeface="Cambria Math" panose="02040503050406030204" pitchFamily="18" charset="0"/>
                  </a:rPr>
                  <a:t>$uv+vw+wu=0$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$uv+vw+wu=\frac{(u+v+w)^2-(u^2+v^2+w^2)}{2}=-\frac{u^2+v^2+w^2}{2}$</a:t>
                </a:r>
                <a:r>
                  <a:rPr sz="2400" b="0">
                    <a:solidFill>
                      <a:srgbClr val="111827"/>
                    </a:solidFill>
                    <a:latin typeface="Arial"/>
                  </a:rPr>
                  <a:t>, and </a:t>
                </a:r>
                <a:r>
                  <a:rPr lang="en-IN" sz="2400">
                    <a:solidFill>
                      <a:srgbClr val="111827"/>
                    </a:solidFill>
                    <a:latin typeface="Cambria Math" panose="02040503050406030204" pitchFamily="18" charset="0"/>
                  </a:rPr>
                  <a:t>$u^2+v^2+w^2=2(Z_1^2+Z_2^2+Z_3^2-Z_1Z_2-Z_2Z_3-Z_3Z_1)$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$uv+vw+wu=0$</a:t>
                </a:r>
                <a:r>
                  <a:rPr sz="2400" b="0">
                    <a:solidFill>
                      <a:srgbClr val="111827"/>
                    </a:solidFill>
                    <a:latin typeface="Arial"/>
                  </a:rPr>
                  <a:t> gives </a:t>
                </a:r>
                <a:r>
                  <a:rPr lang="en-IN" sz="2400">
                    <a:solidFill>
                      <a:srgbClr val="111827"/>
                    </a:solidFill>
                    <a:latin typeface="Cambria Math" panose="02040503050406030204" pitchFamily="18" charset="0"/>
                  </a:rPr>
                  <a:t>$Z_1^2+Z_2^2+Z_3^2=Z_1Z_2+Z_2Z_3+Z_3Z_1$</a:t>
                </a:r>
                <a:r>
                  <a:rPr sz="2400" b="0">
                    <a:solidFill>
                      <a:srgbClr val="111827"/>
                    </a:solidFill>
                    <a:latin typeface="Arial"/>
                  </a:rPr>
                  <a:t>: (B) is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Identity: </a:t>
                </a:r>
                <a:r>
                  <a:rPr lang="en-IN" sz="2400">
                    <a:solidFill>
                      <a:srgbClr val="111827"/>
                    </a:solidFill>
                    <a:latin typeface="Cambria Math" panose="02040503050406030204" pitchFamily="18" charset="0"/>
                  </a:rPr>
                  <a:t>$Z_1^3+Z_2^3+Z_3^3-3Z_1Z_2Z_3=(Z_1+Z_2+Z_3)\left(Z_1^2+Z_2^2+Z_3^2-Z_1Z_2-Z_2Z_3-Z_3Z_1\right)=0$</a:t>
                </a:r>
                <a:r>
                  <a:rPr sz="2400" b="0">
                    <a:solidFill>
                      <a:srgbClr val="111827"/>
                    </a:solidFill>
                    <a:latin typeface="Arial"/>
                  </a:rPr>
                  <a:t> by (B): (C) is true.</a:t>
                </a:r>
                <a:endParaRPr sz="2400">
                  <a:solidFill>
                    <a:srgbClr val="111827"/>
                  </a:solidFill>
                </a:endParaRPr>
              </a:p>
            </p:txBody>
          </p:sp>
        </mc:Fallback>
      </mc:AlternateContent>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arg</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the modulus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(D) is true. Answer: (A),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$\angle ABC=\frac\pi3$</a:t>
                </a:r>
                <a:r>
                  <a:rPr sz="2400" b="0">
                    <a:solidFill>
                      <a:srgbClr val="111827"/>
                    </a:solidFill>
                    <a:latin typeface="Arial"/>
                  </a:rPr>
                  <a:t> and </a:t>
                </a:r>
                <a:r>
                  <a:rPr lang="en-IN" sz="2400">
                    <a:solidFill>
                      <a:srgbClr val="111827"/>
                    </a:solidFill>
                    <a:latin typeface="Cambria Math" panose="02040503050406030204" pitchFamily="18" charset="0"/>
                  </a:rPr>
                  <a:t>$BA=BC$</a:t>
                </a:r>
                <a:r>
                  <a:rPr sz="2400" b="0">
                    <a:solidFill>
                      <a:srgbClr val="111827"/>
                    </a:solidFill>
                    <a:latin typeface="Arial"/>
                  </a:rPr>
                  <a:t>, so </a:t>
                </a:r>
                <a:r>
                  <a:rPr lang="en-IN" sz="2400">
                    <a:solidFill>
                      <a:srgbClr val="111827"/>
                    </a:solidFill>
                    <a:latin typeface="Cambria Math" panose="02040503050406030204" pitchFamily="18" charset="0"/>
                  </a:rPr>
                  <a:t>$\arg\left(\frac{Z_1-Z_2}{Z_3-Z_2}\right)=\pm\frac\pi3$</a:t>
                </a:r>
                <a:r>
                  <a:rPr sz="2400" b="0">
                    <a:solidFill>
                      <a:srgbClr val="111827"/>
                    </a:solidFill>
                    <a:latin typeface="Arial"/>
                  </a:rPr>
                  <a:t> and the modulus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$\frac{Z_1-Z_2}{Z_3-Z_2}=\cos\frac\pi3\pm i\sin\frac\pi3=\frac12\pm i\frac{\sqrt3}{2}$</a:t>
                </a:r>
                <a:r>
                  <a:rPr sz="2400" b="0">
                    <a:solidFill>
                      <a:srgbClr val="111827"/>
                    </a:solidFill>
                    <a:latin typeface="Arial"/>
                  </a:rPr>
                  <a:t>: (D) is true. Answer: (A),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 D)</a:t>
            </a:r>
            <a:endParaRPr sz="2800">
              <a:solidFill>
                <a:srgbClr val="15803D"/>
              </a:solidFill>
            </a:endParaRP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Rotate about the centroid: </a:t>
                </a:r>
                <a14:m>
                  <m:oMath xmlns:m="http://schemas.openxmlformats.org/officeDocument/2006/math">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𝑘</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𝑘</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𝑍</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(or the reverse), so every symmetric expression collapses by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Rotate about the centroid: </a:t>
                </a:r>
                <a:r>
                  <a:rPr lang="en-IN" sz="2400">
                    <a:solidFill>
                      <a:srgbClr val="78350F"/>
                    </a:solidFill>
                    <a:latin typeface="Cambria Math" panose="02040503050406030204" pitchFamily="18" charset="0"/>
                  </a:rPr>
                  <a:t>$Z_k-c=\omega^{k-1}(Z_1-c)$</a:t>
                </a:r>
                <a:r>
                  <a:rPr sz="2400" b="0">
                    <a:solidFill>
                      <a:srgbClr val="78350F"/>
                    </a:solidFill>
                    <a:latin typeface="Arial"/>
                  </a:rPr>
                  <a:t> (or the reverse), so every symmetric expression collapses by </a:t>
                </a:r>
                <a:r>
                  <a:rPr lang="en-IN" sz="2400">
                    <a:solidFill>
                      <a:srgbClr val="78350F"/>
                    </a:solidFill>
                    <a:latin typeface="Cambria Math" panose="02040503050406030204" pitchFamily="18" charset="0"/>
                  </a:rPr>
                  <a:t>$1+\omega+\omega^2=0$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3</m:t>
                        </m:r>
                      </m:den>
                    </m:f>
                  </m:oMath>
                </a14:m>
                <a:r>
                  <a:rPr sz="2400" b="0">
                    <a:solidFill>
                      <a:srgbClr val="111827"/>
                    </a:solidFill>
                    <a:latin typeface="Arial"/>
                  </a:rPr>
                  <a:t> be the centroid, which is also the circumcentre of an equilateral triangle. Put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vertices are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(up to swapping </a:t>
                </a: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sum of reciprocals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num>
                      <m:den>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$c=\frac{Z_1+Z_2+Z_3}{3}$</a:t>
                </a:r>
                <a:r>
                  <a:rPr sz="2400" b="0">
                    <a:solidFill>
                      <a:srgbClr val="111827"/>
                    </a:solidFill>
                    <a:latin typeface="Arial"/>
                  </a:rPr>
                  <a:t> be the centroid, which is also the circumcentre of an equilateral triangle. Put </a:t>
                </a:r>
                <a:r>
                  <a:rPr lang="en-IN" sz="2400">
                    <a:solidFill>
                      <a:srgbClr val="111827"/>
                    </a:solidFill>
                    <a:latin typeface="Cambria Math" panose="02040503050406030204" pitchFamily="18" charset="0"/>
                  </a:rPr>
                  <a:t>$p=Z_1-c$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vertices are </a:t>
                </a:r>
                <a:r>
                  <a:rPr lang="en-IN" sz="2400">
                    <a:solidFill>
                      <a:srgbClr val="111827"/>
                    </a:solidFill>
                    <a:latin typeface="Cambria Math" panose="02040503050406030204" pitchFamily="18" charset="0"/>
                  </a:rPr>
                  <a:t>$c+p,\;c+p\omega,\;c+p\omega^2$</a:t>
                </a:r>
                <a:r>
                  <a:rPr sz="2400" b="0">
                    <a:solidFill>
                      <a:srgbClr val="111827"/>
                    </a:solidFill>
                    <a:latin typeface="Arial"/>
                  </a:rPr>
                  <a:t> (up to swapping </a:t>
                </a:r>
                <a:r>
                  <a:rPr lang="en-IN" sz="2400">
                    <a:solidFill>
                      <a:srgbClr val="111827"/>
                    </a:solidFill>
                    <a:latin typeface="Cambria Math" panose="02040503050406030204" pitchFamily="18" charset="0"/>
                  </a:rPr>
                  <a:t>$Z_2,Z_3$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$Z_1-Z_2=p(1-\omega)$</a:t>
                </a:r>
                <a:r>
                  <a:rPr sz="2400" b="0">
                    <a:solidFill>
                      <a:srgbClr val="111827"/>
                    </a:solidFill>
                    <a:latin typeface="Arial"/>
                  </a:rPr>
                  <a:t>, </a:t>
                </a:r>
                <a:r>
                  <a:rPr lang="en-IN" sz="2400">
                    <a:solidFill>
                      <a:srgbClr val="111827"/>
                    </a:solidFill>
                    <a:latin typeface="Cambria Math" panose="02040503050406030204" pitchFamily="18" charset="0"/>
                  </a:rPr>
                  <a:t>$Z_2-Z_3=p\omega(1-\omega)$</a:t>
                </a:r>
                <a:r>
                  <a:rPr sz="2400" b="0">
                    <a:solidFill>
                      <a:srgbClr val="111827"/>
                    </a:solidFill>
                    <a:latin typeface="Arial"/>
                  </a:rPr>
                  <a:t>, </a:t>
                </a:r>
                <a:r>
                  <a:rPr lang="en-IN" sz="2400">
                    <a:solidFill>
                      <a:srgbClr val="111827"/>
                    </a:solidFill>
                    <a:latin typeface="Cambria Math" panose="02040503050406030204" pitchFamily="18" charset="0"/>
                  </a:rPr>
                  <a:t>$Z_3-Z_1=p\omega^2(1-\omega)$</a:t>
                </a:r>
                <a:r>
                  <a:rPr sz="2400" b="0">
                    <a:solidFill>
                      <a:srgbClr val="111827"/>
                    </a:solidFill>
                    <a:latin typeface="Arial"/>
                  </a:rPr>
                  <a:t>, so the sum of reciprocals is </a:t>
                </a:r>
                <a:r>
                  <a:rPr lang="en-IN" sz="2400">
                    <a:solidFill>
                      <a:srgbClr val="111827"/>
                    </a:solidFill>
                    <a:latin typeface="Cambria Math" panose="02040503050406030204" pitchFamily="18" charset="0"/>
                  </a:rPr>
                  <a:t>$\frac{1}{p(1-\omega)}\left(1+\omega^{-1}+\omega^{-2}\right)=\frac{1+\omega^2+\omega}{p(1-\omega)}=0$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(B) holds (it is translation invariant).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follows from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𝑍</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𝑍</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a:rPr lang="en-IN" sz="2400" i="1">
                            <a:solidFill>
                              <a:srgbClr val="111827"/>
                            </a:solidFill>
                            <a:latin typeface="Cambria Math" panose="02040503050406030204" pitchFamily="18" charset="0"/>
                          </a:rPr>
                          <m:t>𝑍</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num>
                      <m:den>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(other orientation gives the conjugate): (D) holds.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$\sum(Z_k-c)^2=p^2(1+\omega^2+\omega^4)=0$</a:t>
                </a:r>
                <a:r>
                  <a:rPr sz="2400" b="0">
                    <a:solidFill>
                      <a:srgbClr val="111827"/>
                    </a:solidFill>
                    <a:latin typeface="Arial"/>
                  </a:rPr>
                  <a:t> and </a:t>
                </a:r>
                <a:r>
                  <a:rPr lang="en-IN" sz="2400">
                    <a:solidFill>
                      <a:srgbClr val="111827"/>
                    </a:solidFill>
                    <a:latin typeface="Cambria Math" panose="02040503050406030204" pitchFamily="18" charset="0"/>
                  </a:rPr>
                  <a:t>$\sum_{j&lt;k}(Z_j-c)(Z_k-c)=p^2(\omega+\omega^2+\omega^3)=0$</a:t>
                </a:r>
                <a:r>
                  <a:rPr sz="2400" b="0">
                    <a:solidFill>
                      <a:srgbClr val="111827"/>
                    </a:solidFill>
                    <a:latin typeface="Arial"/>
                  </a:rPr>
                  <a:t>, so (B) holds (it is translation invariant).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follows from </a:t>
                </a:r>
                <a:r>
                  <a:rPr lang="en-IN" sz="2400">
                    <a:solidFill>
                      <a:srgbClr val="111827"/>
                    </a:solidFill>
                    <a:latin typeface="Cambria Math" panose="02040503050406030204" pitchFamily="18" charset="0"/>
                  </a:rPr>
                  <a:t>$\sum Z^3-3\prod Z=(\sum Z)\left(\sum Z^2-\sum ZZ\right)=0$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$\frac{Z_1-Z_2}{Z_3-Z_2}=\frac{p(1-\omega)}{p(\omega^2-\omega)}=\frac{1-\omega}{\omega(\omega-1)}=-\omega^{-1}=-\omega^2=\frac12+i\frac{\sqrt3}2$</a:t>
                </a:r>
                <a:r>
                  <a:rPr sz="2400" b="0">
                    <a:solidFill>
                      <a:srgbClr val="111827"/>
                    </a:solidFill>
                    <a:latin typeface="Arial"/>
                  </a:rPr>
                  <a:t> (other orientation gives the conjugate): (D) holds.</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 D)</a:t>
            </a:r>
            <a:endParaRPr sz="2800">
              <a:solidFill>
                <a:srgbClr val="15803D"/>
              </a:solidFill>
            </a:endParaRP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form an equilateral triangle iff </a:t>
                </a:r>
                <a14:m>
                  <m:oMath xmlns:m="http://schemas.openxmlformats.org/officeDocument/2006/math">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(equivalently </a:t>
                </a: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 form: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𝑍</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a:rPr lang="en-IN" sz="2400" i="1">
                            <a:solidFill>
                              <a:srgbClr val="111827"/>
                            </a:solidFill>
                            <a:latin typeface="Cambria Math" panose="02040503050406030204" pitchFamily="18" charset="0"/>
                          </a:rPr>
                          <m:t>𝑍</m:t>
                        </m:r>
                      </m:e>
                    </m:d>
                  </m:oMath>
                </a14:m>
                <a:r>
                  <a:rPr sz="2400" b="0">
                    <a:solidFill>
                      <a:srgbClr val="111827"/>
                    </a:solidFill>
                    <a:latin typeface="Arial"/>
                  </a:rPr>
                  <a:t>, so for an equilateral triangle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𝑍</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𝑍</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wherever it is placed.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𝑍</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𝑍</m:t>
                    </m:r>
                    <m:r>
                      <a:rPr lang="en-IN" sz="2400" i="1">
                        <a:solidFill>
                          <a:srgbClr val="111827"/>
                        </a:solidFill>
                        <a:latin typeface="Cambria Math" panose="02040503050406030204" pitchFamily="18" charset="0"/>
                      </a:rPr>
                      <m:t>𝑍</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numerically.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$Z_1,Z_2,Z_3$</a:t>
                </a:r>
                <a:r>
                  <a:rPr sz="2400" b="0">
                    <a:solidFill>
                      <a:srgbClr val="111827"/>
                    </a:solidFill>
                    <a:latin typeface="Arial"/>
                  </a:rPr>
                  <a:t> form an equilateral triangle iff </a:t>
                </a:r>
                <a:r>
                  <a:rPr lang="en-IN" sz="2400">
                    <a:solidFill>
                      <a:srgbClr val="111827"/>
                    </a:solidFill>
                    <a:latin typeface="Cambria Math" panose="02040503050406030204" pitchFamily="18" charset="0"/>
                  </a:rPr>
                  <a:t>$Z_1^2+Z_2^2+Z_3^2=Z_1Z_2+Z_2Z_3+Z_3Z_1$</a:t>
                </a:r>
                <a:r>
                  <a:rPr sz="2400" b="0">
                    <a:solidFill>
                      <a:srgbClr val="111827"/>
                    </a:solidFill>
                    <a:latin typeface="Arial"/>
                  </a:rPr>
                  <a:t> (equivalently </a:t>
                </a:r>
                <a:r>
                  <a:rPr lang="en-IN" sz="2400">
                    <a:solidFill>
                      <a:srgbClr val="111827"/>
                    </a:solidFill>
                    <a:latin typeface="Cambria Math" panose="02040503050406030204" pitchFamily="18" charset="0"/>
                  </a:rPr>
                  <a:t>$Z_1+\omega Z_2+\omega^2Z_3=0$</a:t>
                </a:r>
                <a:r>
                  <a:rPr sz="2400" b="0">
                    <a:solidFill>
                      <a:srgbClr val="111827"/>
                    </a:solidFill>
                    <a:latin typeface="Arial"/>
                  </a:rPr>
                  <a:t> or </a:t>
                </a:r>
                <a:r>
                  <a:rPr lang="en-IN" sz="2400">
                    <a:solidFill>
                      <a:srgbClr val="111827"/>
                    </a:solidFill>
                    <a:latin typeface="Cambria Math" panose="02040503050406030204" pitchFamily="18" charset="0"/>
                  </a:rPr>
                  <a:t>$Z_1+\omega^2Z_2+\omega Z_3=0$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 form: </a:t>
                </a:r>
                <a:r>
                  <a:rPr lang="en-IN" sz="2400">
                    <a:solidFill>
                      <a:srgbClr val="111827"/>
                    </a:solidFill>
                    <a:latin typeface="Cambria Math" panose="02040503050406030204" pitchFamily="18" charset="0"/>
                  </a:rPr>
                  <a:t>$\frac{1}{Z_1-Z_2}+\frac{1}{Z_2-Z_3}+\frac{1}{Z_3-Z_1}=0$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$Z_1^3+Z_2^3+Z_3^3-3Z_1Z_2Z_3=(Z_1+Z_2+Z_3)\left(\sum Z^2-\sum ZZ\right)$</a:t>
                </a:r>
                <a:r>
                  <a:rPr sz="2400" b="0">
                    <a:solidFill>
                      <a:srgbClr val="111827"/>
                    </a:solidFill>
                    <a:latin typeface="Arial"/>
                  </a:rPr>
                  <a:t>, so for an equilateral triangle </a:t>
                </a:r>
                <a:r>
                  <a:rPr lang="en-IN" sz="2400">
                    <a:solidFill>
                      <a:srgbClr val="111827"/>
                    </a:solidFill>
                    <a:latin typeface="Cambria Math" panose="02040503050406030204" pitchFamily="18" charset="0"/>
                  </a:rPr>
                  <a:t>$\sum Z^3=3Z_1Z_2Z_3$</a:t>
                </a:r>
                <a:r>
                  <a:rPr sz="2400" b="0">
                    <a:solidFill>
                      <a:srgbClr val="111827"/>
                    </a:solidFill>
                    <a:latin typeface="Arial"/>
                  </a:rPr>
                  <a:t> wherever it is placed.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$Z=(0,1,e^{i\pi/3})$</a:t>
                </a:r>
                <a:r>
                  <a:rPr sz="2400" b="0">
                    <a:solidFill>
                      <a:srgbClr val="111827"/>
                    </a:solidFill>
                    <a:latin typeface="Arial"/>
                  </a:rPr>
                  <a:t>: </a:t>
                </a:r>
                <a:r>
                  <a:rPr lang="en-IN" sz="2400">
                    <a:solidFill>
                      <a:srgbClr val="111827"/>
                    </a:solidFill>
                    <a:latin typeface="Cambria Math" panose="02040503050406030204" pitchFamily="18" charset="0"/>
                  </a:rPr>
                  <a:t>$\sum Z^2-\sum ZZ=0$</a:t>
                </a:r>
                <a:r>
                  <a:rPr sz="2400" b="0">
                    <a:solidFill>
                      <a:srgbClr val="111827"/>
                    </a:solidFill>
                    <a:latin typeface="Arial"/>
                  </a:rPr>
                  <a:t> numerically.</a:t>
                </a:r>
                <a:endParaRPr sz="2400">
                  <a:solidFill>
                    <a:srgbClr val="111827"/>
                  </a:solidFill>
                </a:endParaRPr>
              </a:p>
            </p:txBody>
          </p:sp>
        </mc:Fallback>
      </mc:AlternateContent>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726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complex number satisfying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also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30</m:t>
                        </m:r>
                      </m:sup>
                      <m:e>
                        <m:sSup>
                          <m:e>
                            <m:d>
                              <m:dPr>
                                <m:begChr m:val="("/>
                                <m:sepChr m:val=""/>
                                <m:endChr m:val=")"/>
                                <m:grow/>
                                <m:ctrlPr>
                                  <a:rPr lang="en-IN" sz="2400" i="1">
                                    <a:solidFill>
                                      <a:srgbClr val="111827"/>
                                    </a:solidFill>
                                    <a:latin typeface="Cambria Math" panose="02040503050406030204" pitchFamily="18" charset="0"/>
                                  </a:rPr>
                                </m:ctrlPr>
                              </m:dPr>
                              <m:e>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𝑧</m:t>
                                            </m:r>
                                          </m:den>
                                        </m:f>
                                      </m:e>
                                    </m:d>
                                  </m:e>
                                  <m:sup>
                                    <m:r>
                                      <a:rPr lang="en-IN" sz="2400" i="1">
                                        <a:solidFill>
                                          <a:srgbClr val="111827"/>
                                        </a:solidFill>
                                        <a:latin typeface="Cambria Math" panose="02040503050406030204" pitchFamily="18" charset="0"/>
                                      </a:rPr>
                                      <m:t>𝑟</m:t>
                                    </m:r>
                                  </m:sup>
                                </m:sSup>
                              </m:e>
                            </m:d>
                          </m:e>
                          <m:sup>
                            <m:r>
                              <a:rPr lang="en-IN" sz="2400" i="1">
                                <a:solidFill>
                                  <a:srgbClr val="111827"/>
                                </a:solidFill>
                                <a:latin typeface="Cambria Math" panose="02040503050406030204" pitchFamily="18" charset="0"/>
                              </a:rPr>
                              <m:t>2</m:t>
                            </m:r>
                          </m:sup>
                        </m:sSup>
                      </m:e>
                    </m:nary>
                  </m:oMath>
                </a14:m>
                <a:r>
                  <a:rPr sz="2400" b="0">
                    <a:solidFill>
                      <a:srgbClr val="111827"/>
                    </a:solidFill>
                    <a:latin typeface="Arial"/>
                  </a:rPr>
                  <a:t>, then which of the following is/are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50</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50</m:t>
                    </m:r>
                  </m:oMath>
                </a14:m>
                <a:r>
                  <a:rPr sz="2400" b="0">
                    <a:solidFill>
                      <a:srgbClr val="111827"/>
                    </a:solidFill>
                    <a:latin typeface="Arial"/>
                  </a:rPr>
                  <a:t>   (D)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can be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endParaRPr sz="2400">
                  <a:solidFill>
                    <a:srgbClr val="111827"/>
                  </a:solidFill>
                </a:endParaRPr>
              </a:p>
            </p:txBody>
          </p:sp>
        </mc:Choice>
        <mc:Fallback>
          <p:sp>
            <p:nvSpPr>
              <p:cNvPr id="4" name="Rounded Rectangle 3"/>
              <p:cNvSpPr/>
              <p:nvPr/>
            </p:nvSpPr>
            <p:spPr>
              <a:xfrm>
                <a:off x="731520" y="1280160"/>
                <a:ext cx="10725912" cy="2772663"/>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a:t>
                </a:r>
                <a:r>
                  <a:rPr sz="2400" b="0">
                    <a:solidFill>
                      <a:srgbClr val="111827"/>
                    </a:solidFill>
                    <a:latin typeface="Arial"/>
                  </a:rPr>
                  <a:t> is a complex number satisfying </a:t>
                </a:r>
                <a:r>
                  <a:rPr lang="en-IN" sz="2400">
                    <a:solidFill>
                      <a:srgbClr val="111827"/>
                    </a:solidFill>
                    <a:latin typeface="Cambria Math" panose="02040503050406030204" pitchFamily="18" charset="0"/>
                  </a:rPr>
                  <a:t>$z^2+2z+4=0$</a:t>
                </a:r>
                <a:r>
                  <a:rPr sz="2400" b="0">
                    <a:solidFill>
                      <a:srgbClr val="111827"/>
                    </a:solidFill>
                    <a:latin typeface="Arial"/>
                  </a:rPr>
                  <a:t> and also </a:t>
                </a:r>
                <a:r>
                  <a:rPr lang="en-IN" sz="2400">
                    <a:solidFill>
                      <a:srgbClr val="111827"/>
                    </a:solidFill>
                    <a:latin typeface="Cambria Math" panose="02040503050406030204" pitchFamily="18" charset="0"/>
                  </a:rPr>
                  <a:t>$S=\sum_{r=1}^{30}\left(\left(\frac z2\right)^r+\left(\frac2z\right)^r\right)^2$</a:t>
                </a:r>
                <a:r>
                  <a:rPr sz="2400" b="0">
                    <a:solidFill>
                      <a:srgbClr val="111827"/>
                    </a:solidFill>
                    <a:latin typeface="Arial"/>
                  </a:rPr>
                  <a:t>, then which of the following is/are true:</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$|z|=1$</a:t>
                </a:r>
                <a:r>
                  <a:rPr sz="2400" b="0">
                    <a:solidFill>
                      <a:srgbClr val="111827"/>
                    </a:solidFill>
                    <a:latin typeface="Arial"/>
                  </a:rPr>
                  <a:t>   (B) </a:t>
                </a:r>
                <a:r>
                  <a:rPr lang="en-IN" sz="2400">
                    <a:solidFill>
                      <a:srgbClr val="111827"/>
                    </a:solidFill>
                    <a:latin typeface="Cambria Math" panose="02040503050406030204" pitchFamily="18" charset="0"/>
                  </a:rPr>
                  <a:t>$S&gt;50$</a:t>
                </a:r>
                <a:r>
                  <a:rPr sz="2400" b="0">
                    <a:solidFill>
                      <a:srgbClr val="111827"/>
                    </a:solidFill>
                    <a:latin typeface="Arial"/>
                  </a:rPr>
                  <a:t>   (C) </a:t>
                </a:r>
                <a:r>
                  <a:rPr lang="en-IN" sz="2400">
                    <a:solidFill>
                      <a:srgbClr val="111827"/>
                    </a:solidFill>
                    <a:latin typeface="Cambria Math" panose="02040503050406030204" pitchFamily="18" charset="0"/>
                  </a:rPr>
                  <a:t>$S&lt;50$</a:t>
                </a:r>
                <a:r>
                  <a:rPr sz="2400" b="0">
                    <a:solidFill>
                      <a:srgbClr val="111827"/>
                    </a:solidFill>
                    <a:latin typeface="Arial"/>
                  </a:rPr>
                  <a:t>   (D) </a:t>
                </a:r>
                <a:r>
                  <a:rPr lang="en-IN" sz="2400">
                    <a:solidFill>
                      <a:srgbClr val="111827"/>
                    </a:solidFill>
                    <a:latin typeface="Cambria Math" panose="02040503050406030204" pitchFamily="18" charset="0"/>
                  </a:rPr>
                  <a:t>$\arg(z)$</a:t>
                </a:r>
                <a:r>
                  <a:rPr sz="2400" b="0">
                    <a:solidFill>
                      <a:srgbClr val="111827"/>
                    </a:solidFill>
                    <a:latin typeface="Arial"/>
                  </a:rPr>
                  <a:t> can be </a:t>
                </a:r>
                <a:r>
                  <a:rPr lang="en-IN" sz="2400">
                    <a:solidFill>
                      <a:srgbClr val="111827"/>
                    </a:solidFill>
                    <a:latin typeface="Cambria Math" panose="02040503050406030204" pitchFamily="18" charset="0"/>
                  </a:rPr>
                  <a:t>$\frac{2\pi}{3}$</a:t>
                </a:r>
                <a:endParaRPr sz="2400">
                  <a:solidFill>
                    <a:srgbClr val="111827"/>
                  </a:solidFill>
                </a:endParaRPr>
              </a:p>
            </p:txBody>
          </p:sp>
        </mc:Fallback>
      </mc:AlternateContent>
      <p:sp>
        <p:nvSpPr>
          <p:cNvPr id="5" name="Rectangle 4"/>
          <p:cNvSpPr/>
          <p:nvPr/>
        </p:nvSpPr>
        <p:spPr>
          <a:xfrm>
            <a:off x="731520" y="42814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cube roots of unity and quadratic roots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roots are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so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𝑧</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ω</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oMath>
                </a14:m>
                <a:r>
                  <a:rPr sz="2400" b="0">
                    <a:solidFill>
                      <a:srgbClr val="78350F"/>
                    </a:solidFill>
                    <a:latin typeface="Arial"/>
                  </a:rPr>
                  <a:t> and each term depends only on </a:t>
                </a:r>
                <a14:m>
                  <m:oMath xmlns:m="http://schemas.openxmlformats.org/officeDocument/2006/math">
                    <m:r>
                      <a:rPr lang="en-IN" sz="2400" i="1">
                        <a:solidFill>
                          <a:srgbClr val="78350F"/>
                        </a:solidFill>
                        <a:latin typeface="Cambria Math" panose="02040503050406030204" pitchFamily="18" charset="0"/>
                      </a:rPr>
                      <m:t>𝑟</m:t>
                    </m:r>
                  </m:oMath>
                </a14:m>
                <a:r>
                  <a:rPr sz="2400" b="0">
                    <a:solidFill>
                      <a:srgbClr val="78350F"/>
                    </a:solidFill>
                    <a:latin typeface="Arial"/>
                  </a:rPr>
                  <a:t> modulo </a:t>
                </a:r>
                <a14:m>
                  <m:oMath xmlns:m="http://schemas.openxmlformats.org/officeDocument/2006/math">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roots are </a:t>
                </a:r>
                <a:r>
                  <a:rPr lang="en-IN" sz="2400">
                    <a:solidFill>
                      <a:srgbClr val="78350F"/>
                    </a:solidFill>
                    <a:latin typeface="Cambria Math" panose="02040503050406030204" pitchFamily="18" charset="0"/>
                  </a:rPr>
                  <a:t>$2\omega,2\omega^2$</a:t>
                </a:r>
                <a:r>
                  <a:rPr sz="2400" b="0">
                    <a:solidFill>
                      <a:srgbClr val="78350F"/>
                    </a:solidFill>
                    <a:latin typeface="Arial"/>
                  </a:rPr>
                  <a:t>, so </a:t>
                </a:r>
                <a:r>
                  <a:rPr lang="en-IN" sz="2400">
                    <a:solidFill>
                      <a:srgbClr val="78350F"/>
                    </a:solidFill>
                    <a:latin typeface="Cambria Math" panose="02040503050406030204" pitchFamily="18" charset="0"/>
                  </a:rPr>
                  <a:t>$\frac z2=\omega^{\pm1}$</a:t>
                </a:r>
                <a:r>
                  <a:rPr sz="2400" b="0">
                    <a:solidFill>
                      <a:srgbClr val="78350F"/>
                    </a:solidFill>
                    <a:latin typeface="Arial"/>
                  </a:rPr>
                  <a:t> and each term depends only on </a:t>
                </a:r>
                <a:r>
                  <a:rPr lang="en-IN" sz="2400">
                    <a:solidFill>
                      <a:srgbClr val="78350F"/>
                    </a:solidFill>
                    <a:latin typeface="Cambria Math" panose="02040503050406030204" pitchFamily="18" charset="0"/>
                  </a:rPr>
                  <a:t>$r$</a:t>
                </a:r>
                <a:r>
                  <a:rPr sz="2400" b="0">
                    <a:solidFill>
                      <a:srgbClr val="78350F"/>
                    </a:solidFill>
                    <a:latin typeface="Arial"/>
                  </a:rPr>
                  <a:t> modulo </a:t>
                </a:r>
                <a:r>
                  <a:rPr lang="en-IN" sz="2400">
                    <a:solidFill>
                      <a:srgbClr val="78350F"/>
                    </a:solidFill>
                    <a:latin typeface="Cambria Math" panose="02040503050406030204" pitchFamily="18" charset="0"/>
                  </a:rPr>
                  <a: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ω</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or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ω</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vice versa), so each term is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4</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$z^2+2z+4=0$</a:t>
                </a:r>
                <a:r>
                  <a:rPr sz="2400" b="0">
                    <a:solidFill>
                      <a:srgbClr val="111827"/>
                    </a:solidFill>
                    <a:latin typeface="Arial"/>
                  </a:rPr>
                  <a:t> gives </a:t>
                </a:r>
                <a:r>
                  <a:rPr lang="en-IN" sz="2400">
                    <a:solidFill>
                      <a:srgbClr val="111827"/>
                    </a:solidFill>
                    <a:latin typeface="Cambria Math" panose="02040503050406030204" pitchFamily="18" charset="0"/>
                  </a:rPr>
                  <a:t>$z=-1\pm i\sqrt3=2\omega$</a:t>
                </a:r>
                <a:r>
                  <a:rPr sz="2400" b="0">
                    <a:solidFill>
                      <a:srgbClr val="111827"/>
                    </a:solidFill>
                    <a:latin typeface="Arial"/>
                  </a:rPr>
                  <a:t> or </a:t>
                </a:r>
                <a:r>
                  <a:rPr lang="en-IN" sz="2400">
                    <a:solidFill>
                      <a:srgbClr val="111827"/>
                    </a:solidFill>
                    <a:latin typeface="Cambria Math" panose="02040503050406030204" pitchFamily="18" charset="0"/>
                  </a:rPr>
                  <a:t>$2\omega^2$</a:t>
                </a:r>
                <a:r>
                  <a:rPr sz="2400" b="0">
                    <a:solidFill>
                      <a:srgbClr val="111827"/>
                    </a:solidFill>
                    <a:latin typeface="Arial"/>
                  </a:rPr>
                  <a:t>, so </a:t>
                </a:r>
                <a:r>
                  <a:rPr lang="en-IN" sz="2400">
                    <a:solidFill>
                      <a:srgbClr val="111827"/>
                    </a:solidFill>
                    <a:latin typeface="Cambria Math" panose="02040503050406030204" pitchFamily="18" charset="0"/>
                  </a:rPr>
                  <a:t>$\frac z2=\omega$</a:t>
                </a:r>
                <a:r>
                  <a:rPr sz="2400" b="0">
                    <a:solidFill>
                      <a:srgbClr val="111827"/>
                    </a:solidFill>
                    <a:latin typeface="Arial"/>
                  </a:rPr>
                  <a:t> or </a:t>
                </a:r>
                <a:r>
                  <a:rPr lang="en-IN" sz="2400">
                    <a:solidFill>
                      <a:srgbClr val="111827"/>
                    </a:solidFill>
                    <a:latin typeface="Cambria Math" panose="02040503050406030204" pitchFamily="18" charset="0"/>
                  </a:rPr>
                  <a:t>$\omega^2$</a:t>
                </a:r>
                <a:r>
                  <a:rPr sz="2400" b="0">
                    <a:solidFill>
                      <a:srgbClr val="111827"/>
                    </a:solidFill>
                    <a:latin typeface="Arial"/>
                  </a:rPr>
                  <a:t> and </a:t>
                </a:r>
                <a:r>
                  <a:rPr lang="en-IN" sz="2400">
                    <a:solidFill>
                      <a:srgbClr val="111827"/>
                    </a:solidFill>
                    <a:latin typeface="Cambria Math" panose="02040503050406030204" pitchFamily="18" charset="0"/>
                  </a:rPr>
                  <a:t>$|z|=2$</a:t>
                </a:r>
                <a:r>
                  <a:rPr sz="2400" b="0">
                    <a:solidFill>
                      <a:srgbClr val="111827"/>
                    </a:solidFill>
                    <a:latin typeface="Arial"/>
                  </a:rPr>
                  <a:t>: (A)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$\frac z2=\omega$</a:t>
                </a:r>
                <a:r>
                  <a:rPr sz="2400" b="0">
                    <a:solidFill>
                      <a:srgbClr val="111827"/>
                    </a:solidFill>
                    <a:latin typeface="Arial"/>
                  </a:rPr>
                  <a:t> then </a:t>
                </a:r>
                <a:r>
                  <a:rPr lang="en-IN" sz="2400">
                    <a:solidFill>
                      <a:srgbClr val="111827"/>
                    </a:solidFill>
                    <a:latin typeface="Cambria Math" panose="02040503050406030204" pitchFamily="18" charset="0"/>
                  </a:rPr>
                  <a:t>$\frac2z=\frac1\omega=\omega^2$</a:t>
                </a:r>
                <a:r>
                  <a:rPr sz="2400" b="0">
                    <a:solidFill>
                      <a:srgbClr val="111827"/>
                    </a:solidFill>
                    <a:latin typeface="Arial"/>
                  </a:rPr>
                  <a:t> (and vice versa), so each term is </a:t>
                </a:r>
                <a:r>
                  <a:rPr lang="en-IN" sz="2400">
                    <a:solidFill>
                      <a:srgbClr val="111827"/>
                    </a:solidFill>
                    <a:latin typeface="Cambria Math" panose="02040503050406030204" pitchFamily="18" charset="0"/>
                  </a:rPr>
                  <a:t>$(\omega^r+\omega^{2r})^2$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$r=1$</a:t>
                </a:r>
                <a:r>
                  <a:rPr sz="2400" b="0">
                    <a:solidFill>
                      <a:srgbClr val="111827"/>
                    </a:solidFill>
                    <a:latin typeface="Arial"/>
                  </a:rPr>
                  <a:t>: </a:t>
                </a:r>
                <a:r>
                  <a:rPr lang="en-IN" sz="2400">
                    <a:solidFill>
                      <a:srgbClr val="111827"/>
                    </a:solidFill>
                    <a:latin typeface="Cambria Math" panose="02040503050406030204" pitchFamily="18" charset="0"/>
                  </a:rPr>
                  <a:t>$(\omega+\omega^2)^2=(-1)^2=1$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$r=2$</a:t>
                </a:r>
                <a:r>
                  <a:rPr sz="2400" b="0">
                    <a:solidFill>
                      <a:srgbClr val="111827"/>
                    </a:solidFill>
                    <a:latin typeface="Arial"/>
                  </a:rPr>
                  <a:t>: </a:t>
                </a:r>
                <a:r>
                  <a:rPr lang="en-IN" sz="2400">
                    <a:solidFill>
                      <a:srgbClr val="111827"/>
                    </a:solidFill>
                    <a:latin typeface="Cambria Math" panose="02040503050406030204" pitchFamily="18" charset="0"/>
                  </a:rPr>
                  <a:t>$(\omega^2+\omega^4)^2=(\omega^2+\omega)^2=1$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6</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pattern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repeats with period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there are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complete periods, each summing to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50</m:t>
                    </m:r>
                  </m:oMath>
                </a14:m>
                <a:r>
                  <a:rPr sz="2400" b="0">
                    <a:solidFill>
                      <a:srgbClr val="111827"/>
                    </a:solidFill>
                    <a:latin typeface="Arial"/>
                  </a:rPr>
                  <a:t>: (B) is true and (C)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(D) is true. Answer: (B),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$r=3$</a:t>
                </a:r>
                <a:r>
                  <a:rPr sz="2400" b="0">
                    <a:solidFill>
                      <a:srgbClr val="111827"/>
                    </a:solidFill>
                    <a:latin typeface="Arial"/>
                  </a:rPr>
                  <a:t>: </a:t>
                </a:r>
                <a:r>
                  <a:rPr lang="en-IN" sz="2400">
                    <a:solidFill>
                      <a:srgbClr val="111827"/>
                    </a:solidFill>
                    <a:latin typeface="Cambria Math" panose="02040503050406030204" pitchFamily="18" charset="0"/>
                  </a:rPr>
                  <a:t>$(\omega^3+\omega^6)^2=(1+1)^2=4$</a:t>
                </a:r>
                <a:r>
                  <a:rPr sz="2400" b="0">
                    <a:solidFill>
                      <a:srgbClr val="111827"/>
                    </a:solidFill>
                    <a:latin typeface="Arial"/>
                  </a:rPr>
                  <a:t>. The pattern </a:t>
                </a:r>
                <a:r>
                  <a:rPr lang="en-IN" sz="2400">
                    <a:solidFill>
                      <a:srgbClr val="111827"/>
                    </a:solidFill>
                    <a:latin typeface="Cambria Math" panose="02040503050406030204" pitchFamily="18" charset="0"/>
                  </a:rPr>
                  <a:t>$1,1,4$</a:t>
                </a:r>
                <a:r>
                  <a:rPr sz="2400" b="0">
                    <a:solidFill>
                      <a:srgbClr val="111827"/>
                    </a:solidFill>
                    <a:latin typeface="Arial"/>
                  </a:rPr>
                  <a:t> repeats with period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$r=1,\ldots,30$</a:t>
                </a:r>
                <a:r>
                  <a:rPr sz="2400" b="0">
                    <a:solidFill>
                      <a:srgbClr val="111827"/>
                    </a:solidFill>
                    <a:latin typeface="Arial"/>
                  </a:rPr>
                  <a:t> there are </a:t>
                </a:r>
                <a:r>
                  <a:rPr lang="en-IN" sz="2400">
                    <a:solidFill>
                      <a:srgbClr val="111827"/>
                    </a:solidFill>
                    <a:latin typeface="Cambria Math" panose="02040503050406030204" pitchFamily="18" charset="0"/>
                  </a:rPr>
                  <a:t>$10$</a:t>
                </a:r>
                <a:r>
                  <a:rPr sz="2400" b="0">
                    <a:solidFill>
                      <a:srgbClr val="111827"/>
                    </a:solidFill>
                    <a:latin typeface="Arial"/>
                  </a:rPr>
                  <a:t> complete periods, each summing to </a:t>
                </a:r>
                <a:r>
                  <a:rPr lang="en-IN" sz="2400">
                    <a:solidFill>
                      <a:srgbClr val="111827"/>
                    </a:solidFill>
                    <a:latin typeface="Cambria Math" panose="02040503050406030204" pitchFamily="18" charset="0"/>
                  </a:rPr>
                  <a:t>$1+1+4=6$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$S=10\times6=60&gt;50$</a:t>
                </a:r>
                <a:r>
                  <a:rPr sz="2400" b="0">
                    <a:solidFill>
                      <a:srgbClr val="111827"/>
                    </a:solidFill>
                    <a:latin typeface="Arial"/>
                  </a:rPr>
                  <a:t>: (B) is true and (C) is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$z=-1+i\sqrt3$</a:t>
                </a:r>
                <a:r>
                  <a:rPr sz="2400" b="0">
                    <a:solidFill>
                      <a:srgbClr val="111827"/>
                    </a:solidFill>
                    <a:latin typeface="Arial"/>
                  </a:rPr>
                  <a:t>: </a:t>
                </a:r>
                <a:r>
                  <a:rPr lang="en-IN" sz="2400">
                    <a:solidFill>
                      <a:srgbClr val="111827"/>
                    </a:solidFill>
                    <a:latin typeface="Cambria Math" panose="02040503050406030204" pitchFamily="18" charset="0"/>
                  </a:rPr>
                  <a:t>$\arg z=\frac{2\pi}{3}$</a:t>
                </a:r>
                <a:r>
                  <a:rPr sz="2400" b="0">
                    <a:solidFill>
                      <a:srgbClr val="111827"/>
                    </a:solidFill>
                    <a:latin typeface="Arial"/>
                  </a:rPr>
                  <a:t>, so (D) is true. Answer: (B),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D)</a:t>
            </a:r>
            <a:endParaRPr sz="2800">
              <a:solidFill>
                <a:srgbClr val="15803D"/>
              </a:solidFill>
            </a:endParaRP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each square: </a:t>
                </a:r>
                <a14:m>
                  <m:oMath xmlns:m="http://schemas.openxmlformats.org/officeDocument/2006/math">
                    <m:sSup>
                      <m:e>
                        <m:d>
                          <m:dPr>
                            <m:begChr m:val="("/>
                            <m:sepChr m:val=""/>
                            <m:endChr m:val=")"/>
                            <m:grow/>
                            <m:ctrlPr>
                              <a:rPr lang="en-IN" sz="2400" i="1">
                                <a:solidFill>
                                  <a:srgbClr val="78350F"/>
                                </a:solidFill>
                                <a:latin typeface="Cambria Math" panose="02040503050406030204" pitchFamily="18" charset="0"/>
                              </a:rPr>
                            </m:ctrlPr>
                          </m:dPr>
                          <m:e>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𝑟</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sup>
                            </m:sSup>
                          </m:e>
                        </m:d>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𝑟</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𝑎</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𝑟</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ω</m:t>
                    </m:r>
                  </m:oMath>
                </a14:m>
                <a:r>
                  <a:rPr sz="2400" b="0">
                    <a:solidFill>
                      <a:srgbClr val="78350F"/>
                    </a:solidFill>
                    <a:latin typeface="Arial"/>
                  </a:rPr>
                  <a:t>; the unit-root sums vanish over full periods.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each square: </a:t>
                </a:r>
                <a:r>
                  <a:rPr lang="en-IN" sz="2400">
                    <a:solidFill>
                      <a:srgbClr val="78350F"/>
                    </a:solidFill>
                    <a:latin typeface="Cambria Math" panose="02040503050406030204" pitchFamily="18" charset="0"/>
                  </a:rPr>
                  <a:t>$\left(a^r+a^{-r}\right)^2=a^{2r}+a^{-2r}+2$</a:t>
                </a:r>
                <a:r>
                  <a:rPr sz="2400" b="0">
                    <a:solidFill>
                      <a:srgbClr val="78350F"/>
                    </a:solidFill>
                    <a:latin typeface="Arial"/>
                  </a:rPr>
                  <a:t> with </a:t>
                </a:r>
                <a:r>
                  <a:rPr lang="en-IN" sz="2400">
                    <a:solidFill>
                      <a:srgbClr val="78350F"/>
                    </a:solidFill>
                    <a:latin typeface="Cambria Math" panose="02040503050406030204" pitchFamily="18" charset="0"/>
                  </a:rPr>
                  <a:t>$a=\omega$</a:t>
                </a:r>
                <a:r>
                  <a:rPr sz="2400" b="0">
                    <a:solidFill>
                      <a:srgbClr val="78350F"/>
                    </a:solidFill>
                    <a:latin typeface="Arial"/>
                  </a:rPr>
                  <a:t>; the unit-root sums vanish over full periods.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each term is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30</m:t>
                        </m:r>
                      </m:sup>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e>
                    </m:nary>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again a primitive cube root of unity, and </a:t>
                </a:r>
                <a14:m>
                  <m:oMath xmlns:m="http://schemas.openxmlformats.org/officeDocument/2006/math">
                    <m:r>
                      <a:rPr lang="en-IN" sz="2400" i="1">
                        <a:solidFill>
                          <a:srgbClr val="111827"/>
                        </a:solidFill>
                        <a:latin typeface="Cambria Math" panose="02040503050406030204" pitchFamily="18" charset="0"/>
                      </a:rPr>
                      <m:t>30</m:t>
                    </m:r>
                  </m:oMath>
                </a14:m>
                <a:r>
                  <a:rPr sz="2400" b="0">
                    <a:solidFill>
                      <a:srgbClr val="111827"/>
                    </a:solidFill>
                    <a:latin typeface="Arial"/>
                  </a:rPr>
                  <a:t> is a multiple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so the geometric sum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$a=\frac z2=\omega^{\pm1}$</a:t>
                </a:r>
                <a:r>
                  <a:rPr sz="2400" b="0">
                    <a:solidFill>
                      <a:srgbClr val="111827"/>
                    </a:solidFill>
                    <a:latin typeface="Arial"/>
                  </a:rPr>
                  <a:t> and </a:t>
                </a:r>
                <a:r>
                  <a:rPr lang="en-IN" sz="2400">
                    <a:solidFill>
                      <a:srgbClr val="111827"/>
                    </a:solidFill>
                    <a:latin typeface="Cambria Math" panose="02040503050406030204" pitchFamily="18" charset="0"/>
                  </a:rPr>
                  <a:t>$\frac2z=a^{-1}$</a:t>
                </a:r>
                <a:r>
                  <a:rPr sz="2400" b="0">
                    <a:solidFill>
                      <a:srgbClr val="111827"/>
                    </a:solidFill>
                    <a:latin typeface="Arial"/>
                  </a:rPr>
                  <a:t>, each term is </a:t>
                </a:r>
                <a:r>
                  <a:rPr lang="en-IN" sz="2400">
                    <a:solidFill>
                      <a:srgbClr val="111827"/>
                    </a:solidFill>
                    <a:latin typeface="Cambria Math" panose="02040503050406030204" pitchFamily="18" charset="0"/>
                  </a:rPr>
                  <a:t>$(a^r+a^{-r})^2=a^{2r}+a^{-2r}+2$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$\sum_{r=1}^{30}a^{2r}$</a:t>
                </a:r>
                <a:r>
                  <a:rPr sz="2400" b="0">
                    <a:solidFill>
                      <a:srgbClr val="111827"/>
                    </a:solidFill>
                    <a:latin typeface="Arial"/>
                  </a:rPr>
                  <a:t>: </a:t>
                </a:r>
                <a:r>
                  <a:rPr lang="en-IN" sz="2400">
                    <a:solidFill>
                      <a:srgbClr val="111827"/>
                    </a:solidFill>
                    <a:latin typeface="Cambria Math" panose="02040503050406030204" pitchFamily="18" charset="0"/>
                  </a:rPr>
                  <a:t>$a^2$</a:t>
                </a:r>
                <a:r>
                  <a:rPr sz="2400" b="0">
                    <a:solidFill>
                      <a:srgbClr val="111827"/>
                    </a:solidFill>
                    <a:latin typeface="Arial"/>
                  </a:rPr>
                  <a:t> is again a primitive cube root of unity, and </a:t>
                </a:r>
                <a:r>
                  <a:rPr lang="en-IN" sz="2400">
                    <a:solidFill>
                      <a:srgbClr val="111827"/>
                    </a:solidFill>
                    <a:latin typeface="Cambria Math" panose="02040503050406030204" pitchFamily="18" charset="0"/>
                  </a:rPr>
                  <a:t>$30$</a:t>
                </a:r>
                <a:r>
                  <a:rPr sz="2400" b="0">
                    <a:solidFill>
                      <a:srgbClr val="111827"/>
                    </a:solidFill>
                    <a:latin typeface="Arial"/>
                  </a:rPr>
                  <a:t> is a multiple of </a:t>
                </a:r>
                <a:r>
                  <a:rPr lang="en-IN" sz="2400">
                    <a:solidFill>
                      <a:srgbClr val="111827"/>
                    </a:solidFill>
                    <a:latin typeface="Cambria Math" panose="02040503050406030204" pitchFamily="18" charset="0"/>
                  </a:rPr>
                  <a:t>$3$</a:t>
                </a:r>
                <a:r>
                  <a:rPr sz="2400" b="0">
                    <a:solidFill>
                      <a:srgbClr val="111827"/>
                    </a:solidFill>
                    <a:latin typeface="Arial"/>
                  </a:rPr>
                  <a:t>, so the geometric sum is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Likewise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30</m:t>
                        </m:r>
                      </m:sup>
                      <m:e>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50</m:t>
                    </m:r>
                  </m:oMath>
                </a14:m>
                <a:r>
                  <a:rPr sz="2400" b="0">
                    <a:solidFill>
                      <a:srgbClr val="111827"/>
                    </a:solidFill>
                    <a:latin typeface="Arial"/>
                  </a:rPr>
                  <a:t>, agreeing with the term-by-term count.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Likewise </a:t>
                </a:r>
                <a:r>
                  <a:rPr lang="en-IN" sz="2400">
                    <a:solidFill>
                      <a:srgbClr val="111827"/>
                    </a:solidFill>
                    <a:latin typeface="Cambria Math" panose="02040503050406030204" pitchFamily="18" charset="0"/>
                  </a:rPr>
                  <a:t>$\sum_{r=1}^{30}a^{-2r}=0$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$S=0+0+2\times30=60&gt;50$</a:t>
                </a:r>
                <a:r>
                  <a:rPr sz="2400" b="0">
                    <a:solidFill>
                      <a:srgbClr val="111827"/>
                    </a:solidFill>
                    <a:latin typeface="Arial"/>
                  </a:rPr>
                  <a:t>, agreeing with the term-by-term count.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D)</a:t>
            </a:r>
            <a:endParaRPr sz="2800">
              <a:solidFill>
                <a:srgbClr val="15803D"/>
              </a:solidFill>
            </a:endParaRP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primitive cube root of unity </a:t>
                </a:r>
                <a14:m>
                  <m:oMath xmlns:m="http://schemas.openxmlformats.org/officeDocument/2006/math">
                    <m:r>
                      <a:rPr lang="en-IN" sz="2400" i="1">
                        <a:solidFill>
                          <a:srgbClr val="111827"/>
                        </a:solidFill>
                        <a:latin typeface="Cambria Math" panose="02040503050406030204" pitchFamily="18" charset="0"/>
                      </a:rPr>
                      <m:t>ω</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sup>
                      <m:e>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𝑟</m:t>
                            </m:r>
                          </m:sup>
                        </m:s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whenever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sums of such terms over full periods leave only the constant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per term.</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roots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since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scaled by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in general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has roots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term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others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30</m:t>
                    </m:r>
                  </m:oMath>
                </a14:m>
                <a:r>
                  <a:rPr sz="2400" b="0">
                    <a:solidFill>
                      <a:srgbClr val="111827"/>
                    </a:solidFill>
                    <a:latin typeface="Arial"/>
                  </a:rPr>
                  <a:t> terms give </a:t>
                </a:r>
                <a14:m>
                  <m:oMath xmlns:m="http://schemas.openxmlformats.org/officeDocument/2006/math">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primitive cube root of unity </a:t>
                </a:r>
                <a:r>
                  <a:rPr lang="en-IN" sz="2400">
                    <a:solidFill>
                      <a:srgbClr val="111827"/>
                    </a:solidFill>
                    <a:latin typeface="Cambria Math" panose="02040503050406030204" pitchFamily="18" charset="0"/>
                  </a:rPr>
                  <a:t>$\omega$</a:t>
                </a:r>
                <a:r>
                  <a:rPr sz="2400" b="0">
                    <a:solidFill>
                      <a:srgbClr val="111827"/>
                    </a:solidFill>
                    <a:latin typeface="Arial"/>
                  </a:rPr>
                  <a:t>: </a:t>
                </a:r>
                <a:r>
                  <a:rPr lang="en-IN" sz="2400">
                    <a:solidFill>
                      <a:srgbClr val="111827"/>
                    </a:solidFill>
                    <a:latin typeface="Cambria Math" panose="02040503050406030204" pitchFamily="18" charset="0"/>
                  </a:rPr>
                  <a:t>$\sum_{r=1}^{3m}\omega^{kr}=0$</a:t>
                </a:r>
                <a:r>
                  <a:rPr sz="2400" b="0">
                    <a:solidFill>
                      <a:srgbClr val="111827"/>
                    </a:solidFill>
                    <a:latin typeface="Arial"/>
                  </a:rPr>
                  <a:t> whenever </a:t>
                </a:r>
                <a:r>
                  <a:rPr lang="en-IN" sz="2400">
                    <a:solidFill>
                      <a:srgbClr val="111827"/>
                    </a:solidFill>
                    <a:latin typeface="Cambria Math" panose="02040503050406030204" pitchFamily="18" charset="0"/>
                  </a:rPr>
                  <a:t>$3\nmid 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$\left(a^r+a^{-r}\right)^2=a^{2r}+a^{-2r}+2$</a:t>
                </a:r>
                <a:r>
                  <a:rPr sz="2400" b="0">
                    <a:solidFill>
                      <a:srgbClr val="111827"/>
                    </a:solidFill>
                    <a:latin typeface="Arial"/>
                  </a:rPr>
                  <a:t>; sums of such terms over full periods leave only the constant </a:t>
                </a:r>
                <a:r>
                  <a:rPr lang="en-IN" sz="2400">
                    <a:solidFill>
                      <a:srgbClr val="111827"/>
                    </a:solidFill>
                    <a:latin typeface="Cambria Math" panose="02040503050406030204" pitchFamily="18" charset="0"/>
                  </a:rPr>
                  <a:t>$2$</a:t>
                </a:r>
                <a:r>
                  <a:rPr sz="2400" b="0">
                    <a:solidFill>
                      <a:srgbClr val="111827"/>
                    </a:solidFill>
                    <a:latin typeface="Arial"/>
                  </a:rPr>
                  <a:t> per term.</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$z^2+2z+4=0$</a:t>
                </a:r>
                <a:r>
                  <a:rPr sz="2400" b="0">
                    <a:solidFill>
                      <a:srgbClr val="111827"/>
                    </a:solidFill>
                    <a:latin typeface="Arial"/>
                  </a:rPr>
                  <a:t> has roots </a:t>
                </a:r>
                <a:r>
                  <a:rPr lang="en-IN" sz="2400">
                    <a:solidFill>
                      <a:srgbClr val="111827"/>
                    </a:solidFill>
                    <a:latin typeface="Cambria Math" panose="02040503050406030204" pitchFamily="18" charset="0"/>
                  </a:rPr>
                  <a:t>$2\omega,2\omega^2$</a:t>
                </a:r>
                <a:r>
                  <a:rPr sz="2400" b="0">
                    <a:solidFill>
                      <a:srgbClr val="111827"/>
                    </a:solidFill>
                    <a:latin typeface="Arial"/>
                  </a:rPr>
                  <a:t> since </a:t>
                </a:r>
                <a:r>
                  <a:rPr lang="en-IN" sz="2400">
                    <a:solidFill>
                      <a:srgbClr val="111827"/>
                    </a:solidFill>
                    <a:latin typeface="Cambria Math" panose="02040503050406030204" pitchFamily="18" charset="0"/>
                  </a:rPr>
                  <a:t>$x^2+x+1=0$</a:t>
                </a:r>
                <a:r>
                  <a:rPr sz="2400" b="0">
                    <a:solidFill>
                      <a:srgbClr val="111827"/>
                    </a:solidFill>
                    <a:latin typeface="Arial"/>
                  </a:rPr>
                  <a:t> scaled by </a:t>
                </a:r>
                <a:r>
                  <a:rPr lang="en-IN" sz="2400">
                    <a:solidFill>
                      <a:srgbClr val="111827"/>
                    </a:solidFill>
                    <a:latin typeface="Cambria Math" panose="02040503050406030204" pitchFamily="18" charset="0"/>
                  </a:rPr>
                  <a:t>$2$</a:t>
                </a:r>
                <a:r>
                  <a:rPr sz="2400" b="0">
                    <a:solidFill>
                      <a:srgbClr val="111827"/>
                    </a:solidFill>
                    <a:latin typeface="Arial"/>
                  </a:rPr>
                  <a:t>; in general </a:t>
                </a:r>
                <a:r>
                  <a:rPr lang="en-IN" sz="2400">
                    <a:solidFill>
                      <a:srgbClr val="111827"/>
                    </a:solidFill>
                    <a:latin typeface="Cambria Math" panose="02040503050406030204" pitchFamily="18" charset="0"/>
                  </a:rPr>
                  <a:t>$z^2+pz+p^2=0$</a:t>
                </a:r>
                <a:r>
                  <a:rPr sz="2400" b="0">
                    <a:solidFill>
                      <a:srgbClr val="111827"/>
                    </a:solidFill>
                    <a:latin typeface="Arial"/>
                  </a:rPr>
                  <a:t> has roots </a:t>
                </a:r>
                <a:r>
                  <a:rPr lang="en-IN" sz="2400">
                    <a:solidFill>
                      <a:srgbClr val="111827"/>
                    </a:solidFill>
                    <a:latin typeface="Cambria Math" panose="02040503050406030204" pitchFamily="18" charset="0"/>
                  </a:rPr>
                  <a:t>$p\omega,p\omega^2$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$r=3$</a:t>
                </a:r>
                <a:r>
                  <a:rPr sz="2400" b="0">
                    <a:solidFill>
                      <a:srgbClr val="111827"/>
                    </a:solidFill>
                    <a:latin typeface="Arial"/>
                  </a:rPr>
                  <a:t> term </a:t>
                </a:r>
                <a:r>
                  <a:rPr lang="en-IN" sz="2400">
                    <a:solidFill>
                      <a:srgbClr val="111827"/>
                    </a:solidFill>
                    <a:latin typeface="Cambria Math" panose="02040503050406030204" pitchFamily="18" charset="0"/>
                  </a:rPr>
                  <a:t>$(1+1)^2=4$</a:t>
                </a:r>
                <a:r>
                  <a:rPr sz="2400" b="0">
                    <a:solidFill>
                      <a:srgbClr val="111827"/>
                    </a:solidFill>
                    <a:latin typeface="Arial"/>
                  </a:rPr>
                  <a:t>, others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$\sum_{r=1}^{3}=6$</a:t>
                </a:r>
                <a:r>
                  <a:rPr sz="2400" b="0">
                    <a:solidFill>
                      <a:srgbClr val="111827"/>
                    </a:solidFill>
                    <a:latin typeface="Arial"/>
                  </a:rPr>
                  <a:t>, so </a:t>
                </a:r>
                <a:r>
                  <a:rPr lang="en-IN" sz="2400">
                    <a:solidFill>
                      <a:srgbClr val="111827"/>
                    </a:solidFill>
                    <a:latin typeface="Cambria Math" panose="02040503050406030204" pitchFamily="18" charset="0"/>
                  </a:rPr>
                  <a:t>$30$</a:t>
                </a:r>
                <a:r>
                  <a:rPr sz="2400" b="0">
                    <a:solidFill>
                      <a:srgbClr val="111827"/>
                    </a:solidFill>
                    <a:latin typeface="Arial"/>
                  </a:rPr>
                  <a:t> terms give </a:t>
                </a:r>
                <a:r>
                  <a:rPr lang="en-IN" sz="2400">
                    <a:solidFill>
                      <a:srgbClr val="111827"/>
                    </a:solidFill>
                    <a:latin typeface="Cambria Math" panose="02040503050406030204" pitchFamily="18" charset="0"/>
                  </a:rPr>
                  <a:t>$60$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7495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complex number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rotated in the anticlockwise direction by an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and we get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if the same complex number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rotated by an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in the clockwise direction we get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in G.P.</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in H.P.</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α</m:t>
                    </m:r>
                  </m:oMath>
                </a14:m>
                <a:endParaRPr sz="2400">
                  <a:solidFill>
                    <a:srgbClr val="111827"/>
                  </a:solidFill>
                </a:endParaRPr>
              </a:p>
            </p:txBody>
          </p:sp>
        </mc:Choice>
        <mc:Fallback>
          <p:sp>
            <p:nvSpPr>
              <p:cNvPr id="4" name="Rounded Rectangle 3"/>
              <p:cNvSpPr/>
              <p:nvPr/>
            </p:nvSpPr>
            <p:spPr>
              <a:xfrm>
                <a:off x="731520" y="1280160"/>
                <a:ext cx="10725912" cy="37495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complex number </a:t>
                </a:r>
                <a:r>
                  <a:rPr lang="en-IN" sz="2400">
                    <a:solidFill>
                      <a:srgbClr val="111827"/>
                    </a:solidFill>
                    <a:latin typeface="Cambria Math" panose="02040503050406030204" pitchFamily="18" charset="0"/>
                  </a:rPr>
                  <a:t>$z$</a:t>
                </a:r>
                <a:r>
                  <a:rPr sz="2400" b="0">
                    <a:solidFill>
                      <a:srgbClr val="111827"/>
                    </a:solidFill>
                    <a:latin typeface="Arial"/>
                  </a:rPr>
                  <a:t> is rotated in the anticlockwise direction by an angle </a:t>
                </a:r>
                <a:r>
                  <a:rPr lang="en-IN" sz="2400">
                    <a:solidFill>
                      <a:srgbClr val="111827"/>
                    </a:solidFill>
                    <a:latin typeface="Cambria Math" panose="02040503050406030204" pitchFamily="18" charset="0"/>
                  </a:rPr>
                  <a:t>$\alpha$</a:t>
                </a:r>
                <a:r>
                  <a:rPr sz="2400" b="0">
                    <a:solidFill>
                      <a:srgbClr val="111827"/>
                    </a:solidFill>
                    <a:latin typeface="Arial"/>
                  </a:rPr>
                  <a:t> and we get </a:t>
                </a:r>
                <a:r>
                  <a:rPr lang="en-IN" sz="2400">
                    <a:solidFill>
                      <a:srgbClr val="111827"/>
                    </a:solidFill>
                    <a:latin typeface="Cambria Math" panose="02040503050406030204" pitchFamily="18" charset="0"/>
                  </a:rPr>
                  <a:t>$z'$</a:t>
                </a:r>
                <a:r>
                  <a:rPr sz="2400" b="0">
                    <a:solidFill>
                      <a:srgbClr val="111827"/>
                    </a:solidFill>
                    <a:latin typeface="Arial"/>
                  </a:rPr>
                  <a:t>, and if the same complex number </a:t>
                </a:r>
                <a:r>
                  <a:rPr lang="en-IN" sz="2400">
                    <a:solidFill>
                      <a:srgbClr val="111827"/>
                    </a:solidFill>
                    <a:latin typeface="Cambria Math" panose="02040503050406030204" pitchFamily="18" charset="0"/>
                  </a:rPr>
                  <a:t>$z$</a:t>
                </a:r>
                <a:r>
                  <a:rPr sz="2400" b="0">
                    <a:solidFill>
                      <a:srgbClr val="111827"/>
                    </a:solidFill>
                    <a:latin typeface="Arial"/>
                  </a:rPr>
                  <a:t> is rotated by an angle </a:t>
                </a:r>
                <a:r>
                  <a:rPr lang="en-IN" sz="2400">
                    <a:solidFill>
                      <a:srgbClr val="111827"/>
                    </a:solidFill>
                    <a:latin typeface="Cambria Math" panose="02040503050406030204" pitchFamily="18" charset="0"/>
                  </a:rPr>
                  <a:t>$\alpha$</a:t>
                </a:r>
                <a:r>
                  <a:rPr sz="2400" b="0">
                    <a:solidFill>
                      <a:srgbClr val="111827"/>
                    </a:solidFill>
                    <a:latin typeface="Arial"/>
                  </a:rPr>
                  <a:t> in the clockwise direction we get </a:t>
                </a:r>
                <a:r>
                  <a:rPr lang="en-IN" sz="2400">
                    <a:solidFill>
                      <a:srgbClr val="111827"/>
                    </a:solidFill>
                    <a:latin typeface="Cambria Math" panose="02040503050406030204" pitchFamily="18" charset="0"/>
                  </a:rPr>
                  <a:t>$z''$</a:t>
                </a:r>
                <a:r>
                  <a:rPr sz="2400" b="0">
                    <a:solidFill>
                      <a:srgbClr val="111827"/>
                    </a:solidFill>
                    <a:latin typeface="Arial"/>
                  </a:rPr>
                  <a:t>,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$z',z,z''$</a:t>
                </a:r>
                <a:r>
                  <a:rPr sz="2400" b="0">
                    <a:solidFill>
                      <a:srgbClr val="111827"/>
                    </a:solidFill>
                    <a:latin typeface="Arial"/>
                  </a:rPr>
                  <a:t> are in G.P.</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$z',z,z''$</a:t>
                </a:r>
                <a:r>
                  <a:rPr sz="2400" b="0">
                    <a:solidFill>
                      <a:srgbClr val="111827"/>
                    </a:solidFill>
                    <a:latin typeface="Arial"/>
                  </a:rPr>
                  <a:t> are in H.P.</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$z'+z''=2z\cos\alpha$</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$z'^2+z''^2=2z^2\cos2\alpha$</a:t>
                </a:r>
                <a:endParaRPr sz="2400">
                  <a:solidFill>
                    <a:srgbClr val="111827"/>
                  </a:solidFill>
                </a:endParaRPr>
              </a:p>
            </p:txBody>
          </p:sp>
        </mc:Fallback>
      </mc:AlternateContent>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rotation and geometric progression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sSup>
                      <m:e>
                        <m:r>
                          <a:rPr lang="en-IN" sz="2400" i="1">
                            <a:solidFill>
                              <a:srgbClr val="78350F"/>
                            </a:solidFill>
                            <a:latin typeface="Cambria Math" panose="02040503050406030204" pitchFamily="18" charset="0"/>
                          </a:rPr>
                          <m:t>𝑒</m:t>
                        </m:r>
                      </m:e>
                      <m:sup>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α</m:t>
                        </m:r>
                      </m:sup>
                    </m:sSup>
                  </m:oMath>
                </a14:m>
                <a:r>
                  <a:rPr sz="2400" b="0">
                    <a:solidFill>
                      <a:srgbClr val="78350F"/>
                    </a:solidFill>
                    <a:latin typeface="Arial"/>
                  </a:rPr>
                  <a:t>, </a:t>
                </a:r>
                <a14:m>
                  <m:oMath xmlns:m="http://schemas.openxmlformats.org/officeDocument/2006/math">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sSup>
                      <m:e>
                        <m:r>
                          <a:rPr lang="en-IN" sz="2400" i="1">
                            <a:solidFill>
                              <a:srgbClr val="78350F"/>
                            </a:solidFill>
                            <a:latin typeface="Cambria Math" panose="02040503050406030204" pitchFamily="18" charset="0"/>
                          </a:rPr>
                          <m:t>𝑒</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α</m:t>
                        </m:r>
                      </m:sup>
                    </m:sSup>
                  </m:oMath>
                </a14:m>
                <a:r>
                  <a:rPr sz="2400" b="0">
                    <a:solidFill>
                      <a:srgbClr val="78350F"/>
                    </a:solidFill>
                    <a:latin typeface="Arial"/>
                  </a:rPr>
                  <a:t>, so </a:t>
                </a:r>
                <a14:m>
                  <m:oMath xmlns:m="http://schemas.openxmlformats.org/officeDocument/2006/math">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a:t>
                </a:r>
                <a14:m>
                  <m:oMath xmlns:m="http://schemas.openxmlformats.org/officeDocument/2006/math">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have constant ratio </a:t>
                </a:r>
                <a14:m>
                  <m:oMath xmlns:m="http://schemas.openxmlformats.org/officeDocument/2006/math">
                    <m:sSup>
                      <m:e>
                        <m:r>
                          <a:rPr lang="en-IN" sz="2400" i="1">
                            <a:solidFill>
                              <a:srgbClr val="78350F"/>
                            </a:solidFill>
                            <a:latin typeface="Cambria Math" panose="02040503050406030204" pitchFamily="18" charset="0"/>
                          </a:rPr>
                          <m:t>𝑒</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α</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$z'=ze^{i\alpha}$</a:t>
                </a:r>
                <a:r>
                  <a:rPr sz="2400" b="0">
                    <a:solidFill>
                      <a:srgbClr val="78350F"/>
                    </a:solidFill>
                    <a:latin typeface="Arial"/>
                  </a:rPr>
                  <a:t>, </a:t>
                </a:r>
                <a:r>
                  <a:rPr lang="en-IN" sz="2400">
                    <a:solidFill>
                      <a:srgbClr val="78350F"/>
                    </a:solidFill>
                    <a:latin typeface="Cambria Math" panose="02040503050406030204" pitchFamily="18" charset="0"/>
                  </a:rPr>
                  <a:t>$z''=ze^{-i\alpha}$</a:t>
                </a:r>
                <a:r>
                  <a:rPr sz="2400" b="0">
                    <a:solidFill>
                      <a:srgbClr val="78350F"/>
                    </a:solidFill>
                    <a:latin typeface="Arial"/>
                  </a:rPr>
                  <a:t>, so </a:t>
                </a:r>
                <a:r>
                  <a:rPr lang="en-IN" sz="2400">
                    <a:solidFill>
                      <a:srgbClr val="78350F"/>
                    </a:solidFill>
                    <a:latin typeface="Cambria Math" panose="02040503050406030204" pitchFamily="18" charset="0"/>
                  </a:rPr>
                  <a:t>$z'$</a:t>
                </a:r>
                <a:r>
                  <a:rPr sz="2400" b="0">
                    <a:solidFill>
                      <a:srgbClr val="78350F"/>
                    </a:solidFill>
                    <a:latin typeface="Arial"/>
                  </a:rPr>
                  <a:t>, </a:t>
                </a:r>
                <a:r>
                  <a:rPr lang="en-IN" sz="2400">
                    <a:solidFill>
                      <a:srgbClr val="78350F"/>
                    </a:solidFill>
                    <a:latin typeface="Cambria Math" panose="02040503050406030204" pitchFamily="18" charset="0"/>
                  </a:rPr>
                  <a:t>$z$</a:t>
                </a:r>
                <a:r>
                  <a:rPr sz="2400" b="0">
                    <a:solidFill>
                      <a:srgbClr val="78350F"/>
                    </a:solidFill>
                    <a:latin typeface="Arial"/>
                  </a:rPr>
                  <a:t>, </a:t>
                </a:r>
                <a:r>
                  <a:rPr lang="en-IN" sz="2400">
                    <a:solidFill>
                      <a:srgbClr val="78350F"/>
                    </a:solidFill>
                    <a:latin typeface="Cambria Math" panose="02040503050406030204" pitchFamily="18" charset="0"/>
                  </a:rPr>
                  <a:t>$z''$</a:t>
                </a:r>
                <a:r>
                  <a:rPr sz="2400" b="0">
                    <a:solidFill>
                      <a:srgbClr val="78350F"/>
                    </a:solidFill>
                    <a:latin typeface="Arial"/>
                  </a:rPr>
                  <a:t> have constant ratio </a:t>
                </a:r>
                <a:r>
                  <a:rPr lang="en-IN" sz="2400">
                    <a:solidFill>
                      <a:srgbClr val="78350F"/>
                    </a:solidFill>
                    <a:latin typeface="Cambria Math" panose="02040503050406030204" pitchFamily="18" charset="0"/>
                  </a:rPr>
                  <a:t>$e^{\mp i\alpha}$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Rotation by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multiplies by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Rotation by </a:t>
                </a:r>
                <a:r>
                  <a:rPr lang="en-IN" sz="2400">
                    <a:solidFill>
                      <a:srgbClr val="111827"/>
                    </a:solidFill>
                    <a:latin typeface="Cambria Math" panose="02040503050406030204" pitchFamily="18" charset="0"/>
                  </a:rPr>
                  <a:t>$\alpha$</a:t>
                </a:r>
                <a:r>
                  <a:rPr sz="2400" b="0">
                    <a:solidFill>
                      <a:srgbClr val="111827"/>
                    </a:solidFill>
                    <a:latin typeface="Arial"/>
                  </a:rPr>
                  <a:t> multiplies by </a:t>
                </a:r>
                <a:r>
                  <a:rPr lang="en-IN" sz="2400">
                    <a:solidFill>
                      <a:srgbClr val="111827"/>
                    </a:solidFill>
                    <a:latin typeface="Cambria Math" panose="02040503050406030204" pitchFamily="18" charset="0"/>
                  </a:rPr>
                  <a:t>$e^{i\alpha}$</a:t>
                </a:r>
                <a:r>
                  <a:rPr sz="2400" b="0">
                    <a:solidFill>
                      <a:srgbClr val="111827"/>
                    </a:solidFill>
                    <a:latin typeface="Arial"/>
                  </a:rPr>
                  <a:t>: </a:t>
                </a:r>
                <a:r>
                  <a:rPr lang="en-IN" sz="2400">
                    <a:solidFill>
                      <a:srgbClr val="111827"/>
                    </a:solidFill>
                    <a:latin typeface="Cambria Math" panose="02040503050406030204" pitchFamily="18" charset="0"/>
                  </a:rPr>
                  <a:t>$z'=ze^{i\alpha}$</a:t>
                </a:r>
                <a:r>
                  <a:rPr sz="2400" b="0">
                    <a:solidFill>
                      <a:srgbClr val="111827"/>
                    </a:solidFill>
                    <a:latin typeface="Arial"/>
                  </a:rPr>
                  <a:t> and </a:t>
                </a:r>
                <a:r>
                  <a:rPr lang="en-IN" sz="2400">
                    <a:solidFill>
                      <a:srgbClr val="111827"/>
                    </a:solidFill>
                    <a:latin typeface="Cambria Math" panose="02040503050406030204" pitchFamily="18" charset="0"/>
                  </a:rPr>
                  <a:t>$z''=ze^{-i\alpha}$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oMath>
                </a14:m>
                <a:r>
                  <a:rPr sz="2400" b="0">
                    <a:solidFill>
                      <a:srgbClr val="111827"/>
                    </a:solidFill>
                    <a:latin typeface="Arial"/>
                  </a:rPr>
                  <a:t>: equal ratios, so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in G.P. Equivalently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an H.P. we would need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num>
                      <m:den>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num>
                      <m:den>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den>
                    </m:f>
                  </m:oMath>
                </a14:m>
                <a:r>
                  <a:rPr sz="2400" b="0">
                    <a:solidFill>
                      <a:srgbClr val="111827"/>
                    </a:solidFill>
                    <a:latin typeface="Arial"/>
                  </a:rPr>
                  <a:t>, which requires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 general: (B) false.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oMath>
                </a14:m>
                <a:r>
                  <a:rPr sz="2400" b="0">
                    <a:solidFill>
                      <a:srgbClr val="111827"/>
                    </a:solidFill>
                    <a:latin typeface="Arial"/>
                  </a:rPr>
                  <a:t>: (C) true.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α</m:t>
                    </m:r>
                  </m:oMath>
                </a14:m>
                <a:r>
                  <a:rPr sz="2400" b="0">
                    <a:solidFill>
                      <a:srgbClr val="111827"/>
                    </a:solidFill>
                    <a:latin typeface="Arial"/>
                  </a:rPr>
                  <a:t>: (D) true. Answer: (A),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$\frac{z}{z'}=e^{-i\alpha}$</a:t>
                </a:r>
                <a:r>
                  <a:rPr sz="2400" b="0">
                    <a:solidFill>
                      <a:srgbClr val="111827"/>
                    </a:solidFill>
                    <a:latin typeface="Arial"/>
                  </a:rPr>
                  <a:t> and </a:t>
                </a:r>
                <a:r>
                  <a:rPr lang="en-IN" sz="2400">
                    <a:solidFill>
                      <a:srgbClr val="111827"/>
                    </a:solidFill>
                    <a:latin typeface="Cambria Math" panose="02040503050406030204" pitchFamily="18" charset="0"/>
                  </a:rPr>
                  <a:t>$\frac{z''}{z}=e^{-i\alpha}$</a:t>
                </a:r>
                <a:r>
                  <a:rPr sz="2400" b="0">
                    <a:solidFill>
                      <a:srgbClr val="111827"/>
                    </a:solidFill>
                    <a:latin typeface="Arial"/>
                  </a:rPr>
                  <a:t>: equal ratios, so </a:t>
                </a:r>
                <a:r>
                  <a:rPr lang="en-IN" sz="2400">
                    <a:solidFill>
                      <a:srgbClr val="111827"/>
                    </a:solidFill>
                    <a:latin typeface="Cambria Math" panose="02040503050406030204" pitchFamily="18" charset="0"/>
                  </a:rPr>
                  <a:t>$z',z,z''$</a:t>
                </a:r>
                <a:r>
                  <a:rPr sz="2400" b="0">
                    <a:solidFill>
                      <a:srgbClr val="111827"/>
                    </a:solidFill>
                    <a:latin typeface="Arial"/>
                  </a:rPr>
                  <a:t> are in G.P. Equivalently </a:t>
                </a:r>
                <a:r>
                  <a:rPr lang="en-IN" sz="2400">
                    <a:solidFill>
                      <a:srgbClr val="111827"/>
                    </a:solidFill>
                    <a:latin typeface="Cambria Math" panose="02040503050406030204" pitchFamily="18" charset="0"/>
                  </a:rPr>
                  <a:t>$z'z''=z^2$</a:t>
                </a:r>
                <a:r>
                  <a:rPr sz="2400" b="0">
                    <a:solidFill>
                      <a:srgbClr val="111827"/>
                    </a:solidFill>
                    <a:latin typeface="Arial"/>
                  </a:rPr>
                  <a:t>: (A)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an H.P. we would need </a:t>
                </a:r>
                <a:r>
                  <a:rPr lang="en-IN" sz="2400">
                    <a:solidFill>
                      <a:srgbClr val="111827"/>
                    </a:solidFill>
                    <a:latin typeface="Cambria Math" panose="02040503050406030204" pitchFamily="18" charset="0"/>
                  </a:rPr>
                  <a:t>$z=\frac{2z'z''}{z'+z''}=\frac{2z^2}{2z\cos\alpha}=\frac{z}{\cos\alpha}$</a:t>
                </a:r>
                <a:r>
                  <a:rPr sz="2400" b="0">
                    <a:solidFill>
                      <a:srgbClr val="111827"/>
                    </a:solidFill>
                    <a:latin typeface="Arial"/>
                  </a:rPr>
                  <a:t>, which requires </a:t>
                </a:r>
                <a:r>
                  <a:rPr lang="en-IN" sz="2400">
                    <a:solidFill>
                      <a:srgbClr val="111827"/>
                    </a:solidFill>
                    <a:latin typeface="Cambria Math" panose="02040503050406030204" pitchFamily="18" charset="0"/>
                  </a:rPr>
                  <a:t>$\cos\alpha=1$</a:t>
                </a:r>
                <a:r>
                  <a:rPr sz="2400" b="0">
                    <a:solidFill>
                      <a:srgbClr val="111827"/>
                    </a:solidFill>
                    <a:latin typeface="Arial"/>
                  </a:rPr>
                  <a:t> in general: (B) false.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$z'+z''=z\left(e^{i\alpha}+e^{-i\alpha}\right)=2z\cos\alpha$</a:t>
                </a:r>
                <a:r>
                  <a:rPr sz="2400" b="0">
                    <a:solidFill>
                      <a:srgbClr val="111827"/>
                    </a:solidFill>
                    <a:latin typeface="Arial"/>
                  </a:rPr>
                  <a:t>: (C) true.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$z'^2+z''^2=z^2\left(e^{2i\alpha}+e^{-2i\alpha}\right)=2z^2\cos2\alpha$</a:t>
                </a:r>
                <a:r>
                  <a:rPr sz="2400" b="0">
                    <a:solidFill>
                      <a:srgbClr val="111827"/>
                    </a:solidFill>
                    <a:latin typeface="Arial"/>
                  </a:rPr>
                  <a:t>: (D) true. Answer: (A),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C, D)</a:t>
            </a:r>
            <a:endParaRPr sz="2800">
              <a:solidFill>
                <a:srgbClr val="15803D"/>
              </a:solidFill>
            </a:endParaRP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Geometry: </a:t>
                </a:r>
                <a14:m>
                  <m:oMath xmlns:m="http://schemas.openxmlformats.org/officeDocument/2006/math">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𝑂</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form a kite whose diagonal is along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𝑧</m:t>
                    </m:r>
                  </m:oMath>
                </a14:m>
                <a:r>
                  <a:rPr sz="2400" b="0">
                    <a:solidFill>
                      <a:srgbClr val="78350F"/>
                    </a:solidFill>
                    <a:latin typeface="Arial"/>
                  </a:rPr>
                  <a:t>; the diagonal sum </a:t>
                </a:r>
                <a14:m>
                  <m:oMath xmlns:m="http://schemas.openxmlformats.org/officeDocument/2006/math">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lies along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with length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α</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Geometry: </a:t>
                </a:r>
                <a:r>
                  <a:rPr lang="en-IN" sz="2400">
                    <a:solidFill>
                      <a:srgbClr val="78350F"/>
                    </a:solidFill>
                    <a:latin typeface="Cambria Math" panose="02040503050406030204" pitchFamily="18" charset="0"/>
                  </a:rPr>
                  <a:t>$|z'|=|z''|=|z|$</a:t>
                </a:r>
                <a:r>
                  <a:rPr sz="2400" b="0">
                    <a:solidFill>
                      <a:srgbClr val="78350F"/>
                    </a:solidFill>
                    <a:latin typeface="Arial"/>
                  </a:rPr>
                  <a:t>, so </a:t>
                </a:r>
                <a:r>
                  <a:rPr lang="en-IN" sz="2400">
                    <a:solidFill>
                      <a:srgbClr val="78350F"/>
                    </a:solidFill>
                    <a:latin typeface="Cambria Math" panose="02040503050406030204" pitchFamily="18" charset="0"/>
                  </a:rPr>
                  <a:t>$O,z',z,z''$</a:t>
                </a:r>
                <a:r>
                  <a:rPr sz="2400" b="0">
                    <a:solidFill>
                      <a:srgbClr val="78350F"/>
                    </a:solidFill>
                    <a:latin typeface="Arial"/>
                  </a:rPr>
                  <a:t> form a kite whose diagonal is along </a:t>
                </a:r>
                <a:r>
                  <a:rPr lang="en-IN" sz="2400">
                    <a:solidFill>
                      <a:srgbClr val="78350F"/>
                    </a:solidFill>
                    <a:latin typeface="Cambria Math" panose="02040503050406030204" pitchFamily="18" charset="0"/>
                  </a:rPr>
                  <a:t>$Oz$</a:t>
                </a:r>
                <a:r>
                  <a:rPr sz="2400" b="0">
                    <a:solidFill>
                      <a:srgbClr val="78350F"/>
                    </a:solidFill>
                    <a:latin typeface="Arial"/>
                  </a:rPr>
                  <a:t>; the diagonal sum </a:t>
                </a:r>
                <a:r>
                  <a:rPr lang="en-IN" sz="2400">
                    <a:solidFill>
                      <a:srgbClr val="78350F"/>
                    </a:solidFill>
                    <a:latin typeface="Cambria Math" panose="02040503050406030204" pitchFamily="18" charset="0"/>
                  </a:rPr>
                  <a:t>$z'+z''$</a:t>
                </a:r>
                <a:r>
                  <a:rPr sz="2400" b="0">
                    <a:solidFill>
                      <a:srgbClr val="78350F"/>
                    </a:solidFill>
                    <a:latin typeface="Arial"/>
                  </a:rPr>
                  <a:t> lies along </a:t>
                </a:r>
                <a:r>
                  <a:rPr lang="en-IN" sz="2400">
                    <a:solidFill>
                      <a:srgbClr val="78350F"/>
                    </a:solidFill>
                    <a:latin typeface="Cambria Math" panose="02040503050406030204" pitchFamily="18" charset="0"/>
                  </a:rPr>
                  <a:t>$z$</a:t>
                </a:r>
                <a:r>
                  <a:rPr sz="2400" b="0">
                    <a:solidFill>
                      <a:srgbClr val="78350F"/>
                    </a:solidFill>
                    <a:latin typeface="Arial"/>
                  </a:rPr>
                  <a:t> with length </a:t>
                </a:r>
                <a:r>
                  <a:rPr lang="en-IN" sz="2400">
                    <a:solidFill>
                      <a:srgbClr val="78350F"/>
                    </a:solidFill>
                    <a:latin typeface="Cambria Math" panose="02040503050406030204" pitchFamily="18" charset="0"/>
                  </a:rPr>
                  <a:t>$2|z|\cos\alpha$</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reflections of each other in the line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𝑧</m:t>
                    </m:r>
                  </m:oMath>
                </a14:m>
                <a:r>
                  <a:rPr sz="2400" b="0">
                    <a:solidFill>
                      <a:srgbClr val="111827"/>
                    </a:solidFill>
                    <a:latin typeface="Arial"/>
                  </a:rPr>
                  <a:t> (both at distance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at angles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Their sum (the diagonal of the rhombus on </a:t>
                </a:r>
                <a14:m>
                  <m:oMath xmlns:m="http://schemas.openxmlformats.org/officeDocument/2006/math">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lies along the bisector, the direction of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and has length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a:t>
                </a:r>
                <a:r>
                  <a:rPr sz="2400" b="0">
                    <a:solidFill>
                      <a:srgbClr val="111827"/>
                    </a:solidFill>
                    <a:latin typeface="Arial"/>
                  </a:rPr>
                  <a:t> and </a:t>
                </a:r>
                <a:r>
                  <a:rPr lang="en-IN" sz="2400">
                    <a:solidFill>
                      <a:srgbClr val="111827"/>
                    </a:solidFill>
                    <a:latin typeface="Cambria Math" panose="02040503050406030204" pitchFamily="18" charset="0"/>
                  </a:rPr>
                  <a:t>$z''$</a:t>
                </a:r>
                <a:r>
                  <a:rPr sz="2400" b="0">
                    <a:solidFill>
                      <a:srgbClr val="111827"/>
                    </a:solidFill>
                    <a:latin typeface="Arial"/>
                  </a:rPr>
                  <a:t> are reflections of each other in the line </a:t>
                </a:r>
                <a:r>
                  <a:rPr lang="en-IN" sz="2400">
                    <a:solidFill>
                      <a:srgbClr val="111827"/>
                    </a:solidFill>
                    <a:latin typeface="Cambria Math" panose="02040503050406030204" pitchFamily="18" charset="0"/>
                  </a:rPr>
                  <a:t>$Oz$</a:t>
                </a:r>
                <a:r>
                  <a:rPr sz="2400" b="0">
                    <a:solidFill>
                      <a:srgbClr val="111827"/>
                    </a:solidFill>
                    <a:latin typeface="Arial"/>
                  </a:rPr>
                  <a:t> (both at distance </a:t>
                </a:r>
                <a:r>
                  <a:rPr lang="en-IN" sz="2400">
                    <a:solidFill>
                      <a:srgbClr val="111827"/>
                    </a:solidFill>
                    <a:latin typeface="Cambria Math" panose="02040503050406030204" pitchFamily="18" charset="0"/>
                  </a:rPr>
                  <a:t>$|z|$</a:t>
                </a:r>
                <a:r>
                  <a:rPr sz="2400" b="0">
                    <a:solidFill>
                      <a:srgbClr val="111827"/>
                    </a:solidFill>
                    <a:latin typeface="Arial"/>
                  </a:rPr>
                  <a:t> from </a:t>
                </a:r>
                <a:r>
                  <a:rPr lang="en-IN" sz="2400">
                    <a:solidFill>
                      <a:srgbClr val="111827"/>
                    </a:solidFill>
                    <a:latin typeface="Cambria Math" panose="02040503050406030204" pitchFamily="18" charset="0"/>
                  </a:rPr>
                  <a:t>$O$</a:t>
                </a:r>
                <a:r>
                  <a:rPr sz="2400" b="0">
                    <a:solidFill>
                      <a:srgbClr val="111827"/>
                    </a:solidFill>
                    <a:latin typeface="Arial"/>
                  </a:rPr>
                  <a:t>, at angles </a:t>
                </a:r>
                <a:r>
                  <a:rPr lang="en-IN" sz="2400">
                    <a:solidFill>
                      <a:srgbClr val="111827"/>
                    </a:solidFill>
                    <a:latin typeface="Cambria Math" panose="02040503050406030204" pitchFamily="18" charset="0"/>
                  </a:rPr>
                  <a:t>$\pm\alpha$</a:t>
                </a:r>
                <a:r>
                  <a:rPr sz="2400" b="0">
                    <a:solidFill>
                      <a:srgbClr val="111827"/>
                    </a:solidFill>
                    <a:latin typeface="Arial"/>
                  </a:rPr>
                  <a:t> from </a:t>
                </a:r>
                <a:r>
                  <a:rPr lang="en-IN" sz="2400">
                    <a:solidFill>
                      <a:srgbClr val="111827"/>
                    </a:solidFill>
                    <a:latin typeface="Cambria Math" panose="02040503050406030204" pitchFamily="18" charset="0"/>
                  </a:rPr>
                  <a:t>$z$</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Their sum (the diagonal of the rhombus on </a:t>
                </a:r>
                <a:r>
                  <a:rPr lang="en-IN" sz="2400">
                    <a:solidFill>
                      <a:srgbClr val="111827"/>
                    </a:solidFill>
                    <a:latin typeface="Cambria Math" panose="02040503050406030204" pitchFamily="18" charset="0"/>
                  </a:rPr>
                  <a:t>$Oz'$</a:t>
                </a:r>
                <a:r>
                  <a:rPr sz="2400" b="0">
                    <a:solidFill>
                      <a:srgbClr val="111827"/>
                    </a:solidFill>
                    <a:latin typeface="Arial"/>
                  </a:rPr>
                  <a:t>, </a:t>
                </a:r>
                <a:r>
                  <a:rPr lang="en-IN" sz="2400">
                    <a:solidFill>
                      <a:srgbClr val="111827"/>
                    </a:solidFill>
                    <a:latin typeface="Cambria Math" panose="02040503050406030204" pitchFamily="18" charset="0"/>
                  </a:rPr>
                  <a:t>$Oz''$</a:t>
                </a:r>
                <a:r>
                  <a:rPr sz="2400" b="0">
                    <a:solidFill>
                      <a:srgbClr val="111827"/>
                    </a:solidFill>
                    <a:latin typeface="Arial"/>
                  </a:rPr>
                  <a:t>) lies along the bisector, the direction of </a:t>
                </a:r>
                <a:r>
                  <a:rPr lang="en-IN" sz="2400">
                    <a:solidFill>
                      <a:srgbClr val="111827"/>
                    </a:solidFill>
                    <a:latin typeface="Cambria Math" panose="02040503050406030204" pitchFamily="18" charset="0"/>
                  </a:rPr>
                  <a:t>$z$</a:t>
                </a:r>
                <a:r>
                  <a:rPr sz="2400" b="0">
                    <a:solidFill>
                      <a:srgbClr val="111827"/>
                    </a:solidFill>
                    <a:latin typeface="Arial"/>
                  </a:rPr>
                  <a:t>, and has length </a:t>
                </a:r>
                <a:r>
                  <a:rPr lang="en-IN" sz="2400">
                    <a:solidFill>
                      <a:srgbClr val="111827"/>
                    </a:solidFill>
                    <a:latin typeface="Cambria Math" panose="02040503050406030204" pitchFamily="18" charset="0"/>
                  </a:rPr>
                  <a:t>$2|z|\cos\alpha$</a:t>
                </a:r>
                <a:r>
                  <a:rPr sz="2400" b="0">
                    <a:solidFill>
                      <a:srgbClr val="111827"/>
                    </a:solidFill>
                    <a:latin typeface="Arial"/>
                  </a:rPr>
                  <a:t>. So </a:t>
                </a:r>
                <a:r>
                  <a:rPr lang="en-IN" sz="2400">
                    <a:solidFill>
                      <a:srgbClr val="111827"/>
                    </a:solidFill>
                    <a:latin typeface="Cambria Math" panose="02040503050406030204" pitchFamily="18" charset="0"/>
                  </a:rPr>
                  <a:t>$z'+z''=2z\cos\alpha$</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Similarly, doubling the angles,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are reflections in the line through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angle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Moduli satisfy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the arguments are in A.P., so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in G.P.</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Similarly, doubling the angles, </a:t>
                </a:r>
                <a:r>
                  <a:rPr lang="en-IN" sz="2400">
                    <a:solidFill>
                      <a:srgbClr val="111827"/>
                    </a:solidFill>
                    <a:latin typeface="Cambria Math" panose="02040503050406030204" pitchFamily="18" charset="0"/>
                  </a:rPr>
                  <a:t>$z'^2$</a:t>
                </a:r>
                <a:r>
                  <a:rPr sz="2400" b="0">
                    <a:solidFill>
                      <a:srgbClr val="111827"/>
                    </a:solidFill>
                    <a:latin typeface="Arial"/>
                  </a:rPr>
                  <a:t> and </a:t>
                </a:r>
                <a:r>
                  <a:rPr lang="en-IN" sz="2400">
                    <a:solidFill>
                      <a:srgbClr val="111827"/>
                    </a:solidFill>
                    <a:latin typeface="Cambria Math" panose="02040503050406030204" pitchFamily="18" charset="0"/>
                  </a:rPr>
                  <a:t>$z''^2$</a:t>
                </a:r>
                <a:r>
                  <a:rPr sz="2400" b="0">
                    <a:solidFill>
                      <a:srgbClr val="111827"/>
                    </a:solidFill>
                    <a:latin typeface="Arial"/>
                  </a:rPr>
                  <a:t> are reflections in the line through </a:t>
                </a:r>
                <a:r>
                  <a:rPr lang="en-IN" sz="2400">
                    <a:solidFill>
                      <a:srgbClr val="111827"/>
                    </a:solidFill>
                    <a:latin typeface="Cambria Math" panose="02040503050406030204" pitchFamily="18" charset="0"/>
                  </a:rPr>
                  <a:t>$z^2$</a:t>
                </a:r>
                <a:r>
                  <a:rPr sz="2400" b="0">
                    <a:solidFill>
                      <a:srgbClr val="111827"/>
                    </a:solidFill>
                    <a:latin typeface="Arial"/>
                  </a:rPr>
                  <a:t> with angle </a:t>
                </a:r>
                <a:r>
                  <a:rPr lang="en-IN" sz="2400">
                    <a:solidFill>
                      <a:srgbClr val="111827"/>
                    </a:solidFill>
                    <a:latin typeface="Cambria Math" panose="02040503050406030204" pitchFamily="18" charset="0"/>
                  </a:rPr>
                  <a:t>$2\alpha$</a:t>
                </a:r>
                <a:r>
                  <a:rPr sz="2400" b="0">
                    <a:solidFill>
                      <a:srgbClr val="111827"/>
                    </a:solidFill>
                    <a:latin typeface="Arial"/>
                  </a:rPr>
                  <a:t>: </a:t>
                </a:r>
                <a:r>
                  <a:rPr lang="en-IN" sz="2400">
                    <a:solidFill>
                      <a:srgbClr val="111827"/>
                    </a:solidFill>
                    <a:latin typeface="Cambria Math" panose="02040503050406030204" pitchFamily="18" charset="0"/>
                  </a:rPr>
                  <a:t>$z'^2+z''^2=2z^2\cos2\alpha$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Moduli satisfy </a:t>
                </a:r>
                <a:r>
                  <a:rPr lang="en-IN" sz="2400">
                    <a:solidFill>
                      <a:srgbClr val="111827"/>
                    </a:solidFill>
                    <a:latin typeface="Cambria Math" panose="02040503050406030204" pitchFamily="18" charset="0"/>
                  </a:rPr>
                  <a:t>$|z'|\,|z''|=|z|^2$</a:t>
                </a:r>
                <a:r>
                  <a:rPr sz="2400" b="0">
                    <a:solidFill>
                      <a:srgbClr val="111827"/>
                    </a:solidFill>
                    <a:latin typeface="Arial"/>
                  </a:rPr>
                  <a:t> and the arguments are in A.P., so </a:t>
                </a:r>
                <a:r>
                  <a:rPr lang="en-IN" sz="2400">
                    <a:solidFill>
                      <a:srgbClr val="111827"/>
                    </a:solidFill>
                    <a:latin typeface="Cambria Math" panose="02040503050406030204" pitchFamily="18" charset="0"/>
                  </a:rPr>
                  <a:t>$z',z,z''$</a:t>
                </a:r>
                <a:r>
                  <a:rPr sz="2400" b="0">
                    <a:solidFill>
                      <a:srgbClr val="111827"/>
                    </a:solidFill>
                    <a:latin typeface="Arial"/>
                  </a:rPr>
                  <a:t> are in G.P.</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C, D)</a:t>
            </a:r>
            <a:endParaRPr sz="2800">
              <a:solidFill>
                <a:srgbClr val="15803D"/>
              </a:solidFill>
            </a:endParaRP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Rotation by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about the origin is multiplication by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oMath>
                </a14:m>
                <a:r>
                  <a:rPr sz="2400" b="0">
                    <a:solidFill>
                      <a:srgbClr val="111827"/>
                    </a:solidFill>
                    <a:latin typeface="Arial"/>
                  </a:rPr>
                  <a:t>; about a point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Terms </a:t>
                </a:r>
                <a14:m>
                  <m:oMath xmlns:m="http://schemas.openxmlformats.org/officeDocument/2006/math">
                    <m:r>
                      <a:rPr lang="en-IN" sz="2400" i="1">
                        <a:solidFill>
                          <a:srgbClr val="111827"/>
                        </a:solidFill>
                        <a:latin typeface="Cambria Math" panose="02040503050406030204" pitchFamily="18" charset="0"/>
                      </a:rPr>
                      <m:t>𝑧</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α</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integer) form a G.P. with ratio </a:t>
                </a:r>
                <a14:m>
                  <m:oMath xmlns:m="http://schemas.openxmlformats.org/officeDocument/2006/math">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α</m:t>
                        </m:r>
                      </m:sup>
                    </m:sSup>
                  </m:oMath>
                </a14:m>
                <a:r>
                  <a:rPr sz="2400" b="0">
                    <a:solidFill>
                      <a:srgbClr val="111827"/>
                    </a:solidFill>
                    <a:latin typeface="Arial"/>
                  </a:rPr>
                  <a:t> and the moduli are all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Rotation by </a:t>
                </a:r>
                <a:r>
                  <a:rPr lang="en-IN" sz="2400">
                    <a:solidFill>
                      <a:srgbClr val="111827"/>
                    </a:solidFill>
                    <a:latin typeface="Cambria Math" panose="02040503050406030204" pitchFamily="18" charset="0"/>
                  </a:rPr>
                  <a:t>$\theta$</a:t>
                </a:r>
                <a:r>
                  <a:rPr sz="2400" b="0">
                    <a:solidFill>
                      <a:srgbClr val="111827"/>
                    </a:solidFill>
                    <a:latin typeface="Arial"/>
                  </a:rPr>
                  <a:t> about the origin is multiplication by </a:t>
                </a:r>
                <a:r>
                  <a:rPr lang="en-IN" sz="2400">
                    <a:solidFill>
                      <a:srgbClr val="111827"/>
                    </a:solidFill>
                    <a:latin typeface="Cambria Math" panose="02040503050406030204" pitchFamily="18" charset="0"/>
                  </a:rPr>
                  <a:t>$e^{i\theta}$</a:t>
                </a:r>
                <a:r>
                  <a:rPr sz="2400" b="0">
                    <a:solidFill>
                      <a:srgbClr val="111827"/>
                    </a:solidFill>
                    <a:latin typeface="Arial"/>
                  </a:rPr>
                  <a:t>; about a point </a:t>
                </a:r>
                <a:r>
                  <a:rPr lang="en-IN" sz="2400">
                    <a:solidFill>
                      <a:srgbClr val="111827"/>
                    </a:solidFill>
                    <a:latin typeface="Cambria Math" panose="02040503050406030204" pitchFamily="18" charset="0"/>
                  </a:rPr>
                  <a:t>$c$</a:t>
                </a:r>
                <a:r>
                  <a:rPr sz="2400" b="0">
                    <a:solidFill>
                      <a:srgbClr val="111827"/>
                    </a:solidFill>
                    <a:latin typeface="Arial"/>
                  </a:rPr>
                  <a:t>: </a:t>
                </a:r>
                <a:r>
                  <a:rPr lang="en-IN" sz="2400">
                    <a:solidFill>
                      <a:srgbClr val="111827"/>
                    </a:solidFill>
                    <a:latin typeface="Cambria Math" panose="02040503050406030204" pitchFamily="18" charset="0"/>
                  </a:rPr>
                  <a:t>$z'-c=e^{i\theta}(z-c)$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$ze^{i\alpha}+ze^{-i\alpha}=2z\cos\alpha$</a:t>
                </a:r>
                <a:r>
                  <a:rPr sz="2400" b="0">
                    <a:solidFill>
                      <a:srgbClr val="111827"/>
                    </a:solidFill>
                    <a:latin typeface="Arial"/>
                  </a:rPr>
                  <a:t> and </a:t>
                </a:r>
                <a:r>
                  <a:rPr lang="en-IN" sz="2400">
                    <a:solidFill>
                      <a:srgbClr val="111827"/>
                    </a:solidFill>
                    <a:latin typeface="Cambria Math" panose="02040503050406030204" pitchFamily="18" charset="0"/>
                  </a:rPr>
                  <a:t>$ze^{i\alpha}\cdot ze^{-i\alpha}=z^2$</a:t>
                </a:r>
                <a:r>
                  <a:rPr sz="2400" b="0">
                    <a:solidFill>
                      <a:srgbClr val="111827"/>
                    </a:solidFill>
                    <a:latin typeface="Arial"/>
                  </a:rPr>
                  <a:t>: </a:t>
                </a:r>
                <a:r>
                  <a:rPr lang="en-IN" sz="2400">
                    <a:solidFill>
                      <a:srgbClr val="111827"/>
                    </a:solidFill>
                    <a:latin typeface="Cambria Math" panose="02040503050406030204" pitchFamily="18" charset="0"/>
                  </a:rPr>
                  <a:t>$z'$</a:t>
                </a:r>
                <a:r>
                  <a:rPr sz="2400" b="0">
                    <a:solidFill>
                      <a:srgbClr val="111827"/>
                    </a:solidFill>
                    <a:latin typeface="Arial"/>
                  </a:rPr>
                  <a:t> and </a:t>
                </a:r>
                <a:r>
                  <a:rPr lang="en-IN" sz="2400">
                    <a:solidFill>
                      <a:srgbClr val="111827"/>
                    </a:solidFill>
                    <a:latin typeface="Cambria Math" panose="02040503050406030204" pitchFamily="18" charset="0"/>
                  </a:rPr>
                  <a:t>$z''$</a:t>
                </a:r>
                <a:r>
                  <a:rPr sz="2400" b="0">
                    <a:solidFill>
                      <a:srgbClr val="111827"/>
                    </a:solidFill>
                    <a:latin typeface="Arial"/>
                  </a:rPr>
                  <a:t> are the roots of </a:t>
                </a:r>
                <a:r>
                  <a:rPr lang="en-IN" sz="2400">
                    <a:solidFill>
                      <a:srgbClr val="111827"/>
                    </a:solidFill>
                    <a:latin typeface="Cambria Math" panose="02040503050406030204" pitchFamily="18" charset="0"/>
                  </a:rPr>
                  <a:t>$t^2-2z\cos\alpha\,t+z^2=0$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Terms </a:t>
                </a:r>
                <a:r>
                  <a:rPr lang="en-IN" sz="2400">
                    <a:solidFill>
                      <a:srgbClr val="111827"/>
                    </a:solidFill>
                    <a:latin typeface="Cambria Math" panose="02040503050406030204" pitchFamily="18" charset="0"/>
                  </a:rPr>
                  <a:t>$z e^{ik\alpha}$</a:t>
                </a:r>
                <a:r>
                  <a:rPr sz="2400" b="0">
                    <a:solidFill>
                      <a:srgbClr val="111827"/>
                    </a:solidFill>
                    <a:latin typeface="Arial"/>
                  </a:rPr>
                  <a:t> (</a:t>
                </a:r>
                <a:r>
                  <a:rPr lang="en-IN" sz="2400">
                    <a:solidFill>
                      <a:srgbClr val="111827"/>
                    </a:solidFill>
                    <a:latin typeface="Cambria Math" panose="02040503050406030204" pitchFamily="18" charset="0"/>
                  </a:rPr>
                  <a:t>$k$</a:t>
                </a:r>
                <a:r>
                  <a:rPr sz="2400" b="0">
                    <a:solidFill>
                      <a:srgbClr val="111827"/>
                    </a:solidFill>
                    <a:latin typeface="Arial"/>
                  </a:rPr>
                  <a:t> integer) form a G.P. with ratio </a:t>
                </a:r>
                <a:r>
                  <a:rPr lang="en-IN" sz="2400">
                    <a:solidFill>
                      <a:srgbClr val="111827"/>
                    </a:solidFill>
                    <a:latin typeface="Cambria Math" panose="02040503050406030204" pitchFamily="18" charset="0"/>
                  </a:rPr>
                  <a:t>$e^{i\alpha}$</a:t>
                </a:r>
                <a:r>
                  <a:rPr sz="2400" b="0">
                    <a:solidFill>
                      <a:srgbClr val="111827"/>
                    </a:solidFill>
                    <a:latin typeface="Arial"/>
                  </a:rPr>
                  <a:t> and the moduli are all equal.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$z=1$</a:t>
                </a:r>
                <a:r>
                  <a:rPr sz="2400" b="0">
                    <a:solidFill>
                      <a:srgbClr val="111827"/>
                    </a:solidFill>
                    <a:latin typeface="Arial"/>
                  </a:rPr>
                  <a:t>, </a:t>
                </a:r>
                <a:r>
                  <a:rPr lang="en-IN" sz="2400">
                    <a:solidFill>
                      <a:srgbClr val="111827"/>
                    </a:solidFill>
                    <a:latin typeface="Cambria Math" panose="02040503050406030204" pitchFamily="18" charset="0"/>
                  </a:rPr>
                  <a:t>$\alpha=60^\circ$</a:t>
                </a:r>
                <a:r>
                  <a:rPr sz="2400" b="0">
                    <a:solidFill>
                      <a:srgbClr val="111827"/>
                    </a:solidFill>
                    <a:latin typeface="Arial"/>
                  </a:rPr>
                  <a:t>: </a:t>
                </a:r>
                <a:r>
                  <a:rPr lang="en-IN" sz="2400">
                    <a:solidFill>
                      <a:srgbClr val="111827"/>
                    </a:solidFill>
                    <a:latin typeface="Cambria Math" panose="02040503050406030204" pitchFamily="18" charset="0"/>
                  </a:rPr>
                  <a:t>$z'+z''=e^{i\pi/3}+e^{-i\pi/3}=1=2\cos60^\circ$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8742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Ram tosses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fair coins and Shyam tosses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fair coins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N</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probability that Ram gets more heads than Shyam,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independent of </a:t>
                </a:r>
                <a14:m>
                  <m:oMath xmlns:m="http://schemas.openxmlformats.org/officeDocument/2006/math">
                    <m:r>
                      <a:rPr lang="en-IN" sz="2400" i="1">
                        <a:solidFill>
                          <a:srgbClr val="111827"/>
                        </a:solidFill>
                        <a:latin typeface="Cambria Math" panose="02040503050406030204" pitchFamily="18" charset="0"/>
                      </a:rPr>
                      <m:t>𝑛</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dependent on </a:t>
                </a:r>
                <a14:m>
                  <m:oMath xmlns:m="http://schemas.openxmlformats.org/officeDocument/2006/math">
                    <m:r>
                      <a:rPr lang="en-IN" sz="2400" i="1">
                        <a:solidFill>
                          <a:srgbClr val="111827"/>
                        </a:solidFill>
                        <a:latin typeface="Cambria Math" panose="02040503050406030204" pitchFamily="18" charset="0"/>
                      </a:rPr>
                      <m:t>𝑛</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endParaRPr sz="2400">
                  <a:solidFill>
                    <a:srgbClr val="111827"/>
                  </a:solidFill>
                </a:endParaRPr>
              </a:p>
            </p:txBody>
          </p:sp>
        </mc:Choice>
        <mc:Fallback>
          <p:sp>
            <p:nvSpPr>
              <p:cNvPr id="4" name="Rounded Rectangle 3"/>
              <p:cNvSpPr/>
              <p:nvPr/>
            </p:nvSpPr>
            <p:spPr>
              <a:xfrm>
                <a:off x="731520" y="1280160"/>
                <a:ext cx="10725912" cy="348742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Ram tosses </a:t>
                </a:r>
                <a:r>
                  <a:rPr lang="en-IN" sz="2400">
                    <a:solidFill>
                      <a:srgbClr val="111827"/>
                    </a:solidFill>
                    <a:latin typeface="Cambria Math" panose="02040503050406030204" pitchFamily="18" charset="0"/>
                  </a:rPr>
                  <a:t>$n+1$</a:t>
                </a:r>
                <a:r>
                  <a:rPr sz="2400" b="0">
                    <a:solidFill>
                      <a:srgbClr val="111827"/>
                    </a:solidFill>
                    <a:latin typeface="Arial"/>
                  </a:rPr>
                  <a:t> fair coins and Shyam tosses </a:t>
                </a:r>
                <a:r>
                  <a:rPr lang="en-IN" sz="2400">
                    <a:solidFill>
                      <a:srgbClr val="111827"/>
                    </a:solidFill>
                    <a:latin typeface="Cambria Math" panose="02040503050406030204" pitchFamily="18" charset="0"/>
                  </a:rPr>
                  <a:t>$n$</a:t>
                </a:r>
                <a:r>
                  <a:rPr sz="2400" b="0">
                    <a:solidFill>
                      <a:srgbClr val="111827"/>
                    </a:solidFill>
                    <a:latin typeface="Arial"/>
                  </a:rPr>
                  <a:t> fair coins (</a:t>
                </a:r>
                <a:r>
                  <a:rPr lang="en-IN" sz="2400">
                    <a:solidFill>
                      <a:srgbClr val="111827"/>
                    </a:solidFill>
                    <a:latin typeface="Cambria Math" panose="02040503050406030204" pitchFamily="18" charset="0"/>
                  </a:rPr>
                  <a:t>$n\in\mathbb{N}$</a:t>
                </a:r>
                <a:r>
                  <a:rPr sz="2400" b="0">
                    <a:solidFill>
                      <a:srgbClr val="111827"/>
                    </a:solidFill>
                    <a:latin typeface="Arial"/>
                  </a:rPr>
                  <a:t>). If </a:t>
                </a:r>
                <a:r>
                  <a:rPr lang="en-IN" sz="2400">
                    <a:solidFill>
                      <a:srgbClr val="111827"/>
                    </a:solidFill>
                    <a:latin typeface="Cambria Math" panose="02040503050406030204" pitchFamily="18" charset="0"/>
                  </a:rPr>
                  <a:t>$P(n)$</a:t>
                </a:r>
                <a:r>
                  <a:rPr sz="2400" b="0">
                    <a:solidFill>
                      <a:srgbClr val="111827"/>
                    </a:solidFill>
                    <a:latin typeface="Arial"/>
                  </a:rPr>
                  <a:t> is the probability that Ram gets more heads than Shyam,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$P(n)$</a:t>
                </a:r>
                <a:r>
                  <a:rPr sz="2400" b="0">
                    <a:solidFill>
                      <a:srgbClr val="111827"/>
                    </a:solidFill>
                    <a:latin typeface="Arial"/>
                  </a:rPr>
                  <a:t> is independent of </a:t>
                </a:r>
                <a:r>
                  <a:rPr lang="en-IN" sz="2400">
                    <a:solidFill>
                      <a:srgbClr val="111827"/>
                    </a:solidFill>
                    <a:latin typeface="Cambria Math" panose="02040503050406030204" pitchFamily="18" charset="0"/>
                  </a:rPr>
                  <a:t>$n$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$P(n)$</a:t>
                </a:r>
                <a:r>
                  <a:rPr sz="2400" b="0">
                    <a:solidFill>
                      <a:srgbClr val="111827"/>
                    </a:solidFill>
                    <a:latin typeface="Arial"/>
                  </a:rPr>
                  <a:t> is dependent on </a:t>
                </a:r>
                <a:r>
                  <a:rPr lang="en-IN" sz="2400">
                    <a:solidFill>
                      <a:srgbClr val="111827"/>
                    </a:solidFill>
                    <a:latin typeface="Cambria Math" panose="02040503050406030204" pitchFamily="18" charset="0"/>
                  </a:rPr>
                  <a:t>$n$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$P(10)=\frac12$</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$P(10)&gt;P(5)$</a:t>
                </a:r>
                <a:endParaRPr sz="2400">
                  <a:solidFill>
                    <a:srgbClr val="111827"/>
                  </a:solidFill>
                </a:endParaRPr>
              </a:p>
            </p:txBody>
          </p:sp>
        </mc:Fallback>
      </mc:AlternateContent>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probability and symmetry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Ram's first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 coins versus Shyam's are symmetric, so Ram wins when ahead, or tied and his last coin is a head: </a:t>
                </a:r>
                <a14:m>
                  <m:oMath xmlns:m="http://schemas.openxmlformats.org/officeDocument/2006/math">
                    <m:r>
                      <a:rPr lang="en-IN" sz="2400" i="1">
                        <a:solidFill>
                          <a:srgbClr val="78350F"/>
                        </a:solidFill>
                        <a:latin typeface="Cambria Math" panose="02040503050406030204" pitchFamily="18" charset="0"/>
                      </a:rPr>
                      <m:t>𝑝</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𝑞</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700784"/>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Ram's first </a:t>
                </a:r>
                <a:r>
                  <a:rPr lang="en-IN" sz="2400">
                    <a:solidFill>
                      <a:srgbClr val="78350F"/>
                    </a:solidFill>
                    <a:latin typeface="Cambria Math" panose="02040503050406030204" pitchFamily="18" charset="0"/>
                  </a:rPr>
                  <a:t>$n$</a:t>
                </a:r>
                <a:r>
                  <a:rPr sz="2400" b="0">
                    <a:solidFill>
                      <a:srgbClr val="78350F"/>
                    </a:solidFill>
                    <a:latin typeface="Arial"/>
                  </a:rPr>
                  <a:t> coins versus Shyam's are symmetric, so Ram wins when ahead, or tied and his last coin is a head: </a:t>
                </a:r>
                <a:r>
                  <a:rPr lang="en-IN" sz="2400">
                    <a:solidFill>
                      <a:srgbClr val="78350F"/>
                    </a:solidFill>
                    <a:latin typeface="Cambria Math" panose="02040503050406030204" pitchFamily="18" charset="0"/>
                  </a:rPr>
                  <a:t>$p+\frac q2=\frac12$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Compare Ram's first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coins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heads) with Shyam's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coins (</a:t>
                </a:r>
                <a14:m>
                  <m:oMath xmlns:m="http://schemas.openxmlformats.org/officeDocument/2006/math">
                    <m:r>
                      <a:rPr lang="en-IN" sz="2400" i="1">
                        <a:solidFill>
                          <a:srgbClr val="111827"/>
                        </a:solidFill>
                        <a:latin typeface="Cambria Math" panose="02040503050406030204" pitchFamily="18" charset="0"/>
                      </a:rPr>
                      <m:t>𝑌</m:t>
                    </m:r>
                  </m:oMath>
                </a14:m>
                <a:r>
                  <a:rPr sz="2400" b="0">
                    <a:solidFill>
                      <a:srgbClr val="111827"/>
                    </a:solidFill>
                    <a:latin typeface="Arial"/>
                  </a:rPr>
                  <a:t> heads);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oMath>
                </a14:m>
                <a:r>
                  <a:rPr sz="2400" b="0">
                    <a:solidFill>
                      <a:srgbClr val="111827"/>
                    </a:solidFill>
                    <a:latin typeface="Arial"/>
                  </a:rPr>
                  <a:t> are identically distributed and independent.</a:t>
                </a:r>
                <a:endParaRPr sz="2400">
                  <a:solidFill>
                    <a:srgbClr val="111827"/>
                  </a:solidFill>
                </a:endParaRPr>
              </a:p>
            </p:txBody>
          </p:sp>
        </mc:Choice>
        <mc:Fallback>
          <p:sp>
            <p:nvSpPr>
              <p:cNvPr id="6" name="Rectangle 5"/>
              <p:cNvSpPr/>
              <p:nvPr/>
            </p:nvSpPr>
            <p:spPr>
              <a:xfrm>
                <a:off x="731520" y="5276088"/>
                <a:ext cx="10725912" cy="1399031"/>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Compare Ram's first </a:t>
                </a:r>
                <a:r>
                  <a:rPr lang="en-IN" sz="2400">
                    <a:solidFill>
                      <a:srgbClr val="111827"/>
                    </a:solidFill>
                    <a:latin typeface="Cambria Math" panose="02040503050406030204" pitchFamily="18" charset="0"/>
                  </a:rPr>
                  <a:t>$n$</a:t>
                </a:r>
                <a:r>
                  <a:rPr sz="2400" b="0">
                    <a:solidFill>
                      <a:srgbClr val="111827"/>
                    </a:solidFill>
                    <a:latin typeface="Arial"/>
                  </a:rPr>
                  <a:t> coins (</a:t>
                </a:r>
                <a:r>
                  <a:rPr lang="en-IN" sz="2400">
                    <a:solidFill>
                      <a:srgbClr val="111827"/>
                    </a:solidFill>
                    <a:latin typeface="Cambria Math" panose="02040503050406030204" pitchFamily="18" charset="0"/>
                  </a:rPr>
                  <a:t>$X$</a:t>
                </a:r>
                <a:r>
                  <a:rPr sz="2400" b="0">
                    <a:solidFill>
                      <a:srgbClr val="111827"/>
                    </a:solidFill>
                    <a:latin typeface="Arial"/>
                  </a:rPr>
                  <a:t> heads) with Shyam's </a:t>
                </a:r>
                <a:r>
                  <a:rPr lang="en-IN" sz="2400">
                    <a:solidFill>
                      <a:srgbClr val="111827"/>
                    </a:solidFill>
                    <a:latin typeface="Cambria Math" panose="02040503050406030204" pitchFamily="18" charset="0"/>
                  </a:rPr>
                  <a:t>$n$</a:t>
                </a:r>
                <a:r>
                  <a:rPr sz="2400" b="0">
                    <a:solidFill>
                      <a:srgbClr val="111827"/>
                    </a:solidFill>
                    <a:latin typeface="Arial"/>
                  </a:rPr>
                  <a:t> coins (</a:t>
                </a:r>
                <a:r>
                  <a:rPr lang="en-IN" sz="2400">
                    <a:solidFill>
                      <a:srgbClr val="111827"/>
                    </a:solidFill>
                    <a:latin typeface="Cambria Math" panose="02040503050406030204" pitchFamily="18" charset="0"/>
                  </a:rPr>
                  <a:t>$Y$</a:t>
                </a:r>
                <a:r>
                  <a:rPr sz="2400" b="0">
                    <a:solidFill>
                      <a:srgbClr val="111827"/>
                    </a:solidFill>
                    <a:latin typeface="Arial"/>
                  </a:rPr>
                  <a:t> heads); </a:t>
                </a:r>
                <a:r>
                  <a:rPr lang="en-IN" sz="2400">
                    <a:solidFill>
                      <a:srgbClr val="111827"/>
                    </a:solidFill>
                    <a:latin typeface="Cambria Math" panose="02040503050406030204" pitchFamily="18" charset="0"/>
                  </a:rPr>
                  <a:t>$X,Y$</a:t>
                </a:r>
                <a:r>
                  <a:rPr sz="2400" b="0">
                    <a:solidFill>
                      <a:srgbClr val="111827"/>
                    </a:solidFill>
                    <a:latin typeface="Arial"/>
                  </a:rPr>
                  <a:t> are identically distributed and independent.</a:t>
                </a:r>
                <a:endParaRPr sz="2400">
                  <a:solidFill>
                    <a:srgbClr val="111827"/>
                  </a:solidFill>
                </a:endParaRPr>
              </a:p>
            </p:txBody>
          </p:sp>
        </mc:Fallback>
      </mc:AlternateContent>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By symmetry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too,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Ram's extra coin decides ties: if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oMath>
                </a14:m>
                <a:r>
                  <a:rPr sz="2400" b="0">
                    <a:solidFill>
                      <a:srgbClr val="111827"/>
                    </a:solidFill>
                    <a:latin typeface="Arial"/>
                  </a:rPr>
                  <a:t> he wins when it is a head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he already wins; if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𝑌</m:t>
                    </m:r>
                  </m:oMath>
                </a14:m>
                <a:r>
                  <a:rPr sz="2400" b="0">
                    <a:solidFill>
                      <a:srgbClr val="111827"/>
                    </a:solidFill>
                    <a:latin typeface="Arial"/>
                  </a:rPr>
                  <a:t> he cannot overtake, since he gains at most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head.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$p=P(X&gt;Y)$</a:t>
                </a:r>
                <a:r>
                  <a:rPr sz="2400" b="0">
                    <a:solidFill>
                      <a:srgbClr val="111827"/>
                    </a:solidFill>
                    <a:latin typeface="Arial"/>
                  </a:rPr>
                  <a:t>, </a:t>
                </a:r>
                <a:r>
                  <a:rPr lang="en-IN" sz="2400">
                    <a:solidFill>
                      <a:srgbClr val="111827"/>
                    </a:solidFill>
                    <a:latin typeface="Cambria Math" panose="02040503050406030204" pitchFamily="18" charset="0"/>
                  </a:rPr>
                  <a:t>$q=P(X=Y)$</a:t>
                </a:r>
                <a:r>
                  <a:rPr sz="2400" b="0">
                    <a:solidFill>
                      <a:srgbClr val="111827"/>
                    </a:solidFill>
                    <a:latin typeface="Arial"/>
                  </a:rPr>
                  <a:t>. By symmetry </a:t>
                </a:r>
                <a:r>
                  <a:rPr lang="en-IN" sz="2400">
                    <a:solidFill>
                      <a:srgbClr val="111827"/>
                    </a:solidFill>
                    <a:latin typeface="Cambria Math" panose="02040503050406030204" pitchFamily="18" charset="0"/>
                  </a:rPr>
                  <a:t>$P(X&lt;Y)=p$</a:t>
                </a:r>
                <a:r>
                  <a:rPr sz="2400" b="0">
                    <a:solidFill>
                      <a:srgbClr val="111827"/>
                    </a:solidFill>
                    <a:latin typeface="Arial"/>
                  </a:rPr>
                  <a:t> too, so </a:t>
                </a:r>
                <a:r>
                  <a:rPr lang="en-IN" sz="2400">
                    <a:solidFill>
                      <a:srgbClr val="111827"/>
                    </a:solidFill>
                    <a:latin typeface="Cambria Math" panose="02040503050406030204" pitchFamily="18" charset="0"/>
                  </a:rPr>
                  <a:t>$2p+q=1$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Ram's extra coin decides ties: if </a:t>
                </a:r>
                <a:r>
                  <a:rPr lang="en-IN" sz="2400">
                    <a:solidFill>
                      <a:srgbClr val="111827"/>
                    </a:solidFill>
                    <a:latin typeface="Cambria Math" panose="02040503050406030204" pitchFamily="18" charset="0"/>
                  </a:rPr>
                  <a:t>$X=Y$</a:t>
                </a:r>
                <a:r>
                  <a:rPr sz="2400" b="0">
                    <a:solidFill>
                      <a:srgbClr val="111827"/>
                    </a:solidFill>
                    <a:latin typeface="Arial"/>
                  </a:rPr>
                  <a:t> he wins when it is a head (probability </a:t>
                </a:r>
                <a:r>
                  <a:rPr lang="en-IN" sz="2400">
                    <a:solidFill>
                      <a:srgbClr val="111827"/>
                    </a:solidFill>
                    <a:latin typeface="Cambria Math" panose="02040503050406030204" pitchFamily="18" charset="0"/>
                  </a:rPr>
                  <a:t>$\frac12$</a:t>
                </a:r>
                <a:r>
                  <a:rPr sz="2400" b="0">
                    <a:solidFill>
                      <a:srgbClr val="111827"/>
                    </a:solidFill>
                    <a:latin typeface="Arial"/>
                  </a:rPr>
                  <a:t>); if </a:t>
                </a:r>
                <a:r>
                  <a:rPr lang="en-IN" sz="2400">
                    <a:solidFill>
                      <a:srgbClr val="111827"/>
                    </a:solidFill>
                    <a:latin typeface="Cambria Math" panose="02040503050406030204" pitchFamily="18" charset="0"/>
                  </a:rPr>
                  <a:t>$X\ge Y+1$</a:t>
                </a:r>
                <a:r>
                  <a:rPr sz="2400" b="0">
                    <a:solidFill>
                      <a:srgbClr val="111827"/>
                    </a:solidFill>
                    <a:latin typeface="Arial"/>
                  </a:rPr>
                  <a:t> he already wins; if </a:t>
                </a:r>
                <a:r>
                  <a:rPr lang="en-IN" sz="2400">
                    <a:solidFill>
                      <a:srgbClr val="111827"/>
                    </a:solidFill>
                    <a:latin typeface="Cambria Math" panose="02040503050406030204" pitchFamily="18" charset="0"/>
                  </a:rPr>
                  <a:t>$X&lt;Y$</a:t>
                </a:r>
                <a:r>
                  <a:rPr sz="2400" b="0">
                    <a:solidFill>
                      <a:srgbClr val="111827"/>
                    </a:solidFill>
                    <a:latin typeface="Arial"/>
                  </a:rPr>
                  <a:t> he cannot overtake, since he gains at most </a:t>
                </a:r>
                <a:r>
                  <a:rPr lang="en-IN" sz="2400">
                    <a:solidFill>
                      <a:srgbClr val="111827"/>
                    </a:solidFill>
                    <a:latin typeface="Cambria Math" panose="02040503050406030204" pitchFamily="18" charset="0"/>
                  </a:rPr>
                  <a:t>$1$</a:t>
                </a:r>
                <a:r>
                  <a:rPr sz="2400" b="0">
                    <a:solidFill>
                      <a:srgbClr val="111827"/>
                    </a:solidFill>
                    <a:latin typeface="Arial"/>
                  </a:rPr>
                  <a:t> head.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$P(n)=P(X&gt;Y)+\frac12P(X=Y)=p+\frac q2=\frac{2p+q}{2}=\frac12$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it is independent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 true, B false).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 true.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false: (D) false. Answer: (A),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$P(n)=\frac12$</a:t>
                </a:r>
                <a:r>
                  <a:rPr sz="2400" b="0">
                    <a:solidFill>
                      <a:srgbClr val="111827"/>
                    </a:solidFill>
                    <a:latin typeface="Arial"/>
                  </a:rPr>
                  <a:t> for every </a:t>
                </a:r>
                <a:r>
                  <a:rPr lang="en-IN" sz="2400">
                    <a:solidFill>
                      <a:srgbClr val="111827"/>
                    </a:solidFill>
                    <a:latin typeface="Cambria Math" panose="02040503050406030204" pitchFamily="18" charset="0"/>
                  </a:rPr>
                  <a:t>$n$</a:t>
                </a:r>
                <a:r>
                  <a:rPr sz="2400" b="0">
                    <a:solidFill>
                      <a:srgbClr val="111827"/>
                    </a:solidFill>
                    <a:latin typeface="Arial"/>
                  </a:rPr>
                  <a:t>: it is independent of </a:t>
                </a:r>
                <a:r>
                  <a:rPr lang="en-IN" sz="2400">
                    <a:solidFill>
                      <a:srgbClr val="111827"/>
                    </a:solidFill>
                    <a:latin typeface="Cambria Math" panose="02040503050406030204" pitchFamily="18" charset="0"/>
                  </a:rPr>
                  <a:t>$n$</a:t>
                </a:r>
                <a:r>
                  <a:rPr sz="2400" b="0">
                    <a:solidFill>
                      <a:srgbClr val="111827"/>
                    </a:solidFill>
                    <a:latin typeface="Arial"/>
                  </a:rPr>
                  <a:t> (A true, B false).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$P(10)=\frac12$</a:t>
                </a:r>
                <a:r>
                  <a:rPr sz="2400" b="0">
                    <a:solidFill>
                      <a:srgbClr val="111827"/>
                    </a:solidFill>
                    <a:latin typeface="Arial"/>
                  </a:rPr>
                  <a:t>: (C) true. </a:t>
                </a:r>
                <a:r>
                  <a:rPr lang="en-IN" sz="2400">
                    <a:solidFill>
                      <a:srgbClr val="111827"/>
                    </a:solidFill>
                    <a:latin typeface="Cambria Math" panose="02040503050406030204" pitchFamily="18" charset="0"/>
                  </a:rPr>
                  <a:t>$P(10)=P(5)=\frac12$</a:t>
                </a:r>
                <a:r>
                  <a:rPr sz="2400" b="0">
                    <a:solidFill>
                      <a:srgbClr val="111827"/>
                    </a:solidFill>
                    <a:latin typeface="Arial"/>
                  </a:rPr>
                  <a:t>, so </a:t>
                </a:r>
                <a:r>
                  <a:rPr lang="en-IN" sz="2400">
                    <a:solidFill>
                      <a:srgbClr val="111827"/>
                    </a:solidFill>
                    <a:latin typeface="Cambria Math" panose="02040503050406030204" pitchFamily="18" charset="0"/>
                  </a:rPr>
                  <a:t>$P(10)&gt;P(5)$</a:t>
                </a:r>
                <a:r>
                  <a:rPr sz="2400" b="0">
                    <a:solidFill>
                      <a:srgbClr val="111827"/>
                    </a:solidFill>
                    <a:latin typeface="Arial"/>
                  </a:rPr>
                  <a:t> is false: (D) false. Answer: (A),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C)</a:t>
            </a:r>
            <a:endParaRPr sz="2800">
              <a:solidFill>
                <a:srgbClr val="15803D"/>
              </a:solidFill>
            </a:endParaRP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Swap heads and tails: Ram has more heads than Shyam exactly when he has no more tails; the complementary event has the same probability.</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be Ram's heads and tails (</a:t>
                </a: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Shyam's (</a:t>
                </a: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$H_1,T_1$</a:t>
                </a:r>
                <a:r>
                  <a:rPr sz="2400" b="0">
                    <a:solidFill>
                      <a:srgbClr val="111827"/>
                    </a:solidFill>
                    <a:latin typeface="Arial"/>
                  </a:rPr>
                  <a:t> be Ram's heads and tails (</a:t>
                </a:r>
                <a:r>
                  <a:rPr lang="en-IN" sz="2400">
                    <a:solidFill>
                      <a:srgbClr val="111827"/>
                    </a:solidFill>
                    <a:latin typeface="Cambria Math" panose="02040503050406030204" pitchFamily="18" charset="0"/>
                  </a:rPr>
                  <a:t>$H_1+T_1=n+1$</a:t>
                </a:r>
                <a:r>
                  <a:rPr sz="2400" b="0">
                    <a:solidFill>
                      <a:srgbClr val="111827"/>
                    </a:solidFill>
                    <a:latin typeface="Arial"/>
                  </a:rPr>
                  <a:t>) and </a:t>
                </a:r>
                <a:r>
                  <a:rPr lang="en-IN" sz="2400">
                    <a:solidFill>
                      <a:srgbClr val="111827"/>
                    </a:solidFill>
                    <a:latin typeface="Cambria Math" panose="02040503050406030204" pitchFamily="18" charset="0"/>
                  </a:rPr>
                  <a:t>$H_2,T_2$</a:t>
                </a:r>
                <a:r>
                  <a:rPr sz="2400" b="0">
                    <a:solidFill>
                      <a:srgbClr val="111827"/>
                    </a:solidFill>
                    <a:latin typeface="Arial"/>
                  </a:rPr>
                  <a:t> Shyam's (</a:t>
                </a:r>
                <a:r>
                  <a:rPr lang="en-IN" sz="2400">
                    <a:solidFill>
                      <a:srgbClr val="111827"/>
                    </a:solidFill>
                    <a:latin typeface="Cambria Math" panose="02040503050406030204" pitchFamily="18" charset="0"/>
                  </a:rPr>
                  <a:t>$H_2+T_2=n$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$H_1&gt;H_2\iff n+1-T_1&gt;n-T_2\iff T_1\le T_2$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coins are fair, so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the same joint distribution as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events </a:t>
                </a: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𝐻</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complements, so each has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coins are fair, so </a:t>
                </a:r>
                <a:r>
                  <a:rPr lang="en-IN" sz="2400">
                    <a:solidFill>
                      <a:srgbClr val="111827"/>
                    </a:solidFill>
                    <a:latin typeface="Cambria Math" panose="02040503050406030204" pitchFamily="18" charset="0"/>
                  </a:rPr>
                  <a:t>$(T_1,T_2)$</a:t>
                </a:r>
                <a:r>
                  <a:rPr sz="2400" b="0">
                    <a:solidFill>
                      <a:srgbClr val="111827"/>
                    </a:solidFill>
                    <a:latin typeface="Arial"/>
                  </a:rPr>
                  <a:t> has the same joint distribution as </a:t>
                </a:r>
                <a:r>
                  <a:rPr lang="en-IN" sz="2400">
                    <a:solidFill>
                      <a:srgbClr val="111827"/>
                    </a:solidFill>
                    <a:latin typeface="Cambria Math" panose="02040503050406030204" pitchFamily="18" charset="0"/>
                  </a:rPr>
                  <a:t>$(H_1,H_2)$</a:t>
                </a:r>
                <a:r>
                  <a:rPr sz="2400" b="0">
                    <a:solidFill>
                      <a:srgbClr val="111827"/>
                    </a:solidFill>
                    <a:latin typeface="Arial"/>
                  </a:rPr>
                  <a:t>. Hence </a:t>
                </a:r>
                <a:r>
                  <a:rPr lang="en-IN" sz="2400">
                    <a:solidFill>
                      <a:srgbClr val="111827"/>
                    </a:solidFill>
                    <a:latin typeface="Cambria Math" panose="02040503050406030204" pitchFamily="18" charset="0"/>
                  </a:rPr>
                  <a:t>$P(H_1&gt;H_2)=P(T_1\le T_2)=P(H_1\le H_2)$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events </a:t>
                </a:r>
                <a:r>
                  <a:rPr lang="en-IN" sz="2400">
                    <a:solidFill>
                      <a:srgbClr val="111827"/>
                    </a:solidFill>
                    <a:latin typeface="Cambria Math" panose="02040503050406030204" pitchFamily="18" charset="0"/>
                  </a:rPr>
                  <a:t>$H_1&gt;H_2$</a:t>
                </a:r>
                <a:r>
                  <a:rPr sz="2400" b="0">
                    <a:solidFill>
                      <a:srgbClr val="111827"/>
                    </a:solidFill>
                    <a:latin typeface="Arial"/>
                  </a:rPr>
                  <a:t> and </a:t>
                </a:r>
                <a:r>
                  <a:rPr lang="en-IN" sz="2400">
                    <a:solidFill>
                      <a:srgbClr val="111827"/>
                    </a:solidFill>
                    <a:latin typeface="Cambria Math" panose="02040503050406030204" pitchFamily="18" charset="0"/>
                  </a:rPr>
                  <a:t>$H_1\le H_2$</a:t>
                </a:r>
                <a:r>
                  <a:rPr sz="2400" b="0">
                    <a:solidFill>
                      <a:srgbClr val="111827"/>
                    </a:solidFill>
                    <a:latin typeface="Arial"/>
                  </a:rPr>
                  <a:t> are complements, so each has probability </a:t>
                </a:r>
                <a:r>
                  <a:rPr lang="en-IN" sz="2400">
                    <a:solidFill>
                      <a:srgbClr val="111827"/>
                    </a:solidFill>
                    <a:latin typeface="Cambria Math" panose="02040503050406030204" pitchFamily="18" charset="0"/>
                  </a:rPr>
                  <a:t>$\frac12$</a:t>
                </a:r>
                <a:r>
                  <a:rPr sz="2400" b="0">
                    <a:solidFill>
                      <a:srgbClr val="111827"/>
                    </a:solidFill>
                    <a:latin typeface="Arial"/>
                  </a:rPr>
                  <a:t> for every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C)</a:t>
            </a:r>
            <a:endParaRPr sz="2800">
              <a:solidFill>
                <a:srgbClr val="15803D"/>
              </a:solidFill>
            </a:endParaRP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fair coins against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fair coins,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𝑓𝑖𝑟𝑠𝑡 ℎ𝑎𝑠 𝑚𝑜𝑟𝑒 ℎ𝑒𝑎𝑑𝑠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whatever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Generalisation: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coins, 'more heads' has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(e.g.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more than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Vandermonde check: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𝑏</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e>
                        </m:d>
                      </m:e>
                    </m:nary>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𝑏</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oMath>
                </a14:m>
                <a:r>
                  <a:rPr sz="2400" b="0">
                    <a:solidFill>
                      <a:srgbClr val="111827"/>
                    </a:solidFill>
                    <a:latin typeface="Arial"/>
                  </a:rPr>
                  <a:t>, which is half of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of the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equally likely outcomes,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have Ram ahead,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$m+1$</a:t>
                </a:r>
                <a:r>
                  <a:rPr sz="2400" b="0">
                    <a:solidFill>
                      <a:srgbClr val="111827"/>
                    </a:solidFill>
                    <a:latin typeface="Arial"/>
                  </a:rPr>
                  <a:t> fair coins against </a:t>
                </a:r>
                <a:r>
                  <a:rPr lang="en-IN" sz="2400">
                    <a:solidFill>
                      <a:srgbClr val="111827"/>
                    </a:solidFill>
                    <a:latin typeface="Cambria Math" panose="02040503050406030204" pitchFamily="18" charset="0"/>
                  </a:rPr>
                  <a:t>$m$</a:t>
                </a:r>
                <a:r>
                  <a:rPr sz="2400" b="0">
                    <a:solidFill>
                      <a:srgbClr val="111827"/>
                    </a:solidFill>
                    <a:latin typeface="Arial"/>
                  </a:rPr>
                  <a:t> fair coins, </a:t>
                </a:r>
                <a:r>
                  <a:rPr lang="en-IN" sz="2400">
                    <a:solidFill>
                      <a:srgbClr val="111827"/>
                    </a:solidFill>
                    <a:latin typeface="Cambria Math" panose="02040503050406030204" pitchFamily="18" charset="0"/>
                  </a:rPr>
                  <a:t>$P(\text{first has more heads})=\frac12$</a:t>
                </a:r>
                <a:r>
                  <a:rPr sz="2400" b="0">
                    <a:solidFill>
                      <a:srgbClr val="111827"/>
                    </a:solidFill>
                    <a:latin typeface="Arial"/>
                  </a:rPr>
                  <a:t>, whatever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Generalisation: with </a:t>
                </a:r>
                <a:r>
                  <a:rPr lang="en-IN" sz="2400">
                    <a:solidFill>
                      <a:srgbClr val="111827"/>
                    </a:solidFill>
                    <a:latin typeface="Cambria Math" panose="02040503050406030204" pitchFamily="18" charset="0"/>
                  </a:rPr>
                  <a:t>$n+k$</a:t>
                </a:r>
                <a:r>
                  <a:rPr sz="2400" b="0">
                    <a:solidFill>
                      <a:srgbClr val="111827"/>
                    </a:solidFill>
                    <a:latin typeface="Arial"/>
                  </a:rPr>
                  <a:t> and </a:t>
                </a:r>
                <a:r>
                  <a:rPr lang="en-IN" sz="2400">
                    <a:solidFill>
                      <a:srgbClr val="111827"/>
                    </a:solidFill>
                    <a:latin typeface="Cambria Math" panose="02040503050406030204" pitchFamily="18" charset="0"/>
                  </a:rPr>
                  <a:t>$n$</a:t>
                </a:r>
                <a:r>
                  <a:rPr sz="2400" b="0">
                    <a:solidFill>
                      <a:srgbClr val="111827"/>
                    </a:solidFill>
                    <a:latin typeface="Arial"/>
                  </a:rPr>
                  <a:t> coins, 'more heads' has probability </a:t>
                </a:r>
                <a:r>
                  <a:rPr lang="en-IN" sz="2400">
                    <a:solidFill>
                      <a:srgbClr val="111827"/>
                    </a:solidFill>
                    <a:latin typeface="Cambria Math" panose="02040503050406030204" pitchFamily="18" charset="0"/>
                  </a:rPr>
                  <a:t>$\frac12$</a:t>
                </a:r>
                <a:r>
                  <a:rPr sz="2400" b="0">
                    <a:solidFill>
                      <a:srgbClr val="111827"/>
                    </a:solidFill>
                    <a:latin typeface="Arial"/>
                  </a:rPr>
                  <a:t> iff </a:t>
                </a:r>
                <a:r>
                  <a:rPr lang="en-IN" sz="2400">
                    <a:solidFill>
                      <a:srgbClr val="111827"/>
                    </a:solidFill>
                    <a:latin typeface="Cambria Math" panose="02040503050406030204" pitchFamily="18" charset="0"/>
                  </a:rPr>
                  <a:t>$k=1$</a:t>
                </a:r>
                <a:r>
                  <a:rPr sz="2400" b="0">
                    <a:solidFill>
                      <a:srgbClr val="111827"/>
                    </a:solidFill>
                    <a:latin typeface="Arial"/>
                  </a:rPr>
                  <a:t> (e.g. </a:t>
                </a:r>
                <a:r>
                  <a:rPr lang="en-IN" sz="2400">
                    <a:solidFill>
                      <a:srgbClr val="111827"/>
                    </a:solidFill>
                    <a:latin typeface="Cambria Math" panose="02040503050406030204" pitchFamily="18" charset="0"/>
                  </a:rPr>
                  <a:t>$k=2$</a:t>
                </a:r>
                <a:r>
                  <a:rPr sz="2400" b="0">
                    <a:solidFill>
                      <a:srgbClr val="111827"/>
                    </a:solidFill>
                    <a:latin typeface="Arial"/>
                  </a:rPr>
                  <a:t> gives more than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Vandermonde check: </a:t>
                </a:r>
                <a:r>
                  <a:rPr lang="en-IN" sz="2400">
                    <a:solidFill>
                      <a:srgbClr val="111827"/>
                    </a:solidFill>
                    <a:latin typeface="Cambria Math" panose="02040503050406030204" pitchFamily="18" charset="0"/>
                  </a:rPr>
                  <a:t>$\sum_{a&gt;b}\binom{n+1}{a}\binom nb=2^{2n}$</a:t>
                </a:r>
                <a:r>
                  <a:rPr sz="2400" b="0">
                    <a:solidFill>
                      <a:srgbClr val="111827"/>
                    </a:solidFill>
                    <a:latin typeface="Arial"/>
                  </a:rPr>
                  <a:t>, which is half of </a:t>
                </a:r>
                <a:r>
                  <a:rPr lang="en-IN" sz="2400">
                    <a:solidFill>
                      <a:srgbClr val="111827"/>
                    </a:solidFill>
                    <a:latin typeface="Cambria Math" panose="02040503050406030204" pitchFamily="18" charset="0"/>
                  </a:rPr>
                  <a:t>$2^{2n+1}$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$n=1$</a:t>
                </a:r>
                <a:r>
                  <a:rPr sz="2400" b="0">
                    <a:solidFill>
                      <a:srgbClr val="111827"/>
                    </a:solidFill>
                    <a:latin typeface="Arial"/>
                  </a:rPr>
                  <a:t>: of the </a:t>
                </a:r>
                <a:r>
                  <a:rPr lang="en-IN" sz="2400">
                    <a:solidFill>
                      <a:srgbClr val="111827"/>
                    </a:solidFill>
                    <a:latin typeface="Cambria Math" panose="02040503050406030204" pitchFamily="18" charset="0"/>
                  </a:rPr>
                  <a:t>$8$</a:t>
                </a:r>
                <a:r>
                  <a:rPr sz="2400" b="0">
                    <a:solidFill>
                      <a:srgbClr val="111827"/>
                    </a:solidFill>
                    <a:latin typeface="Arial"/>
                  </a:rPr>
                  <a:t> equally likely outcomes, </a:t>
                </a:r>
                <a:r>
                  <a:rPr lang="en-IN" sz="2400">
                    <a:solidFill>
                      <a:srgbClr val="111827"/>
                    </a:solidFill>
                    <a:latin typeface="Cambria Math" panose="02040503050406030204" pitchFamily="18" charset="0"/>
                  </a:rPr>
                  <a:t>$4$</a:t>
                </a:r>
                <a:r>
                  <a:rPr sz="2400" b="0">
                    <a:solidFill>
                      <a:srgbClr val="111827"/>
                    </a:solidFill>
                    <a:latin typeface="Arial"/>
                  </a:rPr>
                  <a:t> have Ram ahead, so </a:t>
                </a:r>
                <a:r>
                  <a:rPr lang="en-IN" sz="2400">
                    <a:solidFill>
                      <a:srgbClr val="111827"/>
                    </a:solidFill>
                    <a:latin typeface="Cambria Math" panose="02040503050406030204" pitchFamily="18" charset="0"/>
                  </a:rPr>
                  <a:t>$P(1)=\frac12$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66877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Each of </a:t>
                </a:r>
                <a14:m>
                  <m:oMath xmlns:m="http://schemas.openxmlformats.org/officeDocument/2006/math">
                    <m:r>
                      <a:rPr lang="en-IN" sz="2400" i="1">
                        <a:solidFill>
                          <a:srgbClr val="111827"/>
                        </a:solidFill>
                        <a:latin typeface="Cambria Math" panose="02040503050406030204" pitchFamily="18" charset="0"/>
                      </a:rPr>
                      <m:t>2010</m:t>
                    </m:r>
                  </m:oMath>
                </a14:m>
                <a:r>
                  <a:rPr sz="2400" b="0">
                    <a:solidFill>
                      <a:srgbClr val="111827"/>
                    </a:solidFill>
                    <a:latin typeface="Arial"/>
                  </a:rPr>
                  <a:t> boxes in a line contains one red marble, and for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oMath>
                </a14:m>
                <a:r>
                  <a:rPr sz="2400" b="0">
                    <a:solidFill>
                      <a:srgbClr val="111827"/>
                    </a:solidFill>
                    <a:latin typeface="Arial"/>
                  </a:rPr>
                  <a:t> the box at the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ℎ</m:t>
                        </m:r>
                      </m:sup>
                    </m:sSup>
                  </m:oMath>
                </a14:m>
                <a:r>
                  <a:rPr sz="2400" b="0">
                    <a:solidFill>
                      <a:srgbClr val="111827"/>
                    </a:solidFill>
                    <a:latin typeface="Arial"/>
                  </a:rPr>
                  <a:t> position also contains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white marbles. A child begins at the first box and successively draws a single marble at random from each box in order. He stops when he first draws a red marble.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probability that he stops after drawing exactly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marbles. The possible value(s)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for which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2010</m:t>
                        </m:r>
                      </m:den>
                    </m:f>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44</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45</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46</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47</m:t>
                    </m:r>
                  </m:oMath>
                </a14:m>
                <a:endParaRPr sz="2400">
                  <a:solidFill>
                    <a:srgbClr val="111827"/>
                  </a:solidFill>
                </a:endParaRPr>
              </a:p>
            </p:txBody>
          </p:sp>
        </mc:Choice>
        <mc:Fallback>
          <p:sp>
            <p:nvSpPr>
              <p:cNvPr id="4" name="Rounded Rectangle 3"/>
              <p:cNvSpPr/>
              <p:nvPr/>
            </p:nvSpPr>
            <p:spPr>
              <a:xfrm>
                <a:off x="731520" y="1280160"/>
                <a:ext cx="10725912" cy="366877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Each of </a:t>
                </a:r>
                <a:r>
                  <a:rPr lang="en-IN" sz="2400">
                    <a:solidFill>
                      <a:srgbClr val="111827"/>
                    </a:solidFill>
                    <a:latin typeface="Cambria Math" panose="02040503050406030204" pitchFamily="18" charset="0"/>
                  </a:rPr>
                  <a:t>$2010$</a:t>
                </a:r>
                <a:r>
                  <a:rPr sz="2400" b="0">
                    <a:solidFill>
                      <a:srgbClr val="111827"/>
                    </a:solidFill>
                    <a:latin typeface="Arial"/>
                  </a:rPr>
                  <a:t> boxes in a line contains one red marble, and for </a:t>
                </a:r>
                <a:r>
                  <a:rPr lang="en-IN" sz="2400">
                    <a:solidFill>
                      <a:srgbClr val="111827"/>
                    </a:solidFill>
                    <a:latin typeface="Cambria Math" panose="02040503050406030204" pitchFamily="18" charset="0"/>
                  </a:rPr>
                  <a:t>$1\le k\le 2010$</a:t>
                </a:r>
                <a:r>
                  <a:rPr sz="2400" b="0">
                    <a:solidFill>
                      <a:srgbClr val="111827"/>
                    </a:solidFill>
                    <a:latin typeface="Arial"/>
                  </a:rPr>
                  <a:t> the box at the </a:t>
                </a:r>
                <a:r>
                  <a:rPr lang="en-IN" sz="2400">
                    <a:solidFill>
                      <a:srgbClr val="111827"/>
                    </a:solidFill>
                    <a:latin typeface="Cambria Math" panose="02040503050406030204" pitchFamily="18" charset="0"/>
                  </a:rPr>
                  <a:t>$k^{th}$</a:t>
                </a:r>
                <a:r>
                  <a:rPr sz="2400" b="0">
                    <a:solidFill>
                      <a:srgbClr val="111827"/>
                    </a:solidFill>
                    <a:latin typeface="Arial"/>
                  </a:rPr>
                  <a:t> position also contains </a:t>
                </a:r>
                <a:r>
                  <a:rPr lang="en-IN" sz="2400">
                    <a:solidFill>
                      <a:srgbClr val="111827"/>
                    </a:solidFill>
                    <a:latin typeface="Cambria Math" panose="02040503050406030204" pitchFamily="18" charset="0"/>
                  </a:rPr>
                  <a:t>$k$</a:t>
                </a:r>
                <a:r>
                  <a:rPr sz="2400" b="0">
                    <a:solidFill>
                      <a:srgbClr val="111827"/>
                    </a:solidFill>
                    <a:latin typeface="Arial"/>
                  </a:rPr>
                  <a:t> white marbles. A child begins at the first box and successively draws a single marble at random from each box in order. He stops when he first draws a red marble. Let </a:t>
                </a:r>
                <a:r>
                  <a:rPr lang="en-IN" sz="2400">
                    <a:solidFill>
                      <a:srgbClr val="111827"/>
                    </a:solidFill>
                    <a:latin typeface="Cambria Math" panose="02040503050406030204" pitchFamily="18" charset="0"/>
                  </a:rPr>
                  <a:t>$P(n)$</a:t>
                </a:r>
                <a:r>
                  <a:rPr sz="2400" b="0">
                    <a:solidFill>
                      <a:srgbClr val="111827"/>
                    </a:solidFill>
                    <a:latin typeface="Arial"/>
                  </a:rPr>
                  <a:t> be the probability that he stops after drawing exactly </a:t>
                </a:r>
                <a:r>
                  <a:rPr lang="en-IN" sz="2400">
                    <a:solidFill>
                      <a:srgbClr val="111827"/>
                    </a:solidFill>
                    <a:latin typeface="Cambria Math" panose="02040503050406030204" pitchFamily="18" charset="0"/>
                  </a:rPr>
                  <a:t>$n$</a:t>
                </a:r>
                <a:r>
                  <a:rPr sz="2400" b="0">
                    <a:solidFill>
                      <a:srgbClr val="111827"/>
                    </a:solidFill>
                    <a:latin typeface="Arial"/>
                  </a:rPr>
                  <a:t> marbles. The possible value(s) of </a:t>
                </a:r>
                <a:r>
                  <a:rPr lang="en-IN" sz="2400">
                    <a:solidFill>
                      <a:srgbClr val="111827"/>
                    </a:solidFill>
                    <a:latin typeface="Cambria Math" panose="02040503050406030204" pitchFamily="18" charset="0"/>
                  </a:rPr>
                  <a:t>$n$</a:t>
                </a:r>
                <a:r>
                  <a:rPr sz="2400" b="0">
                    <a:solidFill>
                      <a:srgbClr val="111827"/>
                    </a:solidFill>
                    <a:latin typeface="Arial"/>
                  </a:rPr>
                  <a:t> for which </a:t>
                </a:r>
                <a:r>
                  <a:rPr lang="en-IN" sz="2400">
                    <a:solidFill>
                      <a:srgbClr val="111827"/>
                    </a:solidFill>
                    <a:latin typeface="Cambria Math" panose="02040503050406030204" pitchFamily="18" charset="0"/>
                  </a:rPr>
                  <a:t>$P(n)&lt;\frac{1}{2010}$</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$44$</a:t>
                </a:r>
                <a:r>
                  <a:rPr sz="2400" b="0">
                    <a:solidFill>
                      <a:srgbClr val="111827"/>
                    </a:solidFill>
                    <a:latin typeface="Arial"/>
                  </a:rPr>
                  <a:t>   (B) </a:t>
                </a:r>
                <a:r>
                  <a:rPr lang="en-IN" sz="2400">
                    <a:solidFill>
                      <a:srgbClr val="111827"/>
                    </a:solidFill>
                    <a:latin typeface="Cambria Math" panose="02040503050406030204" pitchFamily="18" charset="0"/>
                  </a:rPr>
                  <a:t>$45$</a:t>
                </a:r>
                <a:r>
                  <a:rPr sz="2400" b="0">
                    <a:solidFill>
                      <a:srgbClr val="111827"/>
                    </a:solidFill>
                    <a:latin typeface="Arial"/>
                  </a:rPr>
                  <a:t>   (C) </a:t>
                </a:r>
                <a:r>
                  <a:rPr lang="en-IN" sz="2400">
                    <a:solidFill>
                      <a:srgbClr val="111827"/>
                    </a:solidFill>
                    <a:latin typeface="Cambria Math" panose="02040503050406030204" pitchFamily="18" charset="0"/>
                  </a:rPr>
                  <a:t>$46$</a:t>
                </a:r>
                <a:r>
                  <a:rPr sz="2400" b="0">
                    <a:solidFill>
                      <a:srgbClr val="111827"/>
                    </a:solidFill>
                    <a:latin typeface="Arial"/>
                  </a:rPr>
                  <a:t>   (D) </a:t>
                </a:r>
                <a:r>
                  <a:rPr lang="en-IN" sz="2400">
                    <a:solidFill>
                      <a:srgbClr val="111827"/>
                    </a:solidFill>
                    <a:latin typeface="Cambria Math" panose="02040503050406030204" pitchFamily="18" charset="0"/>
                  </a:rPr>
                  <a:t>$47$</a:t>
                </a:r>
                <a:endParaRPr sz="2400">
                  <a:solidFill>
                    <a:srgbClr val="111827"/>
                  </a:solidFill>
                </a:endParaRPr>
              </a:p>
            </p:txBody>
          </p:sp>
        </mc:Fallback>
      </mc:AlternateContent>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multiplication theorem and stopping-time probabilities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Stopping at the </a:t>
                </a:r>
                <a14:m>
                  <m:oMath xmlns:m="http://schemas.openxmlformats.org/officeDocument/2006/math">
                    <m:sSup>
                      <m:e>
                        <m:r>
                          <a:rPr lang="en-IN" sz="2400" i="1">
                            <a:solidFill>
                              <a:srgbClr val="78350F"/>
                            </a:solidFill>
                            <a:latin typeface="Cambria Math" panose="02040503050406030204" pitchFamily="18" charset="0"/>
                          </a:rPr>
                          <m:t>𝑛</m:t>
                        </m:r>
                      </m:e>
                      <m:sup>
                        <m:r>
                          <a:rPr lang="en-IN" sz="2400" i="1">
                            <a:solidFill>
                              <a:srgbClr val="78350F"/>
                            </a:solidFill>
                            <a:latin typeface="Cambria Math" panose="02040503050406030204" pitchFamily="18" charset="0"/>
                          </a:rPr>
                          <m:t>𝑡</m:t>
                        </m:r>
                        <m:r>
                          <a:rPr lang="en-IN" sz="2400" i="1">
                            <a:solidFill>
                              <a:srgbClr val="78350F"/>
                            </a:solidFill>
                            <a:latin typeface="Cambria Math" panose="02040503050406030204" pitchFamily="18" charset="0"/>
                          </a:rPr>
                          <m:t>ℎ</m:t>
                        </m:r>
                      </m:sup>
                    </m:sSup>
                  </m:oMath>
                </a14:m>
                <a:r>
                  <a:rPr sz="2400" b="0">
                    <a:solidFill>
                      <a:srgbClr val="78350F"/>
                    </a:solidFill>
                    <a:latin typeface="Arial"/>
                  </a:rPr>
                  <a:t> draw means white from boxes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red from box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 and the product telescopes to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Stopping at the </a:t>
                </a:r>
                <a:r>
                  <a:rPr lang="en-IN" sz="2400">
                    <a:solidFill>
                      <a:srgbClr val="78350F"/>
                    </a:solidFill>
                    <a:latin typeface="Cambria Math" panose="02040503050406030204" pitchFamily="18" charset="0"/>
                  </a:rPr>
                  <a:t>$n^{th}$</a:t>
                </a:r>
                <a:r>
                  <a:rPr sz="2400" b="0">
                    <a:solidFill>
                      <a:srgbClr val="78350F"/>
                    </a:solidFill>
                    <a:latin typeface="Arial"/>
                  </a:rPr>
                  <a:t> draw means white from boxes </a:t>
                </a:r>
                <a:r>
                  <a:rPr lang="en-IN" sz="2400">
                    <a:solidFill>
                      <a:srgbClr val="78350F"/>
                    </a:solidFill>
                    <a:latin typeface="Cambria Math" panose="02040503050406030204" pitchFamily="18" charset="0"/>
                  </a:rPr>
                  <a:t>$1,\dots,n-1$</a:t>
                </a:r>
                <a:r>
                  <a:rPr sz="2400" b="0">
                    <a:solidFill>
                      <a:srgbClr val="78350F"/>
                    </a:solidFill>
                    <a:latin typeface="Arial"/>
                  </a:rPr>
                  <a:t> and red from box </a:t>
                </a:r>
                <a:r>
                  <a:rPr lang="en-IN" sz="2400">
                    <a:solidFill>
                      <a:srgbClr val="78350F"/>
                    </a:solidFill>
                    <a:latin typeface="Cambria Math" panose="02040503050406030204" pitchFamily="18" charset="0"/>
                  </a:rPr>
                  <a:t>$n$</a:t>
                </a:r>
                <a:r>
                  <a:rPr sz="2400" b="0">
                    <a:solidFill>
                      <a:srgbClr val="78350F"/>
                    </a:solidFill>
                    <a:latin typeface="Arial"/>
                  </a:rPr>
                  <a:t>, and the product telescopes to </a:t>
                </a:r>
                <a:r>
                  <a:rPr lang="en-IN" sz="2400">
                    <a:solidFill>
                      <a:srgbClr val="78350F"/>
                    </a:solidFill>
                    <a:latin typeface="Cambria Math" panose="02040503050406030204" pitchFamily="18" charset="0"/>
                  </a:rPr>
                  <a:t>$\frac{1}{n(n+1)}$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Box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holds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red and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white marbles,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𝑟𝑒𝑑 𝑓𝑟𝑜𝑚 𝑏𝑜𝑥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𝑤ℎ𝑖𝑡𝑒 𝑓𝑟𝑜𝑚 𝑏𝑜𝑥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Box </a:t>
                </a:r>
                <a:r>
                  <a:rPr lang="en-IN" sz="2400">
                    <a:solidFill>
                      <a:srgbClr val="111827"/>
                    </a:solidFill>
                    <a:latin typeface="Cambria Math" panose="02040503050406030204" pitchFamily="18" charset="0"/>
                  </a:rPr>
                  <a:t>$k$</a:t>
                </a:r>
                <a:r>
                  <a:rPr sz="2400" b="0">
                    <a:solidFill>
                      <a:srgbClr val="111827"/>
                    </a:solidFill>
                    <a:latin typeface="Arial"/>
                  </a:rPr>
                  <a:t> holds </a:t>
                </a:r>
                <a:r>
                  <a:rPr lang="en-IN" sz="2400">
                    <a:solidFill>
                      <a:srgbClr val="111827"/>
                    </a:solidFill>
                    <a:latin typeface="Cambria Math" panose="02040503050406030204" pitchFamily="18" charset="0"/>
                  </a:rPr>
                  <a:t>$1$</a:t>
                </a:r>
                <a:r>
                  <a:rPr sz="2400" b="0">
                    <a:solidFill>
                      <a:srgbClr val="111827"/>
                    </a:solidFill>
                    <a:latin typeface="Arial"/>
                  </a:rPr>
                  <a:t> red and </a:t>
                </a:r>
                <a:r>
                  <a:rPr lang="en-IN" sz="2400">
                    <a:solidFill>
                      <a:srgbClr val="111827"/>
                    </a:solidFill>
                    <a:latin typeface="Cambria Math" panose="02040503050406030204" pitchFamily="18" charset="0"/>
                  </a:rPr>
                  <a:t>$k$</a:t>
                </a:r>
                <a:r>
                  <a:rPr sz="2400" b="0">
                    <a:solidFill>
                      <a:srgbClr val="111827"/>
                    </a:solidFill>
                    <a:latin typeface="Arial"/>
                  </a:rPr>
                  <a:t> white marbles, so </a:t>
                </a:r>
                <a:r>
                  <a:rPr lang="en-IN" sz="2400">
                    <a:solidFill>
                      <a:srgbClr val="111827"/>
                    </a:solidFill>
                    <a:latin typeface="Cambria Math" panose="02040503050406030204" pitchFamily="18" charset="0"/>
                  </a:rPr>
                  <a:t>$P(\text{red from box }k)=\frac{1}{k+1}$</a:t>
                </a:r>
                <a:r>
                  <a:rPr sz="2400" b="0">
                    <a:solidFill>
                      <a:srgbClr val="111827"/>
                    </a:solidFill>
                    <a:latin typeface="Arial"/>
                  </a:rPr>
                  <a:t> and </a:t>
                </a:r>
                <a:r>
                  <a:rPr lang="en-IN" sz="2400">
                    <a:solidFill>
                      <a:srgbClr val="111827"/>
                    </a:solidFill>
                    <a:latin typeface="Cambria Math" panose="02040503050406030204" pitchFamily="18" charset="0"/>
                  </a:rPr>
                  <a:t>$P(\text{white from box }k)=\frac{k}{k+1}$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 stops after exactly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marbles only if the red marble is drawn at the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ℎ</m:t>
                        </m:r>
                      </m:sup>
                    </m:sSup>
                  </m:oMath>
                </a14:m>
                <a:r>
                  <a:rPr sz="2400" b="0">
                    <a:solidFill>
                      <a:srgbClr val="111827"/>
                    </a:solidFill>
                    <a:latin typeface="Arial"/>
                  </a:rPr>
                  <a:t> box, i.e. boxes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all give white and box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gives red.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d>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den>
                        </m:f>
                      </m:e>
                    </m:d>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of the first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factors telescopes to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2010</m:t>
                        </m:r>
                      </m:den>
                    </m:f>
                  </m:oMath>
                </a14:m>
                <a:r>
                  <a:rPr sz="2400" b="0">
                    <a:solidFill>
                      <a:srgbClr val="111827"/>
                    </a:solidFill>
                    <a:latin typeface="Arial"/>
                  </a:rPr>
                  <a:t> becomes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2010</m:t>
                        </m:r>
                      </m:den>
                    </m:f>
                  </m:oMath>
                </a14:m>
                <a:r>
                  <a:rPr sz="2400" b="0">
                    <a:solidFill>
                      <a:srgbClr val="111827"/>
                    </a:solidFill>
                    <a:latin typeface="Arial"/>
                  </a:rPr>
                  <a:t>, i.e.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1005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1005</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2010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 stops after exactly </a:t>
                </a:r>
                <a:r>
                  <a:rPr lang="en-IN" sz="2400">
                    <a:solidFill>
                      <a:srgbClr val="111827"/>
                    </a:solidFill>
                    <a:latin typeface="Cambria Math" panose="02040503050406030204" pitchFamily="18" charset="0"/>
                  </a:rPr>
                  <a:t>$n$</a:t>
                </a:r>
                <a:r>
                  <a:rPr sz="2400" b="0">
                    <a:solidFill>
                      <a:srgbClr val="111827"/>
                    </a:solidFill>
                    <a:latin typeface="Arial"/>
                  </a:rPr>
                  <a:t> marbles only if the red marble is drawn at the </a:t>
                </a:r>
                <a:r>
                  <a:rPr lang="en-IN" sz="2400">
                    <a:solidFill>
                      <a:srgbClr val="111827"/>
                    </a:solidFill>
                    <a:latin typeface="Cambria Math" panose="02040503050406030204" pitchFamily="18" charset="0"/>
                  </a:rPr>
                  <a:t>$n^{th}$</a:t>
                </a:r>
                <a:r>
                  <a:rPr sz="2400" b="0">
                    <a:solidFill>
                      <a:srgbClr val="111827"/>
                    </a:solidFill>
                    <a:latin typeface="Arial"/>
                  </a:rPr>
                  <a:t> box, i.e. boxes </a:t>
                </a:r>
                <a:r>
                  <a:rPr lang="en-IN" sz="2400">
                    <a:solidFill>
                      <a:srgbClr val="111827"/>
                    </a:solidFill>
                    <a:latin typeface="Cambria Math" panose="02040503050406030204" pitchFamily="18" charset="0"/>
                  </a:rPr>
                  <a:t>$1,2,\dots,n-1$</a:t>
                </a:r>
                <a:r>
                  <a:rPr sz="2400" b="0">
                    <a:solidFill>
                      <a:srgbClr val="111827"/>
                    </a:solidFill>
                    <a:latin typeface="Arial"/>
                  </a:rPr>
                  <a:t> all give white and box </a:t>
                </a:r>
                <a:r>
                  <a:rPr lang="en-IN" sz="2400">
                    <a:solidFill>
                      <a:srgbClr val="111827"/>
                    </a:solidFill>
                    <a:latin typeface="Cambria Math" panose="02040503050406030204" pitchFamily="18" charset="0"/>
                  </a:rPr>
                  <a:t>$n$</a:t>
                </a:r>
                <a:r>
                  <a:rPr sz="2400" b="0">
                    <a:solidFill>
                      <a:srgbClr val="111827"/>
                    </a:solidFill>
                    <a:latin typeface="Arial"/>
                  </a:rPr>
                  <a:t> gives red.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$P(n)=\left(\frac12\right)\left(\frac23\right)\left(\frac34\right)\cdots\left(\frac{n-2}{n-1}\right)\left(\frac{n-1}{n}\right)\left(\frac{1}{n+1}\right)$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of the first </a:t>
                </a:r>
                <a:r>
                  <a:rPr lang="en-IN" sz="2400">
                    <a:solidFill>
                      <a:srgbClr val="111827"/>
                    </a:solidFill>
                    <a:latin typeface="Cambria Math" panose="02040503050406030204" pitchFamily="18" charset="0"/>
                  </a:rPr>
                  <a:t>$n-1$</a:t>
                </a:r>
                <a:r>
                  <a:rPr sz="2400" b="0">
                    <a:solidFill>
                      <a:srgbClr val="111827"/>
                    </a:solidFill>
                    <a:latin typeface="Arial"/>
                  </a:rPr>
                  <a:t> factors telescopes to </a:t>
                </a:r>
                <a:r>
                  <a:rPr lang="en-IN" sz="2400">
                    <a:solidFill>
                      <a:srgbClr val="111827"/>
                    </a:solidFill>
                    <a:latin typeface="Cambria Math" panose="02040503050406030204" pitchFamily="18" charset="0"/>
                  </a:rPr>
                  <a:t>$\frac1n$</a:t>
                </a:r>
                <a:r>
                  <a:rPr sz="2400" b="0">
                    <a:solidFill>
                      <a:srgbClr val="111827"/>
                    </a:solidFill>
                    <a:latin typeface="Arial"/>
                  </a:rPr>
                  <a:t>, so </a:t>
                </a:r>
                <a:r>
                  <a:rPr lang="en-IN" sz="2400">
                    <a:solidFill>
                      <a:srgbClr val="111827"/>
                    </a:solidFill>
                    <a:latin typeface="Cambria Math" panose="02040503050406030204" pitchFamily="18" charset="0"/>
                  </a:rPr>
                  <a:t>$P(n)=\frac{1}{n(n+1)}$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a:t>
                </a:r>
                <a:r>
                  <a:rPr lang="en-IN" sz="2400">
                    <a:solidFill>
                      <a:srgbClr val="111827"/>
                    </a:solidFill>
                    <a:latin typeface="Cambria Math" panose="02040503050406030204" pitchFamily="18" charset="0"/>
                  </a:rPr>
                  <a:t>$P(n)&lt;\frac{1}{2010}$</a:t>
                </a:r>
                <a:r>
                  <a:rPr sz="2400" b="0">
                    <a:solidFill>
                      <a:srgbClr val="111827"/>
                    </a:solidFill>
                    <a:latin typeface="Arial"/>
                  </a:rPr>
                  <a:t> becomes </a:t>
                </a:r>
                <a:r>
                  <a:rPr lang="en-IN" sz="2400">
                    <a:solidFill>
                      <a:srgbClr val="111827"/>
                    </a:solidFill>
                    <a:latin typeface="Cambria Math" panose="02040503050406030204" pitchFamily="18" charset="0"/>
                  </a:rPr>
                  <a:t>$\frac{1}{n(n+1)}&lt;\frac{1}{2010}$</a:t>
                </a:r>
                <a:r>
                  <a:rPr sz="2400" b="0">
                    <a:solidFill>
                      <a:srgbClr val="111827"/>
                    </a:solidFill>
                    <a:latin typeface="Arial"/>
                  </a:rPr>
                  <a:t>, i.e. </a:t>
                </a:r>
                <a:r>
                  <a:rPr lang="en-IN" sz="2400">
                    <a:solidFill>
                      <a:srgbClr val="111827"/>
                    </a:solidFill>
                    <a:latin typeface="Cambria Math" panose="02040503050406030204" pitchFamily="18" charset="0"/>
                  </a:rPr>
                  <a:t>$\frac{2}{n(n+1)}&lt;\frac{1}{1005}$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$\frac{n(n+1)}{2}&gt;1005$</a:t>
                </a:r>
                <a:r>
                  <a:rPr sz="2400" b="0">
                    <a:solidFill>
                      <a:srgbClr val="111827"/>
                    </a:solidFill>
                    <a:latin typeface="Arial"/>
                  </a:rPr>
                  <a:t>, i.e. </a:t>
                </a:r>
                <a:r>
                  <a:rPr lang="en-IN" sz="2400">
                    <a:solidFill>
                      <a:srgbClr val="111827"/>
                    </a:solidFill>
                    <a:latin typeface="Cambria Math" panose="02040503050406030204" pitchFamily="18" charset="0"/>
                  </a:rPr>
                  <a:t>$n(n+1)&gt;2010$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increasing; </a:t>
                </a:r>
                <a14:m>
                  <m:oMath xmlns:m="http://schemas.openxmlformats.org/officeDocument/2006/math">
                    <m:r>
                      <a:rPr lang="en-IN" sz="2400" i="1">
                        <a:solidFill>
                          <a:srgbClr val="111827"/>
                        </a:solidFill>
                        <a:latin typeface="Cambria Math" panose="02040503050406030204" pitchFamily="18" charset="0"/>
                      </a:rPr>
                      <m:t>44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1980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2010</m:t>
                    </m:r>
                  </m:oMath>
                </a14:m>
                <a:r>
                  <a:rPr sz="2400" b="0">
                    <a:solidFill>
                      <a:srgbClr val="111827"/>
                    </a:solidFill>
                    <a:latin typeface="Arial"/>
                  </a:rPr>
                  <a:t> fails, while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2070</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2010</m:t>
                    </m:r>
                  </m:oMath>
                </a14:m>
                <a:r>
                  <a:rPr sz="2400" b="0">
                    <a:solidFill>
                      <a:srgbClr val="111827"/>
                    </a:solidFill>
                    <a:latin typeface="Arial"/>
                  </a:rPr>
                  <a:t> holds,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among the options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47</m:t>
                    </m:r>
                  </m:oMath>
                </a14:m>
                <a:r>
                  <a:rPr sz="2400" b="0">
                    <a:solidFill>
                      <a:srgbClr val="111827"/>
                    </a:solidFill>
                    <a:latin typeface="Arial"/>
                  </a:rPr>
                  <a:t> work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m:t>
                    </m:r>
                  </m:oMath>
                </a14:m>
                <a:r>
                  <a:rPr sz="2400" b="0">
                    <a:solidFill>
                      <a:srgbClr val="111827"/>
                    </a:solidFill>
                    <a:latin typeface="Arial"/>
                  </a:rPr>
                  <a:t> does not: the answer is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$n(n+1)$</a:t>
                </a:r>
                <a:r>
                  <a:rPr sz="2400" b="0">
                    <a:solidFill>
                      <a:srgbClr val="111827"/>
                    </a:solidFill>
                    <a:latin typeface="Arial"/>
                  </a:rPr>
                  <a:t> is increasing; </a:t>
                </a:r>
                <a:r>
                  <a:rPr lang="en-IN" sz="2400">
                    <a:solidFill>
                      <a:srgbClr val="111827"/>
                    </a:solidFill>
                    <a:latin typeface="Cambria Math" panose="02040503050406030204" pitchFamily="18" charset="0"/>
                  </a:rPr>
                  <a:t>$44\cdot45=1980&lt;2010$</a:t>
                </a:r>
                <a:r>
                  <a:rPr sz="2400" b="0">
                    <a:solidFill>
                      <a:srgbClr val="111827"/>
                    </a:solidFill>
                    <a:latin typeface="Arial"/>
                  </a:rPr>
                  <a:t> fails, while </a:t>
                </a:r>
                <a:r>
                  <a:rPr lang="en-IN" sz="2400">
                    <a:solidFill>
                      <a:srgbClr val="111827"/>
                    </a:solidFill>
                    <a:latin typeface="Cambria Math" panose="02040503050406030204" pitchFamily="18" charset="0"/>
                  </a:rPr>
                  <a:t>$45\cdot46=2070&gt;2010$</a:t>
                </a:r>
                <a:r>
                  <a:rPr sz="2400" b="0">
                    <a:solidFill>
                      <a:srgbClr val="111827"/>
                    </a:solidFill>
                    <a:latin typeface="Arial"/>
                  </a:rPr>
                  <a:t> holds, so </a:t>
                </a:r>
                <a:r>
                  <a:rPr lang="en-IN" sz="2400">
                    <a:solidFill>
                      <a:srgbClr val="111827"/>
                    </a:solidFill>
                    <a:latin typeface="Cambria Math" panose="02040503050406030204" pitchFamily="18" charset="0"/>
                  </a:rPr>
                  <a:t>$n\ge45$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among the options </a:t>
                </a:r>
                <a:r>
                  <a:rPr lang="en-IN" sz="2400">
                    <a:solidFill>
                      <a:srgbClr val="111827"/>
                    </a:solidFill>
                    <a:latin typeface="Cambria Math" panose="02040503050406030204" pitchFamily="18" charset="0"/>
                  </a:rPr>
                  <a:t>$n=45,46,47$</a:t>
                </a:r>
                <a:r>
                  <a:rPr sz="2400" b="0">
                    <a:solidFill>
                      <a:srgbClr val="111827"/>
                    </a:solidFill>
                    <a:latin typeface="Arial"/>
                  </a:rPr>
                  <a:t> work and </a:t>
                </a:r>
                <a:r>
                  <a:rPr lang="en-IN" sz="2400">
                    <a:solidFill>
                      <a:srgbClr val="111827"/>
                    </a:solidFill>
                    <a:latin typeface="Cambria Math" panose="02040503050406030204" pitchFamily="18" charset="0"/>
                  </a:rPr>
                  <a:t>$n=44$</a:t>
                </a:r>
                <a:r>
                  <a:rPr sz="2400" b="0">
                    <a:solidFill>
                      <a:srgbClr val="111827"/>
                    </a:solidFill>
                    <a:latin typeface="Arial"/>
                  </a:rPr>
                  <a:t> does not: the answer is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C, D)</a:t>
            </a:r>
            <a:endParaRPr sz="2800">
              <a:solidFill>
                <a:srgbClr val="15803D"/>
              </a:solidFill>
            </a:endParaRP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survival probability </a:t>
                </a:r>
                <a14:m>
                  <m:oMath xmlns:m="http://schemas.openxmlformats.org/officeDocument/2006/math">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of reaching box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with no red, and write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survival probability </a:t>
                </a:r>
                <a:r>
                  <a:rPr lang="en-IN" sz="2400">
                    <a:solidFill>
                      <a:srgbClr val="78350F"/>
                    </a:solidFill>
                    <a:latin typeface="Cambria Math" panose="02040503050406030204" pitchFamily="18" charset="0"/>
                  </a:rPr>
                  <a:t>$S(n)$</a:t>
                </a:r>
                <a:r>
                  <a:rPr sz="2400" b="0">
                    <a:solidFill>
                      <a:srgbClr val="78350F"/>
                    </a:solidFill>
                    <a:latin typeface="Arial"/>
                  </a:rPr>
                  <a:t> of reaching box </a:t>
                </a:r>
                <a:r>
                  <a:rPr lang="en-IN" sz="2400">
                    <a:solidFill>
                      <a:srgbClr val="78350F"/>
                    </a:solidFill>
                    <a:latin typeface="Cambria Math" panose="02040503050406030204" pitchFamily="18" charset="0"/>
                  </a:rPr>
                  <a:t>$n+1$</a:t>
                </a:r>
                <a:r>
                  <a:rPr sz="2400" b="0">
                    <a:solidFill>
                      <a:srgbClr val="78350F"/>
                    </a:solidFill>
                    <a:latin typeface="Arial"/>
                  </a:rPr>
                  <a:t> with no red, and write </a:t>
                </a:r>
                <a:r>
                  <a:rPr lang="en-IN" sz="2400">
                    <a:solidFill>
                      <a:srgbClr val="78350F"/>
                    </a:solidFill>
                    <a:latin typeface="Cambria Math" panose="02040503050406030204" pitchFamily="18" charset="0"/>
                  </a:rPr>
                  <a:t>$P(n)=S(n-1)-S(n)$</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probability that no red marble appears in the first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boxes.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Box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gives white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(telescoping product).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 stops at draw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iff he survives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boxes but not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$S(n)$</a:t>
                </a:r>
                <a:r>
                  <a:rPr sz="2400" b="0">
                    <a:solidFill>
                      <a:srgbClr val="111827"/>
                    </a:solidFill>
                    <a:latin typeface="Arial"/>
                  </a:rPr>
                  <a:t> be the probability that no red marble appears in the first </a:t>
                </a:r>
                <a:r>
                  <a:rPr lang="en-IN" sz="2400">
                    <a:solidFill>
                      <a:srgbClr val="111827"/>
                    </a:solidFill>
                    <a:latin typeface="Cambria Math" panose="02040503050406030204" pitchFamily="18" charset="0"/>
                  </a:rPr>
                  <a:t>$n$</a:t>
                </a:r>
                <a:r>
                  <a:rPr sz="2400" b="0">
                    <a:solidFill>
                      <a:srgbClr val="111827"/>
                    </a:solidFill>
                    <a:latin typeface="Arial"/>
                  </a:rPr>
                  <a:t> boxes.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Box </a:t>
                </a:r>
                <a:r>
                  <a:rPr lang="en-IN" sz="2400">
                    <a:solidFill>
                      <a:srgbClr val="111827"/>
                    </a:solidFill>
                    <a:latin typeface="Cambria Math" panose="02040503050406030204" pitchFamily="18" charset="0"/>
                  </a:rPr>
                  <a:t>$k$</a:t>
                </a:r>
                <a:r>
                  <a:rPr sz="2400" b="0">
                    <a:solidFill>
                      <a:srgbClr val="111827"/>
                    </a:solidFill>
                    <a:latin typeface="Arial"/>
                  </a:rPr>
                  <a:t> gives white with probability </a:t>
                </a:r>
                <a:r>
                  <a:rPr lang="en-IN" sz="2400">
                    <a:solidFill>
                      <a:srgbClr val="111827"/>
                    </a:solidFill>
                    <a:latin typeface="Cambria Math" panose="02040503050406030204" pitchFamily="18" charset="0"/>
                  </a:rPr>
                  <a:t>$\frac{k}{k+1}$</a:t>
                </a:r>
                <a:r>
                  <a:rPr sz="2400" b="0">
                    <a:solidFill>
                      <a:srgbClr val="111827"/>
                    </a:solidFill>
                    <a:latin typeface="Arial"/>
                  </a:rPr>
                  <a:t>, so </a:t>
                </a:r>
                <a:r>
                  <a:rPr lang="en-IN" sz="2400">
                    <a:solidFill>
                      <a:srgbClr val="111827"/>
                    </a:solidFill>
                    <a:latin typeface="Cambria Math" panose="02040503050406030204" pitchFamily="18" charset="0"/>
                  </a:rPr>
                  <a:t>$S(n)=\frac12\cdot\frac23\cdots\frac{n}{n+1}=\frac1{n+1}$</a:t>
                </a:r>
                <a:r>
                  <a:rPr sz="2400" b="0">
                    <a:solidFill>
                      <a:srgbClr val="111827"/>
                    </a:solidFill>
                    <a:latin typeface="Arial"/>
                  </a:rPr>
                  <a:t> (telescoping product).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 stops at draw </a:t>
                </a:r>
                <a:r>
                  <a:rPr lang="en-IN" sz="2400">
                    <a:solidFill>
                      <a:srgbClr val="111827"/>
                    </a:solidFill>
                    <a:latin typeface="Cambria Math" panose="02040503050406030204" pitchFamily="18" charset="0"/>
                  </a:rPr>
                  <a:t>$n$</a:t>
                </a:r>
                <a:r>
                  <a:rPr sz="2400" b="0">
                    <a:solidFill>
                      <a:srgbClr val="111827"/>
                    </a:solidFill>
                    <a:latin typeface="Arial"/>
                  </a:rPr>
                  <a:t> iff he survives </a:t>
                </a:r>
                <a:r>
                  <a:rPr lang="en-IN" sz="2400">
                    <a:solidFill>
                      <a:srgbClr val="111827"/>
                    </a:solidFill>
                    <a:latin typeface="Cambria Math" panose="02040503050406030204" pitchFamily="18" charset="0"/>
                  </a:rPr>
                  <a:t>$n-1$</a:t>
                </a:r>
                <a:r>
                  <a:rPr sz="2400" b="0">
                    <a:solidFill>
                      <a:srgbClr val="111827"/>
                    </a:solidFill>
                    <a:latin typeface="Arial"/>
                  </a:rPr>
                  <a:t> boxes but not </a:t>
                </a:r>
                <a:r>
                  <a:rPr lang="en-IN" sz="2400">
                    <a:solidFill>
                      <a:srgbClr val="111827"/>
                    </a:solidFill>
                    <a:latin typeface="Cambria Math" panose="02040503050406030204" pitchFamily="18" charset="0"/>
                  </a:rPr>
                  <a:t>$n$</a:t>
                </a:r>
                <a:r>
                  <a:rPr sz="2400" b="0">
                    <a:solidFill>
                      <a:srgbClr val="111827"/>
                    </a:solidFill>
                    <a:latin typeface="Arial"/>
                  </a:rPr>
                  <a:t>: </a:t>
                </a:r>
                <a:r>
                  <a:rPr lang="en-IN" sz="2400">
                    <a:solidFill>
                      <a:srgbClr val="111827"/>
                    </a:solidFill>
                    <a:latin typeface="Cambria Math" panose="02040503050406030204" pitchFamily="18" charset="0"/>
                  </a:rPr>
                  <a:t>$P(n)=S(n-1)-S(n)$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$P(n)=\frac1n-\frac1{n+1}=\frac1{n(n+1)}$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We need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2010</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2010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44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1980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2010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2070</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2010</m:t>
                    </m:r>
                  </m:oMath>
                </a14:m>
                <a:r>
                  <a:rPr sz="2400" b="0">
                    <a:solidFill>
                      <a:srgbClr val="111827"/>
                    </a:solidFill>
                    <a:latin typeface="Arial"/>
                  </a:rPr>
                  <a:t>, the values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47</m:t>
                    </m:r>
                  </m:oMath>
                </a14:m>
                <a:r>
                  <a:rPr sz="2400" b="0">
                    <a:solidFill>
                      <a:srgbClr val="111827"/>
                    </a:solidFill>
                    <a:latin typeface="Arial"/>
                  </a:rPr>
                  <a:t> satisfy it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m:t>
                    </m:r>
                  </m:oMath>
                </a14:m>
                <a:r>
                  <a:rPr sz="2400" b="0">
                    <a:solidFill>
                      <a:srgbClr val="111827"/>
                    </a:solidFill>
                    <a:latin typeface="Arial"/>
                  </a:rPr>
                  <a:t> does not.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Answer: (B), (C),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We need </a:t>
                </a:r>
                <a:r>
                  <a:rPr lang="en-IN" sz="2400">
                    <a:solidFill>
                      <a:srgbClr val="111827"/>
                    </a:solidFill>
                    <a:latin typeface="Cambria Math" panose="02040503050406030204" pitchFamily="18" charset="0"/>
                  </a:rPr>
                  <a:t>$\frac1{n(n+1)}&lt;\frac1{2010}$</a:t>
                </a:r>
                <a:r>
                  <a:rPr sz="2400" b="0">
                    <a:solidFill>
                      <a:srgbClr val="111827"/>
                    </a:solidFill>
                    <a:latin typeface="Arial"/>
                  </a:rPr>
                  <a:t>, i.e. </a:t>
                </a:r>
                <a:r>
                  <a:rPr lang="en-IN" sz="2400">
                    <a:solidFill>
                      <a:srgbClr val="111827"/>
                    </a:solidFill>
                    <a:latin typeface="Cambria Math" panose="02040503050406030204" pitchFamily="18" charset="0"/>
                  </a:rPr>
                  <a:t>$n(n+1)&gt;2010$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$44\cdot45=1980&lt;2010$</a:t>
                </a:r>
                <a:r>
                  <a:rPr sz="2400" b="0">
                    <a:solidFill>
                      <a:srgbClr val="111827"/>
                    </a:solidFill>
                    <a:latin typeface="Arial"/>
                  </a:rPr>
                  <a:t> and </a:t>
                </a:r>
                <a:r>
                  <a:rPr lang="en-IN" sz="2400">
                    <a:solidFill>
                      <a:srgbClr val="111827"/>
                    </a:solidFill>
                    <a:latin typeface="Cambria Math" panose="02040503050406030204" pitchFamily="18" charset="0"/>
                  </a:rPr>
                  <a:t>$45\cdot46=2070&gt;2010$</a:t>
                </a:r>
                <a:r>
                  <a:rPr sz="2400" b="0">
                    <a:solidFill>
                      <a:srgbClr val="111827"/>
                    </a:solidFill>
                    <a:latin typeface="Arial"/>
                  </a:rPr>
                  <a:t>, the values </a:t>
                </a:r>
                <a:r>
                  <a:rPr lang="en-IN" sz="2400">
                    <a:solidFill>
                      <a:srgbClr val="111827"/>
                    </a:solidFill>
                    <a:latin typeface="Cambria Math" panose="02040503050406030204" pitchFamily="18" charset="0"/>
                  </a:rPr>
                  <a:t>$n=45,46,47$</a:t>
                </a:r>
                <a:r>
                  <a:rPr sz="2400" b="0">
                    <a:solidFill>
                      <a:srgbClr val="111827"/>
                    </a:solidFill>
                    <a:latin typeface="Arial"/>
                  </a:rPr>
                  <a:t> satisfy it and </a:t>
                </a:r>
                <a:r>
                  <a:rPr lang="en-IN" sz="2400">
                    <a:solidFill>
                      <a:srgbClr val="111827"/>
                    </a:solidFill>
                    <a:latin typeface="Cambria Math" panose="02040503050406030204" pitchFamily="18" charset="0"/>
                  </a:rPr>
                  <a:t>$n=44$</a:t>
                </a:r>
                <a:r>
                  <a:rPr sz="2400" b="0">
                    <a:solidFill>
                      <a:srgbClr val="111827"/>
                    </a:solidFill>
                    <a:latin typeface="Arial"/>
                  </a:rPr>
                  <a:t> does not.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Answer: (B), (C),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C, D)</a:t>
            </a:r>
            <a:endParaRPr sz="2800">
              <a:solidFill>
                <a:srgbClr val="15803D"/>
              </a:solidFill>
            </a:endParaRP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trial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succeeds with probability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𝑘</m:t>
                        </m:r>
                      </m:sub>
                    </m:sSub>
                  </m:oMath>
                </a14:m>
                <a:r>
                  <a:rPr sz="2400" b="0">
                    <a:solidFill>
                      <a:srgbClr val="111827"/>
                    </a:solidFill>
                    <a:latin typeface="Arial"/>
                  </a:rPr>
                  <a:t> (independent trials), the first success occurs at trial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with probability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𝑛</m:t>
                        </m:r>
                      </m:sub>
                    </m:sSub>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𝑛</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so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𝑁</m:t>
                        </m:r>
                      </m:sup>
                      <m:e>
                        <m:r>
                          <a:rPr lang="en-IN" sz="2400" i="1">
                            <a:solidFill>
                              <a:srgbClr val="111827"/>
                            </a:solidFill>
                            <a:latin typeface="Cambria Math" panose="02040503050406030204" pitchFamily="18" charset="0"/>
                          </a:rPr>
                          <m:t>𝑃</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(stopping by box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check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solve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𝑀</m:t>
                    </m:r>
                  </m:oMath>
                </a14:m>
                <a:r>
                  <a:rPr sz="2400" b="0">
                    <a:solidFill>
                      <a:srgbClr val="111827"/>
                    </a:solidFill>
                    <a:latin typeface="Arial"/>
                  </a:rPr>
                  <a:t> quickly, take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𝑀</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oMath>
                </a14:m>
                <a:r>
                  <a:rPr sz="2400" b="0">
                    <a:solidFill>
                      <a:srgbClr val="111827"/>
                    </a:solidFill>
                    <a:latin typeface="Arial"/>
                  </a:rPr>
                  <a:t>,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2010</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44.8</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trial </a:t>
                </a:r>
                <a:r>
                  <a:rPr lang="en-IN" sz="2400">
                    <a:solidFill>
                      <a:srgbClr val="111827"/>
                    </a:solidFill>
                    <a:latin typeface="Cambria Math" panose="02040503050406030204" pitchFamily="18" charset="0"/>
                  </a:rPr>
                  <a:t>$k$</a:t>
                </a:r>
                <a:r>
                  <a:rPr sz="2400" b="0">
                    <a:solidFill>
                      <a:srgbClr val="111827"/>
                    </a:solidFill>
                    <a:latin typeface="Arial"/>
                  </a:rPr>
                  <a:t> succeeds with probability </a:t>
                </a:r>
                <a:r>
                  <a:rPr lang="en-IN" sz="2400">
                    <a:solidFill>
                      <a:srgbClr val="111827"/>
                    </a:solidFill>
                    <a:latin typeface="Cambria Math" panose="02040503050406030204" pitchFamily="18" charset="0"/>
                  </a:rPr>
                  <a:t>$p_k$</a:t>
                </a:r>
                <a:r>
                  <a:rPr sz="2400" b="0">
                    <a:solidFill>
                      <a:srgbClr val="111827"/>
                    </a:solidFill>
                    <a:latin typeface="Arial"/>
                  </a:rPr>
                  <a:t> (independent trials), the first success occurs at trial </a:t>
                </a:r>
                <a:r>
                  <a:rPr lang="en-IN" sz="2400">
                    <a:solidFill>
                      <a:srgbClr val="111827"/>
                    </a:solidFill>
                    <a:latin typeface="Cambria Math" panose="02040503050406030204" pitchFamily="18" charset="0"/>
                  </a:rPr>
                  <a:t>$n$</a:t>
                </a:r>
                <a:r>
                  <a:rPr sz="2400" b="0">
                    <a:solidFill>
                      <a:srgbClr val="111827"/>
                    </a:solidFill>
                    <a:latin typeface="Arial"/>
                  </a:rPr>
                  <a:t> with probability </a:t>
                </a:r>
                <a:r>
                  <a:rPr lang="en-IN" sz="2400">
                    <a:solidFill>
                      <a:srgbClr val="111827"/>
                    </a:solidFill>
                    <a:latin typeface="Cambria Math" panose="02040503050406030204" pitchFamily="18" charset="0"/>
                  </a:rPr>
                  <a:t>$p_n\prod_{k&lt;n}(1-p_k)$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$\frac{1}{n(n+1)}=\frac1n-\frac1{n+1}$</a:t>
                </a:r>
                <a:r>
                  <a:rPr sz="2400" b="0">
                    <a:solidFill>
                      <a:srgbClr val="111827"/>
                    </a:solidFill>
                    <a:latin typeface="Arial"/>
                  </a:rPr>
                  <a:t>, so </a:t>
                </a:r>
                <a:r>
                  <a:rPr lang="en-IN" sz="2400">
                    <a:solidFill>
                      <a:srgbClr val="111827"/>
                    </a:solidFill>
                    <a:latin typeface="Cambria Math" panose="02040503050406030204" pitchFamily="18" charset="0"/>
                  </a:rPr>
                  <a:t>$\sum_{n=1}^{N}P(n)=1-\frac{1}{N+1}$</a:t>
                </a:r>
                <a:r>
                  <a:rPr sz="2400" b="0">
                    <a:solidFill>
                      <a:srgbClr val="111827"/>
                    </a:solidFill>
                    <a:latin typeface="Arial"/>
                  </a:rPr>
                  <a:t> (stopping by box </a:t>
                </a:r>
                <a:r>
                  <a:rPr lang="en-IN" sz="2400">
                    <a:solidFill>
                      <a:srgbClr val="111827"/>
                    </a:solidFill>
                    <a:latin typeface="Cambria Math" panose="02040503050406030204" pitchFamily="18" charset="0"/>
                  </a:rPr>
                  <a:t>$N$</a:t>
                </a:r>
                <a:r>
                  <a:rPr sz="2400" b="0">
                    <a:solidFill>
                      <a:srgbClr val="111827"/>
                    </a:solidFill>
                    <a:latin typeface="Arial"/>
                  </a:rPr>
                  <a:t>); check </a:t>
                </a:r>
                <a:r>
                  <a:rPr lang="en-IN" sz="2400">
                    <a:solidFill>
                      <a:srgbClr val="111827"/>
                    </a:solidFill>
                    <a:latin typeface="Cambria Math" panose="02040503050406030204" pitchFamily="18" charset="0"/>
                  </a:rPr>
                  <a:t>$N=2$</a:t>
                </a:r>
                <a:r>
                  <a:rPr sz="2400" b="0">
                    <a:solidFill>
                      <a:srgbClr val="111827"/>
                    </a:solidFill>
                    <a:latin typeface="Arial"/>
                  </a:rPr>
                  <a:t>: </a:t>
                </a:r>
                <a:r>
                  <a:rPr lang="en-IN" sz="2400">
                    <a:solidFill>
                      <a:srgbClr val="111827"/>
                    </a:solidFill>
                    <a:latin typeface="Cambria Math" panose="02040503050406030204" pitchFamily="18" charset="0"/>
                  </a:rPr>
                  <a:t>$\frac12+\frac16=\frac23$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solve </a:t>
                </a:r>
                <a:r>
                  <a:rPr lang="en-IN" sz="2400">
                    <a:solidFill>
                      <a:srgbClr val="111827"/>
                    </a:solidFill>
                    <a:latin typeface="Cambria Math" panose="02040503050406030204" pitchFamily="18" charset="0"/>
                  </a:rPr>
                  <a:t>$n(n+1)&gt;M$</a:t>
                </a:r>
                <a:r>
                  <a:rPr sz="2400" b="0">
                    <a:solidFill>
                      <a:srgbClr val="111827"/>
                    </a:solidFill>
                    <a:latin typeface="Arial"/>
                  </a:rPr>
                  <a:t> quickly, take </a:t>
                </a:r>
                <a:r>
                  <a:rPr lang="en-IN" sz="2400">
                    <a:solidFill>
                      <a:srgbClr val="111827"/>
                    </a:solidFill>
                    <a:latin typeface="Cambria Math" panose="02040503050406030204" pitchFamily="18" charset="0"/>
                  </a:rPr>
                  <a:t>$n\approx\sqrt M-\frac12$</a:t>
                </a:r>
                <a:r>
                  <a:rPr sz="2400" b="0">
                    <a:solidFill>
                      <a:srgbClr val="111827"/>
                    </a:solidFill>
                    <a:latin typeface="Arial"/>
                  </a:rPr>
                  <a:t>: for </a:t>
                </a:r>
                <a:r>
                  <a:rPr lang="en-IN" sz="2400">
                    <a:solidFill>
                      <a:srgbClr val="111827"/>
                    </a:solidFill>
                    <a:latin typeface="Cambria Math" panose="02040503050406030204" pitchFamily="18" charset="0"/>
                  </a:rPr>
                  <a:t>$M=2010$</a:t>
                </a:r>
                <a:r>
                  <a:rPr sz="2400" b="0">
                    <a:solidFill>
                      <a:srgbClr val="111827"/>
                    </a:solidFill>
                    <a:latin typeface="Arial"/>
                  </a:rPr>
                  <a:t>, </a:t>
                </a:r>
                <a:r>
                  <a:rPr lang="en-IN" sz="2400">
                    <a:solidFill>
                      <a:srgbClr val="111827"/>
                    </a:solidFill>
                    <a:latin typeface="Cambria Math" panose="02040503050406030204" pitchFamily="18" charset="0"/>
                  </a:rPr>
                  <a:t>$\sqrt{2010}\approx44.8$</a:t>
                </a:r>
                <a:r>
                  <a:rPr sz="2400" b="0">
                    <a:solidFill>
                      <a:srgbClr val="111827"/>
                    </a:solidFill>
                    <a:latin typeface="Arial"/>
                  </a:rPr>
                  <a:t>, so </a:t>
                </a:r>
                <a:r>
                  <a:rPr lang="en-IN" sz="2400">
                    <a:solidFill>
                      <a:srgbClr val="111827"/>
                    </a:solidFill>
                    <a:latin typeface="Cambria Math" panose="02040503050406030204" pitchFamily="18" charset="0"/>
                  </a:rPr>
                  <a:t>$n\ge45$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67004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box contains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coins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The probabilities of getting a head on these coins are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respectively. If one of the coins is selected at random and tossed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times and got exactly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heads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oMath>
                </a14:m>
                <a:r>
                  <a:rPr sz="2400" b="0">
                    <a:solidFill>
                      <a:srgbClr val="111827"/>
                    </a:solidFill>
                    <a:latin typeface="Arial"/>
                  </a:rPr>
                  <a:t> denote the probabilities that it was coin </a:t>
                </a:r>
                <a14:m>
                  <m:oMath xmlns:m="http://schemas.openxmlformats.org/officeDocument/2006/math">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respectively,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14:m>
                  <m:oMath xmlns:m="http://schemas.openxmlformats.org/officeDocument/2006/math">
                    <m:sSub>
                      <m:e>
                        <m:r>
                          <m:rPr>
                            <m:sty m:val="p"/>
                          </m:rPr>
                          <a:rPr lang="en-IN" sz="2400">
                            <a:solidFill>
                              <a:srgbClr val="111827"/>
                            </a:solidFill>
                            <a:latin typeface="Cambria Math" panose="02040503050406030204" pitchFamily="18" charset="0"/>
                          </a:rPr>
                          <m:t>lim</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ub>
                    </m:sSub>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14:m>
                  <m:oMath xmlns:m="http://schemas.openxmlformats.org/officeDocument/2006/math">
                    <m:sSub>
                      <m:e>
                        <m:r>
                          <m:rPr>
                            <m:sty m:val="p"/>
                          </m:rPr>
                          <a:rPr lang="en-IN" sz="2400">
                            <a:solidFill>
                              <a:srgbClr val="111827"/>
                            </a:solidFill>
                            <a:latin typeface="Cambria Math" panose="02040503050406030204" pitchFamily="18" charset="0"/>
                          </a:rPr>
                          <m:t>lim</m:t>
                        </m:r>
                      </m:e>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ub>
                    </m:sSub>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endParaRPr sz="2400">
                  <a:solidFill>
                    <a:srgbClr val="111827"/>
                  </a:solidFill>
                </a:endParaRPr>
              </a:p>
            </p:txBody>
          </p:sp>
        </mc:Choice>
        <mc:Fallback>
          <p:sp>
            <p:nvSpPr>
              <p:cNvPr id="4" name="Rounded Rectangle 3"/>
              <p:cNvSpPr/>
              <p:nvPr/>
            </p:nvSpPr>
            <p:spPr>
              <a:xfrm>
                <a:off x="731520" y="1280160"/>
                <a:ext cx="10725912" cy="467004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box contains </a:t>
                </a:r>
                <a:r>
                  <a:rPr lang="en-IN" sz="2400">
                    <a:solidFill>
                      <a:srgbClr val="111827"/>
                    </a:solidFill>
                    <a:latin typeface="Cambria Math" panose="02040503050406030204" pitchFamily="18" charset="0"/>
                  </a:rPr>
                  <a:t>$3$</a:t>
                </a:r>
                <a:r>
                  <a:rPr sz="2400" b="0">
                    <a:solidFill>
                      <a:srgbClr val="111827"/>
                    </a:solidFill>
                    <a:latin typeface="Arial"/>
                  </a:rPr>
                  <a:t> coins </a:t>
                </a:r>
                <a:r>
                  <a:rPr lang="en-IN" sz="2400">
                    <a:solidFill>
                      <a:srgbClr val="111827"/>
                    </a:solidFill>
                    <a:latin typeface="Cambria Math" panose="02040503050406030204" pitchFamily="18" charset="0"/>
                  </a:rPr>
                  <a:t>$B_1,B_2$</a:t>
                </a:r>
                <a:r>
                  <a:rPr sz="2400" b="0">
                    <a:solidFill>
                      <a:srgbClr val="111827"/>
                    </a:solidFill>
                    <a:latin typeface="Arial"/>
                  </a:rPr>
                  <a:t> and </a:t>
                </a:r>
                <a:r>
                  <a:rPr lang="en-IN" sz="2400">
                    <a:solidFill>
                      <a:srgbClr val="111827"/>
                    </a:solidFill>
                    <a:latin typeface="Cambria Math" panose="02040503050406030204" pitchFamily="18" charset="0"/>
                  </a:rPr>
                  <a:t>$B_3$</a:t>
                </a:r>
                <a:r>
                  <a:rPr sz="2400" b="0">
                    <a:solidFill>
                      <a:srgbClr val="111827"/>
                    </a:solidFill>
                    <a:latin typeface="Arial"/>
                  </a:rPr>
                  <a:t>. The probabilities of getting a head on these coins are </a:t>
                </a:r>
                <a:r>
                  <a:rPr lang="en-IN" sz="2400">
                    <a:solidFill>
                      <a:srgbClr val="111827"/>
                    </a:solidFill>
                    <a:latin typeface="Cambria Math" panose="02040503050406030204" pitchFamily="18" charset="0"/>
                  </a:rPr>
                  <a:t>$\frac12,\frac14$</a:t>
                </a:r>
                <a:r>
                  <a:rPr sz="2400" b="0">
                    <a:solidFill>
                      <a:srgbClr val="111827"/>
                    </a:solidFill>
                    <a:latin typeface="Arial"/>
                  </a:rPr>
                  <a:t> and </a:t>
                </a:r>
                <a:r>
                  <a:rPr lang="en-IN" sz="2400">
                    <a:solidFill>
                      <a:srgbClr val="111827"/>
                    </a:solidFill>
                    <a:latin typeface="Cambria Math" panose="02040503050406030204" pitchFamily="18" charset="0"/>
                  </a:rPr>
                  <a:t>$\frac18$</a:t>
                </a:r>
                <a:r>
                  <a:rPr sz="2400" b="0">
                    <a:solidFill>
                      <a:srgbClr val="111827"/>
                    </a:solidFill>
                    <a:latin typeface="Arial"/>
                  </a:rPr>
                  <a:t> respectively. If one of the coins is selected at random and tossed </a:t>
                </a:r>
                <a:r>
                  <a:rPr lang="en-IN" sz="2400">
                    <a:solidFill>
                      <a:srgbClr val="111827"/>
                    </a:solidFill>
                    <a:latin typeface="Cambria Math" panose="02040503050406030204" pitchFamily="18" charset="0"/>
                  </a:rPr>
                  <a:t>$m$</a:t>
                </a:r>
                <a:r>
                  <a:rPr sz="2400" b="0">
                    <a:solidFill>
                      <a:srgbClr val="111827"/>
                    </a:solidFill>
                    <a:latin typeface="Arial"/>
                  </a:rPr>
                  <a:t> times and got exactly </a:t>
                </a:r>
                <a:r>
                  <a:rPr lang="en-IN" sz="2400">
                    <a:solidFill>
                      <a:srgbClr val="111827"/>
                    </a:solidFill>
                    <a:latin typeface="Cambria Math" panose="02040503050406030204" pitchFamily="18" charset="0"/>
                  </a:rPr>
                  <a:t>$10$</a:t>
                </a:r>
                <a:r>
                  <a:rPr sz="2400" b="0">
                    <a:solidFill>
                      <a:srgbClr val="111827"/>
                    </a:solidFill>
                    <a:latin typeface="Arial"/>
                  </a:rPr>
                  <a:t> heads (</a:t>
                </a:r>
                <a:r>
                  <a:rPr lang="en-IN" sz="2400">
                    <a:solidFill>
                      <a:srgbClr val="111827"/>
                    </a:solidFill>
                    <a:latin typeface="Cambria Math" panose="02040503050406030204" pitchFamily="18" charset="0"/>
                  </a:rPr>
                  <a:t>$m\ge10$</a:t>
                </a:r>
                <a:r>
                  <a:rPr sz="2400" b="0">
                    <a:solidFill>
                      <a:srgbClr val="111827"/>
                    </a:solidFill>
                    <a:latin typeface="Arial"/>
                  </a:rPr>
                  <a:t>, </a:t>
                </a:r>
                <a:r>
                  <a:rPr lang="en-IN" sz="2400">
                    <a:solidFill>
                      <a:srgbClr val="111827"/>
                    </a:solidFill>
                    <a:latin typeface="Cambria Math" panose="02040503050406030204" pitchFamily="18" charset="0"/>
                  </a:rPr>
                  <a:t>$m\in N$</a:t>
                </a:r>
                <a:r>
                  <a:rPr sz="2400" b="0">
                    <a:solidFill>
                      <a:srgbClr val="111827"/>
                    </a:solidFill>
                    <a:latin typeface="Arial"/>
                  </a:rPr>
                  <a:t>) and </a:t>
                </a:r>
                <a:r>
                  <a:rPr lang="en-IN" sz="2400">
                    <a:solidFill>
                      <a:srgbClr val="111827"/>
                    </a:solidFill>
                    <a:latin typeface="Cambria Math" panose="02040503050406030204" pitchFamily="18" charset="0"/>
                  </a:rPr>
                  <a:t>$x,y,z$</a:t>
                </a:r>
                <a:r>
                  <a:rPr sz="2400" b="0">
                    <a:solidFill>
                      <a:srgbClr val="111827"/>
                    </a:solidFill>
                    <a:latin typeface="Arial"/>
                  </a:rPr>
                  <a:t> denote the probabilities that it was coin </a:t>
                </a:r>
                <a:r>
                  <a:rPr lang="en-IN" sz="2400">
                    <a:solidFill>
                      <a:srgbClr val="111827"/>
                    </a:solidFill>
                    <a:latin typeface="Cambria Math" panose="02040503050406030204" pitchFamily="18" charset="0"/>
                  </a:rPr>
                  <a:t>$B_1,B_2,B_3$</a:t>
                </a:r>
                <a:r>
                  <a:rPr sz="2400" b="0">
                    <a:solidFill>
                      <a:srgbClr val="111827"/>
                    </a:solidFill>
                    <a:latin typeface="Arial"/>
                  </a:rPr>
                  <a:t> respectively, then:</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$x=\frac{4^{10}}{4^{10}+2^{10}+1}$</a:t>
                </a:r>
                <a:r>
                  <a:rPr sz="2400" b="0">
                    <a:solidFill>
                      <a:srgbClr val="111827"/>
                    </a:solidFill>
                    <a:latin typeface="Arial"/>
                  </a:rPr>
                  <a:t> if </a:t>
                </a:r>
                <a:r>
                  <a:rPr lang="en-IN" sz="2400">
                    <a:solidFill>
                      <a:srgbClr val="111827"/>
                    </a:solidFill>
                    <a:latin typeface="Cambria Math" panose="02040503050406030204" pitchFamily="18" charset="0"/>
                  </a:rPr>
                  <a:t>$m=10$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$z=\frac{1}{4^{10}+2^{10}+1}$</a:t>
                </a:r>
                <a:r>
                  <a:rPr sz="2400" b="0">
                    <a:solidFill>
                      <a:srgbClr val="111827"/>
                    </a:solidFill>
                    <a:latin typeface="Arial"/>
                  </a:rPr>
                  <a:t> if </a:t>
                </a:r>
                <a:r>
                  <a:rPr lang="en-IN" sz="2400">
                    <a:solidFill>
                      <a:srgbClr val="111827"/>
                    </a:solidFill>
                    <a:latin typeface="Cambria Math" panose="02040503050406030204" pitchFamily="18" charset="0"/>
                  </a:rPr>
                  <a:t>$m=10$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$\lim_{m\to\infty}x=0$</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$\lim_{m\to\infty}z=1$</a:t>
                </a:r>
                <a:endParaRPr sz="2400">
                  <a:solidFill>
                    <a:srgbClr val="111827"/>
                  </a:solidFill>
                </a:endParaRPr>
              </a:p>
            </p:txBody>
          </p:sp>
        </mc:Fallback>
      </mc:AlternateContent>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Bayes' theorem with binomial likelihoods, Limits of exponential expressions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Equal priors make the posterior proportional to the binomial likelihood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𝑚</m:t>
                            </m:r>
                          </m:num>
                          <m:den>
                            <m:r>
                              <a:rPr lang="en-IN" sz="2400" i="1">
                                <a:solidFill>
                                  <a:srgbClr val="78350F"/>
                                </a:solidFill>
                                <a:latin typeface="Cambria Math" panose="02040503050406030204" pitchFamily="18" charset="0"/>
                              </a:rPr>
                              <m:t>10</m:t>
                            </m:r>
                          </m:den>
                        </m:f>
                      </m:e>
                    </m:d>
                    <m:sSup>
                      <m:e>
                        <m:r>
                          <a:rPr lang="en-IN" sz="2400" i="1">
                            <a:solidFill>
                              <a:srgbClr val="78350F"/>
                            </a:solidFill>
                            <a:latin typeface="Cambria Math" panose="02040503050406030204" pitchFamily="18" charset="0"/>
                          </a:rPr>
                          <m:t>𝑝</m:t>
                        </m:r>
                      </m:e>
                      <m:sup>
                        <m:r>
                          <a:rPr lang="en-IN" sz="2400" i="1">
                            <a:solidFill>
                              <a:srgbClr val="78350F"/>
                            </a:solidFill>
                            <a:latin typeface="Cambria Math" panose="02040503050406030204" pitchFamily="18" charset="0"/>
                          </a:rPr>
                          <m:t>10</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𝑝</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sup>
                    </m:sSup>
                  </m:oMath>
                </a14:m>
                <a:r>
                  <a:rPr sz="2400" b="0">
                    <a:solidFill>
                      <a:srgbClr val="78350F"/>
                    </a:solidFill>
                    <a:latin typeface="Arial"/>
                  </a:rPr>
                  <a:t>; for large </a:t>
                </a:r>
                <a14:m>
                  <m:oMath xmlns:m="http://schemas.openxmlformats.org/officeDocument/2006/math">
                    <m:r>
                      <a:rPr lang="en-IN" sz="2400" i="1">
                        <a:solidFill>
                          <a:srgbClr val="78350F"/>
                        </a:solidFill>
                        <a:latin typeface="Cambria Math" panose="02040503050406030204" pitchFamily="18" charset="0"/>
                      </a:rPr>
                      <m:t>𝑚</m:t>
                    </m:r>
                  </m:oMath>
                </a14:m>
                <a:r>
                  <a:rPr sz="2400" b="0">
                    <a:solidFill>
                      <a:srgbClr val="78350F"/>
                    </a:solidFill>
                    <a:latin typeface="Arial"/>
                  </a:rPr>
                  <a:t> the largest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𝑝</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𝑚</m:t>
                        </m:r>
                      </m:sup>
                    </m:sSup>
                  </m:oMath>
                </a14:m>
                <a:r>
                  <a:rPr sz="2400" b="0">
                    <a:solidFill>
                      <a:srgbClr val="78350F"/>
                    </a:solidFill>
                    <a:latin typeface="Arial"/>
                  </a:rPr>
                  <a:t> wins.</a:t>
                </a:r>
                <a:endParaRPr sz="2400">
                  <a:solidFill>
                    <a:srgbClr val="78350F"/>
                  </a:solidFill>
                </a:endParaRPr>
              </a:p>
            </p:txBody>
          </p:sp>
        </mc:Choice>
        <mc:Fallback>
          <p:sp>
            <p:nvSpPr>
              <p:cNvPr id="5" name="Rounded Rectangle 4"/>
              <p:cNvSpPr/>
              <p:nvPr/>
            </p:nvSpPr>
            <p:spPr>
              <a:xfrm>
                <a:off x="731520" y="3438144"/>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Equal priors make the posterior proportional to the binomial likelihood </a:t>
                </a:r>
                <a:r>
                  <a:rPr lang="en-IN" sz="2400">
                    <a:solidFill>
                      <a:srgbClr val="78350F"/>
                    </a:solidFill>
                    <a:latin typeface="Cambria Math" panose="02040503050406030204" pitchFamily="18" charset="0"/>
                  </a:rPr>
                  <a:t>$\binom{m}{10}p^{10}(1-p)^{m-10}$</a:t>
                </a:r>
                <a:r>
                  <a:rPr sz="2400" b="0">
                    <a:solidFill>
                      <a:srgbClr val="78350F"/>
                    </a:solidFill>
                    <a:latin typeface="Arial"/>
                  </a:rPr>
                  <a:t>; for large </a:t>
                </a:r>
                <a:r>
                  <a:rPr lang="en-IN" sz="2400">
                    <a:solidFill>
                      <a:srgbClr val="78350F"/>
                    </a:solidFill>
                    <a:latin typeface="Cambria Math" panose="02040503050406030204" pitchFamily="18" charset="0"/>
                  </a:rPr>
                  <a:t>$m$</a:t>
                </a:r>
                <a:r>
                  <a:rPr sz="2400" b="0">
                    <a:solidFill>
                      <a:srgbClr val="78350F"/>
                    </a:solidFill>
                    <a:latin typeface="Arial"/>
                  </a:rPr>
                  <a:t> the largest </a:t>
                </a:r>
                <a:r>
                  <a:rPr lang="en-IN" sz="2400">
                    <a:solidFill>
                      <a:srgbClr val="78350F"/>
                    </a:solidFill>
                    <a:latin typeface="Cambria Math" panose="02040503050406030204" pitchFamily="18" charset="0"/>
                  </a:rPr>
                  <a:t>$(1-p)^m$</a:t>
                </a:r>
                <a:r>
                  <a:rPr sz="2400" b="0">
                    <a:solidFill>
                      <a:srgbClr val="78350F"/>
                    </a:solidFill>
                    <a:latin typeface="Arial"/>
                  </a:rPr>
                  <a:t> wins.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𝐻</m:t>
                    </m:r>
                  </m:oMath>
                </a14:m>
                <a:r>
                  <a:rPr sz="2400" b="0">
                    <a:solidFill>
                      <a:srgbClr val="111827"/>
                    </a:solidFill>
                    <a:latin typeface="Arial"/>
                  </a:rPr>
                  <a:t> be the event of exactly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heads in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tosses. Each coin is chosen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by Bayes' theorem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56632"/>
                <a:ext cx="10725912" cy="16184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$H$</a:t>
                </a:r>
                <a:r>
                  <a:rPr sz="2400" b="0">
                    <a:solidFill>
                      <a:srgbClr val="111827"/>
                    </a:solidFill>
                    <a:latin typeface="Arial"/>
                  </a:rPr>
                  <a:t> be the event of exactly </a:t>
                </a:r>
                <a:r>
                  <a:rPr lang="en-IN" sz="2400">
                    <a:solidFill>
                      <a:srgbClr val="111827"/>
                    </a:solidFill>
                    <a:latin typeface="Cambria Math" panose="02040503050406030204" pitchFamily="18" charset="0"/>
                  </a:rPr>
                  <a:t>$10$</a:t>
                </a:r>
                <a:r>
                  <a:rPr sz="2400" b="0">
                    <a:solidFill>
                      <a:srgbClr val="111827"/>
                    </a:solidFill>
                    <a:latin typeface="Arial"/>
                  </a:rPr>
                  <a:t> heads in </a:t>
                </a:r>
                <a:r>
                  <a:rPr lang="en-IN" sz="2400">
                    <a:solidFill>
                      <a:srgbClr val="111827"/>
                    </a:solidFill>
                    <a:latin typeface="Cambria Math" panose="02040503050406030204" pitchFamily="18" charset="0"/>
                  </a:rPr>
                  <a:t>$m$</a:t>
                </a:r>
                <a:r>
                  <a:rPr sz="2400" b="0">
                    <a:solidFill>
                      <a:srgbClr val="111827"/>
                    </a:solidFill>
                    <a:latin typeface="Arial"/>
                  </a:rPr>
                  <a:t> tosses. Each coin is chosen with probability </a:t>
                </a:r>
                <a:r>
                  <a:rPr lang="en-IN" sz="2400">
                    <a:solidFill>
                      <a:srgbClr val="111827"/>
                    </a:solidFill>
                    <a:latin typeface="Cambria Math" panose="02040503050406030204" pitchFamily="18" charset="0"/>
                  </a:rPr>
                  <a:t>$\frac13$</a:t>
                </a:r>
                <a:r>
                  <a:rPr sz="2400" b="0">
                    <a:solidFill>
                      <a:srgbClr val="111827"/>
                    </a:solidFill>
                    <a:latin typeface="Arial"/>
                  </a:rPr>
                  <a:t>, so by Bayes' theorem </a:t>
                </a:r>
                <a:r>
                  <a:rPr lang="en-IN" sz="2400">
                    <a:solidFill>
                      <a:srgbClr val="111827"/>
                    </a:solidFill>
                    <a:latin typeface="Cambria Math" panose="02040503050406030204" pitchFamily="18" charset="0"/>
                  </a:rPr>
                  <a:t>$x=P(B_1|H)=\frac{P(H|B_1)}{\sum P(H|B_i)}$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10</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10</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10</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𝐵</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10</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e>
                        </m:d>
                      </m:e>
                      <m:sup>
                        <m:r>
                          <a:rPr lang="en-IN" sz="2400" i="1">
                            <a:solidFill>
                              <a:srgbClr val="111827"/>
                            </a:solidFill>
                            <a:latin typeface="Cambria Math" panose="02040503050406030204" pitchFamily="18" charset="0"/>
                          </a:rPr>
                          <m:t>10</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8</m:t>
                                </m:r>
                              </m:den>
                            </m:f>
                          </m:e>
                        </m:d>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Cancel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 and multiply numerator and denominator by </a:t>
                </a:r>
                <a14:m>
                  <m:oMath xmlns:m="http://schemas.openxmlformats.org/officeDocument/2006/math">
                    <m:sSup>
                      <m:e>
                        <m:r>
                          <a:rPr lang="en-IN" sz="2400" i="1">
                            <a:solidFill>
                              <a:srgbClr val="111827"/>
                            </a:solidFill>
                            <a:latin typeface="Cambria Math" panose="02040503050406030204" pitchFamily="18" charset="0"/>
                          </a:rPr>
                          <m:t>8</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𝑚</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0</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0</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True.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$P(H|B_1)=\binom m{10}\left(\frac12\right)^m$</a:t>
                </a:r>
                <a:r>
                  <a:rPr sz="2400" b="0">
                    <a:solidFill>
                      <a:srgbClr val="111827"/>
                    </a:solidFill>
                    <a:latin typeface="Arial"/>
                  </a:rPr>
                  <a:t>, </a:t>
                </a:r>
                <a:r>
                  <a:rPr lang="en-IN" sz="2400">
                    <a:solidFill>
                      <a:srgbClr val="111827"/>
                    </a:solidFill>
                    <a:latin typeface="Cambria Math" panose="02040503050406030204" pitchFamily="18" charset="0"/>
                  </a:rPr>
                  <a:t>$P(H|B_2)=\binom m{10}\left(\frac14\right)^{10}\left(\frac34\right)^{m-10}$</a:t>
                </a:r>
                <a:r>
                  <a:rPr sz="2400" b="0">
                    <a:solidFill>
                      <a:srgbClr val="111827"/>
                    </a:solidFill>
                    <a:latin typeface="Arial"/>
                  </a:rPr>
                  <a:t>, </a:t>
                </a:r>
                <a:r>
                  <a:rPr lang="en-IN" sz="2400">
                    <a:solidFill>
                      <a:srgbClr val="111827"/>
                    </a:solidFill>
                    <a:latin typeface="Cambria Math" panose="02040503050406030204" pitchFamily="18" charset="0"/>
                  </a:rPr>
                  <a:t>$P(H|B_3)=\binom m{10}\left(\frac18\right)^{10}\left(\frac78\right)^{m-10}$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Cancel </a:t>
                </a:r>
                <a:r>
                  <a:rPr lang="en-IN" sz="2400">
                    <a:solidFill>
                      <a:srgbClr val="111827"/>
                    </a:solidFill>
                    <a:latin typeface="Cambria Math" panose="02040503050406030204" pitchFamily="18" charset="0"/>
                  </a:rPr>
                  <a:t>$\frac13\binom m{10}$</a:t>
                </a:r>
                <a:r>
                  <a:rPr sz="2400" b="0">
                    <a:solidFill>
                      <a:srgbClr val="111827"/>
                    </a:solidFill>
                    <a:latin typeface="Arial"/>
                  </a:rPr>
                  <a:t> and multiply numerator and denominator by </a:t>
                </a:r>
                <a:r>
                  <a:rPr lang="en-IN" sz="2400">
                    <a:solidFill>
                      <a:srgbClr val="111827"/>
                    </a:solidFill>
                    <a:latin typeface="Cambria Math" panose="02040503050406030204" pitchFamily="18" charset="0"/>
                  </a:rPr>
                  <a:t>$8^m$</a:t>
                </a:r>
                <a:r>
                  <a:rPr sz="2400" b="0">
                    <a:solidFill>
                      <a:srgbClr val="111827"/>
                    </a:solidFill>
                    <a:latin typeface="Arial"/>
                  </a:rPr>
                  <a:t>: </a:t>
                </a:r>
                <a:r>
                  <a:rPr lang="en-IN" sz="2400">
                    <a:solidFill>
                      <a:srgbClr val="111827"/>
                    </a:solidFill>
                    <a:latin typeface="Cambria Math" panose="02040503050406030204" pitchFamily="18" charset="0"/>
                  </a:rPr>
                  <a:t>$x=\frac{4^m}{4^m+2^m\cdot3^{m-10}+7^{m-10}}$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$y=\frac{2^m\cdot3^{m-10}}{4^m+2^m\cdot3^{m-10}+7^{m-10}}$</a:t>
                </a:r>
                <a:r>
                  <a:rPr sz="2400" b="0">
                    <a:solidFill>
                      <a:srgbClr val="111827"/>
                    </a:solidFill>
                    <a:latin typeface="Arial"/>
                  </a:rPr>
                  <a:t> and </a:t>
                </a:r>
                <a:r>
                  <a:rPr lang="en-IN" sz="2400">
                    <a:solidFill>
                      <a:srgbClr val="111827"/>
                    </a:solidFill>
                    <a:latin typeface="Cambria Math" panose="02040503050406030204" pitchFamily="18" charset="0"/>
                  </a:rPr>
                  <a:t>$z=\frac{7^{m-10}}{4^m+2^m\cdot3^{m-10}+7^{m-10}}$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For </a:t>
                </a:r>
                <a:r>
                  <a:rPr lang="en-IN" sz="2400">
                    <a:solidFill>
                      <a:srgbClr val="111827"/>
                    </a:solidFill>
                    <a:latin typeface="Cambria Math" panose="02040503050406030204" pitchFamily="18" charset="0"/>
                  </a:rPr>
                  <a:t>$m=10$</a:t>
                </a:r>
                <a:r>
                  <a:rPr sz="2400" b="0">
                    <a:solidFill>
                      <a:srgbClr val="111827"/>
                    </a:solidFill>
                    <a:latin typeface="Arial"/>
                  </a:rPr>
                  <a:t>: </a:t>
                </a:r>
                <a:r>
                  <a:rPr lang="en-IN" sz="2400">
                    <a:solidFill>
                      <a:srgbClr val="111827"/>
                    </a:solidFill>
                    <a:latin typeface="Cambria Math" panose="02040503050406030204" pitchFamily="18" charset="0"/>
                  </a:rPr>
                  <a:t>$x=\frac{4^{10}}{4^{10}+2^{10}\cdot3^0+7^0}=\frac{4^{10}}{4^{10}+2^{10}+1}$</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For </a:t>
                </a:r>
                <a:r>
                  <a:rPr lang="en-IN" sz="2400">
                    <a:solidFill>
                      <a:srgbClr val="111827"/>
                    </a:solidFill>
                    <a:latin typeface="Cambria Math" panose="02040503050406030204" pitchFamily="18" charset="0"/>
                  </a:rPr>
                  <a:t>$m=10$</a:t>
                </a:r>
                <a:r>
                  <a:rPr sz="2400" b="0">
                    <a:solidFill>
                      <a:srgbClr val="111827"/>
                    </a:solidFill>
                    <a:latin typeface="Arial"/>
                  </a:rPr>
                  <a:t>: </a:t>
                </a:r>
                <a:r>
                  <a:rPr lang="en-IN" sz="2400">
                    <a:solidFill>
                      <a:srgbClr val="111827"/>
                    </a:solidFill>
                    <a:latin typeface="Cambria Math" panose="02040503050406030204" pitchFamily="18" charset="0"/>
                  </a:rPr>
                  <a:t>$z=\frac{7^0}{4^{10}+2^{10}+1}=\frac{1}{4^{10}+2^{10}+1}$</a:t>
                </a:r>
                <a:r>
                  <a:rPr sz="2400" b="0">
                    <a:solidFill>
                      <a:srgbClr val="111827"/>
                    </a:solidFill>
                    <a:latin typeface="Arial"/>
                  </a:rPr>
                  <a:t>. True.</a:t>
                </a:r>
                <a:endParaRPr sz="2400">
                  <a:solidFill>
                    <a:srgbClr val="111827"/>
                  </a:solidFill>
                </a:endParaRPr>
              </a:p>
            </p:txBody>
          </p:sp>
        </mc:Fallback>
      </mc:AlternateContent>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Divide numerator and denominator of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by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and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0</m:t>
                        </m:r>
                      </m:num>
                      <m:den>
                        <m:sSup>
                          <m:e>
                            <m:r>
                              <a:rPr lang="en-IN" sz="2400" i="1">
                                <a:solidFill>
                                  <a:srgbClr val="111827"/>
                                </a:solidFill>
                                <a:latin typeface="Cambria Math" panose="02040503050406030204" pitchFamily="18" charset="0"/>
                              </a:rPr>
                              <m:t>7</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In the same way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7</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7</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four statements are correct: (A, B,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 Divide numerator and denominator of </a:t>
                </a:r>
                <a:r>
                  <a:rPr lang="en-IN" sz="2400">
                    <a:solidFill>
                      <a:srgbClr val="111827"/>
                    </a:solidFill>
                    <a:latin typeface="Cambria Math" panose="02040503050406030204" pitchFamily="18" charset="0"/>
                  </a:rPr>
                  <a:t>$x$</a:t>
                </a:r>
                <a:r>
                  <a:rPr sz="2400" b="0">
                    <a:solidFill>
                      <a:srgbClr val="111827"/>
                    </a:solidFill>
                    <a:latin typeface="Arial"/>
                  </a:rPr>
                  <a:t> by </a:t>
                </a:r>
                <a:r>
                  <a:rPr lang="en-IN" sz="2400">
                    <a:solidFill>
                      <a:srgbClr val="111827"/>
                    </a:solidFill>
                    <a:latin typeface="Cambria Math" panose="02040503050406030204" pitchFamily="18" charset="0"/>
                  </a:rPr>
                  <a:t>$7^{m}$</a:t>
                </a:r>
                <a:r>
                  <a:rPr sz="2400" b="0">
                    <a:solidFill>
                      <a:srgbClr val="111827"/>
                    </a:solidFill>
                    <a:latin typeface="Arial"/>
                  </a:rPr>
                  <a:t>: </a:t>
                </a:r>
                <a:r>
                  <a:rPr lang="en-IN" sz="2400">
                    <a:solidFill>
                      <a:srgbClr val="111827"/>
                    </a:solidFill>
                    <a:latin typeface="Cambria Math" panose="02040503050406030204" pitchFamily="18" charset="0"/>
                  </a:rPr>
                  <a:t>$2^m3^{m-10}=3^{-10}6^m$</a:t>
                </a:r>
                <a:r>
                  <a:rPr sz="2400" b="0">
                    <a:solidFill>
                      <a:srgbClr val="111827"/>
                    </a:solidFill>
                    <a:latin typeface="Arial"/>
                  </a:rPr>
                  <a:t> and </a:t>
                </a:r>
                <a:r>
                  <a:rPr lang="en-IN" sz="2400">
                    <a:solidFill>
                      <a:srgbClr val="111827"/>
                    </a:solidFill>
                    <a:latin typeface="Cambria Math" panose="02040503050406030204" pitchFamily="18" charset="0"/>
                  </a:rPr>
                  <a:t>$7^{m-10}=7^{-10}7^m$</a:t>
                </a:r>
                <a:r>
                  <a:rPr sz="2400" b="0">
                    <a:solidFill>
                      <a:srgbClr val="111827"/>
                    </a:solidFill>
                    <a:latin typeface="Arial"/>
                  </a:rPr>
                  <a:t>, and </a:t>
                </a:r>
                <a:r>
                  <a:rPr lang="en-IN" sz="2400">
                    <a:solidFill>
                      <a:srgbClr val="111827"/>
                    </a:solidFill>
                    <a:latin typeface="Cambria Math" panose="02040503050406030204" pitchFamily="18" charset="0"/>
                  </a:rPr>
                  <a:t>$\left(\frac47\right)^m,\left(\frac67\right)^m\to0$</a:t>
                </a:r>
                <a:r>
                  <a:rPr sz="2400" b="0">
                    <a:solidFill>
                      <a:srgbClr val="111827"/>
                    </a:solidFill>
                    <a:latin typeface="Arial"/>
                  </a:rPr>
                  <a:t>, so </a:t>
                </a:r>
                <a:r>
                  <a:rPr lang="en-IN" sz="2400">
                    <a:solidFill>
                      <a:srgbClr val="111827"/>
                    </a:solidFill>
                    <a:latin typeface="Cambria Math" panose="02040503050406030204" pitchFamily="18" charset="0"/>
                  </a:rPr>
                  <a:t>$x\to\frac{0}{7^{-10}}=0$</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In the same way </a:t>
                </a:r>
                <a:r>
                  <a:rPr lang="en-IN" sz="2400">
                    <a:solidFill>
                      <a:srgbClr val="111827"/>
                    </a:solidFill>
                    <a:latin typeface="Cambria Math" panose="02040503050406030204" pitchFamily="18" charset="0"/>
                  </a:rPr>
                  <a:t>$z=\frac{7^{-10}}{7^{-10}+3^{-10}(6/7)^m+(4/7)^m}\to1$</a:t>
                </a:r>
                <a:r>
                  <a:rPr sz="2400" b="0">
                    <a:solidFill>
                      <a:srgbClr val="111827"/>
                    </a:solidFill>
                    <a:latin typeface="Arial"/>
                  </a:rPr>
                  <a:t>. True.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four statements are correct: (A, B,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B, C, D)</a:t>
            </a:r>
            <a:endParaRPr sz="2800">
              <a:solidFill>
                <a:srgbClr val="15803D"/>
              </a:solidFill>
            </a:endParaRP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large </a:t>
                </a:r>
                <a14:m>
                  <m:oMath xmlns:m="http://schemas.openxmlformats.org/officeDocument/2006/math">
                    <m:r>
                      <a:rPr lang="en-IN" sz="2400" i="1">
                        <a:solidFill>
                          <a:srgbClr val="78350F"/>
                        </a:solidFill>
                        <a:latin typeface="Cambria Math" panose="02040503050406030204" pitchFamily="18" charset="0"/>
                      </a:rPr>
                      <m:t>𝑚</m:t>
                    </m:r>
                  </m:oMath>
                </a14:m>
                <a:r>
                  <a:rPr sz="2400" b="0">
                    <a:solidFill>
                      <a:srgbClr val="78350F"/>
                    </a:solidFill>
                    <a:latin typeface="Arial"/>
                  </a:rPr>
                  <a:t> the likelihoods behave like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𝑚</m:t>
                            </m:r>
                          </m:num>
                          <m:den>
                            <m:r>
                              <a:rPr lang="en-IN" sz="2400" i="1">
                                <a:solidFill>
                                  <a:srgbClr val="78350F"/>
                                </a:solidFill>
                                <a:latin typeface="Cambria Math" panose="02040503050406030204" pitchFamily="18" charset="0"/>
                              </a:rPr>
                              <m:t>10</m:t>
                            </m:r>
                          </m:den>
                        </m:f>
                      </m:e>
                    </m:d>
                    <m:sSub>
                      <m:e>
                        <m:r>
                          <a:rPr lang="en-IN" sz="2400" i="1">
                            <a:solidFill>
                              <a:srgbClr val="78350F"/>
                            </a:solidFill>
                            <a:latin typeface="Cambria Math" panose="02040503050406030204" pitchFamily="18" charset="0"/>
                          </a:rPr>
                          <m:t>𝑐</m:t>
                        </m:r>
                      </m:e>
                      <m:sub>
                        <m:r>
                          <a:rPr lang="en-IN" sz="2400" i="1">
                            <a:solidFill>
                              <a:srgbClr val="78350F"/>
                            </a:solidFill>
                            <a:latin typeface="Cambria Math" panose="02040503050406030204" pitchFamily="18" charset="0"/>
                          </a:rPr>
                          <m:t>𝑖</m:t>
                        </m:r>
                      </m:sub>
                    </m:sSub>
                    <m:r>
                      <a:rPr lang="en-IN" sz="2400" i="1">
                        <a:solidFill>
                          <a:srgbClr val="78350F"/>
                        </a:solidFill>
                        <a:latin typeface="Cambria Math" panose="02040503050406030204" pitchFamily="18" charset="0"/>
                      </a:rPr>
                      <m:t> </m:t>
                    </m:r>
                    <m:sSubSup>
                      <m:e>
                        <m:r>
                          <a:rPr lang="en-IN" sz="2400" i="1">
                            <a:solidFill>
                              <a:srgbClr val="78350F"/>
                            </a:solidFill>
                            <a:latin typeface="Cambria Math" panose="02040503050406030204" pitchFamily="18" charset="0"/>
                          </a:rPr>
                          <m:t>𝑞</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𝑚</m:t>
                        </m:r>
                      </m:sup>
                    </m:sSubSup>
                  </m:oMath>
                </a14:m>
                <a:r>
                  <a:rPr sz="2400" b="0">
                    <a:solidFill>
                      <a:srgbClr val="78350F"/>
                    </a:solidFill>
                    <a:latin typeface="Arial"/>
                  </a:rPr>
                  <a:t> with </a:t>
                </a:r>
                <a14:m>
                  <m:oMath xmlns:m="http://schemas.openxmlformats.org/officeDocument/2006/math">
                    <m:sSub>
                      <m:e>
                        <m:r>
                          <a:rPr lang="en-IN" sz="2400" i="1">
                            <a:solidFill>
                              <a:srgbClr val="78350F"/>
                            </a:solidFill>
                            <a:latin typeface="Cambria Math" panose="02040503050406030204" pitchFamily="18" charset="0"/>
                          </a:rPr>
                          <m:t>𝑞</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𝑝</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so the coin with the largest </a:t>
                </a:r>
                <a14:m>
                  <m:oMath xmlns:m="http://schemas.openxmlformats.org/officeDocument/2006/math">
                    <m:sSub>
                      <m:e>
                        <m:r>
                          <a:rPr lang="en-IN" sz="2400" i="1">
                            <a:solidFill>
                              <a:srgbClr val="78350F"/>
                            </a:solidFill>
                            <a:latin typeface="Cambria Math" panose="02040503050406030204" pitchFamily="18" charset="0"/>
                          </a:rPr>
                          <m:t>𝑞</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dominates.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large </a:t>
                </a:r>
                <a:r>
                  <a:rPr lang="en-IN" sz="2400">
                    <a:solidFill>
                      <a:srgbClr val="78350F"/>
                    </a:solidFill>
                    <a:latin typeface="Cambria Math" panose="02040503050406030204" pitchFamily="18" charset="0"/>
                  </a:rPr>
                  <a:t>$m$</a:t>
                </a:r>
                <a:r>
                  <a:rPr sz="2400" b="0">
                    <a:solidFill>
                      <a:srgbClr val="78350F"/>
                    </a:solidFill>
                    <a:latin typeface="Arial"/>
                  </a:rPr>
                  <a:t> the likelihoods behave like </a:t>
                </a:r>
                <a:r>
                  <a:rPr lang="en-IN" sz="2400">
                    <a:solidFill>
                      <a:srgbClr val="78350F"/>
                    </a:solidFill>
                    <a:latin typeface="Cambria Math" panose="02040503050406030204" pitchFamily="18" charset="0"/>
                  </a:rPr>
                  <a:t>$\binom m{10}c_i\,q_i^{\,m}$</a:t>
                </a:r>
                <a:r>
                  <a:rPr sz="2400" b="0">
                    <a:solidFill>
                      <a:srgbClr val="78350F"/>
                    </a:solidFill>
                    <a:latin typeface="Arial"/>
                  </a:rPr>
                  <a:t> with </a:t>
                </a:r>
                <a:r>
                  <a:rPr lang="en-IN" sz="2400">
                    <a:solidFill>
                      <a:srgbClr val="78350F"/>
                    </a:solidFill>
                    <a:latin typeface="Cambria Math" panose="02040503050406030204" pitchFamily="18" charset="0"/>
                  </a:rPr>
                  <a:t>$q_i=1-p_i$</a:t>
                </a:r>
                <a:r>
                  <a:rPr sz="2400" b="0">
                    <a:solidFill>
                      <a:srgbClr val="78350F"/>
                    </a:solidFill>
                    <a:latin typeface="Arial"/>
                  </a:rPr>
                  <a:t>, so the coin with the largest </a:t>
                </a:r>
                <a:r>
                  <a:rPr lang="en-IN" sz="2400">
                    <a:solidFill>
                      <a:srgbClr val="78350F"/>
                    </a:solidFill>
                    <a:latin typeface="Cambria Math" panose="02040503050406030204" pitchFamily="18" charset="0"/>
                  </a:rPr>
                  <a:t>$q_i$</a:t>
                </a:r>
                <a:r>
                  <a:rPr sz="2400" b="0">
                    <a:solidFill>
                      <a:srgbClr val="78350F"/>
                    </a:solidFill>
                    <a:latin typeface="Arial"/>
                  </a:rPr>
                  <a:t> dominates.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posterior is proportional to the likelihood: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10</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e>
                        </m:d>
                      </m:e>
                      <m:sup>
                        <m:r>
                          <a:rPr lang="en-IN" sz="2400" i="1">
                            <a:solidFill>
                              <a:srgbClr val="111827"/>
                            </a:solidFill>
                            <a:latin typeface="Cambria Math" panose="02040503050406030204" pitchFamily="18" charset="0"/>
                          </a:rPr>
                          <m:t>10</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8</m:t>
                                </m:r>
                              </m:den>
                            </m:f>
                          </m:e>
                        </m:d>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each as constant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𝑞</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(constant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(constant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𝑞</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(constant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8</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ratios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10</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den>
                            </m:f>
                          </m:e>
                        </m:d>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10</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𝑦</m:t>
                        </m:r>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10</m:t>
                                </m:r>
                              </m:sup>
                            </m:sSup>
                          </m:num>
                          <m:den>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10</m:t>
                                </m:r>
                              </m:sup>
                            </m:sSup>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posterior is proportional to the likelihood: </a:t>
                </a:r>
                <a:r>
                  <a:rPr lang="en-IN" sz="2400">
                    <a:solidFill>
                      <a:srgbClr val="111827"/>
                    </a:solidFill>
                    <a:latin typeface="Cambria Math" panose="02040503050406030204" pitchFamily="18" charset="0"/>
                  </a:rPr>
                  <a:t>$x:y:z=\left(\frac12\right)^m:\left(\frac14\right)^{10}\left(\frac34\right)^{m-10}:\left(\frac18\right)^{10}\left(\frac78\right)^{m-10}$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each as constant </a:t>
                </a:r>
                <a:r>
                  <a:rPr lang="en-IN" sz="2400">
                    <a:solidFill>
                      <a:srgbClr val="111827"/>
                    </a:solidFill>
                    <a:latin typeface="Cambria Math" panose="02040503050406030204" pitchFamily="18" charset="0"/>
                  </a:rPr>
                  <a:t>$\times\,q^m$</a:t>
                </a:r>
                <a:r>
                  <a:rPr sz="2400" b="0">
                    <a:solidFill>
                      <a:srgbClr val="111827"/>
                    </a:solidFill>
                    <a:latin typeface="Arial"/>
                  </a:rPr>
                  <a:t>: </a:t>
                </a:r>
                <a:r>
                  <a:rPr lang="en-IN" sz="2400">
                    <a:solidFill>
                      <a:srgbClr val="111827"/>
                    </a:solidFill>
                    <a:latin typeface="Cambria Math" panose="02040503050406030204" pitchFamily="18" charset="0"/>
                  </a:rPr>
                  <a:t>$q_1=\frac12$</a:t>
                </a:r>
                <a:r>
                  <a:rPr sz="2400" b="0">
                    <a:solidFill>
                      <a:srgbClr val="111827"/>
                    </a:solidFill>
                    <a:latin typeface="Arial"/>
                  </a:rPr>
                  <a:t> (constant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$q_2=\frac34$</a:t>
                </a:r>
                <a:r>
                  <a:rPr sz="2400" b="0">
                    <a:solidFill>
                      <a:srgbClr val="111827"/>
                    </a:solidFill>
                    <a:latin typeface="Arial"/>
                  </a:rPr>
                  <a:t> (constant </a:t>
                </a:r>
                <a:r>
                  <a:rPr lang="en-IN" sz="2400">
                    <a:solidFill>
                      <a:srgbClr val="111827"/>
                    </a:solidFill>
                    <a:latin typeface="Cambria Math" panose="02040503050406030204" pitchFamily="18" charset="0"/>
                  </a:rPr>
                  <a:t>$\frac{4^{-10}}{(3/4)^{10}}=3^{-10}$</a:t>
                </a:r>
                <a:r>
                  <a:rPr sz="2400" b="0">
                    <a:solidFill>
                      <a:srgbClr val="111827"/>
                    </a:solidFill>
                    <a:latin typeface="Arial"/>
                  </a:rPr>
                  <a:t>) and </a:t>
                </a:r>
                <a:r>
                  <a:rPr lang="en-IN" sz="2400">
                    <a:solidFill>
                      <a:srgbClr val="111827"/>
                    </a:solidFill>
                    <a:latin typeface="Cambria Math" panose="02040503050406030204" pitchFamily="18" charset="0"/>
                  </a:rPr>
                  <a:t>$q_3=\frac78$</a:t>
                </a:r>
                <a:r>
                  <a:rPr sz="2400" b="0">
                    <a:solidFill>
                      <a:srgbClr val="111827"/>
                    </a:solidFill>
                    <a:latin typeface="Arial"/>
                  </a:rPr>
                  <a:t> (constant </a:t>
                </a:r>
                <a:r>
                  <a:rPr lang="en-IN" sz="2400">
                    <a:solidFill>
                      <a:srgbClr val="111827"/>
                    </a:solidFill>
                    <a:latin typeface="Cambria Math" panose="02040503050406030204" pitchFamily="18" charset="0"/>
                  </a:rPr>
                  <a:t>$\frac{8^{-10}}{(7/8)^{10}}=7^{-10}$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ratios </a:t>
                </a:r>
                <a:r>
                  <a:rPr lang="en-IN" sz="2400">
                    <a:solidFill>
                      <a:srgbClr val="111827"/>
                    </a:solidFill>
                    <a:latin typeface="Cambria Math" panose="02040503050406030204" pitchFamily="18" charset="0"/>
                  </a:rPr>
                  <a:t>$\frac{x}{z}=7^{10}\left(\frac{1/2}{7/8}\right)^m=7^{10}\left(\frac47\right)^m\to0$</a:t>
                </a:r>
                <a:r>
                  <a:rPr sz="2400" b="0">
                    <a:solidFill>
                      <a:srgbClr val="111827"/>
                    </a:solidFill>
                    <a:latin typeface="Arial"/>
                  </a:rPr>
                  <a:t> and </a:t>
                </a:r>
                <a:r>
                  <a:rPr lang="en-IN" sz="2400">
                    <a:solidFill>
                      <a:srgbClr val="111827"/>
                    </a:solidFill>
                    <a:latin typeface="Cambria Math" panose="02040503050406030204" pitchFamily="18" charset="0"/>
                  </a:rPr>
                  <a:t>$\frac yz=\left(\frac{7^{10}}{3^{10}}\right)\left(\frac67\right)^m\to0$</a:t>
                </a:r>
                <a:r>
                  <a:rPr sz="2400" b="0">
                    <a:solidFill>
                      <a:srgbClr val="111827"/>
                    </a:solidFill>
                    <a:latin typeface="Arial"/>
                  </a:rPr>
                  <a:t>, hence </a:t>
                </a:r>
                <a:r>
                  <a:rPr lang="en-IN" sz="2400">
                    <a:solidFill>
                      <a:srgbClr val="111827"/>
                    </a:solidFill>
                    <a:latin typeface="Cambria Math" panose="02040503050406030204" pitchFamily="18" charset="0"/>
                  </a:rPr>
                  <a:t>$x,y\to0$</a:t>
                </a:r>
                <a:r>
                  <a:rPr sz="2400" b="0">
                    <a:solidFill>
                      <a:srgbClr val="111827"/>
                    </a:solidFill>
                    <a:latin typeface="Arial"/>
                  </a:rPr>
                  <a:t> and </a:t>
                </a:r>
                <a:r>
                  <a:rPr lang="en-IN" sz="2400">
                    <a:solidFill>
                      <a:srgbClr val="111827"/>
                    </a:solidFill>
                    <a:latin typeface="Cambria Math" panose="02040503050406030204" pitchFamily="18" charset="0"/>
                  </a:rPr>
                  <a:t>$z=1-x-y\to1$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every factor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likelihoods are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e>
                        </m:d>
                      </m:e>
                      <m:sup>
                        <m:r>
                          <a:rPr lang="en-IN" sz="2400" i="1">
                            <a:solidFill>
                              <a:srgbClr val="111827"/>
                            </a:solidFill>
                            <a:latin typeface="Cambria Math" panose="02040503050406030204" pitchFamily="18" charset="0"/>
                          </a:rPr>
                          <m:t>10</m:t>
                        </m:r>
                      </m:sup>
                    </m:sSup>
                  </m:oMath>
                </a14:m>
                <a:r>
                  <a:rPr sz="2400" b="0">
                    <a:solidFill>
                      <a:srgbClr val="111827"/>
                    </a:solidFill>
                    <a:latin typeface="Arial"/>
                  </a:rPr>
                  <a:t>; multiplying by </a:t>
                </a:r>
                <a14:m>
                  <m:oMath xmlns:m="http://schemas.openxmlformats.org/officeDocument/2006/math">
                    <m:sSup>
                      <m:e>
                        <m:r>
                          <a:rPr lang="en-IN" sz="2400" i="1">
                            <a:solidFill>
                              <a:srgbClr val="111827"/>
                            </a:solidFill>
                            <a:latin typeface="Cambria Math" panose="02040503050406030204" pitchFamily="18" charset="0"/>
                          </a:rPr>
                          <m:t>8</m:t>
                        </m:r>
                      </m:e>
                      <m:sup>
                        <m:r>
                          <a:rPr lang="en-IN" sz="2400" i="1">
                            <a:solidFill>
                              <a:srgbClr val="111827"/>
                            </a:solidFill>
                            <a:latin typeface="Cambria Math" panose="02040503050406030204" pitchFamily="18" charset="0"/>
                          </a:rPr>
                          <m:t>10</m:t>
                        </m:r>
                      </m:sup>
                    </m:sSup>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 (B) follow.</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four options are correct.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$m=10$</a:t>
                </a:r>
                <a:r>
                  <a:rPr sz="2400" b="0">
                    <a:solidFill>
                      <a:srgbClr val="111827"/>
                    </a:solidFill>
                    <a:latin typeface="Arial"/>
                  </a:rPr>
                  <a:t> every factor </a:t>
                </a:r>
                <a:r>
                  <a:rPr lang="en-IN" sz="2400">
                    <a:solidFill>
                      <a:srgbClr val="111827"/>
                    </a:solidFill>
                    <a:latin typeface="Cambria Math" panose="02040503050406030204" pitchFamily="18" charset="0"/>
                  </a:rPr>
                  <a:t>$(1-p)^{m-10}=1$</a:t>
                </a:r>
                <a:r>
                  <a:rPr sz="2400" b="0">
                    <a:solidFill>
                      <a:srgbClr val="111827"/>
                    </a:solidFill>
                    <a:latin typeface="Arial"/>
                  </a:rPr>
                  <a:t>, so the likelihoods are </a:t>
                </a:r>
                <a:r>
                  <a:rPr lang="en-IN" sz="2400">
                    <a:solidFill>
                      <a:srgbClr val="111827"/>
                    </a:solidFill>
                    <a:latin typeface="Cambria Math" panose="02040503050406030204" pitchFamily="18" charset="0"/>
                  </a:rPr>
                  <a:t>$\left(\frac12\right)^{10},\left(\frac14\right)^{10},\left(\frac18\right)^{10}$</a:t>
                </a:r>
                <a:r>
                  <a:rPr sz="2400" b="0">
                    <a:solidFill>
                      <a:srgbClr val="111827"/>
                    </a:solidFill>
                    <a:latin typeface="Arial"/>
                  </a:rPr>
                  <a:t>; multiplying by </a:t>
                </a:r>
                <a:r>
                  <a:rPr lang="en-IN" sz="2400">
                    <a:solidFill>
                      <a:srgbClr val="111827"/>
                    </a:solidFill>
                    <a:latin typeface="Cambria Math" panose="02040503050406030204" pitchFamily="18" charset="0"/>
                  </a:rPr>
                  <a:t>$8^{10}$</a:t>
                </a:r>
                <a:r>
                  <a:rPr sz="2400" b="0">
                    <a:solidFill>
                      <a:srgbClr val="111827"/>
                    </a:solidFill>
                    <a:latin typeface="Arial"/>
                  </a:rPr>
                  <a:t> gives </a:t>
                </a:r>
                <a:r>
                  <a:rPr lang="en-IN" sz="2400">
                    <a:solidFill>
                      <a:srgbClr val="111827"/>
                    </a:solidFill>
                    <a:latin typeface="Cambria Math" panose="02040503050406030204" pitchFamily="18" charset="0"/>
                  </a:rPr>
                  <a:t>$4^{10}:2^{10}:1$</a:t>
                </a:r>
                <a:r>
                  <a:rPr sz="2400" b="0">
                    <a:solidFill>
                      <a:srgbClr val="111827"/>
                    </a:solidFill>
                    <a:latin typeface="Arial"/>
                  </a:rPr>
                  <a:t> and (A), (B) follow.</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four options are correct.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B, C, D)</a:t>
            </a:r>
            <a:endParaRPr sz="2800">
              <a:solidFill>
                <a:srgbClr val="15803D"/>
              </a:solidFill>
            </a:endParaRP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equal priors,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m:rPr>
                            <m:nor/>
                          </m:rPr>
                          <a:rPr lang="en-IN" sz="2400" i="1">
                            <a:solidFill>
                              <a:srgbClr val="111827"/>
                            </a:solidFill>
                            <a:latin typeface="Cambria Math" panose="02040503050406030204" pitchFamily="18" charset="0"/>
                          </a:rPr>
                          <m:t>𝑐𝑜𝑖𝑛</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𝑑𝑎𝑡𝑎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proportional to the likelihood of the data under coin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the binomial coefficient cancels.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fixed number of heads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likelihood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𝑘</m:t>
                            </m:r>
                          </m:den>
                        </m:f>
                      </m:e>
                    </m:d>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oMath>
                </a14:m>
                <a:r>
                  <a:rPr sz="2400" b="0">
                    <a:solidFill>
                      <a:srgbClr val="111827"/>
                    </a:solidFill>
                    <a:latin typeface="Arial"/>
                  </a:rPr>
                  <a:t> is governed by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(when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m:t>
                    </m:r>
                  </m:oMath>
                </a14:m>
                <a:r>
                  <a:rPr sz="2400" b="0">
                    <a:solidFill>
                      <a:srgbClr val="111827"/>
                    </a:solidFill>
                    <a:latin typeface="Arial"/>
                  </a:rPr>
                  <a:t>), so the coin with smallest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takes the whole posterior; 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the exact fractions give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11</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11</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11</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den>
                    </m:f>
                  </m:oMath>
                </a14:m>
                <a:r>
                  <a:rPr sz="2400" b="0">
                    <a:solidFill>
                      <a:srgbClr val="111827"/>
                    </a:solidFill>
                    <a:latin typeface="Arial"/>
                  </a:rPr>
                  <a:t> (verified by direct Bayes).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equal priors, </a:t>
                </a:r>
                <a:r>
                  <a:rPr lang="en-IN" sz="2400">
                    <a:solidFill>
                      <a:srgbClr val="111827"/>
                    </a:solidFill>
                    <a:latin typeface="Cambria Math" panose="02040503050406030204" pitchFamily="18" charset="0"/>
                  </a:rPr>
                  <a:t>$P(\text{coin}_i|\text{data})$</a:t>
                </a:r>
                <a:r>
                  <a:rPr sz="2400" b="0">
                    <a:solidFill>
                      <a:srgbClr val="111827"/>
                    </a:solidFill>
                    <a:latin typeface="Arial"/>
                  </a:rPr>
                  <a:t> is proportional to the likelihood of the data under coin </a:t>
                </a:r>
                <a:r>
                  <a:rPr lang="en-IN" sz="2400">
                    <a:solidFill>
                      <a:srgbClr val="111827"/>
                    </a:solidFill>
                    <a:latin typeface="Cambria Math" panose="02040503050406030204" pitchFamily="18" charset="0"/>
                  </a:rPr>
                  <a:t>$i$</a:t>
                </a:r>
                <a:r>
                  <a:rPr sz="2400" b="0">
                    <a:solidFill>
                      <a:srgbClr val="111827"/>
                    </a:solidFill>
                    <a:latin typeface="Arial"/>
                  </a:rPr>
                  <a:t>; the binomial coefficient cancels.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fixed number of heads </a:t>
                </a:r>
                <a:r>
                  <a:rPr lang="en-IN" sz="2400">
                    <a:solidFill>
                      <a:srgbClr val="111827"/>
                    </a:solidFill>
                    <a:latin typeface="Cambria Math" panose="02040503050406030204" pitchFamily="18" charset="0"/>
                  </a:rPr>
                  <a:t>$k$</a:t>
                </a:r>
                <a:r>
                  <a:rPr sz="2400" b="0">
                    <a:solidFill>
                      <a:srgbClr val="111827"/>
                    </a:solidFill>
                    <a:latin typeface="Arial"/>
                  </a:rPr>
                  <a:t> and </a:t>
                </a:r>
                <a:r>
                  <a:rPr lang="en-IN" sz="2400">
                    <a:solidFill>
                      <a:srgbClr val="111827"/>
                    </a:solidFill>
                    <a:latin typeface="Cambria Math" panose="02040503050406030204" pitchFamily="18" charset="0"/>
                  </a:rPr>
                  <a:t>$m\to\infty$</a:t>
                </a:r>
                <a:r>
                  <a:rPr sz="2400" b="0">
                    <a:solidFill>
                      <a:srgbClr val="111827"/>
                    </a:solidFill>
                    <a:latin typeface="Arial"/>
                  </a:rPr>
                  <a:t>, the likelihood </a:t>
                </a:r>
                <a:r>
                  <a:rPr lang="en-IN" sz="2400">
                    <a:solidFill>
                      <a:srgbClr val="111827"/>
                    </a:solidFill>
                    <a:latin typeface="Cambria Math" panose="02040503050406030204" pitchFamily="18" charset="0"/>
                  </a:rPr>
                  <a:t>$\binom mk p^k(1-p)^{m-k}$</a:t>
                </a:r>
                <a:r>
                  <a:rPr sz="2400" b="0">
                    <a:solidFill>
                      <a:srgbClr val="111827"/>
                    </a:solidFill>
                    <a:latin typeface="Arial"/>
                  </a:rPr>
                  <a:t> is governed by </a:t>
                </a:r>
                <a:r>
                  <a:rPr lang="en-IN" sz="2400">
                    <a:solidFill>
                      <a:srgbClr val="111827"/>
                    </a:solidFill>
                    <a:latin typeface="Cambria Math" panose="02040503050406030204" pitchFamily="18" charset="0"/>
                  </a:rPr>
                  <a:t>$(1-p)^m$</a:t>
                </a:r>
                <a:r>
                  <a:rPr sz="2400" b="0">
                    <a:solidFill>
                      <a:srgbClr val="111827"/>
                    </a:solidFill>
                    <a:latin typeface="Arial"/>
                  </a:rPr>
                  <a:t> (when </a:t>
                </a:r>
                <a:r>
                  <a:rPr lang="en-IN" sz="2400">
                    <a:solidFill>
                      <a:srgbClr val="111827"/>
                    </a:solidFill>
                    <a:latin typeface="Cambria Math" panose="02040503050406030204" pitchFamily="18" charset="0"/>
                  </a:rPr>
                  <a:t>$0&lt;p&lt;1$</a:t>
                </a:r>
                <a:r>
                  <a:rPr sz="2400" b="0">
                    <a:solidFill>
                      <a:srgbClr val="111827"/>
                    </a:solidFill>
                    <a:latin typeface="Arial"/>
                  </a:rPr>
                  <a:t>), so the coin with smallest </a:t>
                </a:r>
                <a:r>
                  <a:rPr lang="en-IN" sz="2400">
                    <a:solidFill>
                      <a:srgbClr val="111827"/>
                    </a:solidFill>
                    <a:latin typeface="Cambria Math" panose="02040503050406030204" pitchFamily="18" charset="0"/>
                  </a:rPr>
                  <a:t>$p$</a:t>
                </a:r>
                <a:r>
                  <a:rPr sz="2400" b="0">
                    <a:solidFill>
                      <a:srgbClr val="111827"/>
                    </a:solidFill>
                    <a:latin typeface="Arial"/>
                  </a:rPr>
                  <a:t> takes the whole posterior; here </a:t>
                </a:r>
                <a:r>
                  <a:rPr lang="en-IN" sz="2400">
                    <a:solidFill>
                      <a:srgbClr val="111827"/>
                    </a:solidFill>
                    <a:latin typeface="Cambria Math" panose="02040503050406030204" pitchFamily="18" charset="0"/>
                  </a:rPr>
                  <a:t>$p=\frac18$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for </a:t>
                </a:r>
                <a:r>
                  <a:rPr lang="en-IN" sz="2400">
                    <a:solidFill>
                      <a:srgbClr val="111827"/>
                    </a:solidFill>
                    <a:latin typeface="Cambria Math" panose="02040503050406030204" pitchFamily="18" charset="0"/>
                  </a:rPr>
                  <a:t>$m=11$</a:t>
                </a:r>
                <a:r>
                  <a:rPr sz="2400" b="0">
                    <a:solidFill>
                      <a:srgbClr val="111827"/>
                    </a:solidFill>
                    <a:latin typeface="Arial"/>
                  </a:rPr>
                  <a:t> the exact fractions give </a:t>
                </a:r>
                <a:r>
                  <a:rPr lang="en-IN" sz="2400">
                    <a:solidFill>
                      <a:srgbClr val="111827"/>
                    </a:solidFill>
                    <a:latin typeface="Cambria Math" panose="02040503050406030204" pitchFamily="18" charset="0"/>
                  </a:rPr>
                  <a:t>$x=\frac{4^{11}}{4^{11}+2^{11}\cdot3+7}$</a:t>
                </a:r>
                <a:r>
                  <a:rPr sz="2400" b="0">
                    <a:solidFill>
                      <a:srgbClr val="111827"/>
                    </a:solidFill>
                    <a:latin typeface="Arial"/>
                  </a:rPr>
                  <a:t> and </a:t>
                </a:r>
                <a:r>
                  <a:rPr lang="en-IN" sz="2400">
                    <a:solidFill>
                      <a:srgbClr val="111827"/>
                    </a:solidFill>
                    <a:latin typeface="Cambria Math" panose="02040503050406030204" pitchFamily="18" charset="0"/>
                  </a:rPr>
                  <a:t>$z=\frac{7}{4^{11}+2^{11}\cdot3+7}$</a:t>
                </a:r>
                <a:r>
                  <a:rPr sz="2400" b="0">
                    <a:solidFill>
                      <a:srgbClr val="111827"/>
                    </a:solidFill>
                    <a:latin typeface="Arial"/>
                  </a:rPr>
                  <a:t> (verified by direct Bayes).</a:t>
                </a:r>
                <a:endParaRPr sz="2400">
                  <a:solidFill>
                    <a:srgbClr val="111827"/>
                  </a:solidFill>
                </a:endParaRPr>
              </a:p>
            </p:txBody>
          </p:sp>
        </mc:Fallback>
      </mc:AlternateContent>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1826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A slip of paper is given to a person </a:t>
                </a:r>
                <a14:m>
                  <m:oMath xmlns:m="http://schemas.openxmlformats.org/officeDocument/2006/math">
                    <m:r>
                      <a:rPr lang="en-IN" sz="2200" i="1">
                        <a:solidFill>
                          <a:srgbClr val="111827"/>
                        </a:solidFill>
                        <a:latin typeface="Cambria Math" panose="02040503050406030204" pitchFamily="18" charset="0"/>
                      </a:rPr>
                      <m:t>𝐴</m:t>
                    </m:r>
                  </m:oMath>
                </a14:m>
                <a:r>
                  <a:rPr sz="2200" b="0">
                    <a:solidFill>
                      <a:srgbClr val="111827"/>
                    </a:solidFill>
                    <a:latin typeface="Arial"/>
                  </a:rPr>
                  <a:t> who marks it with either a plus or a minus sign. The probability of his writing plus is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3</m:t>
                        </m:r>
                      </m:den>
                    </m:f>
                  </m:oMath>
                </a14:m>
                <a:r>
                  <a:rPr sz="2200" b="0">
                    <a:solidFill>
                      <a:srgbClr val="111827"/>
                    </a:solidFill>
                    <a:latin typeface="Arial"/>
                  </a:rPr>
                  <a:t>. </a:t>
                </a:r>
                <a14:m>
                  <m:oMath xmlns:m="http://schemas.openxmlformats.org/officeDocument/2006/math">
                    <m:r>
                      <a:rPr lang="en-IN" sz="2200" i="1">
                        <a:solidFill>
                          <a:srgbClr val="111827"/>
                        </a:solidFill>
                        <a:latin typeface="Cambria Math" panose="02040503050406030204" pitchFamily="18" charset="0"/>
                      </a:rPr>
                      <m:t>𝐴</m:t>
                    </m:r>
                  </m:oMath>
                </a14:m>
                <a:r>
                  <a:rPr sz="2200" b="0">
                    <a:solidFill>
                      <a:srgbClr val="111827"/>
                    </a:solidFill>
                    <a:latin typeface="Arial"/>
                  </a:rPr>
                  <a:t> passes the slip to </a:t>
                </a:r>
                <a14:m>
                  <m:oMath xmlns:m="http://schemas.openxmlformats.org/officeDocument/2006/math">
                    <m:r>
                      <a:rPr lang="en-IN" sz="2200" i="1">
                        <a:solidFill>
                          <a:srgbClr val="111827"/>
                        </a:solidFill>
                        <a:latin typeface="Cambria Math" panose="02040503050406030204" pitchFamily="18" charset="0"/>
                      </a:rPr>
                      <m:t>𝐵</m:t>
                    </m:r>
                  </m:oMath>
                </a14:m>
                <a:r>
                  <a:rPr sz="2200" b="0">
                    <a:solidFill>
                      <a:srgbClr val="111827"/>
                    </a:solidFill>
                    <a:latin typeface="Arial"/>
                  </a:rPr>
                  <a:t> who may either leave it as it is or change the sign before passing it to </a:t>
                </a:r>
                <a14:m>
                  <m:oMath xmlns:m="http://schemas.openxmlformats.org/officeDocument/2006/math">
                    <m:r>
                      <a:rPr lang="en-IN" sz="2200" i="1">
                        <a:solidFill>
                          <a:srgbClr val="111827"/>
                        </a:solidFill>
                        <a:latin typeface="Cambria Math" panose="02040503050406030204" pitchFamily="18" charset="0"/>
                      </a:rPr>
                      <m:t>𝐶</m:t>
                    </m:r>
                  </m:oMath>
                </a14:m>
                <a:r>
                  <a:rPr sz="2200" b="0">
                    <a:solidFill>
                      <a:srgbClr val="111827"/>
                    </a:solidFill>
                    <a:latin typeface="Arial"/>
                  </a:rPr>
                  <a:t>. Similarly </a:t>
                </a:r>
                <a14:m>
                  <m:oMath xmlns:m="http://schemas.openxmlformats.org/officeDocument/2006/math">
                    <m:r>
                      <a:rPr lang="en-IN" sz="2200" i="1">
                        <a:solidFill>
                          <a:srgbClr val="111827"/>
                        </a:solidFill>
                        <a:latin typeface="Cambria Math" panose="02040503050406030204" pitchFamily="18" charset="0"/>
                      </a:rPr>
                      <m:t>𝐶</m:t>
                    </m:r>
                  </m:oMath>
                </a14:m>
                <a:r>
                  <a:rPr sz="2200" b="0">
                    <a:solidFill>
                      <a:srgbClr val="111827"/>
                    </a:solidFill>
                    <a:latin typeface="Arial"/>
                  </a:rPr>
                  <a:t> passes it on to </a:t>
                </a:r>
                <a14:m>
                  <m:oMath xmlns:m="http://schemas.openxmlformats.org/officeDocument/2006/math">
                    <m:r>
                      <a:rPr lang="en-IN" sz="2200" i="1">
                        <a:solidFill>
                          <a:srgbClr val="111827"/>
                        </a:solidFill>
                        <a:latin typeface="Cambria Math" panose="02040503050406030204" pitchFamily="18" charset="0"/>
                      </a:rPr>
                      <m:t>𝐷</m:t>
                    </m:r>
                  </m:oMath>
                </a14:m>
                <a:r>
                  <a:rPr sz="2200" b="0">
                    <a:solidFill>
                      <a:srgbClr val="111827"/>
                    </a:solidFill>
                    <a:latin typeface="Arial"/>
                  </a:rPr>
                  <a:t> and </a:t>
                </a:r>
                <a14:m>
                  <m:oMath xmlns:m="http://schemas.openxmlformats.org/officeDocument/2006/math">
                    <m:r>
                      <a:rPr lang="en-IN" sz="2200" i="1">
                        <a:solidFill>
                          <a:srgbClr val="111827"/>
                        </a:solidFill>
                        <a:latin typeface="Cambria Math" panose="02040503050406030204" pitchFamily="18" charset="0"/>
                      </a:rPr>
                      <m:t>𝐷</m:t>
                    </m:r>
                  </m:oMath>
                </a14:m>
                <a:r>
                  <a:rPr sz="2200" b="0">
                    <a:solidFill>
                      <a:srgbClr val="111827"/>
                    </a:solidFill>
                    <a:latin typeface="Arial"/>
                  </a:rPr>
                  <a:t> passes it to a referee who sees the plus sign on the slip. If </a:t>
                </a:r>
                <a14:m>
                  <m:oMath xmlns:m="http://schemas.openxmlformats.org/officeDocument/2006/math">
                    <m:r>
                      <a:rPr lang="en-IN" sz="2200" i="1">
                        <a:solidFill>
                          <a:srgbClr val="111827"/>
                        </a:solidFill>
                        <a:latin typeface="Cambria Math" panose="02040503050406030204" pitchFamily="18" charset="0"/>
                      </a:rPr>
                      <m:t>𝐵</m:t>
                    </m:r>
                  </m:oMath>
                </a14:m>
                <a:r>
                  <a:rPr sz="2200" b="0">
                    <a:solidFill>
                      <a:srgbClr val="111827"/>
                    </a:solidFill>
                    <a:latin typeface="Arial"/>
                  </a:rPr>
                  <a:t>, </a:t>
                </a:r>
                <a14:m>
                  <m:oMath xmlns:m="http://schemas.openxmlformats.org/officeDocument/2006/math">
                    <m:r>
                      <a:rPr lang="en-IN" sz="2200" i="1">
                        <a:solidFill>
                          <a:srgbClr val="111827"/>
                        </a:solidFill>
                        <a:latin typeface="Cambria Math" panose="02040503050406030204" pitchFamily="18" charset="0"/>
                      </a:rPr>
                      <m:t>𝐶</m:t>
                    </m:r>
                  </m:oMath>
                </a14:m>
                <a:r>
                  <a:rPr sz="2200" b="0">
                    <a:solidFill>
                      <a:srgbClr val="111827"/>
                    </a:solidFill>
                    <a:latin typeface="Arial"/>
                  </a:rPr>
                  <a:t>, </a:t>
                </a:r>
                <a14:m>
                  <m:oMath xmlns:m="http://schemas.openxmlformats.org/officeDocument/2006/math">
                    <m:r>
                      <a:rPr lang="en-IN" sz="2200" i="1">
                        <a:solidFill>
                          <a:srgbClr val="111827"/>
                        </a:solidFill>
                        <a:latin typeface="Cambria Math" panose="02040503050406030204" pitchFamily="18" charset="0"/>
                      </a:rPr>
                      <m:t>𝐷</m:t>
                    </m:r>
                  </m:oMath>
                </a14:m>
                <a:r>
                  <a:rPr sz="2200" b="0">
                    <a:solidFill>
                      <a:srgbClr val="111827"/>
                    </a:solidFill>
                    <a:latin typeface="Arial"/>
                  </a:rPr>
                  <a:t> change the sign with probability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2</m:t>
                        </m:r>
                      </m:num>
                      <m:den>
                        <m:r>
                          <a:rPr lang="en-IN" sz="2200" i="1">
                            <a:solidFill>
                              <a:srgbClr val="111827"/>
                            </a:solidFill>
                            <a:latin typeface="Cambria Math" panose="02040503050406030204" pitchFamily="18" charset="0"/>
                          </a:rPr>
                          <m:t>3</m:t>
                        </m:r>
                      </m:den>
                    </m:f>
                  </m:oMath>
                </a14:m>
                <a:r>
                  <a:rPr sz="2200" b="0">
                    <a:solidFill>
                      <a:srgbClr val="111827"/>
                    </a:solidFill>
                    <a:latin typeface="Arial"/>
                  </a:rPr>
                  <a:t>, the probability that </a:t>
                </a:r>
                <a14:m>
                  <m:oMath xmlns:m="http://schemas.openxmlformats.org/officeDocument/2006/math">
                    <m:r>
                      <a:rPr lang="en-IN" sz="2200" i="1">
                        <a:solidFill>
                          <a:srgbClr val="111827"/>
                        </a:solidFill>
                        <a:latin typeface="Cambria Math" panose="02040503050406030204" pitchFamily="18" charset="0"/>
                      </a:rPr>
                      <m:t>𝐴</m:t>
                    </m:r>
                  </m:oMath>
                </a14:m>
                <a:r>
                  <a:rPr sz="2200" b="0">
                    <a:solidFill>
                      <a:srgbClr val="111827"/>
                    </a:solidFill>
                    <a:latin typeface="Arial"/>
                  </a:rPr>
                  <a:t> originally wrote the plus sign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less than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3</m:t>
                        </m:r>
                      </m:den>
                    </m:f>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(B) greater than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9</m:t>
                        </m:r>
                      </m:num>
                      <m:den>
                        <m:r>
                          <a:rPr lang="en-IN" sz="2200" i="1">
                            <a:solidFill>
                              <a:srgbClr val="111827"/>
                            </a:solidFill>
                            <a:latin typeface="Cambria Math" panose="02040503050406030204" pitchFamily="18" charset="0"/>
                          </a:rPr>
                          <m:t>13</m:t>
                        </m:r>
                      </m:den>
                    </m:f>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(C) less than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13</m:t>
                        </m:r>
                      </m:num>
                      <m:den>
                        <m:r>
                          <a:rPr lang="en-IN" sz="2200" i="1">
                            <a:solidFill>
                              <a:srgbClr val="111827"/>
                            </a:solidFill>
                            <a:latin typeface="Cambria Math" panose="02040503050406030204" pitchFamily="18" charset="0"/>
                          </a:rPr>
                          <m:t>25</m:t>
                        </m:r>
                      </m:den>
                    </m:f>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(D) lies in interval </a:t>
                </a:r>
                <a14:m>
                  <m:oMath xmlns:m="http://schemas.openxmlformats.org/officeDocument/2006/math">
                    <m:d>
                      <m:dPr>
                        <m:begChr m:val="("/>
                        <m:sepChr m:val=""/>
                        <m:endChr m:val=")"/>
                        <m:grow/>
                        <m:ctrlPr>
                          <a:rPr lang="en-IN" sz="2200" i="1">
                            <a:solidFill>
                              <a:srgbClr val="111827"/>
                            </a:solidFill>
                            <a:latin typeface="Cambria Math" panose="02040503050406030204" pitchFamily="18" charset="0"/>
                          </a:rPr>
                        </m:ctrlPr>
                      </m:dPr>
                      <m:e>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4</m:t>
                            </m:r>
                          </m:den>
                        </m:f>
                        <m:r>
                          <m:rPr>
                            <m:sty m:val="p"/>
                          </m:rPr>
                          <a:rPr lang="en-IN" sz="2200">
                            <a:solidFill>
                              <a:srgbClr val="111827"/>
                            </a:solidFill>
                            <a:latin typeface="Cambria Math" panose="02040503050406030204" pitchFamily="18" charset="0"/>
                          </a:rPr>
                          <m:t>,</m:t>
                        </m:r>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2</m:t>
                            </m:r>
                          </m:den>
                        </m:f>
                      </m:e>
                    </m:d>
                  </m:oMath>
                </a14:m>
                <a:endParaRPr sz="2200">
                  <a:solidFill>
                    <a:srgbClr val="111827"/>
                  </a:solidFill>
                </a:endParaRPr>
              </a:p>
            </p:txBody>
          </p:sp>
        </mc:Choice>
        <mc:Fallback>
          <p:sp>
            <p:nvSpPr>
              <p:cNvPr id="4" name="Rounded Rectangle 3"/>
              <p:cNvSpPr/>
              <p:nvPr/>
            </p:nvSpPr>
            <p:spPr>
              <a:xfrm>
                <a:off x="731520" y="1280160"/>
                <a:ext cx="10725912" cy="51826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A slip of paper is given to a person </a:t>
                </a:r>
                <a:r>
                  <a:rPr lang="en-IN" sz="2200">
                    <a:solidFill>
                      <a:srgbClr val="111827"/>
                    </a:solidFill>
                    <a:latin typeface="Cambria Math" panose="02040503050406030204" pitchFamily="18" charset="0"/>
                  </a:rPr>
                  <a:t>$A$</a:t>
                </a:r>
                <a:r>
                  <a:rPr sz="2200" b="0">
                    <a:solidFill>
                      <a:srgbClr val="111827"/>
                    </a:solidFill>
                    <a:latin typeface="Arial"/>
                  </a:rPr>
                  <a:t> who marks it with either a plus or a minus sign. The probability of his writing plus is </a:t>
                </a:r>
                <a:r>
                  <a:rPr lang="en-IN" sz="2200">
                    <a:solidFill>
                      <a:srgbClr val="111827"/>
                    </a:solidFill>
                    <a:latin typeface="Cambria Math" panose="02040503050406030204" pitchFamily="18" charset="0"/>
                  </a:rPr>
                  <a:t>$\frac13$</a:t>
                </a:r>
                <a:r>
                  <a:rPr sz="2200" b="0">
                    <a:solidFill>
                      <a:srgbClr val="111827"/>
                    </a:solidFill>
                    <a:latin typeface="Arial"/>
                  </a:rPr>
                  <a:t>. </a:t>
                </a:r>
                <a:r>
                  <a:rPr lang="en-IN" sz="2200">
                    <a:solidFill>
                      <a:srgbClr val="111827"/>
                    </a:solidFill>
                    <a:latin typeface="Cambria Math" panose="02040503050406030204" pitchFamily="18" charset="0"/>
                  </a:rPr>
                  <a:t>$A$</a:t>
                </a:r>
                <a:r>
                  <a:rPr sz="2200" b="0">
                    <a:solidFill>
                      <a:srgbClr val="111827"/>
                    </a:solidFill>
                    <a:latin typeface="Arial"/>
                  </a:rPr>
                  <a:t> passes the slip to </a:t>
                </a:r>
                <a:r>
                  <a:rPr lang="en-IN" sz="2200">
                    <a:solidFill>
                      <a:srgbClr val="111827"/>
                    </a:solidFill>
                    <a:latin typeface="Cambria Math" panose="02040503050406030204" pitchFamily="18" charset="0"/>
                  </a:rPr>
                  <a:t>$B$</a:t>
                </a:r>
                <a:r>
                  <a:rPr sz="2200" b="0">
                    <a:solidFill>
                      <a:srgbClr val="111827"/>
                    </a:solidFill>
                    <a:latin typeface="Arial"/>
                  </a:rPr>
                  <a:t> who may either leave it as it is or change the sign before passing it to </a:t>
                </a:r>
                <a:r>
                  <a:rPr lang="en-IN" sz="2200">
                    <a:solidFill>
                      <a:srgbClr val="111827"/>
                    </a:solidFill>
                    <a:latin typeface="Cambria Math" panose="02040503050406030204" pitchFamily="18" charset="0"/>
                  </a:rPr>
                  <a:t>$C$</a:t>
                </a:r>
                <a:r>
                  <a:rPr sz="2200" b="0">
                    <a:solidFill>
                      <a:srgbClr val="111827"/>
                    </a:solidFill>
                    <a:latin typeface="Arial"/>
                  </a:rPr>
                  <a:t>. Similarly </a:t>
                </a:r>
                <a:r>
                  <a:rPr lang="en-IN" sz="2200">
                    <a:solidFill>
                      <a:srgbClr val="111827"/>
                    </a:solidFill>
                    <a:latin typeface="Cambria Math" panose="02040503050406030204" pitchFamily="18" charset="0"/>
                  </a:rPr>
                  <a:t>$C$</a:t>
                </a:r>
                <a:r>
                  <a:rPr sz="2200" b="0">
                    <a:solidFill>
                      <a:srgbClr val="111827"/>
                    </a:solidFill>
                    <a:latin typeface="Arial"/>
                  </a:rPr>
                  <a:t> passes it on to </a:t>
                </a:r>
                <a:r>
                  <a:rPr lang="en-IN" sz="2200">
                    <a:solidFill>
                      <a:srgbClr val="111827"/>
                    </a:solidFill>
                    <a:latin typeface="Cambria Math" panose="02040503050406030204" pitchFamily="18" charset="0"/>
                  </a:rPr>
                  <a:t>$D$</a:t>
                </a:r>
                <a:r>
                  <a:rPr sz="2200" b="0">
                    <a:solidFill>
                      <a:srgbClr val="111827"/>
                    </a:solidFill>
                    <a:latin typeface="Arial"/>
                  </a:rPr>
                  <a:t> and </a:t>
                </a:r>
                <a:r>
                  <a:rPr lang="en-IN" sz="2200">
                    <a:solidFill>
                      <a:srgbClr val="111827"/>
                    </a:solidFill>
                    <a:latin typeface="Cambria Math" panose="02040503050406030204" pitchFamily="18" charset="0"/>
                  </a:rPr>
                  <a:t>$D$</a:t>
                </a:r>
                <a:r>
                  <a:rPr sz="2200" b="0">
                    <a:solidFill>
                      <a:srgbClr val="111827"/>
                    </a:solidFill>
                    <a:latin typeface="Arial"/>
                  </a:rPr>
                  <a:t> passes it to a referee who sees the plus sign on the slip. If </a:t>
                </a:r>
                <a:r>
                  <a:rPr lang="en-IN" sz="2200">
                    <a:solidFill>
                      <a:srgbClr val="111827"/>
                    </a:solidFill>
                    <a:latin typeface="Cambria Math" panose="02040503050406030204" pitchFamily="18" charset="0"/>
                  </a:rPr>
                  <a:t>$B$</a:t>
                </a:r>
                <a:r>
                  <a:rPr sz="2200" b="0">
                    <a:solidFill>
                      <a:srgbClr val="111827"/>
                    </a:solidFill>
                    <a:latin typeface="Arial"/>
                  </a:rPr>
                  <a:t>, </a:t>
                </a:r>
                <a:r>
                  <a:rPr lang="en-IN" sz="2200">
                    <a:solidFill>
                      <a:srgbClr val="111827"/>
                    </a:solidFill>
                    <a:latin typeface="Cambria Math" panose="02040503050406030204" pitchFamily="18" charset="0"/>
                  </a:rPr>
                  <a:t>$C$</a:t>
                </a:r>
                <a:r>
                  <a:rPr sz="2200" b="0">
                    <a:solidFill>
                      <a:srgbClr val="111827"/>
                    </a:solidFill>
                    <a:latin typeface="Arial"/>
                  </a:rPr>
                  <a:t>, </a:t>
                </a:r>
                <a:r>
                  <a:rPr lang="en-IN" sz="2200">
                    <a:solidFill>
                      <a:srgbClr val="111827"/>
                    </a:solidFill>
                    <a:latin typeface="Cambria Math" panose="02040503050406030204" pitchFamily="18" charset="0"/>
                  </a:rPr>
                  <a:t>$D$</a:t>
                </a:r>
                <a:r>
                  <a:rPr sz="2200" b="0">
                    <a:solidFill>
                      <a:srgbClr val="111827"/>
                    </a:solidFill>
                    <a:latin typeface="Arial"/>
                  </a:rPr>
                  <a:t> change the sign with probability </a:t>
                </a:r>
                <a:r>
                  <a:rPr lang="en-IN" sz="2200">
                    <a:solidFill>
                      <a:srgbClr val="111827"/>
                    </a:solidFill>
                    <a:latin typeface="Cambria Math" panose="02040503050406030204" pitchFamily="18" charset="0"/>
                  </a:rPr>
                  <a:t>$\frac23$</a:t>
                </a:r>
                <a:r>
                  <a:rPr sz="2200" b="0">
                    <a:solidFill>
                      <a:srgbClr val="111827"/>
                    </a:solidFill>
                    <a:latin typeface="Arial"/>
                  </a:rPr>
                  <a:t>, the probability that </a:t>
                </a:r>
                <a:r>
                  <a:rPr lang="en-IN" sz="2200">
                    <a:solidFill>
                      <a:srgbClr val="111827"/>
                    </a:solidFill>
                    <a:latin typeface="Cambria Math" panose="02040503050406030204" pitchFamily="18" charset="0"/>
                  </a:rPr>
                  <a:t>$A$</a:t>
                </a:r>
                <a:r>
                  <a:rPr sz="2200" b="0">
                    <a:solidFill>
                      <a:srgbClr val="111827"/>
                    </a:solidFill>
                    <a:latin typeface="Arial"/>
                  </a:rPr>
                  <a:t> originally wrote the plus sign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less than </a:t>
                </a:r>
                <a:r>
                  <a:rPr lang="en-IN" sz="2200">
                    <a:solidFill>
                      <a:srgbClr val="111827"/>
                    </a:solidFill>
                    <a:latin typeface="Cambria Math" panose="02040503050406030204" pitchFamily="18" charset="0"/>
                  </a:rPr>
                  <a:t>$\frac13$</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(B) greater than </a:t>
                </a:r>
                <a:r>
                  <a:rPr lang="en-IN" sz="2200">
                    <a:solidFill>
                      <a:srgbClr val="111827"/>
                    </a:solidFill>
                    <a:latin typeface="Cambria Math" panose="02040503050406030204" pitchFamily="18" charset="0"/>
                  </a:rPr>
                  <a:t>$\frac{9}{13}$</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(C) less than </a:t>
                </a:r>
                <a:r>
                  <a:rPr lang="en-IN" sz="2200">
                    <a:solidFill>
                      <a:srgbClr val="111827"/>
                    </a:solidFill>
                    <a:latin typeface="Cambria Math" panose="02040503050406030204" pitchFamily="18" charset="0"/>
                  </a:rPr>
                  <a:t>$\frac{13}{25}$</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(D) lies in interval </a:t>
                </a:r>
                <a:r>
                  <a:rPr lang="en-IN" sz="2200">
                    <a:solidFill>
                      <a:srgbClr val="111827"/>
                    </a:solidFill>
                    <a:latin typeface="Cambria Math" panose="02040503050406030204" pitchFamily="18" charset="0"/>
                  </a:rPr>
                  <a:t>$\left(\frac14,\frac12\right)$</a:t>
                </a:r>
                <a:endParaRPr sz="2200">
                  <a:solidFill>
                    <a:srgbClr val="111827"/>
                  </a:solidFill>
                </a:endParaRPr>
              </a:p>
            </p:txBody>
          </p:sp>
        </mc:Fallback>
      </mc:AlternateContent>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One or more than one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Bayes'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066288"/>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referee sees plus iff an even number of the three people flipped (if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wrote plus) or an odd number flipped (if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wrote minus); then apply Bayes.</a:t>
                </a:r>
                <a:endParaRPr sz="2400">
                  <a:solidFill>
                    <a:srgbClr val="78350F"/>
                  </a:solidFill>
                </a:endParaRPr>
              </a:p>
            </p:txBody>
          </p:sp>
        </mc:Choice>
        <mc:Fallback>
          <p:sp>
            <p:nvSpPr>
              <p:cNvPr id="5" name="Rounded Rectangle 4"/>
              <p:cNvSpPr/>
              <p:nvPr/>
            </p:nvSpPr>
            <p:spPr>
              <a:xfrm>
                <a:off x="731520" y="3066288"/>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referee sees plus iff an even number of the three people flipped (if </a:t>
                </a:r>
                <a:r>
                  <a:rPr lang="en-IN" sz="2400">
                    <a:solidFill>
                      <a:srgbClr val="78350F"/>
                    </a:solidFill>
                    <a:latin typeface="Cambria Math" panose="02040503050406030204" pitchFamily="18" charset="0"/>
                  </a:rPr>
                  <a:t>$A$</a:t>
                </a:r>
                <a:r>
                  <a:rPr sz="2400" b="0">
                    <a:solidFill>
                      <a:srgbClr val="78350F"/>
                    </a:solidFill>
                    <a:latin typeface="Arial"/>
                  </a:rPr>
                  <a:t> wrote plus) or an odd number flipped (if </a:t>
                </a:r>
                <a:r>
                  <a:rPr lang="en-IN" sz="2400">
                    <a:solidFill>
                      <a:srgbClr val="78350F"/>
                    </a:solidFill>
                    <a:latin typeface="Cambria Math" panose="02040503050406030204" pitchFamily="18" charset="0"/>
                  </a:rPr>
                  <a:t>$A$</a:t>
                </a:r>
                <a:r>
                  <a:rPr sz="2400" b="0">
                    <a:solidFill>
                      <a:srgbClr val="78350F"/>
                    </a:solidFill>
                    <a:latin typeface="Arial"/>
                  </a:rPr>
                  <a:t> wrote minus); then apply Bayes.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referee sees plus. Bayes: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nor/>
                      </m:rPr>
                      <a:rPr lang="en-IN" sz="2400" i="1">
                        <a:solidFill>
                          <a:srgbClr val="111827"/>
                        </a:solidFill>
                        <a:latin typeface="Cambria Math" panose="02040503050406030204" pitchFamily="18" charset="0"/>
                      </a:rPr>
                      <m:t> 𝑤𝑟𝑜𝑡𝑒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$E$</a:t>
                </a:r>
                <a:r>
                  <a:rPr sz="2400" b="0">
                    <a:solidFill>
                      <a:srgbClr val="111827"/>
                    </a:solidFill>
                    <a:latin typeface="Arial"/>
                  </a:rPr>
                  <a:t>: referee sees plus. Bayes: </a:t>
                </a:r>
                <a:r>
                  <a:rPr lang="en-IN" sz="2400">
                    <a:solidFill>
                      <a:srgbClr val="111827"/>
                    </a:solidFill>
                    <a:latin typeface="Cambria Math" panose="02040503050406030204" pitchFamily="18" charset="0"/>
                  </a:rPr>
                  <a:t>$P(A\text{ wrote }+|E)=\frac{P(E|A+)P(A+)}{P(E|A+)P(A+)+P(E|A-)P(A-)}$</a:t>
                </a:r>
                <a:r>
                  <a:rPr sz="2400" b="0">
                    <a:solidFill>
                      <a:srgbClr val="111827"/>
                    </a:solidFill>
                    <a:latin typeface="Arial"/>
                  </a:rPr>
                  <a:t> with </a:t>
                </a:r>
                <a:r>
                  <a:rPr lang="en-IN" sz="2400">
                    <a:solidFill>
                      <a:srgbClr val="111827"/>
                    </a:solidFill>
                    <a:latin typeface="Cambria Math" panose="02040503050406030204" pitchFamily="18" charset="0"/>
                  </a:rPr>
                  <a:t>$P(A+)=\frac13$</a:t>
                </a:r>
                <a:r>
                  <a:rPr sz="2400" b="0">
                    <a:solidFill>
                      <a:srgbClr val="111827"/>
                    </a:solidFill>
                    <a:latin typeface="Arial"/>
                  </a:rPr>
                  <a:t>, </a:t>
                </a:r>
                <a:r>
                  <a:rPr lang="en-IN" sz="2400">
                    <a:solidFill>
                      <a:srgbClr val="111827"/>
                    </a:solidFill>
                    <a:latin typeface="Cambria Math" panose="02040503050406030204" pitchFamily="18" charset="0"/>
                  </a:rPr>
                  <a:t>$P(A-)=\frac23$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wrote plus, the referee sees plus when an even number of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change the sign: none change or exactly two change.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wrote minus, the referee sees plus when an odd number change: exactly one or all three change.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27</m:t>
                            </m:r>
                          </m:den>
                        </m:f>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27</m:t>
                            </m:r>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0.317</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a:t>
                </a:r>
                <a:r>
                  <a:rPr sz="2400" b="0">
                    <a:solidFill>
                      <a:srgbClr val="111827"/>
                    </a:solidFill>
                    <a:latin typeface="Arial"/>
                  </a:rPr>
                  <a:t> wrote plus, the referee sees plus when an even number of </a:t>
                </a:r>
                <a:r>
                  <a:rPr lang="en-IN" sz="2400">
                    <a:solidFill>
                      <a:srgbClr val="111827"/>
                    </a:solidFill>
                    <a:latin typeface="Cambria Math" panose="02040503050406030204" pitchFamily="18" charset="0"/>
                  </a:rPr>
                  <a:t>$B,C,D$</a:t>
                </a:r>
                <a:r>
                  <a:rPr sz="2400" b="0">
                    <a:solidFill>
                      <a:srgbClr val="111827"/>
                    </a:solidFill>
                    <a:latin typeface="Arial"/>
                  </a:rPr>
                  <a:t> change the sign: none change or exactly two change.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$P(E|A+)=\left(\frac13\right)^3+3\cdot\left(\frac23\right)^2\cdot\frac13=\frac1{27}+\frac{12}{27}=\frac{13}{27}$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a:t>
                </a:r>
                <a:r>
                  <a:rPr sz="2400" b="0">
                    <a:solidFill>
                      <a:srgbClr val="111827"/>
                    </a:solidFill>
                    <a:latin typeface="Arial"/>
                  </a:rPr>
                  <a:t> wrote minus, the referee sees plus when an odd number change: exactly one or all three change.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$P(E|A-)=3\cdot\frac23\cdot\left(\frac13\right)^2+\left(\frac23\right)^3=\frac6{27}+\frac8{27}=\frac{14}{27}$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$P(A+|E)=\frac{\frac13\cdot\frac{13}{27}}{\frac13\cdot\frac{13}{27}+\frac23\cdot\frac{14}{27}}=\frac{13}{13+28}=\frac{13}{41}\approx0.317$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39</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41</m:t>
                    </m:r>
                  </m:oMath>
                </a14:m>
                <a:r>
                  <a:rPr sz="2400" b="0">
                    <a:solidFill>
                      <a:srgbClr val="111827"/>
                    </a:solidFill>
                    <a:latin typeface="Arial"/>
                  </a:rPr>
                  <a:t>: true.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13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0.69</m:t>
                    </m:r>
                  </m:oMath>
                </a14:m>
                <a:r>
                  <a:rPr sz="2400" b="0">
                    <a:solidFill>
                      <a:srgbClr val="111827"/>
                    </a:solidFill>
                    <a:latin typeface="Arial"/>
                  </a:rPr>
                  <a:t>: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25</m:t>
                        </m:r>
                      </m:den>
                    </m:f>
                  </m:oMath>
                </a14:m>
                <a:r>
                  <a:rPr sz="2400" b="0">
                    <a:solidFill>
                      <a:srgbClr val="111827"/>
                    </a:solidFill>
                    <a:latin typeface="Arial"/>
                  </a:rPr>
                  <a:t>: true.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41</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52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26</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41</m:t>
                    </m:r>
                  </m:oMath>
                </a14:m>
                <a:r>
                  <a:rPr sz="2400" b="0">
                    <a:solidFill>
                      <a:srgbClr val="111827"/>
                    </a:solidFill>
                    <a:latin typeface="Arial"/>
                  </a:rPr>
                  <a:t>: true. Answer (A, C,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$\frac{13}{41}&lt;\frac13$</a:t>
                </a:r>
                <a:r>
                  <a:rPr sz="2400" b="0">
                    <a:solidFill>
                      <a:srgbClr val="111827"/>
                    </a:solidFill>
                    <a:latin typeface="Arial"/>
                  </a:rPr>
                  <a:t> since </a:t>
                </a:r>
                <a:r>
                  <a:rPr lang="en-IN" sz="2400">
                    <a:solidFill>
                      <a:srgbClr val="111827"/>
                    </a:solidFill>
                    <a:latin typeface="Cambria Math" panose="02040503050406030204" pitchFamily="18" charset="0"/>
                  </a:rPr>
                  <a:t>$39&lt;41$</a:t>
                </a:r>
                <a:r>
                  <a:rPr sz="2400" b="0">
                    <a:solidFill>
                      <a:srgbClr val="111827"/>
                    </a:solidFill>
                    <a:latin typeface="Arial"/>
                  </a:rPr>
                  <a:t>: true. (B) </a:t>
                </a:r>
                <a:r>
                  <a:rPr lang="en-IN" sz="2400">
                    <a:solidFill>
                      <a:srgbClr val="111827"/>
                    </a:solidFill>
                    <a:latin typeface="Cambria Math" panose="02040503050406030204" pitchFamily="18" charset="0"/>
                  </a:rPr>
                  <a:t>$\frac{13}{41}&lt;\frac9{13}\approx0.69$</a:t>
                </a:r>
                <a:r>
                  <a:rPr sz="2400" b="0">
                    <a:solidFill>
                      <a:srgbClr val="111827"/>
                    </a:solidFill>
                    <a:latin typeface="Arial"/>
                  </a:rPr>
                  <a:t>: false.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a:t>
                </a:r>
                <a:r>
                  <a:rPr lang="en-IN" sz="2400">
                    <a:solidFill>
                      <a:srgbClr val="111827"/>
                    </a:solidFill>
                    <a:latin typeface="Cambria Math" panose="02040503050406030204" pitchFamily="18" charset="0"/>
                  </a:rPr>
                  <a:t>$\frac{13}{41}&lt;\frac{13}{25}$</a:t>
                </a:r>
                <a:r>
                  <a:rPr sz="2400" b="0">
                    <a:solidFill>
                      <a:srgbClr val="111827"/>
                    </a:solidFill>
                    <a:latin typeface="Arial"/>
                  </a:rPr>
                  <a:t>: true. (D) </a:t>
                </a:r>
                <a:r>
                  <a:rPr lang="en-IN" sz="2400">
                    <a:solidFill>
                      <a:srgbClr val="111827"/>
                    </a:solidFill>
                    <a:latin typeface="Cambria Math" panose="02040503050406030204" pitchFamily="18" charset="0"/>
                  </a:rPr>
                  <a:t>$\frac14&lt;\frac{13}{41}&lt;\frac12$</a:t>
                </a:r>
                <a:r>
                  <a:rPr sz="2400" b="0">
                    <a:solidFill>
                      <a:srgbClr val="111827"/>
                    </a:solidFill>
                    <a:latin typeface="Arial"/>
                  </a:rPr>
                  <a:t> since </a:t>
                </a:r>
                <a:r>
                  <a:rPr lang="en-IN" sz="2400">
                    <a:solidFill>
                      <a:srgbClr val="111827"/>
                    </a:solidFill>
                    <a:latin typeface="Cambria Math" panose="02040503050406030204" pitchFamily="18" charset="0"/>
                  </a:rPr>
                  <a:t>$41&lt;52$</a:t>
                </a:r>
                <a:r>
                  <a:rPr sz="2400" b="0">
                    <a:solidFill>
                      <a:srgbClr val="111827"/>
                    </a:solidFill>
                    <a:latin typeface="Arial"/>
                  </a:rPr>
                  <a:t> and </a:t>
                </a:r>
                <a:r>
                  <a:rPr lang="en-IN" sz="2400">
                    <a:solidFill>
                      <a:srgbClr val="111827"/>
                    </a:solidFill>
                    <a:latin typeface="Cambria Math" panose="02040503050406030204" pitchFamily="18" charset="0"/>
                  </a:rPr>
                  <a:t>$26&lt;41$</a:t>
                </a:r>
                <a:r>
                  <a:rPr sz="2400" b="0">
                    <a:solidFill>
                      <a:srgbClr val="111827"/>
                    </a:solidFill>
                    <a:latin typeface="Arial"/>
                  </a:rPr>
                  <a:t>: true. Answer (A, C,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C, D)</a:t>
            </a:r>
            <a:endParaRPr sz="2800">
              <a:solidFill>
                <a:srgbClr val="15803D"/>
              </a:solidFill>
            </a:endParaRP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Each person acts as a sign multiplier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the probability of an even number of flips among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𝑞</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num>
                      <m:den>
                        <m:r>
                          <a:rPr lang="en-IN" sz="2400" i="1">
                            <a:solidFill>
                              <a:srgbClr val="78350F"/>
                            </a:solidFill>
                            <a:latin typeface="Cambria Math" panose="02040503050406030204" pitchFamily="18" charset="0"/>
                          </a:rPr>
                          <m:t>2</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Each person acts as a sign multiplier </a:t>
                </a:r>
                <a:r>
                  <a:rPr lang="en-IN" sz="2400">
                    <a:solidFill>
                      <a:srgbClr val="78350F"/>
                    </a:solidFill>
                    <a:latin typeface="Cambria Math" panose="02040503050406030204" pitchFamily="18" charset="0"/>
                  </a:rPr>
                  <a:t>$\pm1$</a:t>
                </a:r>
                <a:r>
                  <a:rPr sz="2400" b="0">
                    <a:solidFill>
                      <a:srgbClr val="78350F"/>
                    </a:solidFill>
                    <a:latin typeface="Arial"/>
                  </a:rPr>
                  <a:t>; the probability of an even number of flips among </a:t>
                </a:r>
                <a:r>
                  <a:rPr lang="en-IN" sz="2400">
                    <a:solidFill>
                      <a:srgbClr val="78350F"/>
                    </a:solidFill>
                    <a:latin typeface="Cambria Math" panose="02040503050406030204" pitchFamily="18" charset="0"/>
                  </a:rPr>
                  <a:t>$n$</a:t>
                </a:r>
                <a:r>
                  <a:rPr sz="2400" b="0">
                    <a:solidFill>
                      <a:srgbClr val="78350F"/>
                    </a:solidFill>
                    <a:latin typeface="Arial"/>
                  </a:rPr>
                  <a:t> is </a:t>
                </a:r>
                <a:r>
                  <a:rPr lang="en-IN" sz="2400">
                    <a:solidFill>
                      <a:srgbClr val="78350F"/>
                    </a:solidFill>
                    <a:latin typeface="Cambria Math" panose="02040503050406030204" pitchFamily="18" charset="0"/>
                  </a:rPr>
                  <a:t>$\frac{1+(1-2q)^n}{2}$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be the flip probability. The final sign equals the original sign iff the number of flips among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is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𝑓𝑙𝑖𝑝𝑠</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𝑒𝑣𝑒𝑛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𝑜𝑑𝑑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$q=\frac23$</a:t>
                </a:r>
                <a:r>
                  <a:rPr sz="2400" b="0">
                    <a:solidFill>
                      <a:srgbClr val="111827"/>
                    </a:solidFill>
                    <a:latin typeface="Arial"/>
                  </a:rPr>
                  <a:t> be the flip probability. The final sign equals the original sign iff the number of flips among </a:t>
                </a:r>
                <a:r>
                  <a:rPr lang="en-IN" sz="2400">
                    <a:solidFill>
                      <a:srgbClr val="111827"/>
                    </a:solidFill>
                    <a:latin typeface="Cambria Math" panose="02040503050406030204" pitchFamily="18" charset="0"/>
                  </a:rPr>
                  <a:t>$B,C,D$</a:t>
                </a:r>
                <a:r>
                  <a:rPr sz="2400" b="0">
                    <a:solidFill>
                      <a:srgbClr val="111827"/>
                    </a:solidFill>
                    <a:latin typeface="Arial"/>
                  </a:rPr>
                  <a:t> is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$E[(-1)^{\#\text{flips}}]=(1-2q)^3=\left(-\frac13\right)^3=-\frac1{27}$</a:t>
                </a:r>
                <a:r>
                  <a:rPr sz="2400" b="0">
                    <a:solidFill>
                      <a:srgbClr val="111827"/>
                    </a:solidFill>
                    <a:latin typeface="Arial"/>
                  </a:rPr>
                  <a:t>, so </a:t>
                </a:r>
                <a:r>
                  <a:rPr lang="en-IN" sz="2400">
                    <a:solidFill>
                      <a:srgbClr val="111827"/>
                    </a:solidFill>
                    <a:latin typeface="Cambria Math" panose="02040503050406030204" pitchFamily="18" charset="0"/>
                  </a:rPr>
                  <a:t>$P(\text{even})=\frac{1+(-1/27)}{2}=\frac{13}{27}$</a:t>
                </a:r>
                <a:r>
                  <a:rPr sz="2400" b="0">
                    <a:solidFill>
                      <a:srgbClr val="111827"/>
                    </a:solidFill>
                    <a:latin typeface="Arial"/>
                  </a:rPr>
                  <a:t> and </a:t>
                </a:r>
                <a:r>
                  <a:rPr lang="en-IN" sz="2400">
                    <a:solidFill>
                      <a:srgbClr val="111827"/>
                    </a:solidFill>
                    <a:latin typeface="Cambria Math" panose="02040503050406030204" pitchFamily="18" charset="0"/>
                  </a:rPr>
                  <a:t>$P(\text{odd})=\frac{14}{27}$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Referee sees plus: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m:t>
                        </m:r>
                      </m:num>
                      <m:den>
                        <m:r>
                          <a:rPr lang="en-IN" sz="2400" i="1">
                            <a:solidFill>
                              <a:srgbClr val="111827"/>
                            </a:solidFill>
                            <a:latin typeface="Cambria Math" panose="02040503050406030204" pitchFamily="18" charset="0"/>
                          </a:rPr>
                          <m:t>81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41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oMath>
                </a14:m>
                <a:r>
                  <a:rPr sz="2400" b="0">
                    <a:solidFill>
                      <a:srgbClr val="111827"/>
                    </a:solidFill>
                    <a:latin typeface="Arial"/>
                  </a:rPr>
                  <a:t>, giving the same options (A, C, 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Referee sees plus: </a:t>
                </a:r>
                <a:r>
                  <a:rPr lang="en-IN" sz="2400">
                    <a:solidFill>
                      <a:srgbClr val="111827"/>
                    </a:solidFill>
                    <a:latin typeface="Cambria Math" panose="02040503050406030204" pitchFamily="18" charset="0"/>
                  </a:rPr>
                  <a:t>$P(E)=\frac13\cdot\frac{13}{27}+\frac23\cdot\frac{14}{27}=\frac{41}{81}$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$P(A+|E)=\frac{13/81}{41/81}=\frac{13}{41}$</a:t>
                </a:r>
                <a:r>
                  <a:rPr sz="2400" b="0">
                    <a:solidFill>
                      <a:srgbClr val="111827"/>
                    </a:solidFill>
                    <a:latin typeface="Arial"/>
                  </a:rPr>
                  <a:t>, giving the same options (A, C, 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C, D)</a:t>
            </a:r>
            <a:endParaRPr sz="2800">
              <a:solidFill>
                <a:srgbClr val="15803D"/>
              </a:solidFill>
            </a:endParaRP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49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independent flips each with probability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𝑒𝑣𝑒𝑛 𝑛𝑢𝑚𝑏𝑒𝑟 𝑜𝑓 𝑓𝑙𝑖𝑝𝑠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chain of binary symmetric 'noisy channels' acts as one channel with flip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Bayes with a two-point prior: posterior odds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prior odds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likelihood ratio;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14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28</m:t>
                        </m:r>
                      </m:den>
                    </m:f>
                  </m:oMath>
                </a14:m>
                <a:r>
                  <a:rPr sz="2400" b="0">
                    <a:solidFill>
                      <a:srgbClr val="111827"/>
                    </a:solidFill>
                    <a:latin typeface="Arial"/>
                  </a:rPr>
                  <a:t>, so posterior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41</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a:t>
                </a:r>
                <a:r>
                  <a:rPr sz="2400" b="0">
                    <a:solidFill>
                      <a:srgbClr val="111827"/>
                    </a:solidFill>
                    <a:latin typeface="Arial"/>
                  </a:rPr>
                  <a:t> independent flips each with probability </a:t>
                </a:r>
                <a:r>
                  <a:rPr lang="en-IN" sz="2400">
                    <a:solidFill>
                      <a:srgbClr val="111827"/>
                    </a:solidFill>
                    <a:latin typeface="Cambria Math" panose="02040503050406030204" pitchFamily="18" charset="0"/>
                  </a:rPr>
                  <a:t>$q$</a:t>
                </a:r>
                <a:r>
                  <a:rPr sz="2400" b="0">
                    <a:solidFill>
                      <a:srgbClr val="111827"/>
                    </a:solidFill>
                    <a:latin typeface="Arial"/>
                  </a:rPr>
                  <a:t>, </a:t>
                </a:r>
                <a:r>
                  <a:rPr lang="en-IN" sz="2400">
                    <a:solidFill>
                      <a:srgbClr val="111827"/>
                    </a:solidFill>
                    <a:latin typeface="Cambria Math" panose="02040503050406030204" pitchFamily="18" charset="0"/>
                  </a:rPr>
                  <a:t>$P(\text{even number of flips})=\frac{1+(1-2q)^n}{2}$</a:t>
                </a:r>
                <a:r>
                  <a:rPr sz="2400" b="0">
                    <a:solidFill>
                      <a:srgbClr val="111827"/>
                    </a:solidFill>
                    <a:latin typeface="Arial"/>
                  </a:rPr>
                  <a:t> (here </a:t>
                </a:r>
                <a:r>
                  <a:rPr lang="en-IN" sz="2400">
                    <a:solidFill>
                      <a:srgbClr val="111827"/>
                    </a:solidFill>
                    <a:latin typeface="Cambria Math" panose="02040503050406030204" pitchFamily="18" charset="0"/>
                  </a:rPr>
                  <a:t>$q=\frac23$</a:t>
                </a:r>
                <a:r>
                  <a:rPr sz="2400" b="0">
                    <a:solidFill>
                      <a:srgbClr val="111827"/>
                    </a:solidFill>
                    <a:latin typeface="Arial"/>
                  </a:rPr>
                  <a:t>, </a:t>
                </a:r>
                <a:r>
                  <a:rPr lang="en-IN" sz="2400">
                    <a:solidFill>
                      <a:srgbClr val="111827"/>
                    </a:solidFill>
                    <a:latin typeface="Cambria Math" panose="02040503050406030204" pitchFamily="18" charset="0"/>
                  </a:rPr>
                  <a:t>$n=3$</a:t>
                </a:r>
                <a:r>
                  <a:rPr sz="2400" b="0">
                    <a:solidFill>
                      <a:srgbClr val="111827"/>
                    </a:solidFill>
                    <a:latin typeface="Arial"/>
                  </a:rPr>
                  <a:t> gives </a:t>
                </a:r>
                <a:r>
                  <a:rPr lang="en-IN" sz="2400">
                    <a:solidFill>
                      <a:srgbClr val="111827"/>
                    </a:solidFill>
                    <a:latin typeface="Cambria Math" panose="02040503050406030204" pitchFamily="18" charset="0"/>
                  </a:rPr>
                  <a:t>$\frac{13}{27}$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chain of binary symmetric 'noisy channels' acts as one channel with flip probability </a:t>
                </a:r>
                <a:r>
                  <a:rPr lang="en-IN" sz="2400">
                    <a:solidFill>
                      <a:srgbClr val="111827"/>
                    </a:solidFill>
                    <a:latin typeface="Cambria Math" panose="02040503050406030204" pitchFamily="18" charset="0"/>
                  </a:rPr>
                  <a:t>$\frac{1-(1-2q)^n}{2}$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Bayes with a two-point prior: posterior odds </a:t>
                </a:r>
                <a:r>
                  <a:rPr lang="en-IN" sz="2400">
                    <a:solidFill>
                      <a:srgbClr val="111827"/>
                    </a:solidFill>
                    <a:latin typeface="Cambria Math" panose="02040503050406030204" pitchFamily="18" charset="0"/>
                  </a:rPr>
                  <a:t>$=$</a:t>
                </a:r>
                <a:r>
                  <a:rPr sz="2400" b="0">
                    <a:solidFill>
                      <a:srgbClr val="111827"/>
                    </a:solidFill>
                    <a:latin typeface="Arial"/>
                  </a:rPr>
                  <a:t> prior odds </a:t>
                </a:r>
                <a:r>
                  <a:rPr lang="en-IN" sz="2400">
                    <a:solidFill>
                      <a:srgbClr val="111827"/>
                    </a:solidFill>
                    <a:latin typeface="Cambria Math" panose="02040503050406030204" pitchFamily="18" charset="0"/>
                  </a:rPr>
                  <a:t>$\times$</a:t>
                </a:r>
                <a:r>
                  <a:rPr sz="2400" b="0">
                    <a:solidFill>
                      <a:srgbClr val="111827"/>
                    </a:solidFill>
                    <a:latin typeface="Arial"/>
                  </a:rPr>
                  <a:t> likelihood ratio; here </a:t>
                </a:r>
                <a:r>
                  <a:rPr lang="en-IN" sz="2400">
                    <a:solidFill>
                      <a:srgbClr val="111827"/>
                    </a:solidFill>
                    <a:latin typeface="Cambria Math" panose="02040503050406030204" pitchFamily="18" charset="0"/>
                  </a:rPr>
                  <a:t>$\frac{1/3}{2/3}\cdot\frac{13}{14}=\frac{13}{28}$</a:t>
                </a:r>
                <a:r>
                  <a:rPr sz="2400" b="0">
                    <a:solidFill>
                      <a:srgbClr val="111827"/>
                    </a:solidFill>
                    <a:latin typeface="Arial"/>
                  </a:rPr>
                  <a:t>, so posterior </a:t>
                </a:r>
                <a:r>
                  <a:rPr lang="en-IN" sz="2400">
                    <a:solidFill>
                      <a:srgbClr val="111827"/>
                    </a:solidFill>
                    <a:latin typeface="Cambria Math" panose="02040503050406030204" pitchFamily="18" charset="0"/>
                  </a:rPr>
                  <a:t>$=\frac{13}{41}$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3</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Paragraph Based Single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Q50 – Q61</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3 marks each</a:t>
            </a:r>
            <a:endParaRPr sz="2800">
              <a:solidFill>
                <a:srgbClr val="FFFFFF"/>
              </a:solidFill>
            </a:endParaRP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604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equation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Let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be the imaginary roots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be the real root of the given equation. Let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form alternate vertices of a regular hexagon and let the remaining three vertices be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On the basis of the above information, answer the following questions: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area of the triangle formed by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endParaRPr sz="2400">
                  <a:solidFill>
                    <a:srgbClr val="111827"/>
                  </a:solidFill>
                </a:endParaRPr>
              </a:p>
            </p:txBody>
          </p:sp>
        </mc:Choice>
        <mc:Fallback>
          <p:sp>
            <p:nvSpPr>
              <p:cNvPr id="4" name="Rounded Rectangle 3"/>
              <p:cNvSpPr/>
              <p:nvPr/>
            </p:nvSpPr>
            <p:spPr>
              <a:xfrm>
                <a:off x="731520" y="1280160"/>
                <a:ext cx="10725912" cy="336041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equation </a:t>
                </a:r>
                <a:r>
                  <a:rPr lang="en-IN" sz="2400">
                    <a:solidFill>
                      <a:srgbClr val="111827"/>
                    </a:solidFill>
                    <a:latin typeface="Cambria Math" panose="02040503050406030204" pitchFamily="18" charset="0"/>
                  </a:rPr>
                  <a:t>$x^3+x^2-x+2=0$</a:t>
                </a:r>
                <a:r>
                  <a:rPr sz="2400" b="0">
                    <a:solidFill>
                      <a:srgbClr val="111827"/>
                    </a:solidFill>
                    <a:latin typeface="Arial"/>
                  </a:rPr>
                  <a:t>. Let </a:t>
                </a:r>
                <a:r>
                  <a:rPr lang="en-IN" sz="2400">
                    <a:solidFill>
                      <a:srgbClr val="111827"/>
                    </a:solidFill>
                    <a:latin typeface="Cambria Math" panose="02040503050406030204" pitchFamily="18" charset="0"/>
                  </a:rPr>
                  <a:t>$z_1$</a:t>
                </a:r>
                <a:r>
                  <a:rPr sz="2400" b="0">
                    <a:solidFill>
                      <a:srgbClr val="111827"/>
                    </a:solidFill>
                    <a:latin typeface="Arial"/>
                  </a:rPr>
                  <a:t> and </a:t>
                </a:r>
                <a:r>
                  <a:rPr lang="en-IN" sz="2400">
                    <a:solidFill>
                      <a:srgbClr val="111827"/>
                    </a:solidFill>
                    <a:latin typeface="Cambria Math" panose="02040503050406030204" pitchFamily="18" charset="0"/>
                  </a:rPr>
                  <a:t>$z_2$</a:t>
                </a:r>
                <a:r>
                  <a:rPr sz="2400" b="0">
                    <a:solidFill>
                      <a:srgbClr val="111827"/>
                    </a:solidFill>
                    <a:latin typeface="Arial"/>
                  </a:rPr>
                  <a:t> be the imaginary roots and </a:t>
                </a:r>
                <a:r>
                  <a:rPr lang="en-IN" sz="2400">
                    <a:solidFill>
                      <a:srgbClr val="111827"/>
                    </a:solidFill>
                    <a:latin typeface="Cambria Math" panose="02040503050406030204" pitchFamily="18" charset="0"/>
                  </a:rPr>
                  <a:t>$z_3$</a:t>
                </a:r>
                <a:r>
                  <a:rPr sz="2400" b="0">
                    <a:solidFill>
                      <a:srgbClr val="111827"/>
                    </a:solidFill>
                    <a:latin typeface="Arial"/>
                  </a:rPr>
                  <a:t> be the real root of the given equation. Let </a:t>
                </a:r>
                <a:r>
                  <a:rPr lang="en-IN" sz="2400">
                    <a:solidFill>
                      <a:srgbClr val="111827"/>
                    </a:solidFill>
                    <a:latin typeface="Cambria Math" panose="02040503050406030204" pitchFamily="18" charset="0"/>
                  </a:rPr>
                  <a:t>$2z_1,2z_2$</a:t>
                </a:r>
                <a:r>
                  <a:rPr sz="2400" b="0">
                    <a:solidFill>
                      <a:srgbClr val="111827"/>
                    </a:solidFill>
                    <a:latin typeface="Arial"/>
                  </a:rPr>
                  <a:t> and </a:t>
                </a:r>
                <a:r>
                  <a:rPr lang="en-IN" sz="2400">
                    <a:solidFill>
                      <a:srgbClr val="111827"/>
                    </a:solidFill>
                    <a:latin typeface="Cambria Math" panose="02040503050406030204" pitchFamily="18" charset="0"/>
                  </a:rPr>
                  <a:t>$z_3$</a:t>
                </a:r>
                <a:r>
                  <a:rPr sz="2400" b="0">
                    <a:solidFill>
                      <a:srgbClr val="111827"/>
                    </a:solidFill>
                    <a:latin typeface="Arial"/>
                  </a:rPr>
                  <a:t> form alternate vertices of a regular hexagon and let the remaining three vertices be </a:t>
                </a:r>
                <a:r>
                  <a:rPr lang="en-IN" sz="2400">
                    <a:solidFill>
                      <a:srgbClr val="111827"/>
                    </a:solidFill>
                    <a:latin typeface="Cambria Math" panose="02040503050406030204" pitchFamily="18" charset="0"/>
                  </a:rPr>
                  <a:t>$\alpha,\beta,\gamma$</a:t>
                </a:r>
                <a:r>
                  <a:rPr sz="2400" b="0">
                    <a:solidFill>
                      <a:srgbClr val="111827"/>
                    </a:solidFill>
                    <a:latin typeface="Arial"/>
                  </a:rPr>
                  <a:t>. On the basis of the above information, answer the following questions: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area of the triangle formed by </a:t>
                </a:r>
                <a:r>
                  <a:rPr lang="en-IN" sz="2400">
                    <a:solidFill>
                      <a:srgbClr val="111827"/>
                    </a:solidFill>
                    <a:latin typeface="Cambria Math" panose="02040503050406030204" pitchFamily="18" charset="0"/>
                  </a:rPr>
                  <a:t>$z_1,z_2$</a:t>
                </a:r>
                <a:r>
                  <a:rPr sz="2400" b="0">
                    <a:solidFill>
                      <a:srgbClr val="111827"/>
                    </a:solidFill>
                    <a:latin typeface="Arial"/>
                  </a:rPr>
                  <a:t> and </a:t>
                </a:r>
                <a:r>
                  <a:rPr lang="en-IN" sz="2400">
                    <a:solidFill>
                      <a:srgbClr val="111827"/>
                    </a:solidFill>
                    <a:latin typeface="Cambria Math" panose="02040503050406030204" pitchFamily="18" charset="0"/>
                  </a:rPr>
                  <a:t>$z_3$</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$\frac{5}{\sqrt3}$</a:t>
                </a:r>
                <a:r>
                  <a:rPr sz="2400" b="0">
                    <a:solidFill>
                      <a:srgbClr val="111827"/>
                    </a:solidFill>
                    <a:latin typeface="Arial"/>
                  </a:rPr>
                  <a:t>   (B) </a:t>
                </a:r>
                <a:r>
                  <a:rPr lang="en-IN" sz="2400">
                    <a:solidFill>
                      <a:srgbClr val="111827"/>
                    </a:solidFill>
                    <a:latin typeface="Cambria Math" panose="02040503050406030204" pitchFamily="18" charset="0"/>
                  </a:rPr>
                  <a:t>$\frac{5\sqrt3}{2}$</a:t>
                </a:r>
                <a:r>
                  <a:rPr sz="2400" b="0">
                    <a:solidFill>
                      <a:srgbClr val="111827"/>
                    </a:solidFill>
                    <a:latin typeface="Arial"/>
                  </a:rPr>
                  <a:t>   (C) </a:t>
                </a:r>
                <a:r>
                  <a:rPr lang="en-IN" sz="2400">
                    <a:solidFill>
                      <a:srgbClr val="111827"/>
                    </a:solidFill>
                    <a:latin typeface="Cambria Math" panose="02040503050406030204" pitchFamily="18" charset="0"/>
                  </a:rPr>
                  <a:t>$\frac{5\sqrt3}{4}$</a:t>
                </a:r>
                <a:r>
                  <a:rPr sz="2400" b="0">
                    <a:solidFill>
                      <a:srgbClr val="111827"/>
                    </a:solidFill>
                    <a:latin typeface="Arial"/>
                  </a:rPr>
                  <a:t>   (D) </a:t>
                </a:r>
                <a:r>
                  <a:rPr lang="en-IN" sz="2400">
                    <a:solidFill>
                      <a:srgbClr val="111827"/>
                    </a:solidFill>
                    <a:latin typeface="Cambria Math" panose="02040503050406030204" pitchFamily="18" charset="0"/>
                  </a:rPr>
                  <a:t>$5\sqrt3$</a:t>
                </a:r>
                <a:endParaRPr sz="2400">
                  <a:solidFill>
                    <a:srgbClr val="111827"/>
                  </a:solidFill>
                </a:endParaRPr>
              </a:p>
            </p:txBody>
          </p:sp>
        </mc:Fallback>
      </mc:AlternateContent>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a cubic equation, Complex numbers: geometry of points and area of a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Factor the cubic as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then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num>
                      <m:den>
                        <m:r>
                          <a:rPr lang="en-IN" sz="2400" i="1">
                            <a:solidFill>
                              <a:srgbClr val="78350F"/>
                            </a:solidFill>
                            <a:latin typeface="Cambria Math" panose="02040503050406030204" pitchFamily="18" charset="0"/>
                          </a:rPr>
                          <m:t>2</m:t>
                        </m:r>
                      </m:den>
                    </m:f>
                    <m:r>
                      <a:rPr lang="en-IN" sz="2400" i="1">
                        <a:solidFill>
                          <a:srgbClr val="78350F"/>
                        </a:solidFill>
                        <a:latin typeface="Cambria Math" panose="02040503050406030204" pitchFamily="18" charset="0"/>
                      </a:rPr>
                      <m:t>𝑖</m:t>
                    </m:r>
                  </m:oMath>
                </a14:m>
                <a:r>
                  <a:rPr sz="2400" b="0">
                    <a:solidFill>
                      <a:srgbClr val="78350F"/>
                    </a:solidFill>
                    <a:latin typeface="Arial"/>
                  </a:rPr>
                  <a:t> form a vertical side of length </a:t>
                </a:r>
                <a14:m>
                  <m:oMath xmlns:m="http://schemas.openxmlformats.org/officeDocument/2006/math">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5</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away.</a:t>
                </a:r>
                <a:endParaRPr sz="2400">
                  <a:solidFill>
                    <a:srgbClr val="78350F"/>
                  </a:solidFill>
                </a:endParaRPr>
              </a:p>
            </p:txBody>
          </p:sp>
        </mc:Choice>
        <mc:Fallback>
          <p:sp>
            <p:nvSpPr>
              <p:cNvPr id="5" name="Rounded Rectangle 4"/>
              <p:cNvSpPr/>
              <p:nvPr/>
            </p:nvSpPr>
            <p:spPr>
              <a:xfrm>
                <a:off x="731520" y="3657600"/>
                <a:ext cx="10725912" cy="181051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Factor the cubic as </a:t>
                </a:r>
                <a:r>
                  <a:rPr lang="en-IN" sz="2400">
                    <a:solidFill>
                      <a:srgbClr val="78350F"/>
                    </a:solidFill>
                    <a:latin typeface="Cambria Math" panose="02040503050406030204" pitchFamily="18" charset="0"/>
                  </a:rPr>
                  <a:t>$(x+2)(x^2-x+1)$</a:t>
                </a:r>
                <a:r>
                  <a:rPr sz="2400" b="0">
                    <a:solidFill>
                      <a:srgbClr val="78350F"/>
                    </a:solidFill>
                    <a:latin typeface="Arial"/>
                  </a:rPr>
                  <a:t>; then </a:t>
                </a:r>
                <a:r>
                  <a:rPr lang="en-IN" sz="2400">
                    <a:solidFill>
                      <a:srgbClr val="78350F"/>
                    </a:solidFill>
                    <a:latin typeface="Cambria Math" panose="02040503050406030204" pitchFamily="18" charset="0"/>
                  </a:rPr>
                  <a:t>$z_{1,2}=\frac12\pm\frac{\sqrt3}{2}i$</a:t>
                </a:r>
                <a:r>
                  <a:rPr sz="2400" b="0">
                    <a:solidFill>
                      <a:srgbClr val="78350F"/>
                    </a:solidFill>
                    <a:latin typeface="Arial"/>
                  </a:rPr>
                  <a:t> form a vertical side of length </a:t>
                </a:r>
                <a:r>
                  <a:rPr lang="en-IN" sz="2400">
                    <a:solidFill>
                      <a:srgbClr val="78350F"/>
                    </a:solidFill>
                    <a:latin typeface="Cambria Math" panose="02040503050406030204" pitchFamily="18" charset="0"/>
                  </a:rPr>
                  <a:t>$\sqrt3$</a:t>
                </a:r>
                <a:r>
                  <a:rPr sz="2400" b="0">
                    <a:solidFill>
                      <a:srgbClr val="78350F"/>
                    </a:solidFill>
                    <a:latin typeface="Arial"/>
                  </a:rPr>
                  <a:t> and </a:t>
                </a:r>
                <a:r>
                  <a:rPr lang="en-IN" sz="2400">
                    <a:solidFill>
                      <a:srgbClr val="78350F"/>
                    </a:solidFill>
                    <a:latin typeface="Cambria Math" panose="02040503050406030204" pitchFamily="18" charset="0"/>
                  </a:rPr>
                  <a:t>$z_3=-2$</a:t>
                </a:r>
                <a:r>
                  <a:rPr sz="2400" b="0">
                    <a:solidFill>
                      <a:srgbClr val="78350F"/>
                    </a:solidFill>
                    <a:latin typeface="Arial"/>
                  </a:rPr>
                  <a:t> is </a:t>
                </a:r>
                <a:r>
                  <a:rPr lang="en-IN" sz="2400">
                    <a:solidFill>
                      <a:srgbClr val="78350F"/>
                    </a:solidFill>
                    <a:latin typeface="Cambria Math" panose="02040503050406030204" pitchFamily="18" charset="0"/>
                  </a:rPr>
                  <a:t>$\frac52$</a:t>
                </a:r>
                <a:r>
                  <a:rPr sz="2400" b="0">
                    <a:solidFill>
                      <a:srgbClr val="78350F"/>
                    </a:solidFill>
                    <a:latin typeface="Arial"/>
                  </a:rPr>
                  <a:t> away.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605272"/>
                <a:ext cx="10725912" cy="106984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Test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the real root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605272"/>
                <a:ext cx="10725912" cy="106984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Test </a:t>
                </a:r>
                <a:r>
                  <a:rPr lang="en-IN" sz="2400">
                    <a:solidFill>
                      <a:srgbClr val="111827"/>
                    </a:solidFill>
                    <a:latin typeface="Cambria Math" panose="02040503050406030204" pitchFamily="18" charset="0"/>
                  </a:rPr>
                  <a:t>$x=-2$</a:t>
                </a:r>
                <a:r>
                  <a:rPr sz="2400" b="0">
                    <a:solidFill>
                      <a:srgbClr val="111827"/>
                    </a:solidFill>
                    <a:latin typeface="Arial"/>
                  </a:rPr>
                  <a:t>: </a:t>
                </a:r>
                <a:r>
                  <a:rPr lang="en-IN" sz="2400">
                    <a:solidFill>
                      <a:srgbClr val="111827"/>
                    </a:solidFill>
                    <a:latin typeface="Cambria Math" panose="02040503050406030204" pitchFamily="18" charset="0"/>
                  </a:rPr>
                  <a:t>$-8+4+2+2=0$</a:t>
                </a:r>
                <a:r>
                  <a:rPr sz="2400" b="0">
                    <a:solidFill>
                      <a:srgbClr val="111827"/>
                    </a:solidFill>
                    <a:latin typeface="Arial"/>
                  </a:rPr>
                  <a:t>, so </a:t>
                </a:r>
                <a:r>
                  <a:rPr lang="en-IN" sz="2400">
                    <a:solidFill>
                      <a:srgbClr val="111827"/>
                    </a:solidFill>
                    <a:latin typeface="Cambria Math" panose="02040503050406030204" pitchFamily="18" charset="0"/>
                  </a:rPr>
                  <a:t>$x=-2$</a:t>
                </a:r>
                <a:r>
                  <a:rPr sz="2400" b="0">
                    <a:solidFill>
                      <a:srgbClr val="111827"/>
                    </a:solidFill>
                    <a:latin typeface="Arial"/>
                  </a:rPr>
                  <a:t> is the real root and </a:t>
                </a:r>
                <a:r>
                  <a:rPr lang="en-IN" sz="2400">
                    <a:solidFill>
                      <a:srgbClr val="111827"/>
                    </a:solidFill>
                    <a:latin typeface="Cambria Math" panose="02040503050406030204" pitchFamily="18" charset="0"/>
                  </a:rPr>
                  <a:t>$z_3=-2$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imaginary roots satisfy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Plot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 vertical segment of length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on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Divide: </a:t>
                </a:r>
                <a:r>
                  <a:rPr lang="en-IN" sz="2400">
                    <a:solidFill>
                      <a:srgbClr val="111827"/>
                    </a:solidFill>
                    <a:latin typeface="Cambria Math" panose="02040503050406030204" pitchFamily="18" charset="0"/>
                  </a:rPr>
                  <a:t>$x^3+x^2-x+2=(x+2)(x^2-x+1)$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imaginary roots satisfy </a:t>
                </a:r>
                <a:r>
                  <a:rPr lang="en-IN" sz="2400">
                    <a:solidFill>
                      <a:srgbClr val="111827"/>
                    </a:solidFill>
                    <a:latin typeface="Cambria Math" panose="02040503050406030204" pitchFamily="18" charset="0"/>
                  </a:rPr>
                  <a:t>$x^2-x+1=0$</a:t>
                </a:r>
                <a:r>
                  <a:rPr sz="2400" b="0">
                    <a:solidFill>
                      <a:srgbClr val="111827"/>
                    </a:solidFill>
                    <a:latin typeface="Arial"/>
                  </a:rPr>
                  <a:t>, so </a:t>
                </a:r>
                <a:r>
                  <a:rPr lang="en-IN" sz="2400">
                    <a:solidFill>
                      <a:srgbClr val="111827"/>
                    </a:solidFill>
                    <a:latin typeface="Cambria Math" panose="02040503050406030204" pitchFamily="18" charset="0"/>
                  </a:rPr>
                  <a:t>$z_{1,2}=\frac{1\pm i\sqrt3}{2}=e^{\pm i\pi/3}$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Plot </a:t>
                </a:r>
                <a:r>
                  <a:rPr lang="en-IN" sz="2400">
                    <a:solidFill>
                      <a:srgbClr val="111827"/>
                    </a:solidFill>
                    <a:latin typeface="Cambria Math" panose="02040503050406030204" pitchFamily="18" charset="0"/>
                  </a:rPr>
                  <a:t>$z_1=\left(\frac12,\frac{\sqrt3}{2}\right)$</a:t>
                </a:r>
                <a:r>
                  <a:rPr sz="2400" b="0">
                    <a:solidFill>
                      <a:srgbClr val="111827"/>
                    </a:solidFill>
                    <a:latin typeface="Arial"/>
                  </a:rPr>
                  <a:t>, </a:t>
                </a:r>
                <a:r>
                  <a:rPr lang="en-IN" sz="2400">
                    <a:solidFill>
                      <a:srgbClr val="111827"/>
                    </a:solidFill>
                    <a:latin typeface="Cambria Math" panose="02040503050406030204" pitchFamily="18" charset="0"/>
                  </a:rPr>
                  <a:t>$z_2=\left(\frac12,-\frac{\sqrt3}{2}\right)$</a:t>
                </a:r>
                <a:r>
                  <a:rPr sz="2400" b="0">
                    <a:solidFill>
                      <a:srgbClr val="111827"/>
                    </a:solidFill>
                    <a:latin typeface="Arial"/>
                  </a:rPr>
                  <a:t> and </a:t>
                </a:r>
                <a:r>
                  <a:rPr lang="en-IN" sz="2400">
                    <a:solidFill>
                      <a:srgbClr val="111827"/>
                    </a:solidFill>
                    <a:latin typeface="Cambria Math" panose="02040503050406030204" pitchFamily="18" charset="0"/>
                  </a:rPr>
                  <a:t>$z_3=(-2,0)$</a:t>
                </a:r>
                <a:r>
                  <a:rPr sz="2400" b="0">
                    <a:solidFill>
                      <a:srgbClr val="111827"/>
                    </a:solidFill>
                    <a:latin typeface="Arial"/>
                  </a:rPr>
                  <a:t>: </a:t>
                </a:r>
                <a:r>
                  <a:rPr lang="en-IN" sz="2400">
                    <a:solidFill>
                      <a:srgbClr val="111827"/>
                    </a:solidFill>
                    <a:latin typeface="Cambria Math" panose="02040503050406030204" pitchFamily="18" charset="0"/>
                  </a:rPr>
                  <a:t>$z_1z_2$</a:t>
                </a:r>
                <a:r>
                  <a:rPr sz="2400" b="0">
                    <a:solidFill>
                      <a:srgbClr val="111827"/>
                    </a:solidFill>
                    <a:latin typeface="Arial"/>
                  </a:rPr>
                  <a:t> is a vertical segment of length </a:t>
                </a:r>
                <a:r>
                  <a:rPr lang="en-IN" sz="2400">
                    <a:solidFill>
                      <a:srgbClr val="111827"/>
                    </a:solidFill>
                    <a:latin typeface="Cambria Math" panose="02040503050406030204" pitchFamily="18" charset="0"/>
                  </a:rPr>
                  <a:t>$\sqrt3$</a:t>
                </a:r>
                <a:r>
                  <a:rPr sz="2400" b="0">
                    <a:solidFill>
                      <a:srgbClr val="111827"/>
                    </a:solidFill>
                    <a:latin typeface="Arial"/>
                  </a:rPr>
                  <a:t> on the line </a:t>
                </a:r>
                <a:r>
                  <a:rPr lang="en-IN" sz="2400">
                    <a:solidFill>
                      <a:srgbClr val="111827"/>
                    </a:solidFill>
                    <a:latin typeface="Cambria Math" panose="02040503050406030204" pitchFamily="18" charset="0"/>
                  </a:rPr>
                  <a:t>$x=\frac12$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perpendicular distance of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perpendicular distance of </a:t>
                </a:r>
                <a:r>
                  <a:rPr lang="en-IN" sz="2400">
                    <a:solidFill>
                      <a:srgbClr val="111827"/>
                    </a:solidFill>
                    <a:latin typeface="Cambria Math" panose="02040503050406030204" pitchFamily="18" charset="0"/>
                  </a:rPr>
                  <a:t>$z_3=(-2,0)$</a:t>
                </a:r>
                <a:r>
                  <a:rPr sz="2400" b="0">
                    <a:solidFill>
                      <a:srgbClr val="111827"/>
                    </a:solidFill>
                    <a:latin typeface="Arial"/>
                  </a:rPr>
                  <a:t> from the line </a:t>
                </a:r>
                <a:r>
                  <a:rPr lang="en-IN" sz="2400">
                    <a:solidFill>
                      <a:srgbClr val="111827"/>
                    </a:solidFill>
                    <a:latin typeface="Cambria Math" panose="02040503050406030204" pitchFamily="18" charset="0"/>
                  </a:rPr>
                  <a:t>$x=\frac12$</a:t>
                </a:r>
                <a:r>
                  <a:rPr sz="2400" b="0">
                    <a:solidFill>
                      <a:srgbClr val="111827"/>
                    </a:solidFill>
                    <a:latin typeface="Arial"/>
                  </a:rPr>
                  <a:t> is </a:t>
                </a:r>
                <a:r>
                  <a:rPr lang="en-IN" sz="2400">
                    <a:solidFill>
                      <a:srgbClr val="111827"/>
                    </a:solidFill>
                    <a:latin typeface="Cambria Math" panose="02040503050406030204" pitchFamily="18" charset="0"/>
                  </a:rPr>
                  <a:t>$2+\frac12=\frac52$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$=\frac12\times\frac52\times\sqrt3=\frac{5\sqrt3}{4}$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5</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num>
                      <m:den>
                        <m:r>
                          <a:rPr lang="en-IN" sz="2800" i="1">
                            <a:solidFill>
                              <a:srgbClr val="15803D"/>
                            </a:solidFill>
                            <a:latin typeface="Cambria Math" panose="02040503050406030204" pitchFamily="18" charset="0"/>
                          </a:rPr>
                          <m:t>4</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$\frac{5\sqrt3}{4}$</a:t>
                </a:r>
                <a:endParaRPr sz="2800">
                  <a:solidFill>
                    <a:srgbClr val="15803D"/>
                  </a:solidFill>
                </a:endParaRPr>
              </a:p>
            </p:txBody>
          </p:sp>
        </mc:Fallback>
      </mc:AlternateContent>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cross-product (shoelace) formula for the area in complex form, without drawing the base and height.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Factor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 triangle with vertices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nor/>
                          </m:rPr>
                          <a:rPr lang="en-IN" sz="2400" i="1">
                            <a:solidFill>
                              <a:srgbClr val="111827"/>
                            </a:solidFill>
                            <a:latin typeface="Cambria Math" panose="02040503050406030204" pitchFamily="18" charset="0"/>
                          </a:rPr>
                          <m:t>𝐼𝑚</m:t>
                        </m:r>
                        <m:d>
                          <m:dPr>
                            <m:begChr m:val="("/>
                            <m:sepChr m:val=""/>
                            <m:endChr m:val=")"/>
                            <m:grow/>
                            <m:ctrlPr>
                              <a:rPr lang="en-IN" sz="2400" i="1">
                                <a:solidFill>
                                  <a:srgbClr val="111827"/>
                                </a:solidFill>
                                <a:latin typeface="Cambria Math" panose="02040503050406030204" pitchFamily="18" charset="0"/>
                              </a:rPr>
                            </m:ctrlPr>
                          </m:dPr>
                          <m:e>
                            <m:bar>
                              <m:barPr>
                                <m:pos m:val="top"/>
                                <m:ctrlPr>
                                  <a:rPr lang="en-IN" sz="2400" i="1">
                                    <a:solidFill>
                                      <a:srgbClr val="111827"/>
                                    </a:solidFill>
                                    <a:latin typeface="Cambria Math" panose="02040503050406030204" pitchFamily="18" charset="0"/>
                                  </a:rPr>
                                </m:ctrlPr>
                              </m:bar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e>
                            </m:ba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e>
                        </m:d>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Factor </a:t>
                </a:r>
                <a:r>
                  <a:rPr lang="en-IN" sz="2400">
                    <a:solidFill>
                      <a:srgbClr val="111827"/>
                    </a:solidFill>
                    <a:latin typeface="Cambria Math" panose="02040503050406030204" pitchFamily="18" charset="0"/>
                  </a:rPr>
                  <a:t>$x^3+x^2-x+2=(x+2)(x^2-x+1)$</a:t>
                </a:r>
                <a:r>
                  <a:rPr sz="2400" b="0">
                    <a:solidFill>
                      <a:srgbClr val="111827"/>
                    </a:solidFill>
                    <a:latin typeface="Arial"/>
                  </a:rPr>
                  <a:t>, so </a:t>
                </a:r>
                <a:r>
                  <a:rPr lang="en-IN" sz="2400">
                    <a:solidFill>
                      <a:srgbClr val="111827"/>
                    </a:solidFill>
                    <a:latin typeface="Cambria Math" panose="02040503050406030204" pitchFamily="18" charset="0"/>
                  </a:rPr>
                  <a:t>$z_3=-2$</a:t>
                </a:r>
                <a:r>
                  <a:rPr sz="2400" b="0">
                    <a:solidFill>
                      <a:srgbClr val="111827"/>
                    </a:solidFill>
                    <a:latin typeface="Arial"/>
                  </a:rPr>
                  <a:t> and </a:t>
                </a:r>
                <a:r>
                  <a:rPr lang="en-IN" sz="2400">
                    <a:solidFill>
                      <a:srgbClr val="111827"/>
                    </a:solidFill>
                    <a:latin typeface="Cambria Math" panose="02040503050406030204" pitchFamily="18" charset="0"/>
                  </a:rPr>
                  <a:t>$z_{1,2}=\frac{1\pm i\sqrt3}{2}$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 triangle with vertices </a:t>
                </a:r>
                <a:r>
                  <a:rPr lang="en-IN" sz="2400">
                    <a:solidFill>
                      <a:srgbClr val="111827"/>
                    </a:solidFill>
                    <a:latin typeface="Cambria Math" panose="02040503050406030204" pitchFamily="18" charset="0"/>
                  </a:rPr>
                  <a:t>$z_1,z_2,z_3$</a:t>
                </a:r>
                <a:r>
                  <a:rPr sz="2400" b="0">
                    <a:solidFill>
                      <a:srgbClr val="111827"/>
                    </a:solidFill>
                    <a:latin typeface="Arial"/>
                  </a:rPr>
                  <a:t> is </a:t>
                </a:r>
                <a:r>
                  <a:rPr lang="en-IN" sz="2400">
                    <a:solidFill>
                      <a:srgbClr val="111827"/>
                    </a:solidFill>
                    <a:latin typeface="Cambria Math" panose="02040503050406030204" pitchFamily="18" charset="0"/>
                  </a:rPr>
                  <a:t>$\frac12\left|\text{Im}\left(\overline{(z_1-z_3)}\,(z_2-z_3)\right)\right|$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$z_1-z_3=\frac52+\frac{\sqrt3}{2}i$</a:t>
                </a:r>
                <a:r>
                  <a:rPr sz="2400" b="0">
                    <a:solidFill>
                      <a:srgbClr val="111827"/>
                    </a:solidFill>
                    <a:latin typeface="Arial"/>
                  </a:rPr>
                  <a:t> and </a:t>
                </a:r>
                <a:r>
                  <a:rPr lang="en-IN" sz="2400">
                    <a:solidFill>
                      <a:srgbClr val="111827"/>
                    </a:solidFill>
                    <a:latin typeface="Cambria Math" panose="02040503050406030204" pitchFamily="18" charset="0"/>
                  </a:rPr>
                  <a:t>$z_2-z_3=\frac52-\frac{\sqrt3}{2}i$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bar>
                      <m:barPr>
                        <m:pos m:val="top"/>
                        <m:ctrlPr>
                          <a:rPr lang="en-IN" sz="2400" i="1">
                            <a:solidFill>
                              <a:srgbClr val="111827"/>
                            </a:solidFill>
                            <a:latin typeface="Cambria Math" panose="02040503050406030204" pitchFamily="18" charset="0"/>
                          </a:rPr>
                        </m:ctrlPr>
                      </m:bar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e>
                    </m:ba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the product is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imaginary part has magnitude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option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$\overline{(z_1-z_3)}=\frac52-\frac{\sqrt3}{2}i=z_2-z_3$</a:t>
                </a:r>
                <a:r>
                  <a:rPr sz="2400" b="0">
                    <a:solidFill>
                      <a:srgbClr val="111827"/>
                    </a:solidFill>
                    <a:latin typeface="Arial"/>
                  </a:rPr>
                  <a:t>, and the product is </a:t>
                </a:r>
                <a:r>
                  <a:rPr lang="en-IN" sz="2400">
                    <a:solidFill>
                      <a:srgbClr val="111827"/>
                    </a:solidFill>
                    <a:latin typeface="Cambria Math" panose="02040503050406030204" pitchFamily="18" charset="0"/>
                  </a:rPr>
                  <a:t>$\left(\frac52-\frac{\sqrt3}{2}i\right)^2=\frac{22}{4}-\frac{5\sqrt3}{2}i$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imaginary part has magnitude </a:t>
                </a:r>
                <a:r>
                  <a:rPr lang="en-IN" sz="2400">
                    <a:solidFill>
                      <a:srgbClr val="111827"/>
                    </a:solidFill>
                    <a:latin typeface="Cambria Math" panose="02040503050406030204" pitchFamily="18" charset="0"/>
                  </a:rPr>
                  <a:t>$\frac{5\sqrt3}{2}$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$=\frac12\cdot\frac{5\sqrt3}{2}=\frac{5\sqrt3}{4}$</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5</m:t>
                        </m:r>
                        <m:rad>
                          <m:radPr>
                            <m:degHide m:val="on"/>
                            <m:ctrlPr>
                              <a:rPr lang="en-IN" sz="2800" i="1">
                                <a:solidFill>
                                  <a:srgbClr val="15803D"/>
                                </a:solidFill>
                                <a:latin typeface="Cambria Math" panose="02040503050406030204" pitchFamily="18" charset="0"/>
                              </a:rPr>
                            </m:ctrlPr>
                          </m:radPr>
                          <m:deg/>
                          <m:e>
                            <m:r>
                              <a:rPr lang="en-IN" sz="2800" i="1">
                                <a:solidFill>
                                  <a:srgbClr val="15803D"/>
                                </a:solidFill>
                                <a:latin typeface="Cambria Math" panose="02040503050406030204" pitchFamily="18" charset="0"/>
                              </a:rPr>
                              <m:t>3</m:t>
                            </m:r>
                          </m:e>
                        </m:rad>
                      </m:num>
                      <m:den>
                        <m:r>
                          <a:rPr lang="en-IN" sz="2800" i="1">
                            <a:solidFill>
                              <a:srgbClr val="15803D"/>
                            </a:solidFill>
                            <a:latin typeface="Cambria Math" panose="02040503050406030204" pitchFamily="18" charset="0"/>
                          </a:rPr>
                          <m:t>4</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$\frac{5\sqrt3}{4}$</a:t>
                </a:r>
                <a:endParaRPr sz="2800">
                  <a:solidFill>
                    <a:srgbClr val="15803D"/>
                  </a:solidFill>
                </a:endParaRPr>
              </a:p>
            </p:txBody>
          </p:sp>
        </mc:Fallback>
      </mc:AlternateContent>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a triangle with vertices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e>
                            </m:bar>
                          </m:e>
                        </m:d>
                      </m:e>
                    </m:d>
                  </m:oMath>
                </a14:m>
                <a:r>
                  <a:rPr sz="2400" b="0">
                    <a:solidFill>
                      <a:srgbClr val="111827"/>
                    </a:solidFill>
                    <a:latin typeface="Arial"/>
                  </a:rPr>
                  <a:t>; here it gives </a:t>
                </a:r>
                <a14:m>
                  <m:oMath xmlns:m="http://schemas.openxmlformats.org/officeDocument/2006/math">
                    <m:r>
                      <a:rPr lang="en-IN" sz="2400" i="1">
                        <a:solidFill>
                          <a:srgbClr val="111827"/>
                        </a:solidFill>
                        <a:latin typeface="Cambria Math" panose="02040503050406030204" pitchFamily="18" charset="0"/>
                      </a:rPr>
                      <m:t>2.165</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Rational-root test for a cubic with integer coefficients: try divisors of the constant term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here); the quadratic factor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has roots </a:t>
                </a:r>
                <a14:m>
                  <m:oMath xmlns:m="http://schemas.openxmlformats.org/officeDocument/2006/math">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(primitive 6th roots of unity).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Complex roots of a real polynomial occur in conjugate pairs, 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always a vertical segment.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a triangle with vertices </a:t>
                </a:r>
                <a:r>
                  <a:rPr lang="en-IN" sz="2400">
                    <a:solidFill>
                      <a:srgbClr val="111827"/>
                    </a:solidFill>
                    <a:latin typeface="Cambria Math" panose="02040503050406030204" pitchFamily="18" charset="0"/>
                  </a:rPr>
                  <a:t>$z_1,z_2,z_3$</a:t>
                </a:r>
                <a:r>
                  <a:rPr sz="2400" b="0">
                    <a:solidFill>
                      <a:srgbClr val="111827"/>
                    </a:solidFill>
                    <a:latin typeface="Arial"/>
                  </a:rPr>
                  <a:t>: </a:t>
                </a:r>
                <a:r>
                  <a:rPr lang="en-IN" sz="2400">
                    <a:solidFill>
                      <a:srgbClr val="111827"/>
                    </a:solidFill>
                    <a:latin typeface="Cambria Math" panose="02040503050406030204" pitchFamily="18" charset="0"/>
                  </a:rPr>
                  <a:t>$\frac12\left|\mathrm{Im}\left[(z_1-z_3)\overline{(z_2-z_3)}\right]\right|$</a:t>
                </a:r>
                <a:r>
                  <a:rPr sz="2400" b="0">
                    <a:solidFill>
                      <a:srgbClr val="111827"/>
                    </a:solidFill>
                    <a:latin typeface="Arial"/>
                  </a:rPr>
                  <a:t>; here it gives </a:t>
                </a:r>
                <a:r>
                  <a:rPr lang="en-IN" sz="2400">
                    <a:solidFill>
                      <a:srgbClr val="111827"/>
                    </a:solidFill>
                    <a:latin typeface="Cambria Math" panose="02040503050406030204" pitchFamily="18" charset="0"/>
                  </a:rPr>
                  <a:t>$2.165=\frac{5\sqrt3}{4}$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Rational-root test for a cubic with integer coefficients: try divisors of the constant term (</a:t>
                </a:r>
                <a:r>
                  <a:rPr lang="en-IN" sz="2400">
                    <a:solidFill>
                      <a:srgbClr val="111827"/>
                    </a:solidFill>
                    <a:latin typeface="Cambria Math" panose="02040503050406030204" pitchFamily="18" charset="0"/>
                  </a:rPr>
                  <a:t>$\pm1,\pm2$</a:t>
                </a:r>
                <a:r>
                  <a:rPr sz="2400" b="0">
                    <a:solidFill>
                      <a:srgbClr val="111827"/>
                    </a:solidFill>
                    <a:latin typeface="Arial"/>
                  </a:rPr>
                  <a:t> here); the quadratic factor </a:t>
                </a:r>
                <a:r>
                  <a:rPr lang="en-IN" sz="2400">
                    <a:solidFill>
                      <a:srgbClr val="111827"/>
                    </a:solidFill>
                    <a:latin typeface="Cambria Math" panose="02040503050406030204" pitchFamily="18" charset="0"/>
                  </a:rPr>
                  <a:t>$x^2-x+1$</a:t>
                </a:r>
                <a:r>
                  <a:rPr sz="2400" b="0">
                    <a:solidFill>
                      <a:srgbClr val="111827"/>
                    </a:solidFill>
                    <a:latin typeface="Arial"/>
                  </a:rPr>
                  <a:t> has roots </a:t>
                </a:r>
                <a:r>
                  <a:rPr lang="en-IN" sz="2400">
                    <a:solidFill>
                      <a:srgbClr val="111827"/>
                    </a:solidFill>
                    <a:latin typeface="Cambria Math" panose="02040503050406030204" pitchFamily="18" charset="0"/>
                  </a:rPr>
                  <a:t>$e^{\pm i\pi/3}$</a:t>
                </a:r>
                <a:r>
                  <a:rPr sz="2400" b="0">
                    <a:solidFill>
                      <a:srgbClr val="111827"/>
                    </a:solidFill>
                    <a:latin typeface="Arial"/>
                  </a:rPr>
                  <a:t> (primitive 6th roots of unity).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Complex roots of a real polynomial occur in conjugate pairs, so </a:t>
                </a:r>
                <a:r>
                  <a:rPr lang="en-IN" sz="2400">
                    <a:solidFill>
                      <a:srgbClr val="111827"/>
                    </a:solidFill>
                    <a:latin typeface="Cambria Math" panose="02040503050406030204" pitchFamily="18" charset="0"/>
                  </a:rPr>
                  <a:t>$z_1z_2$</a:t>
                </a:r>
                <a:r>
                  <a:rPr sz="2400" b="0">
                    <a:solidFill>
                      <a:srgbClr val="111827"/>
                    </a:solidFill>
                    <a:latin typeface="Arial"/>
                  </a:rPr>
                  <a:t> is always a vertical segment.</a:t>
                </a:r>
                <a:endParaRPr sz="2400">
                  <a:solidFill>
                    <a:srgbClr val="111827"/>
                  </a:solidFill>
                </a:endParaRPr>
              </a:p>
            </p:txBody>
          </p:sp>
        </mc:Fallback>
      </mc:AlternateContent>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622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equation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Let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be the imaginary roots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be the real root of the given equation. Let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form alternate vertices of a regular hexagon and let the remaining three vertices be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On the basis of the above information, answer the following questions: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are the roots of the equation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oMath>
                </a14:m>
                <a:endParaRPr sz="2400">
                  <a:solidFill>
                    <a:srgbClr val="111827"/>
                  </a:solidFill>
                </a:endParaRPr>
              </a:p>
            </p:txBody>
          </p:sp>
        </mc:Choice>
        <mc:Fallback>
          <p:sp>
            <p:nvSpPr>
              <p:cNvPr id="4" name="Rounded Rectangle 3"/>
              <p:cNvSpPr/>
              <p:nvPr/>
            </p:nvSpPr>
            <p:spPr>
              <a:xfrm>
                <a:off x="731520" y="1280160"/>
                <a:ext cx="10725912" cy="3622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equation </a:t>
                </a:r>
                <a:r>
                  <a:rPr lang="en-IN" sz="2400">
                    <a:solidFill>
                      <a:srgbClr val="111827"/>
                    </a:solidFill>
                    <a:latin typeface="Cambria Math" panose="02040503050406030204" pitchFamily="18" charset="0"/>
                  </a:rPr>
                  <a:t>$x^3+x^2-x+2=0$</a:t>
                </a:r>
                <a:r>
                  <a:rPr sz="2400" b="0">
                    <a:solidFill>
                      <a:srgbClr val="111827"/>
                    </a:solidFill>
                    <a:latin typeface="Arial"/>
                  </a:rPr>
                  <a:t>. Let </a:t>
                </a:r>
                <a:r>
                  <a:rPr lang="en-IN" sz="2400">
                    <a:solidFill>
                      <a:srgbClr val="111827"/>
                    </a:solidFill>
                    <a:latin typeface="Cambria Math" panose="02040503050406030204" pitchFamily="18" charset="0"/>
                  </a:rPr>
                  <a:t>$z_1$</a:t>
                </a:r>
                <a:r>
                  <a:rPr sz="2400" b="0">
                    <a:solidFill>
                      <a:srgbClr val="111827"/>
                    </a:solidFill>
                    <a:latin typeface="Arial"/>
                  </a:rPr>
                  <a:t> and </a:t>
                </a:r>
                <a:r>
                  <a:rPr lang="en-IN" sz="2400">
                    <a:solidFill>
                      <a:srgbClr val="111827"/>
                    </a:solidFill>
                    <a:latin typeface="Cambria Math" panose="02040503050406030204" pitchFamily="18" charset="0"/>
                  </a:rPr>
                  <a:t>$z_2$</a:t>
                </a:r>
                <a:r>
                  <a:rPr sz="2400" b="0">
                    <a:solidFill>
                      <a:srgbClr val="111827"/>
                    </a:solidFill>
                    <a:latin typeface="Arial"/>
                  </a:rPr>
                  <a:t> be the imaginary roots and </a:t>
                </a:r>
                <a:r>
                  <a:rPr lang="en-IN" sz="2400">
                    <a:solidFill>
                      <a:srgbClr val="111827"/>
                    </a:solidFill>
                    <a:latin typeface="Cambria Math" panose="02040503050406030204" pitchFamily="18" charset="0"/>
                  </a:rPr>
                  <a:t>$z_3$</a:t>
                </a:r>
                <a:r>
                  <a:rPr sz="2400" b="0">
                    <a:solidFill>
                      <a:srgbClr val="111827"/>
                    </a:solidFill>
                    <a:latin typeface="Arial"/>
                  </a:rPr>
                  <a:t> be the real root of the given equation. Let </a:t>
                </a:r>
                <a:r>
                  <a:rPr lang="en-IN" sz="2400">
                    <a:solidFill>
                      <a:srgbClr val="111827"/>
                    </a:solidFill>
                    <a:latin typeface="Cambria Math" panose="02040503050406030204" pitchFamily="18" charset="0"/>
                  </a:rPr>
                  <a:t>$2z_1,2z_2$</a:t>
                </a:r>
                <a:r>
                  <a:rPr sz="2400" b="0">
                    <a:solidFill>
                      <a:srgbClr val="111827"/>
                    </a:solidFill>
                    <a:latin typeface="Arial"/>
                  </a:rPr>
                  <a:t> and </a:t>
                </a:r>
                <a:r>
                  <a:rPr lang="en-IN" sz="2400">
                    <a:solidFill>
                      <a:srgbClr val="111827"/>
                    </a:solidFill>
                    <a:latin typeface="Cambria Math" panose="02040503050406030204" pitchFamily="18" charset="0"/>
                  </a:rPr>
                  <a:t>$z_3$</a:t>
                </a:r>
                <a:r>
                  <a:rPr sz="2400" b="0">
                    <a:solidFill>
                      <a:srgbClr val="111827"/>
                    </a:solidFill>
                    <a:latin typeface="Arial"/>
                  </a:rPr>
                  <a:t> form alternate vertices of a regular hexagon and let the remaining three vertices be </a:t>
                </a:r>
                <a:r>
                  <a:rPr lang="en-IN" sz="2400">
                    <a:solidFill>
                      <a:srgbClr val="111827"/>
                    </a:solidFill>
                    <a:latin typeface="Cambria Math" panose="02040503050406030204" pitchFamily="18" charset="0"/>
                  </a:rPr>
                  <a:t>$\alpha,\beta,\gamma$</a:t>
                </a:r>
                <a:r>
                  <a:rPr sz="2400" b="0">
                    <a:solidFill>
                      <a:srgbClr val="111827"/>
                    </a:solidFill>
                    <a:latin typeface="Arial"/>
                  </a:rPr>
                  <a:t>. On the basis of the above information, answer the following questions: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$\alpha,\beta,\gamma$</a:t>
                </a:r>
                <a:r>
                  <a:rPr sz="2400" b="0">
                    <a:solidFill>
                      <a:srgbClr val="111827"/>
                    </a:solidFill>
                    <a:latin typeface="Arial"/>
                  </a:rPr>
                  <a:t> are the roots of the equation </a:t>
                </a:r>
                <a:r>
                  <a:rPr lang="en-IN" sz="2400">
                    <a:solidFill>
                      <a:srgbClr val="111827"/>
                    </a:solidFill>
                    <a:latin typeface="Cambria Math" panose="02040503050406030204" pitchFamily="18" charset="0"/>
                  </a:rPr>
                  <a:t>$x^3+px^2+qx+r=0$</a:t>
                </a:r>
                <a:r>
                  <a:rPr sz="2400" b="0">
                    <a:solidFill>
                      <a:srgbClr val="111827"/>
                    </a:solidFill>
                    <a:latin typeface="Arial"/>
                  </a:rPr>
                  <a:t>, then </a:t>
                </a:r>
                <a:r>
                  <a:rPr lang="en-IN" sz="2400">
                    <a:solidFill>
                      <a:srgbClr val="111827"/>
                    </a:solidFill>
                    <a:latin typeface="Cambria Math" panose="02040503050406030204" pitchFamily="18" charset="0"/>
                  </a:rPr>
                  <a:t>$(q+r-p)$</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$-4$</a:t>
                </a:r>
                <a:r>
                  <a:rPr sz="2400" b="0">
                    <a:solidFill>
                      <a:srgbClr val="111827"/>
                    </a:solidFill>
                    <a:latin typeface="Arial"/>
                  </a:rPr>
                  <a:t>   (B) </a:t>
                </a:r>
                <a:r>
                  <a:rPr lang="en-IN" sz="2400">
                    <a:solidFill>
                      <a:srgbClr val="111827"/>
                    </a:solidFill>
                    <a:latin typeface="Cambria Math" panose="02040503050406030204" pitchFamily="18" charset="0"/>
                  </a:rPr>
                  <a:t>$-8$</a:t>
                </a:r>
                <a:r>
                  <a:rPr sz="2400" b="0">
                    <a:solidFill>
                      <a:srgbClr val="111827"/>
                    </a:solidFill>
                    <a:latin typeface="Arial"/>
                  </a:rPr>
                  <a:t>   (C) </a:t>
                </a:r>
                <a:r>
                  <a:rPr lang="en-IN" sz="2400">
                    <a:solidFill>
                      <a:srgbClr val="111827"/>
                    </a:solidFill>
                    <a:latin typeface="Cambria Math" panose="02040503050406030204" pitchFamily="18" charset="0"/>
                  </a:rPr>
                  <a:t>$-12$</a:t>
                </a:r>
                <a:r>
                  <a:rPr sz="2400" b="0">
                    <a:solidFill>
                      <a:srgbClr val="111827"/>
                    </a:solidFill>
                    <a:latin typeface="Arial"/>
                  </a:rPr>
                  <a:t>   (D) </a:t>
                </a:r>
                <a:r>
                  <a:rPr lang="en-IN" sz="2400">
                    <a:solidFill>
                      <a:srgbClr val="111827"/>
                    </a:solidFill>
                    <a:latin typeface="Cambria Math" panose="02040503050406030204" pitchFamily="18" charset="0"/>
                  </a:rPr>
                  <a:t>$-16$</a:t>
                </a:r>
                <a:endParaRPr sz="2400">
                  <a:solidFill>
                    <a:srgbClr val="111827"/>
                  </a:solidFill>
                </a:endParaRPr>
              </a:p>
            </p:txBody>
          </p:sp>
        </mc:Fallback>
      </mc:AlternateContent>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a cubic equation, Complex numbers: regular polygon vertices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three alternate vertices of a hexagon centred at the origin are the cube roots of </a:t>
                </a:r>
                <a14:m>
                  <m:oMath xmlns:m="http://schemas.openxmlformats.org/officeDocument/2006/math">
                    <m:sSup>
                      <m:e>
                        <m:r>
                          <a:rPr lang="en-IN" sz="2400" i="1">
                            <a:solidFill>
                              <a:srgbClr val="78350F"/>
                            </a:solidFill>
                            <a:latin typeface="Cambria Math" panose="02040503050406030204" pitchFamily="18" charset="0"/>
                          </a:rPr>
                          <m:t>2</m:t>
                        </m:r>
                      </m:e>
                      <m:sup>
                        <m:r>
                          <a:rPr lang="en-IN" sz="2400" i="1">
                            <a:solidFill>
                              <a:srgbClr val="78350F"/>
                            </a:solidFill>
                            <a:latin typeface="Cambria Math" panose="02040503050406030204" pitchFamily="18" charset="0"/>
                          </a:rPr>
                          <m:t>3</m:t>
                        </m:r>
                      </m:sup>
                    </m:sSup>
                  </m:oMath>
                </a14:m>
                <a:r>
                  <a:rPr sz="2400" b="0">
                    <a:solidFill>
                      <a:srgbClr val="78350F"/>
                    </a:solidFill>
                    <a:latin typeface="Arial"/>
                  </a:rPr>
                  <a:t>, so the equation is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3</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three alternate vertices of a hexagon centred at the origin are the cube roots of </a:t>
                </a:r>
                <a:r>
                  <a:rPr lang="en-IN" sz="2400">
                    <a:solidFill>
                      <a:srgbClr val="78350F"/>
                    </a:solidFill>
                    <a:latin typeface="Cambria Math" panose="02040503050406030204" pitchFamily="18" charset="0"/>
                  </a:rPr>
                  <a:t>$2^3$</a:t>
                </a:r>
                <a:r>
                  <a:rPr sz="2400" b="0">
                    <a:solidFill>
                      <a:srgbClr val="78350F"/>
                    </a:solidFill>
                    <a:latin typeface="Arial"/>
                  </a:rPr>
                  <a:t>, so the equation is </a:t>
                </a:r>
                <a:r>
                  <a:rPr lang="en-IN" sz="2400">
                    <a:solidFill>
                      <a:srgbClr val="78350F"/>
                    </a:solidFill>
                    <a:latin typeface="Cambria Math" panose="02040503050406030204" pitchFamily="18" charset="0"/>
                  </a:rPr>
                  <a:t>$x^3-8=0$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Q50,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(modulus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arguments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(argument </a:t>
                </a:r>
                <a14:m>
                  <m:oMath xmlns:m="http://schemas.openxmlformats.org/officeDocument/2006/math">
                    <m:sSup>
                      <m:e>
                        <m:r>
                          <a:rPr lang="en-IN" sz="2400" i="1">
                            <a:solidFill>
                              <a:srgbClr val="111827"/>
                            </a:solidFill>
                            <a:latin typeface="Cambria Math" panose="02040503050406030204" pitchFamily="18" charset="0"/>
                          </a:rPr>
                          <m:t>180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hexagon has centre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and radius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Q50, </a:t>
                </a:r>
                <a:r>
                  <a:rPr lang="en-IN" sz="2400">
                    <a:solidFill>
                      <a:srgbClr val="111827"/>
                    </a:solidFill>
                    <a:latin typeface="Cambria Math" panose="02040503050406030204" pitchFamily="18" charset="0"/>
                  </a:rPr>
                  <a:t>$2z_1=1+i\sqrt3$</a:t>
                </a:r>
                <a:r>
                  <a:rPr sz="2400" b="0">
                    <a:solidFill>
                      <a:srgbClr val="111827"/>
                    </a:solidFill>
                    <a:latin typeface="Arial"/>
                  </a:rPr>
                  <a:t>, </a:t>
                </a:r>
                <a:r>
                  <a:rPr lang="en-IN" sz="2400">
                    <a:solidFill>
                      <a:srgbClr val="111827"/>
                    </a:solidFill>
                    <a:latin typeface="Cambria Math" panose="02040503050406030204" pitchFamily="18" charset="0"/>
                  </a:rPr>
                  <a:t>$2z_2=1-i\sqrt3$</a:t>
                </a:r>
                <a:r>
                  <a:rPr sz="2400" b="0">
                    <a:solidFill>
                      <a:srgbClr val="111827"/>
                    </a:solidFill>
                    <a:latin typeface="Arial"/>
                  </a:rPr>
                  <a:t> (modulus </a:t>
                </a:r>
                <a:r>
                  <a:rPr lang="en-IN" sz="2400">
                    <a:solidFill>
                      <a:srgbClr val="111827"/>
                    </a:solidFill>
                    <a:latin typeface="Cambria Math" panose="02040503050406030204" pitchFamily="18" charset="0"/>
                  </a:rPr>
                  <a:t>$2$</a:t>
                </a:r>
                <a:r>
                  <a:rPr sz="2400" b="0">
                    <a:solidFill>
                      <a:srgbClr val="111827"/>
                    </a:solidFill>
                    <a:latin typeface="Arial"/>
                  </a:rPr>
                  <a:t>, arguments </a:t>
                </a:r>
                <a:r>
                  <a:rPr lang="en-IN" sz="2400">
                    <a:solidFill>
                      <a:srgbClr val="111827"/>
                    </a:solidFill>
                    <a:latin typeface="Cambria Math" panose="02040503050406030204" pitchFamily="18" charset="0"/>
                  </a:rPr>
                  <a:t>$\pm60^\circ$</a:t>
                </a:r>
                <a:r>
                  <a:rPr sz="2400" b="0">
                    <a:solidFill>
                      <a:srgbClr val="111827"/>
                    </a:solidFill>
                    <a:latin typeface="Arial"/>
                  </a:rPr>
                  <a:t>) and </a:t>
                </a:r>
                <a:r>
                  <a:rPr lang="en-IN" sz="2400">
                    <a:solidFill>
                      <a:srgbClr val="111827"/>
                    </a:solidFill>
                    <a:latin typeface="Cambria Math" panose="02040503050406030204" pitchFamily="18" charset="0"/>
                  </a:rPr>
                  <a:t>$z_3=-2$</a:t>
                </a:r>
                <a:r>
                  <a:rPr sz="2400" b="0">
                    <a:solidFill>
                      <a:srgbClr val="111827"/>
                    </a:solidFill>
                    <a:latin typeface="Arial"/>
                  </a:rPr>
                  <a:t> (argument </a:t>
                </a:r>
                <a:r>
                  <a:rPr lang="en-IN" sz="2400">
                    <a:solidFill>
                      <a:srgbClr val="111827"/>
                    </a:solidFill>
                    <a:latin typeface="Cambria Math" panose="02040503050406030204" pitchFamily="18" charset="0"/>
                  </a:rPr>
                  <a:t>$180^\circ$</a:t>
                </a:r>
                <a:r>
                  <a:rPr sz="2400" b="0">
                    <a:solidFill>
                      <a:srgbClr val="111827"/>
                    </a:solidFill>
                    <a:latin typeface="Arial"/>
                  </a:rPr>
                  <a:t>): the hexagon has centre </a:t>
                </a:r>
                <a:r>
                  <a:rPr lang="en-IN" sz="2400">
                    <a:solidFill>
                      <a:srgbClr val="111827"/>
                    </a:solidFill>
                    <a:latin typeface="Cambria Math" panose="02040503050406030204" pitchFamily="18" charset="0"/>
                  </a:rPr>
                  <a:t>$O$</a:t>
                </a:r>
                <a:r>
                  <a:rPr sz="2400" b="0">
                    <a:solidFill>
                      <a:srgbClr val="111827"/>
                    </a:solidFill>
                    <a:latin typeface="Arial"/>
                  </a:rPr>
                  <a:t> and radius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Consecutive vertices are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apart, so the vertices are at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180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240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γ</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300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equation with these roots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with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Consecutive vertices are </a:t>
                </a:r>
                <a:r>
                  <a:rPr lang="en-IN" sz="2400">
                    <a:solidFill>
                      <a:srgbClr val="111827"/>
                    </a:solidFill>
                    <a:latin typeface="Cambria Math" panose="02040503050406030204" pitchFamily="18" charset="0"/>
                  </a:rPr>
                  <a:t>$60^\circ$</a:t>
                </a:r>
                <a:r>
                  <a:rPr sz="2400" b="0">
                    <a:solidFill>
                      <a:srgbClr val="111827"/>
                    </a:solidFill>
                    <a:latin typeface="Arial"/>
                  </a:rPr>
                  <a:t> apart, so the vertices are at </a:t>
                </a:r>
                <a:r>
                  <a:rPr lang="en-IN" sz="2400">
                    <a:solidFill>
                      <a:srgbClr val="111827"/>
                    </a:solidFill>
                    <a:latin typeface="Cambria Math" panose="02040503050406030204" pitchFamily="18" charset="0"/>
                  </a:rPr>
                  <a:t>$60^\circ$</a:t>
                </a:r>
                <a:r>
                  <a:rPr sz="2400" b="0">
                    <a:solidFill>
                      <a:srgbClr val="111827"/>
                    </a:solidFill>
                    <a:latin typeface="Arial"/>
                  </a:rPr>
                  <a:t> (</a:t>
                </a:r>
                <a:r>
                  <a:rPr lang="en-IN" sz="2400">
                    <a:solidFill>
                      <a:srgbClr val="111827"/>
                    </a:solidFill>
                    <a:latin typeface="Cambria Math" panose="02040503050406030204" pitchFamily="18" charset="0"/>
                  </a:rPr>
                  <a:t>$2z_1$</a:t>
                </a:r>
                <a:r>
                  <a:rPr sz="2400" b="0">
                    <a:solidFill>
                      <a:srgbClr val="111827"/>
                    </a:solidFill>
                    <a:latin typeface="Arial"/>
                  </a:rPr>
                  <a:t>), </a:t>
                </a:r>
                <a:r>
                  <a:rPr lang="en-IN" sz="2400">
                    <a:solidFill>
                      <a:srgbClr val="111827"/>
                    </a:solidFill>
                    <a:latin typeface="Cambria Math" panose="02040503050406030204" pitchFamily="18" charset="0"/>
                  </a:rPr>
                  <a:t>$120^\circ$</a:t>
                </a:r>
                <a:r>
                  <a:rPr sz="2400" b="0">
                    <a:solidFill>
                      <a:srgbClr val="111827"/>
                    </a:solidFill>
                    <a:latin typeface="Arial"/>
                  </a:rPr>
                  <a:t> (</a:t>
                </a:r>
                <a:r>
                  <a:rPr lang="en-IN" sz="2400">
                    <a:solidFill>
                      <a:srgbClr val="111827"/>
                    </a:solidFill>
                    <a:latin typeface="Cambria Math" panose="02040503050406030204" pitchFamily="18" charset="0"/>
                  </a:rPr>
                  <a:t>$\beta$</a:t>
                </a:r>
                <a:r>
                  <a:rPr sz="2400" b="0">
                    <a:solidFill>
                      <a:srgbClr val="111827"/>
                    </a:solidFill>
                    <a:latin typeface="Arial"/>
                  </a:rPr>
                  <a:t>), </a:t>
                </a:r>
                <a:r>
                  <a:rPr lang="en-IN" sz="2400">
                    <a:solidFill>
                      <a:srgbClr val="111827"/>
                    </a:solidFill>
                    <a:latin typeface="Cambria Math" panose="02040503050406030204" pitchFamily="18" charset="0"/>
                  </a:rPr>
                  <a:t>$180^\circ$</a:t>
                </a:r>
                <a:r>
                  <a:rPr sz="2400" b="0">
                    <a:solidFill>
                      <a:srgbClr val="111827"/>
                    </a:solidFill>
                    <a:latin typeface="Arial"/>
                  </a:rPr>
                  <a:t> (</a:t>
                </a:r>
                <a:r>
                  <a:rPr lang="en-IN" sz="2400">
                    <a:solidFill>
                      <a:srgbClr val="111827"/>
                    </a:solidFill>
                    <a:latin typeface="Cambria Math" panose="02040503050406030204" pitchFamily="18" charset="0"/>
                  </a:rPr>
                  <a:t>$z_3$</a:t>
                </a:r>
                <a:r>
                  <a:rPr sz="2400" b="0">
                    <a:solidFill>
                      <a:srgbClr val="111827"/>
                    </a:solidFill>
                    <a:latin typeface="Arial"/>
                  </a:rPr>
                  <a:t>), </a:t>
                </a:r>
                <a:r>
                  <a:rPr lang="en-IN" sz="2400">
                    <a:solidFill>
                      <a:srgbClr val="111827"/>
                    </a:solidFill>
                    <a:latin typeface="Cambria Math" panose="02040503050406030204" pitchFamily="18" charset="0"/>
                  </a:rPr>
                  <a:t>$240^\circ$</a:t>
                </a:r>
                <a:r>
                  <a:rPr sz="2400" b="0">
                    <a:solidFill>
                      <a:srgbClr val="111827"/>
                    </a:solidFill>
                    <a:latin typeface="Arial"/>
                  </a:rPr>
                  <a:t> (</a:t>
                </a:r>
                <a:r>
                  <a:rPr lang="en-IN" sz="2400">
                    <a:solidFill>
                      <a:srgbClr val="111827"/>
                    </a:solidFill>
                    <a:latin typeface="Cambria Math" panose="02040503050406030204" pitchFamily="18" charset="0"/>
                  </a:rPr>
                  <a:t>$\gamma$</a:t>
                </a:r>
                <a:r>
                  <a:rPr sz="2400" b="0">
                    <a:solidFill>
                      <a:srgbClr val="111827"/>
                    </a:solidFill>
                    <a:latin typeface="Arial"/>
                  </a:rPr>
                  <a:t>), </a:t>
                </a:r>
                <a:r>
                  <a:rPr lang="en-IN" sz="2400">
                    <a:solidFill>
                      <a:srgbClr val="111827"/>
                    </a:solidFill>
                    <a:latin typeface="Cambria Math" panose="02040503050406030204" pitchFamily="18" charset="0"/>
                  </a:rPr>
                  <a:t>$300^\circ$</a:t>
                </a:r>
                <a:r>
                  <a:rPr sz="2400" b="0">
                    <a:solidFill>
                      <a:srgbClr val="111827"/>
                    </a:solidFill>
                    <a:latin typeface="Arial"/>
                  </a:rPr>
                  <a:t> (</a:t>
                </a:r>
                <a:r>
                  <a:rPr lang="en-IN" sz="2400">
                    <a:solidFill>
                      <a:srgbClr val="111827"/>
                    </a:solidFill>
                    <a:latin typeface="Cambria Math" panose="02040503050406030204" pitchFamily="18" charset="0"/>
                  </a:rPr>
                  <a:t>$2z_2$</a:t>
                </a:r>
                <a:r>
                  <a:rPr sz="2400" b="0">
                    <a:solidFill>
                      <a:srgbClr val="111827"/>
                    </a:solidFill>
                    <a:latin typeface="Arial"/>
                  </a:rPr>
                  <a:t>), </a:t>
                </a:r>
                <a:r>
                  <a:rPr lang="en-IN" sz="2400">
                    <a:solidFill>
                      <a:srgbClr val="111827"/>
                    </a:solidFill>
                    <a:latin typeface="Cambria Math" panose="02040503050406030204" pitchFamily="18" charset="0"/>
                  </a:rPr>
                  <a:t>$0^\circ$</a:t>
                </a:r>
                <a:r>
                  <a:rPr sz="2400" b="0">
                    <a:solidFill>
                      <a:srgbClr val="111827"/>
                    </a:solidFill>
                    <a:latin typeface="Arial"/>
                  </a:rPr>
                  <a:t> (</a:t>
                </a:r>
                <a:r>
                  <a:rPr lang="en-IN" sz="2400">
                    <a:solidFill>
                      <a:srgbClr val="111827"/>
                    </a:solidFill>
                    <a:latin typeface="Cambria Math" panose="02040503050406030204" pitchFamily="18" charset="0"/>
                  </a:rPr>
                  <a:t>$\alpha$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$\alpha=2+0i$</a:t>
                </a:r>
                <a:r>
                  <a:rPr sz="2400" b="0">
                    <a:solidFill>
                      <a:srgbClr val="111827"/>
                    </a:solidFill>
                    <a:latin typeface="Arial"/>
                  </a:rPr>
                  <a:t>, </a:t>
                </a:r>
                <a:r>
                  <a:rPr lang="en-IN" sz="2400">
                    <a:solidFill>
                      <a:srgbClr val="111827"/>
                    </a:solidFill>
                    <a:latin typeface="Cambria Math" panose="02040503050406030204" pitchFamily="18" charset="0"/>
                  </a:rPr>
                  <a:t>$\beta=-1+i\sqrt3$</a:t>
                </a:r>
                <a:r>
                  <a:rPr sz="2400" b="0">
                    <a:solidFill>
                      <a:srgbClr val="111827"/>
                    </a:solidFill>
                    <a:latin typeface="Arial"/>
                  </a:rPr>
                  <a:t> and </a:t>
                </a:r>
                <a:r>
                  <a:rPr lang="en-IN" sz="2400">
                    <a:solidFill>
                      <a:srgbClr val="111827"/>
                    </a:solidFill>
                    <a:latin typeface="Cambria Math" panose="02040503050406030204" pitchFamily="18" charset="0"/>
                  </a:rPr>
                  <a:t>$\gamma=-1-i\sqrt3$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equation with these roots is </a:t>
                </a:r>
                <a:r>
                  <a:rPr lang="en-IN" sz="2400">
                    <a:solidFill>
                      <a:srgbClr val="111827"/>
                    </a:solidFill>
                    <a:latin typeface="Cambria Math" panose="02040503050406030204" pitchFamily="18" charset="0"/>
                  </a:rPr>
                  <a:t>$(x-2)\left(x^2+2x+4\right)=0$</a:t>
                </a:r>
                <a:r>
                  <a:rPr sz="2400" b="0">
                    <a:solidFill>
                      <a:srgbClr val="111827"/>
                    </a:solidFill>
                    <a:latin typeface="Arial"/>
                  </a:rPr>
                  <a:t>, since </a:t>
                </a:r>
                <a:r>
                  <a:rPr lang="en-IN" sz="2400">
                    <a:solidFill>
                      <a:srgbClr val="111827"/>
                    </a:solidFill>
                    <a:latin typeface="Cambria Math" panose="02040503050406030204" pitchFamily="18" charset="0"/>
                  </a:rPr>
                  <a:t>$\beta+\gamma=-2$</a:t>
                </a:r>
                <a:r>
                  <a:rPr sz="2400" b="0">
                    <a:solidFill>
                      <a:srgbClr val="111827"/>
                    </a:solidFill>
                    <a:latin typeface="Arial"/>
                  </a:rPr>
                  <a:t> and </a:t>
                </a:r>
                <a:r>
                  <a:rPr lang="en-IN" sz="2400">
                    <a:solidFill>
                      <a:srgbClr val="111827"/>
                    </a:solidFill>
                    <a:latin typeface="Cambria Math" panose="02040503050406030204" pitchFamily="18" charset="0"/>
                  </a:rPr>
                  <a:t>$\beta\gamma=1+3=4$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 </a:t>
                </a:r>
                <a:r>
                  <a:rPr lang="en-IN" sz="2400">
                    <a:solidFill>
                      <a:srgbClr val="111827"/>
                    </a:solidFill>
                    <a:latin typeface="Cambria Math" panose="02040503050406030204" pitchFamily="18" charset="0"/>
                  </a:rPr>
                  <a:t>$x^3+2x^2+4x-2x^2-4x-8=x^3-8=0$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with </a:t>
                </a:r>
                <a:r>
                  <a:rPr lang="en-IN" sz="2400">
                    <a:solidFill>
                      <a:srgbClr val="111827"/>
                    </a:solidFill>
                    <a:latin typeface="Cambria Math" panose="02040503050406030204" pitchFamily="18" charset="0"/>
                  </a:rPr>
                  <a:t>$x^3+px^2+qx+r=0$</a:t>
                </a:r>
                <a:r>
                  <a:rPr sz="2400" b="0">
                    <a:solidFill>
                      <a:srgbClr val="111827"/>
                    </a:solidFill>
                    <a:latin typeface="Arial"/>
                  </a:rPr>
                  <a:t>: </a:t>
                </a:r>
                <a:r>
                  <a:rPr lang="en-IN" sz="2400">
                    <a:solidFill>
                      <a:srgbClr val="111827"/>
                    </a:solidFill>
                    <a:latin typeface="Cambria Math" panose="02040503050406030204" pitchFamily="18" charset="0"/>
                  </a:rPr>
                  <a:t>$p=0$</a:t>
                </a:r>
                <a:r>
                  <a:rPr sz="2400" b="0">
                    <a:solidFill>
                      <a:srgbClr val="111827"/>
                    </a:solidFill>
                    <a:latin typeface="Arial"/>
                  </a:rPr>
                  <a:t>, </a:t>
                </a:r>
                <a:r>
                  <a:rPr lang="en-IN" sz="2400">
                    <a:solidFill>
                      <a:srgbClr val="111827"/>
                    </a:solidFill>
                    <a:latin typeface="Cambria Math" panose="02040503050406030204" pitchFamily="18" charset="0"/>
                  </a:rPr>
                  <a:t>$q=0$</a:t>
                </a:r>
                <a:r>
                  <a:rPr sz="2400" b="0">
                    <a:solidFill>
                      <a:srgbClr val="111827"/>
                    </a:solidFill>
                    <a:latin typeface="Arial"/>
                  </a:rPr>
                  <a:t>, </a:t>
                </a:r>
                <a:r>
                  <a:rPr lang="en-IN" sz="2400">
                    <a:solidFill>
                      <a:srgbClr val="111827"/>
                    </a:solidFill>
                    <a:latin typeface="Cambria Math" panose="02040503050406030204" pitchFamily="18" charset="0"/>
                  </a:rPr>
                  <a:t>$r=-8$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$q+r-p=0-8-0=-8$</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8</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$-8$</a:t>
                </a:r>
                <a:endParaRPr sz="2800">
                  <a:solidFill>
                    <a:srgbClr val="15803D"/>
                  </a:solidFill>
                </a:endParaRPr>
              </a:p>
            </p:txBody>
          </p:sp>
        </mc:Fallback>
      </mc:AlternateContent>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other three vertices of the hexagon also form an equilateral triangle centred at </a:t>
                </a:r>
                <a14:m>
                  <m:oMath xmlns:m="http://schemas.openxmlformats.org/officeDocument/2006/math">
                    <m:r>
                      <a:rPr lang="en-IN" sz="2400" i="1">
                        <a:solidFill>
                          <a:srgbClr val="78350F"/>
                        </a:solidFill>
                        <a:latin typeface="Cambria Math" panose="02040503050406030204" pitchFamily="18" charset="0"/>
                      </a:rPr>
                      <m:t>𝑂</m:t>
                    </m:r>
                  </m:oMath>
                </a14:m>
                <a:r>
                  <a:rPr sz="2400" b="0">
                    <a:solidFill>
                      <a:srgbClr val="78350F"/>
                    </a:solidFill>
                    <a:latin typeface="Arial"/>
                  </a:rPr>
                  <a:t>, obtained from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by a </a:t>
                </a:r>
                <a14:m>
                  <m:oMath xmlns:m="http://schemas.openxmlformats.org/officeDocument/2006/math">
                    <m:sSup>
                      <m:e>
                        <m:r>
                          <a:rPr lang="en-IN" sz="2400" i="1">
                            <a:solidFill>
                              <a:srgbClr val="78350F"/>
                            </a:solidFill>
                            <a:latin typeface="Cambria Math" panose="02040503050406030204" pitchFamily="18" charset="0"/>
                          </a:rPr>
                          <m:t>180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turn, so the roots are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other three vertices of the hexagon also form an equilateral triangle centred at </a:t>
                </a:r>
                <a:r>
                  <a:rPr lang="en-IN" sz="2400">
                    <a:solidFill>
                      <a:srgbClr val="78350F"/>
                    </a:solidFill>
                    <a:latin typeface="Cambria Math" panose="02040503050406030204" pitchFamily="18" charset="0"/>
                  </a:rPr>
                  <a:t>$O$</a:t>
                </a:r>
                <a:r>
                  <a:rPr sz="2400" b="0">
                    <a:solidFill>
                      <a:srgbClr val="78350F"/>
                    </a:solidFill>
                    <a:latin typeface="Arial"/>
                  </a:rPr>
                  <a:t>, obtained from </a:t>
                </a:r>
                <a:r>
                  <a:rPr lang="en-IN" sz="2400">
                    <a:solidFill>
                      <a:srgbClr val="78350F"/>
                    </a:solidFill>
                    <a:latin typeface="Cambria Math" panose="02040503050406030204" pitchFamily="18" charset="0"/>
                  </a:rPr>
                  <a:t>$z_3$</a:t>
                </a:r>
                <a:r>
                  <a:rPr sz="2400" b="0">
                    <a:solidFill>
                      <a:srgbClr val="78350F"/>
                    </a:solidFill>
                    <a:latin typeface="Arial"/>
                  </a:rPr>
                  <a:t> by a </a:t>
                </a:r>
                <a:r>
                  <a:rPr lang="en-IN" sz="2400">
                    <a:solidFill>
                      <a:srgbClr val="78350F"/>
                    </a:solidFill>
                    <a:latin typeface="Cambria Math" panose="02040503050406030204" pitchFamily="18" charset="0"/>
                  </a:rPr>
                  <a:t>$180^\circ$</a:t>
                </a:r>
                <a:r>
                  <a:rPr sz="2400" b="0">
                    <a:solidFill>
                      <a:srgbClr val="78350F"/>
                    </a:solidFill>
                    <a:latin typeface="Arial"/>
                  </a:rPr>
                  <a:t> turn, so the roots are </a:t>
                </a:r>
                <a:r>
                  <a:rPr lang="en-IN" sz="2400">
                    <a:solidFill>
                      <a:srgbClr val="78350F"/>
                    </a:solidFill>
                    <a:latin typeface="Cambria Math" panose="02040503050406030204" pitchFamily="18" charset="0"/>
                  </a:rPr>
                  <a:t>$2,2\omega,2\omega^2$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hexagon is regular with centre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(moduli of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all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they are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apart),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γ</m:t>
                    </m:r>
                  </m:oMath>
                </a14:m>
                <a:r>
                  <a:rPr sz="2400" b="0">
                    <a:solidFill>
                      <a:srgbClr val="111827"/>
                    </a:solidFill>
                    <a:latin typeface="Arial"/>
                  </a:rPr>
                  <a:t> also lie 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apart.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vertex opposite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other two are obtained by rotating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through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ω</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γ</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hexagon is regular with centre </a:t>
                </a:r>
                <a:r>
                  <a:rPr lang="en-IN" sz="2400">
                    <a:solidFill>
                      <a:srgbClr val="111827"/>
                    </a:solidFill>
                    <a:latin typeface="Cambria Math" panose="02040503050406030204" pitchFamily="18" charset="0"/>
                  </a:rPr>
                  <a:t>$O$</a:t>
                </a:r>
                <a:r>
                  <a:rPr sz="2400" b="0">
                    <a:solidFill>
                      <a:srgbClr val="111827"/>
                    </a:solidFill>
                    <a:latin typeface="Arial"/>
                  </a:rPr>
                  <a:t> (moduli of </a:t>
                </a:r>
                <a:r>
                  <a:rPr lang="en-IN" sz="2400">
                    <a:solidFill>
                      <a:srgbClr val="111827"/>
                    </a:solidFill>
                    <a:latin typeface="Cambria Math" panose="02040503050406030204" pitchFamily="18" charset="0"/>
                  </a:rPr>
                  <a:t>$2z_1$</a:t>
                </a:r>
                <a:r>
                  <a:rPr sz="2400" b="0">
                    <a:solidFill>
                      <a:srgbClr val="111827"/>
                    </a:solidFill>
                    <a:latin typeface="Arial"/>
                  </a:rPr>
                  <a:t>, </a:t>
                </a:r>
                <a:r>
                  <a:rPr lang="en-IN" sz="2400">
                    <a:solidFill>
                      <a:srgbClr val="111827"/>
                    </a:solidFill>
                    <a:latin typeface="Cambria Math" panose="02040503050406030204" pitchFamily="18" charset="0"/>
                  </a:rPr>
                  <a:t>$2z_2$</a:t>
                </a:r>
                <a:r>
                  <a:rPr sz="2400" b="0">
                    <a:solidFill>
                      <a:srgbClr val="111827"/>
                    </a:solidFill>
                    <a:latin typeface="Arial"/>
                  </a:rPr>
                  <a:t>, </a:t>
                </a:r>
                <a:r>
                  <a:rPr lang="en-IN" sz="2400">
                    <a:solidFill>
                      <a:srgbClr val="111827"/>
                    </a:solidFill>
                    <a:latin typeface="Cambria Math" panose="02040503050406030204" pitchFamily="18" charset="0"/>
                  </a:rPr>
                  <a:t>$z_3$</a:t>
                </a:r>
                <a:r>
                  <a:rPr sz="2400" b="0">
                    <a:solidFill>
                      <a:srgbClr val="111827"/>
                    </a:solidFill>
                    <a:latin typeface="Arial"/>
                  </a:rPr>
                  <a:t> are all </a:t>
                </a:r>
                <a:r>
                  <a:rPr lang="en-IN" sz="2400">
                    <a:solidFill>
                      <a:srgbClr val="111827"/>
                    </a:solidFill>
                    <a:latin typeface="Cambria Math" panose="02040503050406030204" pitchFamily="18" charset="0"/>
                  </a:rPr>
                  <a:t>$2$</a:t>
                </a:r>
                <a:r>
                  <a:rPr sz="2400" b="0">
                    <a:solidFill>
                      <a:srgbClr val="111827"/>
                    </a:solidFill>
                    <a:latin typeface="Arial"/>
                  </a:rPr>
                  <a:t> and they are </a:t>
                </a:r>
                <a:r>
                  <a:rPr lang="en-IN" sz="2400">
                    <a:solidFill>
                      <a:srgbClr val="111827"/>
                    </a:solidFill>
                    <a:latin typeface="Cambria Math" panose="02040503050406030204" pitchFamily="18" charset="0"/>
                  </a:rPr>
                  <a:t>$120^\circ$</a:t>
                </a:r>
                <a:r>
                  <a:rPr sz="2400" b="0">
                    <a:solidFill>
                      <a:srgbClr val="111827"/>
                    </a:solidFill>
                    <a:latin typeface="Arial"/>
                  </a:rPr>
                  <a:t> apart), so </a:t>
                </a:r>
                <a:r>
                  <a:rPr lang="en-IN" sz="2400">
                    <a:solidFill>
                      <a:srgbClr val="111827"/>
                    </a:solidFill>
                    <a:latin typeface="Cambria Math" panose="02040503050406030204" pitchFamily="18" charset="0"/>
                  </a:rPr>
                  <a:t>$\alpha,\beta,\gamma$</a:t>
                </a:r>
                <a:r>
                  <a:rPr sz="2400" b="0">
                    <a:solidFill>
                      <a:srgbClr val="111827"/>
                    </a:solidFill>
                    <a:latin typeface="Arial"/>
                  </a:rPr>
                  <a:t> also lie on </a:t>
                </a:r>
                <a:r>
                  <a:rPr lang="en-IN" sz="2400">
                    <a:solidFill>
                      <a:srgbClr val="111827"/>
                    </a:solidFill>
                    <a:latin typeface="Cambria Math" panose="02040503050406030204" pitchFamily="18" charset="0"/>
                  </a:rPr>
                  <a:t>$|z|=2$</a:t>
                </a:r>
                <a:r>
                  <a:rPr sz="2400" b="0">
                    <a:solidFill>
                      <a:srgbClr val="111827"/>
                    </a:solidFill>
                    <a:latin typeface="Arial"/>
                  </a:rPr>
                  <a:t>, </a:t>
                </a:r>
                <a:r>
                  <a:rPr lang="en-IN" sz="2400">
                    <a:solidFill>
                      <a:srgbClr val="111827"/>
                    </a:solidFill>
                    <a:latin typeface="Cambria Math" panose="02040503050406030204" pitchFamily="18" charset="0"/>
                  </a:rPr>
                  <a:t>$120^\circ$</a:t>
                </a:r>
                <a:r>
                  <a:rPr sz="2400" b="0">
                    <a:solidFill>
                      <a:srgbClr val="111827"/>
                    </a:solidFill>
                    <a:latin typeface="Arial"/>
                  </a:rPr>
                  <a:t> apart.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vertex opposite </a:t>
                </a:r>
                <a:r>
                  <a:rPr lang="en-IN" sz="2400">
                    <a:solidFill>
                      <a:srgbClr val="111827"/>
                    </a:solidFill>
                    <a:latin typeface="Cambria Math" panose="02040503050406030204" pitchFamily="18" charset="0"/>
                  </a:rPr>
                  <a:t>$z_3=-2$</a:t>
                </a:r>
                <a:r>
                  <a:rPr sz="2400" b="0">
                    <a:solidFill>
                      <a:srgbClr val="111827"/>
                    </a:solidFill>
                    <a:latin typeface="Arial"/>
                  </a:rPr>
                  <a:t> is </a:t>
                </a:r>
                <a:r>
                  <a:rPr lang="en-IN" sz="2400">
                    <a:solidFill>
                      <a:srgbClr val="111827"/>
                    </a:solidFill>
                    <a:latin typeface="Cambria Math" panose="02040503050406030204" pitchFamily="18" charset="0"/>
                  </a:rPr>
                  <a:t>$\alpha=-z_3=2$</a:t>
                </a:r>
                <a:r>
                  <a:rPr sz="2400" b="0">
                    <a:solidFill>
                      <a:srgbClr val="111827"/>
                    </a:solidFill>
                    <a:latin typeface="Arial"/>
                  </a:rPr>
                  <a:t>; the other two are obtained by rotating </a:t>
                </a:r>
                <a:r>
                  <a:rPr lang="en-IN" sz="2400">
                    <a:solidFill>
                      <a:srgbClr val="111827"/>
                    </a:solidFill>
                    <a:latin typeface="Cambria Math" panose="02040503050406030204" pitchFamily="18" charset="0"/>
                  </a:rPr>
                  <a:t>$\alpha$</a:t>
                </a:r>
                <a:r>
                  <a:rPr sz="2400" b="0">
                    <a:solidFill>
                      <a:srgbClr val="111827"/>
                    </a:solidFill>
                    <a:latin typeface="Arial"/>
                  </a:rPr>
                  <a:t> through </a:t>
                </a:r>
                <a:r>
                  <a:rPr lang="en-IN" sz="2400">
                    <a:solidFill>
                      <a:srgbClr val="111827"/>
                    </a:solidFill>
                    <a:latin typeface="Cambria Math" panose="02040503050406030204" pitchFamily="18" charset="0"/>
                  </a:rPr>
                  <a:t>$\pm120^\circ$</a:t>
                </a:r>
                <a:r>
                  <a:rPr sz="2400" b="0">
                    <a:solidFill>
                      <a:srgbClr val="111827"/>
                    </a:solidFill>
                    <a:latin typeface="Arial"/>
                  </a:rPr>
                  <a:t>: </a:t>
                </a:r>
                <a:r>
                  <a:rPr lang="en-IN" sz="2400">
                    <a:solidFill>
                      <a:srgbClr val="111827"/>
                    </a:solidFill>
                    <a:latin typeface="Cambria Math" panose="02040503050406030204" pitchFamily="18" charset="0"/>
                  </a:rPr>
                  <a:t>$\beta=2\omega$</a:t>
                </a:r>
                <a:r>
                  <a:rPr sz="2400" b="0">
                    <a:solidFill>
                      <a:srgbClr val="111827"/>
                    </a:solidFill>
                    <a:latin typeface="Arial"/>
                  </a:rPr>
                  <a:t>, </a:t>
                </a:r>
                <a:r>
                  <a:rPr lang="en-IN" sz="2400">
                    <a:solidFill>
                      <a:srgbClr val="111827"/>
                    </a:solidFill>
                    <a:latin typeface="Cambria Math" panose="02040503050406030204" pitchFamily="18" charset="0"/>
                  </a:rPr>
                  <a:t>$\gamma=2\omega^2$</a:t>
                </a:r>
                <a:r>
                  <a:rPr sz="2400" b="0">
                    <a:solidFill>
                      <a:srgbClr val="111827"/>
                    </a:solidFill>
                    <a:latin typeface="Arial"/>
                  </a:rPr>
                  <a:t> with </a:t>
                </a:r>
                <a:r>
                  <a:rPr lang="en-IN" sz="2400">
                    <a:solidFill>
                      <a:srgbClr val="111827"/>
                    </a:solidFill>
                    <a:latin typeface="Cambria Math" panose="02040503050406030204" pitchFamily="18" charset="0"/>
                  </a:rPr>
                  <a:t>$\omega=e^{2\pi i/3}$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These are exactly the cube roots of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the equation is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(no expansion needed).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These are exactly the cube roots of </a:t>
                </a:r>
                <a:r>
                  <a:rPr lang="en-IN" sz="2400">
                    <a:solidFill>
                      <a:srgbClr val="111827"/>
                    </a:solidFill>
                    <a:latin typeface="Cambria Math" panose="02040503050406030204" pitchFamily="18" charset="0"/>
                  </a:rPr>
                  <a:t>$2^3=8$</a:t>
                </a:r>
                <a:r>
                  <a:rPr sz="2400" b="0">
                    <a:solidFill>
                      <a:srgbClr val="111827"/>
                    </a:solidFill>
                    <a:latin typeface="Arial"/>
                  </a:rPr>
                  <a:t>, so the equation is </a:t>
                </a:r>
                <a:r>
                  <a:rPr lang="en-IN" sz="2400">
                    <a:solidFill>
                      <a:srgbClr val="111827"/>
                    </a:solidFill>
                    <a:latin typeface="Cambria Math" panose="02040503050406030204" pitchFamily="18" charset="0"/>
                  </a:rPr>
                  <a:t>$x^3-8=0$</a:t>
                </a:r>
                <a:r>
                  <a:rPr sz="2400" b="0">
                    <a:solidFill>
                      <a:srgbClr val="111827"/>
                    </a:solidFill>
                    <a:latin typeface="Arial"/>
                  </a:rPr>
                  <a:t> (no expansion needed).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r>
                  <a:rPr lang="en-IN" sz="2400">
                    <a:solidFill>
                      <a:srgbClr val="111827"/>
                    </a:solidFill>
                    <a:latin typeface="Cambria Math" panose="02040503050406030204" pitchFamily="18" charset="0"/>
                  </a:rPr>
                  <a:t>$p=q=0$</a:t>
                </a:r>
                <a:r>
                  <a:rPr sz="2400" b="0">
                    <a:solidFill>
                      <a:srgbClr val="111827"/>
                    </a:solidFill>
                    <a:latin typeface="Arial"/>
                  </a:rPr>
                  <a:t>, </a:t>
                </a:r>
                <a:r>
                  <a:rPr lang="en-IN" sz="2400">
                    <a:solidFill>
                      <a:srgbClr val="111827"/>
                    </a:solidFill>
                    <a:latin typeface="Cambria Math" panose="02040503050406030204" pitchFamily="18" charset="0"/>
                  </a:rPr>
                  <a:t>$r=-8$</a:t>
                </a:r>
                <a:r>
                  <a:rPr sz="2400" b="0">
                    <a:solidFill>
                      <a:srgbClr val="111827"/>
                    </a:solidFill>
                    <a:latin typeface="Arial"/>
                  </a:rPr>
                  <a:t> and </a:t>
                </a:r>
                <a:r>
                  <a:rPr lang="en-IN" sz="2400">
                    <a:solidFill>
                      <a:srgbClr val="111827"/>
                    </a:solidFill>
                    <a:latin typeface="Cambria Math" panose="02040503050406030204" pitchFamily="18" charset="0"/>
                  </a:rPr>
                  <a:t>$q+r-p=-8$</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8</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$-8$</a:t>
                </a:r>
                <a:endParaRPr sz="2800">
                  <a:solidFill>
                    <a:srgbClr val="15803D"/>
                  </a:solidFill>
                </a:endParaRPr>
              </a:p>
            </p:txBody>
          </p:sp>
        </mc:Fallback>
      </mc:AlternateContent>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vertices of a regular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-gon centred at the origin with circumradius </a:t>
                </a:r>
                <a14:m>
                  <m:oMath xmlns:m="http://schemas.openxmlformats.org/officeDocument/2006/math">
                    <m:r>
                      <a:rPr lang="en-IN" sz="2400" i="1">
                        <a:solidFill>
                          <a:srgbClr val="111827"/>
                        </a:solidFill>
                        <a:latin typeface="Cambria Math" panose="02040503050406030204" pitchFamily="18" charset="0"/>
                      </a:rPr>
                      <m:t>ρ</m:t>
                    </m:r>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ρ</m:t>
                        </m:r>
                      </m:e>
                      <m:sup>
                        <m:r>
                          <a:rPr lang="en-IN" sz="2400" i="1">
                            <a:solidFill>
                              <a:srgbClr val="111827"/>
                            </a:solidFill>
                            <a:latin typeface="Cambria Math" panose="02040503050406030204" pitchFamily="18" charset="0"/>
                          </a:rPr>
                          <m:t>𝑛</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𝑛</m:t>
                        </m:r>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0</m:t>
                            </m:r>
                          </m:sub>
                        </m:sSub>
                      </m:sup>
                    </m:sSup>
                  </m:oMath>
                </a14:m>
                <a:r>
                  <a:rPr sz="2400" b="0">
                    <a:solidFill>
                      <a:srgbClr val="111827"/>
                    </a:solidFill>
                    <a:latin typeface="Arial"/>
                  </a:rPr>
                  <a:t> for the right </a:t>
                </a:r>
                <a14:m>
                  <m:oMath xmlns:m="http://schemas.openxmlformats.org/officeDocument/2006/math">
                    <m:sSub>
                      <m:e>
                        <m:r>
                          <a:rPr lang="en-IN" sz="2400" i="1">
                            <a:solidFill>
                              <a:srgbClr val="111827"/>
                            </a:solidFill>
                            <a:latin typeface="Cambria Math" panose="02040503050406030204" pitchFamily="18" charset="0"/>
                          </a:rPr>
                          <m:t>θ</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for alternate vertices of a hexagon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with a vertex at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they are the roots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Opposite vertices of a regular hexagon centred at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are negatives of each other: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the vertex opposite to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with roots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verified: all three roots satisfy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vertices of a regular </a:t>
                </a:r>
                <a:r>
                  <a:rPr lang="en-IN" sz="2400">
                    <a:solidFill>
                      <a:srgbClr val="111827"/>
                    </a:solidFill>
                    <a:latin typeface="Cambria Math" panose="02040503050406030204" pitchFamily="18" charset="0"/>
                  </a:rPr>
                  <a:t>$n$</a:t>
                </a:r>
                <a:r>
                  <a:rPr sz="2400" b="0">
                    <a:solidFill>
                      <a:srgbClr val="111827"/>
                    </a:solidFill>
                    <a:latin typeface="Arial"/>
                  </a:rPr>
                  <a:t>-gon centred at the origin with circumradius </a:t>
                </a:r>
                <a:r>
                  <a:rPr lang="en-IN" sz="2400">
                    <a:solidFill>
                      <a:srgbClr val="111827"/>
                    </a:solidFill>
                    <a:latin typeface="Cambria Math" panose="02040503050406030204" pitchFamily="18" charset="0"/>
                  </a:rPr>
                  <a:t>$\rho$</a:t>
                </a:r>
                <a:r>
                  <a:rPr sz="2400" b="0">
                    <a:solidFill>
                      <a:srgbClr val="111827"/>
                    </a:solidFill>
                    <a:latin typeface="Arial"/>
                  </a:rPr>
                  <a:t> are the roots of </a:t>
                </a:r>
                <a:r>
                  <a:rPr lang="en-IN" sz="2400">
                    <a:solidFill>
                      <a:srgbClr val="111827"/>
                    </a:solidFill>
                    <a:latin typeface="Cambria Math" panose="02040503050406030204" pitchFamily="18" charset="0"/>
                  </a:rPr>
                  <a:t>$x^n=\rho^n e^{in\theta_0}$</a:t>
                </a:r>
                <a:r>
                  <a:rPr sz="2400" b="0">
                    <a:solidFill>
                      <a:srgbClr val="111827"/>
                    </a:solidFill>
                    <a:latin typeface="Arial"/>
                  </a:rPr>
                  <a:t> for the right </a:t>
                </a:r>
                <a:r>
                  <a:rPr lang="en-IN" sz="2400">
                    <a:solidFill>
                      <a:srgbClr val="111827"/>
                    </a:solidFill>
                    <a:latin typeface="Cambria Math" panose="02040503050406030204" pitchFamily="18" charset="0"/>
                  </a:rPr>
                  <a:t>$\theta_0$</a:t>
                </a:r>
                <a:r>
                  <a:rPr sz="2400" b="0">
                    <a:solidFill>
                      <a:srgbClr val="111827"/>
                    </a:solidFill>
                    <a:latin typeface="Arial"/>
                  </a:rPr>
                  <a:t>; for alternate vertices of a hexagon (</a:t>
                </a:r>
                <a:r>
                  <a:rPr lang="en-IN" sz="2400">
                    <a:solidFill>
                      <a:srgbClr val="111827"/>
                    </a:solidFill>
                    <a:latin typeface="Cambria Math" panose="02040503050406030204" pitchFamily="18" charset="0"/>
                  </a:rPr>
                  <a:t>$n=3$</a:t>
                </a:r>
                <a:r>
                  <a:rPr sz="2400" b="0">
                    <a:solidFill>
                      <a:srgbClr val="111827"/>
                    </a:solidFill>
                    <a:latin typeface="Arial"/>
                  </a:rPr>
                  <a:t>) with a vertex at </a:t>
                </a:r>
                <a:r>
                  <a:rPr lang="en-IN" sz="2400">
                    <a:solidFill>
                      <a:srgbClr val="111827"/>
                    </a:solidFill>
                    <a:latin typeface="Cambria Math" panose="02040503050406030204" pitchFamily="18" charset="0"/>
                  </a:rPr>
                  <a:t>$a$</a:t>
                </a:r>
                <a:r>
                  <a:rPr sz="2400" b="0">
                    <a:solidFill>
                      <a:srgbClr val="111827"/>
                    </a:solidFill>
                    <a:latin typeface="Arial"/>
                  </a:rPr>
                  <a:t> they are the roots of </a:t>
                </a:r>
                <a:r>
                  <a:rPr lang="en-IN" sz="2400">
                    <a:solidFill>
                      <a:srgbClr val="111827"/>
                    </a:solidFill>
                    <a:latin typeface="Cambria Math" panose="02040503050406030204" pitchFamily="18" charset="0"/>
                  </a:rPr>
                  <a:t>$x^3=a^3$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Opposite vertices of a regular hexagon centred at </a:t>
                </a:r>
                <a:r>
                  <a:rPr lang="en-IN" sz="2400">
                    <a:solidFill>
                      <a:srgbClr val="111827"/>
                    </a:solidFill>
                    <a:latin typeface="Cambria Math" panose="02040503050406030204" pitchFamily="18" charset="0"/>
                  </a:rPr>
                  <a:t>$O$</a:t>
                </a:r>
                <a:r>
                  <a:rPr sz="2400" b="0">
                    <a:solidFill>
                      <a:srgbClr val="111827"/>
                    </a:solidFill>
                    <a:latin typeface="Arial"/>
                  </a:rPr>
                  <a:t> are negatives of each other: </a:t>
                </a:r>
                <a:r>
                  <a:rPr lang="en-IN" sz="2400">
                    <a:solidFill>
                      <a:srgbClr val="111827"/>
                    </a:solidFill>
                    <a:latin typeface="Cambria Math" panose="02040503050406030204" pitchFamily="18" charset="0"/>
                  </a:rPr>
                  <a:t>$-z_3=2$</a:t>
                </a:r>
                <a:r>
                  <a:rPr sz="2400" b="0">
                    <a:solidFill>
                      <a:srgbClr val="111827"/>
                    </a:solidFill>
                    <a:latin typeface="Arial"/>
                  </a:rPr>
                  <a:t> is the vertex opposite to </a:t>
                </a:r>
                <a:r>
                  <a:rPr lang="en-IN" sz="2400">
                    <a:solidFill>
                      <a:srgbClr val="111827"/>
                    </a:solidFill>
                    <a:latin typeface="Cambria Math" panose="02040503050406030204" pitchFamily="18" charset="0"/>
                  </a:rPr>
                  <a:t>$z_3$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$x^3+px^2+qx+r$</a:t>
                </a:r>
                <a:r>
                  <a:rPr sz="2400" b="0">
                    <a:solidFill>
                      <a:srgbClr val="111827"/>
                    </a:solidFill>
                    <a:latin typeface="Arial"/>
                  </a:rPr>
                  <a:t> with roots </a:t>
                </a:r>
                <a:r>
                  <a:rPr lang="en-IN" sz="2400">
                    <a:solidFill>
                      <a:srgbClr val="111827"/>
                    </a:solidFill>
                    <a:latin typeface="Cambria Math" panose="02040503050406030204" pitchFamily="18" charset="0"/>
                  </a:rPr>
                  <a:t>$a,a\omega,a\omega^2$</a:t>
                </a:r>
                <a:r>
                  <a:rPr sz="2400" b="0">
                    <a:solidFill>
                      <a:srgbClr val="111827"/>
                    </a:solidFill>
                    <a:latin typeface="Arial"/>
                  </a:rPr>
                  <a:t>: </a:t>
                </a:r>
                <a:r>
                  <a:rPr lang="en-IN" sz="2400">
                    <a:solidFill>
                      <a:srgbClr val="111827"/>
                    </a:solidFill>
                    <a:latin typeface="Cambria Math" panose="02040503050406030204" pitchFamily="18" charset="0"/>
                  </a:rPr>
                  <a:t>$p=q=0$</a:t>
                </a:r>
                <a:r>
                  <a:rPr sz="2400" b="0">
                    <a:solidFill>
                      <a:srgbClr val="111827"/>
                    </a:solidFill>
                    <a:latin typeface="Arial"/>
                  </a:rPr>
                  <a:t> and </a:t>
                </a:r>
                <a:r>
                  <a:rPr lang="en-IN" sz="2400">
                    <a:solidFill>
                      <a:srgbClr val="111827"/>
                    </a:solidFill>
                    <a:latin typeface="Cambria Math" panose="02040503050406030204" pitchFamily="18" charset="0"/>
                  </a:rPr>
                  <a:t>$r=-a^3$</a:t>
                </a:r>
                <a:r>
                  <a:rPr sz="2400" b="0">
                    <a:solidFill>
                      <a:srgbClr val="111827"/>
                    </a:solidFill>
                    <a:latin typeface="Arial"/>
                  </a:rPr>
                  <a:t> (here </a:t>
                </a:r>
                <a:r>
                  <a:rPr lang="en-IN" sz="2400">
                    <a:solidFill>
                      <a:srgbClr val="111827"/>
                    </a:solidFill>
                    <a:latin typeface="Cambria Math" panose="02040503050406030204" pitchFamily="18" charset="0"/>
                  </a:rPr>
                  <a:t>$a=2$</a:t>
                </a:r>
                <a:r>
                  <a:rPr sz="2400" b="0">
                    <a:solidFill>
                      <a:srgbClr val="111827"/>
                    </a:solidFill>
                    <a:latin typeface="Arial"/>
                  </a:rPr>
                  <a:t>, </a:t>
                </a:r>
                <a:r>
                  <a:rPr lang="en-IN" sz="2400">
                    <a:solidFill>
                      <a:srgbClr val="111827"/>
                    </a:solidFill>
                    <a:latin typeface="Cambria Math" panose="02040503050406030204" pitchFamily="18" charset="0"/>
                  </a:rPr>
                  <a:t>$r=-8$</a:t>
                </a:r>
                <a:r>
                  <a:rPr sz="2400" b="0">
                    <a:solidFill>
                      <a:srgbClr val="111827"/>
                    </a:solidFill>
                    <a:latin typeface="Arial"/>
                  </a:rPr>
                  <a:t>; verified: all three roots satisfy </a:t>
                </a:r>
                <a:r>
                  <a:rPr lang="en-IN" sz="2400">
                    <a:solidFill>
                      <a:srgbClr val="111827"/>
                    </a:solidFill>
                    <a:latin typeface="Cambria Math" panose="02040503050406030204" pitchFamily="18" charset="0"/>
                  </a:rPr>
                  <a:t>$x^3=8$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50</m:t>
                        </m:r>
                      </m:sup>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e>
                    </m:nary>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e>
                    </m:nary>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100</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50</m:t>
                        </m:r>
                      </m:sup>
                    </m:sSup>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100</m:t>
                        </m:r>
                      </m:sup>
                    </m:sSup>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$P=\sum_{r=1}^{50}\frac{{}^{50+r}C_r(2r-1)}{{}^{50}C_r(50+r)}$</a:t>
                </a:r>
                <a:r>
                  <a:rPr sz="2400" b="0">
                    <a:solidFill>
                      <a:srgbClr val="111827"/>
                    </a:solidFill>
                    <a:latin typeface="Arial"/>
                  </a:rPr>
                  <a:t>, </a:t>
                </a:r>
                <a:r>
                  <a:rPr lang="en-IN" sz="2400">
                    <a:solidFill>
                      <a:srgbClr val="111827"/>
                    </a:solidFill>
                    <a:latin typeface="Cambria Math" panose="02040503050406030204" pitchFamily="18" charset="0"/>
                  </a:rPr>
                  <a:t>$Q=\sum_{r=0}^{50}\left({}^{50}C_r\right)^2$</a:t>
                </a:r>
                <a:r>
                  <a:rPr sz="2400" b="0">
                    <a:solidFill>
                      <a:srgbClr val="111827"/>
                    </a:solidFill>
                    <a:latin typeface="Arial"/>
                  </a:rPr>
                  <a:t>, </a:t>
                </a:r>
                <a:r>
                  <a:rPr lang="en-IN" sz="2400">
                    <a:solidFill>
                      <a:srgbClr val="111827"/>
                    </a:solidFill>
                    <a:latin typeface="Cambria Math" panose="02040503050406030204" pitchFamily="18" charset="0"/>
                  </a:rPr>
                  <a:t>$R=\sum_{r=0}^{100}(-1)^r\left({}^{100}C_r\right)^2$</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$P-Q$</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$-1$</a:t>
                </a:r>
                <a:r>
                  <a:rPr sz="2400" b="0">
                    <a:solidFill>
                      <a:srgbClr val="111827"/>
                    </a:solidFill>
                    <a:latin typeface="Arial"/>
                  </a:rPr>
                  <a:t>   (C) </a:t>
                </a:r>
                <a:r>
                  <a:rPr lang="en-IN" sz="2400">
                    <a:solidFill>
                      <a:srgbClr val="111827"/>
                    </a:solidFill>
                    <a:latin typeface="Cambria Math" panose="02040503050406030204" pitchFamily="18" charset="0"/>
                  </a:rPr>
                  <a:t>$2^{50}$</a:t>
                </a:r>
                <a:r>
                  <a:rPr sz="2400" b="0">
                    <a:solidFill>
                      <a:srgbClr val="111827"/>
                    </a:solidFill>
                    <a:latin typeface="Arial"/>
                  </a:rPr>
                  <a:t>   (D) </a:t>
                </a:r>
                <a:r>
                  <a:rPr lang="en-IN" sz="2400">
                    <a:solidFill>
                      <a:srgbClr val="111827"/>
                    </a:solidFill>
                    <a:latin typeface="Cambria Math" panose="02040503050406030204" pitchFamily="18" charset="0"/>
                  </a:rPr>
                  <a:t>$2^{100}$</a:t>
                </a:r>
                <a:endParaRPr sz="2400">
                  <a:solidFill>
                    <a:srgbClr val="111827"/>
                  </a:solidFill>
                </a:endParaRPr>
              </a:p>
            </p:txBody>
          </p:sp>
        </mc:Fallback>
      </mc:AlternateContent>
      <p:sp>
        <p:nvSpPr>
          <p:cNvPr id="5" name="Rectangle 4"/>
          <p:cNvSpPr/>
          <p:nvPr/>
        </p:nvSpPr>
        <p:spPr>
          <a:xfrm>
            <a:off x="731520" y="4125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telescoping sums and binomial identities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the summand as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𝑉</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50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num>
                      <m:den>
                        <m:sSup>
                          <m:e>
                            <m:r>
                              <a:rPr lang="en-IN" sz="2400" i="1">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50</m:t>
                            </m:r>
                          </m:sup>
                        </m:sSup>
                        <m:sSub>
                          <m:e>
                            <m:r>
                              <a:rPr lang="en-IN" sz="2400" i="1">
                                <a:solidFill>
                                  <a:srgbClr val="78350F"/>
                                </a:solidFill>
                                <a:latin typeface="Cambria Math" panose="02040503050406030204" pitchFamily="18" charset="0"/>
                              </a:rPr>
                              <m:t>𝐶</m:t>
                            </m:r>
                          </m:e>
                          <m:sub>
                            <m:r>
                              <a:rPr lang="en-IN" sz="2400" i="1">
                                <a:solidFill>
                                  <a:srgbClr val="78350F"/>
                                </a:solidFill>
                                <a:latin typeface="Cambria Math" panose="02040503050406030204" pitchFamily="18" charset="0"/>
                              </a:rPr>
                              <m:t>𝑟</m:t>
                            </m:r>
                          </m:sub>
                        </m:sSub>
                      </m:den>
                    </m:f>
                  </m:oMath>
                </a14:m>
                <a:r>
                  <a:rPr sz="2400" b="0">
                    <a:solidFill>
                      <a:srgbClr val="78350F"/>
                    </a:solidFill>
                    <a:latin typeface="Arial"/>
                  </a:rPr>
                  <a:t>, and use Vandermonde for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the summand as </a:t>
                </a:r>
                <a:r>
                  <a:rPr lang="en-IN" sz="2400">
                    <a:solidFill>
                      <a:srgbClr val="78350F"/>
                    </a:solidFill>
                    <a:latin typeface="Cambria Math" panose="02040503050406030204" pitchFamily="18" charset="0"/>
                  </a:rPr>
                  <a:t>$V(r)-V(r-1)$</a:t>
                </a:r>
                <a:r>
                  <a:rPr sz="2400" b="0">
                    <a:solidFill>
                      <a:srgbClr val="78350F"/>
                    </a:solidFill>
                    <a:latin typeface="Arial"/>
                  </a:rPr>
                  <a:t> with </a:t>
                </a:r>
                <a:r>
                  <a:rPr lang="en-IN" sz="2400">
                    <a:solidFill>
                      <a:srgbClr val="78350F"/>
                    </a:solidFill>
                    <a:latin typeface="Cambria Math" panose="02040503050406030204" pitchFamily="18" charset="0"/>
                  </a:rPr>
                  <a:t>$V(r)=\frac{{}^{50+r}C_r}{{}^{50}C_r}$</a:t>
                </a:r>
                <a:r>
                  <a:rPr sz="2400" b="0">
                    <a:solidFill>
                      <a:srgbClr val="78350F"/>
                    </a:solidFill>
                    <a:latin typeface="Arial"/>
                  </a:rPr>
                  <a:t>, and use Vandermonde for </a:t>
                </a:r>
                <a:r>
                  <a:rPr lang="en-IN" sz="2400">
                    <a:solidFill>
                      <a:srgbClr val="78350F"/>
                    </a:solidFill>
                    <a:latin typeface="Cambria Math" panose="02040503050406030204" pitchFamily="18" charset="0"/>
                  </a:rPr>
                  <a:t>$Q$</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since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the second part: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r>
                  <a:rPr lang="en-IN" sz="2400">
                    <a:solidFill>
                      <a:srgbClr val="111827"/>
                    </a:solidFill>
                    <a:latin typeface="Cambria Math" panose="02040503050406030204" pitchFamily="18" charset="0"/>
                  </a:rPr>
                  <a:t>$T(r)=\frac{{}^{50+r}C_r(2r-1)}{{}^{50}C_r(50+r)}=\frac{{}^{50+r}C_r}{{}^{50}C_r}\left(1-\frac{50-r+1}{50+r}\right)$</a:t>
                </a:r>
                <a:r>
                  <a:rPr sz="2400" b="0">
                    <a:solidFill>
                      <a:srgbClr val="111827"/>
                    </a:solidFill>
                    <a:latin typeface="Arial"/>
                  </a:rPr>
                  <a:t>, since </a:t>
                </a:r>
                <a:r>
                  <a:rPr lang="en-IN" sz="2400">
                    <a:solidFill>
                      <a:srgbClr val="111827"/>
                    </a:solidFill>
                    <a:latin typeface="Cambria Math" panose="02040503050406030204" pitchFamily="18" charset="0"/>
                  </a:rPr>
                  <a:t>$\frac{2r-1}{50+r}=1-\frac{51-r}{50+r}$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$T(r)=\frac{{}^{50+r}C_r}{{}^{50}C_r}-\frac{{}^{50+r}C_r}{{}^{50}C_r}\cdot\frac{50-r+1}{50+r}$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the second part: </a:t>
                </a:r>
                <a:r>
                  <a:rPr lang="en-IN" sz="2400">
                    <a:solidFill>
                      <a:srgbClr val="111827"/>
                    </a:solidFill>
                    <a:latin typeface="Cambria Math" panose="02040503050406030204" pitchFamily="18" charset="0"/>
                  </a:rPr>
                  <a:t>$\frac{{}^{50+r}C_r}{{}^{50}C_r}\cdot\frac{50-r+1}{50+r}=\frac{(50-r+1)(50+r)!\,r!\,(50-r)!}{r!\,50!\,(50+r)\,50!}=\frac{{}^{50+r-1}C_{r-1}}{{}^{50}C_{r-1}}$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$T(r)=V(r)-V(r-1)$</a:t>
                </a:r>
                <a:r>
                  <a:rPr sz="2400" b="0">
                    <a:solidFill>
                      <a:srgbClr val="111827"/>
                    </a:solidFill>
                    <a:latin typeface="Arial"/>
                  </a:rPr>
                  <a:t> where </a:t>
                </a:r>
                <a:r>
                  <a:rPr lang="en-IN" sz="2400">
                    <a:solidFill>
                      <a:srgbClr val="111827"/>
                    </a:solidFill>
                    <a:latin typeface="Cambria Math" panose="02040503050406030204" pitchFamily="18" charset="0"/>
                  </a:rPr>
                  <a:t>$V(r)=\frac{{}^{50+r}C_r}{{}^{50}C_r}$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telescopes: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50</m:t>
                        </m:r>
                      </m:sup>
                      <m:e>
                        <m:r>
                          <a:rPr lang="en-IN" sz="2400" i="1">
                            <a:solidFill>
                              <a:srgbClr val="111827"/>
                            </a:solidFill>
                            <a:latin typeface="Cambria Math" panose="02040503050406030204" pitchFamily="18" charset="0"/>
                          </a:rPr>
                          <m:t>𝑇</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e>
                    </m:nary>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Sub>
                  </m:oMath>
                </a14:m>
                <a:r>
                  <a:rPr sz="2400" b="0">
                    <a:solidFill>
                      <a:srgbClr val="111827"/>
                    </a:solidFill>
                    <a:latin typeface="Arial"/>
                  </a:rPr>
                  <a:t>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50</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telescopes: </a:t>
                </a:r>
                <a:r>
                  <a:rPr lang="en-IN" sz="2400">
                    <a:solidFill>
                      <a:srgbClr val="111827"/>
                    </a:solidFill>
                    <a:latin typeface="Cambria Math" panose="02040503050406030204" pitchFamily="18" charset="0"/>
                  </a:rPr>
                  <a:t>$P=\sum_{r=1}^{50}T(r)=V(50)-V(0)=\frac{{}^{100}C_{50}}{{}^{50}C_{50}}-\frac{{}^{50}C_0}{{}^{50}C_0}={}^{100}C_{50}-1$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$Q$</a:t>
                </a:r>
                <a:r>
                  <a:rPr sz="2400" b="0">
                    <a:solidFill>
                      <a:srgbClr val="111827"/>
                    </a:solidFill>
                    <a:latin typeface="Arial"/>
                  </a:rPr>
                  <a:t>: </a:t>
                </a:r>
                <a:r>
                  <a:rPr lang="en-IN" sz="2400">
                    <a:solidFill>
                      <a:srgbClr val="111827"/>
                    </a:solidFill>
                    <a:latin typeface="Cambria Math" panose="02040503050406030204" pitchFamily="18" charset="0"/>
                  </a:rPr>
                  <a:t>$\sum_{r=0}^{50}\left({}^{50}C_r\right)^2=\sum_{r=0}^{50}{}^{50}C_r\,{}^{50}C_{50-r}$</a:t>
                </a:r>
                <a:r>
                  <a:rPr sz="2400" b="0">
                    <a:solidFill>
                      <a:srgbClr val="111827"/>
                    </a:solidFill>
                    <a:latin typeface="Arial"/>
                  </a:rPr>
                  <a:t> is the coefficient of </a:t>
                </a:r>
                <a:r>
                  <a:rPr lang="en-IN" sz="2400">
                    <a:solidFill>
                      <a:srgbClr val="111827"/>
                    </a:solidFill>
                    <a:latin typeface="Cambria Math" panose="02040503050406030204" pitchFamily="18" charset="0"/>
                  </a:rPr>
                  <a:t>$x^{50}$</a:t>
                </a:r>
                <a:r>
                  <a:rPr sz="2400" b="0">
                    <a:solidFill>
                      <a:srgbClr val="111827"/>
                    </a:solidFill>
                    <a:latin typeface="Arial"/>
                  </a:rPr>
                  <a:t> in </a:t>
                </a:r>
                <a:r>
                  <a:rPr lang="en-IN" sz="2400">
                    <a:solidFill>
                      <a:srgbClr val="111827"/>
                    </a:solidFill>
                    <a:latin typeface="Cambria Math" panose="02040503050406030204" pitchFamily="18" charset="0"/>
                  </a:rPr>
                  <a:t>$(1+x)^{50}(1+x)^{50}=(1+x)^{100}$</a:t>
                </a:r>
                <a:r>
                  <a:rPr sz="2400" b="0">
                    <a:solidFill>
                      <a:srgbClr val="111827"/>
                    </a:solidFill>
                    <a:latin typeface="Arial"/>
                  </a:rPr>
                  <a:t>, so </a:t>
                </a:r>
                <a:r>
                  <a:rPr lang="en-IN" sz="2400">
                    <a:solidFill>
                      <a:srgbClr val="111827"/>
                    </a:solidFill>
                    <a:latin typeface="Cambria Math" panose="02040503050406030204" pitchFamily="18" charset="0"/>
                  </a:rPr>
                  <a:t>$Q={}^{100}C_{50}$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$P-Q=\left({}^{100}C_{50}-1\right)-{}^{100}C_{50}=-1$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$-1$</a:t>
                </a:r>
                <a:endParaRPr sz="2800">
                  <a:solidFill>
                    <a:srgbClr val="15803D"/>
                  </a:solidFill>
                </a:endParaRPr>
              </a:p>
            </p:txBody>
          </p:sp>
        </mc:Fallback>
      </mc:AlternateContent>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by lattice paths, and prove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in factorial form by checking </a:t>
                </a:r>
                <a14:m>
                  <m:oMath xmlns:m="http://schemas.openxmlformats.org/officeDocument/2006/math">
                    <m:sSub>
                      <m:e>
                        <m:r>
                          <a:rPr lang="en-IN" sz="2400" i="1">
                            <a:solidFill>
                              <a:srgbClr val="78350F"/>
                            </a:solidFill>
                            <a:latin typeface="Cambria Math" panose="02040503050406030204" pitchFamily="18" charset="0"/>
                          </a:rPr>
                          <m:t>𝑎</m:t>
                        </m:r>
                      </m:e>
                      <m:sub>
                        <m:r>
                          <a:rPr lang="en-IN" sz="2400" i="1">
                            <a:solidFill>
                              <a:srgbClr val="78350F"/>
                            </a:solidFill>
                            <a:latin typeface="Cambria Math" panose="02040503050406030204" pitchFamily="18" charset="0"/>
                          </a:rPr>
                          <m:t>𝑟</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𝑎</m:t>
                        </m:r>
                      </m:e>
                      <m:sub>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b>
                    </m:sSub>
                  </m:oMath>
                </a14:m>
                <a:r>
                  <a:rPr sz="2400" b="0">
                    <a:solidFill>
                      <a:srgbClr val="78350F"/>
                    </a:solidFill>
                    <a:latin typeface="Arial"/>
                  </a:rPr>
                  <a:t> directly.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a:t>
                </a:r>
                <a:r>
                  <a:rPr lang="en-IN" sz="2400">
                    <a:solidFill>
                      <a:srgbClr val="78350F"/>
                    </a:solidFill>
                    <a:latin typeface="Cambria Math" panose="02040503050406030204" pitchFamily="18" charset="0"/>
                  </a:rPr>
                  <a:t>$Q$</a:t>
                </a:r>
                <a:r>
                  <a:rPr sz="2400" b="0">
                    <a:solidFill>
                      <a:srgbClr val="78350F"/>
                    </a:solidFill>
                    <a:latin typeface="Arial"/>
                  </a:rPr>
                  <a:t> by lattice paths, and prove </a:t>
                </a:r>
                <a:r>
                  <a:rPr lang="en-IN" sz="2400">
                    <a:solidFill>
                      <a:srgbClr val="78350F"/>
                    </a:solidFill>
                    <a:latin typeface="Cambria Math" panose="02040503050406030204" pitchFamily="18" charset="0"/>
                  </a:rPr>
                  <a:t>$P$</a:t>
                </a:r>
                <a:r>
                  <a:rPr sz="2400" b="0">
                    <a:solidFill>
                      <a:srgbClr val="78350F"/>
                    </a:solidFill>
                    <a:latin typeface="Arial"/>
                  </a:rPr>
                  <a:t> in factorial form by checking </a:t>
                </a:r>
                <a:r>
                  <a:rPr lang="en-IN" sz="2400">
                    <a:solidFill>
                      <a:srgbClr val="78350F"/>
                    </a:solidFill>
                    <a:latin typeface="Cambria Math" panose="02040503050406030204" pitchFamily="18" charset="0"/>
                  </a:rPr>
                  <a:t>$a_r-a_{r-1}$</a:t>
                </a:r>
                <a:r>
                  <a:rPr sz="2400" b="0">
                    <a:solidFill>
                      <a:srgbClr val="78350F"/>
                    </a:solidFill>
                    <a:latin typeface="Arial"/>
                  </a:rPr>
                  <a:t> directly.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 lattice paths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unit steps: there are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path crosses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 at exactly one 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paths through it number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𝑟</m:t>
                            </m:r>
                          </m:den>
                        </m:f>
                      </m:e>
                    </m:d>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𝑟</m:t>
                                </m:r>
                              </m:den>
                            </m:f>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over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𝑟</m:t>
                                    </m:r>
                                  </m:den>
                                </m:f>
                              </m:e>
                            </m:d>
                          </m:e>
                          <m:sup>
                            <m:r>
                              <a:rPr lang="en-IN" sz="2400" i="1">
                                <a:solidFill>
                                  <a:srgbClr val="111827"/>
                                </a:solidFill>
                                <a:latin typeface="Cambria Math" panose="02040503050406030204" pitchFamily="18" charset="0"/>
                              </a:rPr>
                              <m:t>2</m:t>
                            </m:r>
                          </m:sup>
                        </m:sSup>
                      </m:e>
                    </m:nary>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f>
                      <m:fPr>
                        <m:type m:val="bar"/>
                        <m:ctrlPr>
                          <a:rPr lang="en-IN" sz="2400" i="1">
                            <a:solidFill>
                              <a:srgbClr val="111827"/>
                            </a:solidFill>
                            <a:latin typeface="Cambria Math" panose="02040503050406030204" pitchFamily="18" charset="0"/>
                          </a:rPr>
                        </m:ctrlPr>
                      </m:fPr>
                      <m:num>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𝑟</m:t>
                                </m:r>
                              </m:den>
                            </m:f>
                          </m:e>
                        </m:d>
                      </m:num>
                      <m:den>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𝑟</m:t>
                                </m:r>
                              </m:den>
                            </m:f>
                          </m:e>
                        </m: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the summand is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 lattice paths from </a:t>
                </a:r>
                <a:r>
                  <a:rPr lang="en-IN" sz="2400">
                    <a:solidFill>
                      <a:srgbClr val="111827"/>
                    </a:solidFill>
                    <a:latin typeface="Cambria Math" panose="02040503050406030204" pitchFamily="18" charset="0"/>
                  </a:rPr>
                  <a:t>$(0,0)$</a:t>
                </a:r>
                <a:r>
                  <a:rPr sz="2400" b="0">
                    <a:solidFill>
                      <a:srgbClr val="111827"/>
                    </a:solidFill>
                    <a:latin typeface="Arial"/>
                  </a:rPr>
                  <a:t> to </a:t>
                </a:r>
                <a:r>
                  <a:rPr lang="en-IN" sz="2400">
                    <a:solidFill>
                      <a:srgbClr val="111827"/>
                    </a:solidFill>
                    <a:latin typeface="Cambria Math" panose="02040503050406030204" pitchFamily="18" charset="0"/>
                  </a:rPr>
                  <a:t>$(50,50)$</a:t>
                </a:r>
                <a:r>
                  <a:rPr sz="2400" b="0">
                    <a:solidFill>
                      <a:srgbClr val="111827"/>
                    </a:solidFill>
                    <a:latin typeface="Arial"/>
                  </a:rPr>
                  <a:t> with unit steps: there are </a:t>
                </a:r>
                <a:r>
                  <a:rPr lang="en-IN" sz="2400">
                    <a:solidFill>
                      <a:srgbClr val="111827"/>
                    </a:solidFill>
                    <a:latin typeface="Cambria Math" panose="02040503050406030204" pitchFamily="18" charset="0"/>
                  </a:rPr>
                  <a:t>$\binom{100}{50}$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path crosses the line </a:t>
                </a:r>
                <a:r>
                  <a:rPr lang="en-IN" sz="2400">
                    <a:solidFill>
                      <a:srgbClr val="111827"/>
                    </a:solidFill>
                    <a:latin typeface="Cambria Math" panose="02040503050406030204" pitchFamily="18" charset="0"/>
                  </a:rPr>
                  <a:t>$x+y=50$</a:t>
                </a:r>
                <a:r>
                  <a:rPr sz="2400" b="0">
                    <a:solidFill>
                      <a:srgbClr val="111827"/>
                    </a:solidFill>
                    <a:latin typeface="Arial"/>
                  </a:rPr>
                  <a:t> at exactly one point </a:t>
                </a:r>
                <a:r>
                  <a:rPr lang="en-IN" sz="2400">
                    <a:solidFill>
                      <a:srgbClr val="111827"/>
                    </a:solidFill>
                    <a:latin typeface="Cambria Math" panose="02040503050406030204" pitchFamily="18" charset="0"/>
                  </a:rPr>
                  <a:t>$(r,50-r)$</a:t>
                </a:r>
                <a:r>
                  <a:rPr sz="2400" b="0">
                    <a:solidFill>
                      <a:srgbClr val="111827"/>
                    </a:solidFill>
                    <a:latin typeface="Arial"/>
                  </a:rPr>
                  <a:t>; paths through it number </a:t>
                </a:r>
                <a:r>
                  <a:rPr lang="en-IN" sz="2400">
                    <a:solidFill>
                      <a:srgbClr val="111827"/>
                    </a:solidFill>
                    <a:latin typeface="Cambria Math" panose="02040503050406030204" pitchFamily="18" charset="0"/>
                  </a:rPr>
                  <a:t>$\binom{50}{r}\binom{50}{50-r}=\binom{50}{r}^2$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over </a:t>
                </a:r>
                <a:r>
                  <a:rPr lang="en-IN" sz="2400">
                    <a:solidFill>
                      <a:srgbClr val="111827"/>
                    </a:solidFill>
                    <a:latin typeface="Cambria Math" panose="02040503050406030204" pitchFamily="18" charset="0"/>
                  </a:rPr>
                  <a:t>$r$</a:t>
                </a:r>
                <a:r>
                  <a:rPr sz="2400" b="0">
                    <a:solidFill>
                      <a:srgbClr val="111827"/>
                    </a:solidFill>
                    <a:latin typeface="Arial"/>
                  </a:rPr>
                  <a:t>: </a:t>
                </a:r>
                <a:r>
                  <a:rPr lang="en-IN" sz="2400">
                    <a:solidFill>
                      <a:srgbClr val="111827"/>
                    </a:solidFill>
                    <a:latin typeface="Cambria Math" panose="02040503050406030204" pitchFamily="18" charset="0"/>
                  </a:rPr>
                  <a:t>$Q=\sum_{r=0}^{50}\binom{50}{r}^2=\binom{100}{50}$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$\frac{\binom{50+r}{r}}{\binom{50}{r}}=\frac{(50+r)!(50-r)!}{(50!)^2}=a_r$</a:t>
                </a:r>
                <a:r>
                  <a:rPr sz="2400" b="0">
                    <a:solidFill>
                      <a:srgbClr val="111827"/>
                    </a:solidFill>
                    <a:latin typeface="Arial"/>
                  </a:rPr>
                  <a:t>, the summand is </a:t>
                </a:r>
                <a:r>
                  <a:rPr lang="en-IN" sz="2400">
                    <a:solidFill>
                      <a:srgbClr val="111827"/>
                    </a:solidFill>
                    <a:latin typeface="Cambria Math" panose="02040503050406030204" pitchFamily="18" charset="0"/>
                  </a:rPr>
                  <a:t>$a_r\cdot\frac{2r-1}{50+r}=\frac{(2r-1)(49+r)!(50-r)!}{(50!)^2}$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Compute directly: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each term equals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option (B).</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Compute directly: </a:t>
                </a:r>
                <a:r>
                  <a:rPr lang="en-IN" sz="2400">
                    <a:solidFill>
                      <a:srgbClr val="111827"/>
                    </a:solidFill>
                    <a:latin typeface="Cambria Math" panose="02040503050406030204" pitchFamily="18" charset="0"/>
                  </a:rPr>
                  <a:t>$a_r-a_{r-1}=\frac{(49+r)!(50-r)!}{(50!)^2}\left[(50+r)-(51-r)\right]=\frac{(49+r)!(50-r)!(2r-1)}{(50!)^2}$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each term equals </a:t>
                </a:r>
                <a:r>
                  <a:rPr lang="en-IN" sz="2400">
                    <a:solidFill>
                      <a:srgbClr val="111827"/>
                    </a:solidFill>
                    <a:latin typeface="Cambria Math" panose="02040503050406030204" pitchFamily="18" charset="0"/>
                  </a:rPr>
                  <a:t>$a_r-a_{r-1}$</a:t>
                </a:r>
                <a:r>
                  <a:rPr sz="2400" b="0">
                    <a:solidFill>
                      <a:srgbClr val="111827"/>
                    </a:solidFill>
                    <a:latin typeface="Arial"/>
                  </a:rPr>
                  <a:t> and </a:t>
                </a:r>
                <a:r>
                  <a:rPr lang="en-IN" sz="2400">
                    <a:solidFill>
                      <a:srgbClr val="111827"/>
                    </a:solidFill>
                    <a:latin typeface="Cambria Math" panose="02040503050406030204" pitchFamily="18" charset="0"/>
                  </a:rPr>
                  <a:t>$P=a_{50}-a_0=\binom{100}{50}-1$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$P-Q=-1$</a:t>
                </a:r>
                <a:r>
                  <a:rPr sz="2400" b="0">
                    <a:solidFill>
                      <a:srgbClr val="111827"/>
                    </a:solidFill>
                    <a:latin typeface="Arial"/>
                  </a:rPr>
                  <a:t>, option (B).</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$-1$</a:t>
                </a:r>
                <a:endParaRPr sz="2800">
                  <a:solidFill>
                    <a:srgbClr val="15803D"/>
                  </a:solidFill>
                </a:endParaRPr>
              </a:p>
            </p:txBody>
          </p:sp>
        </mc:Fallback>
      </mc:AlternateContent>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e>
                          <m:sup>
                            <m:r>
                              <a:rPr lang="en-IN" sz="2400" i="1">
                                <a:solidFill>
                                  <a:srgbClr val="111827"/>
                                </a:solidFill>
                                <a:latin typeface="Cambria Math" panose="02040503050406030204" pitchFamily="18" charset="0"/>
                              </a:rPr>
                              <m:t>2</m:t>
                            </m:r>
                          </m:sup>
                        </m:sSup>
                      </m:e>
                    </m:nary>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den>
                        </m:f>
                      </m:e>
                    </m:d>
                  </m:oMath>
                </a14:m>
                <a:r>
                  <a:rPr sz="2400" b="0">
                    <a:solidFill>
                      <a:srgbClr val="111827"/>
                    </a:solidFill>
                    <a:latin typeface="Arial"/>
                  </a:rPr>
                  <a:t> (Vandermonde); here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telescoping: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f>
                          <m:fPr>
                            <m:type m:val="bar"/>
                            <m:ctrlPr>
                              <a:rPr lang="en-IN" sz="2400" i="1">
                                <a:solidFill>
                                  <a:srgbClr val="111827"/>
                                </a:solidFill>
                                <a:latin typeface="Cambria Math" panose="02040503050406030204" pitchFamily="18" charset="0"/>
                              </a:rPr>
                            </m:ctrlPr>
                          </m:fPr>
                          <m:num>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e>
                    </m:nary>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verified exactly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𝑟</m:t>
                                </m:r>
                              </m:den>
                            </m:f>
                          </m:e>
                        </m:d>
                      </m:num>
                      <m:den>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which is why the ratios telescope; check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$\sum_{r=0}^{n}\binom nr^2=\binom{2n}{n}$</a:t>
                </a:r>
                <a:r>
                  <a:rPr sz="2400" b="0">
                    <a:solidFill>
                      <a:srgbClr val="111827"/>
                    </a:solidFill>
                    <a:latin typeface="Arial"/>
                  </a:rPr>
                  <a:t> (Vandermonde); here </a:t>
                </a:r>
                <a:r>
                  <a:rPr lang="en-IN" sz="2400">
                    <a:solidFill>
                      <a:srgbClr val="111827"/>
                    </a:solidFill>
                    <a:latin typeface="Cambria Math" panose="02040503050406030204" pitchFamily="18" charset="0"/>
                  </a:rPr>
                  <a:t>$n=50$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telescoping: </a:t>
                </a:r>
                <a:r>
                  <a:rPr lang="en-IN" sz="2400">
                    <a:solidFill>
                      <a:srgbClr val="111827"/>
                    </a:solidFill>
                    <a:latin typeface="Cambria Math" panose="02040503050406030204" pitchFamily="18" charset="0"/>
                  </a:rPr>
                  <a:t>$\sum_{r=1}^{n}\frac{\binom{n+r}{r}(2r-1)}{\binom nr(n+r)}=\binom{2n}{n}-1$</a:t>
                </a:r>
                <a:r>
                  <a:rPr sz="2400" b="0">
                    <a:solidFill>
                      <a:srgbClr val="111827"/>
                    </a:solidFill>
                    <a:latin typeface="Arial"/>
                  </a:rPr>
                  <a:t>; verified exactly for </a:t>
                </a:r>
                <a:r>
                  <a:rPr lang="en-IN" sz="2400">
                    <a:solidFill>
                      <a:srgbClr val="111827"/>
                    </a:solidFill>
                    <a:latin typeface="Cambria Math" panose="02040503050406030204" pitchFamily="18" charset="0"/>
                  </a:rPr>
                  <a:t>$n=3,4,5$</a:t>
                </a:r>
                <a:r>
                  <a:rPr sz="2400" b="0">
                    <a:solidFill>
                      <a:srgbClr val="111827"/>
                    </a:solidFill>
                    <a:latin typeface="Arial"/>
                  </a:rPr>
                  <a:t> and </a:t>
                </a:r>
                <a:r>
                  <a:rPr lang="en-IN" sz="2400">
                    <a:solidFill>
                      <a:srgbClr val="111827"/>
                    </a:solidFill>
                    <a:latin typeface="Cambria Math" panose="02040503050406030204" pitchFamily="18" charset="0"/>
                  </a:rPr>
                  <a:t>$n=50$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$V(r)=\frac{\binom{n+r}{r}}{\binom nr}=\frac{(n+r)!(n-r)!}{(n!)^2}$</a:t>
                </a:r>
                <a:r>
                  <a:rPr sz="2400" b="0">
                    <a:solidFill>
                      <a:srgbClr val="111827"/>
                    </a:solidFill>
                    <a:latin typeface="Arial"/>
                  </a:rPr>
                  <a:t>, which is why the ratios telescope; check </a:t>
                </a:r>
                <a:r>
                  <a:rPr lang="en-IN" sz="2400">
                    <a:solidFill>
                      <a:srgbClr val="111827"/>
                    </a:solidFill>
                    <a:latin typeface="Cambria Math" panose="02040503050406030204" pitchFamily="18" charset="0"/>
                  </a:rPr>
                  <a:t>$V(0)=1$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50</m:t>
                        </m:r>
                      </m:sup>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e>
                    </m:nary>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e>
                    </m:nary>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100</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50</m:t>
                        </m:r>
                      </m:sup>
                    </m:sSup>
                  </m:oMath>
                </a14:m>
                <a:r>
                  <a:rPr sz="2400" b="0">
                    <a:solidFill>
                      <a:srgbClr val="111827"/>
                    </a:solidFill>
                    <a:latin typeface="Arial"/>
                  </a:rPr>
                  <a:t>   (D)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100</m:t>
                        </m:r>
                      </m:sup>
                    </m:sSup>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$P=\sum_{r=1}^{50}\frac{{}^{50+r}C_r(2r-1)}{{}^{50}C_r(50+r)}$</a:t>
                </a:r>
                <a:r>
                  <a:rPr sz="2400" b="0">
                    <a:solidFill>
                      <a:srgbClr val="111827"/>
                    </a:solidFill>
                    <a:latin typeface="Arial"/>
                  </a:rPr>
                  <a:t>, </a:t>
                </a:r>
                <a:r>
                  <a:rPr lang="en-IN" sz="2400">
                    <a:solidFill>
                      <a:srgbClr val="111827"/>
                    </a:solidFill>
                    <a:latin typeface="Cambria Math" panose="02040503050406030204" pitchFamily="18" charset="0"/>
                  </a:rPr>
                  <a:t>$Q=\sum_{r=0}^{50}\left({}^{50}C_r\right)^2$</a:t>
                </a:r>
                <a:r>
                  <a:rPr sz="2400" b="0">
                    <a:solidFill>
                      <a:srgbClr val="111827"/>
                    </a:solidFill>
                    <a:latin typeface="Arial"/>
                  </a:rPr>
                  <a:t>, </a:t>
                </a:r>
                <a:r>
                  <a:rPr lang="en-IN" sz="2400">
                    <a:solidFill>
                      <a:srgbClr val="111827"/>
                    </a:solidFill>
                    <a:latin typeface="Cambria Math" panose="02040503050406030204" pitchFamily="18" charset="0"/>
                  </a:rPr>
                  <a:t>$R=\sum_{r=0}^{100}(-1)^r\left({}^{100}C_r\right)^2$</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$P-R$</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$-1$</a:t>
                </a:r>
                <a:r>
                  <a:rPr sz="2400" b="0">
                    <a:solidFill>
                      <a:srgbClr val="111827"/>
                    </a:solidFill>
                    <a:latin typeface="Arial"/>
                  </a:rPr>
                  <a:t>   (C) </a:t>
                </a:r>
                <a:r>
                  <a:rPr lang="en-IN" sz="2400">
                    <a:solidFill>
                      <a:srgbClr val="111827"/>
                    </a:solidFill>
                    <a:latin typeface="Cambria Math" panose="02040503050406030204" pitchFamily="18" charset="0"/>
                  </a:rPr>
                  <a:t>$2^{50}$</a:t>
                </a:r>
                <a:r>
                  <a:rPr sz="2400" b="0">
                    <a:solidFill>
                      <a:srgbClr val="111827"/>
                    </a:solidFill>
                    <a:latin typeface="Arial"/>
                  </a:rPr>
                  <a:t>   (D) </a:t>
                </a:r>
                <a:r>
                  <a:rPr lang="en-IN" sz="2400">
                    <a:solidFill>
                      <a:srgbClr val="111827"/>
                    </a:solidFill>
                    <a:latin typeface="Cambria Math" panose="02040503050406030204" pitchFamily="18" charset="0"/>
                  </a:rPr>
                  <a:t>$2^{100}$</a:t>
                </a:r>
                <a:endParaRPr sz="2400">
                  <a:solidFill>
                    <a:srgbClr val="111827"/>
                  </a:solidFill>
                </a:endParaRPr>
              </a:p>
            </p:txBody>
          </p:sp>
        </mc:Fallback>
      </mc:AlternateContent>
      <p:sp>
        <p:nvSpPr>
          <p:cNvPr id="5" name="Rectangle 4"/>
          <p:cNvSpPr/>
          <p:nvPr/>
        </p:nvSpPr>
        <p:spPr>
          <a:xfrm>
            <a:off x="731520" y="4125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telescoping sums and binomial identities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𝑟</m:t>
                        </m:r>
                      </m:sup>
                    </m:sSup>
                    <m:sSup>
                      <m:e>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𝑚</m:t>
                                </m:r>
                              </m:num>
                              <m:den>
                                <m:r>
                                  <a:rPr lang="en-IN" sz="2400" i="1">
                                    <a:solidFill>
                                      <a:srgbClr val="78350F"/>
                                    </a:solidFill>
                                    <a:latin typeface="Cambria Math" panose="02040503050406030204" pitchFamily="18" charset="0"/>
                                  </a:rPr>
                                  <m:t>𝑟</m:t>
                                </m:r>
                              </m:den>
                            </m:f>
                          </m:e>
                        </m:d>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𝑚</m:t>
                        </m:r>
                      </m:sup>
                    </m:sSup>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𝑚</m:t>
                            </m:r>
                          </m:num>
                          <m:den>
                            <m:r>
                              <a:rPr lang="en-IN" sz="2400" i="1">
                                <a:solidFill>
                                  <a:srgbClr val="78350F"/>
                                </a:solidFill>
                                <a:latin typeface="Cambria Math" panose="02040503050406030204" pitchFamily="18" charset="0"/>
                              </a:rPr>
                              <m:t>𝑚</m:t>
                            </m:r>
                          </m:den>
                        </m:f>
                      </m:e>
                    </m:d>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𝑅</m:t>
                    </m:r>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100</m:t>
                            </m:r>
                          </m:num>
                          <m:den>
                            <m:r>
                              <a:rPr lang="en-IN" sz="2400" i="1">
                                <a:solidFill>
                                  <a:srgbClr val="78350F"/>
                                </a:solidFill>
                                <a:latin typeface="Cambria Math" panose="02040503050406030204" pitchFamily="18" charset="0"/>
                              </a:rPr>
                              <m:t>50</m:t>
                            </m:r>
                          </m:den>
                        </m:f>
                      </m:e>
                    </m:d>
                  </m:oMath>
                </a14:m>
                <a:r>
                  <a:rPr sz="2400" b="0">
                    <a:solidFill>
                      <a:srgbClr val="78350F"/>
                    </a:solidFill>
                    <a:latin typeface="Arial"/>
                  </a:rPr>
                  <a:t> and equals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$\sum(-1)^r\binom{2m}{r}^2=(-1)^m\binom{2m}{m}$</a:t>
                </a:r>
                <a:r>
                  <a:rPr sz="2400" b="0">
                    <a:solidFill>
                      <a:srgbClr val="78350F"/>
                    </a:solidFill>
                    <a:latin typeface="Arial"/>
                  </a:rPr>
                  <a:t>, so </a:t>
                </a:r>
                <a:r>
                  <a:rPr lang="en-IN" sz="2400">
                    <a:solidFill>
                      <a:srgbClr val="78350F"/>
                    </a:solidFill>
                    <a:latin typeface="Cambria Math" panose="02040503050406030204" pitchFamily="18" charset="0"/>
                  </a:rPr>
                  <a:t>$R=\binom{100}{50}$</a:t>
                </a:r>
                <a:r>
                  <a:rPr sz="2400" b="0">
                    <a:solidFill>
                      <a:srgbClr val="78350F"/>
                    </a:solidFill>
                    <a:latin typeface="Arial"/>
                  </a:rPr>
                  <a:t> and equals </a:t>
                </a:r>
                <a:r>
                  <a:rPr lang="en-IN" sz="2400">
                    <a:solidFill>
                      <a:srgbClr val="78350F"/>
                    </a:solidFill>
                    <a:latin typeface="Cambria Math" panose="02040503050406030204" pitchFamily="18" charset="0"/>
                  </a:rPr>
                  <a:t>$P+1$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since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the second part: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r>
                  <a:rPr lang="en-IN" sz="2400">
                    <a:solidFill>
                      <a:srgbClr val="111827"/>
                    </a:solidFill>
                    <a:latin typeface="Cambria Math" panose="02040503050406030204" pitchFamily="18" charset="0"/>
                  </a:rPr>
                  <a:t>$T(r)=\frac{{}^{50+r}C_r(2r-1)}{{}^{50}C_r(50+r)}=\frac{{}^{50+r}C_r}{{}^{50}C_r}\left(1-\frac{50-r+1}{50+r}\right)$</a:t>
                </a:r>
                <a:r>
                  <a:rPr sz="2400" b="0">
                    <a:solidFill>
                      <a:srgbClr val="111827"/>
                    </a:solidFill>
                    <a:latin typeface="Arial"/>
                  </a:rPr>
                  <a:t>, since </a:t>
                </a:r>
                <a:r>
                  <a:rPr lang="en-IN" sz="2400">
                    <a:solidFill>
                      <a:srgbClr val="111827"/>
                    </a:solidFill>
                    <a:latin typeface="Cambria Math" panose="02040503050406030204" pitchFamily="18" charset="0"/>
                  </a:rPr>
                  <a:t>$\frac{2r-1}{50+r}=1-\frac{51-r}{50+r}$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$T(r)=\frac{{}^{50+r}C_r}{{}^{50}C_r}-\frac{{}^{50+r}C_r}{{}^{50}C_r}\cdot\frac{50-r+1}{50+r}$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the second part: </a:t>
                </a:r>
                <a:r>
                  <a:rPr lang="en-IN" sz="2400">
                    <a:solidFill>
                      <a:srgbClr val="111827"/>
                    </a:solidFill>
                    <a:latin typeface="Cambria Math" panose="02040503050406030204" pitchFamily="18" charset="0"/>
                  </a:rPr>
                  <a:t>$\frac{{}^{50+r}C_r}{{}^{50}C_r}\cdot\frac{50-r+1}{50+r}=\frac{(50-r+1)(50+r)!\,r!\,(50-r)!}{r!\,50!\,(50+r)\,50!}=\frac{{}^{50+r-1}C_{r-1}}{{}^{50}C_{r-1}}$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$T(r)=V(r)-V(r-1)$</a:t>
                </a:r>
                <a:r>
                  <a:rPr sz="2400" b="0">
                    <a:solidFill>
                      <a:srgbClr val="111827"/>
                    </a:solidFill>
                    <a:latin typeface="Arial"/>
                  </a:rPr>
                  <a:t> where </a:t>
                </a:r>
                <a:r>
                  <a:rPr lang="en-IN" sz="2400">
                    <a:solidFill>
                      <a:srgbClr val="111827"/>
                    </a:solidFill>
                    <a:latin typeface="Cambria Math" panose="02040503050406030204" pitchFamily="18" charset="0"/>
                  </a:rPr>
                  <a:t>$V(r)=\frac{{}^{50+r}C_r}{{}^{50}C_r}$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telescopes: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50</m:t>
                        </m:r>
                      </m:sup>
                      <m:e>
                        <m:r>
                          <a:rPr lang="en-IN" sz="2400" i="1">
                            <a:solidFill>
                              <a:srgbClr val="111827"/>
                            </a:solidFill>
                            <a:latin typeface="Cambria Math" panose="02040503050406030204" pitchFamily="18" charset="0"/>
                          </a:rPr>
                          <m:t>𝑇</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use the standard result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odd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telescopes: </a:t>
                </a:r>
                <a:r>
                  <a:rPr lang="en-IN" sz="2400">
                    <a:solidFill>
                      <a:srgbClr val="111827"/>
                    </a:solidFill>
                    <a:latin typeface="Cambria Math" panose="02040503050406030204" pitchFamily="18" charset="0"/>
                  </a:rPr>
                  <a:t>$P=\sum_{r=1}^{50}T(r)=V(50)-V(0)=\frac{{}^{100}C_{50}}{{}^{50}C_{50}}-\frac{{}^{50}C_0}{{}^{50}C_0}={}^{100}C_{50}-1$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$R$</a:t>
                </a:r>
                <a:r>
                  <a:rPr sz="2400" b="0">
                    <a:solidFill>
                      <a:srgbClr val="111827"/>
                    </a:solidFill>
                    <a:latin typeface="Arial"/>
                  </a:rPr>
                  <a:t> use the standard result </a:t>
                </a:r>
                <a:r>
                  <a:rPr lang="en-IN" sz="2400">
                    <a:solidFill>
                      <a:srgbClr val="111827"/>
                    </a:solidFill>
                    <a:latin typeface="Cambria Math" panose="02040503050406030204" pitchFamily="18" charset="0"/>
                  </a:rPr>
                  <a:t>$\sum_{r=0}^{n}(-1)^r\left({}^nC_r\right)^2=0$</a:t>
                </a:r>
                <a:r>
                  <a:rPr sz="2400" b="0">
                    <a:solidFill>
                      <a:srgbClr val="111827"/>
                    </a:solidFill>
                    <a:latin typeface="Arial"/>
                  </a:rPr>
                  <a:t> for odd </a:t>
                </a:r>
                <a:r>
                  <a:rPr lang="en-IN" sz="2400">
                    <a:solidFill>
                      <a:srgbClr val="111827"/>
                    </a:solidFill>
                    <a:latin typeface="Cambria Math" panose="02040503050406030204" pitchFamily="18" charset="0"/>
                  </a:rPr>
                  <a:t>$n$</a:t>
                </a:r>
                <a:r>
                  <a:rPr sz="2400" b="0">
                    <a:solidFill>
                      <a:srgbClr val="111827"/>
                    </a:solidFill>
                    <a:latin typeface="Arial"/>
                  </a:rPr>
                  <a:t> and </a:t>
                </a:r>
                <a:r>
                  <a:rPr lang="en-IN" sz="2400">
                    <a:solidFill>
                      <a:srgbClr val="111827"/>
                    </a:solidFill>
                    <a:latin typeface="Cambria Math" panose="02040503050406030204" pitchFamily="18" charset="0"/>
                  </a:rPr>
                  <a:t>$(-1)^{n/2}\,{}^nC_{n/2}$</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$n=100$</a:t>
                </a:r>
                <a:r>
                  <a:rPr sz="2400" b="0">
                    <a:solidFill>
                      <a:srgbClr val="111827"/>
                    </a:solidFill>
                    <a:latin typeface="Arial"/>
                  </a:rPr>
                  <a:t>: </a:t>
                </a:r>
                <a:r>
                  <a:rPr lang="en-IN" sz="2400">
                    <a:solidFill>
                      <a:srgbClr val="111827"/>
                    </a:solidFill>
                    <a:latin typeface="Cambria Math" panose="02040503050406030204" pitchFamily="18" charset="0"/>
                  </a:rPr>
                  <a:t>$R=(-1)^{50}\,{}^{100}C_{50}={}^{100}C_{50}$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$P-R=\left({}^{100}C_{50}-1\right)-{}^{100}C_{50}=-1$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$-1$</a:t>
                </a:r>
                <a:endParaRPr sz="2800">
                  <a:solidFill>
                    <a:srgbClr val="15803D"/>
                  </a:solidFill>
                </a:endParaRPr>
              </a:p>
            </p:txBody>
          </p:sp>
        </mc:Fallback>
      </mc:AlternateContent>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Read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off as the coefficient of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100</m:t>
                        </m:r>
                      </m:sup>
                    </m:sSup>
                  </m:oMath>
                </a14:m>
                <a:r>
                  <a:rPr sz="2400" b="0">
                    <a:solidFill>
                      <a:srgbClr val="78350F"/>
                    </a:solidFill>
                    <a:latin typeface="Arial"/>
                  </a:rPr>
                  <a:t> in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100</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100</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100</m:t>
                        </m:r>
                      </m:sup>
                    </m:sSup>
                  </m:oMath>
                </a14:m>
                <a:r>
                  <a:rPr sz="2400" b="0">
                    <a:solidFill>
                      <a:srgbClr val="78350F"/>
                    </a:solidFill>
                    <a:latin typeface="Arial"/>
                  </a:rPr>
                  <a:t>, which also fixes the sign.</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Read </a:t>
                </a:r>
                <a:r>
                  <a:rPr lang="en-IN" sz="2400">
                    <a:solidFill>
                      <a:srgbClr val="78350F"/>
                    </a:solidFill>
                    <a:latin typeface="Cambria Math" panose="02040503050406030204" pitchFamily="18" charset="0"/>
                  </a:rPr>
                  <a:t>$R$</a:t>
                </a:r>
                <a:r>
                  <a:rPr sz="2400" b="0">
                    <a:solidFill>
                      <a:srgbClr val="78350F"/>
                    </a:solidFill>
                    <a:latin typeface="Arial"/>
                  </a:rPr>
                  <a:t> off as the coefficient of </a:t>
                </a:r>
                <a:r>
                  <a:rPr lang="en-IN" sz="2400">
                    <a:solidFill>
                      <a:srgbClr val="78350F"/>
                    </a:solidFill>
                    <a:latin typeface="Cambria Math" panose="02040503050406030204" pitchFamily="18" charset="0"/>
                  </a:rPr>
                  <a:t>$x^{100}$</a:t>
                </a:r>
                <a:r>
                  <a:rPr sz="2400" b="0">
                    <a:solidFill>
                      <a:srgbClr val="78350F"/>
                    </a:solidFill>
                    <a:latin typeface="Arial"/>
                  </a:rPr>
                  <a:t> in </a:t>
                </a:r>
                <a:r>
                  <a:rPr lang="en-IN" sz="2400">
                    <a:solidFill>
                      <a:srgbClr val="78350F"/>
                    </a:solidFill>
                    <a:latin typeface="Cambria Math" panose="02040503050406030204" pitchFamily="18" charset="0"/>
                  </a:rPr>
                  <a:t>$(1-x)^{100}(1+x)^{100}=(1-x^2)^{100}$</a:t>
                </a:r>
                <a:r>
                  <a:rPr sz="2400" b="0">
                    <a:solidFill>
                      <a:srgbClr val="78350F"/>
                    </a:solidFill>
                    <a:latin typeface="Arial"/>
                  </a:rPr>
                  <a:t>, which also fixes the sign.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𝑟</m:t>
                            </m:r>
                          </m:den>
                        </m:f>
                      </m:e>
                    </m:d>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which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equals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𝑘</m:t>
                            </m:r>
                          </m:den>
                        </m:f>
                      </m:e>
                    </m:d>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 is the term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from the telescoping sum,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$\binom{100}{r}=\binom{100}{100-r}$</a:t>
                </a:r>
                <a:r>
                  <a:rPr sz="2400" b="0">
                    <a:solidFill>
                      <a:srgbClr val="111827"/>
                    </a:solidFill>
                    <a:latin typeface="Arial"/>
                  </a:rPr>
                  <a:t>: </a:t>
                </a:r>
                <a:r>
                  <a:rPr lang="en-IN" sz="2400">
                    <a:solidFill>
                      <a:srgbClr val="111827"/>
                    </a:solidFill>
                    <a:latin typeface="Cambria Math" panose="02040503050406030204" pitchFamily="18" charset="0"/>
                  </a:rPr>
                  <a:t>$R=\sum_{r}(-1)^r\binom{100}{r}\binom{100}{100-r}$</a:t>
                </a:r>
                <a:r>
                  <a:rPr sz="2400" b="0">
                    <a:solidFill>
                      <a:srgbClr val="111827"/>
                    </a:solidFill>
                    <a:latin typeface="Arial"/>
                  </a:rPr>
                  <a:t>, which is the coefficient of </a:t>
                </a:r>
                <a:r>
                  <a:rPr lang="en-IN" sz="2400">
                    <a:solidFill>
                      <a:srgbClr val="111827"/>
                    </a:solidFill>
                    <a:latin typeface="Cambria Math" panose="02040503050406030204" pitchFamily="18" charset="0"/>
                  </a:rPr>
                  <a:t>$x^{100}$</a:t>
                </a:r>
                <a:r>
                  <a:rPr sz="2400" b="0">
                    <a:solidFill>
                      <a:srgbClr val="111827"/>
                    </a:solidFill>
                    <a:latin typeface="Arial"/>
                  </a:rPr>
                  <a:t> in </a:t>
                </a:r>
                <a:r>
                  <a:rPr lang="en-IN" sz="2400">
                    <a:solidFill>
                      <a:srgbClr val="111827"/>
                    </a:solidFill>
                    <a:latin typeface="Cambria Math" panose="02040503050406030204" pitchFamily="18" charset="0"/>
                  </a:rPr>
                  <a:t>$(1-x)^{100}(1+x)^{100}$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equals </a:t>
                </a:r>
                <a:r>
                  <a:rPr lang="en-IN" sz="2400">
                    <a:solidFill>
                      <a:srgbClr val="111827"/>
                    </a:solidFill>
                    <a:latin typeface="Cambria Math" panose="02040503050406030204" pitchFamily="18" charset="0"/>
                  </a:rPr>
                  <a:t>$(1-x^2)^{100}=\sum_k(-1)^k\binom{100}{k}x^{2k}$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coefficient of </a:t>
                </a:r>
                <a:r>
                  <a:rPr lang="en-IN" sz="2400">
                    <a:solidFill>
                      <a:srgbClr val="111827"/>
                    </a:solidFill>
                    <a:latin typeface="Cambria Math" panose="02040503050406030204" pitchFamily="18" charset="0"/>
                  </a:rPr>
                  <a:t>$x^{100}$</a:t>
                </a:r>
                <a:r>
                  <a:rPr sz="2400" b="0">
                    <a:solidFill>
                      <a:srgbClr val="111827"/>
                    </a:solidFill>
                    <a:latin typeface="Arial"/>
                  </a:rPr>
                  <a:t> is the term </a:t>
                </a:r>
                <a:r>
                  <a:rPr lang="en-IN" sz="2400">
                    <a:solidFill>
                      <a:srgbClr val="111827"/>
                    </a:solidFill>
                    <a:latin typeface="Cambria Math" panose="02040503050406030204" pitchFamily="18" charset="0"/>
                  </a:rPr>
                  <a:t>$2k=100$</a:t>
                </a:r>
                <a:r>
                  <a:rPr sz="2400" b="0">
                    <a:solidFill>
                      <a:srgbClr val="111827"/>
                    </a:solidFill>
                    <a:latin typeface="Arial"/>
                  </a:rPr>
                  <a:t>, i.e. </a:t>
                </a:r>
                <a:r>
                  <a:rPr lang="en-IN" sz="2400">
                    <a:solidFill>
                      <a:srgbClr val="111827"/>
                    </a:solidFill>
                    <a:latin typeface="Cambria Math" panose="02040503050406030204" pitchFamily="18" charset="0"/>
                  </a:rPr>
                  <a:t>$k=50$</a:t>
                </a:r>
                <a:r>
                  <a:rPr sz="2400" b="0">
                    <a:solidFill>
                      <a:srgbClr val="111827"/>
                    </a:solidFill>
                    <a:latin typeface="Arial"/>
                  </a:rPr>
                  <a:t>: </a:t>
                </a:r>
                <a:r>
                  <a:rPr lang="en-IN" sz="2400">
                    <a:solidFill>
                      <a:srgbClr val="111827"/>
                    </a:solidFill>
                    <a:latin typeface="Cambria Math" panose="02040503050406030204" pitchFamily="18" charset="0"/>
                  </a:rPr>
                  <a:t>$(-1)^{50}\binom{100}{50}=\binom{100}{50}$</a:t>
                </a:r>
                <a:r>
                  <a:rPr sz="2400" b="0">
                    <a:solidFill>
                      <a:srgbClr val="111827"/>
                    </a:solidFill>
                    <a:latin typeface="Arial"/>
                  </a:rPr>
                  <a:t>, so </a:t>
                </a:r>
                <a:r>
                  <a:rPr lang="en-IN" sz="2400">
                    <a:solidFill>
                      <a:srgbClr val="111827"/>
                    </a:solidFill>
                    <a:latin typeface="Cambria Math" panose="02040503050406030204" pitchFamily="18" charset="0"/>
                  </a:rPr>
                  <a:t>$R=\binom{100}{50}$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$P=\binom{100}{50}-1$</a:t>
                </a:r>
                <a:r>
                  <a:rPr sz="2400" b="0">
                    <a:solidFill>
                      <a:srgbClr val="111827"/>
                    </a:solidFill>
                    <a:latin typeface="Arial"/>
                  </a:rPr>
                  <a:t> from the telescoping sum, </a:t>
                </a:r>
                <a:r>
                  <a:rPr lang="en-IN" sz="2400">
                    <a:solidFill>
                      <a:srgbClr val="111827"/>
                    </a:solidFill>
                    <a:latin typeface="Cambria Math" panose="02040503050406030204" pitchFamily="18" charset="0"/>
                  </a:rPr>
                  <a:t>$P-R=-1$</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oMath>
                </a14:m>
                <a:endParaRPr sz="2800">
                  <a:solidFill>
                    <a:srgbClr val="15803D"/>
                  </a:solidFill>
                </a:endParaRPr>
              </a:p>
            </p:txBody>
          </p:sp>
        </mc:Choice>
        <mc:Fallback>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$-1$</a:t>
                </a:r>
                <a:endParaRPr sz="2800">
                  <a:solidFill>
                    <a:srgbClr val="15803D"/>
                  </a:solidFill>
                </a:endParaRPr>
              </a:p>
            </p:txBody>
          </p:sp>
        </mc:Fallback>
      </mc:AlternateContent>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the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coefficient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for odd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oMath>
                </a14:m>
                <a:r>
                  <a:rPr sz="2400" b="0">
                    <a:solidFill>
                      <a:srgbClr val="111827"/>
                    </a:solidFill>
                    <a:latin typeface="Arial"/>
                  </a:rPr>
                  <a:t> for even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checked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the sign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 while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Warning: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(e.g.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the alternating sum is negative.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$\sum_{r=0}^{n}(-1)^r\binom nr^2$</a:t>
                </a:r>
                <a:r>
                  <a:rPr sz="2400" b="0">
                    <a:solidFill>
                      <a:srgbClr val="111827"/>
                    </a:solidFill>
                    <a:latin typeface="Arial"/>
                  </a:rPr>
                  <a:t> is the </a:t>
                </a:r>
                <a:r>
                  <a:rPr lang="en-IN" sz="2400">
                    <a:solidFill>
                      <a:srgbClr val="111827"/>
                    </a:solidFill>
                    <a:latin typeface="Cambria Math" panose="02040503050406030204" pitchFamily="18" charset="0"/>
                  </a:rPr>
                  <a:t>$x^n$</a:t>
                </a:r>
                <a:r>
                  <a:rPr sz="2400" b="0">
                    <a:solidFill>
                      <a:srgbClr val="111827"/>
                    </a:solidFill>
                    <a:latin typeface="Arial"/>
                  </a:rPr>
                  <a:t> coefficient of </a:t>
                </a:r>
                <a:r>
                  <a:rPr lang="en-IN" sz="2400">
                    <a:solidFill>
                      <a:srgbClr val="111827"/>
                    </a:solidFill>
                    <a:latin typeface="Cambria Math" panose="02040503050406030204" pitchFamily="18" charset="0"/>
                  </a:rPr>
                  <a:t>$(1-x^2)^n$</a:t>
                </a:r>
                <a:r>
                  <a:rPr sz="2400" b="0">
                    <a:solidFill>
                      <a:srgbClr val="111827"/>
                    </a:solidFill>
                    <a:latin typeface="Arial"/>
                  </a:rPr>
                  <a:t>: it is </a:t>
                </a:r>
                <a:r>
                  <a:rPr lang="en-IN" sz="2400">
                    <a:solidFill>
                      <a:srgbClr val="111827"/>
                    </a:solidFill>
                    <a:latin typeface="Cambria Math" panose="02040503050406030204" pitchFamily="18" charset="0"/>
                  </a:rPr>
                  <a:t>$0$</a:t>
                </a:r>
                <a:r>
                  <a:rPr sz="2400" b="0">
                    <a:solidFill>
                      <a:srgbClr val="111827"/>
                    </a:solidFill>
                    <a:latin typeface="Arial"/>
                  </a:rPr>
                  <a:t> for odd </a:t>
                </a:r>
                <a:r>
                  <a:rPr lang="en-IN" sz="2400">
                    <a:solidFill>
                      <a:srgbClr val="111827"/>
                    </a:solidFill>
                    <a:latin typeface="Cambria Math" panose="02040503050406030204" pitchFamily="18" charset="0"/>
                  </a:rPr>
                  <a:t>$n$</a:t>
                </a:r>
                <a:r>
                  <a:rPr sz="2400" b="0">
                    <a:solidFill>
                      <a:srgbClr val="111827"/>
                    </a:solidFill>
                    <a:latin typeface="Arial"/>
                  </a:rPr>
                  <a:t> and </a:t>
                </a:r>
                <a:r>
                  <a:rPr lang="en-IN" sz="2400">
                    <a:solidFill>
                      <a:srgbClr val="111827"/>
                    </a:solidFill>
                    <a:latin typeface="Cambria Math" panose="02040503050406030204" pitchFamily="18" charset="0"/>
                  </a:rPr>
                  <a:t>$(-1)^{n/2}\binom{n}{n/2}$</a:t>
                </a:r>
                <a:r>
                  <a:rPr sz="2400" b="0">
                    <a:solidFill>
                      <a:srgbClr val="111827"/>
                    </a:solidFill>
                    <a:latin typeface="Arial"/>
                  </a:rPr>
                  <a:t> for even </a:t>
                </a:r>
                <a:r>
                  <a:rPr lang="en-IN" sz="2400">
                    <a:solidFill>
                      <a:srgbClr val="111827"/>
                    </a:solidFill>
                    <a:latin typeface="Cambria Math" panose="02040503050406030204" pitchFamily="18" charset="0"/>
                  </a:rPr>
                  <a:t>$n$</a:t>
                </a:r>
                <a:r>
                  <a:rPr sz="2400" b="0">
                    <a:solidFill>
                      <a:srgbClr val="111827"/>
                    </a:solidFill>
                    <a:latin typeface="Arial"/>
                  </a:rPr>
                  <a:t>; checked for </a:t>
                </a:r>
                <a:r>
                  <a:rPr lang="en-IN" sz="2400">
                    <a:solidFill>
                      <a:srgbClr val="111827"/>
                    </a:solidFill>
                    <a:latin typeface="Cambria Math" panose="02040503050406030204" pitchFamily="18" charset="0"/>
                  </a:rPr>
                  <a:t>$n=2,4,6,10$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$n=100$</a:t>
                </a:r>
                <a:r>
                  <a:rPr sz="2400" b="0">
                    <a:solidFill>
                      <a:srgbClr val="111827"/>
                    </a:solidFill>
                    <a:latin typeface="Arial"/>
                  </a:rPr>
                  <a:t> the sign is </a:t>
                </a:r>
                <a:r>
                  <a:rPr lang="en-IN" sz="2400">
                    <a:solidFill>
                      <a:srgbClr val="111827"/>
                    </a:solidFill>
                    <a:latin typeface="Cambria Math" panose="02040503050406030204" pitchFamily="18" charset="0"/>
                  </a:rPr>
                  <a:t>$(-1)^{50}=+1$</a:t>
                </a:r>
                <a:r>
                  <a:rPr sz="2400" b="0">
                    <a:solidFill>
                      <a:srgbClr val="111827"/>
                    </a:solidFill>
                    <a:latin typeface="Arial"/>
                  </a:rPr>
                  <a:t>, so </a:t>
                </a:r>
                <a:r>
                  <a:rPr lang="en-IN" sz="2400">
                    <a:solidFill>
                      <a:srgbClr val="111827"/>
                    </a:solidFill>
                    <a:latin typeface="Cambria Math" panose="02040503050406030204" pitchFamily="18" charset="0"/>
                  </a:rPr>
                  <a:t>$Q=R=\binom{100}{50}$</a:t>
                </a:r>
                <a:r>
                  <a:rPr sz="2400" b="0">
                    <a:solidFill>
                      <a:srgbClr val="111827"/>
                    </a:solidFill>
                    <a:latin typeface="Arial"/>
                  </a:rPr>
                  <a:t> while </a:t>
                </a:r>
                <a:r>
                  <a:rPr lang="en-IN" sz="2400">
                    <a:solidFill>
                      <a:srgbClr val="111827"/>
                    </a:solidFill>
                    <a:latin typeface="Cambria Math" panose="02040503050406030204" pitchFamily="18" charset="0"/>
                  </a:rPr>
                  <a:t>$P=\binom{100}{50}-1$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Warning: for </a:t>
                </a:r>
                <a:r>
                  <a:rPr lang="en-IN" sz="2400">
                    <a:solidFill>
                      <a:srgbClr val="111827"/>
                    </a:solidFill>
                    <a:latin typeface="Cambria Math" panose="02040503050406030204" pitchFamily="18" charset="0"/>
                  </a:rPr>
                  <a:t>$n\equiv2\pmod4$</a:t>
                </a:r>
                <a:r>
                  <a:rPr sz="2400" b="0">
                    <a:solidFill>
                      <a:srgbClr val="111827"/>
                    </a:solidFill>
                    <a:latin typeface="Arial"/>
                  </a:rPr>
                  <a:t> (e.g. </a:t>
                </a:r>
                <a:r>
                  <a:rPr lang="en-IN" sz="2400">
                    <a:solidFill>
                      <a:srgbClr val="111827"/>
                    </a:solidFill>
                    <a:latin typeface="Cambria Math" panose="02040503050406030204" pitchFamily="18" charset="0"/>
                  </a:rPr>
                  <a:t>$n=6$</a:t>
                </a:r>
                <a:r>
                  <a:rPr sz="2400" b="0">
                    <a:solidFill>
                      <a:srgbClr val="111827"/>
                    </a:solidFill>
                    <a:latin typeface="Arial"/>
                  </a:rPr>
                  <a:t>, </a:t>
                </a:r>
                <a:r>
                  <a:rPr lang="en-IN" sz="2400">
                    <a:solidFill>
                      <a:srgbClr val="111827"/>
                    </a:solidFill>
                    <a:latin typeface="Cambria Math" panose="02040503050406030204" pitchFamily="18" charset="0"/>
                  </a:rPr>
                  <a:t>$n=10$</a:t>
                </a:r>
                <a:r>
                  <a:rPr sz="2400" b="0">
                    <a:solidFill>
                      <a:srgbClr val="111827"/>
                    </a:solidFill>
                    <a:latin typeface="Arial"/>
                  </a:rPr>
                  <a:t>) the alternating sum is negative.</a:t>
                </a:r>
                <a:endParaRPr sz="2400">
                  <a:solidFill>
                    <a:srgbClr val="111827"/>
                  </a:solidFill>
                </a:endParaRPr>
              </a:p>
            </p:txBody>
          </p:sp>
        </mc:Fallback>
      </mc:AlternateContent>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50</m:t>
                        </m:r>
                      </m:sup>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e>
                    </m:nary>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e>
                    </m:nary>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100</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$P=\sum_{r=1}^{50}\frac{{}^{50+r}C_r(2r-1)}{{}^{50}C_r(50+r)}$</a:t>
                </a:r>
                <a:r>
                  <a:rPr sz="2400" b="0">
                    <a:solidFill>
                      <a:srgbClr val="111827"/>
                    </a:solidFill>
                    <a:latin typeface="Arial"/>
                  </a:rPr>
                  <a:t>, </a:t>
                </a:r>
                <a:r>
                  <a:rPr lang="en-IN" sz="2400">
                    <a:solidFill>
                      <a:srgbClr val="111827"/>
                    </a:solidFill>
                    <a:latin typeface="Cambria Math" panose="02040503050406030204" pitchFamily="18" charset="0"/>
                  </a:rPr>
                  <a:t>$Q=\sum_{r=0}^{50}\left({}^{50}C_r\right)^2$</a:t>
                </a:r>
                <a:r>
                  <a:rPr sz="2400" b="0">
                    <a:solidFill>
                      <a:srgbClr val="111827"/>
                    </a:solidFill>
                    <a:latin typeface="Arial"/>
                  </a:rPr>
                  <a:t>, </a:t>
                </a:r>
                <a:r>
                  <a:rPr lang="en-IN" sz="2400">
                    <a:solidFill>
                      <a:srgbClr val="111827"/>
                    </a:solidFill>
                    <a:latin typeface="Cambria Math" panose="02040503050406030204" pitchFamily="18" charset="0"/>
                  </a:rPr>
                  <a:t>$R=\sum_{r=0}^{100}(-1)^r\left({}^{100}C_r\right)^2$</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$Q+R$</a:t>
                </a:r>
                <a:r>
                  <a:rPr sz="2400" b="0">
                    <a:solidFill>
                      <a:srgbClr val="111827"/>
                    </a:solidFill>
                    <a:latin typeface="Arial"/>
                  </a:rPr>
                  <a:t> is equal to:</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$2P+1$</a:t>
                </a:r>
                <a:r>
                  <a:rPr sz="2400" b="0">
                    <a:solidFill>
                      <a:srgbClr val="111827"/>
                    </a:solidFill>
                    <a:latin typeface="Arial"/>
                  </a:rPr>
                  <a:t>   (B) </a:t>
                </a:r>
                <a:r>
                  <a:rPr lang="en-IN" sz="2400">
                    <a:solidFill>
                      <a:srgbClr val="111827"/>
                    </a:solidFill>
                    <a:latin typeface="Cambria Math" panose="02040503050406030204" pitchFamily="18" charset="0"/>
                  </a:rPr>
                  <a:t>$2P-1$</a:t>
                </a:r>
                <a:r>
                  <a:rPr sz="2400" b="0">
                    <a:solidFill>
                      <a:srgbClr val="111827"/>
                    </a:solidFill>
                    <a:latin typeface="Arial"/>
                  </a:rPr>
                  <a:t>   (C) </a:t>
                </a:r>
                <a:r>
                  <a:rPr lang="en-IN" sz="2400">
                    <a:solidFill>
                      <a:srgbClr val="111827"/>
                    </a:solidFill>
                    <a:latin typeface="Cambria Math" panose="02040503050406030204" pitchFamily="18" charset="0"/>
                  </a:rPr>
                  <a:t>$2P+2$</a:t>
                </a:r>
                <a:r>
                  <a:rPr sz="2400" b="0">
                    <a:solidFill>
                      <a:srgbClr val="111827"/>
                    </a:solidFill>
                    <a:latin typeface="Arial"/>
                  </a:rPr>
                  <a:t>   (D) </a:t>
                </a:r>
                <a:r>
                  <a:rPr lang="en-IN" sz="2400">
                    <a:solidFill>
                      <a:srgbClr val="111827"/>
                    </a:solidFill>
                    <a:latin typeface="Cambria Math" panose="02040503050406030204" pitchFamily="18" charset="0"/>
                  </a:rPr>
                  <a:t>$2P-2$</a:t>
                </a:r>
                <a:endParaRPr sz="2400">
                  <a:solidFill>
                    <a:srgbClr val="111827"/>
                  </a:solidFill>
                </a:endParaRPr>
              </a:p>
            </p:txBody>
          </p:sp>
        </mc:Fallback>
      </mc:AlternateContent>
      <p:sp>
        <p:nvSpPr>
          <p:cNvPr id="5" name="Rectangle 4"/>
          <p:cNvSpPr/>
          <p:nvPr/>
        </p:nvSpPr>
        <p:spPr>
          <a:xfrm>
            <a:off x="731520" y="4125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telescoping sums and binomial identities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Telescoping gives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100</m:t>
                            </m:r>
                          </m:num>
                          <m:den>
                            <m:r>
                              <a:rPr lang="en-IN" sz="2400" i="1">
                                <a:solidFill>
                                  <a:srgbClr val="78350F"/>
                                </a:solidFill>
                                <a:latin typeface="Cambria Math" panose="02040503050406030204" pitchFamily="18" charset="0"/>
                              </a:rPr>
                              <m:t>50</m:t>
                            </m:r>
                          </m:den>
                        </m:f>
                      </m:e>
                    </m:d>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while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𝑅</m:t>
                    </m:r>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100</m:t>
                            </m:r>
                          </m:num>
                          <m:den>
                            <m:r>
                              <a:rPr lang="en-IN" sz="2400" i="1">
                                <a:solidFill>
                                  <a:srgbClr val="78350F"/>
                                </a:solidFill>
                                <a:latin typeface="Cambria Math" panose="02040503050406030204" pitchFamily="18" charset="0"/>
                              </a:rPr>
                              <m:t>50</m:t>
                            </m:r>
                          </m:den>
                        </m:f>
                      </m:e>
                    </m:d>
                  </m:oMath>
                </a14:m>
                <a:r>
                  <a:rPr sz="2400" b="0">
                    <a:solidFill>
                      <a:srgbClr val="78350F"/>
                    </a:solidFill>
                    <a:latin typeface="Arial"/>
                  </a:rPr>
                  <a:t> (Vandermonde and the alternating-square identity).</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Telescoping gives </a:t>
                </a:r>
                <a:r>
                  <a:rPr lang="en-IN" sz="2400">
                    <a:solidFill>
                      <a:srgbClr val="78350F"/>
                    </a:solidFill>
                    <a:latin typeface="Cambria Math" panose="02040503050406030204" pitchFamily="18" charset="0"/>
                  </a:rPr>
                  <a:t>$P=\binom{100}{50}-1$</a:t>
                </a:r>
                <a:r>
                  <a:rPr sz="2400" b="0">
                    <a:solidFill>
                      <a:srgbClr val="78350F"/>
                    </a:solidFill>
                    <a:latin typeface="Arial"/>
                  </a:rPr>
                  <a:t>, while </a:t>
                </a:r>
                <a:r>
                  <a:rPr lang="en-IN" sz="2400">
                    <a:solidFill>
                      <a:srgbClr val="78350F"/>
                    </a:solidFill>
                    <a:latin typeface="Cambria Math" panose="02040503050406030204" pitchFamily="18" charset="0"/>
                  </a:rPr>
                  <a:t>$Q=R=\binom{100}{50}$</a:t>
                </a:r>
                <a:r>
                  <a:rPr sz="2400" b="0">
                    <a:solidFill>
                      <a:srgbClr val="78350F"/>
                    </a:solidFill>
                    <a:latin typeface="Arial"/>
                  </a:rPr>
                  <a:t> (Vandermonde and the alternating-square identity).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since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the second part: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r>
                  <a:rPr lang="en-IN" sz="2400">
                    <a:solidFill>
                      <a:srgbClr val="111827"/>
                    </a:solidFill>
                    <a:latin typeface="Cambria Math" panose="02040503050406030204" pitchFamily="18" charset="0"/>
                  </a:rPr>
                  <a:t>$T(r)=\frac{{}^{50+r}C_r(2r-1)}{{}^{50}C_r(50+r)}=\frac{{}^{50+r}C_r}{{}^{50}C_r}\left(1-\frac{50-r+1}{50+r}\right)$</a:t>
                </a:r>
                <a:r>
                  <a:rPr sz="2400" b="0">
                    <a:solidFill>
                      <a:srgbClr val="111827"/>
                    </a:solidFill>
                    <a:latin typeface="Arial"/>
                  </a:rPr>
                  <a:t>, since </a:t>
                </a:r>
                <a:r>
                  <a:rPr lang="en-IN" sz="2400">
                    <a:solidFill>
                      <a:srgbClr val="111827"/>
                    </a:solidFill>
                    <a:latin typeface="Cambria Math" panose="02040503050406030204" pitchFamily="18" charset="0"/>
                  </a:rPr>
                  <a:t>$\frac{2r-1}{50+r}=1-\frac{51-r}{50+r}$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$T(r)=\frac{{}^{50+r}C_r}{{}^{50}C_r}-\frac{{}^{50+r}C_r}{{}^{50}C_r}\cdot\frac{50-r+1}{50+r}$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Simplify the second part: </a:t>
                </a:r>
                <a:r>
                  <a:rPr lang="en-IN" sz="2400">
                    <a:solidFill>
                      <a:srgbClr val="111827"/>
                    </a:solidFill>
                    <a:latin typeface="Cambria Math" panose="02040503050406030204" pitchFamily="18" charset="0"/>
                  </a:rPr>
                  <a:t>$\frac{{}^{50+r}C_r}{{}^{50}C_r}\cdot\frac{50-r+1}{50+r}=\frac{(50-r+1)(50+r)!\,r!\,(50-r)!}{r!\,50!\,(50+r)\,50!}=\frac{{}^{50+r-1}C_{r-1}}{{}^{50}C_{r-1}}$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$T(r)=V(r)-V(r-1)$</a:t>
                </a:r>
                <a:r>
                  <a:rPr sz="2400" b="0">
                    <a:solidFill>
                      <a:srgbClr val="111827"/>
                    </a:solidFill>
                    <a:latin typeface="Arial"/>
                  </a:rPr>
                  <a:t> where </a:t>
                </a:r>
                <a:r>
                  <a:rPr lang="en-IN" sz="2400">
                    <a:solidFill>
                      <a:srgbClr val="111827"/>
                    </a:solidFill>
                    <a:latin typeface="Cambria Math" panose="02040503050406030204" pitchFamily="18" charset="0"/>
                  </a:rPr>
                  <a:t>$V(r)=\frac{{}^{50+r}C_r}{{}^{50}C_r}$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telescopes: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50</m:t>
                        </m:r>
                      </m:sup>
                      <m:e>
                        <m:r>
                          <a:rPr lang="en-IN" sz="2400" i="1">
                            <a:solidFill>
                              <a:srgbClr val="111827"/>
                            </a:solidFill>
                            <a:latin typeface="Cambria Math" panose="02040503050406030204" pitchFamily="18" charset="0"/>
                          </a:rPr>
                          <m:t>𝑇</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14:m>
                  <m:oMath xmlns:m="http://schemas.openxmlformats.org/officeDocument/2006/math">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Sup>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is odd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is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100</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oMath>
                </a14:m>
                <a:r>
                  <a:rPr sz="2400" b="0">
                    <a:solidFill>
                      <a:srgbClr val="111827"/>
                    </a:solidFill>
                    <a:latin typeface="Arial"/>
                  </a:rPr>
                  <a:t> by Vandermonde.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telescopes: </a:t>
                </a:r>
                <a:r>
                  <a:rPr lang="en-IN" sz="2400">
                    <a:solidFill>
                      <a:srgbClr val="111827"/>
                    </a:solidFill>
                    <a:latin typeface="Cambria Math" panose="02040503050406030204" pitchFamily="18" charset="0"/>
                  </a:rPr>
                  <a:t>$P=\sum_{r=1}^{50}T(r)=V(50)-V(0)=\frac{{}^{100}C_{50}}{{}^{50}C_{50}}-\frac{{}^{50}C_0}{{}^{50}C_0}={}^{100}C_{50}-1$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Also </a:t>
                </a:r>
                <a:r>
                  <a:rPr lang="en-IN" sz="2400">
                    <a:solidFill>
                      <a:srgbClr val="111827"/>
                    </a:solidFill>
                    <a:latin typeface="Cambria Math" panose="02040503050406030204" pitchFamily="18" charset="0"/>
                  </a:rPr>
                  <a:t>$C_0^2-C_1^2+C_2^2-\cdots+(-1)^nC_n^2=0$</a:t>
                </a:r>
                <a:r>
                  <a:rPr sz="2400" b="0">
                    <a:solidFill>
                      <a:srgbClr val="111827"/>
                    </a:solidFill>
                    <a:latin typeface="Arial"/>
                  </a:rPr>
                  <a:t> if </a:t>
                </a:r>
                <a:r>
                  <a:rPr lang="en-IN" sz="2400">
                    <a:solidFill>
                      <a:srgbClr val="111827"/>
                    </a:solidFill>
                    <a:latin typeface="Cambria Math" panose="02040503050406030204" pitchFamily="18" charset="0"/>
                  </a:rPr>
                  <a:t>$n$</a:t>
                </a:r>
                <a:r>
                  <a:rPr sz="2400" b="0">
                    <a:solidFill>
                      <a:srgbClr val="111827"/>
                    </a:solidFill>
                    <a:latin typeface="Arial"/>
                  </a:rPr>
                  <a:t> is odd and </a:t>
                </a:r>
                <a:r>
                  <a:rPr lang="en-IN" sz="2400">
                    <a:solidFill>
                      <a:srgbClr val="111827"/>
                    </a:solidFill>
                    <a:latin typeface="Cambria Math" panose="02040503050406030204" pitchFamily="18" charset="0"/>
                  </a:rPr>
                  <a:t>$(-1)^{n/2}\,{}^nC_{n/2}$</a:t>
                </a:r>
                <a:r>
                  <a:rPr sz="2400" b="0">
                    <a:solidFill>
                      <a:srgbClr val="111827"/>
                    </a:solidFill>
                    <a:latin typeface="Arial"/>
                  </a:rPr>
                  <a:t> if </a:t>
                </a:r>
                <a:r>
                  <a:rPr lang="en-IN" sz="2400">
                    <a:solidFill>
                      <a:srgbClr val="111827"/>
                    </a:solidFill>
                    <a:latin typeface="Cambria Math" panose="02040503050406030204" pitchFamily="18" charset="0"/>
                  </a:rPr>
                  <a:t>$n$</a:t>
                </a:r>
                <a:r>
                  <a:rPr sz="2400" b="0">
                    <a:solidFill>
                      <a:srgbClr val="111827"/>
                    </a:solidFill>
                    <a:latin typeface="Arial"/>
                  </a:rPr>
                  <a:t> is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$R=\sum_{r=0}^{100}(-1)^r\left({}^{100}C_r\right)^2=(-1)^{50}\,{}^{100}C_{50}={}^{100}C_{50}$</a:t>
                </a:r>
                <a:r>
                  <a:rPr sz="2400" b="0">
                    <a:solidFill>
                      <a:srgbClr val="111827"/>
                    </a:solidFill>
                    <a:latin typeface="Arial"/>
                  </a:rPr>
                  <a:t>, and </a:t>
                </a:r>
                <a:r>
                  <a:rPr lang="en-IN" sz="2400">
                    <a:solidFill>
                      <a:srgbClr val="111827"/>
                    </a:solidFill>
                    <a:latin typeface="Cambria Math" panose="02040503050406030204" pitchFamily="18" charset="0"/>
                  </a:rPr>
                  <a:t>$Q={}^{100}C_{50}$</a:t>
                </a:r>
                <a:r>
                  <a:rPr sz="2400" b="0">
                    <a:solidFill>
                      <a:srgbClr val="111827"/>
                    </a:solidFill>
                    <a:latin typeface="Arial"/>
                  </a:rPr>
                  <a:t> by Vandermonde.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$P-R=-1$</a:t>
                </a:r>
                <a:r>
                  <a:rPr sz="2400" b="0">
                    <a:solidFill>
                      <a:srgbClr val="111827"/>
                    </a:solidFill>
                    <a:latin typeface="Arial"/>
                  </a:rPr>
                  <a:t> (and </a:t>
                </a:r>
                <a:r>
                  <a:rPr lang="en-IN" sz="2400">
                    <a:solidFill>
                      <a:srgbClr val="111827"/>
                    </a:solidFill>
                    <a:latin typeface="Cambria Math" panose="02040503050406030204" pitchFamily="18" charset="0"/>
                  </a:rPr>
                  <a:t>$P-Q=-1$</a:t>
                </a:r>
                <a:r>
                  <a:rPr sz="2400" b="0">
                    <a:solidFill>
                      <a:srgbClr val="111827"/>
                    </a:solidFill>
                    <a:latin typeface="Arial"/>
                  </a:rPr>
                  <a:t>), and </a:t>
                </a:r>
                <a:r>
                  <a:rPr lang="en-IN" sz="2400">
                    <a:solidFill>
                      <a:srgbClr val="111827"/>
                    </a:solidFill>
                    <a:latin typeface="Cambria Math" panose="02040503050406030204" pitchFamily="18" charset="0"/>
                  </a:rPr>
                  <a:t>$Q+R=2\cdot{}^{100}C_{50}=2(P+1)=2P+2$</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𝑃</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$2P+2$</a:t>
                </a:r>
                <a:endParaRPr sz="2800">
                  <a:solidFill>
                    <a:srgbClr val="15803D"/>
                  </a:solidFill>
                </a:endParaRPr>
              </a:p>
            </p:txBody>
          </p:sp>
        </mc:Fallback>
      </mc:AlternateContent>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Get </a:t>
                </a:r>
                <a14:m>
                  <m:oMath xmlns:m="http://schemas.openxmlformats.org/officeDocument/2006/math">
                    <m:r>
                      <a:rPr lang="en-IN" sz="2400" i="1">
                        <a:solidFill>
                          <a:srgbClr val="78350F"/>
                        </a:solidFill>
                        <a:latin typeface="Cambria Math" panose="02040503050406030204" pitchFamily="18" charset="0"/>
                      </a:rPr>
                      <m:t>𝑅</m:t>
                    </m:r>
                  </m:oMath>
                </a14:m>
                <a:r>
                  <a:rPr sz="2400" b="0">
                    <a:solidFill>
                      <a:srgbClr val="78350F"/>
                    </a:solidFill>
                    <a:latin typeface="Arial"/>
                  </a:rPr>
                  <a:t> from the coefficient of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100</m:t>
                        </m:r>
                      </m:sup>
                    </m:sSup>
                  </m:oMath>
                </a14:m>
                <a:r>
                  <a:rPr sz="2400" b="0">
                    <a:solidFill>
                      <a:srgbClr val="78350F"/>
                    </a:solidFill>
                    <a:latin typeface="Arial"/>
                  </a:rPr>
                  <a:t> in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100</m:t>
                        </m:r>
                      </m:sup>
                    </m:sSup>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from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100</m:t>
                        </m:r>
                      </m:sup>
                    </m:sSup>
                  </m:oMath>
                </a14:m>
                <a:r>
                  <a:rPr sz="2400" b="0">
                    <a:solidFill>
                      <a:srgbClr val="78350F"/>
                    </a:solidFill>
                    <a:latin typeface="Arial"/>
                  </a:rPr>
                  <a:t> by generating functions.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Get </a:t>
                </a:r>
                <a:r>
                  <a:rPr lang="en-IN" sz="2400">
                    <a:solidFill>
                      <a:srgbClr val="78350F"/>
                    </a:solidFill>
                    <a:latin typeface="Cambria Math" panose="02040503050406030204" pitchFamily="18" charset="0"/>
                  </a:rPr>
                  <a:t>$R$</a:t>
                </a:r>
                <a:r>
                  <a:rPr sz="2400" b="0">
                    <a:solidFill>
                      <a:srgbClr val="78350F"/>
                    </a:solidFill>
                    <a:latin typeface="Arial"/>
                  </a:rPr>
                  <a:t> from the coefficient of </a:t>
                </a:r>
                <a:r>
                  <a:rPr lang="en-IN" sz="2400">
                    <a:solidFill>
                      <a:srgbClr val="78350F"/>
                    </a:solidFill>
                    <a:latin typeface="Cambria Math" panose="02040503050406030204" pitchFamily="18" charset="0"/>
                  </a:rPr>
                  <a:t>$x^{100}$</a:t>
                </a:r>
                <a:r>
                  <a:rPr sz="2400" b="0">
                    <a:solidFill>
                      <a:srgbClr val="78350F"/>
                    </a:solidFill>
                    <a:latin typeface="Arial"/>
                  </a:rPr>
                  <a:t> in </a:t>
                </a:r>
                <a:r>
                  <a:rPr lang="en-IN" sz="2400">
                    <a:solidFill>
                      <a:srgbClr val="78350F"/>
                    </a:solidFill>
                    <a:latin typeface="Cambria Math" panose="02040503050406030204" pitchFamily="18" charset="0"/>
                  </a:rPr>
                  <a:t>$(1-x^2)^{100}$</a:t>
                </a:r>
                <a:r>
                  <a:rPr sz="2400" b="0">
                    <a:solidFill>
                      <a:srgbClr val="78350F"/>
                    </a:solidFill>
                    <a:latin typeface="Arial"/>
                  </a:rPr>
                  <a:t> and </a:t>
                </a:r>
                <a:r>
                  <a:rPr lang="en-IN" sz="2400">
                    <a:solidFill>
                      <a:srgbClr val="78350F"/>
                    </a:solidFill>
                    <a:latin typeface="Cambria Math" panose="02040503050406030204" pitchFamily="18" charset="0"/>
                  </a:rPr>
                  <a:t>$Q$</a:t>
                </a:r>
                <a:r>
                  <a:rPr sz="2400" b="0">
                    <a:solidFill>
                      <a:srgbClr val="78350F"/>
                    </a:solidFill>
                    <a:latin typeface="Arial"/>
                  </a:rPr>
                  <a:t> from </a:t>
                </a:r>
                <a:r>
                  <a:rPr lang="en-IN" sz="2400">
                    <a:solidFill>
                      <a:srgbClr val="78350F"/>
                    </a:solidFill>
                    <a:latin typeface="Cambria Math" panose="02040503050406030204" pitchFamily="18" charset="0"/>
                  </a:rPr>
                  <a:t>$(1+x)^{100}$</a:t>
                </a:r>
                <a:r>
                  <a:rPr sz="2400" b="0">
                    <a:solidFill>
                      <a:srgbClr val="78350F"/>
                    </a:solidFill>
                    <a:latin typeface="Arial"/>
                  </a:rPr>
                  <a:t> by generating functions.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𝑟</m:t>
                            </m:r>
                          </m:den>
                        </m:f>
                      </m:e>
                    </m:d>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it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𝑘</m:t>
                            </m:r>
                          </m:den>
                        </m:f>
                      </m:e>
                    </m:d>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 comes from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50</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𝑟</m:t>
                                </m:r>
                              </m:den>
                            </m:f>
                          </m:e>
                        </m:d>
                      </m:e>
                    </m:nary>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e>
                    </m:d>
                  </m:oMath>
                </a14:m>
                <a:r>
                  <a:rPr sz="2400" b="0">
                    <a:solidFill>
                      <a:srgbClr val="111827"/>
                    </a:solidFill>
                    <a:latin typeface="Arial"/>
                  </a:rPr>
                  <a:t> is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50</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$R=\sum_r(-1)^r\binom{100}{r}\binom{100}{100-r}$</a:t>
                </a:r>
                <a:r>
                  <a:rPr sz="2400" b="0">
                    <a:solidFill>
                      <a:srgbClr val="111827"/>
                    </a:solidFill>
                    <a:latin typeface="Arial"/>
                  </a:rPr>
                  <a:t>: it is the coefficient of </a:t>
                </a:r>
                <a:r>
                  <a:rPr lang="en-IN" sz="2400">
                    <a:solidFill>
                      <a:srgbClr val="111827"/>
                    </a:solidFill>
                    <a:latin typeface="Cambria Math" panose="02040503050406030204" pitchFamily="18" charset="0"/>
                  </a:rPr>
                  <a:t>$x^{100}$</a:t>
                </a:r>
                <a:r>
                  <a:rPr sz="2400" b="0">
                    <a:solidFill>
                      <a:srgbClr val="111827"/>
                    </a:solidFill>
                    <a:latin typeface="Arial"/>
                  </a:rPr>
                  <a:t> in </a:t>
                </a:r>
                <a:r>
                  <a:rPr lang="en-IN" sz="2400">
                    <a:solidFill>
                      <a:srgbClr val="111827"/>
                    </a:solidFill>
                    <a:latin typeface="Cambria Math" panose="02040503050406030204" pitchFamily="18" charset="0"/>
                  </a:rPr>
                  <a:t>$(1-x)^{100}(1+x)^{100}$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But </a:t>
                </a:r>
                <a:r>
                  <a:rPr lang="en-IN" sz="2400">
                    <a:solidFill>
                      <a:srgbClr val="111827"/>
                    </a:solidFill>
                    <a:latin typeface="Cambria Math" panose="02040503050406030204" pitchFamily="18" charset="0"/>
                  </a:rPr>
                  <a:t>$(1-x)^{100}(1+x)^{100}=(1-x^2)^{100}=\sum_k(-1)^k\binom{100}{k}x^{2k}$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coefficient of </a:t>
                </a:r>
                <a:r>
                  <a:rPr lang="en-IN" sz="2400">
                    <a:solidFill>
                      <a:srgbClr val="111827"/>
                    </a:solidFill>
                    <a:latin typeface="Cambria Math" panose="02040503050406030204" pitchFamily="18" charset="0"/>
                  </a:rPr>
                  <a:t>$x^{100}$</a:t>
                </a:r>
                <a:r>
                  <a:rPr sz="2400" b="0">
                    <a:solidFill>
                      <a:srgbClr val="111827"/>
                    </a:solidFill>
                    <a:latin typeface="Arial"/>
                  </a:rPr>
                  <a:t> comes from </a:t>
                </a:r>
                <a:r>
                  <a:rPr lang="en-IN" sz="2400">
                    <a:solidFill>
                      <a:srgbClr val="111827"/>
                    </a:solidFill>
                    <a:latin typeface="Cambria Math" panose="02040503050406030204" pitchFamily="18" charset="0"/>
                  </a:rPr>
                  <a:t>$k=50$</a:t>
                </a:r>
                <a:r>
                  <a:rPr sz="2400" b="0">
                    <a:solidFill>
                      <a:srgbClr val="111827"/>
                    </a:solidFill>
                    <a:latin typeface="Arial"/>
                  </a:rPr>
                  <a:t>: </a:t>
                </a:r>
                <a:r>
                  <a:rPr lang="en-IN" sz="2400">
                    <a:solidFill>
                      <a:srgbClr val="111827"/>
                    </a:solidFill>
                    <a:latin typeface="Cambria Math" panose="02040503050406030204" pitchFamily="18" charset="0"/>
                  </a:rPr>
                  <a:t>$R=(-1)^{50}\binom{100}{50}=\binom{100}{50}$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$Q=\sum_r\binom{50}{r}\binom{50}{50-r}$</a:t>
                </a:r>
                <a:r>
                  <a:rPr sz="2400" b="0">
                    <a:solidFill>
                      <a:srgbClr val="111827"/>
                    </a:solidFill>
                    <a:latin typeface="Arial"/>
                  </a:rPr>
                  <a:t> is the coefficient of </a:t>
                </a:r>
                <a:r>
                  <a:rPr lang="en-IN" sz="2400">
                    <a:solidFill>
                      <a:srgbClr val="111827"/>
                    </a:solidFill>
                    <a:latin typeface="Cambria Math" panose="02040503050406030204" pitchFamily="18" charset="0"/>
                  </a:rPr>
                  <a:t>$x^{50}$</a:t>
                </a:r>
                <a:r>
                  <a:rPr sz="2400" b="0">
                    <a:solidFill>
                      <a:srgbClr val="111827"/>
                    </a:solidFill>
                    <a:latin typeface="Arial"/>
                  </a:rPr>
                  <a:t> in </a:t>
                </a:r>
                <a:r>
                  <a:rPr lang="en-IN" sz="2400">
                    <a:solidFill>
                      <a:srgbClr val="111827"/>
                    </a:solidFill>
                    <a:latin typeface="Cambria Math" panose="02040503050406030204" pitchFamily="18" charset="0"/>
                  </a:rPr>
                  <a:t>$(1+x)^{100}$</a:t>
                </a:r>
                <a:r>
                  <a:rPr sz="2400" b="0">
                    <a:solidFill>
                      <a:srgbClr val="111827"/>
                    </a:solidFill>
                    <a:latin typeface="Arial"/>
                  </a:rPr>
                  <a:t>, so </a:t>
                </a:r>
                <a:r>
                  <a:rPr lang="en-IN" sz="2400">
                    <a:solidFill>
                      <a:srgbClr val="111827"/>
                    </a:solidFill>
                    <a:latin typeface="Cambria Math" panose="02040503050406030204" pitchFamily="18" charset="0"/>
                  </a:rPr>
                  <a:t>$Q=\binom{100}{50}$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set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then each summand equals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because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50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option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$P$</a:t>
                </a:r>
                <a:r>
                  <a:rPr sz="2400" b="0">
                    <a:solidFill>
                      <a:srgbClr val="111827"/>
                    </a:solidFill>
                    <a:latin typeface="Arial"/>
                  </a:rPr>
                  <a:t>, set </a:t>
                </a:r>
                <a:r>
                  <a:rPr lang="en-IN" sz="2400">
                    <a:solidFill>
                      <a:srgbClr val="111827"/>
                    </a:solidFill>
                    <a:latin typeface="Cambria Math" panose="02040503050406030204" pitchFamily="18" charset="0"/>
                  </a:rPr>
                  <a:t>$a_r=\frac{(50+r)!(50-r)!}{(50!)^2}$</a:t>
                </a:r>
                <a:r>
                  <a:rPr sz="2400" b="0">
                    <a:solidFill>
                      <a:srgbClr val="111827"/>
                    </a:solidFill>
                    <a:latin typeface="Arial"/>
                  </a:rPr>
                  <a:t>; then each summand equals </a:t>
                </a:r>
                <a:r>
                  <a:rPr lang="en-IN" sz="2400">
                    <a:solidFill>
                      <a:srgbClr val="111827"/>
                    </a:solidFill>
                    <a:latin typeface="Cambria Math" panose="02040503050406030204" pitchFamily="18" charset="0"/>
                  </a:rPr>
                  <a:t>$a_r-a_{r-1}$</a:t>
                </a:r>
                <a:r>
                  <a:rPr sz="2400" b="0">
                    <a:solidFill>
                      <a:srgbClr val="111827"/>
                    </a:solidFill>
                    <a:latin typeface="Arial"/>
                  </a:rPr>
                  <a:t> because </a:t>
                </a:r>
                <a:r>
                  <a:rPr lang="en-IN" sz="2400">
                    <a:solidFill>
                      <a:srgbClr val="111827"/>
                    </a:solidFill>
                    <a:latin typeface="Cambria Math" panose="02040503050406030204" pitchFamily="18" charset="0"/>
                  </a:rPr>
                  <a:t>$(50+r)-(51-r)=2r-1$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$P=a_{50}-a_0=\binom{100}{50}-1$</a:t>
                </a:r>
                <a:r>
                  <a:rPr sz="2400" b="0">
                    <a:solidFill>
                      <a:srgbClr val="111827"/>
                    </a:solidFill>
                    <a:latin typeface="Arial"/>
                  </a:rPr>
                  <a:t>, i.e. </a:t>
                </a:r>
                <a:r>
                  <a:rPr lang="en-IN" sz="2400">
                    <a:solidFill>
                      <a:srgbClr val="111827"/>
                    </a:solidFill>
                    <a:latin typeface="Cambria Math" panose="02040503050406030204" pitchFamily="18" charset="0"/>
                  </a:rPr>
                  <a:t>$\binom{100}{50}=P+1$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$Q+R=2\binom{100}{50}=2P+2$</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r>
                      <a:rPr lang="en-IN" sz="2800" i="1">
                        <a:solidFill>
                          <a:srgbClr val="15803D"/>
                        </a:solidFill>
                        <a:latin typeface="Cambria Math" panose="02040503050406030204" pitchFamily="18" charset="0"/>
                      </a:rPr>
                      <m:t>2</m:t>
                    </m:r>
                    <m:r>
                      <a:rPr lang="en-IN" sz="2800" i="1">
                        <a:solidFill>
                          <a:srgbClr val="15803D"/>
                        </a:solidFill>
                        <a:latin typeface="Cambria Math" panose="02040503050406030204" pitchFamily="18" charset="0"/>
                      </a:rPr>
                      <m:t>𝑃</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$2P+2$</a:t>
                </a:r>
                <a:endParaRPr sz="2800">
                  <a:solidFill>
                    <a:srgbClr val="15803D"/>
                  </a:solidFill>
                </a:endParaRPr>
              </a:p>
            </p:txBody>
          </p:sp>
        </mc:Fallback>
      </mc:AlternateContent>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50</m:t>
                        </m:r>
                      </m:sup>
                      <m:e>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50</m:t>
                                    </m:r>
                                  </m:num>
                                  <m:den>
                                    <m:r>
                                      <a:rPr lang="en-IN" sz="2400" i="1">
                                        <a:solidFill>
                                          <a:srgbClr val="111827"/>
                                        </a:solidFill>
                                        <a:latin typeface="Cambria Math" panose="02040503050406030204" pitchFamily="18" charset="0"/>
                                      </a:rPr>
                                      <m:t>𝑟</m:t>
                                    </m:r>
                                  </m:den>
                                </m:f>
                              </m:e>
                            </m:d>
                          </m:e>
                          <m:sup>
                            <m:r>
                              <a:rPr lang="en-IN" sz="2400" i="1">
                                <a:solidFill>
                                  <a:srgbClr val="111827"/>
                                </a:solidFill>
                                <a:latin typeface="Cambria Math" panose="02040503050406030204" pitchFamily="18" charset="0"/>
                              </a:rPr>
                              <m:t>2</m:t>
                            </m:r>
                          </m:sup>
                        </m:sSup>
                      </m:e>
                    </m:nary>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 and, for even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𝑟</m:t>
                        </m:r>
                      </m:sup>
                    </m:sSup>
                    <m:s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𝑚</m:t>
                            </m:r>
                          </m:den>
                        </m:f>
                      </m:e>
                    </m:d>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m:t>
                    </m:r>
                  </m:oMath>
                </a14:m>
                <a:r>
                  <a:rPr sz="2400" b="0">
                    <a:solidFill>
                      <a:srgbClr val="111827"/>
                    </a:solidFill>
                    <a:latin typeface="Arial"/>
                  </a:rPr>
                  <a:t> this gives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m:t>
                            </m:r>
                          </m:num>
                          <m:den>
                            <m:r>
                              <a:rPr lang="en-IN" sz="2400" i="1">
                                <a:solidFill>
                                  <a:srgbClr val="111827"/>
                                </a:solidFill>
                                <a:latin typeface="Cambria Math" panose="02040503050406030204" pitchFamily="18" charset="0"/>
                              </a:rPr>
                              <m:t>50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Telescoping sum value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links the three paragraph answers: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(verified with exact big-integer arithmetic).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Strategy for sums with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𝑟</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oMath>
                </a14:m>
                <a:r>
                  <a:rPr sz="2400" b="0">
                    <a:solidFill>
                      <a:srgbClr val="111827"/>
                    </a:solidFill>
                    <a:latin typeface="Arial"/>
                  </a:rPr>
                  <a:t>: rewrite as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𝑛</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and look for a difference of consecutive terms.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$Q=\sum_{r=0}^{50}\binom{50}{r}^2=\binom{100}{50}$</a:t>
                </a:r>
                <a:r>
                  <a:rPr sz="2400" b="0">
                    <a:solidFill>
                      <a:srgbClr val="111827"/>
                    </a:solidFill>
                    <a:latin typeface="Arial"/>
                  </a:rPr>
                  <a:t> and, for even </a:t>
                </a:r>
                <a:r>
                  <a:rPr lang="en-IN" sz="2400">
                    <a:solidFill>
                      <a:srgbClr val="111827"/>
                    </a:solidFill>
                    <a:latin typeface="Cambria Math" panose="02040503050406030204" pitchFamily="18" charset="0"/>
                  </a:rPr>
                  <a:t>$n=2m$</a:t>
                </a:r>
                <a:r>
                  <a:rPr sz="2400" b="0">
                    <a:solidFill>
                      <a:srgbClr val="111827"/>
                    </a:solidFill>
                    <a:latin typeface="Arial"/>
                  </a:rPr>
                  <a:t>, </a:t>
                </a:r>
                <a:r>
                  <a:rPr lang="en-IN" sz="2400">
                    <a:solidFill>
                      <a:srgbClr val="111827"/>
                    </a:solidFill>
                    <a:latin typeface="Cambria Math" panose="02040503050406030204" pitchFamily="18" charset="0"/>
                  </a:rPr>
                  <a:t>$\sum_r(-1)^r\binom nr^2=(-1)^m\binom{n}{m}$</a:t>
                </a:r>
                <a:r>
                  <a:rPr sz="2400" b="0">
                    <a:solidFill>
                      <a:srgbClr val="111827"/>
                    </a:solidFill>
                    <a:latin typeface="Arial"/>
                  </a:rPr>
                  <a:t>; with </a:t>
                </a:r>
                <a:r>
                  <a:rPr lang="en-IN" sz="2400">
                    <a:solidFill>
                      <a:srgbClr val="111827"/>
                    </a:solidFill>
                    <a:latin typeface="Cambria Math" panose="02040503050406030204" pitchFamily="18" charset="0"/>
                  </a:rPr>
                  <a:t>$n=100$</a:t>
                </a:r>
                <a:r>
                  <a:rPr sz="2400" b="0">
                    <a:solidFill>
                      <a:srgbClr val="111827"/>
                    </a:solidFill>
                    <a:latin typeface="Arial"/>
                  </a:rPr>
                  <a:t>, </a:t>
                </a:r>
                <a:r>
                  <a:rPr lang="en-IN" sz="2400">
                    <a:solidFill>
                      <a:srgbClr val="111827"/>
                    </a:solidFill>
                    <a:latin typeface="Cambria Math" panose="02040503050406030204" pitchFamily="18" charset="0"/>
                  </a:rPr>
                  <a:t>$m=50$</a:t>
                </a:r>
                <a:r>
                  <a:rPr sz="2400" b="0">
                    <a:solidFill>
                      <a:srgbClr val="111827"/>
                    </a:solidFill>
                    <a:latin typeface="Arial"/>
                  </a:rPr>
                  <a:t> this gives </a:t>
                </a:r>
                <a:r>
                  <a:rPr lang="en-IN" sz="2400">
                    <a:solidFill>
                      <a:srgbClr val="111827"/>
                    </a:solidFill>
                    <a:latin typeface="Cambria Math" panose="02040503050406030204" pitchFamily="18" charset="0"/>
                  </a:rPr>
                  <a:t>$R=\binom{100}{50}$</a:t>
                </a:r>
                <a:r>
                  <a:rPr sz="2400" b="0">
                    <a:solidFill>
                      <a:srgbClr val="111827"/>
                    </a:solidFill>
                    <a:latin typeface="Arial"/>
                  </a:rPr>
                  <a:t>, so </a:t>
                </a:r>
                <a:r>
                  <a:rPr lang="en-IN" sz="2400">
                    <a:solidFill>
                      <a:srgbClr val="111827"/>
                    </a:solidFill>
                    <a:latin typeface="Cambria Math" panose="02040503050406030204" pitchFamily="18" charset="0"/>
                  </a:rPr>
                  <a:t>$Q+R=2\binom{100}{50}$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Telescoping sum value </a:t>
                </a:r>
                <a:r>
                  <a:rPr lang="en-IN" sz="2400">
                    <a:solidFill>
                      <a:srgbClr val="111827"/>
                    </a:solidFill>
                    <a:latin typeface="Cambria Math" panose="02040503050406030204" pitchFamily="18" charset="0"/>
                  </a:rPr>
                  <a:t>$P=\binom{2n}{n}-1$</a:t>
                </a:r>
                <a:r>
                  <a:rPr sz="2400" b="0">
                    <a:solidFill>
                      <a:srgbClr val="111827"/>
                    </a:solidFill>
                    <a:latin typeface="Arial"/>
                  </a:rPr>
                  <a:t> links the three paragraph answers: </a:t>
                </a:r>
                <a:r>
                  <a:rPr lang="en-IN" sz="2400">
                    <a:solidFill>
                      <a:srgbClr val="111827"/>
                    </a:solidFill>
                    <a:latin typeface="Cambria Math" panose="02040503050406030204" pitchFamily="18" charset="0"/>
                  </a:rPr>
                  <a:t>$P-Q=P-R=-1$</a:t>
                </a:r>
                <a:r>
                  <a:rPr sz="2400" b="0">
                    <a:solidFill>
                      <a:srgbClr val="111827"/>
                    </a:solidFill>
                    <a:latin typeface="Arial"/>
                  </a:rPr>
                  <a:t>, </a:t>
                </a:r>
                <a:r>
                  <a:rPr lang="en-IN" sz="2400">
                    <a:solidFill>
                      <a:srgbClr val="111827"/>
                    </a:solidFill>
                    <a:latin typeface="Cambria Math" panose="02040503050406030204" pitchFamily="18" charset="0"/>
                  </a:rPr>
                  <a:t>$Q+R=2P+2$</a:t>
                </a:r>
                <a:r>
                  <a:rPr sz="2400" b="0">
                    <a:solidFill>
                      <a:srgbClr val="111827"/>
                    </a:solidFill>
                    <a:latin typeface="Arial"/>
                  </a:rPr>
                  <a:t> (verified with exact big-integer arithmetic).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Strategy for sums with </a:t>
                </a:r>
                <a:r>
                  <a:rPr lang="en-IN" sz="2400">
                    <a:solidFill>
                      <a:srgbClr val="111827"/>
                    </a:solidFill>
                    <a:latin typeface="Cambria Math" panose="02040503050406030204" pitchFamily="18" charset="0"/>
                  </a:rPr>
                  <a:t>$\binom{n+r}{r}/\binom nr$</a:t>
                </a:r>
                <a:r>
                  <a:rPr sz="2400" b="0">
                    <a:solidFill>
                      <a:srgbClr val="111827"/>
                    </a:solidFill>
                    <a:latin typeface="Arial"/>
                  </a:rPr>
                  <a:t>: rewrite as </a:t>
                </a:r>
                <a:r>
                  <a:rPr lang="en-IN" sz="2400">
                    <a:solidFill>
                      <a:srgbClr val="111827"/>
                    </a:solidFill>
                    <a:latin typeface="Cambria Math" panose="02040503050406030204" pitchFamily="18" charset="0"/>
                  </a:rPr>
                  <a:t>$\frac{(n+r)!(n-r)!}{n!^2}$</a:t>
                </a:r>
                <a:r>
                  <a:rPr sz="2400" b="0">
                    <a:solidFill>
                      <a:srgbClr val="111827"/>
                    </a:solidFill>
                    <a:latin typeface="Arial"/>
                  </a:rPr>
                  <a:t> and look for a difference of consecutive terms.</a:t>
                </a:r>
                <a:endParaRPr sz="2400">
                  <a:solidFill>
                    <a:srgbClr val="111827"/>
                  </a:solidFill>
                </a:endParaRPr>
              </a:p>
            </p:txBody>
          </p:sp>
        </mc:Fallback>
      </mc:AlternateContent>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be a real number and let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be a complex number satisfying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e>
                        </m:d>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such that this region contains at least one point of the closed second quadrant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lies in the interval:</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endParaRPr sz="2400">
                  <a:solidFill>
                    <a:srgbClr val="111827"/>
                  </a:solidFill>
                </a:endParaRPr>
              </a:p>
            </p:txBody>
          </p:sp>
        </mc:Choice>
        <mc:Fallback>
          <p:sp>
            <p:nvSpPr>
              <p:cNvPr id="4" name="Rounded Rectangle 3"/>
              <p:cNvSpPr/>
              <p:nvPr/>
            </p:nvSpPr>
            <p:spPr>
              <a:xfrm>
                <a:off x="731520" y="1280160"/>
                <a:ext cx="10725912" cy="2616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$\alpha$</a:t>
                </a:r>
                <a:r>
                  <a:rPr sz="2400" b="0">
                    <a:solidFill>
                      <a:srgbClr val="111827"/>
                    </a:solidFill>
                    <a:latin typeface="Arial"/>
                  </a:rPr>
                  <a:t> be a real number and let </a:t>
                </a:r>
                <a:r>
                  <a:rPr lang="en-IN" sz="2400">
                    <a:solidFill>
                      <a:srgbClr val="111827"/>
                    </a:solidFill>
                    <a:latin typeface="Cambria Math" panose="02040503050406030204" pitchFamily="18" charset="0"/>
                  </a:rPr>
                  <a:t>$z$</a:t>
                </a:r>
                <a:r>
                  <a:rPr sz="2400" b="0">
                    <a:solidFill>
                      <a:srgbClr val="111827"/>
                    </a:solidFill>
                    <a:latin typeface="Arial"/>
                  </a:rPr>
                  <a:t> be a complex number satisfying </a:t>
                </a:r>
                <a:r>
                  <a:rPr lang="en-IN" sz="2400">
                    <a:solidFill>
                      <a:srgbClr val="111827"/>
                    </a:solidFill>
                    <a:latin typeface="Cambria Math" panose="02040503050406030204" pitchFamily="18" charset="0"/>
                  </a:rPr>
                  <a:t>$\left|z-i-\left(\alpha^2-7\alpha+11\right)\right|\le1$</a:t>
                </a:r>
                <a:r>
                  <a:rPr sz="2400" b="0">
                    <a:solidFill>
                      <a:srgbClr val="111827"/>
                    </a:solidFill>
                    <a:latin typeface="Arial"/>
                  </a:rPr>
                  <a:t>, such that this region contains at least one point of the closed second quadrant (</a:t>
                </a:r>
                <a:r>
                  <a:rPr lang="en-IN" sz="2400">
                    <a:solidFill>
                      <a:srgbClr val="111827"/>
                    </a:solidFill>
                    <a:latin typeface="Cambria Math" panose="02040503050406030204" pitchFamily="18" charset="0"/>
                  </a:rPr>
                  <a:t>$x\le0$</a:t>
                </a:r>
                <a:r>
                  <a:rPr sz="2400" b="0">
                    <a:solidFill>
                      <a:srgbClr val="111827"/>
                    </a:solidFill>
                    <a:latin typeface="Arial"/>
                  </a:rPr>
                  <a:t>, </a:t>
                </a:r>
                <a:r>
                  <a:rPr lang="en-IN" sz="2400">
                    <a:solidFill>
                      <a:srgbClr val="111827"/>
                    </a:solidFill>
                    <a:latin typeface="Cambria Math" panose="02040503050406030204" pitchFamily="18" charset="0"/>
                  </a:rPr>
                  <a:t>$y\ge0$</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lang="en-IN" sz="2400">
                    <a:solidFill>
                      <a:srgbClr val="111827"/>
                    </a:solidFill>
                    <a:latin typeface="Cambria Math" panose="02040503050406030204" pitchFamily="18" charset="0"/>
                  </a:rPr>
                  <a:t>$\alpha$</a:t>
                </a:r>
                <a:r>
                  <a:rPr sz="2400" b="0">
                    <a:solidFill>
                      <a:srgbClr val="111827"/>
                    </a:solidFill>
                    <a:latin typeface="Arial"/>
                  </a:rPr>
                  <a:t> lies in the interval:</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$[2,6]$</a:t>
                </a:r>
                <a:r>
                  <a:rPr sz="2400" b="0">
                    <a:solidFill>
                      <a:srgbClr val="111827"/>
                    </a:solidFill>
                    <a:latin typeface="Arial"/>
                  </a:rPr>
                  <a:t>   (B) </a:t>
                </a:r>
                <a:r>
                  <a:rPr lang="en-IN" sz="2400">
                    <a:solidFill>
                      <a:srgbClr val="111827"/>
                    </a:solidFill>
                    <a:latin typeface="Cambria Math" panose="02040503050406030204" pitchFamily="18" charset="0"/>
                  </a:rPr>
                  <a:t>$\left[1,\frac72\right]$</a:t>
                </a:r>
                <a:r>
                  <a:rPr sz="2400" b="0">
                    <a:solidFill>
                      <a:srgbClr val="111827"/>
                    </a:solidFill>
                    <a:latin typeface="Arial"/>
                  </a:rPr>
                  <a:t>   (C) </a:t>
                </a:r>
                <a:r>
                  <a:rPr lang="en-IN" sz="2400">
                    <a:solidFill>
                      <a:srgbClr val="111827"/>
                    </a:solidFill>
                    <a:latin typeface="Cambria Math" panose="02040503050406030204" pitchFamily="18" charset="0"/>
                  </a:rPr>
                  <a:t>$[2,5]$</a:t>
                </a:r>
                <a:r>
                  <a:rPr sz="2400" b="0">
                    <a:solidFill>
                      <a:srgbClr val="111827"/>
                    </a:solidFill>
                    <a:latin typeface="Arial"/>
                  </a:rPr>
                  <a:t>   (D) </a:t>
                </a:r>
                <a:r>
                  <a:rPr lang="en-IN" sz="2400">
                    <a:solidFill>
                      <a:srgbClr val="111827"/>
                    </a:solidFill>
                    <a:latin typeface="Cambria Math" panose="02040503050406030204" pitchFamily="18" charset="0"/>
                  </a:rPr>
                  <a:t>$[-4,-2]$</a:t>
                </a:r>
                <a:endParaRPr sz="2400">
                  <a:solidFill>
                    <a:srgbClr val="111827"/>
                  </a:solidFill>
                </a:endParaRPr>
              </a:p>
            </p:txBody>
          </p:sp>
        </mc:Fallback>
      </mc:AlternateContent>
      <p:sp>
        <p:nvSpPr>
          <p:cNvPr id="5" name="Rectangle 4"/>
          <p:cNvSpPr/>
          <p:nvPr/>
        </p:nvSpPr>
        <p:spPr>
          <a:xfrm>
            <a:off x="731520" y="4125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locus (disc) and quadratic inequality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region is a unit disc with centre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α</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7</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11</m:t>
                    </m:r>
                  </m:oMath>
                </a14:m>
                <a:r>
                  <a:rPr sz="2400" b="0">
                    <a:solidFill>
                      <a:srgbClr val="78350F"/>
                    </a:solidFill>
                    <a:latin typeface="Arial"/>
                  </a:rPr>
                  <a:t>, which meets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 iff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region is a unit disc with centre </a:t>
                </a:r>
                <a:r>
                  <a:rPr lang="en-IN" sz="2400">
                    <a:solidFill>
                      <a:srgbClr val="78350F"/>
                    </a:solidFill>
                    <a:latin typeface="Cambria Math" panose="02040503050406030204" pitchFamily="18" charset="0"/>
                  </a:rPr>
                  <a:t>$(c,1)$</a:t>
                </a:r>
                <a:r>
                  <a:rPr sz="2400" b="0">
                    <a:solidFill>
                      <a:srgbClr val="78350F"/>
                    </a:solidFill>
                    <a:latin typeface="Arial"/>
                  </a:rPr>
                  <a:t>, </a:t>
                </a:r>
                <a:r>
                  <a:rPr lang="en-IN" sz="2400">
                    <a:solidFill>
                      <a:srgbClr val="78350F"/>
                    </a:solidFill>
                    <a:latin typeface="Cambria Math" panose="02040503050406030204" pitchFamily="18" charset="0"/>
                  </a:rPr>
                  <a:t>$c=\alpha^2-7\alpha+11$</a:t>
                </a:r>
                <a:r>
                  <a:rPr sz="2400" b="0">
                    <a:solidFill>
                      <a:srgbClr val="78350F"/>
                    </a:solidFill>
                    <a:latin typeface="Arial"/>
                  </a:rPr>
                  <a:t>, which meets </a:t>
                </a:r>
                <a:r>
                  <a:rPr lang="en-IN" sz="2400">
                    <a:solidFill>
                      <a:srgbClr val="78350F"/>
                    </a:solidFill>
                    <a:latin typeface="Cambria Math" panose="02040503050406030204" pitchFamily="18" charset="0"/>
                  </a:rPr>
                  <a:t>$x\le0$</a:t>
                </a:r>
                <a:r>
                  <a:rPr sz="2400" b="0">
                    <a:solidFill>
                      <a:srgbClr val="78350F"/>
                    </a:solidFill>
                    <a:latin typeface="Arial"/>
                  </a:rPr>
                  <a:t> iff </a:t>
                </a:r>
                <a:r>
                  <a:rPr lang="en-IN" sz="2400">
                    <a:solidFill>
                      <a:srgbClr val="78350F"/>
                    </a:solidFill>
                    <a:latin typeface="Cambria Math" panose="02040503050406030204" pitchFamily="18" charset="0"/>
                  </a:rPr>
                  <a:t>$c-1\le0$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The region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the closed disc of radius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with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points have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always; some point has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iff the leftmost abscissa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we need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$c=\alpha^2-7\alpha+11$</a:t>
                </a:r>
                <a:r>
                  <a:rPr sz="2400" b="0">
                    <a:solidFill>
                      <a:srgbClr val="111827"/>
                    </a:solidFill>
                    <a:latin typeface="Arial"/>
                  </a:rPr>
                  <a:t>. The region </a:t>
                </a:r>
                <a:r>
                  <a:rPr lang="en-IN" sz="2400">
                    <a:solidFill>
                      <a:srgbClr val="111827"/>
                    </a:solidFill>
                    <a:latin typeface="Cambria Math" panose="02040503050406030204" pitchFamily="18" charset="0"/>
                  </a:rPr>
                  <a:t>$\left|z-(c+i)\right|\le1$</a:t>
                </a:r>
                <a:r>
                  <a:rPr sz="2400" b="0">
                    <a:solidFill>
                      <a:srgbClr val="111827"/>
                    </a:solidFill>
                    <a:latin typeface="Arial"/>
                  </a:rPr>
                  <a:t> is the closed disc of radius </a:t>
                </a:r>
                <a:r>
                  <a:rPr lang="en-IN" sz="2400">
                    <a:solidFill>
                      <a:srgbClr val="111827"/>
                    </a:solidFill>
                    <a:latin typeface="Cambria Math" panose="02040503050406030204" pitchFamily="18" charset="0"/>
                  </a:rPr>
                  <a:t>$1$</a:t>
                </a:r>
                <a:r>
                  <a:rPr sz="2400" b="0">
                    <a:solidFill>
                      <a:srgbClr val="111827"/>
                    </a:solidFill>
                    <a:latin typeface="Arial"/>
                  </a:rPr>
                  <a:t> with centre </a:t>
                </a:r>
                <a:r>
                  <a:rPr lang="en-IN" sz="2400">
                    <a:solidFill>
                      <a:srgbClr val="111827"/>
                    </a:solidFill>
                    <a:latin typeface="Cambria Math" panose="02040503050406030204" pitchFamily="18" charset="0"/>
                  </a:rPr>
                  <a:t>$(c,1)$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points have </a:t>
                </a:r>
                <a:r>
                  <a:rPr lang="en-IN" sz="2400">
                    <a:solidFill>
                      <a:srgbClr val="111827"/>
                    </a:solidFill>
                    <a:latin typeface="Cambria Math" panose="02040503050406030204" pitchFamily="18" charset="0"/>
                  </a:rPr>
                  <a:t>$y\in[0,2]$</a:t>
                </a:r>
                <a:r>
                  <a:rPr sz="2400" b="0">
                    <a:solidFill>
                      <a:srgbClr val="111827"/>
                    </a:solidFill>
                    <a:latin typeface="Arial"/>
                  </a:rPr>
                  <a:t>, so </a:t>
                </a:r>
                <a:r>
                  <a:rPr lang="en-IN" sz="2400">
                    <a:solidFill>
                      <a:srgbClr val="111827"/>
                    </a:solidFill>
                    <a:latin typeface="Cambria Math" panose="02040503050406030204" pitchFamily="18" charset="0"/>
                  </a:rPr>
                  <a:t>$y\ge0$</a:t>
                </a:r>
                <a:r>
                  <a:rPr sz="2400" b="0">
                    <a:solidFill>
                      <a:srgbClr val="111827"/>
                    </a:solidFill>
                    <a:latin typeface="Arial"/>
                  </a:rPr>
                  <a:t> always; some point has </a:t>
                </a:r>
                <a:r>
                  <a:rPr lang="en-IN" sz="2400">
                    <a:solidFill>
                      <a:srgbClr val="111827"/>
                    </a:solidFill>
                    <a:latin typeface="Cambria Math" panose="02040503050406030204" pitchFamily="18" charset="0"/>
                  </a:rPr>
                  <a:t>$x\le0$</a:t>
                </a:r>
                <a:r>
                  <a:rPr sz="2400" b="0">
                    <a:solidFill>
                      <a:srgbClr val="111827"/>
                    </a:solidFill>
                    <a:latin typeface="Arial"/>
                  </a:rPr>
                  <a:t> iff the leftmost abscissa </a:t>
                </a:r>
                <a:r>
                  <a:rPr lang="en-IN" sz="2400">
                    <a:solidFill>
                      <a:srgbClr val="111827"/>
                    </a:solidFill>
                    <a:latin typeface="Cambria Math" panose="02040503050406030204" pitchFamily="18" charset="0"/>
                  </a:rPr>
                  <a:t>$c-1\le0$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we need </a:t>
                </a:r>
                <a:r>
                  <a:rPr lang="en-IN" sz="2400">
                    <a:solidFill>
                      <a:srgbClr val="111827"/>
                    </a:solidFill>
                    <a:latin typeface="Cambria Math" panose="02040503050406030204" pitchFamily="18" charset="0"/>
                  </a:rPr>
                  <a:t>$\alpha^2-7\alpha+11\le1$</a:t>
                </a:r>
                <a:r>
                  <a:rPr sz="2400" b="0">
                    <a:solidFill>
                      <a:srgbClr val="111827"/>
                    </a:solidFill>
                    <a:latin typeface="Arial"/>
                  </a:rPr>
                  <a:t>, i.e. </a:t>
                </a:r>
                <a:r>
                  <a:rPr lang="en-IN" sz="2400">
                    <a:solidFill>
                      <a:srgbClr val="111827"/>
                    </a:solidFill>
                    <a:latin typeface="Cambria Math" panose="02040503050406030204" pitchFamily="18" charset="0"/>
                  </a:rPr>
                  <a:t>$\alpha^2-7\alpha+10\le0$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a:t>
                </a:r>
                <a:r>
                  <a:rPr lang="en-IN" sz="2400">
                    <a:solidFill>
                      <a:srgbClr val="111827"/>
                    </a:solidFill>
                    <a:latin typeface="Cambria Math" panose="02040503050406030204" pitchFamily="18" charset="0"/>
                  </a:rPr>
                  <a:t>$(\alpha-2)(\alpha-5)\le0$</a:t>
                </a:r>
                <a:r>
                  <a:rPr sz="2400" b="0">
                    <a:solidFill>
                      <a:srgbClr val="111827"/>
                    </a:solidFill>
                    <a:latin typeface="Arial"/>
                  </a:rPr>
                  <a:t>, so </a:t>
                </a:r>
                <a:r>
                  <a:rPr lang="en-IN" sz="2400">
                    <a:solidFill>
                      <a:srgbClr val="111827"/>
                    </a:solidFill>
                    <a:latin typeface="Cambria Math" panose="02040503050406030204" pitchFamily="18" charset="0"/>
                  </a:rPr>
                  <a:t>$\alpha\in[2,5]$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$[2,5]$</a:t>
                </a:r>
                <a:endParaRPr sz="2800">
                  <a:solidFill>
                    <a:srgbClr val="15803D"/>
                  </a:solidFill>
                </a:endParaRPr>
              </a:p>
            </p:txBody>
          </p:sp>
        </mc:Fallback>
      </mc:AlternateContent>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Eliminate options by testing specific values of </a:t>
                </a:r>
                <a14:m>
                  <m:oMath xmlns:m="http://schemas.openxmlformats.org/officeDocument/2006/math">
                    <m:r>
                      <a:rPr lang="en-IN" sz="2400" i="1">
                        <a:solidFill>
                          <a:srgbClr val="78350F"/>
                        </a:solidFill>
                        <a:latin typeface="Cambria Math" panose="02040503050406030204" pitchFamily="18" charset="0"/>
                      </a:rPr>
                      <m:t>α</m:t>
                    </m:r>
                  </m:oMath>
                </a14:m>
                <a:r>
                  <a:rPr sz="2400" b="0">
                    <a:solidFill>
                      <a:srgbClr val="78350F"/>
                    </a:solidFill>
                    <a:latin typeface="Arial"/>
                  </a:rPr>
                  <a:t> against the disc, using the centre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α</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7</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Eliminate options by testing specific values of </a:t>
                </a:r>
                <a:r>
                  <a:rPr lang="en-IN" sz="2400">
                    <a:solidFill>
                      <a:srgbClr val="78350F"/>
                    </a:solidFill>
                    <a:latin typeface="Cambria Math" panose="02040503050406030204" pitchFamily="18" charset="0"/>
                  </a:rPr>
                  <a:t>$\alpha$</a:t>
                </a:r>
                <a:r>
                  <a:rPr sz="2400" b="0">
                    <a:solidFill>
                      <a:srgbClr val="78350F"/>
                    </a:solidFill>
                    <a:latin typeface="Arial"/>
                  </a:rPr>
                  <a:t> against the disc, using the centre </a:t>
                </a:r>
                <a:r>
                  <a:rPr lang="en-IN" sz="2400">
                    <a:solidFill>
                      <a:srgbClr val="78350F"/>
                    </a:solidFill>
                    <a:latin typeface="Cambria Math" panose="02040503050406030204" pitchFamily="18" charset="0"/>
                  </a:rPr>
                  <a:t>$(c,1)$</a:t>
                </a:r>
                <a:r>
                  <a:rPr sz="2400" b="0">
                    <a:solidFill>
                      <a:srgbClr val="78350F"/>
                    </a:solidFill>
                    <a:latin typeface="Arial"/>
                  </a:rPr>
                  <a:t> with </a:t>
                </a:r>
                <a:r>
                  <a:rPr lang="en-IN" sz="2400">
                    <a:solidFill>
                      <a:srgbClr val="78350F"/>
                    </a:solidFill>
                    <a:latin typeface="Cambria Math" panose="02040503050406030204" pitchFamily="18" charset="0"/>
                  </a:rPr>
                  <a:t>$c=\alpha^2-7\alpha+11$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is the closed unit disc centred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its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-values run over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its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-values over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only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matters.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Test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and the disc misses the quadrant. This rejects option (A)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Test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again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This rejects option (B)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is the closed unit disc centred at </a:t>
                </a:r>
                <a:r>
                  <a:rPr lang="en-IN" sz="2400">
                    <a:solidFill>
                      <a:srgbClr val="111827"/>
                    </a:solidFill>
                    <a:latin typeface="Cambria Math" panose="02040503050406030204" pitchFamily="18" charset="0"/>
                  </a:rPr>
                  <a:t>$(c,1)$</a:t>
                </a:r>
                <a:r>
                  <a:rPr sz="2400" b="0">
                    <a:solidFill>
                      <a:srgbClr val="111827"/>
                    </a:solidFill>
                    <a:latin typeface="Arial"/>
                  </a:rPr>
                  <a:t>; its </a:t>
                </a:r>
                <a:r>
                  <a:rPr lang="en-IN" sz="2400">
                    <a:solidFill>
                      <a:srgbClr val="111827"/>
                    </a:solidFill>
                    <a:latin typeface="Cambria Math" panose="02040503050406030204" pitchFamily="18" charset="0"/>
                  </a:rPr>
                  <a:t>$x$</a:t>
                </a:r>
                <a:r>
                  <a:rPr sz="2400" b="0">
                    <a:solidFill>
                      <a:srgbClr val="111827"/>
                    </a:solidFill>
                    <a:latin typeface="Arial"/>
                  </a:rPr>
                  <a:t>-values run over </a:t>
                </a:r>
                <a:r>
                  <a:rPr lang="en-IN" sz="2400">
                    <a:solidFill>
                      <a:srgbClr val="111827"/>
                    </a:solidFill>
                    <a:latin typeface="Cambria Math" panose="02040503050406030204" pitchFamily="18" charset="0"/>
                  </a:rPr>
                  <a:t>$[c-1,c+1]$</a:t>
                </a:r>
                <a:r>
                  <a:rPr sz="2400" b="0">
                    <a:solidFill>
                      <a:srgbClr val="111827"/>
                    </a:solidFill>
                    <a:latin typeface="Arial"/>
                  </a:rPr>
                  <a:t> and its </a:t>
                </a:r>
                <a:r>
                  <a:rPr lang="en-IN" sz="2400">
                    <a:solidFill>
                      <a:srgbClr val="111827"/>
                    </a:solidFill>
                    <a:latin typeface="Cambria Math" panose="02040503050406030204" pitchFamily="18" charset="0"/>
                  </a:rPr>
                  <a:t>$y$</a:t>
                </a:r>
                <a:r>
                  <a:rPr sz="2400" b="0">
                    <a:solidFill>
                      <a:srgbClr val="111827"/>
                    </a:solidFill>
                    <a:latin typeface="Arial"/>
                  </a:rPr>
                  <a:t>-values over </a:t>
                </a:r>
                <a:r>
                  <a:rPr lang="en-IN" sz="2400">
                    <a:solidFill>
                      <a:srgbClr val="111827"/>
                    </a:solidFill>
                    <a:latin typeface="Cambria Math" panose="02040503050406030204" pitchFamily="18" charset="0"/>
                  </a:rPr>
                  <a:t>$[0,2]$</a:t>
                </a:r>
                <a:r>
                  <a:rPr sz="2400" b="0">
                    <a:solidFill>
                      <a:srgbClr val="111827"/>
                    </a:solidFill>
                    <a:latin typeface="Arial"/>
                  </a:rPr>
                  <a:t>, so only </a:t>
                </a:r>
                <a:r>
                  <a:rPr lang="en-IN" sz="2400">
                    <a:solidFill>
                      <a:srgbClr val="111827"/>
                    </a:solidFill>
                    <a:latin typeface="Cambria Math" panose="02040503050406030204" pitchFamily="18" charset="0"/>
                  </a:rPr>
                  <a:t>$x\le0$</a:t>
                </a:r>
                <a:r>
                  <a:rPr sz="2400" b="0">
                    <a:solidFill>
                      <a:srgbClr val="111827"/>
                    </a:solidFill>
                    <a:latin typeface="Arial"/>
                  </a:rPr>
                  <a:t> matters.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Test </a:t>
                </a:r>
                <a:r>
                  <a:rPr lang="en-IN" sz="2400">
                    <a:solidFill>
                      <a:srgbClr val="111827"/>
                    </a:solidFill>
                    <a:latin typeface="Cambria Math" panose="02040503050406030204" pitchFamily="18" charset="0"/>
                  </a:rPr>
                  <a:t>$\alpha=6$</a:t>
                </a:r>
                <a:r>
                  <a:rPr sz="2400" b="0">
                    <a:solidFill>
                      <a:srgbClr val="111827"/>
                    </a:solidFill>
                    <a:latin typeface="Arial"/>
                  </a:rPr>
                  <a:t>: </a:t>
                </a:r>
                <a:r>
                  <a:rPr lang="en-IN" sz="2400">
                    <a:solidFill>
                      <a:srgbClr val="111827"/>
                    </a:solidFill>
                    <a:latin typeface="Cambria Math" panose="02040503050406030204" pitchFamily="18" charset="0"/>
                  </a:rPr>
                  <a:t>$c=36-42+11=5$</a:t>
                </a:r>
                <a:r>
                  <a:rPr sz="2400" b="0">
                    <a:solidFill>
                      <a:srgbClr val="111827"/>
                    </a:solidFill>
                    <a:latin typeface="Arial"/>
                  </a:rPr>
                  <a:t>, so </a:t>
                </a:r>
                <a:r>
                  <a:rPr lang="en-IN" sz="2400">
                    <a:solidFill>
                      <a:srgbClr val="111827"/>
                    </a:solidFill>
                    <a:latin typeface="Cambria Math" panose="02040503050406030204" pitchFamily="18" charset="0"/>
                  </a:rPr>
                  <a:t>$x\ge4&gt;0$</a:t>
                </a:r>
                <a:r>
                  <a:rPr sz="2400" b="0">
                    <a:solidFill>
                      <a:srgbClr val="111827"/>
                    </a:solidFill>
                    <a:latin typeface="Arial"/>
                  </a:rPr>
                  <a:t> and the disc misses the quadrant. This rejects option (A) </a:t>
                </a:r>
                <a:r>
                  <a:rPr lang="en-IN" sz="2400">
                    <a:solidFill>
                      <a:srgbClr val="111827"/>
                    </a:solidFill>
                    <a:latin typeface="Cambria Math" panose="02040503050406030204" pitchFamily="18" charset="0"/>
                  </a:rPr>
                  <a:t>$[2,6]$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Test </a:t>
                </a:r>
                <a:r>
                  <a:rPr lang="en-IN" sz="2400">
                    <a:solidFill>
                      <a:srgbClr val="111827"/>
                    </a:solidFill>
                    <a:latin typeface="Cambria Math" panose="02040503050406030204" pitchFamily="18" charset="0"/>
                  </a:rPr>
                  <a:t>$\alpha=1$</a:t>
                </a:r>
                <a:r>
                  <a:rPr sz="2400" b="0">
                    <a:solidFill>
                      <a:srgbClr val="111827"/>
                    </a:solidFill>
                    <a:latin typeface="Arial"/>
                  </a:rPr>
                  <a:t>: </a:t>
                </a:r>
                <a:r>
                  <a:rPr lang="en-IN" sz="2400">
                    <a:solidFill>
                      <a:srgbClr val="111827"/>
                    </a:solidFill>
                    <a:latin typeface="Cambria Math" panose="02040503050406030204" pitchFamily="18" charset="0"/>
                  </a:rPr>
                  <a:t>$c=1-7+11=5$</a:t>
                </a:r>
                <a:r>
                  <a:rPr sz="2400" b="0">
                    <a:solidFill>
                      <a:srgbClr val="111827"/>
                    </a:solidFill>
                    <a:latin typeface="Arial"/>
                  </a:rPr>
                  <a:t>, again </a:t>
                </a:r>
                <a:r>
                  <a:rPr lang="en-IN" sz="2400">
                    <a:solidFill>
                      <a:srgbClr val="111827"/>
                    </a:solidFill>
                    <a:latin typeface="Cambria Math" panose="02040503050406030204" pitchFamily="18" charset="0"/>
                  </a:rPr>
                  <a:t>$x\ge4$</a:t>
                </a:r>
                <a:r>
                  <a:rPr sz="2400" b="0">
                    <a:solidFill>
                      <a:srgbClr val="111827"/>
                    </a:solidFill>
                    <a:latin typeface="Arial"/>
                  </a:rPr>
                  <a:t>. This rejects option (B) </a:t>
                </a:r>
                <a:r>
                  <a:rPr lang="en-IN" sz="2400">
                    <a:solidFill>
                      <a:srgbClr val="111827"/>
                    </a:solidFill>
                    <a:latin typeface="Cambria Math" panose="02040503050406030204" pitchFamily="18" charset="0"/>
                  </a:rPr>
                  <a:t>$\left[1,\frac72\right]$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Test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oMath>
                </a14:m>
                <a:r>
                  <a:rPr sz="2400" b="0">
                    <a:solidFill>
                      <a:srgbClr val="111827"/>
                    </a:solidFill>
                    <a:latin typeface="Arial"/>
                  </a:rPr>
                  <a:t>, far to the right. This rejects option (D)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(inside option (C)):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the disc reaches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valid.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survives; at its ends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disc just touches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is allowed (closed quadrant).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Test </a:t>
                </a:r>
                <a:r>
                  <a:rPr lang="en-IN" sz="2400">
                    <a:solidFill>
                      <a:srgbClr val="111827"/>
                    </a:solidFill>
                    <a:latin typeface="Cambria Math" panose="02040503050406030204" pitchFamily="18" charset="0"/>
                  </a:rPr>
                  <a:t>$\alpha=-3$</a:t>
                </a:r>
                <a:r>
                  <a:rPr sz="2400" b="0">
                    <a:solidFill>
                      <a:srgbClr val="111827"/>
                    </a:solidFill>
                    <a:latin typeface="Arial"/>
                  </a:rPr>
                  <a:t>: </a:t>
                </a:r>
                <a:r>
                  <a:rPr lang="en-IN" sz="2400">
                    <a:solidFill>
                      <a:srgbClr val="111827"/>
                    </a:solidFill>
                    <a:latin typeface="Cambria Math" panose="02040503050406030204" pitchFamily="18" charset="0"/>
                  </a:rPr>
                  <a:t>$c=9+21+11=41$</a:t>
                </a:r>
                <a:r>
                  <a:rPr sz="2400" b="0">
                    <a:solidFill>
                      <a:srgbClr val="111827"/>
                    </a:solidFill>
                    <a:latin typeface="Arial"/>
                  </a:rPr>
                  <a:t>, far to the right. This rejects option (D) </a:t>
                </a:r>
                <a:r>
                  <a:rPr lang="en-IN" sz="2400">
                    <a:solidFill>
                      <a:srgbClr val="111827"/>
                    </a:solidFill>
                    <a:latin typeface="Cambria Math" panose="02040503050406030204" pitchFamily="18" charset="0"/>
                  </a:rPr>
                  <a:t>$[-4,-2]$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$\alpha=\frac72$</a:t>
                </a:r>
                <a:r>
                  <a:rPr sz="2400" b="0">
                    <a:solidFill>
                      <a:srgbClr val="111827"/>
                    </a:solidFill>
                    <a:latin typeface="Arial"/>
                  </a:rPr>
                  <a:t> (inside option (C)): </a:t>
                </a:r>
                <a:r>
                  <a:rPr lang="en-IN" sz="2400">
                    <a:solidFill>
                      <a:srgbClr val="111827"/>
                    </a:solidFill>
                    <a:latin typeface="Cambria Math" panose="02040503050406030204" pitchFamily="18" charset="0"/>
                  </a:rPr>
                  <a:t>$c=\frac{49}{4}-\frac{49}{2}+11=-\frac54$</a:t>
                </a:r>
                <a:r>
                  <a:rPr sz="2400" b="0">
                    <a:solidFill>
                      <a:srgbClr val="111827"/>
                    </a:solidFill>
                    <a:latin typeface="Arial"/>
                  </a:rPr>
                  <a:t>, so the disc reaches </a:t>
                </a:r>
                <a:r>
                  <a:rPr lang="en-IN" sz="2400">
                    <a:solidFill>
                      <a:srgbClr val="111827"/>
                    </a:solidFill>
                    <a:latin typeface="Cambria Math" panose="02040503050406030204" pitchFamily="18" charset="0"/>
                  </a:rPr>
                  <a:t>$x=-\frac94\le0$</a:t>
                </a:r>
                <a:r>
                  <a:rPr sz="2400" b="0">
                    <a:solidFill>
                      <a:srgbClr val="111827"/>
                    </a:solidFill>
                    <a:latin typeface="Arial"/>
                  </a:rPr>
                  <a:t>: valid.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option (C) </a:t>
                </a:r>
                <a:r>
                  <a:rPr lang="en-IN" sz="2400">
                    <a:solidFill>
                      <a:srgbClr val="111827"/>
                    </a:solidFill>
                    <a:latin typeface="Cambria Math" panose="02040503050406030204" pitchFamily="18" charset="0"/>
                  </a:rPr>
                  <a:t>$[2,5]$</a:t>
                </a:r>
                <a:r>
                  <a:rPr sz="2400" b="0">
                    <a:solidFill>
                      <a:srgbClr val="111827"/>
                    </a:solidFill>
                    <a:latin typeface="Arial"/>
                  </a:rPr>
                  <a:t> survives; at its ends </a:t>
                </a:r>
                <a:r>
                  <a:rPr lang="en-IN" sz="2400">
                    <a:solidFill>
                      <a:srgbClr val="111827"/>
                    </a:solidFill>
                    <a:latin typeface="Cambria Math" panose="02040503050406030204" pitchFamily="18" charset="0"/>
                  </a:rPr>
                  <a:t>$\alpha=2,5$</a:t>
                </a:r>
                <a:r>
                  <a:rPr sz="2400" b="0">
                    <a:solidFill>
                      <a:srgbClr val="111827"/>
                    </a:solidFill>
                    <a:latin typeface="Arial"/>
                  </a:rPr>
                  <a:t> give </a:t>
                </a:r>
                <a:r>
                  <a:rPr lang="en-IN" sz="2400">
                    <a:solidFill>
                      <a:srgbClr val="111827"/>
                    </a:solidFill>
                    <a:latin typeface="Cambria Math" panose="02040503050406030204" pitchFamily="18" charset="0"/>
                  </a:rPr>
                  <a:t>$c=1$</a:t>
                </a:r>
                <a:r>
                  <a:rPr sz="2400" b="0">
                    <a:solidFill>
                      <a:srgbClr val="111827"/>
                    </a:solidFill>
                    <a:latin typeface="Arial"/>
                  </a:rPr>
                  <a:t> and the disc just touches </a:t>
                </a:r>
                <a:r>
                  <a:rPr lang="en-IN" sz="2400">
                    <a:solidFill>
                      <a:srgbClr val="111827"/>
                    </a:solidFill>
                    <a:latin typeface="Cambria Math" panose="02040503050406030204" pitchFamily="18" charset="0"/>
                  </a:rPr>
                  <a:t>$(0,1)$</a:t>
                </a:r>
                <a:r>
                  <a:rPr sz="2400" b="0">
                    <a:solidFill>
                      <a:srgbClr val="111827"/>
                    </a:solidFill>
                    <a:latin typeface="Arial"/>
                  </a:rPr>
                  <a:t>, which is allowed (closed quadrant).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5</m:t>
                    </m:r>
                    <m:r>
                      <m:rPr>
                        <m:sty m:val="p"/>
                      </m:rPr>
                      <a:rPr lang="en-IN" sz="2800">
                        <a:solidFill>
                          <a:srgbClr val="15803D"/>
                        </a:solidFill>
                        <a:latin typeface="Cambria Math" panose="02040503050406030204" pitchFamily="18" charset="0"/>
                      </a:rPr>
                      <m:t>]</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$[2,5]$</a:t>
                </a:r>
                <a:endParaRPr sz="2800">
                  <a:solidFill>
                    <a:srgbClr val="15803D"/>
                  </a:solidFill>
                </a:endParaRPr>
              </a:p>
            </p:txBody>
          </p:sp>
        </mc:Fallback>
      </mc:AlternateContent>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disc of radius </a:t>
                </a:r>
                <a14:m>
                  <m:oMath xmlns:m="http://schemas.openxmlformats.org/officeDocument/2006/math">
                    <m:r>
                      <a:rPr lang="en-IN" sz="2400" i="1">
                        <a:solidFill>
                          <a:srgbClr val="111827"/>
                        </a:solidFill>
                        <a:latin typeface="Cambria Math" panose="02040503050406030204" pitchFamily="18" charset="0"/>
                      </a:rPr>
                      <m:t>ρ</m:t>
                    </m:r>
                  </m:oMath>
                </a14:m>
                <a:r>
                  <a:rPr sz="2400" b="0">
                    <a:solidFill>
                      <a:srgbClr val="111827"/>
                    </a:solidFill>
                    <a:latin typeface="Arial"/>
                  </a:rPr>
                  <a:t> centred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touches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exactly when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reaches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iff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(checked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quadratic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has its minimum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with value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disc of radius </a:t>
                </a:r>
                <a:r>
                  <a:rPr lang="en-IN" sz="2400">
                    <a:solidFill>
                      <a:srgbClr val="111827"/>
                    </a:solidFill>
                    <a:latin typeface="Cambria Math" panose="02040503050406030204" pitchFamily="18" charset="0"/>
                  </a:rPr>
                  <a:t>$\rho$</a:t>
                </a:r>
                <a:r>
                  <a:rPr sz="2400" b="0">
                    <a:solidFill>
                      <a:srgbClr val="111827"/>
                    </a:solidFill>
                    <a:latin typeface="Arial"/>
                  </a:rPr>
                  <a:t> centred at </a:t>
                </a:r>
                <a:r>
                  <a:rPr lang="en-IN" sz="2400">
                    <a:solidFill>
                      <a:srgbClr val="111827"/>
                    </a:solidFill>
                    <a:latin typeface="Cambria Math" panose="02040503050406030204" pitchFamily="18" charset="0"/>
                  </a:rPr>
                  <a:t>$(c,1)$</a:t>
                </a:r>
                <a:r>
                  <a:rPr sz="2400" b="0">
                    <a:solidFill>
                      <a:srgbClr val="111827"/>
                    </a:solidFill>
                    <a:latin typeface="Arial"/>
                  </a:rPr>
                  <a:t> with </a:t>
                </a:r>
                <a:r>
                  <a:rPr lang="en-IN" sz="2400">
                    <a:solidFill>
                      <a:srgbClr val="111827"/>
                    </a:solidFill>
                    <a:latin typeface="Cambria Math" panose="02040503050406030204" pitchFamily="18" charset="0"/>
                  </a:rPr>
                  <a:t>$\rho=1$</a:t>
                </a:r>
                <a:r>
                  <a:rPr sz="2400" b="0">
                    <a:solidFill>
                      <a:srgbClr val="111827"/>
                    </a:solidFill>
                    <a:latin typeface="Arial"/>
                  </a:rPr>
                  <a:t> touches the line </a:t>
                </a:r>
                <a:r>
                  <a:rPr lang="en-IN" sz="2400">
                    <a:solidFill>
                      <a:srgbClr val="111827"/>
                    </a:solidFill>
                    <a:latin typeface="Cambria Math" panose="02040503050406030204" pitchFamily="18" charset="0"/>
                  </a:rPr>
                  <a:t>$x=0$</a:t>
                </a:r>
                <a:r>
                  <a:rPr sz="2400" b="0">
                    <a:solidFill>
                      <a:srgbClr val="111827"/>
                    </a:solidFill>
                    <a:latin typeface="Arial"/>
                  </a:rPr>
                  <a:t> exactly when </a:t>
                </a:r>
                <a:r>
                  <a:rPr lang="en-IN" sz="2400">
                    <a:solidFill>
                      <a:srgbClr val="111827"/>
                    </a:solidFill>
                    <a:latin typeface="Cambria Math" panose="02040503050406030204" pitchFamily="18" charset="0"/>
                  </a:rPr>
                  <a:t>$c=1$</a:t>
                </a:r>
                <a:r>
                  <a:rPr sz="2400" b="0">
                    <a:solidFill>
                      <a:srgbClr val="111827"/>
                    </a:solidFill>
                    <a:latin typeface="Arial"/>
                  </a:rPr>
                  <a:t>; it reaches </a:t>
                </a:r>
                <a:r>
                  <a:rPr lang="en-IN" sz="2400">
                    <a:solidFill>
                      <a:srgbClr val="111827"/>
                    </a:solidFill>
                    <a:latin typeface="Cambria Math" panose="02040503050406030204" pitchFamily="18" charset="0"/>
                  </a:rPr>
                  <a:t>$x\le0$</a:t>
                </a:r>
                <a:r>
                  <a:rPr sz="2400" b="0">
                    <a:solidFill>
                      <a:srgbClr val="111827"/>
                    </a:solidFill>
                    <a:latin typeface="Arial"/>
                  </a:rPr>
                  <a:t> iff </a:t>
                </a:r>
                <a:r>
                  <a:rPr lang="en-IN" sz="2400">
                    <a:solidFill>
                      <a:srgbClr val="111827"/>
                    </a:solidFill>
                    <a:latin typeface="Cambria Math" panose="02040503050406030204" pitchFamily="18" charset="0"/>
                  </a:rPr>
                  <a:t>$c\le1$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$\alpha^2-7\alpha+10=(\alpha-2)(\alpha-5)\le0\iff2\le\alpha\le5$</a:t>
                </a:r>
                <a:r>
                  <a:rPr sz="2400" b="0">
                    <a:solidFill>
                      <a:srgbClr val="111827"/>
                    </a:solidFill>
                    <a:latin typeface="Arial"/>
                  </a:rPr>
                  <a:t> (checked at </a:t>
                </a:r>
                <a:r>
                  <a:rPr lang="en-IN" sz="2400">
                    <a:solidFill>
                      <a:srgbClr val="111827"/>
                    </a:solidFill>
                    <a:latin typeface="Cambria Math" panose="02040503050406030204" pitchFamily="18" charset="0"/>
                  </a:rPr>
                  <a:t>$\alpha=2,3.5,5$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quadratic </a:t>
                </a:r>
                <a:r>
                  <a:rPr lang="en-IN" sz="2400">
                    <a:solidFill>
                      <a:srgbClr val="111827"/>
                    </a:solidFill>
                    <a:latin typeface="Cambria Math" panose="02040503050406030204" pitchFamily="18" charset="0"/>
                  </a:rPr>
                  <a:t>$\alpha^2-7\alpha+11$</a:t>
                </a:r>
                <a:r>
                  <a:rPr sz="2400" b="0">
                    <a:solidFill>
                      <a:srgbClr val="111827"/>
                    </a:solidFill>
                    <a:latin typeface="Arial"/>
                  </a:rPr>
                  <a:t> has its minimum at </a:t>
                </a:r>
                <a:r>
                  <a:rPr lang="en-IN" sz="2400">
                    <a:solidFill>
                      <a:srgbClr val="111827"/>
                    </a:solidFill>
                    <a:latin typeface="Cambria Math" panose="02040503050406030204" pitchFamily="18" charset="0"/>
                  </a:rPr>
                  <a:t>$\alpha=\frac72$</a:t>
                </a:r>
                <a:r>
                  <a:rPr sz="2400" b="0">
                    <a:solidFill>
                      <a:srgbClr val="111827"/>
                    </a:solidFill>
                    <a:latin typeface="Arial"/>
                  </a:rPr>
                  <a:t> with value </a:t>
                </a:r>
                <a:r>
                  <a:rPr lang="en-IN" sz="2400">
                    <a:solidFill>
                      <a:srgbClr val="111827"/>
                    </a:solidFill>
                    <a:latin typeface="Cambria Math" panose="02040503050406030204" pitchFamily="18" charset="0"/>
                  </a:rPr>
                  <a:t>$-\frac54$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88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be a real number and let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be a complex number satisfying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e>
                        </m:d>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such that this region contains at least one point of the closed second quadrant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maximum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endParaRPr sz="2400">
                  <a:solidFill>
                    <a:srgbClr val="111827"/>
                  </a:solidFill>
                </a:endParaRPr>
              </a:p>
            </p:txBody>
          </p:sp>
        </mc:Choice>
        <mc:Fallback>
          <p:sp>
            <p:nvSpPr>
              <p:cNvPr id="4" name="Rounded Rectangle 3"/>
              <p:cNvSpPr/>
              <p:nvPr/>
            </p:nvSpPr>
            <p:spPr>
              <a:xfrm>
                <a:off x="731520" y="1280160"/>
                <a:ext cx="10725912" cy="2988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$\alpha$</a:t>
                </a:r>
                <a:r>
                  <a:rPr sz="2400" b="0">
                    <a:solidFill>
                      <a:srgbClr val="111827"/>
                    </a:solidFill>
                    <a:latin typeface="Arial"/>
                  </a:rPr>
                  <a:t> be a real number and let </a:t>
                </a:r>
                <a:r>
                  <a:rPr lang="en-IN" sz="2400">
                    <a:solidFill>
                      <a:srgbClr val="111827"/>
                    </a:solidFill>
                    <a:latin typeface="Cambria Math" panose="02040503050406030204" pitchFamily="18" charset="0"/>
                  </a:rPr>
                  <a:t>$z$</a:t>
                </a:r>
                <a:r>
                  <a:rPr sz="2400" b="0">
                    <a:solidFill>
                      <a:srgbClr val="111827"/>
                    </a:solidFill>
                    <a:latin typeface="Arial"/>
                  </a:rPr>
                  <a:t> be a complex number satisfying </a:t>
                </a:r>
                <a:r>
                  <a:rPr lang="en-IN" sz="2400">
                    <a:solidFill>
                      <a:srgbClr val="111827"/>
                    </a:solidFill>
                    <a:latin typeface="Cambria Math" panose="02040503050406030204" pitchFamily="18" charset="0"/>
                  </a:rPr>
                  <a:t>$\left|z-i-\left(\alpha^2-7\alpha+11\right)\right|\le1$</a:t>
                </a:r>
                <a:r>
                  <a:rPr sz="2400" b="0">
                    <a:solidFill>
                      <a:srgbClr val="111827"/>
                    </a:solidFill>
                    <a:latin typeface="Arial"/>
                  </a:rPr>
                  <a:t>, such that this region contains at least one point of the closed second quadrant (</a:t>
                </a:r>
                <a:r>
                  <a:rPr lang="en-IN" sz="2400">
                    <a:solidFill>
                      <a:srgbClr val="111827"/>
                    </a:solidFill>
                    <a:latin typeface="Cambria Math" panose="02040503050406030204" pitchFamily="18" charset="0"/>
                  </a:rPr>
                  <a:t>$x\le0$</a:t>
                </a:r>
                <a:r>
                  <a:rPr sz="2400" b="0">
                    <a:solidFill>
                      <a:srgbClr val="111827"/>
                    </a:solidFill>
                    <a:latin typeface="Arial"/>
                  </a:rPr>
                  <a:t>, </a:t>
                </a:r>
                <a:r>
                  <a:rPr lang="en-IN" sz="2400">
                    <a:solidFill>
                      <a:srgbClr val="111827"/>
                    </a:solidFill>
                    <a:latin typeface="Cambria Math" panose="02040503050406030204" pitchFamily="18" charset="0"/>
                  </a:rPr>
                  <a:t>$y\ge0$</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maximum value of </a:t>
                </a:r>
                <a:r>
                  <a:rPr lang="en-IN" sz="2400">
                    <a:solidFill>
                      <a:srgbClr val="111827"/>
                    </a:solidFill>
                    <a:latin typeface="Cambria Math" panose="02040503050406030204" pitchFamily="18" charset="0"/>
                  </a:rPr>
                  <a:t>$|z-i|$</a:t>
                </a:r>
                <a:r>
                  <a:rPr sz="2400" b="0">
                    <a:solidFill>
                      <a:srgbClr val="111827"/>
                    </a:solidFill>
                    <a:latin typeface="Arial"/>
                  </a:rPr>
                  <a:t>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$\frac72$</a:t>
                </a:r>
                <a:r>
                  <a:rPr sz="2400" b="0">
                    <a:solidFill>
                      <a:srgbClr val="111827"/>
                    </a:solidFill>
                    <a:latin typeface="Arial"/>
                  </a:rPr>
                  <a:t>   (B) </a:t>
                </a:r>
                <a:r>
                  <a:rPr lang="en-IN" sz="2400">
                    <a:solidFill>
                      <a:srgbClr val="111827"/>
                    </a:solidFill>
                    <a:latin typeface="Cambria Math" panose="02040503050406030204" pitchFamily="18" charset="0"/>
                  </a:rPr>
                  <a:t>$\frac49$</a:t>
                </a:r>
                <a:r>
                  <a:rPr sz="2400" b="0">
                    <a:solidFill>
                      <a:srgbClr val="111827"/>
                    </a:solidFill>
                    <a:latin typeface="Arial"/>
                  </a:rPr>
                  <a:t>   (C) </a:t>
                </a:r>
                <a:r>
                  <a:rPr lang="en-IN" sz="2400">
                    <a:solidFill>
                      <a:srgbClr val="111827"/>
                    </a:solidFill>
                    <a:latin typeface="Cambria Math" panose="02040503050406030204" pitchFamily="18" charset="0"/>
                  </a:rPr>
                  <a:t>$\frac59$</a:t>
                </a:r>
                <a:r>
                  <a:rPr sz="2400" b="0">
                    <a:solidFill>
                      <a:srgbClr val="111827"/>
                    </a:solidFill>
                    <a:latin typeface="Arial"/>
                  </a:rPr>
                  <a:t>   (D) </a:t>
                </a:r>
                <a:r>
                  <a:rPr lang="en-IN" sz="2400">
                    <a:solidFill>
                      <a:srgbClr val="111827"/>
                    </a:solidFill>
                    <a:latin typeface="Cambria Math" panose="02040503050406030204" pitchFamily="18" charset="0"/>
                  </a:rPr>
                  <a:t>$\frac94$</a:t>
                </a:r>
                <a:endParaRPr sz="2400">
                  <a:solidFill>
                    <a:srgbClr val="111827"/>
                  </a:solidFill>
                </a:endParaRPr>
              </a:p>
            </p:txBody>
          </p:sp>
        </mc:Fallback>
      </mc:AlternateContent>
      <p:sp>
        <p:nvSpPr>
          <p:cNvPr id="5" name="Rectangle 4"/>
          <p:cNvSpPr/>
          <p:nvPr/>
        </p:nvSpPr>
        <p:spPr>
          <a:xfrm>
            <a:off x="731520" y="449732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locus (disc) and maximum modulus, Quadratic functions: minimum value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 disc of radius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centred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max</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is largest in magnitude at </a:t>
                </a:r>
                <a14:m>
                  <m:oMath xmlns:m="http://schemas.openxmlformats.org/officeDocument/2006/math">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5</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a disc of radius </a:t>
                </a:r>
                <a:r>
                  <a:rPr lang="en-IN" sz="2400">
                    <a:solidFill>
                      <a:srgbClr val="78350F"/>
                    </a:solidFill>
                    <a:latin typeface="Cambria Math" panose="02040503050406030204" pitchFamily="18" charset="0"/>
                  </a:rPr>
                  <a:t>$1$</a:t>
                </a:r>
                <a:r>
                  <a:rPr sz="2400" b="0">
                    <a:solidFill>
                      <a:srgbClr val="78350F"/>
                    </a:solidFill>
                    <a:latin typeface="Arial"/>
                  </a:rPr>
                  <a:t> centred at </a:t>
                </a:r>
                <a:r>
                  <a:rPr lang="en-IN" sz="2400">
                    <a:solidFill>
                      <a:srgbClr val="78350F"/>
                    </a:solidFill>
                    <a:latin typeface="Cambria Math" panose="02040503050406030204" pitchFamily="18" charset="0"/>
                  </a:rPr>
                  <a:t>$(c,1)$</a:t>
                </a:r>
                <a:r>
                  <a:rPr sz="2400" b="0">
                    <a:solidFill>
                      <a:srgbClr val="78350F"/>
                    </a:solidFill>
                    <a:latin typeface="Arial"/>
                  </a:rPr>
                  <a:t>, </a:t>
                </a:r>
                <a:r>
                  <a:rPr lang="en-IN" sz="2400">
                    <a:solidFill>
                      <a:srgbClr val="78350F"/>
                    </a:solidFill>
                    <a:latin typeface="Cambria Math" panose="02040503050406030204" pitchFamily="18" charset="0"/>
                  </a:rPr>
                  <a:t>$\max|z-i|=|c|+1$</a:t>
                </a:r>
                <a:r>
                  <a:rPr sz="2400" b="0">
                    <a:solidFill>
                      <a:srgbClr val="78350F"/>
                    </a:solidFill>
                    <a:latin typeface="Arial"/>
                  </a:rPr>
                  <a:t>; </a:t>
                </a:r>
                <a:r>
                  <a:rPr lang="en-IN" sz="2400">
                    <a:solidFill>
                      <a:srgbClr val="78350F"/>
                    </a:solidFill>
                    <a:latin typeface="Cambria Math" panose="02040503050406030204" pitchFamily="18" charset="0"/>
                  </a:rPr>
                  <a:t>$|c|$</a:t>
                </a:r>
                <a:r>
                  <a:rPr sz="2400" b="0">
                    <a:solidFill>
                      <a:srgbClr val="78350F"/>
                    </a:solidFill>
                    <a:latin typeface="Arial"/>
                  </a:rPr>
                  <a:t> is largest in magnitude at </a:t>
                </a:r>
                <a:r>
                  <a:rPr lang="en-IN" sz="2400">
                    <a:solidFill>
                      <a:srgbClr val="78350F"/>
                    </a:solidFill>
                    <a:latin typeface="Cambria Math" panose="02040503050406030204" pitchFamily="18" charset="0"/>
                  </a:rPr>
                  <a:t>$c=-\frac54$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centre abscissa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ranges over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e>
                    </m:d>
                  </m:oMath>
                </a14:m>
                <a:r>
                  <a:rPr sz="2400" b="0">
                    <a:solidFill>
                      <a:srgbClr val="111827"/>
                    </a:solidFill>
                    <a:latin typeface="Arial"/>
                  </a:rPr>
                  <a:t>: minimum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point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The farthest point of the disc centred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is at distance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along the horizontal 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Sub>
                      <m:e>
                        <m:r>
                          <m:rPr>
                            <m:sty m:val="p"/>
                          </m:rPr>
                          <a:rPr lang="en-IN" sz="2400">
                            <a:solidFill>
                              <a:srgbClr val="111827"/>
                            </a:solidFill>
                            <a:latin typeface="Cambria Math" panose="02040503050406030204" pitchFamily="18" charset="0"/>
                          </a:rPr>
                          <m:t>|</m:t>
                        </m:r>
                      </m:e>
                      <m:sub>
                        <m:r>
                          <m:rPr>
                            <m:sty m:val="p"/>
                          </m:rPr>
                          <a:rPr lang="en-IN" sz="2400">
                            <a:solidFill>
                              <a:srgbClr val="111827"/>
                            </a:solidFill>
                            <a:latin typeface="Cambria Math" panose="02040503050406030204" pitchFamily="18" charset="0"/>
                          </a:rPr>
                          <m:t>max</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attained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$\alpha\in[2,5]$</a:t>
                </a:r>
                <a:r>
                  <a:rPr sz="2400" b="0">
                    <a:solidFill>
                      <a:srgbClr val="111827"/>
                    </a:solidFill>
                    <a:latin typeface="Arial"/>
                  </a:rPr>
                  <a:t>, the centre abscissa </a:t>
                </a:r>
                <a:r>
                  <a:rPr lang="en-IN" sz="2400">
                    <a:solidFill>
                      <a:srgbClr val="111827"/>
                    </a:solidFill>
                    <a:latin typeface="Cambria Math" panose="02040503050406030204" pitchFamily="18" charset="0"/>
                  </a:rPr>
                  <a:t>$c=\alpha^2-7\alpha+11$</a:t>
                </a:r>
                <a:r>
                  <a:rPr sz="2400" b="0">
                    <a:solidFill>
                      <a:srgbClr val="111827"/>
                    </a:solidFill>
                    <a:latin typeface="Arial"/>
                  </a:rPr>
                  <a:t> ranges over </a:t>
                </a:r>
                <a:r>
                  <a:rPr lang="en-IN" sz="2400">
                    <a:solidFill>
                      <a:srgbClr val="111827"/>
                    </a:solidFill>
                    <a:latin typeface="Cambria Math" panose="02040503050406030204" pitchFamily="18" charset="0"/>
                  </a:rPr>
                  <a:t>$\left[-\frac54,\,1\right]$</a:t>
                </a:r>
                <a:r>
                  <a:rPr sz="2400" b="0">
                    <a:solidFill>
                      <a:srgbClr val="111827"/>
                    </a:solidFill>
                    <a:latin typeface="Arial"/>
                  </a:rPr>
                  <a:t>: minimum </a:t>
                </a:r>
                <a:r>
                  <a:rPr lang="en-IN" sz="2400">
                    <a:solidFill>
                      <a:srgbClr val="111827"/>
                    </a:solidFill>
                    <a:latin typeface="Cambria Math" panose="02040503050406030204" pitchFamily="18" charset="0"/>
                  </a:rPr>
                  <a:t>$-\frac54$</a:t>
                </a:r>
                <a:r>
                  <a:rPr sz="2400" b="0">
                    <a:solidFill>
                      <a:srgbClr val="111827"/>
                    </a:solidFill>
                    <a:latin typeface="Arial"/>
                  </a:rPr>
                  <a:t> at </a:t>
                </a:r>
                <a:r>
                  <a:rPr lang="en-IN" sz="2400">
                    <a:solidFill>
                      <a:srgbClr val="111827"/>
                    </a:solidFill>
                    <a:latin typeface="Cambria Math" panose="02040503050406030204" pitchFamily="18" charset="0"/>
                  </a:rPr>
                  <a:t>$\alpha=\frac72$</a:t>
                </a:r>
                <a:r>
                  <a:rPr sz="2400" b="0">
                    <a:solidFill>
                      <a:srgbClr val="111827"/>
                    </a:solidFill>
                    <a:latin typeface="Arial"/>
                  </a:rPr>
                  <a:t>, and </a:t>
                </a:r>
                <a:r>
                  <a:rPr lang="en-IN" sz="2400">
                    <a:solidFill>
                      <a:srgbClr val="111827"/>
                    </a:solidFill>
                    <a:latin typeface="Cambria Math" panose="02040503050406030204" pitchFamily="18" charset="0"/>
                  </a:rPr>
                  <a:t>$c=1$</a:t>
                </a:r>
                <a:r>
                  <a:rPr sz="2400" b="0">
                    <a:solidFill>
                      <a:srgbClr val="111827"/>
                    </a:solidFill>
                    <a:latin typeface="Arial"/>
                  </a:rPr>
                  <a:t> at </a:t>
                </a:r>
                <a:r>
                  <a:rPr lang="en-IN" sz="2400">
                    <a:solidFill>
                      <a:srgbClr val="111827"/>
                    </a:solidFill>
                    <a:latin typeface="Cambria Math" panose="02040503050406030204" pitchFamily="18" charset="0"/>
                  </a:rPr>
                  <a:t>$\alpha=2,5$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$A=(0,1)$</a:t>
                </a:r>
                <a:r>
                  <a:rPr sz="2400" b="0">
                    <a:solidFill>
                      <a:srgbClr val="111827"/>
                    </a:solidFill>
                    <a:latin typeface="Arial"/>
                  </a:rPr>
                  <a:t> is the point </a:t>
                </a:r>
                <a:r>
                  <a:rPr lang="en-IN" sz="2400">
                    <a:solidFill>
                      <a:srgbClr val="111827"/>
                    </a:solidFill>
                    <a:latin typeface="Cambria Math" panose="02040503050406030204" pitchFamily="18" charset="0"/>
                  </a:rPr>
                  <a:t>$i$</a:t>
                </a:r>
                <a:r>
                  <a:rPr sz="2400" b="0">
                    <a:solidFill>
                      <a:srgbClr val="111827"/>
                    </a:solidFill>
                    <a:latin typeface="Arial"/>
                  </a:rPr>
                  <a:t>. The farthest point of the disc centred at </a:t>
                </a:r>
                <a:r>
                  <a:rPr lang="en-IN" sz="2400">
                    <a:solidFill>
                      <a:srgbClr val="111827"/>
                    </a:solidFill>
                    <a:latin typeface="Cambria Math" panose="02040503050406030204" pitchFamily="18" charset="0"/>
                  </a:rPr>
                  <a:t>$(c,1)$</a:t>
                </a:r>
                <a:r>
                  <a:rPr sz="2400" b="0">
                    <a:solidFill>
                      <a:srgbClr val="111827"/>
                    </a:solidFill>
                    <a:latin typeface="Arial"/>
                  </a:rPr>
                  <a:t> from </a:t>
                </a:r>
                <a:r>
                  <a:rPr lang="en-IN" sz="2400">
                    <a:solidFill>
                      <a:srgbClr val="111827"/>
                    </a:solidFill>
                    <a:latin typeface="Cambria Math" panose="02040503050406030204" pitchFamily="18" charset="0"/>
                  </a:rPr>
                  <a:t>$A$</a:t>
                </a:r>
                <a:r>
                  <a:rPr sz="2400" b="0">
                    <a:solidFill>
                      <a:srgbClr val="111827"/>
                    </a:solidFill>
                    <a:latin typeface="Arial"/>
                  </a:rPr>
                  <a:t> is at distance </a:t>
                </a:r>
                <a:r>
                  <a:rPr lang="en-IN" sz="2400">
                    <a:solidFill>
                      <a:srgbClr val="111827"/>
                    </a:solidFill>
                    <a:latin typeface="Cambria Math" panose="02040503050406030204" pitchFamily="18" charset="0"/>
                  </a:rPr>
                  <a:t>$|c|+1$</a:t>
                </a:r>
                <a:r>
                  <a:rPr sz="2400" b="0">
                    <a:solidFill>
                      <a:srgbClr val="111827"/>
                    </a:solidFill>
                    <a:latin typeface="Arial"/>
                  </a:rPr>
                  <a:t>, along the horizontal line </a:t>
                </a:r>
                <a:r>
                  <a:rPr lang="en-IN" sz="2400">
                    <a:solidFill>
                      <a:srgbClr val="111827"/>
                    </a:solidFill>
                    <a:latin typeface="Cambria Math" panose="02040503050406030204" pitchFamily="18" charset="0"/>
                  </a:rPr>
                  <a:t>$y=1$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$c=-\frac54$</a:t>
                </a:r>
                <a:r>
                  <a:rPr sz="2400" b="0">
                    <a:solidFill>
                      <a:srgbClr val="111827"/>
                    </a:solidFill>
                    <a:latin typeface="Arial"/>
                  </a:rPr>
                  <a:t>: </a:t>
                </a:r>
                <a:r>
                  <a:rPr lang="en-IN" sz="2400">
                    <a:solidFill>
                      <a:srgbClr val="111827"/>
                    </a:solidFill>
                    <a:latin typeface="Cambria Math" panose="02040503050406030204" pitchFamily="18" charset="0"/>
                  </a:rPr>
                  <a:t>$|z-i|_{\max}=\frac54+1=\frac94$</a:t>
                </a:r>
                <a:r>
                  <a:rPr sz="2400" b="0">
                    <a:solidFill>
                      <a:srgbClr val="111827"/>
                    </a:solidFill>
                    <a:latin typeface="Arial"/>
                  </a:rPr>
                  <a:t>, attained at </a:t>
                </a:r>
                <a:r>
                  <a:rPr lang="en-IN" sz="2400">
                    <a:solidFill>
                      <a:srgbClr val="111827"/>
                    </a:solidFill>
                    <a:latin typeface="Cambria Math" panose="02040503050406030204" pitchFamily="18" charset="0"/>
                  </a:rPr>
                  <a:t>$z=-\frac94+i$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corresponding value is only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most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maximum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$c=1$</a:t>
                </a:r>
                <a:r>
                  <a:rPr sz="2400" b="0">
                    <a:solidFill>
                      <a:srgbClr val="111827"/>
                    </a:solidFill>
                    <a:latin typeface="Arial"/>
                  </a:rPr>
                  <a:t> the corresponding value is only </a:t>
                </a:r>
                <a:r>
                  <a:rPr lang="en-IN" sz="2400">
                    <a:solidFill>
                      <a:srgbClr val="111827"/>
                    </a:solidFill>
                    <a:latin typeface="Cambria Math" panose="02040503050406030204" pitchFamily="18" charset="0"/>
                  </a:rPr>
                  <a:t>$2&lt;\frac94$</a:t>
                </a:r>
                <a:r>
                  <a:rPr sz="2400" b="0">
                    <a:solidFill>
                      <a:srgbClr val="111827"/>
                    </a:solidFill>
                    <a:latin typeface="Arial"/>
                  </a:rPr>
                  <a:t>, and </a:t>
                </a:r>
                <a:r>
                  <a:rPr lang="en-IN" sz="2400">
                    <a:solidFill>
                      <a:srgbClr val="111827"/>
                    </a:solidFill>
                    <a:latin typeface="Cambria Math" panose="02040503050406030204" pitchFamily="18" charset="0"/>
                  </a:rPr>
                  <a:t>$|c|+1$</a:t>
                </a:r>
                <a:r>
                  <a:rPr sz="2400" b="0">
                    <a:solidFill>
                      <a:srgbClr val="111827"/>
                    </a:solidFill>
                    <a:latin typeface="Arial"/>
                  </a:rPr>
                  <a:t> is at most </a:t>
                </a:r>
                <a:r>
                  <a:rPr lang="en-IN" sz="2400">
                    <a:solidFill>
                      <a:srgbClr val="111827"/>
                    </a:solidFill>
                    <a:latin typeface="Cambria Math" panose="02040503050406030204" pitchFamily="18" charset="0"/>
                  </a:rPr>
                  <a:t>$\frac94$</a:t>
                </a:r>
                <a:r>
                  <a:rPr sz="2400" b="0">
                    <a:solidFill>
                      <a:srgbClr val="111827"/>
                    </a:solidFill>
                    <a:latin typeface="Arial"/>
                  </a:rPr>
                  <a:t> on </a:t>
                </a:r>
                <a:r>
                  <a:rPr lang="en-IN" sz="2400">
                    <a:solidFill>
                      <a:srgbClr val="111827"/>
                    </a:solidFill>
                    <a:latin typeface="Cambria Math" panose="02040503050406030204" pitchFamily="18" charset="0"/>
                  </a:rPr>
                  <a:t>$\left[-\frac54,1\right]$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maximum value of </a:t>
                </a:r>
                <a:r>
                  <a:rPr lang="en-IN" sz="2400">
                    <a:solidFill>
                      <a:srgbClr val="111827"/>
                    </a:solidFill>
                    <a:latin typeface="Cambria Math" panose="02040503050406030204" pitchFamily="18" charset="0"/>
                  </a:rPr>
                  <a:t>$|z-i|$</a:t>
                </a:r>
                <a:r>
                  <a:rPr sz="2400" b="0">
                    <a:solidFill>
                      <a:srgbClr val="111827"/>
                    </a:solidFill>
                    <a:latin typeface="Arial"/>
                  </a:rPr>
                  <a:t> is </a:t>
                </a:r>
                <a:r>
                  <a:rPr lang="en-IN" sz="2400">
                    <a:solidFill>
                      <a:srgbClr val="111827"/>
                    </a:solidFill>
                    <a:latin typeface="Cambria Math" panose="02040503050406030204" pitchFamily="18" charset="0"/>
                  </a:rPr>
                  <a:t>$\frac94$</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9</m:t>
                        </m:r>
                      </m:num>
                      <m:den>
                        <m:r>
                          <a:rPr lang="en-IN" sz="2800" i="1">
                            <a:solidFill>
                              <a:srgbClr val="15803D"/>
                            </a:solidFill>
                            <a:latin typeface="Cambria Math" panose="02040503050406030204" pitchFamily="18" charset="0"/>
                          </a:rPr>
                          <m:t>4</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t>
                </a:r>
                <a:r>
                  <a:rPr lang="en-IN" sz="2800">
                    <a:solidFill>
                      <a:srgbClr val="15803D"/>
                    </a:solidFill>
                    <a:latin typeface="Cambria Math" panose="02040503050406030204" pitchFamily="18" charset="0"/>
                  </a:rPr>
                  <a:t>$\frac94$</a:t>
                </a:r>
                <a:endParaRPr sz="2800">
                  <a:solidFill>
                    <a:srgbClr val="15803D"/>
                  </a:solidFill>
                </a:endParaRPr>
              </a:p>
            </p:txBody>
          </p:sp>
        </mc:Fallback>
      </mc:AlternateContent>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Triangle inequality: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with equality when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points in the direction of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Triangle inequality: </a:t>
                </a:r>
                <a:r>
                  <a:rPr lang="en-IN" sz="2400">
                    <a:solidFill>
                      <a:srgbClr val="78350F"/>
                    </a:solidFill>
                    <a:latin typeface="Cambria Math" panose="02040503050406030204" pitchFamily="18" charset="0"/>
                  </a:rPr>
                  <a:t>$|z-i|\le|z-(c+i)|+|c|\le1+|c|$</a:t>
                </a:r>
                <a:r>
                  <a:rPr sz="2400" b="0">
                    <a:solidFill>
                      <a:srgbClr val="78350F"/>
                    </a:solidFill>
                    <a:latin typeface="Arial"/>
                  </a:rPr>
                  <a:t>, with equality when </a:t>
                </a:r>
                <a:r>
                  <a:rPr lang="en-IN" sz="2400">
                    <a:solidFill>
                      <a:srgbClr val="78350F"/>
                    </a:solidFill>
                    <a:latin typeface="Cambria Math" panose="02040503050406030204" pitchFamily="18" charset="0"/>
                  </a:rPr>
                  <a:t>$z-(c+i)$</a:t>
                </a:r>
                <a:r>
                  <a:rPr sz="2400" b="0">
                    <a:solidFill>
                      <a:srgbClr val="78350F"/>
                    </a:solidFill>
                    <a:latin typeface="Arial"/>
                  </a:rPr>
                  <a:t> points in the direction of </a:t>
                </a:r>
                <a:r>
                  <a:rPr lang="en-IN" sz="2400">
                    <a:solidFill>
                      <a:srgbClr val="78350F"/>
                    </a:solidFill>
                    <a:latin typeface="Cambria Math" panose="02040503050406030204" pitchFamily="18" charset="0"/>
                  </a:rPr>
                  <a:t>$-c$</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in the disc,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needs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𝑠𝑖𝑔𝑛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unit real vector parallel to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a:t>
                </a:r>
                <a:r>
                  <a:rPr sz="2400" b="0">
                    <a:solidFill>
                      <a:srgbClr val="111827"/>
                    </a:solidFill>
                    <a:latin typeface="Arial"/>
                  </a:rPr>
                  <a:t> in the disc, </a:t>
                </a:r>
                <a:r>
                  <a:rPr lang="en-IN" sz="2400">
                    <a:solidFill>
                      <a:srgbClr val="111827"/>
                    </a:solidFill>
                    <a:latin typeface="Cambria Math" panose="02040503050406030204" pitchFamily="18" charset="0"/>
                  </a:rPr>
                  <a:t>$|z-i|=|(z-i-c)+c|\le|z-i-c|+|c|\le1+|c|$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Equality needs </a:t>
                </a:r>
                <a:r>
                  <a:rPr lang="en-IN" sz="2400">
                    <a:solidFill>
                      <a:srgbClr val="111827"/>
                    </a:solidFill>
                    <a:latin typeface="Cambria Math" panose="02040503050406030204" pitchFamily="18" charset="0"/>
                  </a:rPr>
                  <a:t>$z-i-c=-\text{sign}(c)\cdot1$</a:t>
                </a:r>
                <a:r>
                  <a:rPr sz="2400" b="0">
                    <a:solidFill>
                      <a:srgbClr val="111827"/>
                    </a:solidFill>
                    <a:latin typeface="Arial"/>
                  </a:rPr>
                  <a:t> (a unit real vector parallel to </a:t>
                </a:r>
                <a:r>
                  <a:rPr lang="en-IN" sz="2400">
                    <a:solidFill>
                      <a:srgbClr val="111827"/>
                    </a:solidFill>
                    <a:latin typeface="Cambria Math" panose="02040503050406030204" pitchFamily="18" charset="0"/>
                  </a:rPr>
                  <a:t>$c$</a:t>
                </a:r>
                <a:r>
                  <a:rPr sz="2400" b="0">
                    <a:solidFill>
                      <a:srgbClr val="111827"/>
                    </a:solidFill>
                    <a:latin typeface="Arial"/>
                  </a:rPr>
                  <a:t>): for </a:t>
                </a:r>
                <a:r>
                  <a:rPr lang="en-IN" sz="2400">
                    <a:solidFill>
                      <a:srgbClr val="111827"/>
                    </a:solidFill>
                    <a:latin typeface="Cambria Math" panose="02040503050406030204" pitchFamily="18" charset="0"/>
                  </a:rPr>
                  <a:t>$c&lt;0$</a:t>
                </a:r>
                <a:r>
                  <a:rPr sz="2400" b="0">
                    <a:solidFill>
                      <a:srgbClr val="111827"/>
                    </a:solidFill>
                    <a:latin typeface="Arial"/>
                  </a:rPr>
                  <a:t>, </a:t>
                </a:r>
                <a:r>
                  <a:rPr lang="en-IN" sz="2400">
                    <a:solidFill>
                      <a:srgbClr val="111827"/>
                    </a:solidFill>
                    <a:latin typeface="Cambria Math" panose="02040503050406030204" pitchFamily="18" charset="0"/>
                  </a:rPr>
                  <a:t>$z=c-1+i$</a:t>
                </a:r>
                <a:r>
                  <a:rPr sz="2400" b="0">
                    <a:solidFill>
                      <a:srgbClr val="111827"/>
                    </a:solidFill>
                    <a:latin typeface="Arial"/>
                  </a:rPr>
                  <a:t> gives </a:t>
                </a:r>
                <a:r>
                  <a:rPr lang="en-IN" sz="2400">
                    <a:solidFill>
                      <a:srgbClr val="111827"/>
                    </a:solidFill>
                    <a:latin typeface="Cambria Math" panose="02040503050406030204" pitchFamily="18" charset="0"/>
                  </a:rPr>
                  <a:t>$|z-i|=|c-1|=1+|c|$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maximum over the whole family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(confirmed numerically on a grid of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2.25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maximum over the whole family is </a:t>
                </a:r>
                <a:r>
                  <a:rPr lang="en-IN" sz="2400">
                    <a:solidFill>
                      <a:srgbClr val="111827"/>
                    </a:solidFill>
                    <a:latin typeface="Cambria Math" panose="02040503050406030204" pitchFamily="18" charset="0"/>
                  </a:rPr>
                  <a:t>$1+\max|c|$</a:t>
                </a:r>
                <a:r>
                  <a:rPr sz="2400" b="0">
                    <a:solidFill>
                      <a:srgbClr val="111827"/>
                    </a:solidFill>
                    <a:latin typeface="Arial"/>
                  </a:rPr>
                  <a:t> where </a:t>
                </a:r>
                <a:r>
                  <a:rPr lang="en-IN" sz="2400">
                    <a:solidFill>
                      <a:srgbClr val="111827"/>
                    </a:solidFill>
                    <a:latin typeface="Cambria Math" panose="02040503050406030204" pitchFamily="18" charset="0"/>
                  </a:rPr>
                  <a:t>$c\in\left[-\frac54,1\right]$</a:t>
                </a:r>
                <a:r>
                  <a:rPr sz="2400" b="0">
                    <a:solidFill>
                      <a:srgbClr val="111827"/>
                    </a:solidFill>
                    <a:latin typeface="Arial"/>
                  </a:rPr>
                  <a:t>; </a:t>
                </a:r>
                <a:r>
                  <a:rPr lang="en-IN" sz="2400">
                    <a:solidFill>
                      <a:srgbClr val="111827"/>
                    </a:solidFill>
                    <a:latin typeface="Cambria Math" panose="02040503050406030204" pitchFamily="18" charset="0"/>
                  </a:rPr>
                  <a:t>$\max|c|=\frac54$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$\max|z-i|=1+\frac54=\frac94$</a:t>
                </a:r>
                <a:r>
                  <a:rPr sz="2400" b="0">
                    <a:solidFill>
                      <a:srgbClr val="111827"/>
                    </a:solidFill>
                    <a:latin typeface="Arial"/>
                  </a:rPr>
                  <a:t> (confirmed numerically on a grid of </a:t>
                </a:r>
                <a:r>
                  <a:rPr lang="en-IN" sz="2400">
                    <a:solidFill>
                      <a:srgbClr val="111827"/>
                    </a:solidFill>
                    <a:latin typeface="Cambria Math" panose="02040503050406030204" pitchFamily="18" charset="0"/>
                  </a:rPr>
                  <a:t>$\alpha$</a:t>
                </a:r>
                <a:r>
                  <a:rPr sz="2400" b="0">
                    <a:solidFill>
                      <a:srgbClr val="111827"/>
                    </a:solidFill>
                    <a:latin typeface="Arial"/>
                  </a:rPr>
                  <a:t>: </a:t>
                </a:r>
                <a:r>
                  <a:rPr lang="en-IN" sz="2400">
                    <a:solidFill>
                      <a:srgbClr val="111827"/>
                    </a:solidFill>
                    <a:latin typeface="Cambria Math" panose="02040503050406030204" pitchFamily="18" charset="0"/>
                  </a:rPr>
                  <a:t>$2.25$</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9</m:t>
                        </m:r>
                      </m:num>
                      <m:den>
                        <m:r>
                          <a:rPr lang="en-IN" sz="2800" i="1">
                            <a:solidFill>
                              <a:srgbClr val="15803D"/>
                            </a:solidFill>
                            <a:latin typeface="Cambria Math" panose="02040503050406030204" pitchFamily="18" charset="0"/>
                          </a:rPr>
                          <m:t>4</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t>
                </a:r>
                <a:r>
                  <a:rPr lang="en-IN" sz="2800">
                    <a:solidFill>
                      <a:srgbClr val="15803D"/>
                    </a:solidFill>
                    <a:latin typeface="Cambria Math" panose="02040503050406030204" pitchFamily="18" charset="0"/>
                  </a:rPr>
                  <a:t>$\frac94$</a:t>
                </a:r>
                <a:endParaRPr sz="2800">
                  <a:solidFill>
                    <a:srgbClr val="15803D"/>
                  </a:solidFill>
                </a:endParaRPr>
              </a:p>
            </p:txBody>
          </p:sp>
        </mc:Fallback>
      </mc:AlternateContent>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disc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ρ</m:t>
                    </m:r>
                  </m:oMath>
                </a14:m>
                <a:r>
                  <a:rPr sz="2400" b="0">
                    <a:solidFill>
                      <a:srgbClr val="111827"/>
                    </a:solidFill>
                    <a:latin typeface="Arial"/>
                  </a:rPr>
                  <a:t> and a point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ρ</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ρ</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m:rPr>
                            <m:sty m:val="p"/>
                          </m:rPr>
                          <a:rPr lang="en-IN" sz="2400">
                            <a:solidFill>
                              <a:srgbClr val="111827"/>
                            </a:solidFill>
                            <a:latin typeface="Cambria Math" panose="02040503050406030204" pitchFamily="18" charset="0"/>
                          </a:rPr>
                          <m:t>min</m:t>
                        </m:r>
                      </m:e>
                      <m:sub>
                        <m:r>
                          <a:rPr lang="en-IN" sz="2400" i="1">
                            <a:solidFill>
                              <a:srgbClr val="111827"/>
                            </a:solidFill>
                            <a:latin typeface="Cambria Math" panose="02040503050406030204" pitchFamily="18" charset="0"/>
                          </a:rPr>
                          <m:t>α</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checked numerically: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farthest point on a disc from a point on the line through the centre is on that same line, so the extremal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here.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disc </a:t>
                </a:r>
                <a:r>
                  <a:rPr lang="en-IN" sz="2400">
                    <a:solidFill>
                      <a:srgbClr val="111827"/>
                    </a:solidFill>
                    <a:latin typeface="Cambria Math" panose="02040503050406030204" pitchFamily="18" charset="0"/>
                  </a:rPr>
                  <a:t>$|z-w|\le\rho$</a:t>
                </a:r>
                <a:r>
                  <a:rPr sz="2400" b="0">
                    <a:solidFill>
                      <a:srgbClr val="111827"/>
                    </a:solidFill>
                    <a:latin typeface="Arial"/>
                  </a:rPr>
                  <a:t> and a point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$\max|z-p|=|w-p|+\rho$</a:t>
                </a:r>
                <a:r>
                  <a:rPr sz="2400" b="0">
                    <a:solidFill>
                      <a:srgbClr val="111827"/>
                    </a:solidFill>
                    <a:latin typeface="Arial"/>
                  </a:rPr>
                  <a:t> and </a:t>
                </a:r>
                <a:r>
                  <a:rPr lang="en-IN" sz="2400">
                    <a:solidFill>
                      <a:srgbClr val="111827"/>
                    </a:solidFill>
                    <a:latin typeface="Cambria Math" panose="02040503050406030204" pitchFamily="18" charset="0"/>
                  </a:rPr>
                  <a:t>$\min|z-p|=\max(0,|w-p|-\rho)$</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$\min_\alpha(\alpha^2-7\alpha+11)=11-\frac{49}{4}=-\frac54$</a:t>
                </a:r>
                <a:r>
                  <a:rPr sz="2400" b="0">
                    <a:solidFill>
                      <a:srgbClr val="111827"/>
                    </a:solidFill>
                    <a:latin typeface="Arial"/>
                  </a:rPr>
                  <a:t> at </a:t>
                </a:r>
                <a:r>
                  <a:rPr lang="en-IN" sz="2400">
                    <a:solidFill>
                      <a:srgbClr val="111827"/>
                    </a:solidFill>
                    <a:latin typeface="Cambria Math" panose="02040503050406030204" pitchFamily="18" charset="0"/>
                  </a:rPr>
                  <a:t>$\alpha=\frac72$</a:t>
                </a:r>
                <a:r>
                  <a:rPr sz="2400" b="0">
                    <a:solidFill>
                      <a:srgbClr val="111827"/>
                    </a:solidFill>
                    <a:latin typeface="Arial"/>
                  </a:rPr>
                  <a:t>; checked numerically: </a:t>
                </a:r>
                <a:r>
                  <a:rPr lang="en-IN" sz="2400">
                    <a:solidFill>
                      <a:srgbClr val="111827"/>
                    </a:solidFill>
                    <a:latin typeface="Cambria Math" panose="02040503050406030204" pitchFamily="18" charset="0"/>
                  </a:rPr>
                  <a:t>$c(3.5)=-1.25$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farthest point on a disc from a point on the line through the centre is on that same line, so the extremal </a:t>
                </a:r>
                <a:r>
                  <a:rPr lang="en-IN" sz="2400">
                    <a:solidFill>
                      <a:srgbClr val="111827"/>
                    </a:solidFill>
                    <a:latin typeface="Cambria Math" panose="02040503050406030204" pitchFamily="18" charset="0"/>
                  </a:rPr>
                  <a:t>$z$</a:t>
                </a:r>
                <a:r>
                  <a:rPr sz="2400" b="0">
                    <a:solidFill>
                      <a:srgbClr val="111827"/>
                    </a:solidFill>
                    <a:latin typeface="Arial"/>
                  </a:rPr>
                  <a:t> is </a:t>
                </a:r>
                <a:r>
                  <a:rPr lang="en-IN" sz="2400">
                    <a:solidFill>
                      <a:srgbClr val="111827"/>
                    </a:solidFill>
                    <a:latin typeface="Cambria Math" panose="02040503050406030204" pitchFamily="18" charset="0"/>
                  </a:rPr>
                  <a:t>$-\frac94+i$</a:t>
                </a:r>
                <a:r>
                  <a:rPr sz="2400" b="0">
                    <a:solidFill>
                      <a:srgbClr val="111827"/>
                    </a:solidFill>
                    <a:latin typeface="Arial"/>
                  </a:rPr>
                  <a:t> here.</a:t>
                </a:r>
                <a:endParaRPr sz="2400">
                  <a:solidFill>
                    <a:srgbClr val="111827"/>
                  </a:solidFill>
                </a:endParaRPr>
              </a:p>
            </p:txBody>
          </p:sp>
        </mc:Fallback>
      </mc:AlternateContent>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701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be a real number and let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be a complex number satisfying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e>
                        </m:d>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such that this region contains at least one point of the closed second quadrant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which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maximum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(B)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(D)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endParaRPr sz="2400">
                  <a:solidFill>
                    <a:srgbClr val="111827"/>
                  </a:solidFill>
                </a:endParaRPr>
              </a:p>
            </p:txBody>
          </p:sp>
        </mc:Choice>
        <mc:Fallback>
          <p:sp>
            <p:nvSpPr>
              <p:cNvPr id="4" name="Rounded Rectangle 3"/>
              <p:cNvSpPr/>
              <p:nvPr/>
            </p:nvSpPr>
            <p:spPr>
              <a:xfrm>
                <a:off x="731520" y="1280160"/>
                <a:ext cx="10725912" cy="34701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$\alpha$</a:t>
                </a:r>
                <a:r>
                  <a:rPr sz="2400" b="0">
                    <a:solidFill>
                      <a:srgbClr val="111827"/>
                    </a:solidFill>
                    <a:latin typeface="Arial"/>
                  </a:rPr>
                  <a:t> be a real number and let </a:t>
                </a:r>
                <a:r>
                  <a:rPr lang="en-IN" sz="2400">
                    <a:solidFill>
                      <a:srgbClr val="111827"/>
                    </a:solidFill>
                    <a:latin typeface="Cambria Math" panose="02040503050406030204" pitchFamily="18" charset="0"/>
                  </a:rPr>
                  <a:t>$z$</a:t>
                </a:r>
                <a:r>
                  <a:rPr sz="2400" b="0">
                    <a:solidFill>
                      <a:srgbClr val="111827"/>
                    </a:solidFill>
                    <a:latin typeface="Arial"/>
                  </a:rPr>
                  <a:t> be a complex number satisfying </a:t>
                </a:r>
                <a:r>
                  <a:rPr lang="en-IN" sz="2400">
                    <a:solidFill>
                      <a:srgbClr val="111827"/>
                    </a:solidFill>
                    <a:latin typeface="Cambria Math" panose="02040503050406030204" pitchFamily="18" charset="0"/>
                  </a:rPr>
                  <a:t>$\left|z-i-\left(\alpha^2-7\alpha+11\right)\right|\le1$</a:t>
                </a:r>
                <a:r>
                  <a:rPr sz="2400" b="0">
                    <a:solidFill>
                      <a:srgbClr val="111827"/>
                    </a:solidFill>
                    <a:latin typeface="Arial"/>
                  </a:rPr>
                  <a:t>, such that this region contains at least one point of the closed second quadrant (</a:t>
                </a:r>
                <a:r>
                  <a:rPr lang="en-IN" sz="2400">
                    <a:solidFill>
                      <a:srgbClr val="111827"/>
                    </a:solidFill>
                    <a:latin typeface="Cambria Math" panose="02040503050406030204" pitchFamily="18" charset="0"/>
                  </a:rPr>
                  <a:t>$x\le0$</a:t>
                </a:r>
                <a:r>
                  <a:rPr sz="2400" b="0">
                    <a:solidFill>
                      <a:srgbClr val="111827"/>
                    </a:solidFill>
                    <a:latin typeface="Arial"/>
                  </a:rPr>
                  <a:t>, </a:t>
                </a:r>
                <a:r>
                  <a:rPr lang="en-IN" sz="2400">
                    <a:solidFill>
                      <a:srgbClr val="111827"/>
                    </a:solidFill>
                    <a:latin typeface="Cambria Math" panose="02040503050406030204" pitchFamily="18" charset="0"/>
                  </a:rPr>
                  <a:t>$y\ge0$</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The value of </a:t>
                </a:r>
                <a:r>
                  <a:rPr lang="en-IN" sz="2400">
                    <a:solidFill>
                      <a:srgbClr val="111827"/>
                    </a:solidFill>
                    <a:latin typeface="Cambria Math" panose="02040503050406030204" pitchFamily="18" charset="0"/>
                  </a:rPr>
                  <a:t>$\arg(z)$</a:t>
                </a:r>
                <a:r>
                  <a:rPr sz="2400" b="0">
                    <a:solidFill>
                      <a:srgbClr val="111827"/>
                    </a:solidFill>
                    <a:latin typeface="Arial"/>
                  </a:rPr>
                  <a:t> for which </a:t>
                </a:r>
                <a:r>
                  <a:rPr lang="en-IN" sz="2400">
                    <a:solidFill>
                      <a:srgbClr val="111827"/>
                    </a:solidFill>
                    <a:latin typeface="Cambria Math" panose="02040503050406030204" pitchFamily="18" charset="0"/>
                  </a:rPr>
                  <a:t>$|z-i|$</a:t>
                </a:r>
                <a:r>
                  <a:rPr sz="2400" b="0">
                    <a:solidFill>
                      <a:srgbClr val="111827"/>
                    </a:solidFill>
                    <a:latin typeface="Arial"/>
                  </a:rPr>
                  <a:t> is maximum is: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$\pi-\tan^{-1}\frac49$</a:t>
                </a:r>
                <a:r>
                  <a:rPr sz="2400" b="0">
                    <a:solidFill>
                      <a:srgbClr val="111827"/>
                    </a:solidFill>
                    <a:latin typeface="Arial"/>
                  </a:rPr>
                  <a:t>   (B) </a:t>
                </a:r>
                <a:r>
                  <a:rPr lang="en-IN" sz="2400">
                    <a:solidFill>
                      <a:srgbClr val="111827"/>
                    </a:solidFill>
                    <a:latin typeface="Cambria Math" panose="02040503050406030204" pitchFamily="18" charset="0"/>
                  </a:rPr>
                  <a:t>$\pi-\tan^{-1}\frac94$</a:t>
                </a:r>
                <a:r>
                  <a:rPr sz="2400" b="0">
                    <a:solidFill>
                      <a:srgbClr val="111827"/>
                    </a:solidFill>
                    <a:latin typeface="Arial"/>
                  </a:rPr>
                  <a:t>   (C) </a:t>
                </a:r>
                <a:r>
                  <a:rPr lang="en-IN" sz="2400">
                    <a:solidFill>
                      <a:srgbClr val="111827"/>
                    </a:solidFill>
                    <a:latin typeface="Cambria Math" panose="02040503050406030204" pitchFamily="18" charset="0"/>
                  </a:rPr>
                  <a:t>$\pi-\tan^{-1}\frac19$</a:t>
                </a:r>
                <a:r>
                  <a:rPr sz="2400" b="0">
                    <a:solidFill>
                      <a:srgbClr val="111827"/>
                    </a:solidFill>
                    <a:latin typeface="Arial"/>
                  </a:rPr>
                  <a:t>   (D) </a:t>
                </a:r>
                <a:r>
                  <a:rPr lang="en-IN" sz="2400">
                    <a:solidFill>
                      <a:srgbClr val="111827"/>
                    </a:solidFill>
                    <a:latin typeface="Cambria Math" panose="02040503050406030204" pitchFamily="18" charset="0"/>
                  </a:rPr>
                  <a:t>$\pi-\tan^{-1}\frac45$</a:t>
                </a:r>
                <a:endParaRPr sz="2400">
                  <a:solidFill>
                    <a:srgbClr val="111827"/>
                  </a:solidFill>
                </a:endParaRPr>
              </a:p>
            </p:txBody>
          </p:sp>
        </mc:Fallback>
      </mc:AlternateContent>
      <p:sp>
        <p:nvSpPr>
          <p:cNvPr id="5" name="Rectangle 4"/>
          <p:cNvSpPr/>
          <p:nvPr/>
        </p:nvSpPr>
        <p:spPr>
          <a:xfrm>
            <a:off x="731520" y="4978907"/>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argument of a point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extremal point is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9</m:t>
                        </m:r>
                      </m:num>
                      <m:den>
                        <m:r>
                          <a:rPr lang="en-IN" sz="2400" i="1">
                            <a:solidFill>
                              <a:srgbClr val="78350F"/>
                            </a:solidFill>
                            <a:latin typeface="Cambria Math" panose="02040503050406030204" pitchFamily="18" charset="0"/>
                          </a:rPr>
                          <m:t>4</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oMath>
                </a14:m>
                <a:r>
                  <a:rPr sz="2400" b="0">
                    <a:solidFill>
                      <a:srgbClr val="78350F"/>
                    </a:solidFill>
                    <a:latin typeface="Arial"/>
                  </a:rPr>
                  <a:t> in the second quadrant, so </a:t>
                </a:r>
                <a14:m>
                  <m:oMath xmlns:m="http://schemas.openxmlformats.org/officeDocument/2006/math">
                    <m:r>
                      <m:rPr>
                        <m:sty m:val="p"/>
                      </m:rPr>
                      <a:rPr lang="en-IN" sz="2400">
                        <a:solidFill>
                          <a:srgbClr val="78350F"/>
                        </a:solidFill>
                        <a:latin typeface="Cambria Math" panose="02040503050406030204" pitchFamily="18" charset="0"/>
                      </a:rPr>
                      <m:t>arg</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π</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tan</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f>
                      <m:fPr>
                        <m:type m:val="bar"/>
                        <m:ctrlPr>
                          <a:rPr lang="en-IN" sz="2400" i="1">
                            <a:solidFill>
                              <a:srgbClr val="78350F"/>
                            </a:solidFill>
                            <a:latin typeface="Cambria Math" panose="02040503050406030204" pitchFamily="18" charset="0"/>
                          </a:rPr>
                        </m:ctrlPr>
                      </m:fPr>
                      <m:num>
                        <m:r>
                          <m:rPr>
                            <m:nor/>
                          </m:rPr>
                          <a:rPr lang="en-IN" sz="2400" i="1">
                            <a:solidFill>
                              <a:srgbClr val="78350F"/>
                            </a:solidFill>
                            <a:latin typeface="Cambria Math" panose="02040503050406030204" pitchFamily="18" charset="0"/>
                          </a:rPr>
                          <m:t>𝐼𝑚</m:t>
                        </m:r>
                      </m:num>
                      <m:den>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𝑅𝑒</m:t>
                        </m:r>
                        <m:r>
                          <m:rPr>
                            <m:sty m:val="p"/>
                          </m:rPr>
                          <a:rPr lang="en-IN" sz="2400">
                            <a:solidFill>
                              <a:srgbClr val="78350F"/>
                            </a:solidFill>
                            <a:latin typeface="Cambria Math" panose="02040503050406030204" pitchFamily="18" charset="0"/>
                          </a:rPr>
                          <m:t>|</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π</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tan</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m:t>
                        </m:r>
                      </m:num>
                      <m:den>
                        <m:r>
                          <a:rPr lang="en-IN" sz="2400" i="1">
                            <a:solidFill>
                              <a:srgbClr val="78350F"/>
                            </a:solidFill>
                            <a:latin typeface="Cambria Math" panose="02040503050406030204" pitchFamily="18" charset="0"/>
                          </a:rPr>
                          <m:t>9</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extremal point is </a:t>
                </a:r>
                <a:r>
                  <a:rPr lang="en-IN" sz="2400">
                    <a:solidFill>
                      <a:srgbClr val="78350F"/>
                    </a:solidFill>
                    <a:latin typeface="Cambria Math" panose="02040503050406030204" pitchFamily="18" charset="0"/>
                  </a:rPr>
                  <a:t>$z=-\frac94+i$</a:t>
                </a:r>
                <a:r>
                  <a:rPr sz="2400" b="0">
                    <a:solidFill>
                      <a:srgbClr val="78350F"/>
                    </a:solidFill>
                    <a:latin typeface="Arial"/>
                  </a:rPr>
                  <a:t> in the second quadrant, so </a:t>
                </a:r>
                <a:r>
                  <a:rPr lang="en-IN" sz="2400">
                    <a:solidFill>
                      <a:srgbClr val="78350F"/>
                    </a:solidFill>
                    <a:latin typeface="Cambria Math" panose="02040503050406030204" pitchFamily="18" charset="0"/>
                  </a:rPr>
                  <a:t>$\arg z=\pi-\tan^{-1}\frac{\text{Im}}{|\text{Re}|}=\pi-\tan^{-1}\frac49$</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Q56 the maximum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occurs 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(centre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 at the point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i.e.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point lies in the second quadrant with </a:t>
                </a:r>
                <a14:m>
                  <m:oMath xmlns:m="http://schemas.openxmlformats.org/officeDocument/2006/math">
                    <m:r>
                      <m:rPr>
                        <m:nor/>
                      </m:rPr>
                      <a:rPr lang="en-IN" sz="2400" i="1">
                        <a:solidFill>
                          <a:srgbClr val="111827"/>
                        </a:solidFill>
                        <a:latin typeface="Cambria Math" panose="02040503050406030204" pitchFamily="18" charset="0"/>
                      </a:rPr>
                      <m:t>𝑅𝑒</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r>
                      <m:rPr>
                        <m:nor/>
                      </m:rPr>
                      <a:rPr lang="en-IN" sz="2400" i="1">
                        <a:solidFill>
                          <a:srgbClr val="111827"/>
                        </a:solidFill>
                        <a:latin typeface="Cambria Math" panose="02040503050406030204" pitchFamily="18" charset="0"/>
                      </a:rPr>
                      <m:t>𝐼𝑚</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Q56 the maximum </a:t>
                </a:r>
                <a:r>
                  <a:rPr lang="en-IN" sz="2400">
                    <a:solidFill>
                      <a:srgbClr val="111827"/>
                    </a:solidFill>
                    <a:latin typeface="Cambria Math" panose="02040503050406030204" pitchFamily="18" charset="0"/>
                  </a:rPr>
                  <a:t>$|z-i|=\frac94$</a:t>
                </a:r>
                <a:r>
                  <a:rPr sz="2400" b="0">
                    <a:solidFill>
                      <a:srgbClr val="111827"/>
                    </a:solidFill>
                    <a:latin typeface="Arial"/>
                  </a:rPr>
                  <a:t> occurs for </a:t>
                </a:r>
                <a:r>
                  <a:rPr lang="en-IN" sz="2400">
                    <a:solidFill>
                      <a:srgbClr val="111827"/>
                    </a:solidFill>
                    <a:latin typeface="Cambria Math" panose="02040503050406030204" pitchFamily="18" charset="0"/>
                  </a:rPr>
                  <a:t>$\alpha=\frac72$</a:t>
                </a:r>
                <a:r>
                  <a:rPr sz="2400" b="0">
                    <a:solidFill>
                      <a:srgbClr val="111827"/>
                    </a:solidFill>
                    <a:latin typeface="Arial"/>
                  </a:rPr>
                  <a:t> (centre </a:t>
                </a:r>
                <a:r>
                  <a:rPr lang="en-IN" sz="2400">
                    <a:solidFill>
                      <a:srgbClr val="111827"/>
                    </a:solidFill>
                    <a:latin typeface="Cambria Math" panose="02040503050406030204" pitchFamily="18" charset="0"/>
                  </a:rPr>
                  <a:t>$B=\left(-\frac54,1\right)$</a:t>
                </a:r>
                <a:r>
                  <a:rPr sz="2400" b="0">
                    <a:solidFill>
                      <a:srgbClr val="111827"/>
                    </a:solidFill>
                    <a:latin typeface="Arial"/>
                  </a:rPr>
                  <a:t>) at the point </a:t>
                </a:r>
                <a:r>
                  <a:rPr lang="en-IN" sz="2400">
                    <a:solidFill>
                      <a:srgbClr val="111827"/>
                    </a:solidFill>
                    <a:latin typeface="Cambria Math" panose="02040503050406030204" pitchFamily="18" charset="0"/>
                  </a:rPr>
                  <a:t>$z=-\frac94+i$</a:t>
                </a:r>
                <a:r>
                  <a:rPr sz="2400" b="0">
                    <a:solidFill>
                      <a:srgbClr val="111827"/>
                    </a:solidFill>
                    <a:latin typeface="Arial"/>
                  </a:rPr>
                  <a:t>, i.e. </a:t>
                </a:r>
                <a:r>
                  <a:rPr lang="en-IN" sz="2400">
                    <a:solidFill>
                      <a:srgbClr val="111827"/>
                    </a:solidFill>
                    <a:latin typeface="Cambria Math" panose="02040503050406030204" pitchFamily="18" charset="0"/>
                  </a:rPr>
                  <a:t>$\left(-\frac94,1\right)$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point lies in the second quadrant with </a:t>
                </a:r>
                <a:r>
                  <a:rPr lang="en-IN" sz="2400">
                    <a:solidFill>
                      <a:srgbClr val="111827"/>
                    </a:solidFill>
                    <a:latin typeface="Cambria Math" panose="02040503050406030204" pitchFamily="18" charset="0"/>
                  </a:rPr>
                  <a:t>$\text{Re}\,z=-\frac94$</a:t>
                </a:r>
                <a:r>
                  <a:rPr sz="2400" b="0">
                    <a:solidFill>
                      <a:srgbClr val="111827"/>
                    </a:solidFill>
                    <a:latin typeface="Arial"/>
                  </a:rPr>
                  <a:t> and </a:t>
                </a:r>
                <a:r>
                  <a:rPr lang="en-IN" sz="2400">
                    <a:solidFill>
                      <a:srgbClr val="111827"/>
                    </a:solidFill>
                    <a:latin typeface="Cambria Math" panose="02040503050406030204" pitchFamily="18" charset="0"/>
                  </a:rPr>
                  <a:t>$\text{Im}\,z=1$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reference angle is </a:t>
                </a: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which is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reference angle is </a:t>
                </a:r>
                <a:r>
                  <a:rPr lang="en-IN" sz="2400">
                    <a:solidFill>
                      <a:srgbClr val="111827"/>
                    </a:solidFill>
                    <a:latin typeface="Cambria Math" panose="02040503050406030204" pitchFamily="18" charset="0"/>
                  </a:rPr>
                  <a:t>$\tan^{-1}\frac{1}{9/4}=\tan^{-1}\frac49$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 z=\pi-\tan^{-1}\frac49$</a:t>
                </a:r>
                <a:r>
                  <a:rPr sz="2400" b="0">
                    <a:solidFill>
                      <a:srgbClr val="111827"/>
                    </a:solidFill>
                    <a:latin typeface="Arial"/>
                  </a:rPr>
                  <a:t>, which is option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r>
                      <a:rPr lang="en-IN" sz="2800" i="1">
                        <a:solidFill>
                          <a:srgbClr val="15803D"/>
                        </a:solidFill>
                        <a:latin typeface="Cambria Math" panose="02040503050406030204" pitchFamily="18" charset="0"/>
                      </a:rPr>
                      <m:t>π</m:t>
                    </m:r>
                    <m:r>
                      <m:rPr>
                        <m:sty m:val="p"/>
                      </m:rPr>
                      <a:rPr lang="en-IN" sz="2800">
                        <a:solidFill>
                          <a:srgbClr val="15803D"/>
                        </a:solidFill>
                        <a:latin typeface="Cambria Math" panose="02040503050406030204" pitchFamily="18" charset="0"/>
                      </a:rPr>
                      <m:t>−</m:t>
                    </m:r>
                    <m:sSup>
                      <m:e>
                        <m:r>
                          <m:rPr>
                            <m:sty m:val="p"/>
                          </m:rPr>
                          <a:rPr lang="en-IN" sz="2800">
                            <a:solidFill>
                              <a:srgbClr val="15803D"/>
                            </a:solidFill>
                            <a:latin typeface="Cambria Math" panose="02040503050406030204" pitchFamily="18" charset="0"/>
                          </a:rPr>
                          <m:t>tan</m:t>
                        </m:r>
                      </m:e>
                      <m: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sup>
                    </m:sSup>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4</m:t>
                        </m:r>
                      </m:num>
                      <m:den>
                        <m:r>
                          <a:rPr lang="en-IN" sz="2800" i="1">
                            <a:solidFill>
                              <a:srgbClr val="15803D"/>
                            </a:solidFill>
                            <a:latin typeface="Cambria Math" panose="02040503050406030204" pitchFamily="18" charset="0"/>
                          </a:rPr>
                          <m:t>9</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$\pi-\tan^{-1}\frac49$</a:t>
                </a:r>
                <a:endParaRPr sz="2800">
                  <a:solidFill>
                    <a:srgbClr val="15803D"/>
                  </a:solidFill>
                </a:endParaRPr>
              </a:p>
            </p:txBody>
          </p:sp>
        </mc:Fallback>
      </mc:AlternateContent>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Read the argument from a right triangle with vertices </a:t>
                </a:r>
                <a14:m>
                  <m:oMath xmlns:m="http://schemas.openxmlformats.org/officeDocument/2006/math">
                    <m:r>
                      <a:rPr lang="en-IN" sz="2400" i="1">
                        <a:solidFill>
                          <a:srgbClr val="78350F"/>
                        </a:solidFill>
                        <a:latin typeface="Cambria Math" panose="02040503050406030204" pitchFamily="18" charset="0"/>
                      </a:rPr>
                      <m:t>𝑂</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𝑖</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instead of using the reference angle at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Read the argument from a right triangle with vertices </a:t>
                </a:r>
                <a:r>
                  <a:rPr lang="en-IN" sz="2400">
                    <a:solidFill>
                      <a:srgbClr val="78350F"/>
                    </a:solidFill>
                    <a:latin typeface="Cambria Math" panose="02040503050406030204" pitchFamily="18" charset="0"/>
                  </a:rPr>
                  <a:t>$O$</a:t>
                </a:r>
                <a:r>
                  <a:rPr sz="2400" b="0">
                    <a:solidFill>
                      <a:srgbClr val="78350F"/>
                    </a:solidFill>
                    <a:latin typeface="Arial"/>
                  </a:rPr>
                  <a:t>, </a:t>
                </a:r>
                <a:r>
                  <a:rPr lang="en-IN" sz="2400">
                    <a:solidFill>
                      <a:srgbClr val="78350F"/>
                    </a:solidFill>
                    <a:latin typeface="Cambria Math" panose="02040503050406030204" pitchFamily="18" charset="0"/>
                  </a:rPr>
                  <a:t>$i$</a:t>
                </a:r>
                <a:r>
                  <a:rPr sz="2400" b="0">
                    <a:solidFill>
                      <a:srgbClr val="78350F"/>
                    </a:solidFill>
                    <a:latin typeface="Arial"/>
                  </a:rPr>
                  <a:t> and </a:t>
                </a:r>
                <a:r>
                  <a:rPr lang="en-IN" sz="2400">
                    <a:solidFill>
                      <a:srgbClr val="78350F"/>
                    </a:solidFill>
                    <a:latin typeface="Cambria Math" panose="02040503050406030204" pitchFamily="18" charset="0"/>
                  </a:rPr>
                  <a:t>$z$</a:t>
                </a:r>
                <a:r>
                  <a:rPr sz="2400" b="0">
                    <a:solidFill>
                      <a:srgbClr val="78350F"/>
                    </a:solidFill>
                    <a:latin typeface="Arial"/>
                  </a:rPr>
                  <a:t>, instead of using the reference angle at </a:t>
                </a:r>
                <a:r>
                  <a:rPr lang="en-IN" sz="2400">
                    <a:solidFill>
                      <a:srgbClr val="78350F"/>
                    </a:solidFill>
                    <a:latin typeface="Cambria Math" panose="02040503050406030204" pitchFamily="18" charset="0"/>
                  </a:rPr>
                  <a:t>$z$</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maximum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is purely real and negative.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segment from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horizontal, perpendicular to the imaginary axis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𝑖</m:t>
                    </m:r>
                  </m:oMath>
                </a14:m>
                <a:r>
                  <a:rPr sz="2400" b="0">
                    <a:solidFill>
                      <a:srgbClr val="111827"/>
                    </a:solidFill>
                    <a:latin typeface="Arial"/>
                  </a:rPr>
                  <a:t> (length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triangle </a:t>
                </a:r>
                <a14:m>
                  <m:oMath xmlns:m="http://schemas.openxmlformats.org/officeDocument/2006/math">
                    <m:r>
                      <a:rPr lang="en-IN" sz="2400" i="1">
                        <a:solidFill>
                          <a:srgbClr val="111827"/>
                        </a:solidFill>
                        <a:latin typeface="Cambria Math" panose="02040503050406030204" pitchFamily="18" charset="0"/>
                      </a:rPr>
                      <m:t>𝑂</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oMath>
                </a14:m>
                <a:r>
                  <a:rPr sz="2400" b="0">
                    <a:solidFill>
                      <a:srgbClr val="111827"/>
                    </a:solidFill>
                    <a:latin typeface="Arial"/>
                  </a:rPr>
                  <a:t> has a right angle at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legs are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the angle at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between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𝑧</m:t>
                    </m:r>
                  </m:oMath>
                </a14:m>
                <a:r>
                  <a:rPr sz="2400" b="0">
                    <a:solidFill>
                      <a:srgbClr val="111827"/>
                    </a:solidFill>
                    <a:latin typeface="Arial"/>
                  </a:rPr>
                  <a:t> is </a:t>
                </a: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maximum of </a:t>
                </a:r>
                <a:r>
                  <a:rPr lang="en-IN" sz="2400">
                    <a:solidFill>
                      <a:srgbClr val="111827"/>
                    </a:solidFill>
                    <a:latin typeface="Cambria Math" panose="02040503050406030204" pitchFamily="18" charset="0"/>
                  </a:rPr>
                  <a:t>$|z-i|$</a:t>
                </a:r>
                <a:r>
                  <a:rPr sz="2400" b="0">
                    <a:solidFill>
                      <a:srgbClr val="111827"/>
                    </a:solidFill>
                    <a:latin typeface="Arial"/>
                  </a:rPr>
                  <a:t> is at </a:t>
                </a:r>
                <a:r>
                  <a:rPr lang="en-IN" sz="2400">
                    <a:solidFill>
                      <a:srgbClr val="111827"/>
                    </a:solidFill>
                    <a:latin typeface="Cambria Math" panose="02040503050406030204" pitchFamily="18" charset="0"/>
                  </a:rPr>
                  <a:t>$z=-\frac94+i$</a:t>
                </a:r>
                <a:r>
                  <a:rPr sz="2400" b="0">
                    <a:solidFill>
                      <a:srgbClr val="111827"/>
                    </a:solidFill>
                    <a:latin typeface="Arial"/>
                  </a:rPr>
                  <a:t>, so </a:t>
                </a:r>
                <a:r>
                  <a:rPr lang="en-IN" sz="2400">
                    <a:solidFill>
                      <a:srgbClr val="111827"/>
                    </a:solidFill>
                    <a:latin typeface="Cambria Math" panose="02040503050406030204" pitchFamily="18" charset="0"/>
                  </a:rPr>
                  <a:t>$z-i=-\frac94$</a:t>
                </a:r>
                <a:r>
                  <a:rPr sz="2400" b="0">
                    <a:solidFill>
                      <a:srgbClr val="111827"/>
                    </a:solidFill>
                    <a:latin typeface="Arial"/>
                  </a:rPr>
                  <a:t> is purely real and negative.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segment from </a:t>
                </a:r>
                <a:r>
                  <a:rPr lang="en-IN" sz="2400">
                    <a:solidFill>
                      <a:srgbClr val="111827"/>
                    </a:solidFill>
                    <a:latin typeface="Cambria Math" panose="02040503050406030204" pitchFamily="18" charset="0"/>
                  </a:rPr>
                  <a:t>$i$</a:t>
                </a:r>
                <a:r>
                  <a:rPr sz="2400" b="0">
                    <a:solidFill>
                      <a:srgbClr val="111827"/>
                    </a:solidFill>
                    <a:latin typeface="Arial"/>
                  </a:rPr>
                  <a:t> to </a:t>
                </a:r>
                <a:r>
                  <a:rPr lang="en-IN" sz="2400">
                    <a:solidFill>
                      <a:srgbClr val="111827"/>
                    </a:solidFill>
                    <a:latin typeface="Cambria Math" panose="02040503050406030204" pitchFamily="18" charset="0"/>
                  </a:rPr>
                  <a:t>$z$</a:t>
                </a:r>
                <a:r>
                  <a:rPr sz="2400" b="0">
                    <a:solidFill>
                      <a:srgbClr val="111827"/>
                    </a:solidFill>
                    <a:latin typeface="Arial"/>
                  </a:rPr>
                  <a:t> is horizontal, perpendicular to the imaginary axis </a:t>
                </a:r>
                <a:r>
                  <a:rPr lang="en-IN" sz="2400">
                    <a:solidFill>
                      <a:srgbClr val="111827"/>
                    </a:solidFill>
                    <a:latin typeface="Cambria Math" panose="02040503050406030204" pitchFamily="18" charset="0"/>
                  </a:rPr>
                  <a:t>$Oi$</a:t>
                </a:r>
                <a:r>
                  <a:rPr sz="2400" b="0">
                    <a:solidFill>
                      <a:srgbClr val="111827"/>
                    </a:solidFill>
                    <a:latin typeface="Arial"/>
                  </a:rPr>
                  <a:t> (length </a:t>
                </a:r>
                <a:r>
                  <a:rPr lang="en-IN" sz="2400">
                    <a:solidFill>
                      <a:srgbClr val="111827"/>
                    </a:solidFill>
                    <a:latin typeface="Cambria Math" panose="02040503050406030204" pitchFamily="18" charset="0"/>
                  </a:rPr>
                  <a:t>$1$</a:t>
                </a:r>
                <a:r>
                  <a:rPr sz="2400" b="0">
                    <a:solidFill>
                      <a:srgbClr val="111827"/>
                    </a:solidFill>
                    <a:latin typeface="Arial"/>
                  </a:rPr>
                  <a:t>): triangle </a:t>
                </a:r>
                <a:r>
                  <a:rPr lang="en-IN" sz="2400">
                    <a:solidFill>
                      <a:srgbClr val="111827"/>
                    </a:solidFill>
                    <a:latin typeface="Cambria Math" panose="02040503050406030204" pitchFamily="18" charset="0"/>
                  </a:rPr>
                  <a:t>$O,\,i,\,z$</a:t>
                </a:r>
                <a:r>
                  <a:rPr sz="2400" b="0">
                    <a:solidFill>
                      <a:srgbClr val="111827"/>
                    </a:solidFill>
                    <a:latin typeface="Arial"/>
                  </a:rPr>
                  <a:t> has a right angle at </a:t>
                </a:r>
                <a:r>
                  <a:rPr lang="en-IN" sz="2400">
                    <a:solidFill>
                      <a:srgbClr val="111827"/>
                    </a:solidFill>
                    <a:latin typeface="Cambria Math" panose="02040503050406030204" pitchFamily="18" charset="0"/>
                  </a:rPr>
                  <a:t>$i$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Its legs are </a:t>
                </a:r>
                <a:r>
                  <a:rPr lang="en-IN" sz="2400">
                    <a:solidFill>
                      <a:srgbClr val="111827"/>
                    </a:solidFill>
                    <a:latin typeface="Cambria Math" panose="02040503050406030204" pitchFamily="18" charset="0"/>
                  </a:rPr>
                  <a:t>$Oi=1$</a:t>
                </a:r>
                <a:r>
                  <a:rPr sz="2400" b="0">
                    <a:solidFill>
                      <a:srgbClr val="111827"/>
                    </a:solidFill>
                    <a:latin typeface="Arial"/>
                  </a:rPr>
                  <a:t> and </a:t>
                </a:r>
                <a:r>
                  <a:rPr lang="en-IN" sz="2400">
                    <a:solidFill>
                      <a:srgbClr val="111827"/>
                    </a:solidFill>
                    <a:latin typeface="Cambria Math" panose="02040503050406030204" pitchFamily="18" charset="0"/>
                  </a:rPr>
                  <a:t>$iz=\frac94$</a:t>
                </a:r>
                <a:r>
                  <a:rPr sz="2400" b="0">
                    <a:solidFill>
                      <a:srgbClr val="111827"/>
                    </a:solidFill>
                    <a:latin typeface="Arial"/>
                  </a:rPr>
                  <a:t>, so the angle at </a:t>
                </a:r>
                <a:r>
                  <a:rPr lang="en-IN" sz="2400">
                    <a:solidFill>
                      <a:srgbClr val="111827"/>
                    </a:solidFill>
                    <a:latin typeface="Cambria Math" panose="02040503050406030204" pitchFamily="18" charset="0"/>
                  </a:rPr>
                  <a:t>$O$</a:t>
                </a:r>
                <a:r>
                  <a:rPr sz="2400" b="0">
                    <a:solidFill>
                      <a:srgbClr val="111827"/>
                    </a:solidFill>
                    <a:latin typeface="Arial"/>
                  </a:rPr>
                  <a:t> between </a:t>
                </a:r>
                <a:r>
                  <a:rPr lang="en-IN" sz="2400">
                    <a:solidFill>
                      <a:srgbClr val="111827"/>
                    </a:solidFill>
                    <a:latin typeface="Cambria Math" panose="02040503050406030204" pitchFamily="18" charset="0"/>
                  </a:rPr>
                  <a:t>$Oi$</a:t>
                </a:r>
                <a:r>
                  <a:rPr sz="2400" b="0">
                    <a:solidFill>
                      <a:srgbClr val="111827"/>
                    </a:solidFill>
                    <a:latin typeface="Arial"/>
                  </a:rPr>
                  <a:t> and </a:t>
                </a:r>
                <a:r>
                  <a:rPr lang="en-IN" sz="2400">
                    <a:solidFill>
                      <a:srgbClr val="111827"/>
                    </a:solidFill>
                    <a:latin typeface="Cambria Math" panose="02040503050406030204" pitchFamily="18" charset="0"/>
                  </a:rPr>
                  <a:t>$Oz$</a:t>
                </a:r>
                <a:r>
                  <a:rPr sz="2400" b="0">
                    <a:solidFill>
                      <a:srgbClr val="111827"/>
                    </a:solidFill>
                    <a:latin typeface="Arial"/>
                  </a:rPr>
                  <a:t> is </a:t>
                </a:r>
                <a:r>
                  <a:rPr lang="en-IN" sz="2400">
                    <a:solidFill>
                      <a:srgbClr val="111827"/>
                    </a:solidFill>
                    <a:latin typeface="Cambria Math" panose="02040503050406030204" pitchFamily="18" charset="0"/>
                  </a:rPr>
                  <a:t>$\tan^{-1}\frac94$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lies to the left of the imaginary axis, so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(since </a:t>
                </a: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𝑡</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option (A).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also shows why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(option B) is wrong: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is a length, not the ratio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nor/>
                          </m:rPr>
                          <a:rPr lang="en-IN" sz="2400" i="1">
                            <a:solidFill>
                              <a:srgbClr val="111827"/>
                            </a:solidFill>
                            <a:latin typeface="Cambria Math" panose="02040503050406030204" pitchFamily="18" charset="0"/>
                          </a:rPr>
                          <m:t>𝐼𝑚</m:t>
                        </m:r>
                      </m:num>
                      <m:den>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𝑅𝑒</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 </a:t>
                </a:r>
                <a:r>
                  <a:rPr lang="en-IN" sz="2400">
                    <a:solidFill>
                      <a:srgbClr val="111827"/>
                    </a:solidFill>
                    <a:latin typeface="Cambria Math" panose="02040503050406030204" pitchFamily="18" charset="0"/>
                  </a:rPr>
                  <a:t>$z$</a:t>
                </a:r>
                <a:r>
                  <a:rPr sz="2400" b="0">
                    <a:solidFill>
                      <a:srgbClr val="111827"/>
                    </a:solidFill>
                    <a:latin typeface="Arial"/>
                  </a:rPr>
                  <a:t> lies to the left of the imaginary axis, so </a:t>
                </a:r>
                <a:r>
                  <a:rPr lang="en-IN" sz="2400">
                    <a:solidFill>
                      <a:srgbClr val="111827"/>
                    </a:solidFill>
                    <a:latin typeface="Cambria Math" panose="02040503050406030204" pitchFamily="18" charset="0"/>
                  </a:rPr>
                  <a:t>$\arg z=\frac\pi2+\tan^{-1}\frac94$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$\tan^{-1}\frac94=\frac\pi2-\tan^{-1}\frac49$</a:t>
                </a:r>
                <a:r>
                  <a:rPr sz="2400" b="0">
                    <a:solidFill>
                      <a:srgbClr val="111827"/>
                    </a:solidFill>
                    <a:latin typeface="Arial"/>
                  </a:rPr>
                  <a:t> (since </a:t>
                </a:r>
                <a:r>
                  <a:rPr lang="en-IN" sz="2400">
                    <a:solidFill>
                      <a:srgbClr val="111827"/>
                    </a:solidFill>
                    <a:latin typeface="Cambria Math" panose="02040503050406030204" pitchFamily="18" charset="0"/>
                  </a:rPr>
                  <a:t>$\tan^{-1}t+\tan^{-1}\frac1t=\frac\pi2$</a:t>
                </a:r>
                <a:r>
                  <a:rPr sz="2400" b="0">
                    <a:solidFill>
                      <a:srgbClr val="111827"/>
                    </a:solidFill>
                    <a:latin typeface="Arial"/>
                  </a:rPr>
                  <a:t> for </a:t>
                </a:r>
                <a:r>
                  <a:rPr lang="en-IN" sz="2400">
                    <a:solidFill>
                      <a:srgbClr val="111827"/>
                    </a:solidFill>
                    <a:latin typeface="Cambria Math" panose="02040503050406030204" pitchFamily="18" charset="0"/>
                  </a:rPr>
                  <a:t>$t&gt;0$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$\arg z=\pi-\tan^{-1}\frac49$</a:t>
                </a:r>
                <a:r>
                  <a:rPr sz="2400" b="0">
                    <a:solidFill>
                      <a:srgbClr val="111827"/>
                    </a:solidFill>
                    <a:latin typeface="Arial"/>
                  </a:rPr>
                  <a:t>, option (A).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also shows why </a:t>
                </a:r>
                <a:r>
                  <a:rPr lang="en-IN" sz="2400">
                    <a:solidFill>
                      <a:srgbClr val="111827"/>
                    </a:solidFill>
                    <a:latin typeface="Cambria Math" panose="02040503050406030204" pitchFamily="18" charset="0"/>
                  </a:rPr>
                  <a:t>$\pi-\tan^{-1}\frac94$</a:t>
                </a:r>
                <a:r>
                  <a:rPr sz="2400" b="0">
                    <a:solidFill>
                      <a:srgbClr val="111827"/>
                    </a:solidFill>
                    <a:latin typeface="Arial"/>
                  </a:rPr>
                  <a:t> (option B) is wrong: </a:t>
                </a:r>
                <a:r>
                  <a:rPr lang="en-IN" sz="2400">
                    <a:solidFill>
                      <a:srgbClr val="111827"/>
                    </a:solidFill>
                    <a:latin typeface="Cambria Math" panose="02040503050406030204" pitchFamily="18" charset="0"/>
                  </a:rPr>
                  <a:t>$\frac94$</a:t>
                </a:r>
                <a:r>
                  <a:rPr sz="2400" b="0">
                    <a:solidFill>
                      <a:srgbClr val="111827"/>
                    </a:solidFill>
                    <a:latin typeface="Arial"/>
                  </a:rPr>
                  <a:t> is a length, not the ratio </a:t>
                </a:r>
                <a:r>
                  <a:rPr lang="en-IN" sz="2400">
                    <a:solidFill>
                      <a:srgbClr val="111827"/>
                    </a:solidFill>
                    <a:latin typeface="Cambria Math" panose="02040503050406030204" pitchFamily="18" charset="0"/>
                  </a:rPr>
                  <a:t>$\frac{\text{Im}}{|\text{Re}|}$</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r>
                      <a:rPr lang="en-IN" sz="2800" i="1">
                        <a:solidFill>
                          <a:srgbClr val="15803D"/>
                        </a:solidFill>
                        <a:latin typeface="Cambria Math" panose="02040503050406030204" pitchFamily="18" charset="0"/>
                      </a:rPr>
                      <m:t>π</m:t>
                    </m:r>
                    <m:r>
                      <m:rPr>
                        <m:sty m:val="p"/>
                      </m:rPr>
                      <a:rPr lang="en-IN" sz="2800">
                        <a:solidFill>
                          <a:srgbClr val="15803D"/>
                        </a:solidFill>
                        <a:latin typeface="Cambria Math" panose="02040503050406030204" pitchFamily="18" charset="0"/>
                      </a:rPr>
                      <m:t>−</m:t>
                    </m:r>
                    <m:sSup>
                      <m:e>
                        <m:r>
                          <m:rPr>
                            <m:sty m:val="p"/>
                          </m:rPr>
                          <a:rPr lang="en-IN" sz="2800">
                            <a:solidFill>
                              <a:srgbClr val="15803D"/>
                            </a:solidFill>
                            <a:latin typeface="Cambria Math" panose="02040503050406030204" pitchFamily="18" charset="0"/>
                          </a:rPr>
                          <m:t>tan</m:t>
                        </m:r>
                      </m:e>
                      <m:sup>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sup>
                    </m:sSup>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4</m:t>
                        </m:r>
                      </m:num>
                      <m:den>
                        <m:r>
                          <a:rPr lang="en-IN" sz="2800" i="1">
                            <a:solidFill>
                              <a:srgbClr val="15803D"/>
                            </a:solidFill>
                            <a:latin typeface="Cambria Math" panose="02040503050406030204" pitchFamily="18" charset="0"/>
                          </a:rPr>
                          <m:t>9</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$\pi-\tan^{-1}\frac49$</a:t>
                </a:r>
                <a:endParaRPr sz="2800">
                  <a:solidFill>
                    <a:srgbClr val="15803D"/>
                  </a:solidFill>
                </a:endParaRPr>
              </a:p>
            </p:txBody>
          </p:sp>
        </mc:Fallback>
      </mc:AlternateContent>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𝑖</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oMath>
                </a14:m>
                <a:r>
                  <a:rPr sz="2400" b="0">
                    <a:solidFill>
                      <a:srgbClr val="111827"/>
                    </a:solidFill>
                    <a:latin typeface="Arial"/>
                  </a:rPr>
                  <a:t> (ratio imaginary part over modulus of real part);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 not use the distance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as a slope: slope of the radius to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2.7234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$z=-a+bi$</a:t>
                </a:r>
                <a:r>
                  <a:rPr sz="2400" b="0">
                    <a:solidFill>
                      <a:srgbClr val="111827"/>
                    </a:solidFill>
                    <a:latin typeface="Arial"/>
                  </a:rPr>
                  <a:t> with </a:t>
                </a:r>
                <a:r>
                  <a:rPr lang="en-IN" sz="2400">
                    <a:solidFill>
                      <a:srgbClr val="111827"/>
                    </a:solidFill>
                    <a:latin typeface="Cambria Math" panose="02040503050406030204" pitchFamily="18" charset="0"/>
                  </a:rPr>
                  <a:t>$a,b&gt;0$</a:t>
                </a:r>
                <a:r>
                  <a:rPr sz="2400" b="0">
                    <a:solidFill>
                      <a:srgbClr val="111827"/>
                    </a:solidFill>
                    <a:latin typeface="Arial"/>
                  </a:rPr>
                  <a:t>: </a:t>
                </a:r>
                <a:r>
                  <a:rPr lang="en-IN" sz="2400">
                    <a:solidFill>
                      <a:srgbClr val="111827"/>
                    </a:solidFill>
                    <a:latin typeface="Cambria Math" panose="02040503050406030204" pitchFamily="18" charset="0"/>
                  </a:rPr>
                  <a:t>$\arg z=\pi-\tan^{-1}\frac ba$</a:t>
                </a:r>
                <a:r>
                  <a:rPr sz="2400" b="0">
                    <a:solidFill>
                      <a:srgbClr val="111827"/>
                    </a:solidFill>
                    <a:latin typeface="Arial"/>
                  </a:rPr>
                  <a:t> (ratio imaginary part over modulus of real part); here </a:t>
                </a:r>
                <a:r>
                  <a:rPr lang="en-IN" sz="2400">
                    <a:solidFill>
                      <a:srgbClr val="111827"/>
                    </a:solidFill>
                    <a:latin typeface="Cambria Math" panose="02040503050406030204" pitchFamily="18" charset="0"/>
                  </a:rPr>
                  <a:t>$\frac ba=\frac49$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Do not use the distance </a:t>
                </a:r>
                <a:r>
                  <a:rPr lang="en-IN" sz="2400">
                    <a:solidFill>
                      <a:srgbClr val="111827"/>
                    </a:solidFill>
                    <a:latin typeface="Cambria Math" panose="02040503050406030204" pitchFamily="18" charset="0"/>
                  </a:rPr>
                  <a:t>$\frac94$</a:t>
                </a:r>
                <a:r>
                  <a:rPr sz="2400" b="0">
                    <a:solidFill>
                      <a:srgbClr val="111827"/>
                    </a:solidFill>
                    <a:latin typeface="Arial"/>
                  </a:rPr>
                  <a:t> as a slope: slope of the radius to </a:t>
                </a:r>
                <a:r>
                  <a:rPr lang="en-IN" sz="2400">
                    <a:solidFill>
                      <a:srgbClr val="111827"/>
                    </a:solidFill>
                    <a:latin typeface="Cambria Math" panose="02040503050406030204" pitchFamily="18" charset="0"/>
                  </a:rPr>
                  <a:t>$-\frac94+i$</a:t>
                </a:r>
                <a:r>
                  <a:rPr sz="2400" b="0">
                    <a:solidFill>
                      <a:srgbClr val="111827"/>
                    </a:solidFill>
                    <a:latin typeface="Arial"/>
                  </a:rPr>
                  <a:t> is </a:t>
                </a:r>
                <a:r>
                  <a:rPr lang="en-IN" sz="2400">
                    <a:solidFill>
                      <a:srgbClr val="111827"/>
                    </a:solidFill>
                    <a:latin typeface="Cambria Math" panose="02040503050406030204" pitchFamily="18" charset="0"/>
                  </a:rPr>
                  <a:t>$\frac{1}{-9/4}=-\frac49$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a:t>
                </a:r>
                <a:r>
                  <a:rPr lang="en-IN" sz="2400">
                    <a:solidFill>
                      <a:srgbClr val="111827"/>
                    </a:solidFill>
                    <a:latin typeface="Cambria Math" panose="02040503050406030204" pitchFamily="18" charset="0"/>
                  </a:rPr>
                  <a:t>$\arg(-2.25+i)=2.7234=\pi-\tan^{-1}\frac49$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25779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In an objective paper, there are two sections of 10 questions each. For section 1, each question has 5 options and only one option is correct, and section 2 has 4 options with multiple answers and marks for a question in this section are awarded only if all correct answers are ticked. Marks for each question in section 1 is 1 and in section 2 is 3. (There is no negative marking.)</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If a candidate in total attempts 4 questions all by guessing, then the probability of scoring 10 marks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15</m:t>
                        </m:r>
                      </m:den>
                    </m:f>
                    <m:sSup>
                      <m:e>
                        <m:d>
                          <m:dPr>
                            <m:begChr m:val="("/>
                            <m:sepChr m:val=""/>
                            <m:endChr m:val=")"/>
                            <m:grow/>
                            <m:ctrlPr>
                              <a:rPr lang="en-IN" sz="2200" i="1">
                                <a:solidFill>
                                  <a:srgbClr val="111827"/>
                                </a:solidFill>
                                <a:latin typeface="Cambria Math" panose="02040503050406030204" pitchFamily="18" charset="0"/>
                              </a:rPr>
                            </m:ctrlPr>
                          </m:dPr>
                          <m:e>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15</m:t>
                                </m:r>
                              </m:den>
                            </m:f>
                          </m:e>
                        </m:d>
                      </m:e>
                      <m:sup>
                        <m:r>
                          <a:rPr lang="en-IN" sz="2200" i="1">
                            <a:solidFill>
                              <a:srgbClr val="111827"/>
                            </a:solidFill>
                            <a:latin typeface="Cambria Math" panose="02040503050406030204" pitchFamily="18" charset="0"/>
                          </a:rPr>
                          <m:t>3</m:t>
                        </m:r>
                      </m:sup>
                    </m:sSup>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(B)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4</m:t>
                        </m:r>
                      </m:num>
                      <m:den>
                        <m:r>
                          <a:rPr lang="en-IN" sz="2200" i="1">
                            <a:solidFill>
                              <a:srgbClr val="111827"/>
                            </a:solidFill>
                            <a:latin typeface="Cambria Math" panose="02040503050406030204" pitchFamily="18" charset="0"/>
                          </a:rPr>
                          <m:t>5</m:t>
                        </m:r>
                      </m:den>
                    </m:f>
                    <m:sSup>
                      <m:e>
                        <m:d>
                          <m:dPr>
                            <m:begChr m:val="("/>
                            <m:sepChr m:val=""/>
                            <m:endChr m:val=")"/>
                            <m:grow/>
                            <m:ctrlPr>
                              <a:rPr lang="en-IN" sz="2200" i="1">
                                <a:solidFill>
                                  <a:srgbClr val="111827"/>
                                </a:solidFill>
                                <a:latin typeface="Cambria Math" panose="02040503050406030204" pitchFamily="18" charset="0"/>
                              </a:rPr>
                            </m:ctrlPr>
                          </m:dPr>
                          <m:e>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15</m:t>
                                </m:r>
                              </m:den>
                            </m:f>
                          </m:e>
                        </m:d>
                      </m:e>
                      <m:sup>
                        <m:r>
                          <a:rPr lang="en-IN" sz="2200" i="1">
                            <a:solidFill>
                              <a:srgbClr val="111827"/>
                            </a:solidFill>
                            <a:latin typeface="Cambria Math" panose="02040503050406030204" pitchFamily="18" charset="0"/>
                          </a:rPr>
                          <m:t>3</m:t>
                        </m:r>
                      </m:sup>
                    </m:sSup>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(C) </a:t>
                </a:r>
                <a14:m>
                  <m:oMath xmlns:m="http://schemas.openxmlformats.org/officeDocument/2006/math">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m:t>
                        </m:r>
                      </m:num>
                      <m:den>
                        <m:r>
                          <a:rPr lang="en-IN" sz="2200" i="1">
                            <a:solidFill>
                              <a:srgbClr val="111827"/>
                            </a:solidFill>
                            <a:latin typeface="Cambria Math" panose="02040503050406030204" pitchFamily="18" charset="0"/>
                          </a:rPr>
                          <m:t>5</m:t>
                        </m:r>
                      </m:den>
                    </m:f>
                    <m:sSup>
                      <m:e>
                        <m:d>
                          <m:dPr>
                            <m:begChr m:val="("/>
                            <m:sepChr m:val=""/>
                            <m:endChr m:val=")"/>
                            <m:grow/>
                            <m:ctrlPr>
                              <a:rPr lang="en-IN" sz="2200" i="1">
                                <a:solidFill>
                                  <a:srgbClr val="111827"/>
                                </a:solidFill>
                                <a:latin typeface="Cambria Math" panose="02040503050406030204" pitchFamily="18" charset="0"/>
                              </a:rPr>
                            </m:ctrlPr>
                          </m:dPr>
                          <m:e>
                            <m:f>
                              <m:fPr>
                                <m:type m:val="bar"/>
                                <m:ctrlPr>
                                  <a:rPr lang="en-IN" sz="2200" i="1">
                                    <a:solidFill>
                                      <a:srgbClr val="111827"/>
                                    </a:solidFill>
                                    <a:latin typeface="Cambria Math" panose="02040503050406030204" pitchFamily="18" charset="0"/>
                                  </a:rPr>
                                </m:ctrlPr>
                              </m:fPr>
                              <m:num>
                                <m:r>
                                  <a:rPr lang="en-IN" sz="2200" i="1">
                                    <a:solidFill>
                                      <a:srgbClr val="111827"/>
                                    </a:solidFill>
                                    <a:latin typeface="Cambria Math" panose="02040503050406030204" pitchFamily="18" charset="0"/>
                                  </a:rPr>
                                  <m:t>14</m:t>
                                </m:r>
                              </m:num>
                              <m:den>
                                <m:r>
                                  <a:rPr lang="en-IN" sz="2200" i="1">
                                    <a:solidFill>
                                      <a:srgbClr val="111827"/>
                                    </a:solidFill>
                                    <a:latin typeface="Cambria Math" panose="02040503050406030204" pitchFamily="18" charset="0"/>
                                  </a:rPr>
                                  <m:t>15</m:t>
                                </m:r>
                              </m:den>
                            </m:f>
                          </m:e>
                        </m:d>
                      </m:e>
                      <m:sup>
                        <m:r>
                          <a:rPr lang="en-IN" sz="2200" i="1">
                            <a:solidFill>
                              <a:srgbClr val="111827"/>
                            </a:solidFill>
                            <a:latin typeface="Cambria Math" panose="02040503050406030204" pitchFamily="18" charset="0"/>
                          </a:rPr>
                          <m:t>3</m:t>
                        </m:r>
                      </m:sup>
                    </m:sSup>
                  </m:oMath>
                </a14:m>
                <a:endParaRPr sz="2200">
                  <a:solidFill>
                    <a:srgbClr val="111827"/>
                  </a:solidFill>
                </a:endParaRPr>
              </a:p>
              <a:p>
                <a:pPr algn="l">
                  <a:spcAft>
                    <a:spcPts val="500"/>
                  </a:spcAft>
                  <a:defRPr sz="2200">
                    <a:solidFill>
                      <a:srgbClr val="111827"/>
                    </a:solidFill>
                  </a:defRPr>
                </a:pPr>
                <a:r>
                  <a:rPr sz="2200" b="0">
                    <a:solidFill>
                      <a:srgbClr val="111827"/>
                    </a:solidFill>
                    <a:latin typeface="Arial"/>
                  </a:rPr>
                  <a:t>(D) None of these</a:t>
                </a:r>
                <a:endParaRPr sz="2200">
                  <a:solidFill>
                    <a:srgbClr val="111827"/>
                  </a:solidFill>
                </a:endParaRPr>
              </a:p>
            </p:txBody>
          </p:sp>
        </mc:Choice>
        <mc:Fallback>
          <p:sp>
            <p:nvSpPr>
              <p:cNvPr id="4" name="Rounded Rectangle 3"/>
              <p:cNvSpPr/>
              <p:nvPr/>
            </p:nvSpPr>
            <p:spPr>
              <a:xfrm>
                <a:off x="731520" y="1280160"/>
                <a:ext cx="10725912" cy="525779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200">
                    <a:solidFill>
                      <a:srgbClr val="111827"/>
                    </a:solidFill>
                  </a:defRPr>
                </a:lvl1pPr>
              </a:lstStyle>
              <a:p>
                <a:pPr algn="l">
                  <a:spcAft>
                    <a:spcPts val="500"/>
                  </a:spcAft>
                  <a:defRPr sz="2200">
                    <a:solidFill>
                      <a:srgbClr val="111827"/>
                    </a:solidFill>
                  </a:defRPr>
                </a:pPr>
                <a:r>
                  <a:rPr sz="2200" b="0">
                    <a:solidFill>
                      <a:srgbClr val="111827"/>
                    </a:solidFill>
                    <a:latin typeface="Arial"/>
                  </a:rPr>
                  <a:t>In an objective paper, there are two sections of 10 questions each. For section 1, each question has 5 options and only one option is correct, and section 2 has 4 options with multiple answers and marks for a question in this section are awarded only if all correct answers are ticked. Marks for each question in section 1 is 1 and in section 2 is 3. (There is no negative marking.)</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If a candidate in total attempts 4 questions all by guessing, then the probability of scoring 10 marks is:</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(A) </a:t>
                </a:r>
                <a:r>
                  <a:rPr lang="en-IN" sz="2200">
                    <a:solidFill>
                      <a:srgbClr val="111827"/>
                    </a:solidFill>
                    <a:latin typeface="Cambria Math" panose="02040503050406030204" pitchFamily="18" charset="0"/>
                  </a:rPr>
                  <a:t>$\frac{1}{15}\left(\frac{1}{15}\right)^3$</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(B) </a:t>
                </a:r>
                <a:r>
                  <a:rPr lang="en-IN" sz="2200">
                    <a:solidFill>
                      <a:srgbClr val="111827"/>
                    </a:solidFill>
                    <a:latin typeface="Cambria Math" panose="02040503050406030204" pitchFamily="18" charset="0"/>
                  </a:rPr>
                  <a:t>$\frac{4}{5}\left(\frac{1}{15}\right)^3$</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(C) </a:t>
                </a:r>
                <a:r>
                  <a:rPr lang="en-IN" sz="2200">
                    <a:solidFill>
                      <a:srgbClr val="111827"/>
                    </a:solidFill>
                    <a:latin typeface="Cambria Math" panose="02040503050406030204" pitchFamily="18" charset="0"/>
                  </a:rPr>
                  <a:t>$\frac{1}{5}\left(\frac{14}{15}\right)^3$</a:t>
                </a:r>
                <a:endParaRPr sz="2200">
                  <a:solidFill>
                    <a:srgbClr val="111827"/>
                  </a:solidFill>
                </a:endParaRPr>
              </a:p>
              <a:p>
                <a:pPr algn="l">
                  <a:spcAft>
                    <a:spcPts val="500"/>
                  </a:spcAft>
                  <a:defRPr sz="2200">
                    <a:solidFill>
                      <a:srgbClr val="111827"/>
                    </a:solidFill>
                  </a:defRPr>
                </a:pPr>
                <a:r>
                  <a:rPr sz="2200" b="0">
                    <a:solidFill>
                      <a:srgbClr val="111827"/>
                    </a:solidFill>
                    <a:latin typeface="Arial"/>
                  </a:rPr>
                  <a:t>(D) None of these</a:t>
                </a:r>
                <a:endParaRPr sz="2200">
                  <a:solidFill>
                    <a:srgbClr val="111827"/>
                  </a:solidFill>
                </a:endParaRPr>
              </a:p>
            </p:txBody>
          </p:sp>
        </mc:Fallback>
      </mc:AlternateContent>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ectangle 3"/>
          <p:cNvSpPr/>
          <p:nvPr/>
        </p:nvSpPr>
        <p:spPr>
          <a:xfrm>
            <a:off x="731520" y="128016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classical probability with guessing</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066288"/>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Only </a:t>
                </a:r>
                <a14:m>
                  <m:oMath xmlns:m="http://schemas.openxmlformats.org/officeDocument/2006/math">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10</m:t>
                    </m:r>
                  </m:oMath>
                </a14:m>
                <a:r>
                  <a:rPr sz="2400" b="0">
                    <a:solidFill>
                      <a:srgbClr val="78350F"/>
                    </a:solidFill>
                    <a:latin typeface="Arial"/>
                  </a:rPr>
                  <a:t> works, and a guessed multi-answer question succeeds with probability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15</m:t>
                        </m:r>
                      </m:den>
                    </m:f>
                  </m:oMath>
                </a14:m>
                <a:r>
                  <a:rPr sz="2400" b="0">
                    <a:solidFill>
                      <a:srgbClr val="78350F"/>
                    </a:solidFill>
                    <a:latin typeface="Arial"/>
                  </a:rPr>
                  <a:t>, not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4</m:t>
                        </m:r>
                      </m:den>
                    </m:f>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066288"/>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Only </a:t>
                </a:r>
                <a:r>
                  <a:rPr lang="en-IN" sz="2400">
                    <a:solidFill>
                      <a:srgbClr val="78350F"/>
                    </a:solidFill>
                    <a:latin typeface="Cambria Math" panose="02040503050406030204" pitchFamily="18" charset="0"/>
                  </a:rPr>
                  <a:t>$3+3+3+1=10$</a:t>
                </a:r>
                <a:r>
                  <a:rPr sz="2400" b="0">
                    <a:solidFill>
                      <a:srgbClr val="78350F"/>
                    </a:solidFill>
                    <a:latin typeface="Arial"/>
                  </a:rPr>
                  <a:t> works, and a guessed multi-answer question succeeds with probability </a:t>
                </a:r>
                <a:r>
                  <a:rPr lang="en-IN" sz="2400">
                    <a:solidFill>
                      <a:srgbClr val="78350F"/>
                    </a:solidFill>
                    <a:latin typeface="Cambria Math" panose="02040503050406030204" pitchFamily="18" charset="0"/>
                  </a:rPr>
                  <a:t>$\frac{1}{15}$</a:t>
                </a:r>
                <a:r>
                  <a:rPr sz="2400" b="0">
                    <a:solidFill>
                      <a:srgbClr val="78350F"/>
                    </a:solidFill>
                    <a:latin typeface="Arial"/>
                  </a:rPr>
                  <a:t>, not </a:t>
                </a:r>
                <a:r>
                  <a:rPr lang="en-IN" sz="2400">
                    <a:solidFill>
                      <a:srgbClr val="78350F"/>
                    </a:solidFill>
                    <a:latin typeface="Cambria Math" panose="02040503050406030204" pitchFamily="18" charset="0"/>
                  </a:rPr>
                  <a:t>$\frac14$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532376"/>
                <a:ext cx="10725912" cy="214274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section-1 question is guessed correctly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(one correct option out of 5).</a:t>
                </a:r>
                <a:endParaRPr sz="2400">
                  <a:solidFill>
                    <a:srgbClr val="111827"/>
                  </a:solidFill>
                </a:endParaRPr>
              </a:p>
            </p:txBody>
          </p:sp>
        </mc:Choice>
        <mc:Fallback>
          <p:sp>
            <p:nvSpPr>
              <p:cNvPr id="6" name="Rectangle 5"/>
              <p:cNvSpPr/>
              <p:nvPr/>
            </p:nvSpPr>
            <p:spPr>
              <a:xfrm>
                <a:off x="731520" y="4532376"/>
                <a:ext cx="10725912" cy="214274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section-1 question is guessed correctly with probability </a:t>
                </a:r>
                <a:r>
                  <a:rPr lang="en-IN" sz="2400">
                    <a:solidFill>
                      <a:srgbClr val="111827"/>
                    </a:solidFill>
                    <a:latin typeface="Cambria Math" panose="02040503050406030204" pitchFamily="18" charset="0"/>
                  </a:rPr>
                  <a:t>$\frac15$</a:t>
                </a:r>
                <a:r>
                  <a:rPr sz="2400" b="0">
                    <a:solidFill>
                      <a:srgbClr val="111827"/>
                    </a:solidFill>
                    <a:latin typeface="Arial"/>
                  </a:rPr>
                  <a:t> (one correct option out of 5).</a:t>
                </a:r>
                <a:endParaRPr sz="2400">
                  <a:solidFill>
                    <a:srgbClr val="111827"/>
                  </a:solidFill>
                </a:endParaRPr>
              </a:p>
            </p:txBody>
          </p:sp>
        </mc:Fallback>
      </mc:AlternateContent>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section-2 question has 4 options with any non-empty set of correct options, so there are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possible answers; a guess is right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questions be from section 2 (3 marks each)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from section 1 (1 mark each):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Scoring 10 marks from four questions can therefore be done only as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three questions from section 2 and one from section 1, all answered correctly.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4 attempted questions are a random choice out of the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questions: total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ways; favourable choices of questions: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section-2 question has 4 options with any non-empty set of correct options, so there are </a:t>
                </a:r>
                <a:r>
                  <a:rPr lang="en-IN" sz="2400">
                    <a:solidFill>
                      <a:srgbClr val="111827"/>
                    </a:solidFill>
                    <a:latin typeface="Cambria Math" panose="02040503050406030204" pitchFamily="18" charset="0"/>
                  </a:rPr>
                  <a:t>$2^4-1=15$</a:t>
                </a:r>
                <a:r>
                  <a:rPr sz="2400" b="0">
                    <a:solidFill>
                      <a:srgbClr val="111827"/>
                    </a:solidFill>
                    <a:latin typeface="Arial"/>
                  </a:rPr>
                  <a:t> possible answers; a guess is right with probability </a:t>
                </a:r>
                <a:r>
                  <a:rPr lang="en-IN" sz="2400">
                    <a:solidFill>
                      <a:srgbClr val="111827"/>
                    </a:solidFill>
                    <a:latin typeface="Cambria Math" panose="02040503050406030204" pitchFamily="18" charset="0"/>
                  </a:rPr>
                  <a:t>$\frac{1}{15}$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a:t>
                </a:r>
                <a:r>
                  <a:rPr sz="2400" b="0">
                    <a:solidFill>
                      <a:srgbClr val="111827"/>
                    </a:solidFill>
                    <a:latin typeface="Arial"/>
                  </a:rPr>
                  <a:t> questions be from section 2 (3 marks each) and </a:t>
                </a:r>
                <a:r>
                  <a:rPr lang="en-IN" sz="2400">
                    <a:solidFill>
                      <a:srgbClr val="111827"/>
                    </a:solidFill>
                    <a:latin typeface="Cambria Math" panose="02040503050406030204" pitchFamily="18" charset="0"/>
                  </a:rPr>
                  <a:t>$b$</a:t>
                </a:r>
                <a:r>
                  <a:rPr sz="2400" b="0">
                    <a:solidFill>
                      <a:srgbClr val="111827"/>
                    </a:solidFill>
                    <a:latin typeface="Arial"/>
                  </a:rPr>
                  <a:t> from section 1 (1 mark each): </a:t>
                </a:r>
                <a:r>
                  <a:rPr lang="en-IN" sz="2400">
                    <a:solidFill>
                      <a:srgbClr val="111827"/>
                    </a:solidFill>
                    <a:latin typeface="Cambria Math" panose="02040503050406030204" pitchFamily="18" charset="0"/>
                  </a:rPr>
                  <a:t>$a+b=4$</a:t>
                </a:r>
                <a:r>
                  <a:rPr sz="2400" b="0">
                    <a:solidFill>
                      <a:srgbClr val="111827"/>
                    </a:solidFill>
                    <a:latin typeface="Arial"/>
                  </a:rPr>
                  <a:t> and </a:t>
                </a:r>
                <a:r>
                  <a:rPr lang="en-IN" sz="2400">
                    <a:solidFill>
                      <a:srgbClr val="111827"/>
                    </a:solidFill>
                    <a:latin typeface="Cambria Math" panose="02040503050406030204" pitchFamily="18" charset="0"/>
                  </a:rPr>
                  <a:t>$3a+b=10$</a:t>
                </a:r>
                <a:r>
                  <a:rPr sz="2400" b="0">
                    <a:solidFill>
                      <a:srgbClr val="111827"/>
                    </a:solidFill>
                    <a:latin typeface="Arial"/>
                  </a:rPr>
                  <a:t>, so </a:t>
                </a:r>
                <a:r>
                  <a:rPr lang="en-IN" sz="2400">
                    <a:solidFill>
                      <a:srgbClr val="111827"/>
                    </a:solidFill>
                    <a:latin typeface="Cambria Math" panose="02040503050406030204" pitchFamily="18" charset="0"/>
                  </a:rPr>
                  <a:t>$a=3$</a:t>
                </a:r>
                <a:r>
                  <a:rPr sz="2400" b="0">
                    <a:solidFill>
                      <a:srgbClr val="111827"/>
                    </a:solidFill>
                    <a:latin typeface="Arial"/>
                  </a:rPr>
                  <a:t>, </a:t>
                </a:r>
                <a:r>
                  <a:rPr lang="en-IN" sz="2400">
                    <a:solidFill>
                      <a:srgbClr val="111827"/>
                    </a:solidFill>
                    <a:latin typeface="Cambria Math" panose="02040503050406030204" pitchFamily="18" charset="0"/>
                  </a:rPr>
                  <a:t>$b=1$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Scoring 10 marks from four questions can therefore be done only as </a:t>
                </a:r>
                <a:r>
                  <a:rPr lang="en-IN" sz="2400">
                    <a:solidFill>
                      <a:srgbClr val="111827"/>
                    </a:solidFill>
                    <a:latin typeface="Cambria Math" panose="02040503050406030204" pitchFamily="18" charset="0"/>
                  </a:rPr>
                  <a:t>$3+3+3+1$</a:t>
                </a:r>
                <a:r>
                  <a:rPr sz="2400" b="0">
                    <a:solidFill>
                      <a:srgbClr val="111827"/>
                    </a:solidFill>
                    <a:latin typeface="Arial"/>
                  </a:rPr>
                  <a:t>: three questions from section 2 and one from section 1, all answered correctly.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4 attempted questions are a random choice out of the </a:t>
                </a:r>
                <a:r>
                  <a:rPr lang="en-IN" sz="2400">
                    <a:solidFill>
                      <a:srgbClr val="111827"/>
                    </a:solidFill>
                    <a:latin typeface="Cambria Math" panose="02040503050406030204" pitchFamily="18" charset="0"/>
                  </a:rPr>
                  <a:t>$20$</a:t>
                </a:r>
                <a:r>
                  <a:rPr sz="2400" b="0">
                    <a:solidFill>
                      <a:srgbClr val="111827"/>
                    </a:solidFill>
                    <a:latin typeface="Arial"/>
                  </a:rPr>
                  <a:t> questions: total </a:t>
                </a:r>
                <a:r>
                  <a:rPr lang="en-IN" sz="2400">
                    <a:solidFill>
                      <a:srgbClr val="111827"/>
                    </a:solidFill>
                    <a:latin typeface="Cambria Math" panose="02040503050406030204" pitchFamily="18" charset="0"/>
                  </a:rPr>
                  <a:t>$^{20}C_4$</a:t>
                </a:r>
                <a:r>
                  <a:rPr sz="2400" b="0">
                    <a:solidFill>
                      <a:srgbClr val="111827"/>
                    </a:solidFill>
                    <a:latin typeface="Arial"/>
                  </a:rPr>
                  <a:t> ways; favourable choices of questions: </a:t>
                </a:r>
                <a:r>
                  <a:rPr lang="en-IN" sz="2400">
                    <a:solidFill>
                      <a:srgbClr val="111827"/>
                    </a:solidFill>
                    <a:latin typeface="Cambria Math" panose="02040503050406030204" pitchFamily="18" charset="0"/>
                  </a:rPr>
                  <a:t>$^{10}C_3\cdot{}^{10}C_1$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All four guesses must be right: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e>
                        </m:d>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sSup>
                          <m:e>
                            <m:r>
                              <a:rPr lang="en-IN" sz="2400" i="1">
                                <a:solidFill>
                                  <a:srgbClr val="111827"/>
                                </a:solidFill>
                                <a:latin typeface="Cambria Math" panose="02040503050406030204" pitchFamily="18" charset="0"/>
                              </a:rPr>
                              <m:t> </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e>
                        </m:d>
                      </m:e>
                      <m:sup>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Numerically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1200</m:t>
                        </m:r>
                      </m:num>
                      <m:den>
                        <m:r>
                          <a:rPr lang="en-IN" sz="2400" i="1">
                            <a:solidFill>
                              <a:srgbClr val="111827"/>
                            </a:solidFill>
                            <a:latin typeface="Cambria Math" panose="02040503050406030204" pitchFamily="18" charset="0"/>
                          </a:rPr>
                          <m:t>4845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3375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1090125</m:t>
                        </m:r>
                      </m:den>
                    </m:f>
                  </m:oMath>
                </a14:m>
                <a:r>
                  <a:rPr sz="2400" b="0">
                    <a:solidFill>
                      <a:srgbClr val="111827"/>
                    </a:solidFill>
                    <a:latin typeface="Arial"/>
                  </a:rPr>
                  <a:t>, which differs from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50625</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16875</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2744</m:t>
                        </m:r>
                      </m:num>
                      <m:den>
                        <m:r>
                          <a:rPr lang="en-IN" sz="2400" i="1">
                            <a:solidFill>
                              <a:srgbClr val="111827"/>
                            </a:solidFill>
                            <a:latin typeface="Cambria Math" panose="02040503050406030204" pitchFamily="18" charset="0"/>
                          </a:rPr>
                          <m:t>16875</m:t>
                        </m:r>
                      </m:den>
                    </m:f>
                  </m:oMath>
                </a14:m>
                <a:r>
                  <a:rPr sz="2400" b="0">
                    <a:solidFill>
                      <a:srgbClr val="111827"/>
                    </a:solidFill>
                    <a:latin typeface="Arial"/>
                  </a:rPr>
                  <a:t> (options A, B, C). Hence option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All four guesses must be right: </a:t>
                </a:r>
                <a:r>
                  <a:rPr lang="en-IN" sz="2400">
                    <a:solidFill>
                      <a:srgbClr val="111827"/>
                    </a:solidFill>
                    <a:latin typeface="Cambria Math" panose="02040503050406030204" pitchFamily="18" charset="0"/>
                  </a:rPr>
                  <a:t>$\frac15\cdot\left(\frac{1}{15}\right)^3$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probability </a:t>
                </a:r>
                <a:r>
                  <a:rPr lang="en-IN" sz="2400">
                    <a:solidFill>
                      <a:srgbClr val="111827"/>
                    </a:solidFill>
                    <a:latin typeface="Cambria Math" panose="02040503050406030204" pitchFamily="18" charset="0"/>
                  </a:rPr>
                  <a:t>$=\frac{^{10}C_3\,^{10}C_1}{^{20}C_4}\cdot\frac15\left(\frac{1}{15}\right)^3$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Numerically </a:t>
                </a:r>
                <a:r>
                  <a:rPr lang="en-IN" sz="2400">
                    <a:solidFill>
                      <a:srgbClr val="111827"/>
                    </a:solidFill>
                    <a:latin typeface="Cambria Math" panose="02040503050406030204" pitchFamily="18" charset="0"/>
                  </a:rPr>
                  <a:t>$\frac{1200}{4845}\cdot\frac15\cdot\frac{1}{3375}=\frac{16}{1090125}$</a:t>
                </a:r>
                <a:r>
                  <a:rPr sz="2400" b="0">
                    <a:solidFill>
                      <a:srgbClr val="111827"/>
                    </a:solidFill>
                    <a:latin typeface="Arial"/>
                  </a:rPr>
                  <a:t>, which differs from </a:t>
                </a:r>
                <a:r>
                  <a:rPr lang="en-IN" sz="2400">
                    <a:solidFill>
                      <a:srgbClr val="111827"/>
                    </a:solidFill>
                    <a:latin typeface="Cambria Math" panose="02040503050406030204" pitchFamily="18" charset="0"/>
                  </a:rPr>
                  <a:t>$\frac{1}{50625}$</a:t>
                </a:r>
                <a:r>
                  <a:rPr sz="2400" b="0">
                    <a:solidFill>
                      <a:srgbClr val="111827"/>
                    </a:solidFill>
                    <a:latin typeface="Arial"/>
                  </a:rPr>
                  <a:t>, </a:t>
                </a:r>
                <a:r>
                  <a:rPr lang="en-IN" sz="2400">
                    <a:solidFill>
                      <a:srgbClr val="111827"/>
                    </a:solidFill>
                    <a:latin typeface="Cambria Math" panose="02040503050406030204" pitchFamily="18" charset="0"/>
                  </a:rPr>
                  <a:t>$\frac{4}{16875}$</a:t>
                </a:r>
                <a:r>
                  <a:rPr sz="2400" b="0">
                    <a:solidFill>
                      <a:srgbClr val="111827"/>
                    </a:solidFill>
                    <a:latin typeface="Arial"/>
                  </a:rPr>
                  <a:t> and </a:t>
                </a:r>
                <a:r>
                  <a:rPr lang="en-IN" sz="2400">
                    <a:solidFill>
                      <a:srgbClr val="111827"/>
                    </a:solidFill>
                    <a:latin typeface="Cambria Math" panose="02040503050406030204" pitchFamily="18" charset="0"/>
                  </a:rPr>
                  <a:t>$\frac{2744}{16875}$</a:t>
                </a:r>
                <a:r>
                  <a:rPr sz="2400" b="0">
                    <a:solidFill>
                      <a:srgbClr val="111827"/>
                    </a:solidFill>
                    <a:latin typeface="Arial"/>
                  </a:rPr>
                  <a:t> (options A, B, C). Hence option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None of these</a:t>
            </a:r>
            <a:endParaRPr sz="2800">
              <a:solidFill>
                <a:srgbClr val="15803D"/>
              </a:solidFill>
            </a:endParaRP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Bound the answer to reject (B), (C), then test (A) with a sequential (ordered) draw of the four questions.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Scoring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with four questions forces one section-1 and three section-2 questions, all guessed right,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16875</m:t>
                        </m:r>
                      </m:den>
                    </m:f>
                  </m:oMath>
                </a14:m>
                <a:r>
                  <a:rPr sz="2400" b="0">
                    <a:solidFill>
                      <a:srgbClr val="111827"/>
                    </a:solidFill>
                    <a:latin typeface="Arial"/>
                  </a:rPr>
                  <a:t> given that split.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required probability is this value times </a:t>
                </a:r>
                <a14:m>
                  <m:oMath xmlns:m="http://schemas.openxmlformats.org/officeDocument/2006/math">
                    <m:r>
                      <a:rPr lang="en-IN" sz="2400" i="1">
                        <a:solidFill>
                          <a:srgbClr val="111827"/>
                        </a:solidFill>
                        <a:latin typeface="Cambria Math" panose="02040503050406030204" pitchFamily="18" charset="0"/>
                      </a:rPr>
                      <m:t>ℎ</m:t>
                    </m:r>
                  </m:oMath>
                </a14:m>
                <a:r>
                  <a:rPr sz="2400" b="0">
                    <a:solidFill>
                      <a:srgbClr val="111827"/>
                    </a:solidFill>
                    <a:latin typeface="Arial"/>
                  </a:rPr>
                  <a:t>, the probability that the split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it is at most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16875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16875</m:t>
                        </m:r>
                      </m:den>
                    </m:f>
                  </m:oMath>
                </a14:m>
                <a:r>
                  <a:rPr sz="2400" b="0">
                    <a:solidFill>
                      <a:srgbClr val="111827"/>
                    </a:solidFill>
                    <a:latin typeface="Arial"/>
                  </a:rPr>
                  <a:t> exceeds this bound, and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15</m:t>
                                </m:r>
                              </m:den>
                            </m:f>
                          </m:e>
                        </m:d>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is far larger. Both are impossible.</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Scoring </a:t>
                </a:r>
                <a:r>
                  <a:rPr lang="en-IN" sz="2400">
                    <a:solidFill>
                      <a:srgbClr val="111827"/>
                    </a:solidFill>
                    <a:latin typeface="Cambria Math" panose="02040503050406030204" pitchFamily="18" charset="0"/>
                  </a:rPr>
                  <a:t>$10$</a:t>
                </a:r>
                <a:r>
                  <a:rPr sz="2400" b="0">
                    <a:solidFill>
                      <a:srgbClr val="111827"/>
                    </a:solidFill>
                    <a:latin typeface="Arial"/>
                  </a:rPr>
                  <a:t> with four questions forces one section-1 and three section-2 questions, all guessed right, with probability </a:t>
                </a:r>
                <a:r>
                  <a:rPr lang="en-IN" sz="2400">
                    <a:solidFill>
                      <a:srgbClr val="111827"/>
                    </a:solidFill>
                    <a:latin typeface="Cambria Math" panose="02040503050406030204" pitchFamily="18" charset="0"/>
                  </a:rPr>
                  <a:t>$\frac15\left(\frac1{15}\right)^3=\frac1{16875}$</a:t>
                </a:r>
                <a:r>
                  <a:rPr sz="2400" b="0">
                    <a:solidFill>
                      <a:srgbClr val="111827"/>
                    </a:solidFill>
                    <a:latin typeface="Arial"/>
                  </a:rPr>
                  <a:t> given that split.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required probability is this value times </a:t>
                </a:r>
                <a:r>
                  <a:rPr lang="en-IN" sz="2400">
                    <a:solidFill>
                      <a:srgbClr val="111827"/>
                    </a:solidFill>
                    <a:latin typeface="Cambria Math" panose="02040503050406030204" pitchFamily="18" charset="0"/>
                  </a:rPr>
                  <a:t>$h$</a:t>
                </a:r>
                <a:r>
                  <a:rPr sz="2400" b="0">
                    <a:solidFill>
                      <a:srgbClr val="111827"/>
                    </a:solidFill>
                    <a:latin typeface="Arial"/>
                  </a:rPr>
                  <a:t>, the probability that the split is </a:t>
                </a:r>
                <a:r>
                  <a:rPr lang="en-IN" sz="2400">
                    <a:solidFill>
                      <a:srgbClr val="111827"/>
                    </a:solidFill>
                    <a:latin typeface="Cambria Math" panose="02040503050406030204" pitchFamily="18" charset="0"/>
                  </a:rPr>
                  <a:t>$1+3$</a:t>
                </a:r>
                <a:r>
                  <a:rPr sz="2400" b="0">
                    <a:solidFill>
                      <a:srgbClr val="111827"/>
                    </a:solidFill>
                    <a:latin typeface="Arial"/>
                  </a:rPr>
                  <a:t>; so it is at most </a:t>
                </a:r>
                <a:r>
                  <a:rPr lang="en-IN" sz="2400">
                    <a:solidFill>
                      <a:srgbClr val="111827"/>
                    </a:solidFill>
                    <a:latin typeface="Cambria Math" panose="02040503050406030204" pitchFamily="18" charset="0"/>
                  </a:rPr>
                  <a:t>$\frac1{16875}$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 (B) </a:t>
                </a:r>
                <a:r>
                  <a:rPr lang="en-IN" sz="2400">
                    <a:solidFill>
                      <a:srgbClr val="111827"/>
                    </a:solidFill>
                    <a:latin typeface="Cambria Math" panose="02040503050406030204" pitchFamily="18" charset="0"/>
                  </a:rPr>
                  <a:t>$\frac45\left(\frac1{15}\right)^3=\frac4{16875}$</a:t>
                </a:r>
                <a:r>
                  <a:rPr sz="2400" b="0">
                    <a:solidFill>
                      <a:srgbClr val="111827"/>
                    </a:solidFill>
                    <a:latin typeface="Arial"/>
                  </a:rPr>
                  <a:t> exceeds this bound, and (C) </a:t>
                </a:r>
                <a:r>
                  <a:rPr lang="en-IN" sz="2400">
                    <a:solidFill>
                      <a:srgbClr val="111827"/>
                    </a:solidFill>
                    <a:latin typeface="Cambria Math" panose="02040503050406030204" pitchFamily="18" charset="0"/>
                  </a:rPr>
                  <a:t>$\frac15\left(\frac{14}{15}\right)^3$</a:t>
                </a:r>
                <a:r>
                  <a:rPr sz="2400" b="0">
                    <a:solidFill>
                      <a:srgbClr val="111827"/>
                    </a:solidFill>
                    <a:latin typeface="Arial"/>
                  </a:rPr>
                  <a:t> is far larger. Both are impossible.</a:t>
                </a:r>
                <a:endParaRPr sz="2400">
                  <a:solidFill>
                    <a:srgbClr val="111827"/>
                  </a:solidFill>
                </a:endParaRPr>
              </a:p>
            </p:txBody>
          </p:sp>
        </mc:Fallback>
      </mc:AlternateContent>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(A)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50625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16875</m:t>
                        </m:r>
                      </m:den>
                    </m:f>
                  </m:oMath>
                </a14:m>
                <a:r>
                  <a:rPr sz="2400" b="0">
                    <a:solidFill>
                      <a:srgbClr val="111827"/>
                    </a:solidFill>
                    <a:latin typeface="Arial"/>
                  </a:rPr>
                  <a:t>, so it would need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Draw the four questions one by one without replacement. The single section-1 question can be in any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positions, each ordering having the same probability.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 (A) is </a:t>
                </a:r>
                <a:r>
                  <a:rPr lang="en-IN" sz="2400">
                    <a:solidFill>
                      <a:srgbClr val="111827"/>
                    </a:solidFill>
                    <a:latin typeface="Cambria Math" panose="02040503050406030204" pitchFamily="18" charset="0"/>
                  </a:rPr>
                  <a:t>$\frac1{50625}=\frac13\cdot\frac1{16875}$</a:t>
                </a:r>
                <a:r>
                  <a:rPr sz="2400" b="0">
                    <a:solidFill>
                      <a:srgbClr val="111827"/>
                    </a:solidFill>
                    <a:latin typeface="Arial"/>
                  </a:rPr>
                  <a:t>, so it would need </a:t>
                </a:r>
                <a:r>
                  <a:rPr lang="en-IN" sz="2400">
                    <a:solidFill>
                      <a:srgbClr val="111827"/>
                    </a:solidFill>
                    <a:latin typeface="Cambria Math" panose="02040503050406030204" pitchFamily="18" charset="0"/>
                  </a:rPr>
                  <a:t>$h=\frac13$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Draw the four questions one by one without replacement. The single section-1 question can be in any of </a:t>
                </a:r>
                <a:r>
                  <a:rPr lang="en-IN" sz="2400">
                    <a:solidFill>
                      <a:srgbClr val="111827"/>
                    </a:solidFill>
                    <a:latin typeface="Cambria Math" panose="02040503050406030204" pitchFamily="18" charset="0"/>
                  </a:rPr>
                  <a:t>$4$</a:t>
                </a:r>
                <a:r>
                  <a:rPr sz="2400" b="0">
                    <a:solidFill>
                      <a:srgbClr val="111827"/>
                    </a:solidFill>
                    <a:latin typeface="Arial"/>
                  </a:rPr>
                  <a:t> positions, each ordering having the same probability.</a:t>
                </a:r>
                <a:endParaRPr sz="2400">
                  <a:solidFill>
                    <a:srgbClr val="111827"/>
                  </a:solidFill>
                </a:endParaRPr>
              </a:p>
            </p:txBody>
          </p:sp>
        </mc:Fallback>
      </mc:AlternateContent>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One ordering, e.g. S1 first: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20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19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18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17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323</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323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80</m:t>
                        </m:r>
                      </m:num>
                      <m:den>
                        <m:r>
                          <a:rPr lang="en-IN" sz="2400" i="1">
                            <a:solidFill>
                              <a:srgbClr val="111827"/>
                            </a:solidFill>
                            <a:latin typeface="Cambria Math" panose="02040503050406030204" pitchFamily="18" charset="0"/>
                          </a:rPr>
                          <m:t>323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 fails too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80</m:t>
                        </m:r>
                      </m:num>
                      <m:den>
                        <m:r>
                          <a:rPr lang="en-IN" sz="2400" i="1">
                            <a:solidFill>
                              <a:srgbClr val="111827"/>
                            </a:solidFill>
                            <a:latin typeface="Cambria Math" panose="02040503050406030204" pitchFamily="18" charset="0"/>
                          </a:rPr>
                          <m:t>323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16875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1090125</m:t>
                        </m:r>
                      </m:den>
                    </m:f>
                  </m:oMath>
                </a14:m>
                <a:r>
                  <a:rPr sz="2400" b="0">
                    <a:solidFill>
                      <a:srgbClr val="111827"/>
                    </a:solidFill>
                    <a:latin typeface="Arial"/>
                  </a:rPr>
                  <a:t>): answer (D) None of these.</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One ordering, e.g. S1 first: </a:t>
                </a:r>
                <a:r>
                  <a:rPr lang="en-IN" sz="2400">
                    <a:solidFill>
                      <a:srgbClr val="111827"/>
                    </a:solidFill>
                    <a:latin typeface="Cambria Math" panose="02040503050406030204" pitchFamily="18" charset="0"/>
                  </a:rPr>
                  <a:t>$\frac{10}{20}\cdot\frac{10}{19}\cdot\frac9{18}\cdot\frac8{17}=\frac{20}{323}$</a:t>
                </a:r>
                <a:r>
                  <a:rPr sz="2400" b="0">
                    <a:solidFill>
                      <a:srgbClr val="111827"/>
                    </a:solidFill>
                    <a:latin typeface="Arial"/>
                  </a:rPr>
                  <a:t>, so </a:t>
                </a:r>
                <a:r>
                  <a:rPr lang="en-IN" sz="2400">
                    <a:solidFill>
                      <a:srgbClr val="111827"/>
                    </a:solidFill>
                    <a:latin typeface="Cambria Math" panose="02040503050406030204" pitchFamily="18" charset="0"/>
                  </a:rPr>
                  <a:t>$h=4\cdot\frac{20}{323}=\frac{80}{323}\ne\frac13$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 fails too (the probability is </a:t>
                </a:r>
                <a:r>
                  <a:rPr lang="en-IN" sz="2400">
                    <a:solidFill>
                      <a:srgbClr val="111827"/>
                    </a:solidFill>
                    <a:latin typeface="Cambria Math" panose="02040503050406030204" pitchFamily="18" charset="0"/>
                  </a:rPr>
                  <a:t>$\frac{80}{323}\cdot\frac1{16875}=\frac{16}{1090125}$</a:t>
                </a:r>
                <a:r>
                  <a:rPr sz="2400" b="0">
                    <a:solidFill>
                      <a:srgbClr val="111827"/>
                    </a:solidFill>
                    <a:latin typeface="Arial"/>
                  </a:rPr>
                  <a:t>): answer (D) None of these.</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None of these</a:t>
            </a:r>
            <a:endParaRPr sz="2800">
              <a:solidFill>
                <a:srgbClr val="15803D"/>
              </a:solidFill>
            </a:endParaRP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multiple-answer question with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options and at least one correct option has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possible answers, so a blind guess succeeds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hit a target score with two kinds of question worth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marks, solve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oMath>
                </a14:m>
                <a:r>
                  <a:rPr sz="2400" b="0">
                    <a:solidFill>
                      <a:srgbClr val="111827"/>
                    </a:solidFill>
                    <a:latin typeface="Arial"/>
                  </a:rPr>
                  <a:t> in non-negative integers first; usually only one split survives (here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attempted questions are a random subset of the paper, multiply by the hypergeometric factor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sSup>
                          <m:e>
                            <m:r>
                              <a:rPr lang="en-IN" sz="2400" i="1">
                                <a:solidFill>
                                  <a:srgbClr val="111827"/>
                                </a:solidFill>
                                <a:latin typeface="Cambria Math" panose="02040503050406030204" pitchFamily="18" charset="0"/>
                              </a:rPr>
                              <m:t> </m:t>
                            </m:r>
                          </m:e>
                          <m:sup>
                            <m:r>
                              <a:rPr lang="en-IN" sz="2400" i="1">
                                <a:solidFill>
                                  <a:srgbClr val="111827"/>
                                </a:solidFill>
                                <a:latin typeface="Cambria Math" panose="02040503050406030204" pitchFamily="18" charset="0"/>
                              </a:rPr>
                              <m:t>10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den>
                    </m:f>
                  </m:oMath>
                </a14:m>
                <a:r>
                  <a:rPr sz="2400" b="0">
                    <a:solidFill>
                      <a:srgbClr val="111827"/>
                    </a:solidFill>
                    <a:latin typeface="Arial"/>
                  </a:rPr>
                  <a:t> for the section split.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multiple-answer question with </a:t>
                </a:r>
                <a:r>
                  <a:rPr lang="en-IN" sz="2400">
                    <a:solidFill>
                      <a:srgbClr val="111827"/>
                    </a:solidFill>
                    <a:latin typeface="Cambria Math" panose="02040503050406030204" pitchFamily="18" charset="0"/>
                  </a:rPr>
                  <a:t>$m$</a:t>
                </a:r>
                <a:r>
                  <a:rPr sz="2400" b="0">
                    <a:solidFill>
                      <a:srgbClr val="111827"/>
                    </a:solidFill>
                    <a:latin typeface="Arial"/>
                  </a:rPr>
                  <a:t> options and at least one correct option has </a:t>
                </a:r>
                <a:r>
                  <a:rPr lang="en-IN" sz="2400">
                    <a:solidFill>
                      <a:srgbClr val="111827"/>
                    </a:solidFill>
                    <a:latin typeface="Cambria Math" panose="02040503050406030204" pitchFamily="18" charset="0"/>
                  </a:rPr>
                  <a:t>$2^m-1$</a:t>
                </a:r>
                <a:r>
                  <a:rPr sz="2400" b="0">
                    <a:solidFill>
                      <a:srgbClr val="111827"/>
                    </a:solidFill>
                    <a:latin typeface="Arial"/>
                  </a:rPr>
                  <a:t> possible answers, so a blind guess succeeds with probability </a:t>
                </a:r>
                <a:r>
                  <a:rPr lang="en-IN" sz="2400">
                    <a:solidFill>
                      <a:srgbClr val="111827"/>
                    </a:solidFill>
                    <a:latin typeface="Cambria Math" panose="02040503050406030204" pitchFamily="18" charset="0"/>
                  </a:rPr>
                  <a:t>$\frac{1}{2^m-1}$</a:t>
                </a:r>
                <a:r>
                  <a:rPr sz="2400" b="0">
                    <a:solidFill>
                      <a:srgbClr val="111827"/>
                    </a:solidFill>
                    <a:latin typeface="Arial"/>
                  </a:rPr>
                  <a:t> (here </a:t>
                </a:r>
                <a:r>
                  <a:rPr lang="en-IN" sz="2400">
                    <a:solidFill>
                      <a:srgbClr val="111827"/>
                    </a:solidFill>
                    <a:latin typeface="Cambria Math" panose="02040503050406030204" pitchFamily="18" charset="0"/>
                  </a:rPr>
                  <a:t>$m=4$</a:t>
                </a:r>
                <a:r>
                  <a:rPr sz="2400" b="0">
                    <a:solidFill>
                      <a:srgbClr val="111827"/>
                    </a:solidFill>
                    <a:latin typeface="Arial"/>
                  </a:rPr>
                  <a:t> gives </a:t>
                </a:r>
                <a:r>
                  <a:rPr lang="en-IN" sz="2400">
                    <a:solidFill>
                      <a:srgbClr val="111827"/>
                    </a:solidFill>
                    <a:latin typeface="Cambria Math" panose="02040503050406030204" pitchFamily="18" charset="0"/>
                  </a:rPr>
                  <a:t>$\frac1{15}$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hit a target score with two kinds of question worth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marks, solve </a:t>
                </a:r>
                <a:r>
                  <a:rPr lang="en-IN" sz="2400">
                    <a:solidFill>
                      <a:srgbClr val="111827"/>
                    </a:solidFill>
                    <a:latin typeface="Cambria Math" panose="02040503050406030204" pitchFamily="18" charset="0"/>
                  </a:rPr>
                  <a:t>$a+b=N$</a:t>
                </a:r>
                <a:r>
                  <a:rPr sz="2400" b="0">
                    <a:solidFill>
                      <a:srgbClr val="111827"/>
                    </a:solidFill>
                    <a:latin typeface="Arial"/>
                  </a:rPr>
                  <a:t>, </a:t>
                </a:r>
                <a:r>
                  <a:rPr lang="en-IN" sz="2400">
                    <a:solidFill>
                      <a:srgbClr val="111827"/>
                    </a:solidFill>
                    <a:latin typeface="Cambria Math" panose="02040503050406030204" pitchFamily="18" charset="0"/>
                  </a:rPr>
                  <a:t>$pa+qb=T$</a:t>
                </a:r>
                <a:r>
                  <a:rPr sz="2400" b="0">
                    <a:solidFill>
                      <a:srgbClr val="111827"/>
                    </a:solidFill>
                    <a:latin typeface="Arial"/>
                  </a:rPr>
                  <a:t> in non-negative integers first; usually only one split survives (here </a:t>
                </a:r>
                <a:r>
                  <a:rPr lang="en-IN" sz="2400">
                    <a:solidFill>
                      <a:srgbClr val="111827"/>
                    </a:solidFill>
                    <a:latin typeface="Cambria Math" panose="02040503050406030204" pitchFamily="18" charset="0"/>
                  </a:rPr>
                  <a:t>$(a,b)=(3,1)$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the attempted questions are a random subset of the paper, multiply by the hypergeometric factor </a:t>
                </a:r>
                <a:r>
                  <a:rPr lang="en-IN" sz="2400">
                    <a:solidFill>
                      <a:srgbClr val="111827"/>
                    </a:solidFill>
                    <a:latin typeface="Cambria Math" panose="02040503050406030204" pitchFamily="18" charset="0"/>
                  </a:rPr>
                  <a:t>$\frac{^{10}C_3\,^{10}C_1}{^{20}C_4}$</a:t>
                </a:r>
                <a:r>
                  <a:rPr sz="2400" b="0">
                    <a:solidFill>
                      <a:srgbClr val="111827"/>
                    </a:solidFill>
                    <a:latin typeface="Arial"/>
                  </a:rPr>
                  <a:t> for the section split.</a:t>
                </a:r>
                <a:endParaRPr sz="2400">
                  <a:solidFill>
                    <a:srgbClr val="111827"/>
                  </a:solidFill>
                </a:endParaRPr>
              </a:p>
            </p:txBody>
          </p:sp>
        </mc:Fallback>
      </mc:AlternateContent>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098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power set of a given set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containing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elements, and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(may or may not be distinct).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are disjoint sets, find the probability that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(B)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(C)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(D)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endParaRPr sz="2400">
                  <a:solidFill>
                    <a:srgbClr val="111827"/>
                  </a:solidFill>
                </a:endParaRPr>
              </a:p>
            </p:txBody>
          </p:sp>
        </mc:Choice>
        <mc:Fallback>
          <p:sp>
            <p:nvSpPr>
              <p:cNvPr id="4" name="Rounded Rectangle 3"/>
              <p:cNvSpPr/>
              <p:nvPr/>
            </p:nvSpPr>
            <p:spPr>
              <a:xfrm>
                <a:off x="731520" y="1280160"/>
                <a:ext cx="10725912" cy="3098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is the power set of a given set </a:t>
                </a:r>
                <a:r>
                  <a:rPr lang="en-IN" sz="2400">
                    <a:solidFill>
                      <a:srgbClr val="111827"/>
                    </a:solidFill>
                    <a:latin typeface="Cambria Math" panose="02040503050406030204" pitchFamily="18" charset="0"/>
                  </a:rPr>
                  <a:t>$S$</a:t>
                </a:r>
                <a:r>
                  <a:rPr sz="2400" b="0">
                    <a:solidFill>
                      <a:srgbClr val="111827"/>
                    </a:solidFill>
                    <a:latin typeface="Arial"/>
                  </a:rPr>
                  <a:t> containing </a:t>
                </a:r>
                <a:r>
                  <a:rPr lang="en-IN" sz="2400">
                    <a:solidFill>
                      <a:srgbClr val="111827"/>
                    </a:solidFill>
                    <a:latin typeface="Cambria Math" panose="02040503050406030204" pitchFamily="18" charset="0"/>
                  </a:rPr>
                  <a:t>$n$</a:t>
                </a:r>
                <a:r>
                  <a:rPr sz="2400" b="0">
                    <a:solidFill>
                      <a:srgbClr val="111827"/>
                    </a:solidFill>
                    <a:latin typeface="Arial"/>
                  </a:rPr>
                  <a:t> elements, and </a:t>
                </a:r>
                <a:r>
                  <a:rPr lang="en-IN" sz="2400">
                    <a:solidFill>
                      <a:srgbClr val="111827"/>
                    </a:solidFill>
                    <a:latin typeface="Cambria Math" panose="02040503050406030204" pitchFamily="18" charset="0"/>
                  </a:rPr>
                  <a:t>$A, B, C \in P$</a:t>
                </a:r>
                <a:r>
                  <a:rPr sz="2400" b="0">
                    <a:solidFill>
                      <a:srgbClr val="111827"/>
                    </a:solidFill>
                    <a:latin typeface="Arial"/>
                  </a:rPr>
                  <a:t> (may or may not be distinct).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a:t>
                </a:r>
                <a:r>
                  <a:rPr sz="2400" b="0">
                    <a:solidFill>
                      <a:srgbClr val="111827"/>
                    </a:solidFill>
                    <a:latin typeface="Arial"/>
                  </a:rPr>
                  <a:t>, </a:t>
                </a:r>
                <a:r>
                  <a:rPr lang="en-IN" sz="2400">
                    <a:solidFill>
                      <a:srgbClr val="111827"/>
                    </a:solidFill>
                    <a:latin typeface="Cambria Math" panose="02040503050406030204" pitchFamily="18" charset="0"/>
                  </a:rPr>
                  <a:t>$B$</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are disjoint sets, find the probability that </a:t>
                </a:r>
                <a:r>
                  <a:rPr lang="en-IN" sz="2400">
                    <a:solidFill>
                      <a:srgbClr val="111827"/>
                    </a:solidFill>
                    <a:latin typeface="Cambria Math" panose="02040503050406030204" pitchFamily="18" charset="0"/>
                  </a:rPr>
                  <a:t>$A\cup B\cup C=S$</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$\left(\frac47\right)^{n-1}$</a:t>
                </a:r>
                <a:r>
                  <a:rPr sz="2400" b="0">
                    <a:solidFill>
                      <a:srgbClr val="111827"/>
                    </a:solidFill>
                    <a:latin typeface="Arial"/>
                  </a:rPr>
                  <a:t>   (B) </a:t>
                </a:r>
                <a:r>
                  <a:rPr lang="en-IN" sz="2400">
                    <a:solidFill>
                      <a:srgbClr val="111827"/>
                    </a:solidFill>
                    <a:latin typeface="Cambria Math" panose="02040503050406030204" pitchFamily="18" charset="0"/>
                  </a:rPr>
                  <a:t>$\left(\frac34\right)^n$</a:t>
                </a:r>
                <a:r>
                  <a:rPr sz="2400" b="0">
                    <a:solidFill>
                      <a:srgbClr val="111827"/>
                    </a:solidFill>
                    <a:latin typeface="Arial"/>
                  </a:rPr>
                  <a:t>   (C) </a:t>
                </a:r>
                <a:r>
                  <a:rPr lang="en-IN" sz="2400">
                    <a:solidFill>
                      <a:srgbClr val="111827"/>
                    </a:solidFill>
                    <a:latin typeface="Cambria Math" panose="02040503050406030204" pitchFamily="18" charset="0"/>
                  </a:rPr>
                  <a:t>$\left(\frac37\right)^n$</a:t>
                </a:r>
                <a:r>
                  <a:rPr sz="2400" b="0">
                    <a:solidFill>
                      <a:srgbClr val="111827"/>
                    </a:solidFill>
                    <a:latin typeface="Arial"/>
                  </a:rPr>
                  <a:t>   (D) </a:t>
                </a:r>
                <a:r>
                  <a:rPr lang="en-IN" sz="2400">
                    <a:solidFill>
                      <a:srgbClr val="111827"/>
                    </a:solidFill>
                    <a:latin typeface="Cambria Math" panose="02040503050406030204" pitchFamily="18" charset="0"/>
                  </a:rPr>
                  <a:t>$\left(\frac57\right)^n$</a:t>
                </a:r>
                <a:endParaRPr sz="2400">
                  <a:solidFill>
                    <a:srgbClr val="111827"/>
                  </a:solidFill>
                </a:endParaRPr>
              </a:p>
            </p:txBody>
          </p:sp>
        </mc:Fallback>
      </mc:AlternateContent>
      <p:sp>
        <p:nvSpPr>
          <p:cNvPr id="5" name="Rectangle 4"/>
          <p:cNvSpPr/>
          <p:nvPr/>
        </p:nvSpPr>
        <p:spPr>
          <a:xfrm>
            <a:off x="731520" y="460705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counting with sets and power set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element independently chooses one of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 </a:t>
                </a:r>
                <a14:m>
                  <m:oMath xmlns:m="http://schemas.openxmlformats.org/officeDocument/2006/math">
                    <m:r>
                      <a:rPr lang="en-IN" sz="2400" i="1">
                        <a:solidFill>
                          <a:srgbClr val="78350F"/>
                        </a:solidFill>
                        <a:latin typeface="Cambria Math" panose="02040503050406030204" pitchFamily="18" charset="0"/>
                      </a:rPr>
                      <m:t>𝐶</m:t>
                    </m:r>
                  </m:oMath>
                </a14:m>
                <a:r>
                  <a:rPr sz="2400" b="0">
                    <a:solidFill>
                      <a:srgbClr val="78350F"/>
                    </a:solidFill>
                    <a:latin typeface="Arial"/>
                  </a:rPr>
                  <a:t> or none (if disjoint); covering </a:t>
                </a:r>
                <a14:m>
                  <m:oMath xmlns:m="http://schemas.openxmlformats.org/officeDocument/2006/math">
                    <m:r>
                      <a:rPr lang="en-IN" sz="2400" i="1">
                        <a:solidFill>
                          <a:srgbClr val="78350F"/>
                        </a:solidFill>
                        <a:latin typeface="Cambria Math" panose="02040503050406030204" pitchFamily="18" charset="0"/>
                      </a:rPr>
                      <m:t>𝑆</m:t>
                    </m:r>
                  </m:oMath>
                </a14:m>
                <a:r>
                  <a:rPr sz="2400" b="0">
                    <a:solidFill>
                      <a:srgbClr val="78350F"/>
                    </a:solidFill>
                    <a:latin typeface="Arial"/>
                  </a:rPr>
                  <a:t> removes the 'none' choice.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element independently chooses one of </a:t>
                </a:r>
                <a:r>
                  <a:rPr lang="en-IN" sz="2400">
                    <a:solidFill>
                      <a:srgbClr val="78350F"/>
                    </a:solidFill>
                    <a:latin typeface="Cambria Math" panose="02040503050406030204" pitchFamily="18" charset="0"/>
                  </a:rPr>
                  <a:t>$A$</a:t>
                </a:r>
                <a:r>
                  <a:rPr sz="2400" b="0">
                    <a:solidFill>
                      <a:srgbClr val="78350F"/>
                    </a:solidFill>
                    <a:latin typeface="Arial"/>
                  </a:rPr>
                  <a:t>, </a:t>
                </a:r>
                <a:r>
                  <a:rPr lang="en-IN" sz="2400">
                    <a:solidFill>
                      <a:srgbClr val="78350F"/>
                    </a:solidFill>
                    <a:latin typeface="Cambria Math" panose="02040503050406030204" pitchFamily="18" charset="0"/>
                  </a:rPr>
                  <a:t>$B$</a:t>
                </a:r>
                <a:r>
                  <a:rPr sz="2400" b="0">
                    <a:solidFill>
                      <a:srgbClr val="78350F"/>
                    </a:solidFill>
                    <a:latin typeface="Arial"/>
                  </a:rPr>
                  <a:t>, </a:t>
                </a:r>
                <a:r>
                  <a:rPr lang="en-IN" sz="2400">
                    <a:solidFill>
                      <a:srgbClr val="78350F"/>
                    </a:solidFill>
                    <a:latin typeface="Cambria Math" panose="02040503050406030204" pitchFamily="18" charset="0"/>
                  </a:rPr>
                  <a:t>$C$</a:t>
                </a:r>
                <a:r>
                  <a:rPr sz="2400" b="0">
                    <a:solidFill>
                      <a:srgbClr val="78350F"/>
                    </a:solidFill>
                    <a:latin typeface="Arial"/>
                  </a:rPr>
                  <a:t> or none (if disjoint); covering </a:t>
                </a:r>
                <a:r>
                  <a:rPr lang="en-IN" sz="2400">
                    <a:solidFill>
                      <a:srgbClr val="78350F"/>
                    </a:solidFill>
                    <a:latin typeface="Cambria Math" panose="02040503050406030204" pitchFamily="18" charset="0"/>
                  </a:rPr>
                  <a:t>$S$</a:t>
                </a:r>
                <a:r>
                  <a:rPr sz="2400" b="0">
                    <a:solidFill>
                      <a:srgbClr val="78350F"/>
                    </a:solidFill>
                    <a:latin typeface="Arial"/>
                  </a:rPr>
                  <a:t> removes the 'none' choice.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are pairwise disjoint, each element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lies in at most one of them: it goes to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or to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or to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or to none of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ways to place the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elements is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this is the sample space.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in addition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no element is left out, so each element has only 3 choices.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a:t>
                </a:r>
                <a:r>
                  <a:rPr sz="2400" b="0">
                    <a:solidFill>
                      <a:srgbClr val="111827"/>
                    </a:solidFill>
                    <a:latin typeface="Arial"/>
                  </a:rPr>
                  <a:t>, </a:t>
                </a:r>
                <a:r>
                  <a:rPr lang="en-IN" sz="2400">
                    <a:solidFill>
                      <a:srgbClr val="111827"/>
                    </a:solidFill>
                    <a:latin typeface="Cambria Math" panose="02040503050406030204" pitchFamily="18" charset="0"/>
                  </a:rPr>
                  <a:t>$B$</a:t>
                </a:r>
                <a:r>
                  <a:rPr sz="2400" b="0">
                    <a:solidFill>
                      <a:srgbClr val="111827"/>
                    </a:solidFill>
                    <a:latin typeface="Arial"/>
                  </a:rPr>
                  <a:t>, </a:t>
                </a:r>
                <a:r>
                  <a:rPr lang="en-IN" sz="2400">
                    <a:solidFill>
                      <a:srgbClr val="111827"/>
                    </a:solidFill>
                    <a:latin typeface="Cambria Math" panose="02040503050406030204" pitchFamily="18" charset="0"/>
                  </a:rPr>
                  <a:t>$C$</a:t>
                </a:r>
                <a:r>
                  <a:rPr sz="2400" b="0">
                    <a:solidFill>
                      <a:srgbClr val="111827"/>
                    </a:solidFill>
                    <a:latin typeface="Arial"/>
                  </a:rPr>
                  <a:t> are pairwise disjoint, each element of </a:t>
                </a:r>
                <a:r>
                  <a:rPr lang="en-IN" sz="2400">
                    <a:solidFill>
                      <a:srgbClr val="111827"/>
                    </a:solidFill>
                    <a:latin typeface="Cambria Math" panose="02040503050406030204" pitchFamily="18" charset="0"/>
                  </a:rPr>
                  <a:t>$S$</a:t>
                </a:r>
                <a:r>
                  <a:rPr sz="2400" b="0">
                    <a:solidFill>
                      <a:srgbClr val="111827"/>
                    </a:solidFill>
                    <a:latin typeface="Arial"/>
                  </a:rPr>
                  <a:t> lies in at most one of them: it goes to </a:t>
                </a:r>
                <a:r>
                  <a:rPr lang="en-IN" sz="2400">
                    <a:solidFill>
                      <a:srgbClr val="111827"/>
                    </a:solidFill>
                    <a:latin typeface="Cambria Math" panose="02040503050406030204" pitchFamily="18" charset="0"/>
                  </a:rPr>
                  <a:t>$A$</a:t>
                </a:r>
                <a:r>
                  <a:rPr sz="2400" b="0">
                    <a:solidFill>
                      <a:srgbClr val="111827"/>
                    </a:solidFill>
                    <a:latin typeface="Arial"/>
                  </a:rPr>
                  <a:t>, or to </a:t>
                </a:r>
                <a:r>
                  <a:rPr lang="en-IN" sz="2400">
                    <a:solidFill>
                      <a:srgbClr val="111827"/>
                    </a:solidFill>
                    <a:latin typeface="Cambria Math" panose="02040503050406030204" pitchFamily="18" charset="0"/>
                  </a:rPr>
                  <a:t>$B$</a:t>
                </a:r>
                <a:r>
                  <a:rPr sz="2400" b="0">
                    <a:solidFill>
                      <a:srgbClr val="111827"/>
                    </a:solidFill>
                    <a:latin typeface="Arial"/>
                  </a:rPr>
                  <a:t>, or to </a:t>
                </a:r>
                <a:r>
                  <a:rPr lang="en-IN" sz="2400">
                    <a:solidFill>
                      <a:srgbClr val="111827"/>
                    </a:solidFill>
                    <a:latin typeface="Cambria Math" panose="02040503050406030204" pitchFamily="18" charset="0"/>
                  </a:rPr>
                  <a:t>$C$</a:t>
                </a:r>
                <a:r>
                  <a:rPr sz="2400" b="0">
                    <a:solidFill>
                      <a:srgbClr val="111827"/>
                    </a:solidFill>
                    <a:latin typeface="Arial"/>
                  </a:rPr>
                  <a:t>, or to none of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ways to place the </a:t>
                </a:r>
                <a:r>
                  <a:rPr lang="en-IN" sz="2400">
                    <a:solidFill>
                      <a:srgbClr val="111827"/>
                    </a:solidFill>
                    <a:latin typeface="Cambria Math" panose="02040503050406030204" pitchFamily="18" charset="0"/>
                  </a:rPr>
                  <a:t>$n$</a:t>
                </a:r>
                <a:r>
                  <a:rPr sz="2400" b="0">
                    <a:solidFill>
                      <a:srgbClr val="111827"/>
                    </a:solidFill>
                    <a:latin typeface="Arial"/>
                  </a:rPr>
                  <a:t> elements is </a:t>
                </a:r>
                <a:r>
                  <a:rPr lang="en-IN" sz="2400">
                    <a:solidFill>
                      <a:srgbClr val="111827"/>
                    </a:solidFill>
                    <a:latin typeface="Cambria Math" panose="02040503050406030204" pitchFamily="18" charset="0"/>
                  </a:rPr>
                  <a:t>$4^n$</a:t>
                </a:r>
                <a:r>
                  <a:rPr sz="2400" b="0">
                    <a:solidFill>
                      <a:srgbClr val="111827"/>
                    </a:solidFill>
                    <a:latin typeface="Arial"/>
                  </a:rPr>
                  <a:t>; this is the sample space.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in addition </a:t>
                </a:r>
                <a:r>
                  <a:rPr lang="en-IN" sz="2400">
                    <a:solidFill>
                      <a:srgbClr val="111827"/>
                    </a:solidFill>
                    <a:latin typeface="Cambria Math" panose="02040503050406030204" pitchFamily="18" charset="0"/>
                  </a:rPr>
                  <a:t>$A\cup B\cup C=S$</a:t>
                </a:r>
                <a:r>
                  <a:rPr sz="2400" b="0">
                    <a:solidFill>
                      <a:srgbClr val="111827"/>
                    </a:solidFill>
                    <a:latin typeface="Arial"/>
                  </a:rPr>
                  <a:t>, no element is left out, so each element has only 3 choices.</a:t>
                </a:r>
                <a:endParaRPr sz="2400">
                  <a:solidFill>
                    <a:srgbClr val="111827"/>
                  </a:solidFill>
                </a:endParaRPr>
              </a:p>
            </p:txBody>
          </p:sp>
        </mc:Fallback>
      </mc:AlternateContent>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number of favourable ways is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𝑛</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sup>
                        </m:sSup>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option (B).</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number of favourable ways is </a:t>
                </a:r>
                <a:r>
                  <a:rPr lang="en-IN" sz="2400">
                    <a:solidFill>
                      <a:srgbClr val="111827"/>
                    </a:solidFill>
                    <a:latin typeface="Cambria Math" panose="02040503050406030204" pitchFamily="18" charset="0"/>
                  </a:rPr>
                  <a:t>$3^n$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$=\frac{3^n}{4^n}=\left(\frac34\right)^n$</a:t>
                </a:r>
                <a:r>
                  <a:rPr sz="2400" b="0">
                    <a:solidFill>
                      <a:srgbClr val="111827"/>
                    </a:solidFill>
                    <a:latin typeface="Arial"/>
                  </a:rPr>
                  <a:t>, option (B).</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4</m:t>
                                </m:r>
                              </m:den>
                            </m:f>
                          </m:e>
                        </m:d>
                      </m:e>
                      <m:sup>
                        <m:r>
                          <a:rPr lang="en-IN" sz="2800" i="1">
                            <a:solidFill>
                              <a:srgbClr val="15803D"/>
                            </a:solidFill>
                            <a:latin typeface="Cambria Math" panose="02040503050406030204" pitchFamily="18" charset="0"/>
                          </a:rPr>
                          <m:t>𝑛</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(B) </a:t>
                </a:r>
                <a:r>
                  <a:rPr lang="en-IN" sz="2800">
                    <a:solidFill>
                      <a:srgbClr val="15803D"/>
                    </a:solidFill>
                    <a:latin typeface="Cambria Math" panose="02040503050406030204" pitchFamily="18" charset="0"/>
                  </a:rPr>
                  <a:t>$\left(\frac34\right)^n$</a:t>
                </a:r>
                <a:endParaRPr sz="2800">
                  <a:solidFill>
                    <a:srgbClr val="15803D"/>
                  </a:solidFill>
                </a:endParaRPr>
              </a:p>
            </p:txBody>
          </p:sp>
        </mc:Fallback>
      </mc:AlternateContent>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answer holds for every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 so test the smallest case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see which option survives.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answer holds for every </a:t>
                </a:r>
                <a:r>
                  <a:rPr lang="en-IN" sz="2400">
                    <a:solidFill>
                      <a:srgbClr val="78350F"/>
                    </a:solidFill>
                    <a:latin typeface="Cambria Math" panose="02040503050406030204" pitchFamily="18" charset="0"/>
                  </a:rPr>
                  <a:t>$n$</a:t>
                </a:r>
                <a:r>
                  <a:rPr sz="2400" b="0">
                    <a:solidFill>
                      <a:srgbClr val="78350F"/>
                    </a:solidFill>
                    <a:latin typeface="Arial"/>
                  </a:rPr>
                  <a:t>, so test the smallest case </a:t>
                </a:r>
                <a:r>
                  <a:rPr lang="en-IN" sz="2400">
                    <a:solidFill>
                      <a:srgbClr val="78350F"/>
                    </a:solidFill>
                    <a:latin typeface="Cambria Math" panose="02040503050406030204" pitchFamily="18" charset="0"/>
                  </a:rPr>
                  <a:t>$n=1$</a:t>
                </a:r>
                <a:r>
                  <a:rPr sz="2400" b="0">
                    <a:solidFill>
                      <a:srgbClr val="78350F"/>
                    </a:solidFill>
                    <a:latin typeface="Arial"/>
                  </a:rPr>
                  <a:t> and see which option survives.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probability is one of the four given expressions in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valid for all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so it must match the true value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Each of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has 2 members and there are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triples.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Pairwise disjoint triples: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three with exactly one set equal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That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triples.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probability is one of the four given expressions in </a:t>
                </a:r>
                <a:r>
                  <a:rPr lang="en-IN" sz="2400">
                    <a:solidFill>
                      <a:srgbClr val="111827"/>
                    </a:solidFill>
                    <a:latin typeface="Cambria Math" panose="02040503050406030204" pitchFamily="18" charset="0"/>
                  </a:rPr>
                  <a:t>$n$</a:t>
                </a:r>
                <a:r>
                  <a:rPr sz="2400" b="0">
                    <a:solidFill>
                      <a:srgbClr val="111827"/>
                    </a:solidFill>
                    <a:latin typeface="Arial"/>
                  </a:rPr>
                  <a:t>, valid for all </a:t>
                </a:r>
                <a:r>
                  <a:rPr lang="en-IN" sz="2400">
                    <a:solidFill>
                      <a:srgbClr val="111827"/>
                    </a:solidFill>
                    <a:latin typeface="Cambria Math" panose="02040503050406030204" pitchFamily="18" charset="0"/>
                  </a:rPr>
                  <a:t>$n$</a:t>
                </a:r>
                <a:r>
                  <a:rPr sz="2400" b="0">
                    <a:solidFill>
                      <a:srgbClr val="111827"/>
                    </a:solidFill>
                    <a:latin typeface="Arial"/>
                  </a:rPr>
                  <a:t>, so it must match the true value at </a:t>
                </a:r>
                <a:r>
                  <a:rPr lang="en-IN" sz="2400">
                    <a:solidFill>
                      <a:srgbClr val="111827"/>
                    </a:solidFill>
                    <a:latin typeface="Cambria Math" panose="02040503050406030204" pitchFamily="18" charset="0"/>
                  </a:rPr>
                  <a:t>$n=1$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$S=\{a\}$</a:t>
                </a:r>
                <a:r>
                  <a:rPr sz="2400" b="0">
                    <a:solidFill>
                      <a:srgbClr val="111827"/>
                    </a:solidFill>
                    <a:latin typeface="Arial"/>
                  </a:rPr>
                  <a:t>. Each of </a:t>
                </a:r>
                <a:r>
                  <a:rPr lang="en-IN" sz="2400">
                    <a:solidFill>
                      <a:srgbClr val="111827"/>
                    </a:solidFill>
                    <a:latin typeface="Cambria Math" panose="02040503050406030204" pitchFamily="18" charset="0"/>
                  </a:rPr>
                  <a:t>$A,B,C$</a:t>
                </a:r>
                <a:r>
                  <a:rPr sz="2400" b="0">
                    <a:solidFill>
                      <a:srgbClr val="111827"/>
                    </a:solidFill>
                    <a:latin typeface="Arial"/>
                  </a:rPr>
                  <a:t> is </a:t>
                </a:r>
                <a:r>
                  <a:rPr lang="en-IN" sz="2400">
                    <a:solidFill>
                      <a:srgbClr val="111827"/>
                    </a:solidFill>
                    <a:latin typeface="Cambria Math" panose="02040503050406030204" pitchFamily="18" charset="0"/>
                  </a:rPr>
                  <a:t>$\emptyset$</a:t>
                </a:r>
                <a:r>
                  <a:rPr sz="2400" b="0">
                    <a:solidFill>
                      <a:srgbClr val="111827"/>
                    </a:solidFill>
                    <a:latin typeface="Arial"/>
                  </a:rPr>
                  <a:t> or </a:t>
                </a:r>
                <a:r>
                  <a:rPr lang="en-IN" sz="2400">
                    <a:solidFill>
                      <a:srgbClr val="111827"/>
                    </a:solidFill>
                    <a:latin typeface="Cambria Math" panose="02040503050406030204" pitchFamily="18" charset="0"/>
                  </a:rPr>
                  <a:t>$\{a\}$</a:t>
                </a:r>
                <a:r>
                  <a:rPr sz="2400" b="0">
                    <a:solidFill>
                      <a:srgbClr val="111827"/>
                    </a:solidFill>
                    <a:latin typeface="Arial"/>
                  </a:rPr>
                  <a:t>, so </a:t>
                </a:r>
                <a:r>
                  <a:rPr lang="en-IN" sz="2400">
                    <a:solidFill>
                      <a:srgbClr val="111827"/>
                    </a:solidFill>
                    <a:latin typeface="Cambria Math" panose="02040503050406030204" pitchFamily="18" charset="0"/>
                  </a:rPr>
                  <a:t>$P$</a:t>
                </a:r>
                <a:r>
                  <a:rPr sz="2400" b="0">
                    <a:solidFill>
                      <a:srgbClr val="111827"/>
                    </a:solidFill>
                    <a:latin typeface="Arial"/>
                  </a:rPr>
                  <a:t> has 2 members and there are </a:t>
                </a:r>
                <a:r>
                  <a:rPr lang="en-IN" sz="2400">
                    <a:solidFill>
                      <a:srgbClr val="111827"/>
                    </a:solidFill>
                    <a:latin typeface="Cambria Math" panose="02040503050406030204" pitchFamily="18" charset="0"/>
                  </a:rPr>
                  <a:t>$2^3=8$</a:t>
                </a:r>
                <a:r>
                  <a:rPr sz="2400" b="0">
                    <a:solidFill>
                      <a:srgbClr val="111827"/>
                    </a:solidFill>
                    <a:latin typeface="Arial"/>
                  </a:rPr>
                  <a:t> triples.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Pairwise disjoint triples: </a:t>
                </a:r>
                <a:r>
                  <a:rPr lang="en-IN" sz="2400">
                    <a:solidFill>
                      <a:srgbClr val="111827"/>
                    </a:solidFill>
                    <a:latin typeface="Cambria Math" panose="02040503050406030204" pitchFamily="18" charset="0"/>
                  </a:rPr>
                  <a:t>$(\emptyset,\emptyset,\emptyset)$</a:t>
                </a:r>
                <a:r>
                  <a:rPr sz="2400" b="0">
                    <a:solidFill>
                      <a:srgbClr val="111827"/>
                    </a:solidFill>
                    <a:latin typeface="Arial"/>
                  </a:rPr>
                  <a:t> and the three with exactly one set equal to </a:t>
                </a:r>
                <a:r>
                  <a:rPr lang="en-IN" sz="2400">
                    <a:solidFill>
                      <a:srgbClr val="111827"/>
                    </a:solidFill>
                    <a:latin typeface="Cambria Math" panose="02040503050406030204" pitchFamily="18" charset="0"/>
                  </a:rPr>
                  <a:t>$\{a\}$</a:t>
                </a:r>
                <a:r>
                  <a:rPr sz="2400" b="0">
                    <a:solidFill>
                      <a:srgbClr val="111827"/>
                    </a:solidFill>
                    <a:latin typeface="Arial"/>
                  </a:rPr>
                  <a:t>. That is </a:t>
                </a:r>
                <a:r>
                  <a:rPr lang="en-IN" sz="2400">
                    <a:solidFill>
                      <a:srgbClr val="111827"/>
                    </a:solidFill>
                    <a:latin typeface="Cambria Math" panose="02040503050406030204" pitchFamily="18" charset="0"/>
                  </a:rPr>
                  <a:t>$4$</a:t>
                </a:r>
                <a:r>
                  <a:rPr sz="2400" b="0">
                    <a:solidFill>
                      <a:srgbClr val="111827"/>
                    </a:solidFill>
                    <a:latin typeface="Arial"/>
                  </a:rPr>
                  <a:t> triples.</a:t>
                </a:r>
                <a:endParaRPr sz="2400">
                  <a:solidFill>
                    <a:srgbClr val="111827"/>
                  </a:solidFill>
                </a:endParaRPr>
              </a:p>
            </p:txBody>
          </p:sp>
        </mc:Fallback>
      </mc:AlternateContent>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Among these,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in the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triples where one set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probability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Only (B) equals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answer is (B)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Among these, </a:t>
                </a:r>
                <a:r>
                  <a:rPr lang="en-IN" sz="2400">
                    <a:solidFill>
                      <a:srgbClr val="111827"/>
                    </a:solidFill>
                    <a:latin typeface="Cambria Math" panose="02040503050406030204" pitchFamily="18" charset="0"/>
                  </a:rPr>
                  <a:t>$A\cup B\cup C=S$</a:t>
                </a:r>
                <a:r>
                  <a:rPr sz="2400" b="0">
                    <a:solidFill>
                      <a:srgbClr val="111827"/>
                    </a:solidFill>
                    <a:latin typeface="Arial"/>
                  </a:rPr>
                  <a:t> in the </a:t>
                </a:r>
                <a:r>
                  <a:rPr lang="en-IN" sz="2400">
                    <a:solidFill>
                      <a:srgbClr val="111827"/>
                    </a:solidFill>
                    <a:latin typeface="Cambria Math" panose="02040503050406030204" pitchFamily="18" charset="0"/>
                  </a:rPr>
                  <a:t>$3$</a:t>
                </a:r>
                <a:r>
                  <a:rPr sz="2400" b="0">
                    <a:solidFill>
                      <a:srgbClr val="111827"/>
                    </a:solidFill>
                    <a:latin typeface="Arial"/>
                  </a:rPr>
                  <a:t> triples where one set is </a:t>
                </a:r>
                <a:r>
                  <a:rPr lang="en-IN" sz="2400">
                    <a:solidFill>
                      <a:srgbClr val="111827"/>
                    </a:solidFill>
                    <a:latin typeface="Cambria Math" panose="02040503050406030204" pitchFamily="18" charset="0"/>
                  </a:rPr>
                  <a:t>$\{a\}$</a:t>
                </a:r>
                <a:r>
                  <a:rPr sz="2400" b="0">
                    <a:solidFill>
                      <a:srgbClr val="111827"/>
                    </a:solidFill>
                    <a:latin typeface="Arial"/>
                  </a:rPr>
                  <a:t>, so the probability at </a:t>
                </a:r>
                <a:r>
                  <a:rPr lang="en-IN" sz="2400">
                    <a:solidFill>
                      <a:srgbClr val="111827"/>
                    </a:solidFill>
                    <a:latin typeface="Cambria Math" panose="02040503050406030204" pitchFamily="18" charset="0"/>
                  </a:rPr>
                  <a:t>$n=1$</a:t>
                </a:r>
                <a:r>
                  <a:rPr sz="2400" b="0">
                    <a:solidFill>
                      <a:srgbClr val="111827"/>
                    </a:solidFill>
                    <a:latin typeface="Arial"/>
                  </a:rPr>
                  <a:t> is </a:t>
                </a:r>
                <a:r>
                  <a:rPr lang="en-IN" sz="2400">
                    <a:solidFill>
                      <a:srgbClr val="111827"/>
                    </a:solidFill>
                    <a:latin typeface="Cambria Math" panose="02040503050406030204" pitchFamily="18" charset="0"/>
                  </a:rPr>
                  <a:t>$\frac34$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at </a:t>
                </a:r>
                <a:r>
                  <a:rPr lang="en-IN" sz="2400">
                    <a:solidFill>
                      <a:srgbClr val="111827"/>
                    </a:solidFill>
                    <a:latin typeface="Cambria Math" panose="02040503050406030204" pitchFamily="18" charset="0"/>
                  </a:rPr>
                  <a:t>$n=1$</a:t>
                </a:r>
                <a:r>
                  <a:rPr sz="2400" b="0">
                    <a:solidFill>
                      <a:srgbClr val="111827"/>
                    </a:solidFill>
                    <a:latin typeface="Arial"/>
                  </a:rPr>
                  <a:t>: (A)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$\frac34$</a:t>
                </a:r>
                <a:r>
                  <a:rPr sz="2400" b="0">
                    <a:solidFill>
                      <a:srgbClr val="111827"/>
                    </a:solidFill>
                    <a:latin typeface="Arial"/>
                  </a:rPr>
                  <a:t>, (C) </a:t>
                </a:r>
                <a:r>
                  <a:rPr lang="en-IN" sz="2400">
                    <a:solidFill>
                      <a:srgbClr val="111827"/>
                    </a:solidFill>
                    <a:latin typeface="Cambria Math" panose="02040503050406030204" pitchFamily="18" charset="0"/>
                  </a:rPr>
                  <a:t>$\frac37$</a:t>
                </a:r>
                <a:r>
                  <a:rPr sz="2400" b="0">
                    <a:solidFill>
                      <a:srgbClr val="111827"/>
                    </a:solidFill>
                    <a:latin typeface="Arial"/>
                  </a:rPr>
                  <a:t>, (D) </a:t>
                </a:r>
                <a:r>
                  <a:rPr lang="en-IN" sz="2400">
                    <a:solidFill>
                      <a:srgbClr val="111827"/>
                    </a:solidFill>
                    <a:latin typeface="Cambria Math" panose="02040503050406030204" pitchFamily="18" charset="0"/>
                  </a:rPr>
                  <a:t>$\frac57$</a:t>
                </a:r>
                <a:r>
                  <a:rPr sz="2400" b="0">
                    <a:solidFill>
                      <a:srgbClr val="111827"/>
                    </a:solidFill>
                    <a:latin typeface="Arial"/>
                  </a:rPr>
                  <a:t>. Only (B) equals </a:t>
                </a:r>
                <a:r>
                  <a:rPr lang="en-IN" sz="2400">
                    <a:solidFill>
                      <a:srgbClr val="111827"/>
                    </a:solidFill>
                    <a:latin typeface="Cambria Math" panose="02040503050406030204" pitchFamily="18" charset="0"/>
                  </a:rPr>
                  <a:t>$\frac34$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answer is (B) </a:t>
                </a:r>
                <a:r>
                  <a:rPr lang="en-IN" sz="2400">
                    <a:solidFill>
                      <a:srgbClr val="111827"/>
                    </a:solidFill>
                    <a:latin typeface="Cambria Math" panose="02040503050406030204" pitchFamily="18" charset="0"/>
                  </a:rPr>
                  <a:t>$\left(\frac34\right)^n$</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4</m:t>
                                </m:r>
                              </m:den>
                            </m:f>
                          </m:e>
                        </m:d>
                      </m:e>
                      <m:sup>
                        <m:r>
                          <a:rPr lang="en-IN" sz="2800" i="1">
                            <a:solidFill>
                              <a:srgbClr val="15803D"/>
                            </a:solidFill>
                            <a:latin typeface="Cambria Math" panose="02040503050406030204" pitchFamily="18" charset="0"/>
                          </a:rPr>
                          <m:t>𝑛</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(B) </a:t>
                </a:r>
                <a:r>
                  <a:rPr lang="en-IN" sz="2800">
                    <a:solidFill>
                      <a:srgbClr val="15803D"/>
                    </a:solidFill>
                    <a:latin typeface="Cambria Math" panose="02040503050406030204" pitchFamily="18" charset="0"/>
                  </a:rPr>
                  <a:t>$\left(\frac34\right)^n$</a:t>
                </a:r>
                <a:endParaRPr sz="2800">
                  <a:solidFill>
                    <a:srgbClr val="15803D"/>
                  </a:solidFill>
                </a:endParaRPr>
              </a:p>
            </p:txBody>
          </p:sp>
        </mc:Fallback>
      </mc:AlternateContent>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59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triple of subsets of an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-set is the same as assigning each element a 0-1 membership vector of length 3: </a:t>
                </a:r>
                <a14:m>
                  <m:oMath xmlns:m="http://schemas.openxmlformats.org/officeDocument/2006/math">
                    <m:sSup>
                      <m:e>
                        <m:r>
                          <a:rPr lang="en-IN" sz="2400" i="1">
                            <a:solidFill>
                              <a:srgbClr val="111827"/>
                            </a:solidFill>
                            <a:latin typeface="Cambria Math" panose="02040503050406030204" pitchFamily="18" charset="0"/>
                          </a:rPr>
                          <m:t>8</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triples in all.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Constraints on membership vectors act element by element, so the count is (number of allowed vectors)</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pairwise disjoint gives 4 vectors, disjoint with union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gives 3, empty triple intersection gives 7.</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disjoint triples, of which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cover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triple of subsets of an </a:t>
                </a:r>
                <a:r>
                  <a:rPr lang="en-IN" sz="2400">
                    <a:solidFill>
                      <a:srgbClr val="111827"/>
                    </a:solidFill>
                    <a:latin typeface="Cambria Math" panose="02040503050406030204" pitchFamily="18" charset="0"/>
                  </a:rPr>
                  <a:t>$n$</a:t>
                </a:r>
                <a:r>
                  <a:rPr sz="2400" b="0">
                    <a:solidFill>
                      <a:srgbClr val="111827"/>
                    </a:solidFill>
                    <a:latin typeface="Arial"/>
                  </a:rPr>
                  <a:t>-set is the same as assigning each element a 0-1 membership vector of length 3: </a:t>
                </a:r>
                <a:r>
                  <a:rPr lang="en-IN" sz="2400">
                    <a:solidFill>
                      <a:srgbClr val="111827"/>
                    </a:solidFill>
                    <a:latin typeface="Cambria Math" panose="02040503050406030204" pitchFamily="18" charset="0"/>
                  </a:rPr>
                  <a:t>$8^n$</a:t>
                </a:r>
                <a:r>
                  <a:rPr sz="2400" b="0">
                    <a:solidFill>
                      <a:srgbClr val="111827"/>
                    </a:solidFill>
                    <a:latin typeface="Arial"/>
                  </a:rPr>
                  <a:t> triples in all.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Constraints on membership vectors act element by element, so the count is (number of allowed vectors)</a:t>
                </a:r>
                <a:r>
                  <a:rPr lang="en-IN" sz="2400">
                    <a:solidFill>
                      <a:srgbClr val="111827"/>
                    </a:solidFill>
                    <a:latin typeface="Cambria Math" panose="02040503050406030204" pitchFamily="18" charset="0"/>
                  </a:rPr>
                  <a:t>$^n$</a:t>
                </a:r>
                <a:r>
                  <a:rPr sz="2400" b="0">
                    <a:solidFill>
                      <a:srgbClr val="111827"/>
                    </a:solidFill>
                    <a:latin typeface="Arial"/>
                  </a:rPr>
                  <a:t>: pairwise disjoint gives 4 vectors, disjoint with union </a:t>
                </a:r>
                <a:r>
                  <a:rPr lang="en-IN" sz="2400">
                    <a:solidFill>
                      <a:srgbClr val="111827"/>
                    </a:solidFill>
                    <a:latin typeface="Cambria Math" panose="02040503050406030204" pitchFamily="18" charset="0"/>
                  </a:rPr>
                  <a:t>$S$</a:t>
                </a:r>
                <a:r>
                  <a:rPr sz="2400" b="0">
                    <a:solidFill>
                      <a:srgbClr val="111827"/>
                    </a:solidFill>
                    <a:latin typeface="Arial"/>
                  </a:rPr>
                  <a:t> gives 3, empty triple intersection gives 7.</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r>
                  <a:rPr lang="en-IN" sz="2400">
                    <a:solidFill>
                      <a:srgbClr val="111827"/>
                    </a:solidFill>
                    <a:latin typeface="Cambria Math" panose="02040503050406030204" pitchFamily="18" charset="0"/>
                  </a:rPr>
                  <a:t>$n=1$</a:t>
                </a:r>
                <a:r>
                  <a:rPr sz="2400" b="0">
                    <a:solidFill>
                      <a:srgbClr val="111827"/>
                    </a:solidFill>
                    <a:latin typeface="Arial"/>
                  </a:rPr>
                  <a:t>: </a:t>
                </a:r>
                <a:r>
                  <a:rPr lang="en-IN" sz="2400">
                    <a:solidFill>
                      <a:srgbClr val="111827"/>
                    </a:solidFill>
                    <a:latin typeface="Cambria Math" panose="02040503050406030204" pitchFamily="18" charset="0"/>
                  </a:rPr>
                  <a:t>$4$</a:t>
                </a:r>
                <a:r>
                  <a:rPr sz="2400" b="0">
                    <a:solidFill>
                      <a:srgbClr val="111827"/>
                    </a:solidFill>
                    <a:latin typeface="Arial"/>
                  </a:rPr>
                  <a:t> disjoint triples, of which </a:t>
                </a:r>
                <a:r>
                  <a:rPr lang="en-IN" sz="2400">
                    <a:solidFill>
                      <a:srgbClr val="111827"/>
                    </a:solidFill>
                    <a:latin typeface="Cambria Math" panose="02040503050406030204" pitchFamily="18" charset="0"/>
                  </a:rPr>
                  <a:t>$3$</a:t>
                </a:r>
                <a:r>
                  <a:rPr sz="2400" b="0">
                    <a:solidFill>
                      <a:srgbClr val="111827"/>
                    </a:solidFill>
                    <a:latin typeface="Arial"/>
                  </a:rPr>
                  <a:t> cover </a:t>
                </a:r>
                <a:r>
                  <a:rPr lang="en-IN" sz="2400">
                    <a:solidFill>
                      <a:srgbClr val="111827"/>
                    </a:solidFill>
                    <a:latin typeface="Cambria Math" panose="02040503050406030204" pitchFamily="18" charset="0"/>
                  </a:rPr>
                  <a:t>$S$</a:t>
                </a:r>
                <a:r>
                  <a:rPr sz="2400" b="0">
                    <a:solidFill>
                      <a:srgbClr val="111827"/>
                    </a:solidFill>
                    <a:latin typeface="Arial"/>
                  </a:rPr>
                  <a:t>, probability </a:t>
                </a:r>
                <a:r>
                  <a:rPr lang="en-IN" sz="2400">
                    <a:solidFill>
                      <a:srgbClr val="111827"/>
                    </a:solidFill>
                    <a:latin typeface="Cambria Math" panose="02040503050406030204" pitchFamily="18" charset="0"/>
                  </a:rPr>
                  <a:t>$\frac34$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098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power set of a given set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containing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elements, and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(may or may not be distinct).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contains exactly 1 element, find the probability that the set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also contains exactly 1 element.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(B)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(C)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(D)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endParaRPr sz="2400">
                  <a:solidFill>
                    <a:srgbClr val="111827"/>
                  </a:solidFill>
                </a:endParaRPr>
              </a:p>
            </p:txBody>
          </p:sp>
        </mc:Choice>
        <mc:Fallback>
          <p:sp>
            <p:nvSpPr>
              <p:cNvPr id="4" name="Rounded Rectangle 3"/>
              <p:cNvSpPr/>
              <p:nvPr/>
            </p:nvSpPr>
            <p:spPr>
              <a:xfrm>
                <a:off x="731520" y="1280160"/>
                <a:ext cx="10725912" cy="3098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is the power set of a given set </a:t>
                </a:r>
                <a:r>
                  <a:rPr lang="en-IN" sz="2400">
                    <a:solidFill>
                      <a:srgbClr val="111827"/>
                    </a:solidFill>
                    <a:latin typeface="Cambria Math" panose="02040503050406030204" pitchFamily="18" charset="0"/>
                  </a:rPr>
                  <a:t>$S$</a:t>
                </a:r>
                <a:r>
                  <a:rPr sz="2400" b="0">
                    <a:solidFill>
                      <a:srgbClr val="111827"/>
                    </a:solidFill>
                    <a:latin typeface="Arial"/>
                  </a:rPr>
                  <a:t> containing </a:t>
                </a:r>
                <a:r>
                  <a:rPr lang="en-IN" sz="2400">
                    <a:solidFill>
                      <a:srgbClr val="111827"/>
                    </a:solidFill>
                    <a:latin typeface="Cambria Math" panose="02040503050406030204" pitchFamily="18" charset="0"/>
                  </a:rPr>
                  <a:t>$n$</a:t>
                </a:r>
                <a:r>
                  <a:rPr sz="2400" b="0">
                    <a:solidFill>
                      <a:srgbClr val="111827"/>
                    </a:solidFill>
                    <a:latin typeface="Arial"/>
                  </a:rPr>
                  <a:t> elements, and </a:t>
                </a:r>
                <a:r>
                  <a:rPr lang="en-IN" sz="2400">
                    <a:solidFill>
                      <a:srgbClr val="111827"/>
                    </a:solidFill>
                    <a:latin typeface="Cambria Math" panose="02040503050406030204" pitchFamily="18" charset="0"/>
                  </a:rPr>
                  <a:t>$A, B, C \in P$</a:t>
                </a:r>
                <a:r>
                  <a:rPr sz="2400" b="0">
                    <a:solidFill>
                      <a:srgbClr val="111827"/>
                    </a:solidFill>
                    <a:latin typeface="Arial"/>
                  </a:rPr>
                  <a:t> (may or may not be distinct).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$A\cap B\cap C$</a:t>
                </a:r>
                <a:r>
                  <a:rPr sz="2400" b="0">
                    <a:solidFill>
                      <a:srgbClr val="111827"/>
                    </a:solidFill>
                    <a:latin typeface="Arial"/>
                  </a:rPr>
                  <a:t> contains exactly 1 element, find the probability that the set </a:t>
                </a:r>
                <a:r>
                  <a:rPr lang="en-IN" sz="2400">
                    <a:solidFill>
                      <a:srgbClr val="111827"/>
                    </a:solidFill>
                    <a:latin typeface="Cambria Math" panose="02040503050406030204" pitchFamily="18" charset="0"/>
                  </a:rPr>
                  <a:t>$B$</a:t>
                </a:r>
                <a:r>
                  <a:rPr sz="2400" b="0">
                    <a:solidFill>
                      <a:srgbClr val="111827"/>
                    </a:solidFill>
                    <a:latin typeface="Arial"/>
                  </a:rPr>
                  <a:t> also contains exactly 1 element.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$\left(\frac47\right)^{n-1}$</a:t>
                </a:r>
                <a:r>
                  <a:rPr sz="2400" b="0">
                    <a:solidFill>
                      <a:srgbClr val="111827"/>
                    </a:solidFill>
                    <a:latin typeface="Arial"/>
                  </a:rPr>
                  <a:t>   (B) </a:t>
                </a:r>
                <a:r>
                  <a:rPr lang="en-IN" sz="2400">
                    <a:solidFill>
                      <a:srgbClr val="111827"/>
                    </a:solidFill>
                    <a:latin typeface="Cambria Math" panose="02040503050406030204" pitchFamily="18" charset="0"/>
                  </a:rPr>
                  <a:t>$\left(\frac34\right)^n$</a:t>
                </a:r>
                <a:r>
                  <a:rPr sz="2400" b="0">
                    <a:solidFill>
                      <a:srgbClr val="111827"/>
                    </a:solidFill>
                    <a:latin typeface="Arial"/>
                  </a:rPr>
                  <a:t>   (C) </a:t>
                </a:r>
                <a:r>
                  <a:rPr lang="en-IN" sz="2400">
                    <a:solidFill>
                      <a:srgbClr val="111827"/>
                    </a:solidFill>
                    <a:latin typeface="Cambria Math" panose="02040503050406030204" pitchFamily="18" charset="0"/>
                  </a:rPr>
                  <a:t>$\left(\frac37\right)^n$</a:t>
                </a:r>
                <a:r>
                  <a:rPr sz="2400" b="0">
                    <a:solidFill>
                      <a:srgbClr val="111827"/>
                    </a:solidFill>
                    <a:latin typeface="Arial"/>
                  </a:rPr>
                  <a:t>   (D) </a:t>
                </a:r>
                <a:r>
                  <a:rPr lang="en-IN" sz="2400">
                    <a:solidFill>
                      <a:srgbClr val="111827"/>
                    </a:solidFill>
                    <a:latin typeface="Cambria Math" panose="02040503050406030204" pitchFamily="18" charset="0"/>
                  </a:rPr>
                  <a:t>$\left(\frac57\right)^n$</a:t>
                </a:r>
                <a:endParaRPr sz="2400">
                  <a:solidFill>
                    <a:srgbClr val="111827"/>
                  </a:solidFill>
                </a:endParaRPr>
              </a:p>
            </p:txBody>
          </p:sp>
        </mc:Fallback>
      </mc:AlternateContent>
      <p:sp>
        <p:nvSpPr>
          <p:cNvPr id="5" name="Rectangle 4"/>
          <p:cNvSpPr/>
          <p:nvPr/>
        </p:nvSpPr>
        <p:spPr>
          <a:xfrm>
            <a:off x="731520" y="4607051"/>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counting with sets and power set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If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 has just one element it must be the common element of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𝐶</m:t>
                    </m:r>
                  </m:oMath>
                </a14:m>
                <a:r>
                  <a:rPr sz="2400" b="0">
                    <a:solidFill>
                      <a:srgbClr val="78350F"/>
                    </a:solidFill>
                    <a:latin typeface="Arial"/>
                  </a:rPr>
                  <a:t>, so the other elements avoid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If </a:t>
                </a:r>
                <a:r>
                  <a:rPr lang="en-IN" sz="2400">
                    <a:solidFill>
                      <a:srgbClr val="78350F"/>
                    </a:solidFill>
                    <a:latin typeface="Cambria Math" panose="02040503050406030204" pitchFamily="18" charset="0"/>
                  </a:rPr>
                  <a:t>$B$</a:t>
                </a:r>
                <a:r>
                  <a:rPr sz="2400" b="0">
                    <a:solidFill>
                      <a:srgbClr val="78350F"/>
                    </a:solidFill>
                    <a:latin typeface="Arial"/>
                  </a:rPr>
                  <a:t> has just one element it must be the common element of </a:t>
                </a:r>
                <a:r>
                  <a:rPr lang="en-IN" sz="2400">
                    <a:solidFill>
                      <a:srgbClr val="78350F"/>
                    </a:solidFill>
                    <a:latin typeface="Cambria Math" panose="02040503050406030204" pitchFamily="18" charset="0"/>
                  </a:rPr>
                  <a:t>$A\cap B\cap C$</a:t>
                </a:r>
                <a:r>
                  <a:rPr sz="2400" b="0">
                    <a:solidFill>
                      <a:srgbClr val="78350F"/>
                    </a:solidFill>
                    <a:latin typeface="Arial"/>
                  </a:rPr>
                  <a:t>, so the other elements avoid </a:t>
                </a:r>
                <a:r>
                  <a:rPr lang="en-IN" sz="2400">
                    <a:solidFill>
                      <a:srgbClr val="78350F"/>
                    </a:solidFill>
                    <a:latin typeface="Cambria Math" panose="02040503050406030204" pitchFamily="18" charset="0"/>
                  </a:rPr>
                  <a:t>$B$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Choose the single element of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of the remaining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elements can have any membership pattern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except 'in all three':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patterns.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ways when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has exactly one element is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also contains exactly one element, that element is the common one, so every other element is outside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Choose the single element of </a:t>
                </a:r>
                <a:r>
                  <a:rPr lang="en-IN" sz="2400">
                    <a:solidFill>
                      <a:srgbClr val="111827"/>
                    </a:solidFill>
                    <a:latin typeface="Cambria Math" panose="02040503050406030204" pitchFamily="18" charset="0"/>
                  </a:rPr>
                  <a:t>$A\cap B\cap C$</a:t>
                </a:r>
                <a:r>
                  <a:rPr sz="2400" b="0">
                    <a:solidFill>
                      <a:srgbClr val="111827"/>
                    </a:solidFill>
                    <a:latin typeface="Arial"/>
                  </a:rPr>
                  <a:t> in </a:t>
                </a:r>
                <a:r>
                  <a:rPr lang="en-IN" sz="2400">
                    <a:solidFill>
                      <a:srgbClr val="111827"/>
                    </a:solidFill>
                    <a:latin typeface="Cambria Math" panose="02040503050406030204" pitchFamily="18" charset="0"/>
                  </a:rPr>
                  <a:t>$n$</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of the remaining </a:t>
                </a:r>
                <a:r>
                  <a:rPr lang="en-IN" sz="2400">
                    <a:solidFill>
                      <a:srgbClr val="111827"/>
                    </a:solidFill>
                    <a:latin typeface="Cambria Math" panose="02040503050406030204" pitchFamily="18" charset="0"/>
                  </a:rPr>
                  <a:t>$n-1$</a:t>
                </a:r>
                <a:r>
                  <a:rPr sz="2400" b="0">
                    <a:solidFill>
                      <a:srgbClr val="111827"/>
                    </a:solidFill>
                    <a:latin typeface="Arial"/>
                  </a:rPr>
                  <a:t> elements can have any membership pattern in </a:t>
                </a:r>
                <a:r>
                  <a:rPr lang="en-IN" sz="2400">
                    <a:solidFill>
                      <a:srgbClr val="111827"/>
                    </a:solidFill>
                    <a:latin typeface="Cambria Math" panose="02040503050406030204" pitchFamily="18" charset="0"/>
                  </a:rPr>
                  <a:t>$(A,B,C)$</a:t>
                </a:r>
                <a:r>
                  <a:rPr sz="2400" b="0">
                    <a:solidFill>
                      <a:srgbClr val="111827"/>
                    </a:solidFill>
                    <a:latin typeface="Arial"/>
                  </a:rPr>
                  <a:t> except 'in all three': </a:t>
                </a:r>
                <a:r>
                  <a:rPr lang="en-IN" sz="2400">
                    <a:solidFill>
                      <a:srgbClr val="111827"/>
                    </a:solidFill>
                    <a:latin typeface="Cambria Math" panose="02040503050406030204" pitchFamily="18" charset="0"/>
                  </a:rPr>
                  <a:t>$2^3-1=7$</a:t>
                </a:r>
                <a:r>
                  <a:rPr sz="2400" b="0">
                    <a:solidFill>
                      <a:srgbClr val="111827"/>
                    </a:solidFill>
                    <a:latin typeface="Arial"/>
                  </a:rPr>
                  <a:t> patterns.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ways when </a:t>
                </a:r>
                <a:r>
                  <a:rPr lang="en-IN" sz="2400">
                    <a:solidFill>
                      <a:srgbClr val="111827"/>
                    </a:solidFill>
                    <a:latin typeface="Cambria Math" panose="02040503050406030204" pitchFamily="18" charset="0"/>
                  </a:rPr>
                  <a:t>$A\cap B\cap C$</a:t>
                </a:r>
                <a:r>
                  <a:rPr sz="2400" b="0">
                    <a:solidFill>
                      <a:srgbClr val="111827"/>
                    </a:solidFill>
                    <a:latin typeface="Arial"/>
                  </a:rPr>
                  <a:t> has exactly one element is </a:t>
                </a:r>
                <a:r>
                  <a:rPr lang="en-IN" sz="2400">
                    <a:solidFill>
                      <a:srgbClr val="111827"/>
                    </a:solidFill>
                    <a:latin typeface="Cambria Math" panose="02040503050406030204" pitchFamily="18" charset="0"/>
                  </a:rPr>
                  <a:t>$n\times 7^{n-1}$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$B$</a:t>
                </a:r>
                <a:r>
                  <a:rPr sz="2400" b="0">
                    <a:solidFill>
                      <a:srgbClr val="111827"/>
                    </a:solidFill>
                    <a:latin typeface="Arial"/>
                  </a:rPr>
                  <a:t> also contains exactly one element, that element is the common one, so every other element is outside </a:t>
                </a:r>
                <a:r>
                  <a:rPr lang="en-IN" sz="2400">
                    <a:solidFill>
                      <a:srgbClr val="111827"/>
                    </a:solidFill>
                    <a:latin typeface="Cambria Math" panose="02040503050406030204" pitchFamily="18" charset="0"/>
                  </a:rPr>
                  <a:t>$B$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remaining element then has patterns: in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only, in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only, in both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in neither: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choices.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ways are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option (A).</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remaining element then has patterns: in </a:t>
                </a:r>
                <a:r>
                  <a:rPr lang="en-IN" sz="2400">
                    <a:solidFill>
                      <a:srgbClr val="111827"/>
                    </a:solidFill>
                    <a:latin typeface="Cambria Math" panose="02040503050406030204" pitchFamily="18" charset="0"/>
                  </a:rPr>
                  <a:t>$A$</a:t>
                </a:r>
                <a:r>
                  <a:rPr sz="2400" b="0">
                    <a:solidFill>
                      <a:srgbClr val="111827"/>
                    </a:solidFill>
                    <a:latin typeface="Arial"/>
                  </a:rPr>
                  <a:t> only, in </a:t>
                </a:r>
                <a:r>
                  <a:rPr lang="en-IN" sz="2400">
                    <a:solidFill>
                      <a:srgbClr val="111827"/>
                    </a:solidFill>
                    <a:latin typeface="Cambria Math" panose="02040503050406030204" pitchFamily="18" charset="0"/>
                  </a:rPr>
                  <a:t>$C$</a:t>
                </a:r>
                <a:r>
                  <a:rPr sz="2400" b="0">
                    <a:solidFill>
                      <a:srgbClr val="111827"/>
                    </a:solidFill>
                    <a:latin typeface="Arial"/>
                  </a:rPr>
                  <a:t> only, in both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$C$</a:t>
                </a:r>
                <a:r>
                  <a:rPr sz="2400" b="0">
                    <a:solidFill>
                      <a:srgbClr val="111827"/>
                    </a:solidFill>
                    <a:latin typeface="Arial"/>
                  </a:rPr>
                  <a:t>, in neither: </a:t>
                </a:r>
                <a:r>
                  <a:rPr lang="en-IN" sz="2400">
                    <a:solidFill>
                      <a:srgbClr val="111827"/>
                    </a:solidFill>
                    <a:latin typeface="Cambria Math" panose="02040503050406030204" pitchFamily="18" charset="0"/>
                  </a:rPr>
                  <a:t>$4$</a:t>
                </a:r>
                <a:r>
                  <a:rPr sz="2400" b="0">
                    <a:solidFill>
                      <a:srgbClr val="111827"/>
                    </a:solidFill>
                    <a:latin typeface="Arial"/>
                  </a:rPr>
                  <a:t> choices.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Favourable ways are </a:t>
                </a:r>
                <a:r>
                  <a:rPr lang="en-IN" sz="2400">
                    <a:solidFill>
                      <a:srgbClr val="111827"/>
                    </a:solidFill>
                    <a:latin typeface="Cambria Math" panose="02040503050406030204" pitchFamily="18" charset="0"/>
                  </a:rPr>
                  <a:t>$n\times 4^{n-1}$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$=\frac{n\cdot 4^{n-1}}{n\cdot 7^{n-1}}=\left(\frac47\right)^{n-1}$</a:t>
                </a:r>
                <a:r>
                  <a:rPr sz="2400" b="0">
                    <a:solidFill>
                      <a:srgbClr val="111827"/>
                    </a:solidFill>
                    <a:latin typeface="Arial"/>
                  </a:rPr>
                  <a:t>, option (A).</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4</m:t>
                                </m:r>
                              </m:num>
                              <m:den>
                                <m:r>
                                  <a:rPr lang="en-IN" sz="2800" i="1">
                                    <a:solidFill>
                                      <a:srgbClr val="15803D"/>
                                    </a:solidFill>
                                    <a:latin typeface="Cambria Math" panose="02040503050406030204" pitchFamily="18" charset="0"/>
                                  </a:rPr>
                                  <m:t>7</m:t>
                                </m:r>
                              </m:den>
                            </m:f>
                          </m:e>
                        </m:d>
                      </m:e>
                      <m:sup>
                        <m:r>
                          <a:rPr lang="en-IN" sz="2800" i="1">
                            <a:solidFill>
                              <a:srgbClr val="15803D"/>
                            </a:solidFill>
                            <a:latin typeface="Cambria Math" panose="02040503050406030204" pitchFamily="18" charset="0"/>
                          </a:rPr>
                          <m:t>𝑛</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$\left(\frac47\right)^{n-1}$</a:t>
                </a:r>
                <a:endParaRPr sz="2800">
                  <a:solidFill>
                    <a:srgbClr val="15803D"/>
                  </a:solidFill>
                </a:endParaRPr>
              </a:p>
            </p:txBody>
          </p:sp>
        </mc:Fallback>
      </mc:AlternateContent>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smallest case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the options give different values there, so only one can be correct.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smallest case </a:t>
                </a:r>
                <a:r>
                  <a:rPr lang="en-IN" sz="2400">
                    <a:solidFill>
                      <a:srgbClr val="78350F"/>
                    </a:solidFill>
                    <a:latin typeface="Cambria Math" panose="02040503050406030204" pitchFamily="18" charset="0"/>
                  </a:rPr>
                  <a:t>$n=1$</a:t>
                </a:r>
                <a:r>
                  <a:rPr sz="2400" b="0">
                    <a:solidFill>
                      <a:srgbClr val="78350F"/>
                    </a:solidFill>
                    <a:latin typeface="Arial"/>
                  </a:rPr>
                  <a:t>: the options give different values there, so only one can be correct.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required probability is one of the given formulas for every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it must match the true value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has exactly one element, then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contains exactly one element with certainty, so the probability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required probability is one of the given formulas for every </a:t>
                </a:r>
                <a:r>
                  <a:rPr lang="en-IN" sz="2400">
                    <a:solidFill>
                      <a:srgbClr val="111827"/>
                    </a:solidFill>
                    <a:latin typeface="Cambria Math" panose="02040503050406030204" pitchFamily="18" charset="0"/>
                  </a:rPr>
                  <a:t>$n\ge1$</a:t>
                </a:r>
                <a:r>
                  <a:rPr sz="2400" b="0">
                    <a:solidFill>
                      <a:srgbClr val="111827"/>
                    </a:solidFill>
                    <a:latin typeface="Arial"/>
                  </a:rPr>
                  <a:t>, so it must match the true value at </a:t>
                </a:r>
                <a:r>
                  <a:rPr lang="en-IN" sz="2400">
                    <a:solidFill>
                      <a:srgbClr val="111827"/>
                    </a:solidFill>
                    <a:latin typeface="Cambria Math" panose="02040503050406030204" pitchFamily="18" charset="0"/>
                  </a:rPr>
                  <a:t>$n=1$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$S=\{a\}$</a:t>
                </a:r>
                <a:r>
                  <a:rPr sz="2400" b="0">
                    <a:solidFill>
                      <a:srgbClr val="111827"/>
                    </a:solidFill>
                    <a:latin typeface="Arial"/>
                  </a:rPr>
                  <a:t>. If </a:t>
                </a:r>
                <a:r>
                  <a:rPr lang="en-IN" sz="2400">
                    <a:solidFill>
                      <a:srgbClr val="111827"/>
                    </a:solidFill>
                    <a:latin typeface="Cambria Math" panose="02040503050406030204" pitchFamily="18" charset="0"/>
                  </a:rPr>
                  <a:t>$A\cap B\cap C$</a:t>
                </a:r>
                <a:r>
                  <a:rPr sz="2400" b="0">
                    <a:solidFill>
                      <a:srgbClr val="111827"/>
                    </a:solidFill>
                    <a:latin typeface="Arial"/>
                  </a:rPr>
                  <a:t> has exactly one element, then </a:t>
                </a:r>
                <a:r>
                  <a:rPr lang="en-IN" sz="2400">
                    <a:solidFill>
                      <a:srgbClr val="111827"/>
                    </a:solidFill>
                    <a:latin typeface="Cambria Math" panose="02040503050406030204" pitchFamily="18" charset="0"/>
                  </a:rPr>
                  <a:t>$a\in A,B,C$</a:t>
                </a:r>
                <a:r>
                  <a:rPr sz="2400" b="0">
                    <a:solidFill>
                      <a:srgbClr val="111827"/>
                    </a:solidFill>
                    <a:latin typeface="Arial"/>
                  </a:rPr>
                  <a:t>, so </a:t>
                </a:r>
                <a:r>
                  <a:rPr lang="en-IN" sz="2400">
                    <a:solidFill>
                      <a:srgbClr val="111827"/>
                    </a:solidFill>
                    <a:latin typeface="Cambria Math" panose="02040503050406030204" pitchFamily="18" charset="0"/>
                  </a:rPr>
                  <a:t>$A=B=C=\{a\}$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$B$</a:t>
                </a:r>
                <a:r>
                  <a:rPr sz="2400" b="0">
                    <a:solidFill>
                      <a:srgbClr val="111827"/>
                    </a:solidFill>
                    <a:latin typeface="Arial"/>
                  </a:rPr>
                  <a:t> contains exactly one element with certainty, so the probability at </a:t>
                </a:r>
                <a:r>
                  <a:rPr lang="en-IN" sz="2400">
                    <a:solidFill>
                      <a:srgbClr val="111827"/>
                    </a:solidFill>
                    <a:latin typeface="Cambria Math" panose="02040503050406030204" pitchFamily="18" charset="0"/>
                  </a:rPr>
                  <a:t>$n=1$</a:t>
                </a:r>
                <a:r>
                  <a:rPr sz="2400" b="0">
                    <a:solidFill>
                      <a:srgbClr val="111827"/>
                    </a:solidFill>
                    <a:latin typeface="Arial"/>
                  </a:rPr>
                  <a:t>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Options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 equals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so the answer is (A)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by listing: the conditional count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triples and favourable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giving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as (A) says.</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Options at </a:t>
                </a:r>
                <a:r>
                  <a:rPr lang="en-IN" sz="2400">
                    <a:solidFill>
                      <a:srgbClr val="111827"/>
                    </a:solidFill>
                    <a:latin typeface="Cambria Math" panose="02040503050406030204" pitchFamily="18" charset="0"/>
                  </a:rPr>
                  <a:t>$n=1$</a:t>
                </a:r>
                <a:r>
                  <a:rPr sz="2400" b="0">
                    <a:solidFill>
                      <a:srgbClr val="111827"/>
                    </a:solidFill>
                    <a:latin typeface="Arial"/>
                  </a:rPr>
                  <a:t>: (A) </a:t>
                </a:r>
                <a:r>
                  <a:rPr lang="en-IN" sz="2400">
                    <a:solidFill>
                      <a:srgbClr val="111827"/>
                    </a:solidFill>
                    <a:latin typeface="Cambria Math" panose="02040503050406030204" pitchFamily="18" charset="0"/>
                  </a:rPr>
                  <a:t>$\left(\frac47\right)^0=1$</a:t>
                </a:r>
                <a:r>
                  <a:rPr sz="2400" b="0">
                    <a:solidFill>
                      <a:srgbClr val="111827"/>
                    </a:solidFill>
                    <a:latin typeface="Arial"/>
                  </a:rPr>
                  <a:t>, (B) </a:t>
                </a:r>
                <a:r>
                  <a:rPr lang="en-IN" sz="2400">
                    <a:solidFill>
                      <a:srgbClr val="111827"/>
                    </a:solidFill>
                    <a:latin typeface="Cambria Math" panose="02040503050406030204" pitchFamily="18" charset="0"/>
                  </a:rPr>
                  <a:t>$\frac34$</a:t>
                </a:r>
                <a:r>
                  <a:rPr sz="2400" b="0">
                    <a:solidFill>
                      <a:srgbClr val="111827"/>
                    </a:solidFill>
                    <a:latin typeface="Arial"/>
                  </a:rPr>
                  <a:t>, (C) </a:t>
                </a:r>
                <a:r>
                  <a:rPr lang="en-IN" sz="2400">
                    <a:solidFill>
                      <a:srgbClr val="111827"/>
                    </a:solidFill>
                    <a:latin typeface="Cambria Math" panose="02040503050406030204" pitchFamily="18" charset="0"/>
                  </a:rPr>
                  <a:t>$\frac37$</a:t>
                </a:r>
                <a:r>
                  <a:rPr sz="2400" b="0">
                    <a:solidFill>
                      <a:srgbClr val="111827"/>
                    </a:solidFill>
                    <a:latin typeface="Arial"/>
                  </a:rPr>
                  <a:t>, (D) </a:t>
                </a:r>
                <a:r>
                  <a:rPr lang="en-IN" sz="2400">
                    <a:solidFill>
                      <a:srgbClr val="111827"/>
                    </a:solidFill>
                    <a:latin typeface="Cambria Math" panose="02040503050406030204" pitchFamily="18" charset="0"/>
                  </a:rPr>
                  <a:t>$\frac57$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 equals </a:t>
                </a:r>
                <a:r>
                  <a:rPr lang="en-IN" sz="2400">
                    <a:solidFill>
                      <a:srgbClr val="111827"/>
                    </a:solidFill>
                    <a:latin typeface="Cambria Math" panose="02040503050406030204" pitchFamily="18" charset="0"/>
                  </a:rPr>
                  <a:t>$1$</a:t>
                </a:r>
                <a:r>
                  <a:rPr sz="2400" b="0">
                    <a:solidFill>
                      <a:srgbClr val="111827"/>
                    </a:solidFill>
                    <a:latin typeface="Arial"/>
                  </a:rPr>
                  <a:t>, so the answer is (A) </a:t>
                </a:r>
                <a:r>
                  <a:rPr lang="en-IN" sz="2400">
                    <a:solidFill>
                      <a:srgbClr val="111827"/>
                    </a:solidFill>
                    <a:latin typeface="Cambria Math" panose="02040503050406030204" pitchFamily="18" charset="0"/>
                  </a:rPr>
                  <a:t>$\left(\frac47\right)^{n-1}$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$n=2$</a:t>
                </a:r>
                <a:r>
                  <a:rPr sz="2400" b="0">
                    <a:solidFill>
                      <a:srgbClr val="111827"/>
                    </a:solidFill>
                    <a:latin typeface="Arial"/>
                  </a:rPr>
                  <a:t> by listing: the conditional count is </a:t>
                </a:r>
                <a:r>
                  <a:rPr lang="en-IN" sz="2400">
                    <a:solidFill>
                      <a:srgbClr val="111827"/>
                    </a:solidFill>
                    <a:latin typeface="Cambria Math" panose="02040503050406030204" pitchFamily="18" charset="0"/>
                  </a:rPr>
                  <a:t>$2\cdot7=14$</a:t>
                </a:r>
                <a:r>
                  <a:rPr sz="2400" b="0">
                    <a:solidFill>
                      <a:srgbClr val="111827"/>
                    </a:solidFill>
                    <a:latin typeface="Arial"/>
                  </a:rPr>
                  <a:t> triples and favourable </a:t>
                </a:r>
                <a:r>
                  <a:rPr lang="en-IN" sz="2400">
                    <a:solidFill>
                      <a:srgbClr val="111827"/>
                    </a:solidFill>
                    <a:latin typeface="Cambria Math" panose="02040503050406030204" pitchFamily="18" charset="0"/>
                  </a:rPr>
                  <a:t>$2\cdot4=8$</a:t>
                </a:r>
                <a:r>
                  <a:rPr sz="2400" b="0">
                    <a:solidFill>
                      <a:srgbClr val="111827"/>
                    </a:solidFill>
                    <a:latin typeface="Arial"/>
                  </a:rPr>
                  <a:t>, giving </a:t>
                </a:r>
                <a:r>
                  <a:rPr lang="en-IN" sz="2400">
                    <a:solidFill>
                      <a:srgbClr val="111827"/>
                    </a:solidFill>
                    <a:latin typeface="Cambria Math" panose="02040503050406030204" pitchFamily="18" charset="0"/>
                  </a:rPr>
                  <a:t>$\frac47$</a:t>
                </a:r>
                <a:r>
                  <a:rPr sz="2400" b="0">
                    <a:solidFill>
                      <a:srgbClr val="111827"/>
                    </a:solidFill>
                    <a:latin typeface="Arial"/>
                  </a:rPr>
                  <a:t>, as (A) says.</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4</m:t>
                                </m:r>
                              </m:num>
                              <m:den>
                                <m:r>
                                  <a:rPr lang="en-IN" sz="2800" i="1">
                                    <a:solidFill>
                                      <a:srgbClr val="15803D"/>
                                    </a:solidFill>
                                    <a:latin typeface="Cambria Math" panose="02040503050406030204" pitchFamily="18" charset="0"/>
                                  </a:rPr>
                                  <m:t>7</m:t>
                                </m:r>
                              </m:den>
                            </m:f>
                          </m:e>
                        </m:d>
                      </m:e>
                      <m:sup>
                        <m:r>
                          <a:rPr lang="en-IN" sz="2800" i="1">
                            <a:solidFill>
                              <a:srgbClr val="15803D"/>
                            </a:solidFill>
                            <a:latin typeface="Cambria Math" panose="02040503050406030204" pitchFamily="18" charset="0"/>
                          </a:rPr>
                          <m:t>𝑛</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$\left(\frac47\right)^{n-1}$</a:t>
                </a:r>
                <a:endParaRPr sz="2800">
                  <a:solidFill>
                    <a:srgbClr val="15803D"/>
                  </a:solidFill>
                </a:endParaRPr>
              </a:p>
            </p:txBody>
          </p:sp>
        </mc:Fallback>
      </mc:AlternateContent>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Counting by membership vectors: fix the special elements first, then count allowed vectors for each remaining element and raise to the power of the number of remaining elements.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Conditions on the intersection of all three sets leave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vectors per other element; adding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𝑡ℎ𝑎𝑡 𝑒𝑙𝑒𝑚𝑒𝑛𝑡</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leaves the 4 vectors with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-coordinate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ways,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favourable, ratio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Counting by membership vectors: fix the special elements first, then count allowed vectors for each remaining element and raise to the power of the number of remaining elements.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Conditions on the intersection of all three sets leave </a:t>
                </a:r>
                <a:r>
                  <a:rPr lang="en-IN" sz="2400">
                    <a:solidFill>
                      <a:srgbClr val="111827"/>
                    </a:solidFill>
                    <a:latin typeface="Cambria Math" panose="02040503050406030204" pitchFamily="18" charset="0"/>
                  </a:rPr>
                  <a:t>$2^3-1=7$</a:t>
                </a:r>
                <a:r>
                  <a:rPr sz="2400" b="0">
                    <a:solidFill>
                      <a:srgbClr val="111827"/>
                    </a:solidFill>
                    <a:latin typeface="Arial"/>
                  </a:rPr>
                  <a:t> vectors per other element; adding </a:t>
                </a:r>
                <a:r>
                  <a:rPr lang="en-IN" sz="2400">
                    <a:solidFill>
                      <a:srgbClr val="111827"/>
                    </a:solidFill>
                    <a:latin typeface="Cambria Math" panose="02040503050406030204" pitchFamily="18" charset="0"/>
                  </a:rPr>
                  <a:t>$B=\{\text{that element}\}$</a:t>
                </a:r>
                <a:r>
                  <a:rPr sz="2400" b="0">
                    <a:solidFill>
                      <a:srgbClr val="111827"/>
                    </a:solidFill>
                    <a:latin typeface="Arial"/>
                  </a:rPr>
                  <a:t> leaves the 4 vectors with </a:t>
                </a:r>
                <a:r>
                  <a:rPr lang="en-IN" sz="2400">
                    <a:solidFill>
                      <a:srgbClr val="111827"/>
                    </a:solidFill>
                    <a:latin typeface="Cambria Math" panose="02040503050406030204" pitchFamily="18" charset="0"/>
                  </a:rPr>
                  <a:t>$B$</a:t>
                </a:r>
                <a:r>
                  <a:rPr sz="2400" b="0">
                    <a:solidFill>
                      <a:srgbClr val="111827"/>
                    </a:solidFill>
                    <a:latin typeface="Arial"/>
                  </a:rPr>
                  <a:t>-coordinate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r>
                  <a:rPr lang="en-IN" sz="2400">
                    <a:solidFill>
                      <a:srgbClr val="111827"/>
                    </a:solidFill>
                    <a:latin typeface="Cambria Math" panose="02040503050406030204" pitchFamily="18" charset="0"/>
                  </a:rPr>
                  <a:t>$n=2$</a:t>
                </a:r>
                <a:r>
                  <a:rPr sz="2400" b="0">
                    <a:solidFill>
                      <a:srgbClr val="111827"/>
                    </a:solidFill>
                    <a:latin typeface="Arial"/>
                  </a:rPr>
                  <a:t>: </a:t>
                </a:r>
                <a:r>
                  <a:rPr lang="en-IN" sz="2400">
                    <a:solidFill>
                      <a:srgbClr val="111827"/>
                    </a:solidFill>
                    <a:latin typeface="Cambria Math" panose="02040503050406030204" pitchFamily="18" charset="0"/>
                  </a:rPr>
                  <a:t>$2\cdot 7=14$</a:t>
                </a:r>
                <a:r>
                  <a:rPr sz="2400" b="0">
                    <a:solidFill>
                      <a:srgbClr val="111827"/>
                    </a:solidFill>
                    <a:latin typeface="Arial"/>
                  </a:rPr>
                  <a:t> ways, </a:t>
                </a:r>
                <a:r>
                  <a:rPr lang="en-IN" sz="2400">
                    <a:solidFill>
                      <a:srgbClr val="111827"/>
                    </a:solidFill>
                    <a:latin typeface="Cambria Math" panose="02040503050406030204" pitchFamily="18" charset="0"/>
                  </a:rPr>
                  <a:t>$2\cdot 4=8$</a:t>
                </a:r>
                <a:r>
                  <a:rPr sz="2400" b="0">
                    <a:solidFill>
                      <a:srgbClr val="111827"/>
                    </a:solidFill>
                    <a:latin typeface="Arial"/>
                  </a:rPr>
                  <a:t> favourable, ratio </a:t>
                </a:r>
                <a:r>
                  <a:rPr lang="en-IN" sz="2400">
                    <a:solidFill>
                      <a:srgbClr val="111827"/>
                    </a:solidFill>
                    <a:latin typeface="Cambria Math" panose="02040503050406030204" pitchFamily="18" charset="0"/>
                  </a:rPr>
                  <a:t>$\frac47$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098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the power set of a given set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containing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elements, and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oMath>
                </a14:m>
                <a:r>
                  <a:rPr sz="2400" b="0">
                    <a:solidFill>
                      <a:srgbClr val="111827"/>
                    </a:solidFill>
                    <a:latin typeface="Arial"/>
                  </a:rPr>
                  <a:t> (may or may not be distinct).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contains no element, find the probability that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(B)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(C)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(D)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endParaRPr sz="2400">
                  <a:solidFill>
                    <a:srgbClr val="111827"/>
                  </a:solidFill>
                </a:endParaRPr>
              </a:p>
            </p:txBody>
          </p:sp>
        </mc:Choice>
        <mc:Fallback>
          <p:sp>
            <p:nvSpPr>
              <p:cNvPr id="4" name="Rounded Rectangle 3"/>
              <p:cNvSpPr/>
              <p:nvPr/>
            </p:nvSpPr>
            <p:spPr>
              <a:xfrm>
                <a:off x="731520" y="1280160"/>
                <a:ext cx="10725912" cy="3098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$P$</a:t>
                </a:r>
                <a:r>
                  <a:rPr sz="2400" b="0">
                    <a:solidFill>
                      <a:srgbClr val="111827"/>
                    </a:solidFill>
                    <a:latin typeface="Arial"/>
                  </a:rPr>
                  <a:t> is the power set of a given set </a:t>
                </a:r>
                <a:r>
                  <a:rPr lang="en-IN" sz="2400">
                    <a:solidFill>
                      <a:srgbClr val="111827"/>
                    </a:solidFill>
                    <a:latin typeface="Cambria Math" panose="02040503050406030204" pitchFamily="18" charset="0"/>
                  </a:rPr>
                  <a:t>$S$</a:t>
                </a:r>
                <a:r>
                  <a:rPr sz="2400" b="0">
                    <a:solidFill>
                      <a:srgbClr val="111827"/>
                    </a:solidFill>
                    <a:latin typeface="Arial"/>
                  </a:rPr>
                  <a:t> containing </a:t>
                </a:r>
                <a:r>
                  <a:rPr lang="en-IN" sz="2400">
                    <a:solidFill>
                      <a:srgbClr val="111827"/>
                    </a:solidFill>
                    <a:latin typeface="Cambria Math" panose="02040503050406030204" pitchFamily="18" charset="0"/>
                  </a:rPr>
                  <a:t>$n$</a:t>
                </a:r>
                <a:r>
                  <a:rPr sz="2400" b="0">
                    <a:solidFill>
                      <a:srgbClr val="111827"/>
                    </a:solidFill>
                    <a:latin typeface="Arial"/>
                  </a:rPr>
                  <a:t> elements, and </a:t>
                </a:r>
                <a:r>
                  <a:rPr lang="en-IN" sz="2400">
                    <a:solidFill>
                      <a:srgbClr val="111827"/>
                    </a:solidFill>
                    <a:latin typeface="Cambria Math" panose="02040503050406030204" pitchFamily="18" charset="0"/>
                  </a:rPr>
                  <a:t>$A, B, C \in P$</a:t>
                </a:r>
                <a:r>
                  <a:rPr sz="2400" b="0">
                    <a:solidFill>
                      <a:srgbClr val="111827"/>
                    </a:solidFill>
                    <a:latin typeface="Arial"/>
                  </a:rPr>
                  <a:t> (may or may not be distinct).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$A\cap B\cap C$</a:t>
                </a:r>
                <a:r>
                  <a:rPr sz="2400" b="0">
                    <a:solidFill>
                      <a:srgbClr val="111827"/>
                    </a:solidFill>
                    <a:latin typeface="Arial"/>
                  </a:rPr>
                  <a:t> contains no element, find the probability that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$\left(\frac47\right)^{n-1}$</a:t>
                </a:r>
                <a:r>
                  <a:rPr sz="2400" b="0">
                    <a:solidFill>
                      <a:srgbClr val="111827"/>
                    </a:solidFill>
                    <a:latin typeface="Arial"/>
                  </a:rPr>
                  <a:t>   (B) </a:t>
                </a:r>
                <a:r>
                  <a:rPr lang="en-IN" sz="2400">
                    <a:solidFill>
                      <a:srgbClr val="111827"/>
                    </a:solidFill>
                    <a:latin typeface="Cambria Math" panose="02040503050406030204" pitchFamily="18" charset="0"/>
                  </a:rPr>
                  <a:t>$\left(\frac34\right)^n$</a:t>
                </a:r>
                <a:r>
                  <a:rPr sz="2400" b="0">
                    <a:solidFill>
                      <a:srgbClr val="111827"/>
                    </a:solidFill>
                    <a:latin typeface="Arial"/>
                  </a:rPr>
                  <a:t>   (C) </a:t>
                </a:r>
                <a:r>
                  <a:rPr lang="en-IN" sz="2400">
                    <a:solidFill>
                      <a:srgbClr val="111827"/>
                    </a:solidFill>
                    <a:latin typeface="Cambria Math" panose="02040503050406030204" pitchFamily="18" charset="0"/>
                  </a:rPr>
                  <a:t>$\left(\frac37\right)^n$</a:t>
                </a:r>
                <a:r>
                  <a:rPr sz="2400" b="0">
                    <a:solidFill>
                      <a:srgbClr val="111827"/>
                    </a:solidFill>
                    <a:latin typeface="Arial"/>
                  </a:rPr>
                  <a:t>   (D) </a:t>
                </a:r>
                <a:r>
                  <a:rPr lang="en-IN" sz="2400">
                    <a:solidFill>
                      <a:srgbClr val="111827"/>
                    </a:solidFill>
                    <a:latin typeface="Cambria Math" panose="02040503050406030204" pitchFamily="18" charset="0"/>
                  </a:rPr>
                  <a:t>$\left(\frac57\right)^n$</a:t>
                </a:r>
                <a:endParaRPr sz="2400">
                  <a:solidFill>
                    <a:srgbClr val="111827"/>
                  </a:solidFill>
                </a:endParaRPr>
              </a:p>
            </p:txBody>
          </p:sp>
        </mc:Fallback>
      </mc:AlternateContent>
      <p:sp>
        <p:nvSpPr>
          <p:cNvPr id="5" name="Rectangle 4"/>
          <p:cNvSpPr/>
          <p:nvPr/>
        </p:nvSpPr>
        <p:spPr>
          <a:xfrm>
            <a:off x="731520" y="460705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Paragraph Based Single Correct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counting with sets and power set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empty triple intersection each element has 7 allowed membership patterns;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oMath>
                </a14:m>
                <a:r>
                  <a:rPr sz="2400" b="0">
                    <a:solidFill>
                      <a:srgbClr val="78350F"/>
                    </a:solidFill>
                    <a:latin typeface="Arial"/>
                  </a:rPr>
                  <a:t> cuts these to 3.</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empty triple intersection each element has 7 allowed membership patterns; </a:t>
                </a:r>
                <a:r>
                  <a:rPr lang="en-IN" sz="2400">
                    <a:solidFill>
                      <a:srgbClr val="78350F"/>
                    </a:solidFill>
                    <a:latin typeface="Cambria Math" panose="02040503050406030204" pitchFamily="18" charset="0"/>
                  </a:rPr>
                  <a:t>$A=B$</a:t>
                </a:r>
                <a:r>
                  <a:rPr sz="2400" b="0">
                    <a:solidFill>
                      <a:srgbClr val="78350F"/>
                    </a:solidFill>
                    <a:latin typeface="Arial"/>
                  </a:rPr>
                  <a:t> cuts these to 3.</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no element lies in all three sets, so each element has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allowed membership patterns.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ways to place the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elements is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also require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each element is either in both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or in neither.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it is in both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it cannot be in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(the triple intersection is empty): 1 pattern.</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$A\cap B\cap C=\emptyset$</a:t>
                </a:r>
                <a:r>
                  <a:rPr sz="2400" b="0">
                    <a:solidFill>
                      <a:srgbClr val="111827"/>
                    </a:solidFill>
                    <a:latin typeface="Arial"/>
                  </a:rPr>
                  <a:t>, no element lies in all three sets, so each element has </a:t>
                </a:r>
                <a:r>
                  <a:rPr lang="en-IN" sz="2400">
                    <a:solidFill>
                      <a:srgbClr val="111827"/>
                    </a:solidFill>
                    <a:latin typeface="Cambria Math" panose="02040503050406030204" pitchFamily="18" charset="0"/>
                  </a:rPr>
                  <a:t>$2^3-1=7$</a:t>
                </a:r>
                <a:r>
                  <a:rPr sz="2400" b="0">
                    <a:solidFill>
                      <a:srgbClr val="111827"/>
                    </a:solidFill>
                    <a:latin typeface="Arial"/>
                  </a:rPr>
                  <a:t> allowed membership patterns.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ways to place the </a:t>
                </a:r>
                <a:r>
                  <a:rPr lang="en-IN" sz="2400">
                    <a:solidFill>
                      <a:srgbClr val="111827"/>
                    </a:solidFill>
                    <a:latin typeface="Cambria Math" panose="02040503050406030204" pitchFamily="18" charset="0"/>
                  </a:rPr>
                  <a:t>$n$</a:t>
                </a:r>
                <a:r>
                  <a:rPr sz="2400" b="0">
                    <a:solidFill>
                      <a:srgbClr val="111827"/>
                    </a:solidFill>
                    <a:latin typeface="Arial"/>
                  </a:rPr>
                  <a:t> elements is </a:t>
                </a:r>
                <a:r>
                  <a:rPr lang="en-IN" sz="2400">
                    <a:solidFill>
                      <a:srgbClr val="111827"/>
                    </a:solidFill>
                    <a:latin typeface="Cambria Math" panose="02040503050406030204" pitchFamily="18" charset="0"/>
                  </a:rPr>
                  <a:t>$7^n$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also require </a:t>
                </a:r>
                <a:r>
                  <a:rPr lang="en-IN" sz="2400">
                    <a:solidFill>
                      <a:srgbClr val="111827"/>
                    </a:solidFill>
                    <a:latin typeface="Cambria Math" panose="02040503050406030204" pitchFamily="18" charset="0"/>
                  </a:rPr>
                  <a:t>$A=B$</a:t>
                </a:r>
                <a:r>
                  <a:rPr sz="2400" b="0">
                    <a:solidFill>
                      <a:srgbClr val="111827"/>
                    </a:solidFill>
                    <a:latin typeface="Arial"/>
                  </a:rPr>
                  <a:t>: each element is either in both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or in neither.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it is in both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it cannot be in </a:t>
                </a:r>
                <a:r>
                  <a:rPr lang="en-IN" sz="2400">
                    <a:solidFill>
                      <a:srgbClr val="111827"/>
                    </a:solidFill>
                    <a:latin typeface="Cambria Math" panose="02040503050406030204" pitchFamily="18" charset="0"/>
                  </a:rPr>
                  <a:t>$C$</a:t>
                </a:r>
                <a:r>
                  <a:rPr sz="2400" b="0">
                    <a:solidFill>
                      <a:srgbClr val="111827"/>
                    </a:solidFill>
                    <a:latin typeface="Arial"/>
                  </a:rPr>
                  <a:t> (the triple intersection is empty): 1 pattern.</a:t>
                </a:r>
                <a:endParaRPr sz="2400">
                  <a:solidFill>
                    <a:srgbClr val="111827"/>
                  </a:solidFill>
                </a:endParaRPr>
              </a:p>
            </p:txBody>
          </p:sp>
        </mc:Fallback>
      </mc:AlternateContent>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it is in neither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nor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it may or may not be in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2 patterns.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each element has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choices and the favourable number of ways is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𝑛</m:t>
                            </m:r>
                          </m:sup>
                        </m:sSup>
                      </m:num>
                      <m:den>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it is in neither </a:t>
                </a:r>
                <a:r>
                  <a:rPr lang="en-IN" sz="2400">
                    <a:solidFill>
                      <a:srgbClr val="111827"/>
                    </a:solidFill>
                    <a:latin typeface="Cambria Math" panose="02040503050406030204" pitchFamily="18" charset="0"/>
                  </a:rPr>
                  <a:t>$A$</a:t>
                </a:r>
                <a:r>
                  <a:rPr sz="2400" b="0">
                    <a:solidFill>
                      <a:srgbClr val="111827"/>
                    </a:solidFill>
                    <a:latin typeface="Arial"/>
                  </a:rPr>
                  <a:t> nor </a:t>
                </a:r>
                <a:r>
                  <a:rPr lang="en-IN" sz="2400">
                    <a:solidFill>
                      <a:srgbClr val="111827"/>
                    </a:solidFill>
                    <a:latin typeface="Cambria Math" panose="02040503050406030204" pitchFamily="18" charset="0"/>
                  </a:rPr>
                  <a:t>$B$</a:t>
                </a:r>
                <a:r>
                  <a:rPr sz="2400" b="0">
                    <a:solidFill>
                      <a:srgbClr val="111827"/>
                    </a:solidFill>
                    <a:latin typeface="Arial"/>
                  </a:rPr>
                  <a:t>, it may or may not be in </a:t>
                </a:r>
                <a:r>
                  <a:rPr lang="en-IN" sz="2400">
                    <a:solidFill>
                      <a:srgbClr val="111827"/>
                    </a:solidFill>
                    <a:latin typeface="Cambria Math" panose="02040503050406030204" pitchFamily="18" charset="0"/>
                  </a:rPr>
                  <a:t>$C$</a:t>
                </a:r>
                <a:r>
                  <a:rPr sz="2400" b="0">
                    <a:solidFill>
                      <a:srgbClr val="111827"/>
                    </a:solidFill>
                    <a:latin typeface="Arial"/>
                  </a:rPr>
                  <a:t>: 2 patterns.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each element has </a:t>
                </a:r>
                <a:r>
                  <a:rPr lang="en-IN" sz="2400">
                    <a:solidFill>
                      <a:srgbClr val="111827"/>
                    </a:solidFill>
                    <a:latin typeface="Cambria Math" panose="02040503050406030204" pitchFamily="18" charset="0"/>
                  </a:rPr>
                  <a:t>$1+2=3$</a:t>
                </a:r>
                <a:r>
                  <a:rPr sz="2400" b="0">
                    <a:solidFill>
                      <a:srgbClr val="111827"/>
                    </a:solidFill>
                    <a:latin typeface="Arial"/>
                  </a:rPr>
                  <a:t> choices and the favourable number of ways is </a:t>
                </a:r>
                <a:r>
                  <a:rPr lang="en-IN" sz="2400">
                    <a:solidFill>
                      <a:srgbClr val="111827"/>
                    </a:solidFill>
                    <a:latin typeface="Cambria Math" panose="02040503050406030204" pitchFamily="18" charset="0"/>
                  </a:rPr>
                  <a:t>$3^n$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$=\frac{3^n}{7^n}=\left(\frac37\right)^n$</a:t>
                </a:r>
                <a:r>
                  <a:rPr sz="2400" b="0">
                    <a:solidFill>
                      <a:srgbClr val="111827"/>
                    </a:solidFill>
                    <a:latin typeface="Arial"/>
                  </a:rPr>
                  <a:t>, option (C).</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7</m:t>
                                </m:r>
                              </m:den>
                            </m:f>
                          </m:e>
                        </m:d>
                      </m:e>
                      <m:sup>
                        <m:r>
                          <a:rPr lang="en-IN" sz="2800" i="1">
                            <a:solidFill>
                              <a:srgbClr val="15803D"/>
                            </a:solidFill>
                            <a:latin typeface="Cambria Math" panose="02040503050406030204" pitchFamily="18" charset="0"/>
                          </a:rPr>
                          <m:t>𝑛</m:t>
                        </m:r>
                      </m:sup>
                    </m:sSup>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t>
                </a:r>
                <a:r>
                  <a:rPr lang="en-IN" sz="2800">
                    <a:solidFill>
                      <a:srgbClr val="15803D"/>
                    </a:solidFill>
                    <a:latin typeface="Cambria Math" panose="02040503050406030204" pitchFamily="18" charset="0"/>
                  </a:rPr>
                  <a:t>$\left(\frac37\right)^n$</a:t>
                </a:r>
                <a:endParaRPr sz="2800">
                  <a:solidFill>
                    <a:srgbClr val="15803D"/>
                  </a:solidFill>
                </a:endParaRPr>
              </a:p>
            </p:txBody>
          </p:sp>
        </mc:Fallback>
      </mc:AlternateContent>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smallest case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compare with the four options.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Test the smallest case </a:t>
                </a:r>
                <a:r>
                  <a:rPr lang="en-IN" sz="2400">
                    <a:solidFill>
                      <a:srgbClr val="78350F"/>
                    </a:solidFill>
                    <a:latin typeface="Cambria Math" panose="02040503050406030204" pitchFamily="18" charset="0"/>
                  </a:rPr>
                  <a:t>$n=1$</a:t>
                </a:r>
                <a:r>
                  <a:rPr sz="2400" b="0">
                    <a:solidFill>
                      <a:srgbClr val="78350F"/>
                    </a:solidFill>
                    <a:latin typeface="Arial"/>
                  </a:rPr>
                  <a:t> and compare with the four options.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probability is one of the given formulas for all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so it must agree with the true value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Triples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all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except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triples.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these,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occurs for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triples.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probability is one of the given formulas for all </a:t>
                </a:r>
                <a:r>
                  <a:rPr lang="en-IN" sz="2400">
                    <a:solidFill>
                      <a:srgbClr val="111827"/>
                    </a:solidFill>
                    <a:latin typeface="Cambria Math" panose="02040503050406030204" pitchFamily="18" charset="0"/>
                  </a:rPr>
                  <a:t>$n$</a:t>
                </a:r>
                <a:r>
                  <a:rPr sz="2400" b="0">
                    <a:solidFill>
                      <a:srgbClr val="111827"/>
                    </a:solidFill>
                    <a:latin typeface="Arial"/>
                  </a:rPr>
                  <a:t>, so it must agree with the true value at </a:t>
                </a:r>
                <a:r>
                  <a:rPr lang="en-IN" sz="2400">
                    <a:solidFill>
                      <a:srgbClr val="111827"/>
                    </a:solidFill>
                    <a:latin typeface="Cambria Math" panose="02040503050406030204" pitchFamily="18" charset="0"/>
                  </a:rPr>
                  <a:t>$n=1$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a:t>
                </a:r>
                <a:r>
                  <a:rPr lang="en-IN" sz="2400">
                    <a:solidFill>
                      <a:srgbClr val="111827"/>
                    </a:solidFill>
                    <a:latin typeface="Cambria Math" panose="02040503050406030204" pitchFamily="18" charset="0"/>
                  </a:rPr>
                  <a:t>$S=\{a\}$</a:t>
                </a:r>
                <a:r>
                  <a:rPr sz="2400" b="0">
                    <a:solidFill>
                      <a:srgbClr val="111827"/>
                    </a:solidFill>
                    <a:latin typeface="Arial"/>
                  </a:rPr>
                  <a:t>. Triples </a:t>
                </a:r>
                <a:r>
                  <a:rPr lang="en-IN" sz="2400">
                    <a:solidFill>
                      <a:srgbClr val="111827"/>
                    </a:solidFill>
                    <a:latin typeface="Cambria Math" panose="02040503050406030204" pitchFamily="18" charset="0"/>
                  </a:rPr>
                  <a:t>$(A,B,C)$</a:t>
                </a:r>
                <a:r>
                  <a:rPr sz="2400" b="0">
                    <a:solidFill>
                      <a:srgbClr val="111827"/>
                    </a:solidFill>
                    <a:latin typeface="Arial"/>
                  </a:rPr>
                  <a:t> with </a:t>
                </a:r>
                <a:r>
                  <a:rPr lang="en-IN" sz="2400">
                    <a:solidFill>
                      <a:srgbClr val="111827"/>
                    </a:solidFill>
                    <a:latin typeface="Cambria Math" panose="02040503050406030204" pitchFamily="18" charset="0"/>
                  </a:rPr>
                  <a:t>$A\cap B\cap C=\emptyset$</a:t>
                </a:r>
                <a:r>
                  <a:rPr sz="2400" b="0">
                    <a:solidFill>
                      <a:srgbClr val="111827"/>
                    </a:solidFill>
                    <a:latin typeface="Arial"/>
                  </a:rPr>
                  <a:t>: all </a:t>
                </a:r>
                <a:r>
                  <a:rPr lang="en-IN" sz="2400">
                    <a:solidFill>
                      <a:srgbClr val="111827"/>
                    </a:solidFill>
                    <a:latin typeface="Cambria Math" panose="02040503050406030204" pitchFamily="18" charset="0"/>
                  </a:rPr>
                  <a:t>$8$</a:t>
                </a:r>
                <a:r>
                  <a:rPr sz="2400" b="0">
                    <a:solidFill>
                      <a:srgbClr val="111827"/>
                    </a:solidFill>
                    <a:latin typeface="Arial"/>
                  </a:rPr>
                  <a:t> except </a:t>
                </a:r>
                <a:r>
                  <a:rPr lang="en-IN" sz="2400">
                    <a:solidFill>
                      <a:srgbClr val="111827"/>
                    </a:solidFill>
                    <a:latin typeface="Cambria Math" panose="02040503050406030204" pitchFamily="18" charset="0"/>
                  </a:rPr>
                  <a:t>$A=B=C=\{a\}$</a:t>
                </a:r>
                <a:r>
                  <a:rPr sz="2400" b="0">
                    <a:solidFill>
                      <a:srgbClr val="111827"/>
                    </a:solidFill>
                    <a:latin typeface="Arial"/>
                  </a:rPr>
                  <a:t>, so </a:t>
                </a:r>
                <a:r>
                  <a:rPr lang="en-IN" sz="2400">
                    <a:solidFill>
                      <a:srgbClr val="111827"/>
                    </a:solidFill>
                    <a:latin typeface="Cambria Math" panose="02040503050406030204" pitchFamily="18" charset="0"/>
                  </a:rPr>
                  <a:t>$7$</a:t>
                </a:r>
                <a:r>
                  <a:rPr sz="2400" b="0">
                    <a:solidFill>
                      <a:srgbClr val="111827"/>
                    </a:solidFill>
                    <a:latin typeface="Arial"/>
                  </a:rPr>
                  <a:t> triples.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these, </a:t>
                </a:r>
                <a:r>
                  <a:rPr lang="en-IN" sz="2400">
                    <a:solidFill>
                      <a:srgbClr val="111827"/>
                    </a:solidFill>
                    <a:latin typeface="Cambria Math" panose="02040503050406030204" pitchFamily="18" charset="0"/>
                  </a:rPr>
                  <a:t>$A=B$</a:t>
                </a:r>
                <a:r>
                  <a:rPr sz="2400" b="0">
                    <a:solidFill>
                      <a:srgbClr val="111827"/>
                    </a:solidFill>
                    <a:latin typeface="Arial"/>
                  </a:rPr>
                  <a:t> occurs for </a:t>
                </a:r>
                <a:r>
                  <a:rPr lang="en-IN" sz="2400">
                    <a:solidFill>
                      <a:srgbClr val="111827"/>
                    </a:solidFill>
                    <a:latin typeface="Cambria Math" panose="02040503050406030204" pitchFamily="18" charset="0"/>
                  </a:rPr>
                  <a:t>$(\emptyset,\emptyset,\emptyset)$</a:t>
                </a:r>
                <a:r>
                  <a:rPr sz="2400" b="0">
                    <a:solidFill>
                      <a:srgbClr val="111827"/>
                    </a:solidFill>
                    <a:latin typeface="Arial"/>
                  </a:rPr>
                  <a:t>, </a:t>
                </a:r>
                <a:r>
                  <a:rPr lang="en-IN" sz="2400">
                    <a:solidFill>
                      <a:srgbClr val="111827"/>
                    </a:solidFill>
                    <a:latin typeface="Cambria Math" panose="02040503050406030204" pitchFamily="18" charset="0"/>
                  </a:rPr>
                  <a:t>$(\emptyset,\emptyset,\{a\})$</a:t>
                </a:r>
                <a:r>
                  <a:rPr sz="2400" b="0">
                    <a:solidFill>
                      <a:srgbClr val="111827"/>
                    </a:solidFill>
                    <a:latin typeface="Arial"/>
                  </a:rPr>
                  <a:t> and </a:t>
                </a:r>
                <a:r>
                  <a:rPr lang="en-IN" sz="2400">
                    <a:solidFill>
                      <a:srgbClr val="111827"/>
                    </a:solidFill>
                    <a:latin typeface="Cambria Math" panose="02040503050406030204" pitchFamily="18" charset="0"/>
                  </a:rPr>
                  <a:t>$(\{a\},\{a\},\emptyset)$</a:t>
                </a:r>
                <a:r>
                  <a:rPr sz="2400" b="0">
                    <a:solidFill>
                      <a:srgbClr val="111827"/>
                    </a:solidFill>
                    <a:latin typeface="Arial"/>
                  </a:rPr>
                  <a:t>: </a:t>
                </a:r>
                <a:r>
                  <a:rPr lang="en-IN" sz="2400">
                    <a:solidFill>
                      <a:srgbClr val="111827"/>
                    </a:solidFill>
                    <a:latin typeface="Cambria Math" panose="02040503050406030204" pitchFamily="18" charset="0"/>
                  </a:rPr>
                  <a:t>$3$</a:t>
                </a:r>
                <a:r>
                  <a:rPr sz="2400" b="0">
                    <a:solidFill>
                      <a:srgbClr val="111827"/>
                    </a:solidFill>
                    <a:latin typeface="Arial"/>
                  </a:rPr>
                  <a:t> triples.</a:t>
                </a:r>
                <a:endParaRPr sz="2400">
                  <a:solidFill>
                    <a:srgbClr val="111827"/>
                  </a:solidFill>
                </a:endParaRPr>
              </a:p>
            </p:txBody>
          </p:sp>
        </mc:Fallback>
      </mc:AlternateContent>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probability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Only (C) matches.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answer is (C)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7</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the probability at </a:t>
                </a:r>
                <a:r>
                  <a:rPr lang="en-IN" sz="2400">
                    <a:solidFill>
                      <a:srgbClr val="111827"/>
                    </a:solidFill>
                    <a:latin typeface="Cambria Math" panose="02040503050406030204" pitchFamily="18" charset="0"/>
                  </a:rPr>
                  <a:t>$n=1$</a:t>
                </a:r>
                <a:r>
                  <a:rPr sz="2400" b="0">
                    <a:solidFill>
                      <a:srgbClr val="111827"/>
                    </a:solidFill>
                    <a:latin typeface="Arial"/>
                  </a:rPr>
                  <a:t> is </a:t>
                </a:r>
                <a:r>
                  <a:rPr lang="en-IN" sz="2400">
                    <a:solidFill>
                      <a:srgbClr val="111827"/>
                    </a:solidFill>
                    <a:latin typeface="Cambria Math" panose="02040503050406030204" pitchFamily="18" charset="0"/>
                  </a:rPr>
                  <a:t>$\frac37$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Options at </a:t>
                </a:r>
                <a:r>
                  <a:rPr lang="en-IN" sz="2400">
                    <a:solidFill>
                      <a:srgbClr val="111827"/>
                    </a:solidFill>
                    <a:latin typeface="Cambria Math" panose="02040503050406030204" pitchFamily="18" charset="0"/>
                  </a:rPr>
                  <a:t>$n=1$</a:t>
                </a:r>
                <a:r>
                  <a:rPr sz="2400" b="0">
                    <a:solidFill>
                      <a:srgbClr val="111827"/>
                    </a:solidFill>
                    <a:latin typeface="Arial"/>
                  </a:rPr>
                  <a:t>: (A) </a:t>
                </a:r>
                <a:r>
                  <a:rPr lang="en-IN" sz="2400">
                    <a:solidFill>
                      <a:srgbClr val="111827"/>
                    </a:solidFill>
                    <a:latin typeface="Cambria Math" panose="02040503050406030204" pitchFamily="18" charset="0"/>
                  </a:rPr>
                  <a:t>$1$</a:t>
                </a:r>
                <a:r>
                  <a:rPr sz="2400" b="0">
                    <a:solidFill>
                      <a:srgbClr val="111827"/>
                    </a:solidFill>
                    <a:latin typeface="Arial"/>
                  </a:rPr>
                  <a:t>, (B) </a:t>
                </a:r>
                <a:r>
                  <a:rPr lang="en-IN" sz="2400">
                    <a:solidFill>
                      <a:srgbClr val="111827"/>
                    </a:solidFill>
                    <a:latin typeface="Cambria Math" panose="02040503050406030204" pitchFamily="18" charset="0"/>
                  </a:rPr>
                  <a:t>$\frac34$</a:t>
                </a:r>
                <a:r>
                  <a:rPr sz="2400" b="0">
                    <a:solidFill>
                      <a:srgbClr val="111827"/>
                    </a:solidFill>
                    <a:latin typeface="Arial"/>
                  </a:rPr>
                  <a:t>, (C) </a:t>
                </a:r>
                <a:r>
                  <a:rPr lang="en-IN" sz="2400">
                    <a:solidFill>
                      <a:srgbClr val="111827"/>
                    </a:solidFill>
                    <a:latin typeface="Cambria Math" panose="02040503050406030204" pitchFamily="18" charset="0"/>
                  </a:rPr>
                  <a:t>$\frac37$</a:t>
                </a:r>
                <a:r>
                  <a:rPr sz="2400" b="0">
                    <a:solidFill>
                      <a:srgbClr val="111827"/>
                    </a:solidFill>
                    <a:latin typeface="Arial"/>
                  </a:rPr>
                  <a:t>, (D) </a:t>
                </a:r>
                <a:r>
                  <a:rPr lang="en-IN" sz="2400">
                    <a:solidFill>
                      <a:srgbClr val="111827"/>
                    </a:solidFill>
                    <a:latin typeface="Cambria Math" panose="02040503050406030204" pitchFamily="18" charset="0"/>
                  </a:rPr>
                  <a:t>$\frac57$</a:t>
                </a:r>
                <a:r>
                  <a:rPr sz="2400" b="0">
                    <a:solidFill>
                      <a:srgbClr val="111827"/>
                    </a:solidFill>
                    <a:latin typeface="Arial"/>
                  </a:rPr>
                  <a:t>. Only (C) matches.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answer is (C) </a:t>
                </a:r>
                <a:r>
                  <a:rPr lang="en-IN" sz="2400">
                    <a:solidFill>
                      <a:srgbClr val="111827"/>
                    </a:solidFill>
                    <a:latin typeface="Cambria Math" panose="02040503050406030204" pitchFamily="18" charset="0"/>
                  </a:rPr>
                  <a:t>$\left(\frac37\right)^n$</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14:m>
                  <m:oMath xmlns:m="http://schemas.openxmlformats.org/officeDocument/2006/math">
                    <m:sSup>
                      <m:e>
                        <m:d>
                          <m:dPr>
                            <m:begChr m:val="("/>
                            <m:sepChr m:val=""/>
                            <m:endChr m:val=")"/>
                            <m:grow/>
                            <m:ctrlPr>
                              <a:rPr lang="en-IN" sz="2800" i="1">
                                <a:solidFill>
                                  <a:srgbClr val="15803D"/>
                                </a:solidFill>
                                <a:latin typeface="Cambria Math" panose="02040503050406030204" pitchFamily="18" charset="0"/>
                              </a:rPr>
                            </m:ctrlPr>
                          </m:dPr>
                          <m:e>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3</m:t>
                                </m:r>
                              </m:num>
                              <m:den>
                                <m:r>
                                  <a:rPr lang="en-IN" sz="2800" i="1">
                                    <a:solidFill>
                                      <a:srgbClr val="15803D"/>
                                    </a:solidFill>
                                    <a:latin typeface="Cambria Math" panose="02040503050406030204" pitchFamily="18" charset="0"/>
                                  </a:rPr>
                                  <m:t>7</m:t>
                                </m:r>
                              </m:den>
                            </m:f>
                          </m:e>
                        </m:d>
                      </m:e>
                      <m:sup>
                        <m:r>
                          <a:rPr lang="en-IN" sz="2800" i="1">
                            <a:solidFill>
                              <a:srgbClr val="15803D"/>
                            </a:solidFill>
                            <a:latin typeface="Cambria Math" panose="02040503050406030204" pitchFamily="18" charset="0"/>
                          </a:rPr>
                          <m:t>𝑛</m:t>
                        </m:r>
                      </m:sup>
                    </m:sSup>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t>
                </a:r>
                <a:r>
                  <a:rPr lang="en-IN" sz="2800">
                    <a:solidFill>
                      <a:srgbClr val="15803D"/>
                    </a:solidFill>
                    <a:latin typeface="Cambria Math" panose="02040503050406030204" pitchFamily="18" charset="0"/>
                  </a:rPr>
                  <a:t>$\left(\frac37\right)^n$</a:t>
                </a:r>
                <a:endParaRPr sz="2800">
                  <a:solidFill>
                    <a:srgbClr val="15803D"/>
                  </a:solidFill>
                </a:endParaRPr>
              </a:p>
            </p:txBody>
          </p:sp>
        </mc:Fallback>
      </mc:AlternateContent>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Equality of two sets,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means equal membership coordinates for every element, so it halves the 3-bit vector to 2 free bits (here with one bit pattern removed).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count: the number of triples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and with additionally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it is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7 triples, 3 of them have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(both empty, both empty with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both full).</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Equality of two sets, </a:t>
                </a:r>
                <a:r>
                  <a:rPr lang="en-IN" sz="2400">
                    <a:solidFill>
                      <a:srgbClr val="111827"/>
                    </a:solidFill>
                    <a:latin typeface="Cambria Math" panose="02040503050406030204" pitchFamily="18" charset="0"/>
                  </a:rPr>
                  <a:t>$A=B$</a:t>
                </a:r>
                <a:r>
                  <a:rPr sz="2400" b="0">
                    <a:solidFill>
                      <a:srgbClr val="111827"/>
                    </a:solidFill>
                    <a:latin typeface="Arial"/>
                  </a:rPr>
                  <a:t>, means equal membership coordinates for every element, so it halves the 3-bit vector to 2 free bits (here with one bit pattern removed).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count: the number of triples </a:t>
                </a:r>
                <a:r>
                  <a:rPr lang="en-IN" sz="2400">
                    <a:solidFill>
                      <a:srgbClr val="111827"/>
                    </a:solidFill>
                    <a:latin typeface="Cambria Math" panose="02040503050406030204" pitchFamily="18" charset="0"/>
                  </a:rPr>
                  <a:t>$(A,B,C)$</a:t>
                </a:r>
                <a:r>
                  <a:rPr sz="2400" b="0">
                    <a:solidFill>
                      <a:srgbClr val="111827"/>
                    </a:solidFill>
                    <a:latin typeface="Arial"/>
                  </a:rPr>
                  <a:t> with </a:t>
                </a:r>
                <a:r>
                  <a:rPr lang="en-IN" sz="2400">
                    <a:solidFill>
                      <a:srgbClr val="111827"/>
                    </a:solidFill>
                    <a:latin typeface="Cambria Math" panose="02040503050406030204" pitchFamily="18" charset="0"/>
                  </a:rPr>
                  <a:t>$A\cap B\cap C=\emptyset$</a:t>
                </a:r>
                <a:r>
                  <a:rPr sz="2400" b="0">
                    <a:solidFill>
                      <a:srgbClr val="111827"/>
                    </a:solidFill>
                    <a:latin typeface="Arial"/>
                  </a:rPr>
                  <a:t> is </a:t>
                </a:r>
                <a:r>
                  <a:rPr lang="en-IN" sz="2400">
                    <a:solidFill>
                      <a:srgbClr val="111827"/>
                    </a:solidFill>
                    <a:latin typeface="Cambria Math" panose="02040503050406030204" pitchFamily="18" charset="0"/>
                  </a:rPr>
                  <a:t>$7^n$</a:t>
                </a:r>
                <a:r>
                  <a:rPr sz="2400" b="0">
                    <a:solidFill>
                      <a:srgbClr val="111827"/>
                    </a:solidFill>
                    <a:latin typeface="Arial"/>
                  </a:rPr>
                  <a:t>, and with additionally </a:t>
                </a:r>
                <a:r>
                  <a:rPr lang="en-IN" sz="2400">
                    <a:solidFill>
                      <a:srgbClr val="111827"/>
                    </a:solidFill>
                    <a:latin typeface="Cambria Math" panose="02040503050406030204" pitchFamily="18" charset="0"/>
                  </a:rPr>
                  <a:t>$A=B$</a:t>
                </a:r>
                <a:r>
                  <a:rPr sz="2400" b="0">
                    <a:solidFill>
                      <a:srgbClr val="111827"/>
                    </a:solidFill>
                    <a:latin typeface="Arial"/>
                  </a:rPr>
                  <a:t> it is </a:t>
                </a:r>
                <a:r>
                  <a:rPr lang="en-IN" sz="2400">
                    <a:solidFill>
                      <a:srgbClr val="111827"/>
                    </a:solidFill>
                    <a:latin typeface="Cambria Math" panose="02040503050406030204" pitchFamily="18" charset="0"/>
                  </a:rPr>
                  <a:t>$3^n$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with </a:t>
                </a:r>
                <a:r>
                  <a:rPr lang="en-IN" sz="2400">
                    <a:solidFill>
                      <a:srgbClr val="111827"/>
                    </a:solidFill>
                    <a:latin typeface="Cambria Math" panose="02040503050406030204" pitchFamily="18" charset="0"/>
                  </a:rPr>
                  <a:t>$n=1$</a:t>
                </a:r>
                <a:r>
                  <a:rPr sz="2400" b="0">
                    <a:solidFill>
                      <a:srgbClr val="111827"/>
                    </a:solidFill>
                    <a:latin typeface="Arial"/>
                  </a:rPr>
                  <a:t>: 7 triples, 3 of them have </a:t>
                </a:r>
                <a:r>
                  <a:rPr lang="en-IN" sz="2400">
                    <a:solidFill>
                      <a:srgbClr val="111827"/>
                    </a:solidFill>
                    <a:latin typeface="Cambria Math" panose="02040503050406030204" pitchFamily="18" charset="0"/>
                  </a:rPr>
                  <a:t>$A=B$</a:t>
                </a:r>
                <a:r>
                  <a:rPr sz="2400" b="0">
                    <a:solidFill>
                      <a:srgbClr val="111827"/>
                    </a:solidFill>
                    <a:latin typeface="Arial"/>
                  </a:rPr>
                  <a:t> (both empty, both empty with </a:t>
                </a:r>
                <a:r>
                  <a:rPr lang="en-IN" sz="2400">
                    <a:solidFill>
                      <a:srgbClr val="111827"/>
                    </a:solidFill>
                    <a:latin typeface="Cambria Math" panose="02040503050406030204" pitchFamily="18" charset="0"/>
                  </a:rPr>
                  <a:t>$C$</a:t>
                </a:r>
                <a:r>
                  <a:rPr sz="2400" b="0">
                    <a:solidFill>
                      <a:srgbClr val="111827"/>
                    </a:solidFill>
                    <a:latin typeface="Arial"/>
                  </a:rPr>
                  <a:t>, both full).</a:t>
                </a:r>
                <a:endParaRPr sz="2400">
                  <a:solidFill>
                    <a:srgbClr val="111827"/>
                  </a:solidFill>
                </a:endParaRPr>
              </a:p>
            </p:txBody>
          </p:sp>
        </mc:Fallback>
      </mc:AlternateContent>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4</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Numerical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Q62 – Q90</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area bounded by the rays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Then the value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______.</a:t>
                </a:r>
                <a:endParaRPr sz="2400">
                  <a:solidFill>
                    <a:srgbClr val="111827"/>
                  </a:solidFill>
                </a:endParaRPr>
              </a:p>
            </p:txBody>
          </p:sp>
        </mc:Choice>
        <mc:Fallback>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area bounded by the rays </a:t>
                </a:r>
                <a:r>
                  <a:rPr lang="en-IN" sz="2400">
                    <a:solidFill>
                      <a:srgbClr val="111827"/>
                    </a:solidFill>
                    <a:latin typeface="Cambria Math" panose="02040503050406030204" pitchFamily="18" charset="0"/>
                  </a:rPr>
                  <a:t>$\arg(z-(1+i))=0$</a:t>
                </a:r>
                <a:r>
                  <a:rPr sz="2400" b="0">
                    <a:solidFill>
                      <a:srgbClr val="111827"/>
                    </a:solidFill>
                    <a:latin typeface="Arial"/>
                  </a:rPr>
                  <a:t>, </a:t>
                </a:r>
                <a:r>
                  <a:rPr lang="en-IN" sz="2400">
                    <a:solidFill>
                      <a:srgbClr val="111827"/>
                    </a:solidFill>
                    <a:latin typeface="Cambria Math" panose="02040503050406030204" pitchFamily="18" charset="0"/>
                  </a:rPr>
                  <a:t>$\arg(z-(2+i))=\frac{\pi}{2}$</a:t>
                </a:r>
                <a:r>
                  <a:rPr sz="2400" b="0">
                    <a:solidFill>
                      <a:srgbClr val="111827"/>
                    </a:solidFill>
                    <a:latin typeface="Arial"/>
                  </a:rPr>
                  <a:t>, </a:t>
                </a:r>
                <a:r>
                  <a:rPr lang="en-IN" sz="2400">
                    <a:solidFill>
                      <a:srgbClr val="111827"/>
                    </a:solidFill>
                    <a:latin typeface="Cambria Math" panose="02040503050406030204" pitchFamily="18" charset="0"/>
                  </a:rPr>
                  <a:t>$\arg(z-(2+2i))=\pi$</a:t>
                </a:r>
                <a:r>
                  <a:rPr sz="2400" b="0">
                    <a:solidFill>
                      <a:srgbClr val="111827"/>
                    </a:solidFill>
                    <a:latin typeface="Arial"/>
                  </a:rPr>
                  <a:t> and </a:t>
                </a:r>
                <a:r>
                  <a:rPr lang="en-IN" sz="2400">
                    <a:solidFill>
                      <a:srgbClr val="111827"/>
                    </a:solidFill>
                    <a:latin typeface="Cambria Math" panose="02040503050406030204" pitchFamily="18" charset="0"/>
                  </a:rPr>
                  <a:t>$\arg(z-(1+2i))=-\frac{\pi}{2}$</a:t>
                </a:r>
                <a:r>
                  <a:rPr sz="2400" b="0">
                    <a:solidFill>
                      <a:srgbClr val="111827"/>
                    </a:solidFill>
                    <a:latin typeface="Arial"/>
                  </a:rPr>
                  <a:t> is </a:t>
                </a:r>
                <a:r>
                  <a:rPr lang="en-IN" sz="2400">
                    <a:solidFill>
                      <a:srgbClr val="111827"/>
                    </a:solidFill>
                    <a:latin typeface="Cambria Math" panose="02040503050406030204" pitchFamily="18" charset="0"/>
                  </a:rPr>
                  <a:t>$\lambda$</a:t>
                </a:r>
                <a:r>
                  <a:rPr sz="2400" b="0">
                    <a:solidFill>
                      <a:srgbClr val="111827"/>
                    </a:solidFill>
                    <a:latin typeface="Arial"/>
                  </a:rPr>
                  <a:t>. Then the value of </a:t>
                </a:r>
                <a:r>
                  <a:rPr lang="en-IN" sz="2400">
                    <a:solidFill>
                      <a:srgbClr val="111827"/>
                    </a:solidFill>
                    <a:latin typeface="Cambria Math" panose="02040503050406030204" pitchFamily="18" charset="0"/>
                  </a:rPr>
                  <a:t>$\frac{\lambda}{2}$</a:t>
                </a:r>
                <a:r>
                  <a:rPr sz="2400" b="0">
                    <a:solidFill>
                      <a:srgbClr val="111827"/>
                    </a:solidFill>
                    <a:latin typeface="Arial"/>
                  </a:rPr>
                  <a:t> is ______.</a:t>
                </a:r>
                <a:endParaRPr sz="2400">
                  <a:solidFill>
                    <a:srgbClr val="111827"/>
                  </a:solidFill>
                </a:endParaRPr>
              </a:p>
            </p:txBody>
          </p:sp>
        </mc:Fallback>
      </mc:AlternateContent>
      <p:sp>
        <p:nvSpPr>
          <p:cNvPr id="5" name="Rectangle 4"/>
          <p:cNvSpPr/>
          <p:nvPr/>
        </p:nvSpPr>
        <p:spPr>
          <a:xfrm>
            <a:off x="731520" y="384606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argument and rays in the Argand plane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arg</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0</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θ</m:t>
                    </m:r>
                  </m:oMath>
                </a14:m>
                <a:r>
                  <a:rPr sz="2400" b="0">
                    <a:solidFill>
                      <a:srgbClr val="78350F"/>
                    </a:solidFill>
                    <a:latin typeface="Arial"/>
                  </a:rPr>
                  <a:t> is a ray from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0</m:t>
                        </m:r>
                      </m:sub>
                    </m:sSub>
                  </m:oMath>
                </a14:m>
                <a:r>
                  <a:rPr sz="2400" b="0">
                    <a:solidFill>
                      <a:srgbClr val="78350F"/>
                    </a:solidFill>
                    <a:latin typeface="Arial"/>
                  </a:rPr>
                  <a:t> in direction </a:t>
                </a:r>
                <a14:m>
                  <m:oMath xmlns:m="http://schemas.openxmlformats.org/officeDocument/2006/math">
                    <m:r>
                      <a:rPr lang="en-IN" sz="2400" i="1">
                        <a:solidFill>
                          <a:srgbClr val="78350F"/>
                        </a:solidFill>
                        <a:latin typeface="Cambria Math" panose="02040503050406030204" pitchFamily="18" charset="0"/>
                      </a:rPr>
                      <m:t>θ</m:t>
                    </m:r>
                  </m:oMath>
                </a14:m>
                <a:r>
                  <a:rPr sz="2400" b="0">
                    <a:solidFill>
                      <a:srgbClr val="78350F"/>
                    </a:solidFill>
                    <a:latin typeface="Arial"/>
                  </a:rPr>
                  <a:t>; these four rays outline a square.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$\arg(z-z_0)=\theta$</a:t>
                </a:r>
                <a:r>
                  <a:rPr sz="2400" b="0">
                    <a:solidFill>
                      <a:srgbClr val="78350F"/>
                    </a:solidFill>
                    <a:latin typeface="Arial"/>
                  </a:rPr>
                  <a:t> is a ray from </a:t>
                </a:r>
                <a:r>
                  <a:rPr lang="en-IN" sz="2400">
                    <a:solidFill>
                      <a:srgbClr val="78350F"/>
                    </a:solidFill>
                    <a:latin typeface="Cambria Math" panose="02040503050406030204" pitchFamily="18" charset="0"/>
                  </a:rPr>
                  <a:t>$z_0$</a:t>
                </a:r>
                <a:r>
                  <a:rPr sz="2400" b="0">
                    <a:solidFill>
                      <a:srgbClr val="78350F"/>
                    </a:solidFill>
                    <a:latin typeface="Arial"/>
                  </a:rPr>
                  <a:t> in direction </a:t>
                </a:r>
                <a:r>
                  <a:rPr lang="en-IN" sz="2400">
                    <a:solidFill>
                      <a:srgbClr val="78350F"/>
                    </a:solidFill>
                    <a:latin typeface="Cambria Math" panose="02040503050406030204" pitchFamily="18" charset="0"/>
                  </a:rPr>
                  <a:t>$\theta$</a:t>
                </a:r>
                <a:r>
                  <a:rPr sz="2400" b="0">
                    <a:solidFill>
                      <a:srgbClr val="78350F"/>
                    </a:solidFill>
                    <a:latin typeface="Arial"/>
                  </a:rPr>
                  <a:t>; these four rays outline a square.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oMath>
                </a14:m>
                <a:r>
                  <a:rPr sz="2400" b="0">
                    <a:solidFill>
                      <a:srgbClr val="111827"/>
                    </a:solidFill>
                    <a:latin typeface="Arial"/>
                  </a:rPr>
                  <a:t> is the ray starting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and making angle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with the positive real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the ray from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going right along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contains the side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the ray from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going up along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it contains the side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$\arg(z-z_0)=\theta$</a:t>
                </a:r>
                <a:r>
                  <a:rPr sz="2400" b="0">
                    <a:solidFill>
                      <a:srgbClr val="111827"/>
                    </a:solidFill>
                    <a:latin typeface="Arial"/>
                  </a:rPr>
                  <a:t> is the ray starting at </a:t>
                </a:r>
                <a:r>
                  <a:rPr lang="en-IN" sz="2400">
                    <a:solidFill>
                      <a:srgbClr val="111827"/>
                    </a:solidFill>
                    <a:latin typeface="Cambria Math" panose="02040503050406030204" pitchFamily="18" charset="0"/>
                  </a:rPr>
                  <a:t>$z_0$</a:t>
                </a:r>
                <a:r>
                  <a:rPr sz="2400" b="0">
                    <a:solidFill>
                      <a:srgbClr val="111827"/>
                    </a:solidFill>
                    <a:latin typeface="Arial"/>
                  </a:rPr>
                  <a:t> and making angle </a:t>
                </a:r>
                <a:r>
                  <a:rPr lang="en-IN" sz="2400">
                    <a:solidFill>
                      <a:srgbClr val="111827"/>
                    </a:solidFill>
                    <a:latin typeface="Cambria Math" panose="02040503050406030204" pitchFamily="18" charset="0"/>
                  </a:rPr>
                  <a:t>$\theta$</a:t>
                </a:r>
                <a:r>
                  <a:rPr sz="2400" b="0">
                    <a:solidFill>
                      <a:srgbClr val="111827"/>
                    </a:solidFill>
                    <a:latin typeface="Arial"/>
                  </a:rPr>
                  <a:t> with the positive real axis.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$A(1,1)$</a:t>
                </a:r>
                <a:r>
                  <a:rPr sz="2400" b="0">
                    <a:solidFill>
                      <a:srgbClr val="111827"/>
                    </a:solidFill>
                    <a:latin typeface="Arial"/>
                  </a:rPr>
                  <a:t>, </a:t>
                </a:r>
                <a:r>
                  <a:rPr lang="en-IN" sz="2400">
                    <a:solidFill>
                      <a:srgbClr val="111827"/>
                    </a:solidFill>
                    <a:latin typeface="Cambria Math" panose="02040503050406030204" pitchFamily="18" charset="0"/>
                  </a:rPr>
                  <a:t>$B(2,1)$</a:t>
                </a:r>
                <a:r>
                  <a:rPr sz="2400" b="0">
                    <a:solidFill>
                      <a:srgbClr val="111827"/>
                    </a:solidFill>
                    <a:latin typeface="Arial"/>
                  </a:rPr>
                  <a:t>, </a:t>
                </a:r>
                <a:r>
                  <a:rPr lang="en-IN" sz="2400">
                    <a:solidFill>
                      <a:srgbClr val="111827"/>
                    </a:solidFill>
                    <a:latin typeface="Cambria Math" panose="02040503050406030204" pitchFamily="18" charset="0"/>
                  </a:rPr>
                  <a:t>$C(2,2)$</a:t>
                </a:r>
                <a:r>
                  <a:rPr sz="2400" b="0">
                    <a:solidFill>
                      <a:srgbClr val="111827"/>
                    </a:solidFill>
                    <a:latin typeface="Arial"/>
                  </a:rPr>
                  <a:t>, </a:t>
                </a:r>
                <a:r>
                  <a:rPr lang="en-IN" sz="2400">
                    <a:solidFill>
                      <a:srgbClr val="111827"/>
                    </a:solidFill>
                    <a:latin typeface="Cambria Math" panose="02040503050406030204" pitchFamily="18" charset="0"/>
                  </a:rPr>
                  <a:t>$D(1,2)$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$\arg(z-(1+i))=0$</a:t>
                </a:r>
                <a:r>
                  <a:rPr sz="2400" b="0">
                    <a:solidFill>
                      <a:srgbClr val="111827"/>
                    </a:solidFill>
                    <a:latin typeface="Arial"/>
                  </a:rPr>
                  <a:t> is the ray from </a:t>
                </a:r>
                <a:r>
                  <a:rPr lang="en-IN" sz="2400">
                    <a:solidFill>
                      <a:srgbClr val="111827"/>
                    </a:solidFill>
                    <a:latin typeface="Cambria Math" panose="02040503050406030204" pitchFamily="18" charset="0"/>
                  </a:rPr>
                  <a:t>$A$</a:t>
                </a:r>
                <a:r>
                  <a:rPr sz="2400" b="0">
                    <a:solidFill>
                      <a:srgbClr val="111827"/>
                    </a:solidFill>
                    <a:latin typeface="Arial"/>
                  </a:rPr>
                  <a:t> going right along </a:t>
                </a:r>
                <a:r>
                  <a:rPr lang="en-IN" sz="2400">
                    <a:solidFill>
                      <a:srgbClr val="111827"/>
                    </a:solidFill>
                    <a:latin typeface="Cambria Math" panose="02040503050406030204" pitchFamily="18" charset="0"/>
                  </a:rPr>
                  <a:t>$y=1$</a:t>
                </a:r>
                <a:r>
                  <a:rPr sz="2400" b="0">
                    <a:solidFill>
                      <a:srgbClr val="111827"/>
                    </a:solidFill>
                    <a:latin typeface="Arial"/>
                  </a:rPr>
                  <a:t>; it contains the side </a:t>
                </a:r>
                <a:r>
                  <a:rPr lang="en-IN" sz="2400">
                    <a:solidFill>
                      <a:srgbClr val="111827"/>
                    </a:solidFill>
                    <a:latin typeface="Cambria Math" panose="02040503050406030204" pitchFamily="18" charset="0"/>
                  </a:rPr>
                  <a:t>$AB$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$\arg(z-(2+i))=\frac{\pi}{2}$</a:t>
                </a:r>
                <a:r>
                  <a:rPr sz="2400" b="0">
                    <a:solidFill>
                      <a:srgbClr val="111827"/>
                    </a:solidFill>
                    <a:latin typeface="Arial"/>
                  </a:rPr>
                  <a:t> is the ray from </a:t>
                </a:r>
                <a:r>
                  <a:rPr lang="en-IN" sz="2400">
                    <a:solidFill>
                      <a:srgbClr val="111827"/>
                    </a:solidFill>
                    <a:latin typeface="Cambria Math" panose="02040503050406030204" pitchFamily="18" charset="0"/>
                  </a:rPr>
                  <a:t>$B$</a:t>
                </a:r>
                <a:r>
                  <a:rPr sz="2400" b="0">
                    <a:solidFill>
                      <a:srgbClr val="111827"/>
                    </a:solidFill>
                    <a:latin typeface="Arial"/>
                  </a:rPr>
                  <a:t> going up along </a:t>
                </a:r>
                <a:r>
                  <a:rPr lang="en-IN" sz="2400">
                    <a:solidFill>
                      <a:srgbClr val="111827"/>
                    </a:solidFill>
                    <a:latin typeface="Cambria Math" panose="02040503050406030204" pitchFamily="18" charset="0"/>
                  </a:rPr>
                  <a:t>$x=2$</a:t>
                </a:r>
                <a:r>
                  <a:rPr sz="2400" b="0">
                    <a:solidFill>
                      <a:srgbClr val="111827"/>
                    </a:solidFill>
                    <a:latin typeface="Arial"/>
                  </a:rPr>
                  <a:t>; it contains the side </a:t>
                </a:r>
                <a:r>
                  <a:rPr lang="en-IN" sz="2400">
                    <a:solidFill>
                      <a:srgbClr val="111827"/>
                    </a:solidFill>
                    <a:latin typeface="Cambria Math" panose="02040503050406030204" pitchFamily="18" charset="0"/>
                  </a:rPr>
                  <a:t>$BC$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is the ray from </a:t>
                </a:r>
                <a14:m>
                  <m:oMath xmlns:m="http://schemas.openxmlformats.org/officeDocument/2006/math">
                    <m:r>
                      <a:rPr lang="en-IN" sz="2400" i="1">
                        <a:solidFill>
                          <a:srgbClr val="111827"/>
                        </a:solidFill>
                        <a:latin typeface="Cambria Math" panose="02040503050406030204" pitchFamily="18" charset="0"/>
                      </a:rPr>
                      <m:t>𝐶</m:t>
                    </m:r>
                  </m:oMath>
                </a14:m>
                <a:r>
                  <a:rPr sz="2400" b="0">
                    <a:solidFill>
                      <a:srgbClr val="111827"/>
                    </a:solidFill>
                    <a:latin typeface="Arial"/>
                  </a:rPr>
                  <a:t> going left along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it contains the side </a:t>
                </a:r>
                <a14:m>
                  <m:oMath xmlns:m="http://schemas.openxmlformats.org/officeDocument/2006/math">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is the ray from </a:t>
                </a:r>
                <a14:m>
                  <m:oMath xmlns:m="http://schemas.openxmlformats.org/officeDocument/2006/math">
                    <m:r>
                      <a:rPr lang="en-IN" sz="2400" i="1">
                        <a:solidFill>
                          <a:srgbClr val="111827"/>
                        </a:solidFill>
                        <a:latin typeface="Cambria Math" panose="02040503050406030204" pitchFamily="18" charset="0"/>
                      </a:rPr>
                      <m:t>𝐷</m:t>
                    </m:r>
                  </m:oMath>
                </a14:m>
                <a:r>
                  <a:rPr sz="2400" b="0">
                    <a:solidFill>
                      <a:srgbClr val="111827"/>
                    </a:solidFill>
                    <a:latin typeface="Arial"/>
                  </a:rPr>
                  <a:t> going down along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it contains the side </a:t>
                </a:r>
                <a14:m>
                  <m:oMath xmlns:m="http://schemas.openxmlformats.org/officeDocument/2006/math">
                    <m:r>
                      <a:rPr lang="en-IN" sz="2400" i="1">
                        <a:solidFill>
                          <a:srgbClr val="111827"/>
                        </a:solidFill>
                        <a:latin typeface="Cambria Math" panose="02040503050406030204" pitchFamily="18" charset="0"/>
                      </a:rPr>
                      <m:t>𝐷</m:t>
                    </m:r>
                    <m:r>
                      <a:rPr lang="en-IN" sz="2400" i="1">
                        <a:solidFill>
                          <a:srgbClr val="111827"/>
                        </a:solidFill>
                        <a:latin typeface="Cambria Math" panose="02040503050406030204" pitchFamily="18" charset="0"/>
                      </a:rPr>
                      <m:t>𝐴</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rays meet only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so the bounded region is the square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 of side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area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$\arg(z-(2+2i))=\pi$</a:t>
                </a:r>
                <a:r>
                  <a:rPr sz="2400" b="0">
                    <a:solidFill>
                      <a:srgbClr val="111827"/>
                    </a:solidFill>
                    <a:latin typeface="Arial"/>
                  </a:rPr>
                  <a:t> is the ray from </a:t>
                </a:r>
                <a:r>
                  <a:rPr lang="en-IN" sz="2400">
                    <a:solidFill>
                      <a:srgbClr val="111827"/>
                    </a:solidFill>
                    <a:latin typeface="Cambria Math" panose="02040503050406030204" pitchFamily="18" charset="0"/>
                  </a:rPr>
                  <a:t>$C$</a:t>
                </a:r>
                <a:r>
                  <a:rPr sz="2400" b="0">
                    <a:solidFill>
                      <a:srgbClr val="111827"/>
                    </a:solidFill>
                    <a:latin typeface="Arial"/>
                  </a:rPr>
                  <a:t> going left along </a:t>
                </a:r>
                <a:r>
                  <a:rPr lang="en-IN" sz="2400">
                    <a:solidFill>
                      <a:srgbClr val="111827"/>
                    </a:solidFill>
                    <a:latin typeface="Cambria Math" panose="02040503050406030204" pitchFamily="18" charset="0"/>
                  </a:rPr>
                  <a:t>$y=2$</a:t>
                </a:r>
                <a:r>
                  <a:rPr sz="2400" b="0">
                    <a:solidFill>
                      <a:srgbClr val="111827"/>
                    </a:solidFill>
                    <a:latin typeface="Arial"/>
                  </a:rPr>
                  <a:t>; it contains the side </a:t>
                </a:r>
                <a:r>
                  <a:rPr lang="en-IN" sz="2400">
                    <a:solidFill>
                      <a:srgbClr val="111827"/>
                    </a:solidFill>
                    <a:latin typeface="Cambria Math" panose="02040503050406030204" pitchFamily="18" charset="0"/>
                  </a:rPr>
                  <a:t>$CD$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$\arg(z-(1+2i))=-\frac{\pi}{2}$</a:t>
                </a:r>
                <a:r>
                  <a:rPr sz="2400" b="0">
                    <a:solidFill>
                      <a:srgbClr val="111827"/>
                    </a:solidFill>
                    <a:latin typeface="Arial"/>
                  </a:rPr>
                  <a:t> is the ray from </a:t>
                </a:r>
                <a:r>
                  <a:rPr lang="en-IN" sz="2400">
                    <a:solidFill>
                      <a:srgbClr val="111827"/>
                    </a:solidFill>
                    <a:latin typeface="Cambria Math" panose="02040503050406030204" pitchFamily="18" charset="0"/>
                  </a:rPr>
                  <a:t>$D$</a:t>
                </a:r>
                <a:r>
                  <a:rPr sz="2400" b="0">
                    <a:solidFill>
                      <a:srgbClr val="111827"/>
                    </a:solidFill>
                    <a:latin typeface="Arial"/>
                  </a:rPr>
                  <a:t> going down along </a:t>
                </a:r>
                <a:r>
                  <a:rPr lang="en-IN" sz="2400">
                    <a:solidFill>
                      <a:srgbClr val="111827"/>
                    </a:solidFill>
                    <a:latin typeface="Cambria Math" panose="02040503050406030204" pitchFamily="18" charset="0"/>
                  </a:rPr>
                  <a:t>$x=1$</a:t>
                </a:r>
                <a:r>
                  <a:rPr sz="2400" b="0">
                    <a:solidFill>
                      <a:srgbClr val="111827"/>
                    </a:solidFill>
                    <a:latin typeface="Arial"/>
                  </a:rPr>
                  <a:t>; it contains the side </a:t>
                </a:r>
                <a:r>
                  <a:rPr lang="en-IN" sz="2400">
                    <a:solidFill>
                      <a:srgbClr val="111827"/>
                    </a:solidFill>
                    <a:latin typeface="Cambria Math" panose="02040503050406030204" pitchFamily="18" charset="0"/>
                  </a:rPr>
                  <a:t>$DA$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rays meet only at </a:t>
                </a:r>
                <a:r>
                  <a:rPr lang="en-IN" sz="2400">
                    <a:solidFill>
                      <a:srgbClr val="111827"/>
                    </a:solidFill>
                    <a:latin typeface="Cambria Math" panose="02040503050406030204" pitchFamily="18" charset="0"/>
                  </a:rPr>
                  <a:t>$A,B,C,D$</a:t>
                </a:r>
                <a:r>
                  <a:rPr sz="2400" b="0">
                    <a:solidFill>
                      <a:srgbClr val="111827"/>
                    </a:solidFill>
                    <a:latin typeface="Arial"/>
                  </a:rPr>
                  <a:t>, so the bounded region is the square </a:t>
                </a:r>
                <a:r>
                  <a:rPr lang="en-IN" sz="2400">
                    <a:solidFill>
                      <a:srgbClr val="111827"/>
                    </a:solidFill>
                    <a:latin typeface="Cambria Math" panose="02040503050406030204" pitchFamily="18" charset="0"/>
                  </a:rPr>
                  <a:t>$ABCD$</a:t>
                </a:r>
                <a:r>
                  <a:rPr sz="2400" b="0">
                    <a:solidFill>
                      <a:srgbClr val="111827"/>
                    </a:solidFill>
                    <a:latin typeface="Arial"/>
                  </a:rPr>
                  <a:t> of side </a:t>
                </a:r>
                <a:r>
                  <a:rPr lang="en-IN" sz="2400">
                    <a:solidFill>
                      <a:srgbClr val="111827"/>
                    </a:solidFill>
                    <a:latin typeface="Cambria Math" panose="02040503050406030204" pitchFamily="18" charset="0"/>
                  </a:rPr>
                  <a:t>$1$</a:t>
                </a:r>
                <a:r>
                  <a:rPr sz="2400" b="0">
                    <a:solidFill>
                      <a:srgbClr val="111827"/>
                    </a:solidFill>
                    <a:latin typeface="Arial"/>
                  </a:rPr>
                  <a:t>: area </a:t>
                </a:r>
                <a:r>
                  <a:rPr lang="en-IN" sz="2400">
                    <a:solidFill>
                      <a:srgbClr val="111827"/>
                    </a:solidFill>
                    <a:latin typeface="Cambria Math" panose="02040503050406030204" pitchFamily="18" charset="0"/>
                  </a:rPr>
                  <a:t>$\lambda=1$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$\frac{\lambda}{2}=0.5$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0.50</a:t>
            </a:r>
            <a:endParaRPr sz="2800">
              <a:solidFill>
                <a:srgbClr val="15803D"/>
              </a:solidFill>
            </a:endParaRP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four rays bound a quadrilateral, so use the area of a quadrilateral from its diagonal vectors (cross product) or the shoelace formula.</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rays start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 and run along the lines through the next vertex, so the region is quadrilateral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r>
                      <a:rPr lang="en-IN" sz="2400" i="1">
                        <a:solidFill>
                          <a:srgbClr val="111827"/>
                        </a:solidFill>
                        <a:latin typeface="Cambria Math" panose="02040503050406030204" pitchFamily="18" charset="0"/>
                      </a:rPr>
                      <m:t>𝐷</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Diagonal vectors: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𝐷</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 quadrilateral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e>
                        </m:acc>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𝐷</m:t>
                            </m:r>
                          </m:e>
                        </m:acc>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product: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rays start at </a:t>
                </a:r>
                <a:r>
                  <a:rPr lang="en-IN" sz="2400">
                    <a:solidFill>
                      <a:srgbClr val="111827"/>
                    </a:solidFill>
                    <a:latin typeface="Cambria Math" panose="02040503050406030204" pitchFamily="18" charset="0"/>
                  </a:rPr>
                  <a:t>$A=1+i$</a:t>
                </a:r>
                <a:r>
                  <a:rPr sz="2400" b="0">
                    <a:solidFill>
                      <a:srgbClr val="111827"/>
                    </a:solidFill>
                    <a:latin typeface="Arial"/>
                  </a:rPr>
                  <a:t>, </a:t>
                </a:r>
                <a:r>
                  <a:rPr lang="en-IN" sz="2400">
                    <a:solidFill>
                      <a:srgbClr val="111827"/>
                    </a:solidFill>
                    <a:latin typeface="Cambria Math" panose="02040503050406030204" pitchFamily="18" charset="0"/>
                  </a:rPr>
                  <a:t>$B=2+i$</a:t>
                </a:r>
                <a:r>
                  <a:rPr sz="2400" b="0">
                    <a:solidFill>
                      <a:srgbClr val="111827"/>
                    </a:solidFill>
                    <a:latin typeface="Arial"/>
                  </a:rPr>
                  <a:t>, </a:t>
                </a:r>
                <a:r>
                  <a:rPr lang="en-IN" sz="2400">
                    <a:solidFill>
                      <a:srgbClr val="111827"/>
                    </a:solidFill>
                    <a:latin typeface="Cambria Math" panose="02040503050406030204" pitchFamily="18" charset="0"/>
                  </a:rPr>
                  <a:t>$C=2+2i$</a:t>
                </a:r>
                <a:r>
                  <a:rPr sz="2400" b="0">
                    <a:solidFill>
                      <a:srgbClr val="111827"/>
                    </a:solidFill>
                    <a:latin typeface="Arial"/>
                  </a:rPr>
                  <a:t>, </a:t>
                </a:r>
                <a:r>
                  <a:rPr lang="en-IN" sz="2400">
                    <a:solidFill>
                      <a:srgbClr val="111827"/>
                    </a:solidFill>
                    <a:latin typeface="Cambria Math" panose="02040503050406030204" pitchFamily="18" charset="0"/>
                  </a:rPr>
                  <a:t>$D=1+2i$</a:t>
                </a:r>
                <a:r>
                  <a:rPr sz="2400" b="0">
                    <a:solidFill>
                      <a:srgbClr val="111827"/>
                    </a:solidFill>
                    <a:latin typeface="Arial"/>
                  </a:rPr>
                  <a:t> and run along the lines through the next vertex, so the region is quadrilateral </a:t>
                </a:r>
                <a:r>
                  <a:rPr lang="en-IN" sz="2400">
                    <a:solidFill>
                      <a:srgbClr val="111827"/>
                    </a:solidFill>
                    <a:latin typeface="Cambria Math" panose="02040503050406030204" pitchFamily="18" charset="0"/>
                  </a:rPr>
                  <a:t>$ABCD$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Diagonal vectors: </a:t>
                </a:r>
                <a:r>
                  <a:rPr lang="en-IN" sz="2400">
                    <a:solidFill>
                      <a:srgbClr val="111827"/>
                    </a:solidFill>
                    <a:latin typeface="Cambria Math" panose="02040503050406030204" pitchFamily="18" charset="0"/>
                  </a:rPr>
                  <a:t>$\vec{AC}=(2+2i)-(1+i)=1+i$</a:t>
                </a:r>
                <a:r>
                  <a:rPr sz="2400" b="0">
                    <a:solidFill>
                      <a:srgbClr val="111827"/>
                    </a:solidFill>
                    <a:latin typeface="Arial"/>
                  </a:rPr>
                  <a:t>, i.e. </a:t>
                </a:r>
                <a:r>
                  <a:rPr lang="en-IN" sz="2400">
                    <a:solidFill>
                      <a:srgbClr val="111827"/>
                    </a:solidFill>
                    <a:latin typeface="Cambria Math" panose="02040503050406030204" pitchFamily="18" charset="0"/>
                  </a:rPr>
                  <a:t>$(1,1)$</a:t>
                </a:r>
                <a:r>
                  <a:rPr sz="2400" b="0">
                    <a:solidFill>
                      <a:srgbClr val="111827"/>
                    </a:solidFill>
                    <a:latin typeface="Arial"/>
                  </a:rPr>
                  <a:t>, and </a:t>
                </a:r>
                <a:r>
                  <a:rPr lang="en-IN" sz="2400">
                    <a:solidFill>
                      <a:srgbClr val="111827"/>
                    </a:solidFill>
                    <a:latin typeface="Cambria Math" panose="02040503050406030204" pitchFamily="18" charset="0"/>
                  </a:rPr>
                  <a:t>$\vec{BD}=(1+2i)-(2+i)=-1+i$</a:t>
                </a:r>
                <a:r>
                  <a:rPr sz="2400" b="0">
                    <a:solidFill>
                      <a:srgbClr val="111827"/>
                    </a:solidFill>
                    <a:latin typeface="Arial"/>
                  </a:rPr>
                  <a:t>, i.e. </a:t>
                </a:r>
                <a:r>
                  <a:rPr lang="en-IN" sz="2400">
                    <a:solidFill>
                      <a:srgbClr val="111827"/>
                    </a:solidFill>
                    <a:latin typeface="Cambria Math" panose="02040503050406030204" pitchFamily="18" charset="0"/>
                  </a:rPr>
                  <a:t>$(-1,1)$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a quadrilateral </a:t>
                </a:r>
                <a:r>
                  <a:rPr lang="en-IN" sz="2400">
                    <a:solidFill>
                      <a:srgbClr val="111827"/>
                    </a:solidFill>
                    <a:latin typeface="Cambria Math" panose="02040503050406030204" pitchFamily="18" charset="0"/>
                  </a:rPr>
                  <a:t>$=\frac12\left|\vec{AC}\times\vec{BD}\right|$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Cross product: </a:t>
                </a:r>
                <a:r>
                  <a:rPr lang="en-IN" sz="2400">
                    <a:solidFill>
                      <a:srgbClr val="111827"/>
                    </a:solidFill>
                    <a:latin typeface="Cambria Math" panose="02040503050406030204" pitchFamily="18" charset="0"/>
                  </a:rPr>
                  <a:t>$1\cdot1-1\cdot(-1)=2$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Shoelace check on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λ</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$\lambda=\frac12\cdot2=1$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Shoelace check on </a:t>
                </a:r>
                <a:r>
                  <a:rPr lang="en-IN" sz="2400">
                    <a:solidFill>
                      <a:srgbClr val="111827"/>
                    </a:solidFill>
                    <a:latin typeface="Cambria Math" panose="02040503050406030204" pitchFamily="18" charset="0"/>
                  </a:rPr>
                  <a:t>$(1,1),(2,1),(2,2),(1,2)$</a:t>
                </a:r>
                <a:r>
                  <a:rPr sz="2400" b="0">
                    <a:solidFill>
                      <a:srgbClr val="111827"/>
                    </a:solidFill>
                    <a:latin typeface="Arial"/>
                  </a:rPr>
                  <a:t>: </a:t>
                </a:r>
                <a:r>
                  <a:rPr lang="en-IN" sz="2400">
                    <a:solidFill>
                      <a:srgbClr val="111827"/>
                    </a:solidFill>
                    <a:latin typeface="Cambria Math" panose="02040503050406030204" pitchFamily="18" charset="0"/>
                  </a:rPr>
                  <a:t>$\sum x_iy_{i+1}=10$</a:t>
                </a:r>
                <a:r>
                  <a:rPr sz="2400" b="0">
                    <a:solidFill>
                      <a:srgbClr val="111827"/>
                    </a:solidFill>
                    <a:latin typeface="Arial"/>
                  </a:rPr>
                  <a:t>, </a:t>
                </a:r>
                <a:r>
                  <a:rPr lang="en-IN" sz="2400">
                    <a:solidFill>
                      <a:srgbClr val="111827"/>
                    </a:solidFill>
                    <a:latin typeface="Cambria Math" panose="02040503050406030204" pitchFamily="18" charset="0"/>
                  </a:rPr>
                  <a:t>$\sum y_ix_{i+1}=8$</a:t>
                </a:r>
                <a:r>
                  <a:rPr sz="2400" b="0">
                    <a:solidFill>
                      <a:srgbClr val="111827"/>
                    </a:solidFill>
                    <a:latin typeface="Arial"/>
                  </a:rPr>
                  <a:t>, so area </a:t>
                </a:r>
                <a:r>
                  <a:rPr lang="en-IN" sz="2400">
                    <a:solidFill>
                      <a:srgbClr val="111827"/>
                    </a:solidFill>
                    <a:latin typeface="Cambria Math" panose="02040503050406030204" pitchFamily="18" charset="0"/>
                  </a:rPr>
                  <a:t>$=\frac12(10-8)=1$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$\lambda=1$</a:t>
                </a:r>
                <a:r>
                  <a:rPr sz="2400" b="0">
                    <a:solidFill>
                      <a:srgbClr val="111827"/>
                    </a:solidFill>
                    <a:latin typeface="Arial"/>
                  </a:rPr>
                  <a:t> and </a:t>
                </a:r>
                <a:r>
                  <a:rPr lang="en-IN" sz="2400">
                    <a:solidFill>
                      <a:srgbClr val="111827"/>
                    </a:solidFill>
                    <a:latin typeface="Cambria Math" panose="02040503050406030204" pitchFamily="18" charset="0"/>
                  </a:rPr>
                  <a:t>$\frac{\lambda}{2}=0.5$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0.50</a:t>
            </a:r>
            <a:endParaRPr sz="2800">
              <a:solidFill>
                <a:srgbClr val="15803D"/>
              </a:solidFill>
            </a:endParaRPr>
          </a:p>
        </p:txBody>
      </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oMath>
                </a14:m>
                <a:r>
                  <a:rPr sz="2400" b="0">
                    <a:solidFill>
                      <a:srgbClr val="111827"/>
                    </a:solidFill>
                    <a:latin typeface="Arial"/>
                  </a:rPr>
                  <a:t> is a ray (not a full line) from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oMath>
                </a14:m>
                <a:r>
                  <a:rPr sz="2400" b="0">
                    <a:solidFill>
                      <a:srgbClr val="111827"/>
                    </a:solidFill>
                    <a:latin typeface="Arial"/>
                  </a:rPr>
                  <a:t> together with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oMath>
                </a14:m>
                <a:r>
                  <a:rPr sz="2400" b="0">
                    <a:solidFill>
                      <a:srgbClr val="111827"/>
                    </a:solidFill>
                    <a:latin typeface="Arial"/>
                  </a:rPr>
                  <a:t> gives the whole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closed polygon appears when each ray starts at the vertex where the previous ray's direction ends up; a pinwheel of four right-angle rays encloses exactly one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Region count check: parallel rays never meet, so only consecutive rays intersect, each at the common endpoint.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$\arg(z-z_0)=\theta$</a:t>
                </a:r>
                <a:r>
                  <a:rPr sz="2400" b="0">
                    <a:solidFill>
                      <a:srgbClr val="111827"/>
                    </a:solidFill>
                    <a:latin typeface="Arial"/>
                  </a:rPr>
                  <a:t> is a ray (not a full line) from </a:t>
                </a:r>
                <a:r>
                  <a:rPr lang="en-IN" sz="2400">
                    <a:solidFill>
                      <a:srgbClr val="111827"/>
                    </a:solidFill>
                    <a:latin typeface="Cambria Math" panose="02040503050406030204" pitchFamily="18" charset="0"/>
                  </a:rPr>
                  <a:t>$z_0$</a:t>
                </a:r>
                <a:r>
                  <a:rPr sz="2400" b="0">
                    <a:solidFill>
                      <a:srgbClr val="111827"/>
                    </a:solidFill>
                    <a:latin typeface="Arial"/>
                  </a:rPr>
                  <a:t>; </a:t>
                </a:r>
                <a:r>
                  <a:rPr lang="en-IN" sz="2400">
                    <a:solidFill>
                      <a:srgbClr val="111827"/>
                    </a:solidFill>
                    <a:latin typeface="Cambria Math" panose="02040503050406030204" pitchFamily="18" charset="0"/>
                  </a:rPr>
                  <a:t>$\arg(z-z_0)=\theta$</a:t>
                </a:r>
                <a:r>
                  <a:rPr sz="2400" b="0">
                    <a:solidFill>
                      <a:srgbClr val="111827"/>
                    </a:solidFill>
                    <a:latin typeface="Arial"/>
                  </a:rPr>
                  <a:t> together with </a:t>
                </a:r>
                <a:r>
                  <a:rPr lang="en-IN" sz="2400">
                    <a:solidFill>
                      <a:srgbClr val="111827"/>
                    </a:solidFill>
                    <a:latin typeface="Cambria Math" panose="02040503050406030204" pitchFamily="18" charset="0"/>
                  </a:rPr>
                  <a:t>$\arg(z-z_0)=\theta+\pi$</a:t>
                </a:r>
                <a:r>
                  <a:rPr sz="2400" b="0">
                    <a:solidFill>
                      <a:srgbClr val="111827"/>
                    </a:solidFill>
                    <a:latin typeface="Arial"/>
                  </a:rPr>
                  <a:t> gives the whole line.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closed polygon appears when each ray starts at the vertex where the previous ray's direction ends up; a pinwheel of four right-angle rays encloses exactly one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Region count check: parallel rays never meet, so only consecutive rays intersect, each at the common endpoint.</a:t>
                </a:r>
                <a:endParaRPr sz="2400">
                  <a:solidFill>
                    <a:srgbClr val="111827"/>
                  </a:solidFill>
                </a:endParaRPr>
              </a:p>
            </p:txBody>
          </p:sp>
        </mc:Fallback>
      </mc:AlternateContent>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two complex numbers such that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𝑘</m:t>
                            </m:r>
                          </m:den>
                        </m:f>
                      </m:e>
                    </m:d>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 then the value of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is equal to ______.</a:t>
                </a:r>
                <a:endParaRPr sz="2400">
                  <a:solidFill>
                    <a:srgbClr val="111827"/>
                  </a:solidFill>
                </a:endParaRPr>
              </a:p>
            </p:txBody>
          </p:sp>
        </mc:Choice>
        <mc:Fallback>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a:t>
                </a:r>
                <a:r>
                  <a:rPr sz="2400" b="0">
                    <a:solidFill>
                      <a:srgbClr val="111827"/>
                    </a:solidFill>
                    <a:latin typeface="Arial"/>
                  </a:rPr>
                  <a:t> and </a:t>
                </a:r>
                <a:r>
                  <a:rPr lang="en-IN" sz="2400">
                    <a:solidFill>
                      <a:srgbClr val="111827"/>
                    </a:solidFill>
                    <a:latin typeface="Cambria Math" panose="02040503050406030204" pitchFamily="18" charset="0"/>
                  </a:rPr>
                  <a:t>$z_2$</a:t>
                </a:r>
                <a:r>
                  <a:rPr sz="2400" b="0">
                    <a:solidFill>
                      <a:srgbClr val="111827"/>
                    </a:solidFill>
                    <a:latin typeface="Arial"/>
                  </a:rPr>
                  <a:t> are two complex numbers such that </a:t>
                </a:r>
                <a:r>
                  <a:rPr lang="en-IN" sz="2400">
                    <a:solidFill>
                      <a:srgbClr val="111827"/>
                    </a:solidFill>
                    <a:latin typeface="Cambria Math" panose="02040503050406030204" pitchFamily="18" charset="0"/>
                  </a:rPr>
                  <a:t>$z_1+z_2=z_1^2+z_2^2=\frac{2i}{\sqrt3}$</a:t>
                </a:r>
                <a:r>
                  <a:rPr sz="2400" b="0">
                    <a:solidFill>
                      <a:srgbClr val="111827"/>
                    </a:solidFill>
                    <a:latin typeface="Arial"/>
                  </a:rPr>
                  <a:t> and </a:t>
                </a:r>
                <a:r>
                  <a:rPr lang="en-IN" sz="2400">
                    <a:solidFill>
                      <a:srgbClr val="111827"/>
                    </a:solidFill>
                    <a:latin typeface="Cambria Math" panose="02040503050406030204" pitchFamily="18" charset="0"/>
                  </a:rPr>
                  <a:t>$|\mathrm{Re}(z_1)|=\sin\left(\frac{\pi}{k}\right)$</a:t>
                </a:r>
                <a:r>
                  <a:rPr sz="2400" b="0">
                    <a:solidFill>
                      <a:srgbClr val="111827"/>
                    </a:solidFill>
                    <a:latin typeface="Arial"/>
                  </a:rPr>
                  <a:t>, where </a:t>
                </a:r>
                <a:r>
                  <a:rPr lang="en-IN" sz="2400">
                    <a:solidFill>
                      <a:srgbClr val="111827"/>
                    </a:solidFill>
                    <a:latin typeface="Cambria Math" panose="02040503050406030204" pitchFamily="18" charset="0"/>
                  </a:rPr>
                  <a:t>$i=\sqrt{-1}$</a:t>
                </a:r>
                <a:r>
                  <a:rPr sz="2400" b="0">
                    <a:solidFill>
                      <a:srgbClr val="111827"/>
                    </a:solidFill>
                    <a:latin typeface="Arial"/>
                  </a:rPr>
                  <a:t>, then the value of </a:t>
                </a:r>
                <a:r>
                  <a:rPr lang="en-IN" sz="2400">
                    <a:solidFill>
                      <a:srgbClr val="111827"/>
                    </a:solidFill>
                    <a:latin typeface="Cambria Math" panose="02040503050406030204" pitchFamily="18" charset="0"/>
                  </a:rPr>
                  <a:t>$\frac1k$</a:t>
                </a:r>
                <a:r>
                  <a:rPr sz="2400" b="0">
                    <a:solidFill>
                      <a:srgbClr val="111827"/>
                    </a:solidFill>
                    <a:latin typeface="Arial"/>
                  </a:rPr>
                  <a:t> is equal to ______.</a:t>
                </a:r>
                <a:endParaRPr sz="2400">
                  <a:solidFill>
                    <a:srgbClr val="111827"/>
                  </a:solidFill>
                </a:endParaRPr>
              </a:p>
            </p:txBody>
          </p:sp>
        </mc:Fallback>
      </mc:AlternateContent>
      <p:sp>
        <p:nvSpPr>
          <p:cNvPr id="5" name="Rectangle 4"/>
          <p:cNvSpPr/>
          <p:nvPr/>
        </p:nvSpPr>
        <p:spPr>
          <a:xfrm>
            <a:off x="731520" y="3846068"/>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algebra and real parts of roots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sum is purely imaginary, so </a:t>
                </a:r>
                <a14:m>
                  <m:oMath xmlns:m="http://schemas.openxmlformats.org/officeDocument/2006/math">
                    <m:r>
                      <m:rPr>
                        <m:sty m:val="p"/>
                      </m:rPr>
                      <a:rPr lang="en-IN" sz="2400">
                        <a:solidFill>
                          <a:srgbClr val="78350F"/>
                        </a:solidFill>
                        <a:latin typeface="Cambria Math" panose="02040503050406030204" pitchFamily="18" charset="0"/>
                      </a:rPr>
                      <m:t>R</m:t>
                    </m:r>
                    <m:r>
                      <m:rPr>
                        <m:sty m:val="p"/>
                      </m:rPr>
                      <a:rPr lang="en-IN" sz="2400">
                        <a:solidFill>
                          <a:srgbClr val="78350F"/>
                        </a:solidFill>
                        <a:latin typeface="Cambria Math" panose="02040503050406030204" pitchFamily="18" charset="0"/>
                      </a:rPr>
                      <m:t>e</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R</m:t>
                    </m:r>
                    <m:r>
                      <m:rPr>
                        <m:sty m:val="p"/>
                      </m:rPr>
                      <a:rPr lang="en-IN" sz="2400">
                        <a:solidFill>
                          <a:srgbClr val="78350F"/>
                        </a:solidFill>
                        <a:latin typeface="Cambria Math" panose="02040503050406030204" pitchFamily="18" charset="0"/>
                      </a:rPr>
                      <m:t>e</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find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and solve for the real part.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sum is purely imaginary, so </a:t>
                </a:r>
                <a:r>
                  <a:rPr lang="en-IN" sz="2400">
                    <a:solidFill>
                      <a:srgbClr val="78350F"/>
                    </a:solidFill>
                    <a:latin typeface="Cambria Math" panose="02040503050406030204" pitchFamily="18" charset="0"/>
                  </a:rPr>
                  <a:t>$\mathrm{Re}(z_2)=-\mathrm{Re}(z_1)$</a:t>
                </a:r>
                <a:r>
                  <a:rPr sz="2400" b="0">
                    <a:solidFill>
                      <a:srgbClr val="78350F"/>
                    </a:solidFill>
                    <a:latin typeface="Arial"/>
                  </a:rPr>
                  <a:t>; find </a:t>
                </a:r>
                <a:r>
                  <a:rPr lang="en-IN" sz="2400">
                    <a:solidFill>
                      <a:srgbClr val="78350F"/>
                    </a:solidFill>
                    <a:latin typeface="Cambria Math" panose="02040503050406030204" pitchFamily="18" charset="0"/>
                  </a:rPr>
                  <a:t>$z_1z_2$</a:t>
                </a:r>
                <a:r>
                  <a:rPr sz="2400" b="0">
                    <a:solidFill>
                      <a:srgbClr val="78350F"/>
                    </a:solidFill>
                    <a:latin typeface="Arial"/>
                  </a:rPr>
                  <a:t> and solve for the real part.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is purely imaginary, so put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β</m:t>
                    </m:r>
                  </m:oMath>
                </a14:m>
                <a:r>
                  <a:rPr sz="2400" b="0">
                    <a:solidFill>
                      <a:srgbClr val="111827"/>
                    </a:solidFill>
                    <a:latin typeface="Arial"/>
                  </a:rPr>
                  <a:t> with real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$z_1+z_2=z_1^2+z_2^2=\frac{2i}{\sqrt3}$</a:t>
                </a:r>
                <a:r>
                  <a:rPr sz="2400" b="0">
                    <a:solidFill>
                      <a:srgbClr val="111827"/>
                    </a:solidFill>
                    <a:latin typeface="Arial"/>
                  </a:rPr>
                  <a:t> (1).</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$(z_1+z_2)^2-2z_1z_2=\frac{2i}{\sqrt3}$</a:t>
                </a:r>
                <a:r>
                  <a:rPr sz="2400" b="0">
                    <a:solidFill>
                      <a:srgbClr val="111827"/>
                    </a:solidFill>
                    <a:latin typeface="Arial"/>
                  </a:rPr>
                  <a:t>: </a:t>
                </a:r>
                <a:r>
                  <a:rPr lang="en-IN" sz="2400">
                    <a:solidFill>
                      <a:srgbClr val="111827"/>
                    </a:solidFill>
                    <a:latin typeface="Cambria Math" panose="02040503050406030204" pitchFamily="18" charset="0"/>
                  </a:rPr>
                  <a:t>$z_1z_2=\frac12\left(-\frac43-\frac{2i}{\sqrt3}\right)=-\frac23-\frac{i}{\sqrt3}$</a:t>
                </a:r>
                <a:r>
                  <a:rPr sz="2400" b="0">
                    <a:solidFill>
                      <a:srgbClr val="111827"/>
                    </a:solidFill>
                    <a:latin typeface="Arial"/>
                  </a:rPr>
                  <a:t> (2).</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is purely imaginary, so put </a:t>
                </a:r>
                <a:r>
                  <a:rPr lang="en-IN" sz="2400">
                    <a:solidFill>
                      <a:srgbClr val="111827"/>
                    </a:solidFill>
                    <a:latin typeface="Cambria Math" panose="02040503050406030204" pitchFamily="18" charset="0"/>
                  </a:rPr>
                  <a:t>$z_1=x+iy$</a:t>
                </a:r>
                <a:r>
                  <a:rPr sz="2400" b="0">
                    <a:solidFill>
                      <a:srgbClr val="111827"/>
                    </a:solidFill>
                    <a:latin typeface="Arial"/>
                  </a:rPr>
                  <a:t> and </a:t>
                </a:r>
                <a:r>
                  <a:rPr lang="en-IN" sz="2400">
                    <a:solidFill>
                      <a:srgbClr val="111827"/>
                    </a:solidFill>
                    <a:latin typeface="Cambria Math" panose="02040503050406030204" pitchFamily="18" charset="0"/>
                  </a:rPr>
                  <a:t>$z_2=-x+i\beta$</a:t>
                </a:r>
                <a:r>
                  <a:rPr sz="2400" b="0">
                    <a:solidFill>
                      <a:srgbClr val="111827"/>
                    </a:solidFill>
                    <a:latin typeface="Arial"/>
                  </a:rPr>
                  <a:t> with real </a:t>
                </a:r>
                <a:r>
                  <a:rPr lang="en-IN" sz="2400">
                    <a:solidFill>
                      <a:srgbClr val="111827"/>
                    </a:solidFill>
                    <a:latin typeface="Cambria Math" panose="02040503050406030204" pitchFamily="18" charset="0"/>
                  </a:rPr>
                  <a:t>$x,y,\beta$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(1): </a:t>
                </a:r>
                <a:r>
                  <a:rPr lang="en-IN" sz="2400">
                    <a:solidFill>
                      <a:srgbClr val="111827"/>
                    </a:solidFill>
                    <a:latin typeface="Cambria Math" panose="02040503050406030204" pitchFamily="18" charset="0"/>
                  </a:rPr>
                  <a:t>$\beta+y=\frac{2}{\sqrt3}$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(2), comparing real and imaginary parts: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𝑥</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𝑥</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a:rPr lang="en-IN" sz="2400" i="1">
                            <a:solidFill>
                              <a:srgbClr val="111827"/>
                            </a:solidFill>
                            <a:latin typeface="Cambria Math" panose="02040503050406030204" pitchFamily="18" charset="0"/>
                          </a:rPr>
                          <m:t>𝑥</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𝑦</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From (2), comparing real and imaginary parts: </a:t>
                </a:r>
                <a:r>
                  <a:rPr lang="en-IN" sz="2400">
                    <a:solidFill>
                      <a:srgbClr val="111827"/>
                    </a:solidFill>
                    <a:latin typeface="Cambria Math" panose="02040503050406030204" pitchFamily="18" charset="0"/>
                  </a:rPr>
                  <a:t>$-x^2-y\beta=-\frac23$</a:t>
                </a:r>
                <a:r>
                  <a:rPr sz="2400" b="0">
                    <a:solidFill>
                      <a:srgbClr val="111827"/>
                    </a:solidFill>
                    <a:latin typeface="Arial"/>
                  </a:rPr>
                  <a:t> and </a:t>
                </a:r>
                <a:r>
                  <a:rPr lang="en-IN" sz="2400">
                    <a:solidFill>
                      <a:srgbClr val="111827"/>
                    </a:solidFill>
                    <a:latin typeface="Cambria Math" panose="02040503050406030204" pitchFamily="18" charset="0"/>
                  </a:rPr>
                  <a:t>$x(\beta-y)=-\frac{1}{\sqrt3}$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$\beta-y=-\frac{1}{\sqrt3x}$</a:t>
                </a:r>
                <a:r>
                  <a:rPr sz="2400" b="0">
                    <a:solidFill>
                      <a:srgbClr val="111827"/>
                    </a:solidFill>
                    <a:latin typeface="Arial"/>
                  </a:rPr>
                  <a:t>, so </a:t>
                </a:r>
                <a:r>
                  <a:rPr lang="en-IN" sz="2400">
                    <a:solidFill>
                      <a:srgbClr val="111827"/>
                    </a:solidFill>
                    <a:latin typeface="Cambria Math" panose="02040503050406030204" pitchFamily="18" charset="0"/>
                  </a:rPr>
                  <a:t>$\beta=\frac{1}{\sqrt3}-\frac{1}{2\sqrt3x}$</a:t>
                </a:r>
                <a:r>
                  <a:rPr sz="2400" b="0">
                    <a:solidFill>
                      <a:srgbClr val="111827"/>
                    </a:solidFill>
                    <a:latin typeface="Arial"/>
                  </a:rPr>
                  <a:t> and </a:t>
                </a:r>
                <a:r>
                  <a:rPr lang="en-IN" sz="2400">
                    <a:solidFill>
                      <a:srgbClr val="111827"/>
                    </a:solidFill>
                    <a:latin typeface="Cambria Math" panose="02040503050406030204" pitchFamily="18" charset="0"/>
                  </a:rPr>
                  <a:t>$y=\frac{1}{\sqrt3}+\frac{1}{2\sqrt3x}$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$y\beta=\frac13-\frac{1}{12x^2}$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Substituting in the real part equation: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12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(taking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a positive integer)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0.25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Substituting in the real part equation: </a:t>
                </a:r>
                <a:r>
                  <a:rPr lang="en-IN" sz="2400">
                    <a:solidFill>
                      <a:srgbClr val="111827"/>
                    </a:solidFill>
                    <a:latin typeface="Cambria Math" panose="02040503050406030204" pitchFamily="18" charset="0"/>
                  </a:rPr>
                  <a:t>$-x^2-\frac13+\frac{1}{12x^2}=-\frac23$</a:t>
                </a:r>
                <a:r>
                  <a:rPr sz="2400" b="0">
                    <a:solidFill>
                      <a:srgbClr val="111827"/>
                    </a:solidFill>
                    <a:latin typeface="Arial"/>
                  </a:rPr>
                  <a:t>, i.e. </a:t>
                </a:r>
                <a:r>
                  <a:rPr lang="en-IN" sz="2400">
                    <a:solidFill>
                      <a:srgbClr val="111827"/>
                    </a:solidFill>
                    <a:latin typeface="Cambria Math" panose="02040503050406030204" pitchFamily="18" charset="0"/>
                  </a:rPr>
                  <a:t>$12x^4-4x^2-1=0$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$(6x^2+1)(2x^2-1)=0$</a:t>
                </a:r>
                <a:r>
                  <a:rPr sz="2400" b="0">
                    <a:solidFill>
                      <a:srgbClr val="111827"/>
                    </a:solidFill>
                    <a:latin typeface="Arial"/>
                  </a:rPr>
                  <a:t>, so </a:t>
                </a:r>
                <a:r>
                  <a:rPr lang="en-IN" sz="2400">
                    <a:solidFill>
                      <a:srgbClr val="111827"/>
                    </a:solidFill>
                    <a:latin typeface="Cambria Math" panose="02040503050406030204" pitchFamily="18" charset="0"/>
                  </a:rPr>
                  <a:t>$x^2=\frac12$</a:t>
                </a:r>
                <a:r>
                  <a:rPr sz="2400" b="0">
                    <a:solidFill>
                      <a:srgbClr val="111827"/>
                    </a:solidFill>
                    <a:latin typeface="Arial"/>
                  </a:rPr>
                  <a:t> and </a:t>
                </a:r>
                <a:r>
                  <a:rPr lang="en-IN" sz="2400">
                    <a:solidFill>
                      <a:srgbClr val="111827"/>
                    </a:solidFill>
                    <a:latin typeface="Cambria Math" panose="02040503050406030204" pitchFamily="18" charset="0"/>
                  </a:rPr>
                  <a:t>$x=\pm\frac{1}{\sqrt2}$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$|\mathrm{Re}(z_1)|=\frac{1}{\sqrt2}=\sin\frac{\pi}{4}$</a:t>
                </a:r>
                <a:r>
                  <a:rPr sz="2400" b="0">
                    <a:solidFill>
                      <a:srgbClr val="111827"/>
                    </a:solidFill>
                    <a:latin typeface="Arial"/>
                  </a:rPr>
                  <a:t>, so </a:t>
                </a:r>
                <a:r>
                  <a:rPr lang="en-IN" sz="2400">
                    <a:solidFill>
                      <a:srgbClr val="111827"/>
                    </a:solidFill>
                    <a:latin typeface="Cambria Math" panose="02040503050406030204" pitchFamily="18" charset="0"/>
                  </a:rPr>
                  <a:t>$k=4$</a:t>
                </a:r>
                <a:r>
                  <a:rPr sz="2400" b="0">
                    <a:solidFill>
                      <a:srgbClr val="111827"/>
                    </a:solidFill>
                    <a:latin typeface="Arial"/>
                  </a:rPr>
                  <a:t> (taking </a:t>
                </a:r>
                <a:r>
                  <a:rPr lang="en-IN" sz="2400">
                    <a:solidFill>
                      <a:srgbClr val="111827"/>
                    </a:solidFill>
                    <a:latin typeface="Cambria Math" panose="02040503050406030204" pitchFamily="18" charset="0"/>
                  </a:rPr>
                  <a:t>$k$</a:t>
                </a:r>
                <a:r>
                  <a:rPr sz="2400" b="0">
                    <a:solidFill>
                      <a:srgbClr val="111827"/>
                    </a:solidFill>
                    <a:latin typeface="Arial"/>
                  </a:rPr>
                  <a:t> a positive integer) and </a:t>
                </a:r>
                <a:r>
                  <a:rPr lang="en-IN" sz="2400">
                    <a:solidFill>
                      <a:srgbClr val="111827"/>
                    </a:solidFill>
                    <a:latin typeface="Cambria Math" panose="02040503050406030204" pitchFamily="18" charset="0"/>
                  </a:rPr>
                  <a:t>$\frac1k=0.25$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0.25</a:t>
            </a:r>
            <a:endParaRPr sz="2800">
              <a:solidFill>
                <a:srgbClr val="15803D"/>
              </a:solidFill>
            </a:endParaRP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Shift to the midpoint </a:t>
                </a:r>
                <a14:m>
                  <m:oMath xmlns:m="http://schemas.openxmlformats.org/officeDocument/2006/math">
                    <m:f>
                      <m:fPr>
                        <m:type m:val="bar"/>
                        <m:ctrlPr>
                          <a:rPr lang="en-IN" sz="2400" i="1">
                            <a:solidFill>
                              <a:srgbClr val="78350F"/>
                            </a:solidFill>
                            <a:latin typeface="Cambria Math" panose="02040503050406030204" pitchFamily="18" charset="0"/>
                          </a:rPr>
                        </m:ctrlPr>
                      </m:fPr>
                      <m:num>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num>
                      <m:den>
                        <m:r>
                          <a:rPr lang="en-IN" sz="2400" i="1">
                            <a:solidFill>
                              <a:srgbClr val="78350F"/>
                            </a:solidFill>
                            <a:latin typeface="Cambria Math" panose="02040503050406030204" pitchFamily="18" charset="0"/>
                          </a:rPr>
                          <m:t>2</m:t>
                        </m:r>
                      </m:den>
                    </m:f>
                  </m:oMath>
                </a14:m>
                <a:r>
                  <a:rPr sz="2400" b="0">
                    <a:solidFill>
                      <a:srgbClr val="78350F"/>
                    </a:solidFill>
                    <a:latin typeface="Arial"/>
                  </a:rPr>
                  <a:t>: then the two numbers are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𝑤</m:t>
                    </m:r>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𝑤</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is found directly.</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Shift to the midpoint </a:t>
                </a:r>
                <a:r>
                  <a:rPr lang="en-IN" sz="2400">
                    <a:solidFill>
                      <a:srgbClr val="78350F"/>
                    </a:solidFill>
                    <a:latin typeface="Cambria Math" panose="02040503050406030204" pitchFamily="18" charset="0"/>
                  </a:rPr>
                  <a:t>$\frac{z_1+z_2}{2}$</a:t>
                </a:r>
                <a:r>
                  <a:rPr sz="2400" b="0">
                    <a:solidFill>
                      <a:srgbClr val="78350F"/>
                    </a:solidFill>
                    <a:latin typeface="Arial"/>
                  </a:rPr>
                  <a:t>: then the two numbers are </a:t>
                </a:r>
                <a:r>
                  <a:rPr lang="en-IN" sz="2400">
                    <a:solidFill>
                      <a:srgbClr val="78350F"/>
                    </a:solidFill>
                    <a:latin typeface="Cambria Math" panose="02040503050406030204" pitchFamily="18" charset="0"/>
                  </a:rPr>
                  <a:t>$\pm w$</a:t>
                </a:r>
                <a:r>
                  <a:rPr sz="2400" b="0">
                    <a:solidFill>
                      <a:srgbClr val="78350F"/>
                    </a:solidFill>
                    <a:latin typeface="Arial"/>
                  </a:rPr>
                  <a:t> and </a:t>
                </a:r>
                <a:r>
                  <a:rPr lang="en-IN" sz="2400">
                    <a:solidFill>
                      <a:srgbClr val="78350F"/>
                    </a:solidFill>
                    <a:latin typeface="Cambria Math" panose="02040503050406030204" pitchFamily="18" charset="0"/>
                  </a:rPr>
                  <a:t>$w^2$</a:t>
                </a:r>
                <a:r>
                  <a:rPr sz="2400" b="0">
                    <a:solidFill>
                      <a:srgbClr val="78350F"/>
                    </a:solidFill>
                    <a:latin typeface="Arial"/>
                  </a:rPr>
                  <a:t> is found directly.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is purely imaginary,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t>
                </a:r>
                <a14:m>
                  <m:oMath xmlns:m="http://schemas.openxmlformats.org/officeDocument/2006/math">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$m=\frac{z_1+z_2}{2}=\frac{i}{\sqrt3}$</a:t>
                </a:r>
                <a:r>
                  <a:rPr sz="2400" b="0">
                    <a:solidFill>
                      <a:srgbClr val="111827"/>
                    </a:solidFill>
                    <a:latin typeface="Arial"/>
                  </a:rPr>
                  <a:t> and </a:t>
                </a:r>
                <a:r>
                  <a:rPr lang="en-IN" sz="2400">
                    <a:solidFill>
                      <a:srgbClr val="111827"/>
                    </a:solidFill>
                    <a:latin typeface="Cambria Math" panose="02040503050406030204" pitchFamily="18" charset="0"/>
                  </a:rPr>
                  <a:t>$z_{1,2}=m\pm w$</a:t>
                </a:r>
                <a:r>
                  <a:rPr sz="2400" b="0">
                    <a:solidFill>
                      <a:srgbClr val="111827"/>
                    </a:solidFill>
                    <a:latin typeface="Arial"/>
                  </a:rPr>
                  <a:t>. Since </a:t>
                </a:r>
                <a:r>
                  <a:rPr lang="en-IN" sz="2400">
                    <a:solidFill>
                      <a:srgbClr val="111827"/>
                    </a:solidFill>
                    <a:latin typeface="Cambria Math" panose="02040503050406030204" pitchFamily="18" charset="0"/>
                  </a:rPr>
                  <a:t>$m$</a:t>
                </a:r>
                <a:r>
                  <a:rPr sz="2400" b="0">
                    <a:solidFill>
                      <a:srgbClr val="111827"/>
                    </a:solidFill>
                    <a:latin typeface="Arial"/>
                  </a:rPr>
                  <a:t> is purely imaginary, </a:t>
                </a:r>
                <a:r>
                  <a:rPr lang="en-IN" sz="2400">
                    <a:solidFill>
                      <a:srgbClr val="111827"/>
                    </a:solidFill>
                    <a:latin typeface="Cambria Math" panose="02040503050406030204" pitchFamily="18" charset="0"/>
                  </a:rPr>
                  <a:t>$\mathrm{Re}(z_1)=\pm\mathrm{Re}(w)$</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$z_1^2+z_2^2=2m^2+2w^2$</a:t>
                </a:r>
                <a:r>
                  <a:rPr sz="2400" b="0">
                    <a:solidFill>
                      <a:srgbClr val="111827"/>
                    </a:solidFill>
                    <a:latin typeface="Arial"/>
                  </a:rPr>
                  <a:t>. With </a:t>
                </a:r>
                <a:r>
                  <a:rPr lang="en-IN" sz="2400">
                    <a:solidFill>
                      <a:srgbClr val="111827"/>
                    </a:solidFill>
                    <a:latin typeface="Cambria Math" panose="02040503050406030204" pitchFamily="18" charset="0"/>
                  </a:rPr>
                  <a:t>$m^2=-\frac13$</a:t>
                </a:r>
                <a:r>
                  <a:rPr sz="2400" b="0">
                    <a:solidFill>
                      <a:srgbClr val="111827"/>
                    </a:solidFill>
                    <a:latin typeface="Arial"/>
                  </a:rPr>
                  <a:t>: </a:t>
                </a:r>
                <a:r>
                  <a:rPr lang="en-IN" sz="2400">
                    <a:solidFill>
                      <a:srgbClr val="111827"/>
                    </a:solidFill>
                    <a:latin typeface="Cambria Math" panose="02040503050406030204" pitchFamily="18" charset="0"/>
                  </a:rPr>
                  <a:t>$\frac{2i}{\sqrt3}=-\frac23+2w^2$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$w^2=\frac13+\frac{i}{\sqrt3}=\frac23\left(\frac12+\frac{\sqrt3}{2}i\right)=\frac23e^{i\pi/3}$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rad>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sup>
                    </m:sSup>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0.25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$w=\pm\sqrt{\frac23}\,e^{i\pi/6}$</a:t>
                </a:r>
                <a:r>
                  <a:rPr sz="2400" b="0">
                    <a:solidFill>
                      <a:srgbClr val="111827"/>
                    </a:solidFill>
                    <a:latin typeface="Arial"/>
                  </a:rPr>
                  <a:t> and </a:t>
                </a:r>
                <a:r>
                  <a:rPr lang="en-IN" sz="2400">
                    <a:solidFill>
                      <a:srgbClr val="111827"/>
                    </a:solidFill>
                    <a:latin typeface="Cambria Math" panose="02040503050406030204" pitchFamily="18" charset="0"/>
                  </a:rPr>
                  <a:t>$\mathrm{Re}(w)=\pm\sqrt{\frac23}\cdot\frac{\sqrt3}{2}=\pm\frac{1}{\sqrt2}$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$|\mathrm{Re}(z_1)|=\frac{1}{\sqrt2}=\sin\frac{\pi}{4}$</a:t>
                </a:r>
                <a:r>
                  <a:rPr sz="2400" b="0">
                    <a:solidFill>
                      <a:srgbClr val="111827"/>
                    </a:solidFill>
                    <a:latin typeface="Arial"/>
                  </a:rPr>
                  <a:t>, giving </a:t>
                </a:r>
                <a:r>
                  <a:rPr lang="en-IN" sz="2400">
                    <a:solidFill>
                      <a:srgbClr val="111827"/>
                    </a:solidFill>
                    <a:latin typeface="Cambria Math" panose="02040503050406030204" pitchFamily="18" charset="0"/>
                  </a:rPr>
                  <a:t>$k=4$</a:t>
                </a:r>
                <a:r>
                  <a:rPr sz="2400" b="0">
                    <a:solidFill>
                      <a:srgbClr val="111827"/>
                    </a:solidFill>
                    <a:latin typeface="Arial"/>
                  </a:rPr>
                  <a:t> and </a:t>
                </a:r>
                <a:r>
                  <a:rPr lang="en-IN" sz="2400">
                    <a:solidFill>
                      <a:srgbClr val="111827"/>
                    </a:solidFill>
                    <a:latin typeface="Cambria Math" panose="02040503050406030204" pitchFamily="18" charset="0"/>
                  </a:rPr>
                  <a:t>$\frac1k=0.25$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0.25</a:t>
            </a:r>
            <a:endParaRPr sz="2800">
              <a:solidFill>
                <a:srgbClr val="15803D"/>
              </a:solidFill>
            </a:endParaRP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two numbers with known sum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and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oMath>
                </a14:m>
                <a:r>
                  <a:rPr sz="2400" b="0">
                    <a:solidFill>
                      <a:srgbClr val="111827"/>
                    </a:solidFill>
                    <a:latin typeface="Arial"/>
                  </a:rPr>
                  <a:t>, write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𝑡</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which avoids solving simultaneous real equations.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purely imaginary then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𝑟</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φ</m:t>
                            </m:r>
                          </m:sup>
                        </m:sSup>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𝑟</m:t>
                        </m:r>
                      </m:e>
                    </m:rad>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 here </a:t>
                </a:r>
                <a14:m>
                  <m:oMath xmlns:m="http://schemas.openxmlformats.org/officeDocument/2006/math">
                    <m:sSup>
                      <m:e>
                        <m:r>
                          <a:rPr lang="en-IN" sz="2400" i="1">
                            <a:solidFill>
                              <a:srgbClr val="111827"/>
                            </a:solidFill>
                            <a:latin typeface="Cambria Math" panose="02040503050406030204" pitchFamily="18" charset="0"/>
                          </a:rPr>
                          <m:t>𝑤</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rad>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30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0.986</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0.169</m:t>
                    </m:r>
                    <m:r>
                      <a:rPr lang="en-IN" sz="2400" i="1">
                        <a:solidFill>
                          <a:srgbClr val="111827"/>
                        </a:solidFill>
                        <a:latin typeface="Cambria Math" panose="02040503050406030204" pitchFamily="18" charset="0"/>
                      </a:rPr>
                      <m:t>𝑖</m:t>
                    </m:r>
                  </m:oMath>
                </a14:m>
                <a:r>
                  <a:rPr sz="2400" b="0">
                    <a:solidFill>
                      <a:srgbClr val="111827"/>
                    </a:solidFill>
                    <a:latin typeface="Arial"/>
                  </a:rPr>
                  <a:t> satisfy both given equations numerically.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two numbers with known sum </a:t>
                </a:r>
                <a:r>
                  <a:rPr lang="en-IN" sz="2400">
                    <a:solidFill>
                      <a:srgbClr val="111827"/>
                    </a:solidFill>
                    <a:latin typeface="Cambria Math" panose="02040503050406030204" pitchFamily="18" charset="0"/>
                  </a:rPr>
                  <a:t>$s$</a:t>
                </a:r>
                <a:r>
                  <a:rPr sz="2400" b="0">
                    <a:solidFill>
                      <a:srgbClr val="111827"/>
                    </a:solidFill>
                    <a:latin typeface="Arial"/>
                  </a:rPr>
                  <a:t> and </a:t>
                </a:r>
                <a:r>
                  <a:rPr lang="en-IN" sz="2400">
                    <a:solidFill>
                      <a:srgbClr val="111827"/>
                    </a:solidFill>
                    <a:latin typeface="Cambria Math" panose="02040503050406030204" pitchFamily="18" charset="0"/>
                  </a:rPr>
                  <a:t>$z_1^2+z_2^2=t$</a:t>
                </a:r>
                <a:r>
                  <a:rPr sz="2400" b="0">
                    <a:solidFill>
                      <a:srgbClr val="111827"/>
                    </a:solidFill>
                    <a:latin typeface="Arial"/>
                  </a:rPr>
                  <a:t>, write </a:t>
                </a:r>
                <a:r>
                  <a:rPr lang="en-IN" sz="2400">
                    <a:solidFill>
                      <a:srgbClr val="111827"/>
                    </a:solidFill>
                    <a:latin typeface="Cambria Math" panose="02040503050406030204" pitchFamily="18" charset="0"/>
                  </a:rPr>
                  <a:t>$z_{1,2}=\frac s2\pm w$</a:t>
                </a:r>
                <a:r>
                  <a:rPr sz="2400" b="0">
                    <a:solidFill>
                      <a:srgbClr val="111827"/>
                    </a:solidFill>
                    <a:latin typeface="Arial"/>
                  </a:rPr>
                  <a:t>: then </a:t>
                </a:r>
                <a:r>
                  <a:rPr lang="en-IN" sz="2400">
                    <a:solidFill>
                      <a:srgbClr val="111827"/>
                    </a:solidFill>
                    <a:latin typeface="Cambria Math" panose="02040503050406030204" pitchFamily="18" charset="0"/>
                  </a:rPr>
                  <a:t>$w^2=\frac{t}{2}-\frac{s^2}{4}$</a:t>
                </a:r>
                <a:r>
                  <a:rPr sz="2400" b="0">
                    <a:solidFill>
                      <a:srgbClr val="111827"/>
                    </a:solidFill>
                    <a:latin typeface="Arial"/>
                  </a:rPr>
                  <a:t>, which avoids solving simultaneous real equations.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$z_1+z_2$</a:t>
                </a:r>
                <a:r>
                  <a:rPr sz="2400" b="0">
                    <a:solidFill>
                      <a:srgbClr val="111827"/>
                    </a:solidFill>
                    <a:latin typeface="Arial"/>
                  </a:rPr>
                  <a:t> is purely imaginary then </a:t>
                </a:r>
                <a:r>
                  <a:rPr lang="en-IN" sz="2400">
                    <a:solidFill>
                      <a:srgbClr val="111827"/>
                    </a:solidFill>
                    <a:latin typeface="Cambria Math" panose="02040503050406030204" pitchFamily="18" charset="0"/>
                  </a:rPr>
                  <a:t>$\mathrm{Re}(z_1)=-\mathrm{Re}(z_2)$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$\sqrt{re^{i\varphi}}=\pm\sqrt r\,e^{i\varphi/2}$</a:t>
                </a:r>
                <a:r>
                  <a:rPr sz="2400" b="0">
                    <a:solidFill>
                      <a:srgbClr val="111827"/>
                    </a:solidFill>
                    <a:latin typeface="Arial"/>
                  </a:rPr>
                  <a:t>; here </a:t>
                </a:r>
                <a:r>
                  <a:rPr lang="en-IN" sz="2400">
                    <a:solidFill>
                      <a:srgbClr val="111827"/>
                    </a:solidFill>
                    <a:latin typeface="Cambria Math" panose="02040503050406030204" pitchFamily="18" charset="0"/>
                  </a:rPr>
                  <a:t>$w^2=\frac23e^{i\pi/3}$</a:t>
                </a:r>
                <a:r>
                  <a:rPr sz="2400" b="0">
                    <a:solidFill>
                      <a:srgbClr val="111827"/>
                    </a:solidFill>
                    <a:latin typeface="Arial"/>
                  </a:rPr>
                  <a:t> gives </a:t>
                </a:r>
                <a:r>
                  <a:rPr lang="en-IN" sz="2400">
                    <a:solidFill>
                      <a:srgbClr val="111827"/>
                    </a:solidFill>
                    <a:latin typeface="Cambria Math" panose="02040503050406030204" pitchFamily="18" charset="0"/>
                  </a:rPr>
                  <a:t>$\mathrm{Re}\,w=\sqrt{\frac23}\cos 30^\circ=\frac{1}{\sqrt2}$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$z_1=0.707+0.986i$</a:t>
                </a:r>
                <a:r>
                  <a:rPr sz="2400" b="0">
                    <a:solidFill>
                      <a:srgbClr val="111827"/>
                    </a:solidFill>
                    <a:latin typeface="Arial"/>
                  </a:rPr>
                  <a:t>, </a:t>
                </a:r>
                <a:r>
                  <a:rPr lang="en-IN" sz="2400">
                    <a:solidFill>
                      <a:srgbClr val="111827"/>
                    </a:solidFill>
                    <a:latin typeface="Cambria Math" panose="02040503050406030204" pitchFamily="18" charset="0"/>
                  </a:rPr>
                  <a:t>$z_2=-0.707+0.169i$</a:t>
                </a:r>
                <a:r>
                  <a:rPr sz="2400" b="0">
                    <a:solidFill>
                      <a:srgbClr val="111827"/>
                    </a:solidFill>
                    <a:latin typeface="Arial"/>
                  </a:rPr>
                  <a:t> satisfy both given equations numerically.</a:t>
                </a:r>
                <a:endParaRPr sz="2400">
                  <a:solidFill>
                    <a:srgbClr val="111827"/>
                  </a:solidFill>
                </a:endParaRPr>
              </a:p>
            </p:txBody>
          </p:sp>
        </mc:Fallback>
      </mc:AlternateContent>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line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passes through the point which divides the line segment joining the points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equals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oMath>
                </a14:m>
                <a:r>
                  <a:rPr sz="2400" b="0">
                    <a:solidFill>
                      <a:srgbClr val="111827"/>
                    </a:solidFill>
                    <a:latin typeface="Arial"/>
                  </a:rPr>
                  <a:t>. If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λ</m:t>
                    </m:r>
                  </m:oMath>
                </a14:m>
                <a:r>
                  <a:rPr sz="2400" b="0">
                    <a:solidFill>
                      <a:srgbClr val="111827"/>
                    </a:solidFill>
                    <a:latin typeface="Arial"/>
                  </a:rPr>
                  <a:t>, then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 ______ (where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complex numbers).</a:t>
                </a:r>
                <a:endParaRPr sz="2400">
                  <a:solidFill>
                    <a:srgbClr val="111827"/>
                  </a:solidFill>
                </a:endParaRPr>
              </a:p>
            </p:txBody>
          </p:sp>
        </mc:Choice>
        <mc:Fallback>
          <p:sp>
            <p:nvSpPr>
              <p:cNvPr id="4" name="Rounded Rectangle 3"/>
              <p:cNvSpPr/>
              <p:nvPr/>
            </p:nvSpPr>
            <p:spPr>
              <a:xfrm>
                <a:off x="731520" y="1280160"/>
                <a:ext cx="10725912" cy="27518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line </a:t>
                </a:r>
                <a:r>
                  <a:rPr lang="en-IN" sz="2400">
                    <a:solidFill>
                      <a:srgbClr val="111827"/>
                    </a:solidFill>
                    <a:latin typeface="Cambria Math" panose="02040503050406030204" pitchFamily="18" charset="0"/>
                  </a:rPr>
                  <a:t>$2x+y=k$</a:t>
                </a:r>
                <a:r>
                  <a:rPr sz="2400" b="0">
                    <a:solidFill>
                      <a:srgbClr val="111827"/>
                    </a:solidFill>
                    <a:latin typeface="Arial"/>
                  </a:rPr>
                  <a:t> passes through the point which divides the line segment joining the points </a:t>
                </a:r>
                <a:r>
                  <a:rPr lang="en-IN" sz="2400">
                    <a:solidFill>
                      <a:srgbClr val="111827"/>
                    </a:solidFill>
                    <a:latin typeface="Cambria Math" panose="02040503050406030204" pitchFamily="18" charset="0"/>
                  </a:rPr>
                  <a:t>$(1,1)$</a:t>
                </a:r>
                <a:r>
                  <a:rPr sz="2400" b="0">
                    <a:solidFill>
                      <a:srgbClr val="111827"/>
                    </a:solidFill>
                    <a:latin typeface="Arial"/>
                  </a:rPr>
                  <a:t> and </a:t>
                </a:r>
                <a:r>
                  <a:rPr lang="en-IN" sz="2400">
                    <a:solidFill>
                      <a:srgbClr val="111827"/>
                    </a:solidFill>
                    <a:latin typeface="Cambria Math" panose="02040503050406030204" pitchFamily="18" charset="0"/>
                  </a:rPr>
                  <a:t>$(2,4)$</a:t>
                </a:r>
                <a:r>
                  <a:rPr sz="2400" b="0">
                    <a:solidFill>
                      <a:srgbClr val="111827"/>
                    </a:solidFill>
                    <a:latin typeface="Arial"/>
                  </a:rPr>
                  <a:t> in the ratio </a:t>
                </a:r>
                <a:r>
                  <a:rPr lang="en-IN" sz="2400">
                    <a:solidFill>
                      <a:srgbClr val="111827"/>
                    </a:solidFill>
                    <a:latin typeface="Cambria Math" panose="02040503050406030204" pitchFamily="18" charset="0"/>
                  </a:rPr>
                  <a:t>$3:2$</a:t>
                </a:r>
                <a:r>
                  <a:rPr sz="2400" b="0">
                    <a:solidFill>
                      <a:srgbClr val="111827"/>
                    </a:solidFill>
                    <a:latin typeface="Arial"/>
                  </a:rPr>
                  <a:t>, then </a:t>
                </a:r>
                <a:r>
                  <a:rPr lang="en-IN" sz="2400">
                    <a:solidFill>
                      <a:srgbClr val="111827"/>
                    </a:solidFill>
                    <a:latin typeface="Cambria Math" panose="02040503050406030204" pitchFamily="18" charset="0"/>
                  </a:rPr>
                  <a:t>$k$</a:t>
                </a:r>
                <a:r>
                  <a:rPr sz="2400" b="0">
                    <a:solidFill>
                      <a:srgbClr val="111827"/>
                    </a:solidFill>
                    <a:latin typeface="Arial"/>
                  </a:rPr>
                  <a:t> equals </a:t>
                </a:r>
                <a:r>
                  <a:rPr lang="en-IN" sz="2400">
                    <a:solidFill>
                      <a:srgbClr val="111827"/>
                    </a:solidFill>
                    <a:latin typeface="Cambria Math" panose="02040503050406030204" pitchFamily="18" charset="0"/>
                  </a:rPr>
                  <a:t>$2\lambda$</a:t>
                </a:r>
                <a:r>
                  <a:rPr sz="2400" b="0">
                    <a:solidFill>
                      <a:srgbClr val="111827"/>
                    </a:solidFill>
                    <a:latin typeface="Arial"/>
                  </a:rPr>
                  <a:t>. If </a:t>
                </a:r>
                <a:r>
                  <a:rPr lang="en-IN" sz="2400">
                    <a:solidFill>
                      <a:srgbClr val="111827"/>
                    </a:solidFill>
                    <a:latin typeface="Cambria Math" panose="02040503050406030204" pitchFamily="18" charset="0"/>
                  </a:rPr>
                  <a:t>$|z_1|=2$</a:t>
                </a:r>
                <a:r>
                  <a:rPr sz="2400" b="0">
                    <a:solidFill>
                      <a:srgbClr val="111827"/>
                    </a:solidFill>
                    <a:latin typeface="Arial"/>
                  </a:rPr>
                  <a:t>, </a:t>
                </a:r>
                <a:r>
                  <a:rPr lang="en-IN" sz="2400">
                    <a:solidFill>
                      <a:srgbClr val="111827"/>
                    </a:solidFill>
                    <a:latin typeface="Cambria Math" panose="02040503050406030204" pitchFamily="18" charset="0"/>
                  </a:rPr>
                  <a:t>$|z_2|=\lambda$</a:t>
                </a:r>
                <a:r>
                  <a:rPr sz="2400" b="0">
                    <a:solidFill>
                      <a:srgbClr val="111827"/>
                    </a:solidFill>
                    <a:latin typeface="Arial"/>
                  </a:rPr>
                  <a:t>, </a:t>
                </a:r>
                <a:r>
                  <a:rPr lang="en-IN" sz="2400">
                    <a:solidFill>
                      <a:srgbClr val="111827"/>
                    </a:solidFill>
                    <a:latin typeface="Cambria Math" panose="02040503050406030204" pitchFamily="18" charset="0"/>
                  </a:rPr>
                  <a:t>$|z_3|=4$</a:t>
                </a:r>
                <a:r>
                  <a:rPr sz="2400" b="0">
                    <a:solidFill>
                      <a:srgbClr val="111827"/>
                    </a:solidFill>
                    <a:latin typeface="Arial"/>
                  </a:rPr>
                  <a:t> and </a:t>
                </a:r>
                <a:r>
                  <a:rPr lang="en-IN" sz="2400">
                    <a:solidFill>
                      <a:srgbClr val="111827"/>
                    </a:solidFill>
                    <a:latin typeface="Cambria Math" panose="02040503050406030204" pitchFamily="18" charset="0"/>
                  </a:rPr>
                  <a:t>$|2z_1+3z_2+4z_3|=3\lambda$</a:t>
                </a:r>
                <a:r>
                  <a:rPr sz="2400" b="0">
                    <a:solidFill>
                      <a:srgbClr val="111827"/>
                    </a:solidFill>
                    <a:latin typeface="Arial"/>
                  </a:rPr>
                  <a:t>, then the value of </a:t>
                </a:r>
                <a:r>
                  <a:rPr lang="en-IN" sz="2400">
                    <a:solidFill>
                      <a:srgbClr val="111827"/>
                    </a:solidFill>
                    <a:latin typeface="Cambria Math" panose="02040503050406030204" pitchFamily="18" charset="0"/>
                  </a:rPr>
                  <a:t>$|8z_2z_3+27z_3z_1+64z_1z_2|$</a:t>
                </a:r>
                <a:r>
                  <a:rPr sz="2400" b="0">
                    <a:solidFill>
                      <a:srgbClr val="111827"/>
                    </a:solidFill>
                    <a:latin typeface="Arial"/>
                  </a:rPr>
                  <a:t> is equal to ______ (where </a:t>
                </a:r>
                <a:r>
                  <a:rPr lang="en-IN" sz="2400">
                    <a:solidFill>
                      <a:srgbClr val="111827"/>
                    </a:solidFill>
                    <a:latin typeface="Cambria Math" panose="02040503050406030204" pitchFamily="18" charset="0"/>
                  </a:rPr>
                  <a:t>$z_1,z_2,z_3$</a:t>
                </a:r>
                <a:r>
                  <a:rPr sz="2400" b="0">
                    <a:solidFill>
                      <a:srgbClr val="111827"/>
                    </a:solidFill>
                    <a:latin typeface="Arial"/>
                  </a:rPr>
                  <a:t> are complex numbers).</a:t>
                </a:r>
                <a:endParaRPr sz="2400">
                  <a:solidFill>
                    <a:srgbClr val="111827"/>
                  </a:solidFill>
                </a:endParaRPr>
              </a:p>
            </p:txBody>
          </p:sp>
        </mc:Fallback>
      </mc:AlternateContent>
      <p:sp>
        <p:nvSpPr>
          <p:cNvPr id="5" name="Rectangle 4"/>
          <p:cNvSpPr/>
          <p:nvPr/>
        </p:nvSpPr>
        <p:spPr>
          <a:xfrm>
            <a:off x="731520" y="42605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Section formula (straight lines), Modulus and conjugate of complex numbers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a:t>
                </a:r>
                <a14:m>
                  <m:oMath xmlns:m="http://schemas.openxmlformats.org/officeDocument/2006/math">
                    <m:f>
                      <m:fPr>
                        <m:type m:val="bar"/>
                        <m:ctrlPr>
                          <a:rPr lang="en-IN" sz="2400" i="1">
                            <a:solidFill>
                              <a:srgbClr val="78350F"/>
                            </a:solidFill>
                            <a:latin typeface="Cambria Math" panose="02040503050406030204" pitchFamily="18" charset="0"/>
                          </a:rPr>
                        </m:ctrlPr>
                      </m:fPr>
                      <m:num>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num>
                      <m:den>
                        <m:r>
                          <a:rPr lang="en-IN" sz="2400" i="1">
                            <a:solidFill>
                              <a:srgbClr val="78350F"/>
                            </a:solidFill>
                            <a:latin typeface="Cambria Math" panose="02040503050406030204" pitchFamily="18" charset="0"/>
                          </a:rPr>
                          <m:t>𝑧</m:t>
                        </m:r>
                      </m:den>
                    </m:f>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oMath>
                </a14:m>
                <a:r>
                  <a:rPr sz="2400" b="0">
                    <a:solidFill>
                      <a:srgbClr val="78350F"/>
                    </a:solidFill>
                    <a:latin typeface="Arial"/>
                  </a:rPr>
                  <a:t> so that </a:t>
                </a:r>
                <a14:m>
                  <m:oMath xmlns:m="http://schemas.openxmlformats.org/officeDocument/2006/math">
                    <m:r>
                      <a:rPr lang="en-IN" sz="2400" i="1">
                        <a:solidFill>
                          <a:srgbClr val="78350F"/>
                        </a:solidFill>
                        <a:latin typeface="Cambria Math" panose="02040503050406030204" pitchFamily="18" charset="0"/>
                      </a:rPr>
                      <m:t>8</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27</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64</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a:t>
                </a:r>
                <a:r>
                  <a:rPr lang="en-IN" sz="2400">
                    <a:solidFill>
                      <a:srgbClr val="78350F"/>
                    </a:solidFill>
                    <a:latin typeface="Cambria Math" panose="02040503050406030204" pitchFamily="18" charset="0"/>
                  </a:rPr>
                  <a:t>$\frac{|z|^2}{z}=\bar z$</a:t>
                </a:r>
                <a:r>
                  <a:rPr sz="2400" b="0">
                    <a:solidFill>
                      <a:srgbClr val="78350F"/>
                    </a:solidFill>
                    <a:latin typeface="Arial"/>
                  </a:rPr>
                  <a:t> so that </a:t>
                </a:r>
                <a:r>
                  <a:rPr lang="en-IN" sz="2400">
                    <a:solidFill>
                      <a:srgbClr val="78350F"/>
                    </a:solidFill>
                    <a:latin typeface="Cambria Math" panose="02040503050406030204" pitchFamily="18" charset="0"/>
                  </a:rPr>
                  <a:t>$8z_2z_3+27z_3z_1+64z_1z_2=z_1z_2z_3\,(2\bar z_1+3\bar z_2+4\bar z_3)$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 dividing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the ratio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5</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lies on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λ</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Thus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out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8</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en>
                        </m:f>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point dividing </a:t>
                </a:r>
                <a:r>
                  <a:rPr lang="en-IN" sz="2400">
                    <a:solidFill>
                      <a:srgbClr val="111827"/>
                    </a:solidFill>
                    <a:latin typeface="Cambria Math" panose="02040503050406030204" pitchFamily="18" charset="0"/>
                  </a:rPr>
                  <a:t>$(1,1)$</a:t>
                </a:r>
                <a:r>
                  <a:rPr sz="2400" b="0">
                    <a:solidFill>
                      <a:srgbClr val="111827"/>
                    </a:solidFill>
                    <a:latin typeface="Arial"/>
                  </a:rPr>
                  <a:t> and </a:t>
                </a:r>
                <a:r>
                  <a:rPr lang="en-IN" sz="2400">
                    <a:solidFill>
                      <a:srgbClr val="111827"/>
                    </a:solidFill>
                    <a:latin typeface="Cambria Math" panose="02040503050406030204" pitchFamily="18" charset="0"/>
                  </a:rPr>
                  <a:t>$(2,4)$</a:t>
                </a:r>
                <a:r>
                  <a:rPr sz="2400" b="0">
                    <a:solidFill>
                      <a:srgbClr val="111827"/>
                    </a:solidFill>
                    <a:latin typeface="Arial"/>
                  </a:rPr>
                  <a:t> in the ratio </a:t>
                </a:r>
                <a:r>
                  <a:rPr lang="en-IN" sz="2400">
                    <a:solidFill>
                      <a:srgbClr val="111827"/>
                    </a:solidFill>
                    <a:latin typeface="Cambria Math" panose="02040503050406030204" pitchFamily="18" charset="0"/>
                  </a:rPr>
                  <a:t>$3:2$</a:t>
                </a:r>
                <a:r>
                  <a:rPr sz="2400" b="0">
                    <a:solidFill>
                      <a:srgbClr val="111827"/>
                    </a:solidFill>
                    <a:latin typeface="Arial"/>
                  </a:rPr>
                  <a:t> is </a:t>
                </a:r>
                <a:r>
                  <a:rPr lang="en-IN" sz="2400">
                    <a:solidFill>
                      <a:srgbClr val="111827"/>
                    </a:solidFill>
                    <a:latin typeface="Cambria Math" panose="02040503050406030204" pitchFamily="18" charset="0"/>
                  </a:rPr>
                  <a:t>$\left(\frac{3\cdot2+2\cdot1}{5},\frac{3\cdot4+2\cdot1}{5}\right)=\left(\frac85,\frac{14}{5}\right)$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It lies on </a:t>
                </a:r>
                <a:r>
                  <a:rPr lang="en-IN" sz="2400">
                    <a:solidFill>
                      <a:srgbClr val="111827"/>
                    </a:solidFill>
                    <a:latin typeface="Cambria Math" panose="02040503050406030204" pitchFamily="18" charset="0"/>
                  </a:rPr>
                  <a:t>$2x+y=k$</a:t>
                </a:r>
                <a:r>
                  <a:rPr sz="2400" b="0">
                    <a:solidFill>
                      <a:srgbClr val="111827"/>
                    </a:solidFill>
                    <a:latin typeface="Arial"/>
                  </a:rPr>
                  <a:t>: </a:t>
                </a:r>
                <a:r>
                  <a:rPr lang="en-IN" sz="2400">
                    <a:solidFill>
                      <a:srgbClr val="111827"/>
                    </a:solidFill>
                    <a:latin typeface="Cambria Math" panose="02040503050406030204" pitchFamily="18" charset="0"/>
                  </a:rPr>
                  <a:t>$k=\frac{16}{5}+\frac{14}{5}=6$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Given </a:t>
                </a:r>
                <a:r>
                  <a:rPr lang="en-IN" sz="2400">
                    <a:solidFill>
                      <a:srgbClr val="111827"/>
                    </a:solidFill>
                    <a:latin typeface="Cambria Math" panose="02040503050406030204" pitchFamily="18" charset="0"/>
                  </a:rPr>
                  <a:t>$k=2\lambda$</a:t>
                </a:r>
                <a:r>
                  <a:rPr sz="2400" b="0">
                    <a:solidFill>
                      <a:srgbClr val="111827"/>
                    </a:solidFill>
                    <a:latin typeface="Arial"/>
                  </a:rPr>
                  <a:t>, so </a:t>
                </a:r>
                <a:r>
                  <a:rPr lang="en-IN" sz="2400">
                    <a:solidFill>
                      <a:srgbClr val="111827"/>
                    </a:solidFill>
                    <a:latin typeface="Cambria Math" panose="02040503050406030204" pitchFamily="18" charset="0"/>
                  </a:rPr>
                  <a:t>$\lambda=3$</a:t>
                </a:r>
                <a:r>
                  <a:rPr sz="2400" b="0">
                    <a:solidFill>
                      <a:srgbClr val="111827"/>
                    </a:solidFill>
                    <a:latin typeface="Arial"/>
                  </a:rPr>
                  <a:t>. Thus </a:t>
                </a:r>
                <a:r>
                  <a:rPr lang="en-IN" sz="2400">
                    <a:solidFill>
                      <a:srgbClr val="111827"/>
                    </a:solidFill>
                    <a:latin typeface="Cambria Math" panose="02040503050406030204" pitchFamily="18" charset="0"/>
                  </a:rPr>
                  <a:t>$|z_1|=2$</a:t>
                </a:r>
                <a:r>
                  <a:rPr sz="2400" b="0">
                    <a:solidFill>
                      <a:srgbClr val="111827"/>
                    </a:solidFill>
                    <a:latin typeface="Arial"/>
                  </a:rPr>
                  <a:t>, </a:t>
                </a:r>
                <a:r>
                  <a:rPr lang="en-IN" sz="2400">
                    <a:solidFill>
                      <a:srgbClr val="111827"/>
                    </a:solidFill>
                    <a:latin typeface="Cambria Math" panose="02040503050406030204" pitchFamily="18" charset="0"/>
                  </a:rPr>
                  <a:t>$|z_2|=3$</a:t>
                </a:r>
                <a:r>
                  <a:rPr sz="2400" b="0">
                    <a:solidFill>
                      <a:srgbClr val="111827"/>
                    </a:solidFill>
                    <a:latin typeface="Arial"/>
                  </a:rPr>
                  <a:t>, </a:t>
                </a:r>
                <a:r>
                  <a:rPr lang="en-IN" sz="2400">
                    <a:solidFill>
                      <a:srgbClr val="111827"/>
                    </a:solidFill>
                    <a:latin typeface="Cambria Math" panose="02040503050406030204" pitchFamily="18" charset="0"/>
                  </a:rPr>
                  <a:t>$|z_3|=4$</a:t>
                </a:r>
                <a:r>
                  <a:rPr sz="2400" b="0">
                    <a:solidFill>
                      <a:srgbClr val="111827"/>
                    </a:solidFill>
                    <a:latin typeface="Arial"/>
                  </a:rPr>
                  <a:t> and </a:t>
                </a:r>
                <a:r>
                  <a:rPr lang="en-IN" sz="2400">
                    <a:solidFill>
                      <a:srgbClr val="111827"/>
                    </a:solidFill>
                    <a:latin typeface="Cambria Math" panose="02040503050406030204" pitchFamily="18" charset="0"/>
                  </a:rPr>
                  <a:t>$|2z_1+3z_2+4z_3|=9$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 out </a:t>
                </a:r>
                <a:r>
                  <a:rPr lang="en-IN" sz="2400">
                    <a:solidFill>
                      <a:srgbClr val="111827"/>
                    </a:solidFill>
                    <a:latin typeface="Cambria Math" panose="02040503050406030204" pitchFamily="18" charset="0"/>
                  </a:rPr>
                  <a:t>$z_1z_2z_3$</a:t>
                </a:r>
                <a:r>
                  <a:rPr sz="2400" b="0">
                    <a:solidFill>
                      <a:srgbClr val="111827"/>
                    </a:solidFill>
                    <a:latin typeface="Arial"/>
                  </a:rPr>
                  <a:t>: </a:t>
                </a:r>
                <a:r>
                  <a:rPr lang="en-IN" sz="2400">
                    <a:solidFill>
                      <a:srgbClr val="111827"/>
                    </a:solidFill>
                    <a:latin typeface="Cambria Math" panose="02040503050406030204" pitchFamily="18" charset="0"/>
                  </a:rPr>
                  <a:t>$8z_2z_3+27z_3z_1+64z_1z_2=z_1z_2z_3\left(\frac{8}{z_1}+\frac{27}{z_2}+\frac{64}{z_3}\right)$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bracket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oMath>
                </a14:m>
                <a:r>
                  <a:rPr sz="2400" b="0">
                    <a:solidFill>
                      <a:srgbClr val="111827"/>
                    </a:solidFill>
                    <a:latin typeface="Arial"/>
                  </a:rPr>
                  <a:t>, the bracket equals </a:t>
                </a:r>
                <a14:m>
                  <m:oMath xmlns:m="http://schemas.openxmlformats.org/officeDocument/2006/math">
                    <m:r>
                      <a:rPr lang="en-IN" sz="2400" i="1">
                        <a:solidFill>
                          <a:srgbClr val="111827"/>
                        </a:solidFill>
                        <a:latin typeface="Cambria Math" panose="02040503050406030204" pitchFamily="18" charset="0"/>
                      </a:rPr>
                      <m:t>2</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e>
                    </m:ba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required modulus is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e>
                    </m:ba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$8=2|z_1|^2$</a:t>
                </a:r>
                <a:r>
                  <a:rPr sz="2400" b="0">
                    <a:solidFill>
                      <a:srgbClr val="111827"/>
                    </a:solidFill>
                    <a:latin typeface="Arial"/>
                  </a:rPr>
                  <a:t>, </a:t>
                </a:r>
                <a:r>
                  <a:rPr lang="en-IN" sz="2400">
                    <a:solidFill>
                      <a:srgbClr val="111827"/>
                    </a:solidFill>
                    <a:latin typeface="Cambria Math" panose="02040503050406030204" pitchFamily="18" charset="0"/>
                  </a:rPr>
                  <a:t>$27=3|z_2|^2$</a:t>
                </a:r>
                <a:r>
                  <a:rPr sz="2400" b="0">
                    <a:solidFill>
                      <a:srgbClr val="111827"/>
                    </a:solidFill>
                    <a:latin typeface="Arial"/>
                  </a:rPr>
                  <a:t>, </a:t>
                </a:r>
                <a:r>
                  <a:rPr lang="en-IN" sz="2400">
                    <a:solidFill>
                      <a:srgbClr val="111827"/>
                    </a:solidFill>
                    <a:latin typeface="Cambria Math" panose="02040503050406030204" pitchFamily="18" charset="0"/>
                  </a:rPr>
                  <a:t>$64=4|z_3|^2$</a:t>
                </a:r>
                <a:r>
                  <a:rPr sz="2400" b="0">
                    <a:solidFill>
                      <a:srgbClr val="111827"/>
                    </a:solidFill>
                    <a:latin typeface="Arial"/>
                  </a:rPr>
                  <a:t>: the bracket is </a:t>
                </a:r>
                <a:r>
                  <a:rPr lang="en-IN" sz="2400">
                    <a:solidFill>
                      <a:srgbClr val="111827"/>
                    </a:solidFill>
                    <a:latin typeface="Cambria Math" panose="02040503050406030204" pitchFamily="18" charset="0"/>
                  </a:rPr>
                  <a:t>$\frac{2|z_1|^2}{z_1}+\frac{3|z_2|^2}{z_2}+\frac{4|z_3|^2}{z_3}$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$\frac{|z|^2}{z}=\bar z$</a:t>
                </a:r>
                <a:r>
                  <a:rPr sz="2400" b="0">
                    <a:solidFill>
                      <a:srgbClr val="111827"/>
                    </a:solidFill>
                    <a:latin typeface="Arial"/>
                  </a:rPr>
                  <a:t>, the bracket equals </a:t>
                </a:r>
                <a:r>
                  <a:rPr lang="en-IN" sz="2400">
                    <a:solidFill>
                      <a:srgbClr val="111827"/>
                    </a:solidFill>
                    <a:latin typeface="Cambria Math" panose="02040503050406030204" pitchFamily="18" charset="0"/>
                  </a:rPr>
                  <a:t>$2\bar z_1+3\bar z_2+4\bar z_3=\overline{2z_1+3z_2+4z_3}$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required modulus is </a:t>
                </a:r>
                <a:r>
                  <a:rPr lang="en-IN" sz="2400">
                    <a:solidFill>
                      <a:srgbClr val="111827"/>
                    </a:solidFill>
                    <a:latin typeface="Cambria Math" panose="02040503050406030204" pitchFamily="18" charset="0"/>
                  </a:rPr>
                  <a:t>$|z_1z_2z_3|\cdot|\overline{2z_1+3z_2+4z_3}|=(2\cdot3\cdot4)\cdot 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$=24\times9=216$</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216</a:t>
            </a:r>
            <a:endParaRPr sz="2800">
              <a:solidFill>
                <a:srgbClr val="15803D"/>
              </a:solidFill>
            </a:endParaRPr>
          </a:p>
        </p:txBody>
      </p:sp>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𝑧</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𝑧</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when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known,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num>
                      <m:den>
                        <m:r>
                          <a:rPr lang="en-IN" sz="2400" i="1">
                            <a:solidFill>
                              <a:srgbClr val="111827"/>
                            </a:solidFill>
                            <a:latin typeface="Cambria Math" panose="02040503050406030204" pitchFamily="18" charset="0"/>
                          </a:rPr>
                          <m:t>𝑧</m:t>
                        </m:r>
                      </m:den>
                    </m:f>
                  </m:oMath>
                </a14:m>
                <a:r>
                  <a:rPr sz="2400" b="0">
                    <a:solidFill>
                      <a:srgbClr val="111827"/>
                    </a:solidFill>
                    <a:latin typeface="Arial"/>
                  </a:rPr>
                  <a:t> turns into a conjugate: this converts sums of reciprocals into the conjugate of a sum.</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𝑤</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𝑤</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if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𝑗</m:t>
                        </m:r>
                      </m:sub>
                    </m:sSub>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𝑗</m:t>
                            </m:r>
                          </m:sub>
                        </m:sSub>
                      </m:den>
                    </m:f>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𝑗</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𝑗</m:t>
                            </m:r>
                          </m:sub>
                        </m:sSub>
                      </m:e>
                    </m:bar>
                  </m:oMath>
                </a14:m>
                <a:r>
                  <a:rPr sz="2400" b="0">
                    <a:solidFill>
                      <a:srgbClr val="111827"/>
                    </a:solidFill>
                    <a:latin typeface="Arial"/>
                  </a:rPr>
                  <a:t> for real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Section formula: the point dividing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ratio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en>
                        </m:f>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$z\bar z=|z|^2$</a:t>
                </a:r>
                <a:r>
                  <a:rPr sz="2400" b="0">
                    <a:solidFill>
                      <a:srgbClr val="111827"/>
                    </a:solidFill>
                    <a:latin typeface="Arial"/>
                  </a:rPr>
                  <a:t>, so </a:t>
                </a:r>
                <a:r>
                  <a:rPr lang="en-IN" sz="2400">
                    <a:solidFill>
                      <a:srgbClr val="111827"/>
                    </a:solidFill>
                    <a:latin typeface="Cambria Math" panose="02040503050406030204" pitchFamily="18" charset="0"/>
                  </a:rPr>
                  <a:t>$\frac{1}{z}=\frac{\bar z}{|z|^2}$</a:t>
                </a:r>
                <a:r>
                  <a:rPr sz="2400" b="0">
                    <a:solidFill>
                      <a:srgbClr val="111827"/>
                    </a:solidFill>
                    <a:latin typeface="Arial"/>
                  </a:rPr>
                  <a:t>; when </a:t>
                </a:r>
                <a:r>
                  <a:rPr lang="en-IN" sz="2400">
                    <a:solidFill>
                      <a:srgbClr val="111827"/>
                    </a:solidFill>
                    <a:latin typeface="Cambria Math" panose="02040503050406030204" pitchFamily="18" charset="0"/>
                  </a:rPr>
                  <a:t>$|z|$</a:t>
                </a:r>
                <a:r>
                  <a:rPr sz="2400" b="0">
                    <a:solidFill>
                      <a:srgbClr val="111827"/>
                    </a:solidFill>
                    <a:latin typeface="Arial"/>
                  </a:rPr>
                  <a:t> is known, </a:t>
                </a:r>
                <a:r>
                  <a:rPr lang="en-IN" sz="2400">
                    <a:solidFill>
                      <a:srgbClr val="111827"/>
                    </a:solidFill>
                    <a:latin typeface="Cambria Math" panose="02040503050406030204" pitchFamily="18" charset="0"/>
                  </a:rPr>
                  <a:t>$\frac{c}{z}$</a:t>
                </a:r>
                <a:r>
                  <a:rPr sz="2400" b="0">
                    <a:solidFill>
                      <a:srgbClr val="111827"/>
                    </a:solidFill>
                    <a:latin typeface="Arial"/>
                  </a:rPr>
                  <a:t> turns into a conjugate: this converts sums of reciprocals into the conjugate of a sum.</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$|\bar w|=|w|$</a:t>
                </a:r>
                <a:r>
                  <a:rPr sz="2400" b="0">
                    <a:solidFill>
                      <a:srgbClr val="111827"/>
                    </a:solidFill>
                    <a:latin typeface="Arial"/>
                  </a:rPr>
                  <a:t> for every </a:t>
                </a:r>
                <a:r>
                  <a:rPr lang="en-IN" sz="2400">
                    <a:solidFill>
                      <a:srgbClr val="111827"/>
                    </a:solidFill>
                    <a:latin typeface="Cambria Math" panose="02040503050406030204" pitchFamily="18" charset="0"/>
                  </a:rPr>
                  <a:t>$w$</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General: if </a:t>
                </a:r>
                <a:r>
                  <a:rPr lang="en-IN" sz="2400">
                    <a:solidFill>
                      <a:srgbClr val="111827"/>
                    </a:solidFill>
                    <a:latin typeface="Cambria Math" panose="02040503050406030204" pitchFamily="18" charset="0"/>
                  </a:rPr>
                  <a:t>$|z_j|=r_j$</a:t>
                </a:r>
                <a:r>
                  <a:rPr sz="2400" b="0">
                    <a:solidFill>
                      <a:srgbClr val="111827"/>
                    </a:solidFill>
                    <a:latin typeface="Arial"/>
                  </a:rPr>
                  <a:t> then </a:t>
                </a:r>
                <a:r>
                  <a:rPr lang="en-IN" sz="2400">
                    <a:solidFill>
                      <a:srgbClr val="111827"/>
                    </a:solidFill>
                    <a:latin typeface="Cambria Math" panose="02040503050406030204" pitchFamily="18" charset="0"/>
                  </a:rPr>
                  <a:t>$\sum a_j\frac{r_j^2}{z_j}=\overline{\sum a_j z_j}$</a:t>
                </a:r>
                <a:r>
                  <a:rPr sz="2400" b="0">
                    <a:solidFill>
                      <a:srgbClr val="111827"/>
                    </a:solidFill>
                    <a:latin typeface="Arial"/>
                  </a:rPr>
                  <a:t> for real </a:t>
                </a:r>
                <a:r>
                  <a:rPr lang="en-IN" sz="2400">
                    <a:solidFill>
                      <a:srgbClr val="111827"/>
                    </a:solidFill>
                    <a:latin typeface="Cambria Math" panose="02040503050406030204" pitchFamily="18" charset="0"/>
                  </a:rPr>
                  <a:t>$a_j$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Section formula: the point dividing </a:t>
                </a:r>
                <a:r>
                  <a:rPr lang="en-IN" sz="2400">
                    <a:solidFill>
                      <a:srgbClr val="111827"/>
                    </a:solidFill>
                    <a:latin typeface="Cambria Math" panose="02040503050406030204" pitchFamily="18" charset="0"/>
                  </a:rPr>
                  <a:t>$(x_1,y_1),(x_2,y_2)$</a:t>
                </a:r>
                <a:r>
                  <a:rPr sz="2400" b="0">
                    <a:solidFill>
                      <a:srgbClr val="111827"/>
                    </a:solidFill>
                    <a:latin typeface="Arial"/>
                  </a:rPr>
                  <a:t> in ratio </a:t>
                </a:r>
                <a:r>
                  <a:rPr lang="en-IN" sz="2400">
                    <a:solidFill>
                      <a:srgbClr val="111827"/>
                    </a:solidFill>
                    <a:latin typeface="Cambria Math" panose="02040503050406030204" pitchFamily="18" charset="0"/>
                  </a:rPr>
                  <a:t>$m:n$</a:t>
                </a:r>
                <a:r>
                  <a:rPr sz="2400" b="0">
                    <a:solidFill>
                      <a:srgbClr val="111827"/>
                    </a:solidFill>
                    <a:latin typeface="Arial"/>
                  </a:rPr>
                  <a:t> is </a:t>
                </a:r>
                <a:r>
                  <a:rPr lang="en-IN" sz="2400">
                    <a:solidFill>
                      <a:srgbClr val="111827"/>
                    </a:solidFill>
                    <a:latin typeface="Cambria Math" panose="02040503050406030204" pitchFamily="18" charset="0"/>
                  </a:rPr>
                  <a:t>$\left(\frac{mx_2+nx_1}{m+n},\frac{my_2+ny_1}{m+n}\right)$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-by-</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grid, 1 row and 1 column are coloured blue, the rest of the cells are white. If precisely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2010</m:t>
                        </m:r>
                      </m:den>
                    </m:f>
                  </m:oMath>
                </a14:m>
                <a:r>
                  <a:rPr sz="2400" b="0">
                    <a:solidFill>
                      <a:srgbClr val="111827"/>
                    </a:solidFill>
                    <a:latin typeface="Arial"/>
                  </a:rPr>
                  <a:t> of the cells in the grid are blue, how many values are possible for the ordered pair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an </a:t>
                </a:r>
                <a:r>
                  <a:rPr lang="en-IN" sz="2400">
                    <a:solidFill>
                      <a:srgbClr val="111827"/>
                    </a:solidFill>
                    <a:latin typeface="Cambria Math" panose="02040503050406030204" pitchFamily="18" charset="0"/>
                  </a:rPr>
                  <a:t>$n$</a:t>
                </a:r>
                <a:r>
                  <a:rPr sz="2400" b="0">
                    <a:solidFill>
                      <a:srgbClr val="111827"/>
                    </a:solidFill>
                    <a:latin typeface="Arial"/>
                  </a:rPr>
                  <a:t>-by-</a:t>
                </a:r>
                <a:r>
                  <a:rPr lang="en-IN" sz="2400">
                    <a:solidFill>
                      <a:srgbClr val="111827"/>
                    </a:solidFill>
                    <a:latin typeface="Cambria Math" panose="02040503050406030204" pitchFamily="18" charset="0"/>
                  </a:rPr>
                  <a:t>$m$</a:t>
                </a:r>
                <a:r>
                  <a:rPr sz="2400" b="0">
                    <a:solidFill>
                      <a:srgbClr val="111827"/>
                    </a:solidFill>
                    <a:latin typeface="Arial"/>
                  </a:rPr>
                  <a:t> grid, 1 row and 1 column are coloured blue, the rest of the cells are white. If precisely </a:t>
                </a:r>
                <a:r>
                  <a:rPr lang="en-IN" sz="2400">
                    <a:solidFill>
                      <a:srgbClr val="111827"/>
                    </a:solidFill>
                    <a:latin typeface="Cambria Math" panose="02040503050406030204" pitchFamily="18" charset="0"/>
                  </a:rPr>
                  <a:t>$\frac{1}{2010}$</a:t>
                </a:r>
                <a:r>
                  <a:rPr sz="2400" b="0">
                    <a:solidFill>
                      <a:srgbClr val="111827"/>
                    </a:solidFill>
                    <a:latin typeface="Arial"/>
                  </a:rPr>
                  <a:t> of the cells in the grid are blue, how many values are possible for the ordered pair </a:t>
                </a:r>
                <a:r>
                  <a:rPr lang="en-IN" sz="2400">
                    <a:solidFill>
                      <a:srgbClr val="111827"/>
                    </a:solidFill>
                    <a:latin typeface="Cambria Math" panose="02040503050406030204" pitchFamily="18" charset="0"/>
                  </a:rPr>
                  <a:t>$(n,m)$</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3626611"/>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Number of divisors of an integer (counting)</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𝑛</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2010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factors as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2010</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2010</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2010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2009</m:t>
                    </m:r>
                  </m:oMath>
                </a14:m>
                <a:r>
                  <a:rPr sz="2400" b="0">
                    <a:solidFill>
                      <a:srgbClr val="78350F"/>
                    </a:solidFill>
                    <a:latin typeface="Arial"/>
                  </a:rPr>
                  <a:t>, so count divisors.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$nm=2010(n+m-1)$</a:t>
                </a:r>
                <a:r>
                  <a:rPr sz="2400" b="0">
                    <a:solidFill>
                      <a:srgbClr val="78350F"/>
                    </a:solidFill>
                    <a:latin typeface="Arial"/>
                  </a:rPr>
                  <a:t> factors as </a:t>
                </a:r>
                <a:r>
                  <a:rPr lang="en-IN" sz="2400">
                    <a:solidFill>
                      <a:srgbClr val="78350F"/>
                    </a:solidFill>
                    <a:latin typeface="Cambria Math" panose="02040503050406030204" pitchFamily="18" charset="0"/>
                  </a:rPr>
                  <a:t>$(n-2010)(m-2010)=2010\cdot2009$</a:t>
                </a:r>
                <a:r>
                  <a:rPr sz="2400" b="0">
                    <a:solidFill>
                      <a:srgbClr val="78350F"/>
                    </a:solidFill>
                    <a:latin typeface="Arial"/>
                  </a:rPr>
                  <a:t>, so count divisors.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blue cells are one row plus one column, sharing a cell: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cells. The total is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𝑚</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2010</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Rearrange: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2010</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2010</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factors cannot be negative: then each has absolute value at most </a:t>
                </a:r>
                <a14:m>
                  <m:oMath xmlns:m="http://schemas.openxmlformats.org/officeDocument/2006/math">
                    <m:r>
                      <a:rPr lang="en-IN" sz="2400" i="1">
                        <a:solidFill>
                          <a:srgbClr val="111827"/>
                        </a:solidFill>
                        <a:latin typeface="Cambria Math" panose="02040503050406030204" pitchFamily="18" charset="0"/>
                      </a:rPr>
                      <m:t>2009</m:t>
                    </m:r>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product is at most </a:t>
                </a:r>
                <a14:m>
                  <m:oMath xmlns:m="http://schemas.openxmlformats.org/officeDocument/2006/math">
                    <m:sSup>
                      <m:e>
                        <m:r>
                          <a:rPr lang="en-IN" sz="2400" i="1">
                            <a:solidFill>
                              <a:srgbClr val="111827"/>
                            </a:solidFill>
                            <a:latin typeface="Cambria Math" panose="02040503050406030204" pitchFamily="18" charset="0"/>
                          </a:rPr>
                          <m:t>2009</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2009</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blue cells are one row plus one column, sharing a cell: </a:t>
                </a:r>
                <a:r>
                  <a:rPr lang="en-IN" sz="2400">
                    <a:solidFill>
                      <a:srgbClr val="111827"/>
                    </a:solidFill>
                    <a:latin typeface="Cambria Math" panose="02040503050406030204" pitchFamily="18" charset="0"/>
                  </a:rPr>
                  <a:t>$n+m-1$</a:t>
                </a:r>
                <a:r>
                  <a:rPr sz="2400" b="0">
                    <a:solidFill>
                      <a:srgbClr val="111827"/>
                    </a:solidFill>
                    <a:latin typeface="Arial"/>
                  </a:rPr>
                  <a:t> cells. The total is </a:t>
                </a:r>
                <a:r>
                  <a:rPr lang="en-IN" sz="2400">
                    <a:solidFill>
                      <a:srgbClr val="111827"/>
                    </a:solidFill>
                    <a:latin typeface="Cambria Math" panose="02040503050406030204" pitchFamily="18" charset="0"/>
                  </a:rPr>
                  <a:t>$nm$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$\frac{n+m-1}{nm}=\frac{1}{2010}$</a:t>
                </a:r>
                <a:r>
                  <a:rPr sz="2400" b="0">
                    <a:solidFill>
                      <a:srgbClr val="111827"/>
                    </a:solidFill>
                    <a:latin typeface="Arial"/>
                  </a:rPr>
                  <a:t>, i.e. </a:t>
                </a:r>
                <a:r>
                  <a:rPr lang="en-IN" sz="2400">
                    <a:solidFill>
                      <a:srgbClr val="111827"/>
                    </a:solidFill>
                    <a:latin typeface="Cambria Math" panose="02040503050406030204" pitchFamily="18" charset="0"/>
                  </a:rPr>
                  <a:t>$nm=2010(n+m-1)$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Rearrange: </a:t>
                </a:r>
                <a:r>
                  <a:rPr lang="en-IN" sz="2400">
                    <a:solidFill>
                      <a:srgbClr val="111827"/>
                    </a:solidFill>
                    <a:latin typeface="Cambria Math" panose="02040503050406030204" pitchFamily="18" charset="0"/>
                  </a:rPr>
                  <a:t>$nm-2010n-2010m+2010^2=2010^2-2010$</a:t>
                </a:r>
                <a:r>
                  <a:rPr sz="2400" b="0">
                    <a:solidFill>
                      <a:srgbClr val="111827"/>
                    </a:solidFill>
                    <a:latin typeface="Arial"/>
                  </a:rPr>
                  <a:t>, i.e. </a:t>
                </a:r>
                <a:r>
                  <a:rPr lang="en-IN" sz="2400">
                    <a:solidFill>
                      <a:srgbClr val="111827"/>
                    </a:solidFill>
                    <a:latin typeface="Cambria Math" panose="02040503050406030204" pitchFamily="18" charset="0"/>
                  </a:rPr>
                  <a:t>$(n-2010)(m-2010)=2010\cdot2009$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factors cannot be negative: then each has absolute value at most </a:t>
                </a:r>
                <a:r>
                  <a:rPr lang="en-IN" sz="2400">
                    <a:solidFill>
                      <a:srgbClr val="111827"/>
                    </a:solidFill>
                    <a:latin typeface="Cambria Math" panose="02040503050406030204" pitchFamily="18" charset="0"/>
                  </a:rPr>
                  <a:t>$2009$</a:t>
                </a:r>
                <a:r>
                  <a:rPr sz="2400" b="0">
                    <a:solidFill>
                      <a:srgbClr val="111827"/>
                    </a:solidFill>
                    <a:latin typeface="Arial"/>
                  </a:rPr>
                  <a:t> (since </a:t>
                </a:r>
                <a:r>
                  <a:rPr lang="en-IN" sz="2400">
                    <a:solidFill>
                      <a:srgbClr val="111827"/>
                    </a:solidFill>
                    <a:latin typeface="Cambria Math" panose="02040503050406030204" pitchFamily="18" charset="0"/>
                  </a:rPr>
                  <a:t>$n,m\ge1$</a:t>
                </a:r>
                <a:r>
                  <a:rPr sz="2400" b="0">
                    <a:solidFill>
                      <a:srgbClr val="111827"/>
                    </a:solidFill>
                    <a:latin typeface="Arial"/>
                  </a:rPr>
                  <a:t>) and the product is at most </a:t>
                </a:r>
                <a:r>
                  <a:rPr lang="en-IN" sz="2400">
                    <a:solidFill>
                      <a:srgbClr val="111827"/>
                    </a:solidFill>
                    <a:latin typeface="Cambria Math" panose="02040503050406030204" pitchFamily="18" charset="0"/>
                  </a:rPr>
                  <a:t>$2009^2&lt;2010\cdot2009$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oMath>
                </a14:m>
                <a:r>
                  <a:rPr sz="2400" b="0">
                    <a:solidFill>
                      <a:srgbClr val="111827"/>
                    </a:solidFill>
                    <a:latin typeface="Arial"/>
                  </a:rPr>
                  <a:t> are positive divisors with product </a:t>
                </a:r>
                <a14:m>
                  <m:oMath xmlns:m="http://schemas.openxmlformats.org/officeDocument/2006/math">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2009</m:t>
                    </m:r>
                  </m:oMath>
                </a14:m>
                <a:r>
                  <a:rPr sz="2400" b="0">
                    <a:solidFill>
                      <a:srgbClr val="111827"/>
                    </a:solidFill>
                    <a:latin typeface="Arial"/>
                  </a:rPr>
                  <a:t>; each divisor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gives exactly one ordered pair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2009</m:t>
                        </m:r>
                      </m:num>
                      <m:den>
                        <m:r>
                          <a:rPr lang="en-IN" sz="2400" i="1">
                            <a:solidFill>
                              <a:srgbClr val="111827"/>
                            </a:solidFill>
                            <a:latin typeface="Cambria Math" panose="02040503050406030204" pitchFamily="18" charset="0"/>
                          </a:rPr>
                          <m:t>𝑑</m:t>
                        </m:r>
                      </m:den>
                    </m:f>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Factorise: </a:t>
                </a:r>
                <a14:m>
                  <m:oMath xmlns:m="http://schemas.openxmlformats.org/officeDocument/2006/math">
                    <m:r>
                      <a:rPr lang="en-IN" sz="2400" i="1">
                        <a:solidFill>
                          <a:srgbClr val="111827"/>
                        </a:solidFill>
                        <a:latin typeface="Cambria Math" panose="02040503050406030204" pitchFamily="18" charset="0"/>
                      </a:rPr>
                      <m:t>2010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positive divisors is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there are </a:t>
                </a:r>
                <a14:m>
                  <m:oMath xmlns:m="http://schemas.openxmlformats.org/officeDocument/2006/math">
                    <m:r>
                      <a:rPr lang="en-IN" sz="2400" i="1">
                        <a:solidFill>
                          <a:srgbClr val="111827"/>
                        </a:solidFill>
                        <a:latin typeface="Cambria Math" panose="02040503050406030204" pitchFamily="18" charset="0"/>
                      </a:rPr>
                      <m:t>96</m:t>
                    </m:r>
                  </m:oMath>
                </a14:m>
                <a:r>
                  <a:rPr sz="2400" b="0">
                    <a:solidFill>
                      <a:srgbClr val="111827"/>
                    </a:solidFill>
                    <a:latin typeface="Arial"/>
                  </a:rPr>
                  <a:t> possible ordered pairs.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$n-2010$</a:t>
                </a:r>
                <a:r>
                  <a:rPr sz="2400" b="0">
                    <a:solidFill>
                      <a:srgbClr val="111827"/>
                    </a:solidFill>
                    <a:latin typeface="Arial"/>
                  </a:rPr>
                  <a:t> and </a:t>
                </a:r>
                <a:r>
                  <a:rPr lang="en-IN" sz="2400">
                    <a:solidFill>
                      <a:srgbClr val="111827"/>
                    </a:solidFill>
                    <a:latin typeface="Cambria Math" panose="02040503050406030204" pitchFamily="18" charset="0"/>
                  </a:rPr>
                  <a:t>$m-2010$</a:t>
                </a:r>
                <a:r>
                  <a:rPr sz="2400" b="0">
                    <a:solidFill>
                      <a:srgbClr val="111827"/>
                    </a:solidFill>
                    <a:latin typeface="Arial"/>
                  </a:rPr>
                  <a:t> are positive divisors with product </a:t>
                </a:r>
                <a:r>
                  <a:rPr lang="en-IN" sz="2400">
                    <a:solidFill>
                      <a:srgbClr val="111827"/>
                    </a:solidFill>
                    <a:latin typeface="Cambria Math" panose="02040503050406030204" pitchFamily="18" charset="0"/>
                  </a:rPr>
                  <a:t>$2010\cdot2009$</a:t>
                </a:r>
                <a:r>
                  <a:rPr sz="2400" b="0">
                    <a:solidFill>
                      <a:srgbClr val="111827"/>
                    </a:solidFill>
                    <a:latin typeface="Arial"/>
                  </a:rPr>
                  <a:t>; each divisor </a:t>
                </a:r>
                <a:r>
                  <a:rPr lang="en-IN" sz="2400">
                    <a:solidFill>
                      <a:srgbClr val="111827"/>
                    </a:solidFill>
                    <a:latin typeface="Cambria Math" panose="02040503050406030204" pitchFamily="18" charset="0"/>
                  </a:rPr>
                  <a:t>$d$</a:t>
                </a:r>
                <a:r>
                  <a:rPr sz="2400" b="0">
                    <a:solidFill>
                      <a:srgbClr val="111827"/>
                    </a:solidFill>
                    <a:latin typeface="Arial"/>
                  </a:rPr>
                  <a:t> gives exactly one ordered pair </a:t>
                </a:r>
                <a:r>
                  <a:rPr lang="en-IN" sz="2400">
                    <a:solidFill>
                      <a:srgbClr val="111827"/>
                    </a:solidFill>
                    <a:latin typeface="Cambria Math" panose="02040503050406030204" pitchFamily="18" charset="0"/>
                  </a:rPr>
                  <a:t>$(n,m)=(2010+d,\,2010+\frac{2010\cdot2009}{d})$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Factorise: </a:t>
                </a:r>
                <a:r>
                  <a:rPr lang="en-IN" sz="2400">
                    <a:solidFill>
                      <a:srgbClr val="111827"/>
                    </a:solidFill>
                    <a:latin typeface="Cambria Math" panose="02040503050406030204" pitchFamily="18" charset="0"/>
                  </a:rPr>
                  <a:t>$2010\cdot2009=2\cdot3\cdot5\cdot7^2\cdot41\cdot67$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positive divisors is </a:t>
                </a:r>
                <a:r>
                  <a:rPr lang="en-IN" sz="2400">
                    <a:solidFill>
                      <a:srgbClr val="111827"/>
                    </a:solidFill>
                    <a:latin typeface="Cambria Math" panose="02040503050406030204" pitchFamily="18" charset="0"/>
                  </a:rPr>
                  <a:t>$2\cdot2\cdot2\cdot3\cdot2\cdot2=96$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there are </a:t>
                </a:r>
                <a:r>
                  <a:rPr lang="en-IN" sz="2400">
                    <a:solidFill>
                      <a:srgbClr val="111827"/>
                    </a:solidFill>
                    <a:latin typeface="Cambria Math" panose="02040503050406030204" pitchFamily="18" charset="0"/>
                  </a:rPr>
                  <a:t>$96$</a:t>
                </a:r>
                <a:r>
                  <a:rPr sz="2400" b="0">
                    <a:solidFill>
                      <a:srgbClr val="111827"/>
                    </a:solidFill>
                    <a:latin typeface="Arial"/>
                  </a:rPr>
                  <a:t> possible ordered pairs.</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96</a:t>
            </a:r>
            <a:endParaRPr sz="2800">
              <a:solidFill>
                <a:srgbClr val="15803D"/>
              </a:solidFill>
            </a:endParaRPr>
          </a:p>
        </p:txBody>
      </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Simon's favourite factoring trick: </a:t>
                </a:r>
                <a14:m>
                  <m:oMath xmlns:m="http://schemas.openxmlformats.org/officeDocument/2006/math">
                    <m:r>
                      <a:rPr lang="en-IN" sz="2400" i="1">
                        <a:solidFill>
                          <a:srgbClr val="111827"/>
                        </a:solidFill>
                        <a:latin typeface="Cambria Math" panose="02040503050406030204" pitchFamily="18" charset="0"/>
                      </a:rPr>
                      <m:t>𝑥</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positive divisors of </a:t>
                </a:r>
                <a14:m>
                  <m:oMath xmlns:m="http://schemas.openxmlformats.org/officeDocument/2006/math">
                    <m:sSubSup>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up>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1</m:t>
                            </m:r>
                          </m:sub>
                        </m:sSub>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𝑘</m:t>
                        </m:r>
                      </m:sub>
                      <m:sup>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𝑘</m:t>
                            </m:r>
                          </m:sub>
                        </m:sSub>
                      </m:sup>
                    </m:sSubSup>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solutions correspond to divisors of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2010</m:t>
                    </m:r>
                  </m:oMath>
                </a14:m>
                <a:r>
                  <a:rPr sz="2400" b="0">
                    <a:solidFill>
                      <a:srgbClr val="111827"/>
                    </a:solidFill>
                    <a:latin typeface="Arial"/>
                  </a:rPr>
                  <a:t>); ordered pairs equal the number of positive divisors because the negative pairs are impossible.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Simon's favourite factoring trick: </a:t>
                </a:r>
                <a:r>
                  <a:rPr lang="en-IN" sz="2400">
                    <a:solidFill>
                      <a:srgbClr val="111827"/>
                    </a:solidFill>
                    <a:latin typeface="Cambria Math" panose="02040503050406030204" pitchFamily="18" charset="0"/>
                  </a:rPr>
                  <a:t>$xy+ax+by=c\iff(x+b)(y+a)=c-ab$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positive divisors of </a:t>
                </a:r>
                <a:r>
                  <a:rPr lang="en-IN" sz="2400">
                    <a:solidFill>
                      <a:srgbClr val="111827"/>
                    </a:solidFill>
                    <a:latin typeface="Cambria Math" panose="02040503050406030204" pitchFamily="18" charset="0"/>
                  </a:rPr>
                  <a:t>$p_1^{a_1}\cdots p_k^{a_k}$</a:t>
                </a:r>
                <a:r>
                  <a:rPr sz="2400" b="0">
                    <a:solidFill>
                      <a:srgbClr val="111827"/>
                    </a:solidFill>
                    <a:latin typeface="Arial"/>
                  </a:rPr>
                  <a:t> is </a:t>
                </a:r>
                <a:r>
                  <a:rPr lang="en-IN" sz="2400">
                    <a:solidFill>
                      <a:srgbClr val="111827"/>
                    </a:solidFill>
                    <a:latin typeface="Cambria Math" panose="02040503050406030204" pitchFamily="18" charset="0"/>
                  </a:rPr>
                  <a:t>$\prod(a_i+1)$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$nm=N(n+m-1)$</a:t>
                </a:r>
                <a:r>
                  <a:rPr sz="2400" b="0">
                    <a:solidFill>
                      <a:srgbClr val="111827"/>
                    </a:solidFill>
                    <a:latin typeface="Arial"/>
                  </a:rPr>
                  <a:t> the solutions correspond to divisors of </a:t>
                </a:r>
                <a:r>
                  <a:rPr lang="en-IN" sz="2400">
                    <a:solidFill>
                      <a:srgbClr val="111827"/>
                    </a:solidFill>
                    <a:latin typeface="Cambria Math" panose="02040503050406030204" pitchFamily="18" charset="0"/>
                  </a:rPr>
                  <a:t>$N(N-1)$</a:t>
                </a:r>
                <a:r>
                  <a:rPr sz="2400" b="0">
                    <a:solidFill>
                      <a:srgbClr val="111827"/>
                    </a:solidFill>
                    <a:latin typeface="Arial"/>
                  </a:rPr>
                  <a:t> (here </a:t>
                </a:r>
                <a:r>
                  <a:rPr lang="en-IN" sz="2400">
                    <a:solidFill>
                      <a:srgbClr val="111827"/>
                    </a:solidFill>
                    <a:latin typeface="Cambria Math" panose="02040503050406030204" pitchFamily="18" charset="0"/>
                  </a:rPr>
                  <a:t>$N=2010$</a:t>
                </a:r>
                <a:r>
                  <a:rPr sz="2400" b="0">
                    <a:solidFill>
                      <a:srgbClr val="111827"/>
                    </a:solidFill>
                    <a:latin typeface="Arial"/>
                  </a:rPr>
                  <a:t>); ordered pairs equal the number of positive divisors because the negative pairs are impossible.</a:t>
                </a:r>
                <a:endParaRPr sz="2400">
                  <a:solidFill>
                    <a:srgbClr val="111827"/>
                  </a:solidFill>
                </a:endParaRPr>
              </a:p>
            </p:txBody>
          </p:sp>
        </mc:Fallback>
      </mc:AlternateContent>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cards are drawn from a standard deck (52 cards) with suits indistinguishable (for example, the ace of spades is the same as the ace of hearts). How many distinct hands can one obtain?</a:t>
            </a:r>
            <a:endParaRPr sz="2400">
              <a:solidFill>
                <a:srgbClr val="111827"/>
              </a:solidFill>
            </a:endParaRPr>
          </a:p>
        </p:txBody>
      </p:sp>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Combinations with repetition: counting hands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suits ignored a hand is just a multiset of 4 face values chosen from 13.</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Ignoring suits, a hand is determined by the multiset of face values; 13 face values are available.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1: all four cards have the same face value: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2: two distinct face values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occur: choose them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ways; the patterns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𝐵</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give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distinct hands for each choice: </a:t>
                </a:r>
                <a14:m>
                  <m:oMath xmlns:m="http://schemas.openxmlformats.org/officeDocument/2006/math">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Ignoring suits, a hand is determined by the multiset of face values; 13 face values are available.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1: all four cards have the same face value: </a:t>
                </a:r>
                <a:r>
                  <a:rPr lang="en-IN" sz="2400">
                    <a:solidFill>
                      <a:srgbClr val="111827"/>
                    </a:solidFill>
                    <a:latin typeface="Cambria Math" panose="02040503050406030204" pitchFamily="18" charset="0"/>
                  </a:rPr>
                  <a:t>$\binom{13}{1}=13$</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2: two distinct face values </a:t>
                </a:r>
                <a:r>
                  <a:rPr lang="en-IN" sz="2400">
                    <a:solidFill>
                      <a:srgbClr val="111827"/>
                    </a:solidFill>
                    <a:latin typeface="Cambria Math" panose="02040503050406030204" pitchFamily="18" charset="0"/>
                  </a:rPr>
                  <a:t>$A,B$</a:t>
                </a:r>
                <a:r>
                  <a:rPr sz="2400" b="0">
                    <a:solidFill>
                      <a:srgbClr val="111827"/>
                    </a:solidFill>
                    <a:latin typeface="Arial"/>
                  </a:rPr>
                  <a:t> occur: choose them in </a:t>
                </a:r>
                <a:r>
                  <a:rPr lang="en-IN" sz="2400">
                    <a:solidFill>
                      <a:srgbClr val="111827"/>
                    </a:solidFill>
                    <a:latin typeface="Cambria Math" panose="02040503050406030204" pitchFamily="18" charset="0"/>
                  </a:rPr>
                  <a:t>$\binom{13}{2}$</a:t>
                </a:r>
                <a:r>
                  <a:rPr sz="2400" b="0">
                    <a:solidFill>
                      <a:srgbClr val="111827"/>
                    </a:solidFill>
                    <a:latin typeface="Arial"/>
                  </a:rPr>
                  <a:t> ways; the patterns </a:t>
                </a:r>
                <a:r>
                  <a:rPr lang="en-IN" sz="2400">
                    <a:solidFill>
                      <a:srgbClr val="111827"/>
                    </a:solidFill>
                    <a:latin typeface="Cambria Math" panose="02040503050406030204" pitchFamily="18" charset="0"/>
                  </a:rPr>
                  <a:t>$ABBB$</a:t>
                </a:r>
                <a:r>
                  <a:rPr sz="2400" b="0">
                    <a:solidFill>
                      <a:srgbClr val="111827"/>
                    </a:solidFill>
                    <a:latin typeface="Arial"/>
                  </a:rPr>
                  <a:t>, </a:t>
                </a:r>
                <a:r>
                  <a:rPr lang="en-IN" sz="2400">
                    <a:solidFill>
                      <a:srgbClr val="111827"/>
                    </a:solidFill>
                    <a:latin typeface="Cambria Math" panose="02040503050406030204" pitchFamily="18" charset="0"/>
                  </a:rPr>
                  <a:t>$AABB$</a:t>
                </a:r>
                <a:r>
                  <a:rPr sz="2400" b="0">
                    <a:solidFill>
                      <a:srgbClr val="111827"/>
                    </a:solidFill>
                    <a:latin typeface="Arial"/>
                  </a:rPr>
                  <a:t>, </a:t>
                </a:r>
                <a:r>
                  <a:rPr lang="en-IN" sz="2400">
                    <a:solidFill>
                      <a:srgbClr val="111827"/>
                    </a:solidFill>
                    <a:latin typeface="Cambria Math" panose="02040503050406030204" pitchFamily="18" charset="0"/>
                  </a:rPr>
                  <a:t>$AAAB$</a:t>
                </a:r>
                <a:r>
                  <a:rPr sz="2400" b="0">
                    <a:solidFill>
                      <a:srgbClr val="111827"/>
                    </a:solidFill>
                    <a:latin typeface="Arial"/>
                  </a:rPr>
                  <a:t> give </a:t>
                </a:r>
                <a:r>
                  <a:rPr lang="en-IN" sz="2400">
                    <a:solidFill>
                      <a:srgbClr val="111827"/>
                    </a:solidFill>
                    <a:latin typeface="Cambria Math" panose="02040503050406030204" pitchFamily="18" charset="0"/>
                  </a:rPr>
                  <a:t>$3$</a:t>
                </a:r>
                <a:r>
                  <a:rPr sz="2400" b="0">
                    <a:solidFill>
                      <a:srgbClr val="111827"/>
                    </a:solidFill>
                    <a:latin typeface="Arial"/>
                  </a:rPr>
                  <a:t> distinct hands for each choice: </a:t>
                </a:r>
                <a:r>
                  <a:rPr lang="en-IN" sz="2400">
                    <a:solidFill>
                      <a:srgbClr val="111827"/>
                    </a:solidFill>
                    <a:latin typeface="Cambria Math" panose="02040503050406030204" pitchFamily="18" charset="0"/>
                  </a:rPr>
                  <a:t>$3\binom{13}{2}=234$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3: three distinct face values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occur, one of them twice: choose the three values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3</m:t>
                            </m:r>
                          </m:den>
                        </m:f>
                      </m:e>
                    </m:d>
                  </m:oMath>
                </a14:m>
                <a:r>
                  <a:rPr sz="2400" b="0">
                    <a:solidFill>
                      <a:srgbClr val="111827"/>
                    </a:solidFill>
                    <a:latin typeface="Arial"/>
                  </a:rPr>
                  <a:t> ways and the repeated one in 3 ways: </a:t>
                </a:r>
                <a14:m>
                  <m:oMath xmlns:m="http://schemas.openxmlformats.org/officeDocument/2006/math">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858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4: four distinct face values: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715</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cases are mutually exclusive, so the total is </a:t>
                </a:r>
                <a14:m>
                  <m:oMath xmlns:m="http://schemas.openxmlformats.org/officeDocument/2006/math">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858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3: three distinct face values </a:t>
                </a:r>
                <a:r>
                  <a:rPr lang="en-IN" sz="2400">
                    <a:solidFill>
                      <a:srgbClr val="111827"/>
                    </a:solidFill>
                    <a:latin typeface="Cambria Math" panose="02040503050406030204" pitchFamily="18" charset="0"/>
                  </a:rPr>
                  <a:t>$A,B,C$</a:t>
                </a:r>
                <a:r>
                  <a:rPr sz="2400" b="0">
                    <a:solidFill>
                      <a:srgbClr val="111827"/>
                    </a:solidFill>
                    <a:latin typeface="Arial"/>
                  </a:rPr>
                  <a:t> occur, one of them twice: choose the three values in </a:t>
                </a:r>
                <a:r>
                  <a:rPr lang="en-IN" sz="2400">
                    <a:solidFill>
                      <a:srgbClr val="111827"/>
                    </a:solidFill>
                    <a:latin typeface="Cambria Math" panose="02040503050406030204" pitchFamily="18" charset="0"/>
                  </a:rPr>
                  <a:t>$\binom{13}{3}$</a:t>
                </a:r>
                <a:r>
                  <a:rPr sz="2400" b="0">
                    <a:solidFill>
                      <a:srgbClr val="111827"/>
                    </a:solidFill>
                    <a:latin typeface="Arial"/>
                  </a:rPr>
                  <a:t> ways and the repeated one in 3 ways: </a:t>
                </a:r>
                <a:r>
                  <a:rPr lang="en-IN" sz="2400">
                    <a:solidFill>
                      <a:srgbClr val="111827"/>
                    </a:solidFill>
                    <a:latin typeface="Cambria Math" panose="02040503050406030204" pitchFamily="18" charset="0"/>
                  </a:rPr>
                  <a:t>$3\binom{13}{3}=858$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4: four distinct face values: </a:t>
                </a:r>
                <a:r>
                  <a:rPr lang="en-IN" sz="2400">
                    <a:solidFill>
                      <a:srgbClr val="111827"/>
                    </a:solidFill>
                    <a:latin typeface="Cambria Math" panose="02040503050406030204" pitchFamily="18" charset="0"/>
                  </a:rPr>
                  <a:t>$\binom{13}{4}=715$</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cases are mutually exclusive, so the total is </a:t>
                </a:r>
                <a:r>
                  <a:rPr lang="en-IN" sz="2400">
                    <a:solidFill>
                      <a:srgbClr val="111827"/>
                    </a:solidFill>
                    <a:latin typeface="Cambria Math" panose="02040503050406030204" pitchFamily="18" charset="0"/>
                  </a:rPr>
                  <a:t>$13+234+858+715=1820$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1820</a:t>
            </a:r>
            <a:endParaRPr sz="2800">
              <a:solidFill>
                <a:srgbClr val="15803D"/>
              </a:solidFill>
            </a:endParaRPr>
          </a:p>
        </p:txBody>
      </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hand is a multiset of size 4 from 13 types, so stars and bars counts it at once.</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be the number of cards of face value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 A hand is exactly a solution of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automatically, and there are four suits so no value can be limited by availability (at most 4 of a kind exists).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$x_j\ge0$</a:t>
                </a:r>
                <a:r>
                  <a:rPr sz="2400" b="0">
                    <a:solidFill>
                      <a:srgbClr val="111827"/>
                    </a:solidFill>
                    <a:latin typeface="Arial"/>
                  </a:rPr>
                  <a:t> be the number of cards of face value </a:t>
                </a:r>
                <a:r>
                  <a:rPr lang="en-IN" sz="2400">
                    <a:solidFill>
                      <a:srgbClr val="111827"/>
                    </a:solidFill>
                    <a:latin typeface="Cambria Math" panose="02040503050406030204" pitchFamily="18" charset="0"/>
                  </a:rPr>
                  <a:t>$j$</a:t>
                </a:r>
                <a:r>
                  <a:rPr sz="2400" b="0">
                    <a:solidFill>
                      <a:srgbClr val="111827"/>
                    </a:solidFill>
                    <a:latin typeface="Arial"/>
                  </a:rPr>
                  <a:t>, </a:t>
                </a:r>
                <a:r>
                  <a:rPr lang="en-IN" sz="2400">
                    <a:solidFill>
                      <a:srgbClr val="111827"/>
                    </a:solidFill>
                    <a:latin typeface="Cambria Math" panose="02040503050406030204" pitchFamily="18" charset="0"/>
                  </a:rPr>
                  <a:t>$j=1,\dots,13$</a:t>
                </a:r>
                <a:r>
                  <a:rPr sz="2400" b="0">
                    <a:solidFill>
                      <a:srgbClr val="111827"/>
                    </a:solidFill>
                    <a:latin typeface="Arial"/>
                  </a:rPr>
                  <a:t>. A hand is exactly a solution of </a:t>
                </a:r>
                <a:r>
                  <a:rPr lang="en-IN" sz="2400">
                    <a:solidFill>
                      <a:srgbClr val="111827"/>
                    </a:solidFill>
                    <a:latin typeface="Cambria Math" panose="02040503050406030204" pitchFamily="18" charset="0"/>
                  </a:rPr>
                  <a:t>$x_1+x_2+\cdots+x_{13}=4$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a:t>
                </a:r>
                <a:r>
                  <a:rPr lang="en-IN" sz="2400">
                    <a:solidFill>
                      <a:srgbClr val="111827"/>
                    </a:solidFill>
                    <a:latin typeface="Cambria Math" panose="02040503050406030204" pitchFamily="18" charset="0"/>
                  </a:rPr>
                  <a:t>$x_j\le4$</a:t>
                </a:r>
                <a:r>
                  <a:rPr sz="2400" b="0">
                    <a:solidFill>
                      <a:srgbClr val="111827"/>
                    </a:solidFill>
                    <a:latin typeface="Arial"/>
                  </a:rPr>
                  <a:t> automatically, and there are four suits so no value can be limited by availability (at most 4 of a kind exists).</a:t>
                </a:r>
                <a:endParaRPr sz="2400">
                  <a:solidFill>
                    <a:srgbClr val="111827"/>
                  </a:solidFill>
                </a:endParaRPr>
              </a:p>
            </p:txBody>
          </p:sp>
        </mc:Fallback>
      </mc:AlternateContent>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Stars and bars: the number of non-negative solutions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Stars and bars: the number of non-negative solutions is </a:t>
                </a:r>
                <a:r>
                  <a:rPr lang="en-IN" sz="2400">
                    <a:solidFill>
                      <a:srgbClr val="111827"/>
                    </a:solidFill>
                    <a:latin typeface="Cambria Math" panose="02040503050406030204" pitchFamily="18" charset="0"/>
                  </a:rPr>
                  <a:t>$\binom{4+13-1}{13-1}=\binom{16}{4}$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$\binom{16}{4}=\frac{16\cdot15\cdot14\cdot13}{24}=1820$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1820</a:t>
            </a:r>
            <a:endParaRPr sz="2800">
              <a:solidFill>
                <a:srgbClr val="15803D"/>
              </a:solidFill>
            </a:endParaRPr>
          </a:p>
        </p:txBody>
      </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multisets of size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types: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𝑟</m:t>
                            </m:r>
                          </m:den>
                        </m:f>
                      </m:e>
                    </m:d>
                  </m:oMath>
                </a14:m>
                <a:r>
                  <a:rPr sz="2400" b="0">
                    <a:solidFill>
                      <a:srgbClr val="111827"/>
                    </a:solidFill>
                    <a:latin typeface="Arial"/>
                  </a:rPr>
                  <a:t>; here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Casework by the number of distinct values reproduces Vandermonde-type identity: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Remember the cap: each face value occurs at most 4 times in a real deck, which matters only for hands of 5 or more cards.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multisets of size </a:t>
                </a:r>
                <a:r>
                  <a:rPr lang="en-IN" sz="2400">
                    <a:solidFill>
                      <a:srgbClr val="111827"/>
                    </a:solidFill>
                    <a:latin typeface="Cambria Math" panose="02040503050406030204" pitchFamily="18" charset="0"/>
                  </a:rPr>
                  <a:t>$r$</a:t>
                </a:r>
                <a:r>
                  <a:rPr sz="2400" b="0">
                    <a:solidFill>
                      <a:srgbClr val="111827"/>
                    </a:solidFill>
                    <a:latin typeface="Arial"/>
                  </a:rPr>
                  <a:t> from </a:t>
                </a:r>
                <a:r>
                  <a:rPr lang="en-IN" sz="2400">
                    <a:solidFill>
                      <a:srgbClr val="111827"/>
                    </a:solidFill>
                    <a:latin typeface="Cambria Math" panose="02040503050406030204" pitchFamily="18" charset="0"/>
                  </a:rPr>
                  <a:t>$n$</a:t>
                </a:r>
                <a:r>
                  <a:rPr sz="2400" b="0">
                    <a:solidFill>
                      <a:srgbClr val="111827"/>
                    </a:solidFill>
                    <a:latin typeface="Arial"/>
                  </a:rPr>
                  <a:t> types: </a:t>
                </a:r>
                <a:r>
                  <a:rPr lang="en-IN" sz="2400">
                    <a:solidFill>
                      <a:srgbClr val="111827"/>
                    </a:solidFill>
                    <a:latin typeface="Cambria Math" panose="02040503050406030204" pitchFamily="18" charset="0"/>
                  </a:rPr>
                  <a:t>$\binom{n+r-1}{r}$</a:t>
                </a:r>
                <a:r>
                  <a:rPr sz="2400" b="0">
                    <a:solidFill>
                      <a:srgbClr val="111827"/>
                    </a:solidFill>
                    <a:latin typeface="Arial"/>
                  </a:rPr>
                  <a:t>; here </a:t>
                </a:r>
                <a:r>
                  <a:rPr lang="en-IN" sz="2400">
                    <a:solidFill>
                      <a:srgbClr val="111827"/>
                    </a:solidFill>
                    <a:latin typeface="Cambria Math" panose="02040503050406030204" pitchFamily="18" charset="0"/>
                  </a:rPr>
                  <a:t>$\binom{16}{4}=1820$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Casework by the number of distinct values reproduces Vandermonde-type identity: </a:t>
                </a:r>
                <a:r>
                  <a:rPr lang="en-IN" sz="2400">
                    <a:solidFill>
                      <a:srgbClr val="111827"/>
                    </a:solidFill>
                    <a:latin typeface="Cambria Math" panose="02040503050406030204" pitchFamily="18" charset="0"/>
                  </a:rPr>
                  <a:t>$\binom{13}{1}+3\binom{13}{2}+3\binom{13}{3}+\binom{13}{4}=\binom{16}{4}$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Remember the cap: each face value occurs at most 4 times in a real deck, which matters only for hands of 5 or more cards.</a:t>
                </a:r>
                <a:endParaRPr sz="2400">
                  <a:solidFill>
                    <a:srgbClr val="111827"/>
                  </a:solidFill>
                </a:endParaRPr>
              </a:p>
            </p:txBody>
          </p:sp>
        </mc:Fallback>
      </mc:AlternateContent>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r>
                          <a:rPr lang="en-IN" sz="2400" i="1">
                            <a:solidFill>
                              <a:srgbClr val="111827"/>
                            </a:solidFill>
                            <a:latin typeface="Cambria Math" panose="02040503050406030204" pitchFamily="18" charset="0"/>
                          </a:rPr>
                          <m:t>𝑟</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the value of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equal to 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$\sum_{r=1}^{n} r!\,(r-1)!\,(r^2+r-1)=9!\,10!-1$</a:t>
                </a:r>
                <a:r>
                  <a:rPr sz="2400" b="0">
                    <a:solidFill>
                      <a:srgbClr val="111827"/>
                    </a:solidFill>
                    <a:latin typeface="Arial"/>
                  </a:rPr>
                  <a:t>, then the value of </a:t>
                </a:r>
                <a:r>
                  <a:rPr lang="en-IN" sz="2400">
                    <a:solidFill>
                      <a:srgbClr val="111827"/>
                    </a:solidFill>
                    <a:latin typeface="Cambria Math" panose="02040503050406030204" pitchFamily="18" charset="0"/>
                  </a:rPr>
                  <a:t>$n^2$</a:t>
                </a:r>
                <a:r>
                  <a:rPr sz="2400" b="0">
                    <a:solidFill>
                      <a:srgbClr val="111827"/>
                    </a:solidFill>
                    <a:latin typeface="Arial"/>
                  </a:rPr>
                  <a:t> is equal to ______.</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Factorials and telescoping sums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Since </a:t>
                </a:r>
                <a14:m>
                  <m:oMath xmlns:m="http://schemas.openxmlformats.org/officeDocument/2006/math">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each term is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which telescopes.</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Since </a:t>
                </a:r>
                <a:r>
                  <a:rPr lang="en-IN" sz="2400">
                    <a:solidFill>
                      <a:srgbClr val="78350F"/>
                    </a:solidFill>
                    <a:latin typeface="Cambria Math" panose="02040503050406030204" pitchFamily="18" charset="0"/>
                  </a:rPr>
                  <a:t>$r^2+r-1=r(r+1)-1$</a:t>
                </a:r>
                <a:r>
                  <a:rPr sz="2400" b="0">
                    <a:solidFill>
                      <a:srgbClr val="78350F"/>
                    </a:solidFill>
                    <a:latin typeface="Arial"/>
                  </a:rPr>
                  <a:t>, each term is </a:t>
                </a:r>
                <a:r>
                  <a:rPr lang="en-IN" sz="2400">
                    <a:solidFill>
                      <a:srgbClr val="78350F"/>
                    </a:solidFill>
                    <a:latin typeface="Cambria Math" panose="02040503050406030204" pitchFamily="18" charset="0"/>
                  </a:rPr>
                  <a:t>$r!\,(r+1)!-(r-1)!\,r!$</a:t>
                </a:r>
                <a:r>
                  <a:rPr sz="2400" b="0">
                    <a:solidFill>
                      <a:srgbClr val="78350F"/>
                    </a:solidFill>
                    <a:latin typeface="Arial"/>
                  </a:rPr>
                  <a:t>, which telescopes.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term equals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14:m>
                  <m:oMath xmlns:m="http://schemas.openxmlformats.org/officeDocument/2006/math">
                    <m:r>
                      <a:rPr lang="en-IN" sz="2400" i="1">
                        <a:solidFill>
                          <a:srgbClr val="111827"/>
                        </a:solidFill>
                        <a:latin typeface="Cambria Math" panose="02040503050406030204" pitchFamily="18" charset="0"/>
                      </a:rPr>
                      <m:t>𝑟</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term is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general term is </a:t>
                </a:r>
                <a:r>
                  <a:rPr lang="en-IN" sz="2400">
                    <a:solidFill>
                      <a:srgbClr val="111827"/>
                    </a:solidFill>
                    <a:latin typeface="Cambria Math" panose="02040503050406030204" pitchFamily="18" charset="0"/>
                  </a:rPr>
                  <a:t>$r!\,(r-1)!\,(r^2+r-1)$</a:t>
                </a:r>
                <a:r>
                  <a:rPr sz="2400" b="0">
                    <a:solidFill>
                      <a:srgbClr val="111827"/>
                    </a:solidFill>
                    <a:latin typeface="Arial"/>
                  </a:rPr>
                  <a:t> and </a:t>
                </a:r>
                <a:r>
                  <a:rPr lang="en-IN" sz="2400">
                    <a:solidFill>
                      <a:srgbClr val="111827"/>
                    </a:solidFill>
                    <a:latin typeface="Cambria Math" panose="02040503050406030204" pitchFamily="18" charset="0"/>
                  </a:rPr>
                  <a:t>$r^2+r-1=r(r+1)-1$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term equals </a:t>
                </a:r>
                <a:r>
                  <a:rPr lang="en-IN" sz="2400">
                    <a:solidFill>
                      <a:srgbClr val="111827"/>
                    </a:solidFill>
                    <a:latin typeface="Cambria Math" panose="02040503050406030204" pitchFamily="18" charset="0"/>
                  </a:rPr>
                  <a:t>$r!\,(r-1)!\,r(r+1)-r!\,(r-1)!$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r>
                  <a:rPr lang="en-IN" sz="2400">
                    <a:solidFill>
                      <a:srgbClr val="111827"/>
                    </a:solidFill>
                    <a:latin typeface="Cambria Math" panose="02040503050406030204" pitchFamily="18" charset="0"/>
                  </a:rPr>
                  <a:t>$r\,(r-1)!=r!$</a:t>
                </a:r>
                <a:r>
                  <a:rPr sz="2400" b="0">
                    <a:solidFill>
                      <a:srgbClr val="111827"/>
                    </a:solidFill>
                    <a:latin typeface="Arial"/>
                  </a:rPr>
                  <a:t> and </a:t>
                </a:r>
                <a:r>
                  <a:rPr lang="en-IN" sz="2400">
                    <a:solidFill>
                      <a:srgbClr val="111827"/>
                    </a:solidFill>
                    <a:latin typeface="Cambria Math" panose="02040503050406030204" pitchFamily="18" charset="0"/>
                  </a:rPr>
                  <a:t>$r!\,(r+1)=(r+1)!$</a:t>
                </a:r>
                <a:r>
                  <a:rPr sz="2400" b="0">
                    <a:solidFill>
                      <a:srgbClr val="111827"/>
                    </a:solidFill>
                    <a:latin typeface="Arial"/>
                  </a:rPr>
                  <a:t>, so </a:t>
                </a:r>
                <a:r>
                  <a:rPr lang="en-IN" sz="2400">
                    <a:solidFill>
                      <a:srgbClr val="111827"/>
                    </a:solidFill>
                    <a:latin typeface="Cambria Math" panose="02040503050406030204" pitchFamily="18" charset="0"/>
                  </a:rPr>
                  <a:t>$r!\,(r-1)!\,r(r+1)=r!\,(r+1)!$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term is </a:t>
                </a:r>
                <a:r>
                  <a:rPr lang="en-IN" sz="2400">
                    <a:solidFill>
                      <a:srgbClr val="111827"/>
                    </a:solidFill>
                    <a:latin typeface="Cambria Math" panose="02040503050406030204" pitchFamily="18" charset="0"/>
                  </a:rPr>
                  <a:t>$r!\,(r+1)!-(r-1)!\,r!$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Define </a:t>
                </a:r>
                <a14:m>
                  <m:oMath xmlns:m="http://schemas.openxmlformats.org/officeDocument/2006/math">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term is </a:t>
                </a:r>
                <a14:m>
                  <m:oMath xmlns:m="http://schemas.openxmlformats.org/officeDocument/2006/math">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with </a:t>
                </a:r>
                <a14:m>
                  <m:oMath xmlns:m="http://schemas.openxmlformats.org/officeDocument/2006/math">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strictly increasing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Define </a:t>
                </a:r>
                <a:r>
                  <a:rPr lang="en-IN" sz="2400">
                    <a:solidFill>
                      <a:srgbClr val="111827"/>
                    </a:solidFill>
                    <a:latin typeface="Cambria Math" panose="02040503050406030204" pitchFamily="18" charset="0"/>
                  </a:rPr>
                  <a:t>$T_r=(r-1)!\,r!$</a:t>
                </a:r>
                <a:r>
                  <a:rPr sz="2400" b="0">
                    <a:solidFill>
                      <a:srgbClr val="111827"/>
                    </a:solidFill>
                    <a:latin typeface="Arial"/>
                  </a:rPr>
                  <a:t>; the term is </a:t>
                </a:r>
                <a:r>
                  <a:rPr lang="en-IN" sz="2400">
                    <a:solidFill>
                      <a:srgbClr val="111827"/>
                    </a:solidFill>
                    <a:latin typeface="Cambria Math" panose="02040503050406030204" pitchFamily="18" charset="0"/>
                  </a:rPr>
                  <a:t>$T_{r+1}-T_r$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Summing, </a:t>
                </a:r>
                <a:r>
                  <a:rPr lang="en-IN" sz="2400">
                    <a:solidFill>
                      <a:srgbClr val="111827"/>
                    </a:solidFill>
                    <a:latin typeface="Cambria Math" panose="02040503050406030204" pitchFamily="18" charset="0"/>
                  </a:rPr>
                  <a:t>$\sum_{r=1}^{n}(T_{r+1}-T_r)=T_{n+1}-T_1=n!\,(n+1)!-0!\,1!=n!\,(n+1)!-1$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Equate with </a:t>
                </a:r>
                <a:r>
                  <a:rPr lang="en-IN" sz="2400">
                    <a:solidFill>
                      <a:srgbClr val="111827"/>
                    </a:solidFill>
                    <a:latin typeface="Cambria Math" panose="02040503050406030204" pitchFamily="18" charset="0"/>
                  </a:rPr>
                  <a:t>$9!\,10!-1$</a:t>
                </a:r>
                <a:r>
                  <a:rPr sz="2400" b="0">
                    <a:solidFill>
                      <a:srgbClr val="111827"/>
                    </a:solidFill>
                    <a:latin typeface="Arial"/>
                  </a:rPr>
                  <a:t>: </a:t>
                </a:r>
                <a:r>
                  <a:rPr lang="en-IN" sz="2400">
                    <a:solidFill>
                      <a:srgbClr val="111827"/>
                    </a:solidFill>
                    <a:latin typeface="Cambria Math" panose="02040503050406030204" pitchFamily="18" charset="0"/>
                  </a:rPr>
                  <a:t>$n!\,(n+1)!=9!\,10!$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$n!\,(n+1)!$</a:t>
                </a:r>
                <a:r>
                  <a:rPr sz="2400" b="0">
                    <a:solidFill>
                      <a:srgbClr val="111827"/>
                    </a:solidFill>
                    <a:latin typeface="Arial"/>
                  </a:rPr>
                  <a:t> is strictly increasing for </a:t>
                </a:r>
                <a:r>
                  <a:rPr lang="en-IN" sz="2400">
                    <a:solidFill>
                      <a:srgbClr val="111827"/>
                    </a:solidFill>
                    <a:latin typeface="Cambria Math" panose="02040503050406030204" pitchFamily="18" charset="0"/>
                  </a:rPr>
                  <a:t>$n\ge1$</a:t>
                </a:r>
                <a:r>
                  <a:rPr sz="2400" b="0">
                    <a:solidFill>
                      <a:srgbClr val="111827"/>
                    </a:solidFill>
                    <a:latin typeface="Arial"/>
                  </a:rPr>
                  <a:t>, so </a:t>
                </a:r>
                <a:r>
                  <a:rPr lang="en-IN" sz="2400">
                    <a:solidFill>
                      <a:srgbClr val="111827"/>
                    </a:solidFill>
                    <a:latin typeface="Cambria Math" panose="02040503050406030204" pitchFamily="18" charset="0"/>
                  </a:rPr>
                  <a:t>$n=9$</a:t>
                </a:r>
                <a:r>
                  <a:rPr sz="2400" b="0">
                    <a:solidFill>
                      <a:srgbClr val="111827"/>
                    </a:solidFill>
                    <a:latin typeface="Arial"/>
                  </a:rPr>
                  <a:t> and </a:t>
                </a:r>
                <a:r>
                  <a:rPr lang="en-IN" sz="2400">
                    <a:solidFill>
                      <a:srgbClr val="111827"/>
                    </a:solidFill>
                    <a:latin typeface="Cambria Math" panose="02040503050406030204" pitchFamily="18" charset="0"/>
                  </a:rPr>
                  <a:t>$n^2=81$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81</a:t>
            </a:r>
            <a:endParaRPr sz="2800">
              <a:solidFill>
                <a:srgbClr val="15803D"/>
              </a:solidFill>
            </a:endParaRP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Compute the first few sums, guess the closed form </a:t>
                </a:r>
                <a14:m>
                  <m:oMath xmlns:m="http://schemas.openxmlformats.org/officeDocument/2006/math">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prove it by induction.</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Compute the first few sums, guess the closed form </a:t>
                </a:r>
                <a:r>
                  <a:rPr lang="en-IN" sz="2400">
                    <a:solidFill>
                      <a:srgbClr val="78350F"/>
                    </a:solidFill>
                    <a:latin typeface="Cambria Math" panose="02040503050406030204" pitchFamily="18" charset="0"/>
                  </a:rPr>
                  <a:t>$n!(n+1)!-1$</a:t>
                </a:r>
                <a:r>
                  <a:rPr sz="2400" b="0">
                    <a:solidFill>
                      <a:srgbClr val="78350F"/>
                    </a:solidFill>
                    <a:latin typeface="Arial"/>
                  </a:rPr>
                  <a:t>, and prove it by induction.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r>
                          <a:rPr lang="en-IN" sz="2400" i="1">
                            <a:solidFill>
                              <a:srgbClr val="111827"/>
                            </a:solidFill>
                            <a:latin typeface="Cambria Math" panose="02040503050406030204" pitchFamily="18" charset="0"/>
                          </a:rPr>
                          <m:t>𝑟</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144</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Induction step: assume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$S_n=\sum_{r=1}^{n}r!\,(r-1)!\,(r^2+r-1)$</a:t>
                </a:r>
                <a:r>
                  <a:rPr sz="2400" b="0">
                    <a:solidFill>
                      <a:srgbClr val="111827"/>
                    </a:solidFill>
                    <a:latin typeface="Arial"/>
                  </a:rPr>
                  <a:t>. Then </a:t>
                </a:r>
                <a:r>
                  <a:rPr lang="en-IN" sz="2400">
                    <a:solidFill>
                      <a:srgbClr val="111827"/>
                    </a:solidFill>
                    <a:latin typeface="Cambria Math" panose="02040503050406030204" pitchFamily="18" charset="0"/>
                  </a:rPr>
                  <a:t>$S_1=1$</a:t>
                </a:r>
                <a:r>
                  <a:rPr sz="2400" b="0">
                    <a:solidFill>
                      <a:srgbClr val="111827"/>
                    </a:solidFill>
                    <a:latin typeface="Arial"/>
                  </a:rPr>
                  <a:t>, </a:t>
                </a:r>
                <a:r>
                  <a:rPr lang="en-IN" sz="2400">
                    <a:solidFill>
                      <a:srgbClr val="111827"/>
                    </a:solidFill>
                    <a:latin typeface="Cambria Math" panose="02040503050406030204" pitchFamily="18" charset="0"/>
                  </a:rPr>
                  <a:t>$S_2=1+2\cdot1\cdot5=11$</a:t>
                </a:r>
                <a:r>
                  <a:rPr sz="2400" b="0">
                    <a:solidFill>
                      <a:srgbClr val="111827"/>
                    </a:solidFill>
                    <a:latin typeface="Arial"/>
                  </a:rPr>
                  <a:t>, </a:t>
                </a:r>
                <a:r>
                  <a:rPr lang="en-IN" sz="2400">
                    <a:solidFill>
                      <a:srgbClr val="111827"/>
                    </a:solidFill>
                    <a:latin typeface="Cambria Math" panose="02040503050406030204" pitchFamily="18" charset="0"/>
                  </a:rPr>
                  <a:t>$S_3=11+6\cdot2\cdot11=143$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Compare with </a:t>
                </a:r>
                <a:r>
                  <a:rPr lang="en-IN" sz="2400">
                    <a:solidFill>
                      <a:srgbClr val="111827"/>
                    </a:solidFill>
                    <a:latin typeface="Cambria Math" panose="02040503050406030204" pitchFamily="18" charset="0"/>
                  </a:rPr>
                  <a:t>$n!(n+1)!$</a:t>
                </a:r>
                <a:r>
                  <a:rPr sz="2400" b="0">
                    <a:solidFill>
                      <a:srgbClr val="111827"/>
                    </a:solidFill>
                    <a:latin typeface="Arial"/>
                  </a:rPr>
                  <a:t>: </a:t>
                </a:r>
                <a:r>
                  <a:rPr lang="en-IN" sz="2400">
                    <a:solidFill>
                      <a:srgbClr val="111827"/>
                    </a:solidFill>
                    <a:latin typeface="Cambria Math" panose="02040503050406030204" pitchFamily="18" charset="0"/>
                  </a:rPr>
                  <a:t>$1!\,2!=2$</a:t>
                </a:r>
                <a:r>
                  <a:rPr sz="2400" b="0">
                    <a:solidFill>
                      <a:srgbClr val="111827"/>
                    </a:solidFill>
                    <a:latin typeface="Arial"/>
                  </a:rPr>
                  <a:t>, </a:t>
                </a:r>
                <a:r>
                  <a:rPr lang="en-IN" sz="2400">
                    <a:solidFill>
                      <a:srgbClr val="111827"/>
                    </a:solidFill>
                    <a:latin typeface="Cambria Math" panose="02040503050406030204" pitchFamily="18" charset="0"/>
                  </a:rPr>
                  <a:t>$2!\,3!=12$</a:t>
                </a:r>
                <a:r>
                  <a:rPr sz="2400" b="0">
                    <a:solidFill>
                      <a:srgbClr val="111827"/>
                    </a:solidFill>
                    <a:latin typeface="Arial"/>
                  </a:rPr>
                  <a:t>, </a:t>
                </a:r>
                <a:r>
                  <a:rPr lang="en-IN" sz="2400">
                    <a:solidFill>
                      <a:srgbClr val="111827"/>
                    </a:solidFill>
                    <a:latin typeface="Cambria Math" panose="02040503050406030204" pitchFamily="18" charset="0"/>
                  </a:rPr>
                  <a:t>$3!\,4!=144$</a:t>
                </a:r>
                <a:r>
                  <a:rPr sz="2400" b="0">
                    <a:solidFill>
                      <a:srgbClr val="111827"/>
                    </a:solidFill>
                    <a:latin typeface="Arial"/>
                  </a:rPr>
                  <a:t>. So </a:t>
                </a:r>
                <a:r>
                  <a:rPr lang="en-IN" sz="2400">
                    <a:solidFill>
                      <a:srgbClr val="111827"/>
                    </a:solidFill>
                    <a:latin typeface="Cambria Math" panose="02040503050406030204" pitchFamily="18" charset="0"/>
                  </a:rPr>
                  <a:t>$S_n=n!\,(n+1)!-1$</a:t>
                </a:r>
                <a:r>
                  <a:rPr sz="2400" b="0">
                    <a:solidFill>
                      <a:srgbClr val="111827"/>
                    </a:solidFill>
                    <a:latin typeface="Arial"/>
                  </a:rPr>
                  <a:t> for </a:t>
                </a:r>
                <a:r>
                  <a:rPr lang="en-IN" sz="2400">
                    <a:solidFill>
                      <a:srgbClr val="111827"/>
                    </a:solidFill>
                    <a:latin typeface="Cambria Math" panose="02040503050406030204" pitchFamily="18" charset="0"/>
                  </a:rPr>
                  <a:t>$n=1,2,3$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Induction step: assume </a:t>
                </a:r>
                <a:r>
                  <a:rPr lang="en-IN" sz="2400">
                    <a:solidFill>
                      <a:srgbClr val="111827"/>
                    </a:solidFill>
                    <a:latin typeface="Cambria Math" panose="02040503050406030204" pitchFamily="18" charset="0"/>
                  </a:rPr>
                  <a:t>$S_{n-1}=(n-1)!\,n!-1$</a:t>
                </a:r>
                <a:r>
                  <a:rPr sz="2400" b="0">
                    <a:solidFill>
                      <a:srgbClr val="111827"/>
                    </a:solidFill>
                    <a:latin typeface="Arial"/>
                  </a:rPr>
                  <a:t>. Then </a:t>
                </a:r>
                <a:r>
                  <a:rPr lang="en-IN" sz="2400">
                    <a:solidFill>
                      <a:srgbClr val="111827"/>
                    </a:solidFill>
                    <a:latin typeface="Cambria Math" panose="02040503050406030204" pitchFamily="18" charset="0"/>
                  </a:rPr>
                  <a:t>$S_n=(n-1)!\,n!-1+n!\,(n-1)!\,(n^2+n-1)$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$=(n-1)!\,n!\,(1+n^2+n-1)-1=(n-1)!\,n!\,n(n+1)-1$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this is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formula holds for all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strictly increasing in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$n\,(n-1)!=n!$</a:t>
                </a:r>
                <a:r>
                  <a:rPr sz="2400" b="0">
                    <a:solidFill>
                      <a:srgbClr val="111827"/>
                    </a:solidFill>
                    <a:latin typeface="Arial"/>
                  </a:rPr>
                  <a:t> and </a:t>
                </a:r>
                <a:r>
                  <a:rPr lang="en-IN" sz="2400">
                    <a:solidFill>
                      <a:srgbClr val="111827"/>
                    </a:solidFill>
                    <a:latin typeface="Cambria Math" panose="02040503050406030204" pitchFamily="18" charset="0"/>
                  </a:rPr>
                  <a:t>$n!\,(n+1)=(n+1)!$</a:t>
                </a:r>
                <a:r>
                  <a:rPr sz="2400" b="0">
                    <a:solidFill>
                      <a:srgbClr val="111827"/>
                    </a:solidFill>
                    <a:latin typeface="Arial"/>
                  </a:rPr>
                  <a:t>, this is </a:t>
                </a:r>
                <a:r>
                  <a:rPr lang="en-IN" sz="2400">
                    <a:solidFill>
                      <a:srgbClr val="111827"/>
                    </a:solidFill>
                    <a:latin typeface="Cambria Math" panose="02040503050406030204" pitchFamily="18" charset="0"/>
                  </a:rPr>
                  <a:t>$n!\,(n+1)!-1$</a:t>
                </a:r>
                <a:r>
                  <a:rPr sz="2400" b="0">
                    <a:solidFill>
                      <a:srgbClr val="111827"/>
                    </a:solidFill>
                    <a:latin typeface="Arial"/>
                  </a:rPr>
                  <a:t>. So the formula holds for all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r>
                  <a:rPr lang="en-IN" sz="2400">
                    <a:solidFill>
                      <a:srgbClr val="111827"/>
                    </a:solidFill>
                    <a:latin typeface="Cambria Math" panose="02040503050406030204" pitchFamily="18" charset="0"/>
                  </a:rPr>
                  <a:t>$n!\,(n+1)!-1=9!\,10!-1$</a:t>
                </a:r>
                <a:r>
                  <a:rPr sz="2400" b="0">
                    <a:solidFill>
                      <a:srgbClr val="111827"/>
                    </a:solidFill>
                    <a:latin typeface="Arial"/>
                  </a:rPr>
                  <a:t> gives </a:t>
                </a:r>
                <a:r>
                  <a:rPr lang="en-IN" sz="2400">
                    <a:solidFill>
                      <a:srgbClr val="111827"/>
                    </a:solidFill>
                    <a:latin typeface="Cambria Math" panose="02040503050406030204" pitchFamily="18" charset="0"/>
                  </a:rPr>
                  <a:t>$n!\,(n+1)!=9!\,10!$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product </a:t>
                </a:r>
                <a:r>
                  <a:rPr lang="en-IN" sz="2400">
                    <a:solidFill>
                      <a:srgbClr val="111827"/>
                    </a:solidFill>
                    <a:latin typeface="Cambria Math" panose="02040503050406030204" pitchFamily="18" charset="0"/>
                  </a:rPr>
                  <a:t>$n!\,(n+1)!$</a:t>
                </a:r>
                <a:r>
                  <a:rPr sz="2400" b="0">
                    <a:solidFill>
                      <a:srgbClr val="111827"/>
                    </a:solidFill>
                    <a:latin typeface="Arial"/>
                  </a:rPr>
                  <a:t> is strictly increasing in </a:t>
                </a:r>
                <a:r>
                  <a:rPr lang="en-IN" sz="2400">
                    <a:solidFill>
                      <a:srgbClr val="111827"/>
                    </a:solidFill>
                    <a:latin typeface="Cambria Math" panose="02040503050406030204" pitchFamily="18" charset="0"/>
                  </a:rPr>
                  <a:t>$n$</a:t>
                </a:r>
                <a:r>
                  <a:rPr sz="2400" b="0">
                    <a:solidFill>
                      <a:srgbClr val="111827"/>
                    </a:solidFill>
                    <a:latin typeface="Arial"/>
                  </a:rPr>
                  <a:t>, so </a:t>
                </a:r>
                <a:r>
                  <a:rPr lang="en-IN" sz="2400">
                    <a:solidFill>
                      <a:srgbClr val="111827"/>
                    </a:solidFill>
                    <a:latin typeface="Cambria Math" panose="02040503050406030204" pitchFamily="18" charset="0"/>
                  </a:rPr>
                  <a:t>$n=9$</a:t>
                </a:r>
                <a:r>
                  <a:rPr sz="2400" b="0">
                    <a:solidFill>
                      <a:srgbClr val="111827"/>
                    </a:solidFill>
                    <a:latin typeface="Arial"/>
                  </a:rPr>
                  <a:t> and </a:t>
                </a:r>
                <a:r>
                  <a:rPr lang="en-IN" sz="2400">
                    <a:solidFill>
                      <a:srgbClr val="111827"/>
                    </a:solidFill>
                    <a:latin typeface="Cambria Math" panose="02040503050406030204" pitchFamily="18" charset="0"/>
                  </a:rPr>
                  <a:t>$n^2=81$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81</a:t>
            </a:r>
            <a:endParaRPr sz="2800">
              <a:solidFill>
                <a:srgbClr val="15803D"/>
              </a:solidFill>
            </a:endParaRP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are the standard telescoping tools for factorial sums.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e>
                        </m:d>
                      </m:e>
                    </m:nary>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verified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a quadratic like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multiplies a factorial product, test whether it equals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that the term splits as </a:t>
                </a:r>
                <a14:m>
                  <m:oMath xmlns:m="http://schemas.openxmlformats.org/officeDocument/2006/math">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𝑇</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$r\cdot r!=(r+1)!-r!$</a:t>
                </a:r>
                <a:r>
                  <a:rPr sz="2400" b="0">
                    <a:solidFill>
                      <a:srgbClr val="111827"/>
                    </a:solidFill>
                    <a:latin typeface="Arial"/>
                  </a:rPr>
                  <a:t> and </a:t>
                </a:r>
                <a:r>
                  <a:rPr lang="en-IN" sz="2400">
                    <a:solidFill>
                      <a:srgbClr val="111827"/>
                    </a:solidFill>
                    <a:latin typeface="Cambria Math" panose="02040503050406030204" pitchFamily="18" charset="0"/>
                  </a:rPr>
                  <a:t>$\frac{1}{r!}-\frac{1}{(r+1)!}=\frac{r}{(r+1)!}$</a:t>
                </a:r>
                <a:r>
                  <a:rPr sz="2400" b="0">
                    <a:solidFill>
                      <a:srgbClr val="111827"/>
                    </a:solidFill>
                    <a:latin typeface="Arial"/>
                  </a:rPr>
                  <a:t> are the standard telescoping tools for factorial sums.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$\sum_{r=1}^{n}\big[(r-1)!\,r!\,(r^2+r-1)\big]$</a:t>
                </a:r>
                <a:r>
                  <a:rPr sz="2400" b="0">
                    <a:solidFill>
                      <a:srgbClr val="111827"/>
                    </a:solidFill>
                    <a:latin typeface="Arial"/>
                  </a:rPr>
                  <a:t> with </a:t>
                </a:r>
                <a:r>
                  <a:rPr lang="en-IN" sz="2400">
                    <a:solidFill>
                      <a:srgbClr val="111827"/>
                    </a:solidFill>
                    <a:latin typeface="Cambria Math" panose="02040503050406030204" pitchFamily="18" charset="0"/>
                  </a:rPr>
                  <a:t>$T_r=(r-1)!\,r!$</a:t>
                </a:r>
                <a:r>
                  <a:rPr sz="2400" b="0">
                    <a:solidFill>
                      <a:srgbClr val="111827"/>
                    </a:solidFill>
                    <a:latin typeface="Arial"/>
                  </a:rPr>
                  <a:t> gives </a:t>
                </a:r>
                <a:r>
                  <a:rPr lang="en-IN" sz="2400">
                    <a:solidFill>
                      <a:srgbClr val="111827"/>
                    </a:solidFill>
                    <a:latin typeface="Cambria Math" panose="02040503050406030204" pitchFamily="18" charset="0"/>
                  </a:rPr>
                  <a:t>$n!(n+1)!-1$</a:t>
                </a:r>
                <a:r>
                  <a:rPr sz="2400" b="0">
                    <a:solidFill>
                      <a:srgbClr val="111827"/>
                    </a:solidFill>
                    <a:latin typeface="Arial"/>
                  </a:rPr>
                  <a:t>; verified for </a:t>
                </a:r>
                <a:r>
                  <a:rPr lang="en-IN" sz="2400">
                    <a:solidFill>
                      <a:srgbClr val="111827"/>
                    </a:solidFill>
                    <a:latin typeface="Cambria Math" panose="02040503050406030204" pitchFamily="18" charset="0"/>
                  </a:rPr>
                  <a:t>$n=1,\dots,14$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a quadratic like </a:t>
                </a:r>
                <a:r>
                  <a:rPr lang="en-IN" sz="2400">
                    <a:solidFill>
                      <a:srgbClr val="111827"/>
                    </a:solidFill>
                    <a:latin typeface="Cambria Math" panose="02040503050406030204" pitchFamily="18" charset="0"/>
                  </a:rPr>
                  <a:t>$r^2+r-1$</a:t>
                </a:r>
                <a:r>
                  <a:rPr sz="2400" b="0">
                    <a:solidFill>
                      <a:srgbClr val="111827"/>
                    </a:solidFill>
                    <a:latin typeface="Arial"/>
                  </a:rPr>
                  <a:t> multiplies a factorial product, test whether it equals </a:t>
                </a:r>
                <a:r>
                  <a:rPr lang="en-IN" sz="2400">
                    <a:solidFill>
                      <a:srgbClr val="111827"/>
                    </a:solidFill>
                    <a:latin typeface="Cambria Math" panose="02040503050406030204" pitchFamily="18" charset="0"/>
                  </a:rPr>
                  <a:t>$r(r+1)-1$</a:t>
                </a:r>
                <a:r>
                  <a:rPr sz="2400" b="0">
                    <a:solidFill>
                      <a:srgbClr val="111827"/>
                    </a:solidFill>
                    <a:latin typeface="Arial"/>
                  </a:rPr>
                  <a:t> so that the term splits as </a:t>
                </a:r>
                <a:r>
                  <a:rPr lang="en-IN" sz="2400">
                    <a:solidFill>
                      <a:srgbClr val="111827"/>
                    </a:solidFill>
                    <a:latin typeface="Cambria Math" panose="02040503050406030204" pitchFamily="18" charset="0"/>
                  </a:rPr>
                  <a:t>$T_{r+1}-T_r$</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die is rolled four times. If the probability that the product of the first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outcomes is equal to the fourth outcome is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then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𝑝</m:t>
                                </m:r>
                              </m:e>
                            </m:rad>
                          </m:den>
                        </m:f>
                      </m:e>
                    </m:d>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die is rolled four times. If the probability that the product of the first </a:t>
                </a:r>
                <a:r>
                  <a:rPr lang="en-IN" sz="2400">
                    <a:solidFill>
                      <a:srgbClr val="111827"/>
                    </a:solidFill>
                    <a:latin typeface="Cambria Math" panose="02040503050406030204" pitchFamily="18" charset="0"/>
                  </a:rPr>
                  <a:t>$3$</a:t>
                </a:r>
                <a:r>
                  <a:rPr sz="2400" b="0">
                    <a:solidFill>
                      <a:srgbClr val="111827"/>
                    </a:solidFill>
                    <a:latin typeface="Arial"/>
                  </a:rPr>
                  <a:t> outcomes is equal to the fourth outcome is </a:t>
                </a:r>
                <a:r>
                  <a:rPr lang="en-IN" sz="2400">
                    <a:solidFill>
                      <a:srgbClr val="111827"/>
                    </a:solidFill>
                    <a:latin typeface="Cambria Math" panose="02040503050406030204" pitchFamily="18" charset="0"/>
                  </a:rPr>
                  <a:t>$p$</a:t>
                </a:r>
                <a:r>
                  <a:rPr sz="2400" b="0">
                    <a:solidFill>
                      <a:srgbClr val="111827"/>
                    </a:solidFill>
                    <a:latin typeface="Arial"/>
                  </a:rPr>
                  <a:t>, then </a:t>
                </a:r>
                <a:r>
                  <a:rPr lang="en-IN" sz="2400">
                    <a:solidFill>
                      <a:srgbClr val="111827"/>
                    </a:solidFill>
                    <a:latin typeface="Cambria Math" panose="02040503050406030204" pitchFamily="18" charset="0"/>
                  </a:rPr>
                  <a:t>$\left(\frac{1}{\sqrt{p}}\right)$</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254755"/>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of independent events (dice)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fourth outcome </a:t>
                </a:r>
                <a14:m>
                  <m:oMath xmlns:m="http://schemas.openxmlformats.org/officeDocument/2006/math">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6</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count ordered triples whose product is </a:t>
                </a:r>
                <a14:m>
                  <m:oMath xmlns:m="http://schemas.openxmlformats.org/officeDocument/2006/math">
                    <m:r>
                      <a:rPr lang="en-IN" sz="2400" i="1">
                        <a:solidFill>
                          <a:srgbClr val="78350F"/>
                        </a:solidFill>
                        <a:latin typeface="Cambria Math" panose="02040503050406030204" pitchFamily="18" charset="0"/>
                      </a:rPr>
                      <m:t>𝑒</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fourth outcome </a:t>
                </a:r>
                <a:r>
                  <a:rPr lang="en-IN" sz="2400">
                    <a:solidFill>
                      <a:srgbClr val="78350F"/>
                    </a:solidFill>
                    <a:latin typeface="Cambria Math" panose="02040503050406030204" pitchFamily="18" charset="0"/>
                  </a:rPr>
                  <a:t>$e\in\{1,\dots,6\}$</a:t>
                </a:r>
                <a:r>
                  <a:rPr sz="2400" b="0">
                    <a:solidFill>
                      <a:srgbClr val="78350F"/>
                    </a:solidFill>
                    <a:latin typeface="Arial"/>
                  </a:rPr>
                  <a:t>, so count ordered triples whose product is </a:t>
                </a:r>
                <a:r>
                  <a:rPr lang="en-IN" sz="2400">
                    <a:solidFill>
                      <a:srgbClr val="78350F"/>
                    </a:solidFill>
                    <a:latin typeface="Cambria Math" panose="02040503050406030204" pitchFamily="18" charset="0"/>
                  </a:rPr>
                  <a:t>$e$</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four rolls are independent and each ordered outcome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has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nor/>
                          </m:rPr>
                          <a:rPr lang="en-IN" sz="2400" i="1">
                            <a:solidFill>
                              <a:srgbClr val="111827"/>
                            </a:solidFill>
                            <a:latin typeface="Cambria Math" panose="02040503050406030204" pitchFamily="18" charset="0"/>
                          </a:rPr>
                          <m:t>𝑛𝑢𝑚𝑏𝑒𝑟 𝑜𝑓 𝑓𝑎𝑣𝑜𝑢𝑟𝑎𝑏𝑙𝑒 𝑜𝑟𝑑𝑒𝑟𝑒𝑑 4-𝑡𝑢𝑝𝑙𝑒𝑠</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need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count ordered triples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 die faces with product </a:t>
                </a:r>
                <a14:m>
                  <m:oMath xmlns:m="http://schemas.openxmlformats.org/officeDocument/2006/math">
                    <m:r>
                      <a:rPr lang="en-IN" sz="2400" i="1">
                        <a:solidFill>
                          <a:srgbClr val="111827"/>
                        </a:solidFill>
                        <a:latin typeface="Cambria Math" panose="02040503050406030204" pitchFamily="18" charset="0"/>
                      </a:rPr>
                      <m:t>𝑒</m:t>
                    </m:r>
                  </m:oMath>
                </a14:m>
                <a:r>
                  <a:rPr sz="2400" b="0">
                    <a:solidFill>
                      <a:srgbClr val="111827"/>
                    </a:solidFill>
                    <a:latin typeface="Arial"/>
                  </a:rPr>
                  <a:t>, for each </a:t>
                </a:r>
                <a14:m>
                  <m:oMath xmlns:m="http://schemas.openxmlformats.org/officeDocument/2006/math">
                    <m:r>
                      <a:rPr lang="en-IN" sz="2400" i="1">
                        <a:solidFill>
                          <a:srgbClr val="111827"/>
                        </a:solidFill>
                        <a:latin typeface="Cambria Math" panose="02040503050406030204" pitchFamily="18" charset="0"/>
                      </a:rPr>
                      <m:t>𝑒</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only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way.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arrangements, so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ways.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arrangements, so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ways.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four rolls are independent and each ordered outcome </a:t>
                </a:r>
                <a:r>
                  <a:rPr lang="en-IN" sz="2400">
                    <a:solidFill>
                      <a:srgbClr val="111827"/>
                    </a:solidFill>
                    <a:latin typeface="Cambria Math" panose="02040503050406030204" pitchFamily="18" charset="0"/>
                  </a:rPr>
                  <a:t>$(a,b,c,e)$</a:t>
                </a:r>
                <a:r>
                  <a:rPr sz="2400" b="0">
                    <a:solidFill>
                      <a:srgbClr val="111827"/>
                    </a:solidFill>
                    <a:latin typeface="Arial"/>
                  </a:rPr>
                  <a:t> has probability </a:t>
                </a:r>
                <a:r>
                  <a:rPr lang="en-IN" sz="2400">
                    <a:solidFill>
                      <a:srgbClr val="111827"/>
                    </a:solidFill>
                    <a:latin typeface="Cambria Math" panose="02040503050406030204" pitchFamily="18" charset="0"/>
                  </a:rPr>
                  <a:t>$\frac{1}{6^4}$</a:t>
                </a:r>
                <a:r>
                  <a:rPr sz="2400" b="0">
                    <a:solidFill>
                      <a:srgbClr val="111827"/>
                    </a:solidFill>
                    <a:latin typeface="Arial"/>
                  </a:rPr>
                  <a:t>, so </a:t>
                </a:r>
                <a:r>
                  <a:rPr lang="en-IN" sz="2400">
                    <a:solidFill>
                      <a:srgbClr val="111827"/>
                    </a:solidFill>
                    <a:latin typeface="Cambria Math" panose="02040503050406030204" pitchFamily="18" charset="0"/>
                  </a:rPr>
                  <a:t>$p=\frac{\text{number of favourable ordered 4-tuples}}{6^4}$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need </a:t>
                </a:r>
                <a:r>
                  <a:rPr lang="en-IN" sz="2400">
                    <a:solidFill>
                      <a:srgbClr val="111827"/>
                    </a:solidFill>
                    <a:latin typeface="Cambria Math" panose="02040503050406030204" pitchFamily="18" charset="0"/>
                  </a:rPr>
                  <a:t>$abc=e$</a:t>
                </a:r>
                <a:r>
                  <a:rPr sz="2400" b="0">
                    <a:solidFill>
                      <a:srgbClr val="111827"/>
                    </a:solidFill>
                    <a:latin typeface="Arial"/>
                  </a:rPr>
                  <a:t> with </a:t>
                </a:r>
                <a:r>
                  <a:rPr lang="en-IN" sz="2400">
                    <a:solidFill>
                      <a:srgbClr val="111827"/>
                    </a:solidFill>
                    <a:latin typeface="Cambria Math" panose="02040503050406030204" pitchFamily="18" charset="0"/>
                  </a:rPr>
                  <a:t>$e\in\{1,\dots,6\}$</a:t>
                </a:r>
                <a:r>
                  <a:rPr sz="2400" b="0">
                    <a:solidFill>
                      <a:srgbClr val="111827"/>
                    </a:solidFill>
                    <a:latin typeface="Arial"/>
                  </a:rPr>
                  <a:t>, so count ordered triples </a:t>
                </a:r>
                <a:r>
                  <a:rPr lang="en-IN" sz="2400">
                    <a:solidFill>
                      <a:srgbClr val="111827"/>
                    </a:solidFill>
                    <a:latin typeface="Cambria Math" panose="02040503050406030204" pitchFamily="18" charset="0"/>
                  </a:rPr>
                  <a:t>$(a,b,c)$</a:t>
                </a:r>
                <a:r>
                  <a:rPr sz="2400" b="0">
                    <a:solidFill>
                      <a:srgbClr val="111827"/>
                    </a:solidFill>
                    <a:latin typeface="Arial"/>
                  </a:rPr>
                  <a:t> of die faces with product </a:t>
                </a:r>
                <a:r>
                  <a:rPr lang="en-IN" sz="2400">
                    <a:solidFill>
                      <a:srgbClr val="111827"/>
                    </a:solidFill>
                    <a:latin typeface="Cambria Math" panose="02040503050406030204" pitchFamily="18" charset="0"/>
                  </a:rPr>
                  <a:t>$e$</a:t>
                </a:r>
                <a:r>
                  <a:rPr sz="2400" b="0">
                    <a:solidFill>
                      <a:srgbClr val="111827"/>
                    </a:solidFill>
                    <a:latin typeface="Arial"/>
                  </a:rPr>
                  <a:t>, for each </a:t>
                </a:r>
                <a:r>
                  <a:rPr lang="en-IN" sz="2400">
                    <a:solidFill>
                      <a:srgbClr val="111827"/>
                    </a:solidFill>
                    <a:latin typeface="Cambria Math" panose="02040503050406030204" pitchFamily="18" charset="0"/>
                  </a:rPr>
                  <a:t>$e$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$e=1$</a:t>
                </a:r>
                <a:r>
                  <a:rPr sz="2400" b="0">
                    <a:solidFill>
                      <a:srgbClr val="111827"/>
                    </a:solidFill>
                    <a:latin typeface="Arial"/>
                  </a:rPr>
                  <a:t>: only </a:t>
                </a:r>
                <a:r>
                  <a:rPr lang="en-IN" sz="2400">
                    <a:solidFill>
                      <a:srgbClr val="111827"/>
                    </a:solidFill>
                    <a:latin typeface="Cambria Math" panose="02040503050406030204" pitchFamily="18" charset="0"/>
                  </a:rPr>
                  <a:t>$(1,1,1)$</a:t>
                </a:r>
                <a:r>
                  <a:rPr sz="2400" b="0">
                    <a:solidFill>
                      <a:srgbClr val="111827"/>
                    </a:solidFill>
                    <a:latin typeface="Arial"/>
                  </a:rPr>
                  <a:t>, so </a:t>
                </a:r>
                <a:r>
                  <a:rPr lang="en-IN" sz="2400">
                    <a:solidFill>
                      <a:srgbClr val="111827"/>
                    </a:solidFill>
                    <a:latin typeface="Cambria Math" panose="02040503050406030204" pitchFamily="18" charset="0"/>
                  </a:rPr>
                  <a:t>$1$</a:t>
                </a:r>
                <a:r>
                  <a:rPr sz="2400" b="0">
                    <a:solidFill>
                      <a:srgbClr val="111827"/>
                    </a:solidFill>
                    <a:latin typeface="Arial"/>
                  </a:rPr>
                  <a:t> way.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$e=2$</a:t>
                </a:r>
                <a:r>
                  <a:rPr sz="2400" b="0">
                    <a:solidFill>
                      <a:srgbClr val="111827"/>
                    </a:solidFill>
                    <a:latin typeface="Arial"/>
                  </a:rPr>
                  <a:t>: </a:t>
                </a:r>
                <a:r>
                  <a:rPr lang="en-IN" sz="2400">
                    <a:solidFill>
                      <a:srgbClr val="111827"/>
                    </a:solidFill>
                    <a:latin typeface="Cambria Math" panose="02040503050406030204" pitchFamily="18" charset="0"/>
                  </a:rPr>
                  <a:t>$(1,1,2)$</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arrangements, so </a:t>
                </a:r>
                <a:r>
                  <a:rPr lang="en-IN" sz="2400">
                    <a:solidFill>
                      <a:srgbClr val="111827"/>
                    </a:solidFill>
                    <a:latin typeface="Cambria Math" panose="02040503050406030204" pitchFamily="18" charset="0"/>
                  </a:rPr>
                  <a:t>$3$</a:t>
                </a:r>
                <a:r>
                  <a:rPr sz="2400" b="0">
                    <a:solidFill>
                      <a:srgbClr val="111827"/>
                    </a:solidFill>
                    <a:latin typeface="Arial"/>
                  </a:rPr>
                  <a:t> ways.   </a:t>
                </a:r>
                <a:r>
                  <a:rPr lang="en-IN" sz="2400">
                    <a:solidFill>
                      <a:srgbClr val="111827"/>
                    </a:solidFill>
                    <a:latin typeface="Cambria Math" panose="02040503050406030204" pitchFamily="18" charset="0"/>
                  </a:rPr>
                  <a:t>$e=3$</a:t>
                </a:r>
                <a:r>
                  <a:rPr sz="2400" b="0">
                    <a:solidFill>
                      <a:srgbClr val="111827"/>
                    </a:solidFill>
                    <a:latin typeface="Arial"/>
                  </a:rPr>
                  <a:t>: </a:t>
                </a:r>
                <a:r>
                  <a:rPr lang="en-IN" sz="2400">
                    <a:solidFill>
                      <a:srgbClr val="111827"/>
                    </a:solidFill>
                    <a:latin typeface="Cambria Math" panose="02040503050406030204" pitchFamily="18" charset="0"/>
                  </a:rPr>
                  <a:t>$(1,1,3)$</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arrangements, so </a:t>
                </a:r>
                <a:r>
                  <a:rPr lang="en-IN" sz="2400">
                    <a:solidFill>
                      <a:srgbClr val="111827"/>
                    </a:solidFill>
                    <a:latin typeface="Cambria Math" panose="02040503050406030204" pitchFamily="18" charset="0"/>
                  </a:rPr>
                  <a:t>$3$</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arrangements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arrangements, so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arrangements, so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arrangements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arrangements, so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ways.</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$e=4$</a:t>
                </a:r>
                <a:r>
                  <a:rPr sz="2400" b="0">
                    <a:solidFill>
                      <a:srgbClr val="111827"/>
                    </a:solidFill>
                    <a:latin typeface="Arial"/>
                  </a:rPr>
                  <a:t>: </a:t>
                </a:r>
                <a:r>
                  <a:rPr lang="en-IN" sz="2400">
                    <a:solidFill>
                      <a:srgbClr val="111827"/>
                    </a:solidFill>
                    <a:latin typeface="Cambria Math" panose="02040503050406030204" pitchFamily="18" charset="0"/>
                  </a:rPr>
                  <a:t>$(1,1,4)$</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arrangements and </a:t>
                </a:r>
                <a:r>
                  <a:rPr lang="en-IN" sz="2400">
                    <a:solidFill>
                      <a:srgbClr val="111827"/>
                    </a:solidFill>
                    <a:latin typeface="Cambria Math" panose="02040503050406030204" pitchFamily="18" charset="0"/>
                  </a:rPr>
                  <a:t>$(1,2,2)$</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arrangements, so </a:t>
                </a:r>
                <a:r>
                  <a:rPr lang="en-IN" sz="2400">
                    <a:solidFill>
                      <a:srgbClr val="111827"/>
                    </a:solidFill>
                    <a:latin typeface="Cambria Math" panose="02040503050406030204" pitchFamily="18" charset="0"/>
                  </a:rPr>
                  <a:t>$6$</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$e=5$</a:t>
                </a:r>
                <a:r>
                  <a:rPr sz="2400" b="0">
                    <a:solidFill>
                      <a:srgbClr val="111827"/>
                    </a:solidFill>
                    <a:latin typeface="Arial"/>
                  </a:rPr>
                  <a:t>: </a:t>
                </a:r>
                <a:r>
                  <a:rPr lang="en-IN" sz="2400">
                    <a:solidFill>
                      <a:srgbClr val="111827"/>
                    </a:solidFill>
                    <a:latin typeface="Cambria Math" panose="02040503050406030204" pitchFamily="18" charset="0"/>
                  </a:rPr>
                  <a:t>$(1,1,5)$</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arrangements, so </a:t>
                </a:r>
                <a:r>
                  <a:rPr lang="en-IN" sz="2400">
                    <a:solidFill>
                      <a:srgbClr val="111827"/>
                    </a:solidFill>
                    <a:latin typeface="Cambria Math" panose="02040503050406030204" pitchFamily="18" charset="0"/>
                  </a:rPr>
                  <a:t>$3$</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$e=6$</a:t>
                </a:r>
                <a:r>
                  <a:rPr sz="2400" b="0">
                    <a:solidFill>
                      <a:srgbClr val="111827"/>
                    </a:solidFill>
                    <a:latin typeface="Arial"/>
                  </a:rPr>
                  <a:t>: </a:t>
                </a:r>
                <a:r>
                  <a:rPr lang="en-IN" sz="2400">
                    <a:solidFill>
                      <a:srgbClr val="111827"/>
                    </a:solidFill>
                    <a:latin typeface="Cambria Math" panose="02040503050406030204" pitchFamily="18" charset="0"/>
                  </a:rPr>
                  <a:t>$(1,1,6)$</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arrangements and </a:t>
                </a:r>
                <a:r>
                  <a:rPr lang="en-IN" sz="2400">
                    <a:solidFill>
                      <a:srgbClr val="111827"/>
                    </a:solidFill>
                    <a:latin typeface="Cambria Math" panose="02040503050406030204" pitchFamily="18" charset="0"/>
                  </a:rPr>
                  <a:t>$(1,2,3)$</a:t>
                </a:r>
                <a:r>
                  <a:rPr sz="2400" b="0">
                    <a:solidFill>
                      <a:srgbClr val="111827"/>
                    </a:solidFill>
                    <a:latin typeface="Arial"/>
                  </a:rPr>
                  <a:t> in </a:t>
                </a:r>
                <a:r>
                  <a:rPr lang="en-IN" sz="2400">
                    <a:solidFill>
                      <a:srgbClr val="111827"/>
                    </a:solidFill>
                    <a:latin typeface="Cambria Math" panose="02040503050406030204" pitchFamily="18" charset="0"/>
                  </a:rPr>
                  <a:t>$3!=6$</a:t>
                </a:r>
                <a:r>
                  <a:rPr sz="2400" b="0">
                    <a:solidFill>
                      <a:srgbClr val="111827"/>
                    </a:solidFill>
                    <a:latin typeface="Arial"/>
                  </a:rPr>
                  <a:t> arrangements, so </a:t>
                </a:r>
                <a:r>
                  <a:rPr lang="en-IN" sz="2400">
                    <a:solidFill>
                      <a:srgbClr val="111827"/>
                    </a:solidFill>
                    <a:latin typeface="Cambria Math" panose="02040503050406030204" pitchFamily="18" charset="0"/>
                  </a:rPr>
                  <a:t>$9$</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favourable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(these are the terms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of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e>
                        </m:d>
                      </m:e>
                      <m:sup>
                        <m:r>
                          <a:rPr lang="en-IN" sz="2400" i="1">
                            <a:solidFill>
                              <a:srgbClr val="111827"/>
                            </a:solidFill>
                            <a:latin typeface="Cambria Math" panose="02040503050406030204" pitchFamily="18" charset="0"/>
                          </a:rPr>
                          <m:t>3</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in the printed solution).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𝑝</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favourable </a:t>
                </a:r>
                <a:r>
                  <a:rPr lang="en-IN" sz="2400">
                    <a:solidFill>
                      <a:srgbClr val="111827"/>
                    </a:solidFill>
                    <a:latin typeface="Cambria Math" panose="02040503050406030204" pitchFamily="18" charset="0"/>
                  </a:rPr>
                  <a:t>$=1+3+3+6+3+9=25$</a:t>
                </a:r>
                <a:r>
                  <a:rPr sz="2400" b="0">
                    <a:solidFill>
                      <a:srgbClr val="111827"/>
                    </a:solidFill>
                    <a:latin typeface="Arial"/>
                  </a:rPr>
                  <a:t> (these are the terms </a:t>
                </a:r>
                <a:r>
                  <a:rPr lang="en-IN" sz="2400">
                    <a:solidFill>
                      <a:srgbClr val="111827"/>
                    </a:solidFill>
                    <a:latin typeface="Cambria Math" panose="02040503050406030204" pitchFamily="18" charset="0"/>
                  </a:rPr>
                  <a:t>$1,3,3,6,3,9$</a:t>
                </a:r>
                <a:r>
                  <a:rPr sz="2400" b="0">
                    <a:solidFill>
                      <a:srgbClr val="111827"/>
                    </a:solidFill>
                    <a:latin typeface="Arial"/>
                  </a:rPr>
                  <a:t> of </a:t>
                </a:r>
                <a:r>
                  <a:rPr lang="en-IN" sz="2400">
                    <a:solidFill>
                      <a:srgbClr val="111827"/>
                    </a:solidFill>
                    <a:latin typeface="Cambria Math" panose="02040503050406030204" pitchFamily="18" charset="0"/>
                  </a:rPr>
                  <a:t>$\left(\frac16\right)^3\frac16$</a:t>
                </a:r>
                <a:r>
                  <a:rPr sz="2400" b="0">
                    <a:solidFill>
                      <a:srgbClr val="111827"/>
                    </a:solidFill>
                    <a:latin typeface="Arial"/>
                  </a:rPr>
                  <a:t> in the printed solution).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$p=\frac{25}{6^4}$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$\frac{1}{\sqrt p}=\frac{6^2}{5}=\frac{36}{5}=7.2$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7.2</a:t>
            </a:r>
            <a:endParaRPr sz="2800">
              <a:solidFill>
                <a:srgbClr val="15803D"/>
              </a:solidFill>
            </a:endParaRPr>
          </a:p>
        </p:txBody>
      </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ordered triples with product </a:t>
                </a:r>
                <a14:m>
                  <m:oMath xmlns:m="http://schemas.openxmlformats.org/officeDocument/2006/math">
                    <m:r>
                      <a:rPr lang="en-IN" sz="2400" i="1">
                        <a:solidFill>
                          <a:srgbClr val="78350F"/>
                        </a:solidFill>
                        <a:latin typeface="Cambria Math" panose="02040503050406030204" pitchFamily="18" charset="0"/>
                      </a:rPr>
                      <m:t>𝑁</m:t>
                    </m:r>
                  </m:oMath>
                </a14:m>
                <a:r>
                  <a:rPr sz="2400" b="0">
                    <a:solidFill>
                      <a:srgbClr val="78350F"/>
                    </a:solidFill>
                    <a:latin typeface="Arial"/>
                  </a:rPr>
                  <a:t> by distributing the prime exponents of </a:t>
                </a:r>
                <a14:m>
                  <m:oMath xmlns:m="http://schemas.openxmlformats.org/officeDocument/2006/math">
                    <m:r>
                      <a:rPr lang="en-IN" sz="2400" i="1">
                        <a:solidFill>
                          <a:srgbClr val="78350F"/>
                        </a:solidFill>
                        <a:latin typeface="Cambria Math" panose="02040503050406030204" pitchFamily="18" charset="0"/>
                      </a:rPr>
                      <m:t>𝑁</m:t>
                    </m:r>
                  </m:oMath>
                </a14:m>
                <a:r>
                  <a:rPr sz="2400" b="0">
                    <a:solidFill>
                      <a:srgbClr val="78350F"/>
                    </a:solidFill>
                    <a:latin typeface="Arial"/>
                  </a:rPr>
                  <a:t> among the three dice.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ordered triples with product </a:t>
                </a:r>
                <a:r>
                  <a:rPr lang="en-IN" sz="2400">
                    <a:solidFill>
                      <a:srgbClr val="78350F"/>
                    </a:solidFill>
                    <a:latin typeface="Cambria Math" panose="02040503050406030204" pitchFamily="18" charset="0"/>
                  </a:rPr>
                  <a:t>$N$</a:t>
                </a:r>
                <a:r>
                  <a:rPr sz="2400" b="0">
                    <a:solidFill>
                      <a:srgbClr val="78350F"/>
                    </a:solidFill>
                    <a:latin typeface="Arial"/>
                  </a:rPr>
                  <a:t> by distributing the prime exponents of </a:t>
                </a:r>
                <a:r>
                  <a:rPr lang="en-IN" sz="2400">
                    <a:solidFill>
                      <a:srgbClr val="78350F"/>
                    </a:solidFill>
                    <a:latin typeface="Cambria Math" panose="02040503050406030204" pitchFamily="18" charset="0"/>
                  </a:rPr>
                  <a:t>$N$</a:t>
                </a:r>
                <a:r>
                  <a:rPr sz="2400" b="0">
                    <a:solidFill>
                      <a:srgbClr val="78350F"/>
                    </a:solidFill>
                    <a:latin typeface="Arial"/>
                  </a:rPr>
                  <a:t> among the three dice.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𝑎</m:t>
                        </m:r>
                      </m:sup>
                    </m:sSup>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𝑐</m:t>
                        </m:r>
                      </m:sup>
                    </m:sSup>
                  </m:oMath>
                </a14:m>
                <a:r>
                  <a:rPr sz="2400" b="0">
                    <a:solidFill>
                      <a:srgbClr val="111827"/>
                    </a:solidFill>
                    <a:latin typeface="Arial"/>
                  </a:rPr>
                  <a:t>. An ordered triple with product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is a way to split each prime exponent among the three positions.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Splitting an exponent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into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ordered non-negative parts can be done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ways; the primes are independent, so the count is </a:t>
                </a:r>
                <a14:m>
                  <m:oMath xmlns:m="http://schemas.openxmlformats.org/officeDocument/2006/math">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divisors of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are faces of a die, so no face restriction is lost.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$N=2^{a}3^{b}5^{c}$</a:t>
                </a:r>
                <a:r>
                  <a:rPr sz="2400" b="0">
                    <a:solidFill>
                      <a:srgbClr val="111827"/>
                    </a:solidFill>
                    <a:latin typeface="Arial"/>
                  </a:rPr>
                  <a:t>. An ordered triple with product </a:t>
                </a:r>
                <a:r>
                  <a:rPr lang="en-IN" sz="2400">
                    <a:solidFill>
                      <a:srgbClr val="111827"/>
                    </a:solidFill>
                    <a:latin typeface="Cambria Math" panose="02040503050406030204" pitchFamily="18" charset="0"/>
                  </a:rPr>
                  <a:t>$N$</a:t>
                </a:r>
                <a:r>
                  <a:rPr sz="2400" b="0">
                    <a:solidFill>
                      <a:srgbClr val="111827"/>
                    </a:solidFill>
                    <a:latin typeface="Arial"/>
                  </a:rPr>
                  <a:t> is a way to split each prime exponent among the three positions.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Splitting an exponent </a:t>
                </a:r>
                <a:r>
                  <a:rPr lang="en-IN" sz="2400">
                    <a:solidFill>
                      <a:srgbClr val="111827"/>
                    </a:solidFill>
                    <a:latin typeface="Cambria Math" panose="02040503050406030204" pitchFamily="18" charset="0"/>
                  </a:rPr>
                  <a:t>$a$</a:t>
                </a:r>
                <a:r>
                  <a:rPr sz="2400" b="0">
                    <a:solidFill>
                      <a:srgbClr val="111827"/>
                    </a:solidFill>
                    <a:latin typeface="Arial"/>
                  </a:rPr>
                  <a:t> into </a:t>
                </a:r>
                <a:r>
                  <a:rPr lang="en-IN" sz="2400">
                    <a:solidFill>
                      <a:srgbClr val="111827"/>
                    </a:solidFill>
                    <a:latin typeface="Cambria Math" panose="02040503050406030204" pitchFamily="18" charset="0"/>
                  </a:rPr>
                  <a:t>$3$</a:t>
                </a:r>
                <a:r>
                  <a:rPr sz="2400" b="0">
                    <a:solidFill>
                      <a:srgbClr val="111827"/>
                    </a:solidFill>
                    <a:latin typeface="Arial"/>
                  </a:rPr>
                  <a:t> ordered non-negative parts can be done in </a:t>
                </a:r>
                <a:r>
                  <a:rPr lang="en-IN" sz="2400">
                    <a:solidFill>
                      <a:srgbClr val="111827"/>
                    </a:solidFill>
                    <a:latin typeface="Cambria Math" panose="02040503050406030204" pitchFamily="18" charset="0"/>
                  </a:rPr>
                  <a:t>$\binom{a+2}{2}$</a:t>
                </a:r>
                <a:r>
                  <a:rPr sz="2400" b="0">
                    <a:solidFill>
                      <a:srgbClr val="111827"/>
                    </a:solidFill>
                    <a:latin typeface="Arial"/>
                  </a:rPr>
                  <a:t> ways; the primes are independent, so the count is </a:t>
                </a:r>
                <a:r>
                  <a:rPr lang="en-IN" sz="2400">
                    <a:solidFill>
                      <a:srgbClr val="111827"/>
                    </a:solidFill>
                    <a:latin typeface="Cambria Math" panose="02040503050406030204" pitchFamily="18" charset="0"/>
                  </a:rPr>
                  <a:t>$\prod\binom{a_i+2}{2}$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divisors of </a:t>
                </a:r>
                <a:r>
                  <a:rPr lang="en-IN" sz="2400">
                    <a:solidFill>
                      <a:srgbClr val="111827"/>
                    </a:solidFill>
                    <a:latin typeface="Cambria Math" panose="02040503050406030204" pitchFamily="18" charset="0"/>
                  </a:rPr>
                  <a:t>$N\le6$</a:t>
                </a:r>
                <a:r>
                  <a:rPr sz="2400" b="0">
                    <a:solidFill>
                      <a:srgbClr val="111827"/>
                    </a:solidFill>
                    <a:latin typeface="Arial"/>
                  </a:rPr>
                  <a:t> are faces of a die, so no face restriction is lost.</a:t>
                </a:r>
                <a:endParaRPr sz="2400">
                  <a:solidFill>
                    <a:srgbClr val="111827"/>
                  </a:solidFill>
                </a:endParaRPr>
              </a:p>
            </p:txBody>
          </p:sp>
        </mc:Fallback>
      </mc:AlternateContent>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each.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𝑝</m:t>
                            </m:r>
                          </m:e>
                        </m:ra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$N=1$</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$N=2,3,5$</a:t>
                </a:r>
                <a:r>
                  <a:rPr sz="2400" b="0">
                    <a:solidFill>
                      <a:srgbClr val="111827"/>
                    </a:solidFill>
                    <a:latin typeface="Arial"/>
                  </a:rPr>
                  <a:t>: </a:t>
                </a:r>
                <a:r>
                  <a:rPr lang="en-IN" sz="2400">
                    <a:solidFill>
                      <a:srgbClr val="111827"/>
                    </a:solidFill>
                    <a:latin typeface="Cambria Math" panose="02040503050406030204" pitchFamily="18" charset="0"/>
                  </a:rPr>
                  <a:t>$\binom{3}{2}=3$</a:t>
                </a:r>
                <a:r>
                  <a:rPr sz="2400" b="0">
                    <a:solidFill>
                      <a:srgbClr val="111827"/>
                    </a:solidFill>
                    <a:latin typeface="Arial"/>
                  </a:rPr>
                  <a:t> each.  </a:t>
                </a:r>
                <a:r>
                  <a:rPr lang="en-IN" sz="2400">
                    <a:solidFill>
                      <a:srgbClr val="111827"/>
                    </a:solidFill>
                    <a:latin typeface="Cambria Math" panose="02040503050406030204" pitchFamily="18" charset="0"/>
                  </a:rPr>
                  <a:t>$N=4=2^2$</a:t>
                </a:r>
                <a:r>
                  <a:rPr sz="2400" b="0">
                    <a:solidFill>
                      <a:srgbClr val="111827"/>
                    </a:solidFill>
                    <a:latin typeface="Arial"/>
                  </a:rPr>
                  <a:t>: </a:t>
                </a:r>
                <a:r>
                  <a:rPr lang="en-IN" sz="2400">
                    <a:solidFill>
                      <a:srgbClr val="111827"/>
                    </a:solidFill>
                    <a:latin typeface="Cambria Math" panose="02040503050406030204" pitchFamily="18" charset="0"/>
                  </a:rPr>
                  <a:t>$\binom{4}{2}=6$</a:t>
                </a:r>
                <a:r>
                  <a:rPr sz="2400" b="0">
                    <a:solidFill>
                      <a:srgbClr val="111827"/>
                    </a:solidFill>
                    <a:latin typeface="Arial"/>
                  </a:rPr>
                  <a:t>.  </a:t>
                </a:r>
                <a:r>
                  <a:rPr lang="en-IN" sz="2400">
                    <a:solidFill>
                      <a:srgbClr val="111827"/>
                    </a:solidFill>
                    <a:latin typeface="Cambria Math" panose="02040503050406030204" pitchFamily="18" charset="0"/>
                  </a:rPr>
                  <a:t>$N=6=2\cdot3$</a:t>
                </a:r>
                <a:r>
                  <a:rPr sz="2400" b="0">
                    <a:solidFill>
                      <a:srgbClr val="111827"/>
                    </a:solidFill>
                    <a:latin typeface="Arial"/>
                  </a:rPr>
                  <a:t>: </a:t>
                </a:r>
                <a:r>
                  <a:rPr lang="en-IN" sz="2400">
                    <a:solidFill>
                      <a:srgbClr val="111827"/>
                    </a:solidFill>
                    <a:latin typeface="Cambria Math" panose="02040503050406030204" pitchFamily="18" charset="0"/>
                  </a:rPr>
                  <a:t>$3\cdot3=9$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$=1+3+3+6+3+9=25$</a:t>
                </a:r>
                <a:r>
                  <a:rPr sz="2400" b="0">
                    <a:solidFill>
                      <a:srgbClr val="111827"/>
                    </a:solidFill>
                    <a:latin typeface="Arial"/>
                  </a:rPr>
                  <a:t>, so </a:t>
                </a:r>
                <a:r>
                  <a:rPr lang="en-IN" sz="2400">
                    <a:solidFill>
                      <a:srgbClr val="111827"/>
                    </a:solidFill>
                    <a:latin typeface="Cambria Math" panose="02040503050406030204" pitchFamily="18" charset="0"/>
                  </a:rPr>
                  <a:t>$p=\frac{25}{1296}$</a:t>
                </a:r>
                <a:r>
                  <a:rPr sz="2400" b="0">
                    <a:solidFill>
                      <a:srgbClr val="111827"/>
                    </a:solidFill>
                    <a:latin typeface="Arial"/>
                  </a:rPr>
                  <a:t> and </a:t>
                </a:r>
                <a:r>
                  <a:rPr lang="en-IN" sz="2400">
                    <a:solidFill>
                      <a:srgbClr val="111827"/>
                    </a:solidFill>
                    <a:latin typeface="Cambria Math" panose="02040503050406030204" pitchFamily="18" charset="0"/>
                  </a:rPr>
                  <a:t>$\frac{1}{\sqrt p}=\frac{36}{5}=7.2$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7.2</a:t>
            </a:r>
            <a:endParaRPr sz="2800">
              <a:solidFill>
                <a:srgbClr val="15803D"/>
              </a:solidFill>
            </a:endParaRPr>
          </a:p>
        </p:txBody>
      </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Ordered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-tuples of positive integers with product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𝑖</m:t>
                        </m:r>
                      </m:sub>
                      <m:sup>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sup>
                    </m:sSubSup>
                  </m:oMath>
                </a14:m>
                <a:r>
                  <a:rPr sz="2400" b="0">
                    <a:solidFill>
                      <a:srgbClr val="111827"/>
                    </a:solidFill>
                    <a:latin typeface="Arial"/>
                  </a:rPr>
                  <a:t>: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e>
                    </m:nary>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equally likely independent outcomes, 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nor/>
                          </m:rPr>
                          <a:rPr lang="en-IN" sz="2400" i="1">
                            <a:solidFill>
                              <a:srgbClr val="111827"/>
                            </a:solidFill>
                            <a:latin typeface="Cambria Math" panose="02040503050406030204" pitchFamily="18" charset="0"/>
                          </a:rPr>
                          <m:t>𝑓𝑎𝑣𝑜𝑢𝑟𝑎𝑏𝑙𝑒 𝑜𝑟𝑑𝑒𝑟𝑒𝑑 𝑡𝑢𝑝𝑙𝑒𝑠</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𝑛</m:t>
                            </m:r>
                          </m:sup>
                        </m:sSup>
                      </m:den>
                    </m:f>
                  </m:oMath>
                </a14:m>
                <a:r>
                  <a:rPr sz="2400" b="0">
                    <a:solidFill>
                      <a:srgbClr val="111827"/>
                    </a:solidFill>
                    <a:latin typeface="Arial"/>
                  </a:rPr>
                  <a:t>; count ordered tuples, not multisets.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ordered triples of die faces with product at most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 fourth roll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Ordered </a:t>
                </a:r>
                <a:r>
                  <a:rPr lang="en-IN" sz="2400">
                    <a:solidFill>
                      <a:srgbClr val="111827"/>
                    </a:solidFill>
                    <a:latin typeface="Cambria Math" panose="02040503050406030204" pitchFamily="18" charset="0"/>
                  </a:rPr>
                  <a:t>$k$</a:t>
                </a:r>
                <a:r>
                  <a:rPr sz="2400" b="0">
                    <a:solidFill>
                      <a:srgbClr val="111827"/>
                    </a:solidFill>
                    <a:latin typeface="Arial"/>
                  </a:rPr>
                  <a:t>-tuples of positive integers with product </a:t>
                </a:r>
                <a:r>
                  <a:rPr lang="en-IN" sz="2400">
                    <a:solidFill>
                      <a:srgbClr val="111827"/>
                    </a:solidFill>
                    <a:latin typeface="Cambria Math" panose="02040503050406030204" pitchFamily="18" charset="0"/>
                  </a:rPr>
                  <a:t>$N=\prod p_i^{a_i}$</a:t>
                </a:r>
                <a:r>
                  <a:rPr sz="2400" b="0">
                    <a:solidFill>
                      <a:srgbClr val="111827"/>
                    </a:solidFill>
                    <a:latin typeface="Arial"/>
                  </a:rPr>
                  <a:t>: </a:t>
                </a:r>
                <a:r>
                  <a:rPr lang="en-IN" sz="2400">
                    <a:solidFill>
                      <a:srgbClr val="111827"/>
                    </a:solidFill>
                    <a:latin typeface="Cambria Math" panose="02040503050406030204" pitchFamily="18" charset="0"/>
                  </a:rPr>
                  <a:t>$\prod_i\binom{a_i+k-1}{k-1}$</a:t>
                </a:r>
                <a:r>
                  <a:rPr sz="2400" b="0">
                    <a:solidFill>
                      <a:srgbClr val="111827"/>
                    </a:solidFill>
                    <a:latin typeface="Arial"/>
                  </a:rPr>
                  <a:t>. For </a:t>
                </a:r>
                <a:r>
                  <a:rPr lang="en-IN" sz="2400">
                    <a:solidFill>
                      <a:srgbClr val="111827"/>
                    </a:solidFill>
                    <a:latin typeface="Cambria Math" panose="02040503050406030204" pitchFamily="18" charset="0"/>
                  </a:rPr>
                  <a:t>$N=6,k=3$</a:t>
                </a:r>
                <a:r>
                  <a:rPr sz="2400" b="0">
                    <a:solidFill>
                      <a:srgbClr val="111827"/>
                    </a:solidFill>
                    <a:latin typeface="Arial"/>
                  </a:rPr>
                  <a:t>: </a:t>
                </a:r>
                <a:r>
                  <a:rPr lang="en-IN" sz="2400">
                    <a:solidFill>
                      <a:srgbClr val="111827"/>
                    </a:solidFill>
                    <a:latin typeface="Cambria Math" panose="02040503050406030204" pitchFamily="18" charset="0"/>
                  </a:rPr>
                  <a:t>$9$</a:t>
                </a:r>
                <a:r>
                  <a:rPr sz="2400" b="0">
                    <a:solidFill>
                      <a:srgbClr val="111827"/>
                    </a:solidFill>
                    <a:latin typeface="Arial"/>
                  </a:rPr>
                  <a:t>; for </a:t>
                </a:r>
                <a:r>
                  <a:rPr lang="en-IN" sz="2400">
                    <a:solidFill>
                      <a:srgbClr val="111827"/>
                    </a:solidFill>
                    <a:latin typeface="Cambria Math" panose="02040503050406030204" pitchFamily="18" charset="0"/>
                  </a:rPr>
                  <a:t>$N=4$</a:t>
                </a:r>
                <a:r>
                  <a:rPr sz="2400" b="0">
                    <a:solidFill>
                      <a:srgbClr val="111827"/>
                    </a:solidFill>
                    <a:latin typeface="Arial"/>
                  </a:rPr>
                  <a:t>: </a:t>
                </a:r>
                <a:r>
                  <a:rPr lang="en-IN" sz="2400">
                    <a:solidFill>
                      <a:srgbClr val="111827"/>
                    </a:solidFill>
                    <a:latin typeface="Cambria Math" panose="02040503050406030204" pitchFamily="18" charset="0"/>
                  </a:rPr>
                  <a:t>$6$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equally likely independent outcomes, probability </a:t>
                </a:r>
                <a:r>
                  <a:rPr lang="en-IN" sz="2400">
                    <a:solidFill>
                      <a:srgbClr val="111827"/>
                    </a:solidFill>
                    <a:latin typeface="Cambria Math" panose="02040503050406030204" pitchFamily="18" charset="0"/>
                  </a:rPr>
                  <a:t>$=\frac{\text{favourable ordered tuples}}{6^n}$</a:t>
                </a:r>
                <a:r>
                  <a:rPr sz="2400" b="0">
                    <a:solidFill>
                      <a:srgbClr val="111827"/>
                    </a:solidFill>
                    <a:latin typeface="Arial"/>
                  </a:rPr>
                  <a:t>; count ordered tuples, not multisets.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ordered triples of die faces with product at most </a:t>
                </a:r>
                <a:r>
                  <a:rPr lang="en-IN" sz="2400">
                    <a:solidFill>
                      <a:srgbClr val="111827"/>
                    </a:solidFill>
                    <a:latin typeface="Cambria Math" panose="02040503050406030204" pitchFamily="18" charset="0"/>
                  </a:rPr>
                  <a:t>$6$</a:t>
                </a:r>
                <a:r>
                  <a:rPr sz="2400" b="0">
                    <a:solidFill>
                      <a:srgbClr val="111827"/>
                    </a:solidFill>
                    <a:latin typeface="Arial"/>
                  </a:rPr>
                  <a:t> is </a:t>
                </a:r>
                <a:r>
                  <a:rPr lang="en-IN" sz="2400">
                    <a:solidFill>
                      <a:srgbClr val="111827"/>
                    </a:solidFill>
                    <a:latin typeface="Cambria Math" panose="02040503050406030204" pitchFamily="18" charset="0"/>
                  </a:rPr>
                  <a:t>$25$</a:t>
                </a:r>
                <a:r>
                  <a:rPr sz="2400" b="0">
                    <a:solidFill>
                      <a:srgbClr val="111827"/>
                    </a:solidFill>
                    <a:latin typeface="Arial"/>
                  </a:rPr>
                  <a:t>, so </a:t>
                </a:r>
                <a:r>
                  <a:rPr lang="en-IN" sz="2400">
                    <a:solidFill>
                      <a:srgbClr val="111827"/>
                    </a:solidFill>
                    <a:latin typeface="Cambria Math" panose="02040503050406030204" pitchFamily="18" charset="0"/>
                  </a:rPr>
                  <a:t>$P(abc=e)$</a:t>
                </a:r>
                <a:r>
                  <a:rPr sz="2400" b="0">
                    <a:solidFill>
                      <a:srgbClr val="111827"/>
                    </a:solidFill>
                    <a:latin typeface="Arial"/>
                  </a:rPr>
                  <a:t> for a fourth roll is </a:t>
                </a:r>
                <a:r>
                  <a:rPr lang="en-IN" sz="2400">
                    <a:solidFill>
                      <a:srgbClr val="111827"/>
                    </a:solidFill>
                    <a:latin typeface="Cambria Math" panose="02040503050406030204" pitchFamily="18" charset="0"/>
                  </a:rPr>
                  <a:t>$\frac{25}{1296}$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marks obtained by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students are grouped in a frequency table in class intervals of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marks each. The mean and variance obtained from this distribution are found to be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49</m:t>
                    </m:r>
                  </m:oMath>
                </a14:m>
                <a:r>
                  <a:rPr sz="2400" b="0">
                    <a:solidFill>
                      <a:srgbClr val="111827"/>
                    </a:solidFill>
                    <a:latin typeface="Arial"/>
                  </a:rPr>
                  <a:t> respectively. It was later discovered that the two observations belonging to class interval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nor/>
                      </m:rPr>
                      <a:rPr lang="en-IN" sz="2400" i="1">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were included in the class interval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r>
                      <m:rPr>
                        <m:nor/>
                      </m:rPr>
                      <a:rPr lang="en-IN" sz="2400" i="1">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by mistake. Then the mean after correcting the error is equal to ________.</a:t>
                </a:r>
                <a:endParaRPr sz="2400">
                  <a:solidFill>
                    <a:srgbClr val="111827"/>
                  </a:solidFill>
                </a:endParaRPr>
              </a:p>
            </p:txBody>
          </p:sp>
        </mc:Choice>
        <mc:Fallback>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marks obtained by </a:t>
                </a:r>
                <a:r>
                  <a:rPr lang="en-IN" sz="2400">
                    <a:solidFill>
                      <a:srgbClr val="111827"/>
                    </a:solidFill>
                    <a:latin typeface="Cambria Math" panose="02040503050406030204" pitchFamily="18" charset="0"/>
                  </a:rPr>
                  <a:t>$40$</a:t>
                </a:r>
                <a:r>
                  <a:rPr sz="2400" b="0">
                    <a:solidFill>
                      <a:srgbClr val="111827"/>
                    </a:solidFill>
                    <a:latin typeface="Arial"/>
                  </a:rPr>
                  <a:t> students are grouped in a frequency table in class intervals of </a:t>
                </a:r>
                <a:r>
                  <a:rPr lang="en-IN" sz="2400">
                    <a:solidFill>
                      <a:srgbClr val="111827"/>
                    </a:solidFill>
                    <a:latin typeface="Cambria Math" panose="02040503050406030204" pitchFamily="18" charset="0"/>
                  </a:rPr>
                  <a:t>$10$</a:t>
                </a:r>
                <a:r>
                  <a:rPr sz="2400" b="0">
                    <a:solidFill>
                      <a:srgbClr val="111827"/>
                    </a:solidFill>
                    <a:latin typeface="Arial"/>
                  </a:rPr>
                  <a:t> marks each. The mean and variance obtained from this distribution are found to be </a:t>
                </a:r>
                <a:r>
                  <a:rPr lang="en-IN" sz="2400">
                    <a:solidFill>
                      <a:srgbClr val="111827"/>
                    </a:solidFill>
                    <a:latin typeface="Cambria Math" panose="02040503050406030204" pitchFamily="18" charset="0"/>
                  </a:rPr>
                  <a:t>$40$</a:t>
                </a:r>
                <a:r>
                  <a:rPr sz="2400" b="0">
                    <a:solidFill>
                      <a:srgbClr val="111827"/>
                    </a:solidFill>
                    <a:latin typeface="Arial"/>
                  </a:rPr>
                  <a:t> and </a:t>
                </a:r>
                <a:r>
                  <a:rPr lang="en-IN" sz="2400">
                    <a:solidFill>
                      <a:srgbClr val="111827"/>
                    </a:solidFill>
                    <a:latin typeface="Cambria Math" panose="02040503050406030204" pitchFamily="18" charset="0"/>
                  </a:rPr>
                  <a:t>$49$</a:t>
                </a:r>
                <a:r>
                  <a:rPr sz="2400" b="0">
                    <a:solidFill>
                      <a:srgbClr val="111827"/>
                    </a:solidFill>
                    <a:latin typeface="Arial"/>
                  </a:rPr>
                  <a:t> respectively. It was later discovered that the two observations belonging to class interval </a:t>
                </a:r>
                <a:r>
                  <a:rPr lang="en-IN" sz="2400">
                    <a:solidFill>
                      <a:srgbClr val="111827"/>
                    </a:solidFill>
                    <a:latin typeface="Cambria Math" panose="02040503050406030204" pitchFamily="18" charset="0"/>
                  </a:rPr>
                  <a:t>$(21\text{-}30)$</a:t>
                </a:r>
                <a:r>
                  <a:rPr sz="2400" b="0">
                    <a:solidFill>
                      <a:srgbClr val="111827"/>
                    </a:solidFill>
                    <a:latin typeface="Arial"/>
                  </a:rPr>
                  <a:t> were included in the class interval </a:t>
                </a:r>
                <a:r>
                  <a:rPr lang="en-IN" sz="2400">
                    <a:solidFill>
                      <a:srgbClr val="111827"/>
                    </a:solidFill>
                    <a:latin typeface="Cambria Math" panose="02040503050406030204" pitchFamily="18" charset="0"/>
                  </a:rPr>
                  <a:t>$(31\text{-}40)$</a:t>
                </a:r>
                <a:r>
                  <a:rPr sz="2400" b="0">
                    <a:solidFill>
                      <a:srgbClr val="111827"/>
                    </a:solidFill>
                    <a:latin typeface="Arial"/>
                  </a:rPr>
                  <a:t> by mistake. Then the mean after correcting the error is equal to ________.</a:t>
                </a:r>
                <a:endParaRPr sz="2400">
                  <a:solidFill>
                    <a:srgbClr val="111827"/>
                  </a:solidFill>
                </a:endParaRPr>
              </a:p>
            </p:txBody>
          </p:sp>
        </mc:Fallback>
      </mc:AlternateContent>
      <p:sp>
        <p:nvSpPr>
          <p:cNvPr id="5" name="Rectangle 4"/>
          <p:cNvSpPr/>
          <p:nvPr/>
        </p:nvSpPr>
        <p:spPr>
          <a:xfrm>
            <a:off x="731520" y="4632452"/>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Mean of a grouped frequency distribution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misplaced observation was counted at a class mark </a:t>
                </a:r>
                <a14:m>
                  <m:oMath xmlns:m="http://schemas.openxmlformats.org/officeDocument/2006/math">
                    <m:r>
                      <a:rPr lang="en-IN" sz="2400" i="1">
                        <a:solidFill>
                          <a:srgbClr val="78350F"/>
                        </a:solidFill>
                        <a:latin typeface="Cambria Math" panose="02040503050406030204" pitchFamily="18" charset="0"/>
                      </a:rPr>
                      <m:t>10</m:t>
                    </m:r>
                  </m:oMath>
                </a14:m>
                <a:r>
                  <a:rPr sz="2400" b="0">
                    <a:solidFill>
                      <a:srgbClr val="78350F"/>
                    </a:solidFill>
                    <a:latin typeface="Arial"/>
                  </a:rPr>
                  <a:t> too high, so the sum drops by </a:t>
                </a:r>
                <a14:m>
                  <m:oMath xmlns:m="http://schemas.openxmlformats.org/officeDocument/2006/math">
                    <m:r>
                      <a:rPr lang="en-IN" sz="2400" i="1">
                        <a:solidFill>
                          <a:srgbClr val="78350F"/>
                        </a:solidFill>
                        <a:latin typeface="Cambria Math" panose="02040503050406030204" pitchFamily="18" charset="0"/>
                      </a:rPr>
                      <m:t>20</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Each misplaced observation was counted at a class mark </a:t>
                </a:r>
                <a:r>
                  <a:rPr lang="en-IN" sz="2400">
                    <a:solidFill>
                      <a:srgbClr val="78350F"/>
                    </a:solidFill>
                    <a:latin typeface="Cambria Math" panose="02040503050406030204" pitchFamily="18" charset="0"/>
                  </a:rPr>
                  <a:t>$10$</a:t>
                </a:r>
                <a:r>
                  <a:rPr sz="2400" b="0">
                    <a:solidFill>
                      <a:srgbClr val="78350F"/>
                    </a:solidFill>
                    <a:latin typeface="Arial"/>
                  </a:rPr>
                  <a:t> too high, so the sum drops by </a:t>
                </a:r>
                <a:r>
                  <a:rPr lang="en-IN" sz="2400">
                    <a:solidFill>
                      <a:srgbClr val="78350F"/>
                    </a:solidFill>
                    <a:latin typeface="Cambria Math" panose="02040503050406030204" pitchFamily="18" charset="0"/>
                  </a:rPr>
                  <a:t>$20$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grouped table each observation is represented by its class mark, so the original sum is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1600</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Consecutive class marks differ by the class width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(for example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21</m:t>
                    </m:r>
                    <m:r>
                      <m:rPr>
                        <m:nor/>
                      </m:rPr>
                      <a:rPr lang="en-IN" sz="2400" i="1">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35</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31</m:t>
                    </m:r>
                    <m:r>
                      <m:rPr>
                        <m:nor/>
                      </m:rPr>
                      <a:rPr lang="en-IN" sz="2400" i="1">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observations that belong to </a:t>
                </a:r>
                <a14:m>
                  <m:oMath xmlns:m="http://schemas.openxmlformats.org/officeDocument/2006/math">
                    <m:r>
                      <a:rPr lang="en-IN" sz="2400" i="1">
                        <a:solidFill>
                          <a:srgbClr val="111827"/>
                        </a:solidFill>
                        <a:latin typeface="Cambria Math" panose="02040503050406030204" pitchFamily="18" charset="0"/>
                      </a:rPr>
                      <m:t>21</m:t>
                    </m:r>
                    <m:r>
                      <m:rPr>
                        <m:nor/>
                      </m:rPr>
                      <a:rPr lang="en-IN" sz="2400" i="1">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were counted in </a:t>
                </a:r>
                <a14:m>
                  <m:oMath xmlns:m="http://schemas.openxmlformats.org/officeDocument/2006/math">
                    <m:r>
                      <a:rPr lang="en-IN" sz="2400" i="1">
                        <a:solidFill>
                          <a:srgbClr val="111827"/>
                        </a:solidFill>
                        <a:latin typeface="Cambria Math" panose="02040503050406030204" pitchFamily="18" charset="0"/>
                      </a:rPr>
                      <m:t>31</m:t>
                    </m:r>
                    <m:r>
                      <m:rPr>
                        <m:nor/>
                      </m:rPr>
                      <a:rPr lang="en-IN" sz="2400" i="1">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 so each was counted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too high.</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grouped table each observation is represented by its class mark, so the original sum is </a:t>
                </a:r>
                <a:r>
                  <a:rPr lang="en-IN" sz="2400">
                    <a:solidFill>
                      <a:srgbClr val="111827"/>
                    </a:solidFill>
                    <a:latin typeface="Cambria Math" panose="02040503050406030204" pitchFamily="18" charset="0"/>
                  </a:rPr>
                  <a:t>$\sum f_ix_i=40\times40=1600$</a:t>
                </a:r>
                <a:r>
                  <a:rPr sz="2400" b="0">
                    <a:solidFill>
                      <a:srgbClr val="111827"/>
                    </a:solidFill>
                    <a:latin typeface="Arial"/>
                  </a:rPr>
                  <a:t> with </a:t>
                </a:r>
                <a:r>
                  <a:rPr lang="en-IN" sz="2400">
                    <a:solidFill>
                      <a:srgbClr val="111827"/>
                    </a:solidFill>
                    <a:latin typeface="Cambria Math" panose="02040503050406030204" pitchFamily="18" charset="0"/>
                  </a:rPr>
                  <a:t>$N=40$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Consecutive class marks differ by the class width </a:t>
                </a:r>
                <a:r>
                  <a:rPr lang="en-IN" sz="2400">
                    <a:solidFill>
                      <a:srgbClr val="111827"/>
                    </a:solidFill>
                    <a:latin typeface="Cambria Math" panose="02040503050406030204" pitchFamily="18" charset="0"/>
                  </a:rPr>
                  <a:t>$10$</a:t>
                </a:r>
                <a:r>
                  <a:rPr sz="2400" b="0">
                    <a:solidFill>
                      <a:srgbClr val="111827"/>
                    </a:solidFill>
                    <a:latin typeface="Arial"/>
                  </a:rPr>
                  <a:t> (for example </a:t>
                </a:r>
                <a:r>
                  <a:rPr lang="en-IN" sz="2400">
                    <a:solidFill>
                      <a:srgbClr val="111827"/>
                    </a:solidFill>
                    <a:latin typeface="Cambria Math" panose="02040503050406030204" pitchFamily="18" charset="0"/>
                  </a:rPr>
                  <a:t>$25$</a:t>
                </a:r>
                <a:r>
                  <a:rPr sz="2400" b="0">
                    <a:solidFill>
                      <a:srgbClr val="111827"/>
                    </a:solidFill>
                    <a:latin typeface="Arial"/>
                  </a:rPr>
                  <a:t> for </a:t>
                </a:r>
                <a:r>
                  <a:rPr lang="en-IN" sz="2400">
                    <a:solidFill>
                      <a:srgbClr val="111827"/>
                    </a:solidFill>
                    <a:latin typeface="Cambria Math" panose="02040503050406030204" pitchFamily="18" charset="0"/>
                  </a:rPr>
                  <a:t>$21\text{-}30$</a:t>
                </a:r>
                <a:r>
                  <a:rPr sz="2400" b="0">
                    <a:solidFill>
                      <a:srgbClr val="111827"/>
                    </a:solidFill>
                    <a:latin typeface="Arial"/>
                  </a:rPr>
                  <a:t> and </a:t>
                </a:r>
                <a:r>
                  <a:rPr lang="en-IN" sz="2400">
                    <a:solidFill>
                      <a:srgbClr val="111827"/>
                    </a:solidFill>
                    <a:latin typeface="Cambria Math" panose="02040503050406030204" pitchFamily="18" charset="0"/>
                  </a:rPr>
                  <a:t>$35$</a:t>
                </a:r>
                <a:r>
                  <a:rPr sz="2400" b="0">
                    <a:solidFill>
                      <a:srgbClr val="111827"/>
                    </a:solidFill>
                    <a:latin typeface="Arial"/>
                  </a:rPr>
                  <a:t> for </a:t>
                </a:r>
                <a:r>
                  <a:rPr lang="en-IN" sz="2400">
                    <a:solidFill>
                      <a:srgbClr val="111827"/>
                    </a:solidFill>
                    <a:latin typeface="Cambria Math" panose="02040503050406030204" pitchFamily="18" charset="0"/>
                  </a:rPr>
                  <a:t>$31\text{-}40$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observations that belong to </a:t>
                </a:r>
                <a:r>
                  <a:rPr lang="en-IN" sz="2400">
                    <a:solidFill>
                      <a:srgbClr val="111827"/>
                    </a:solidFill>
                    <a:latin typeface="Cambria Math" panose="02040503050406030204" pitchFamily="18" charset="0"/>
                  </a:rPr>
                  <a:t>$21\text{-}30$</a:t>
                </a:r>
                <a:r>
                  <a:rPr sz="2400" b="0">
                    <a:solidFill>
                      <a:srgbClr val="111827"/>
                    </a:solidFill>
                    <a:latin typeface="Arial"/>
                  </a:rPr>
                  <a:t> were counted in </a:t>
                </a:r>
                <a:r>
                  <a:rPr lang="en-IN" sz="2400">
                    <a:solidFill>
                      <a:srgbClr val="111827"/>
                    </a:solidFill>
                    <a:latin typeface="Cambria Math" panose="02040503050406030204" pitchFamily="18" charset="0"/>
                  </a:rPr>
                  <a:t>$31\text{-}40$</a:t>
                </a:r>
                <a:r>
                  <a:rPr sz="2400" b="0">
                    <a:solidFill>
                      <a:srgbClr val="111827"/>
                    </a:solidFill>
                    <a:latin typeface="Arial"/>
                  </a:rPr>
                  <a:t>, so each was counted </a:t>
                </a:r>
                <a:r>
                  <a:rPr lang="en-IN" sz="2400">
                    <a:solidFill>
                      <a:srgbClr val="111827"/>
                    </a:solidFill>
                    <a:latin typeface="Cambria Math" panose="02040503050406030204" pitchFamily="18" charset="0"/>
                  </a:rPr>
                  <a:t>$10$</a:t>
                </a:r>
                <a:r>
                  <a:rPr sz="2400" b="0">
                    <a:solidFill>
                      <a:srgbClr val="111827"/>
                    </a:solidFill>
                    <a:latin typeface="Arial"/>
                  </a:rPr>
                  <a:t> too high.</a:t>
                </a:r>
                <a:endParaRPr sz="2400">
                  <a:solidFill>
                    <a:srgbClr val="111827"/>
                  </a:solidFill>
                </a:endParaRPr>
              </a:p>
            </p:txBody>
          </p:sp>
        </mc:Fallback>
      </mc:AlternateContent>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is overstated by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so the corrected sum is </a:t>
                </a:r>
                <a14:m>
                  <m:oMath xmlns:m="http://schemas.openxmlformats.org/officeDocument/2006/math">
                    <m:r>
                      <a:rPr lang="en-IN" sz="2400" i="1">
                        <a:solidFill>
                          <a:srgbClr val="111827"/>
                        </a:solidFill>
                        <a:latin typeface="Cambria Math" panose="02040503050406030204" pitchFamily="18" charset="0"/>
                      </a:rPr>
                      <m:t>1600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1580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is still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Corrected mean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1580</m:t>
                        </m:r>
                      </m:num>
                      <m:den>
                        <m:r>
                          <a:rPr lang="en-IN" sz="2400" i="1">
                            <a:solidFill>
                              <a:srgbClr val="111827"/>
                            </a:solidFill>
                            <a:latin typeface="Cambria Math" panose="02040503050406030204" pitchFamily="18" charset="0"/>
                          </a:rPr>
                          <m:t>40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variance </a:t>
                </a:r>
                <a14:m>
                  <m:oMath xmlns:m="http://schemas.openxmlformats.org/officeDocument/2006/math">
                    <m:r>
                      <a:rPr lang="en-IN" sz="2400" i="1">
                        <a:solidFill>
                          <a:srgbClr val="111827"/>
                        </a:solidFill>
                        <a:latin typeface="Cambria Math" panose="02040503050406030204" pitchFamily="18" charset="0"/>
                      </a:rPr>
                      <m:t>49</m:t>
                    </m:r>
                  </m:oMath>
                </a14:m>
                <a:r>
                  <a:rPr sz="2400" b="0">
                    <a:solidFill>
                      <a:srgbClr val="111827"/>
                    </a:solidFill>
                    <a:latin typeface="Arial"/>
                  </a:rPr>
                  <a:t> is not needed for the mean (it would be needed only to correct the variance).</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is overstated by </a:t>
                </a:r>
                <a:r>
                  <a:rPr lang="en-IN" sz="2400">
                    <a:solidFill>
                      <a:srgbClr val="111827"/>
                    </a:solidFill>
                    <a:latin typeface="Cambria Math" panose="02040503050406030204" pitchFamily="18" charset="0"/>
                  </a:rPr>
                  <a:t>$2\times10=20$</a:t>
                </a:r>
                <a:r>
                  <a:rPr sz="2400" b="0">
                    <a:solidFill>
                      <a:srgbClr val="111827"/>
                    </a:solidFill>
                    <a:latin typeface="Arial"/>
                  </a:rPr>
                  <a:t>, so the corrected sum is </a:t>
                </a:r>
                <a:r>
                  <a:rPr lang="en-IN" sz="2400">
                    <a:solidFill>
                      <a:srgbClr val="111827"/>
                    </a:solidFill>
                    <a:latin typeface="Cambria Math" panose="02040503050406030204" pitchFamily="18" charset="0"/>
                  </a:rPr>
                  <a:t>$1600-20=1580$</a:t>
                </a:r>
                <a:r>
                  <a:rPr sz="2400" b="0">
                    <a:solidFill>
                      <a:srgbClr val="111827"/>
                    </a:solidFill>
                    <a:latin typeface="Arial"/>
                  </a:rPr>
                  <a:t>; </a:t>
                </a:r>
                <a:r>
                  <a:rPr lang="en-IN" sz="2400">
                    <a:solidFill>
                      <a:srgbClr val="111827"/>
                    </a:solidFill>
                    <a:latin typeface="Cambria Math" panose="02040503050406030204" pitchFamily="18" charset="0"/>
                  </a:rPr>
                  <a:t>$N$</a:t>
                </a:r>
                <a:r>
                  <a:rPr sz="2400" b="0">
                    <a:solidFill>
                      <a:srgbClr val="111827"/>
                    </a:solidFill>
                    <a:latin typeface="Arial"/>
                  </a:rPr>
                  <a:t> is still </a:t>
                </a:r>
                <a:r>
                  <a:rPr lang="en-IN" sz="2400">
                    <a:solidFill>
                      <a:srgbClr val="111827"/>
                    </a:solidFill>
                    <a:latin typeface="Cambria Math" panose="02040503050406030204" pitchFamily="18" charset="0"/>
                  </a:rPr>
                  <a:t>$40$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Corrected mean </a:t>
                </a:r>
                <a:r>
                  <a:rPr lang="en-IN" sz="2400">
                    <a:solidFill>
                      <a:srgbClr val="111827"/>
                    </a:solidFill>
                    <a:latin typeface="Cambria Math" panose="02040503050406030204" pitchFamily="18" charset="0"/>
                  </a:rPr>
                  <a:t>$=\frac{1580}{40}=39.5$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variance </a:t>
                </a:r>
                <a:r>
                  <a:rPr lang="en-IN" sz="2400">
                    <a:solidFill>
                      <a:srgbClr val="111827"/>
                    </a:solidFill>
                    <a:latin typeface="Cambria Math" panose="02040503050406030204" pitchFamily="18" charset="0"/>
                  </a:rPr>
                  <a:t>$49$</a:t>
                </a:r>
                <a:r>
                  <a:rPr sz="2400" b="0">
                    <a:solidFill>
                      <a:srgbClr val="111827"/>
                    </a:solidFill>
                    <a:latin typeface="Arial"/>
                  </a:rPr>
                  <a:t> is not needed for the mean (it would be needed only to correct the variance).</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39.5</a:t>
            </a:r>
            <a:endParaRPr sz="2800">
              <a:solidFill>
                <a:srgbClr val="15803D"/>
              </a:solidFill>
            </a:endParaRP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69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Moving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observations down by one class of width </a:t>
                </a:r>
                <a14:m>
                  <m:oMath xmlns:m="http://schemas.openxmlformats.org/officeDocument/2006/math">
                    <m:r>
                      <a:rPr lang="en-IN" sz="2400" i="1">
                        <a:solidFill>
                          <a:srgbClr val="111827"/>
                        </a:solidFill>
                        <a:latin typeface="Cambria Math" panose="02040503050406030204" pitchFamily="18" charset="0"/>
                      </a:rPr>
                      <m:t>ℎ</m:t>
                    </m:r>
                  </m:oMath>
                </a14:m>
                <a:r>
                  <a:rPr sz="2400" b="0">
                    <a:solidFill>
                      <a:srgbClr val="111827"/>
                    </a:solidFill>
                    <a:latin typeface="Arial"/>
                  </a:rPr>
                  <a:t> changes the mean by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ℎ</m:t>
                        </m:r>
                      </m:num>
                      <m:den>
                        <m:r>
                          <a:rPr lang="en-IN" sz="2400" i="1">
                            <a:solidFill>
                              <a:srgbClr val="111827"/>
                            </a:solidFill>
                            <a:latin typeface="Cambria Math" panose="02040503050406030204" pitchFamily="18" charset="0"/>
                          </a:rPr>
                          <m:t>𝑁</m:t>
                        </m:r>
                      </m:den>
                    </m:f>
                  </m:oMath>
                </a14:m>
                <a:r>
                  <a:rPr sz="2400" b="0">
                    <a:solidFill>
                      <a:srgbClr val="111827"/>
                    </a:solidFill>
                    <a:latin typeface="Arial"/>
                  </a:rPr>
                  <a:t>; here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40</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correct the variance also, use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1600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65960</m:t>
                    </m:r>
                  </m:oMath>
                </a14:m>
                <a:r>
                  <a:rPr sz="2400" b="0">
                    <a:solidFill>
                      <a:srgbClr val="111827"/>
                    </a:solidFill>
                    <a:latin typeface="Arial"/>
                  </a:rPr>
                  <a:t>; moving two values from </a:t>
                </a:r>
                <a14:m>
                  <m:oMath xmlns:m="http://schemas.openxmlformats.org/officeDocument/2006/math">
                    <m:r>
                      <a:rPr lang="en-IN" sz="2400" i="1">
                        <a:solidFill>
                          <a:srgbClr val="111827"/>
                        </a:solidFill>
                        <a:latin typeface="Cambria Math" panose="02040503050406030204" pitchFamily="18" charset="0"/>
                      </a:rPr>
                      <m:t>35</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lowers it by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Corrected variance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64760</m:t>
                        </m:r>
                      </m:num>
                      <m:den>
                        <m:r>
                          <a:rPr lang="en-IN" sz="2400" i="1">
                            <a:solidFill>
                              <a:srgbClr val="111827"/>
                            </a:solidFill>
                            <a:latin typeface="Cambria Math" panose="02040503050406030204" pitchFamily="18" charset="0"/>
                          </a:rPr>
                          <m:t>40</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39.5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1619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1560.25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58.75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Moving </a:t>
                </a:r>
                <a:r>
                  <a:rPr lang="en-IN" sz="2400">
                    <a:solidFill>
                      <a:srgbClr val="111827"/>
                    </a:solidFill>
                    <a:latin typeface="Cambria Math" panose="02040503050406030204" pitchFamily="18" charset="0"/>
                  </a:rPr>
                  <a:t>$k$</a:t>
                </a:r>
                <a:r>
                  <a:rPr sz="2400" b="0">
                    <a:solidFill>
                      <a:srgbClr val="111827"/>
                    </a:solidFill>
                    <a:latin typeface="Arial"/>
                  </a:rPr>
                  <a:t> observations down by one class of width </a:t>
                </a:r>
                <a:r>
                  <a:rPr lang="en-IN" sz="2400">
                    <a:solidFill>
                      <a:srgbClr val="111827"/>
                    </a:solidFill>
                    <a:latin typeface="Cambria Math" panose="02040503050406030204" pitchFamily="18" charset="0"/>
                  </a:rPr>
                  <a:t>$h$</a:t>
                </a:r>
                <a:r>
                  <a:rPr sz="2400" b="0">
                    <a:solidFill>
                      <a:srgbClr val="111827"/>
                    </a:solidFill>
                    <a:latin typeface="Arial"/>
                  </a:rPr>
                  <a:t> changes the mean by </a:t>
                </a:r>
                <a:r>
                  <a:rPr lang="en-IN" sz="2400">
                    <a:solidFill>
                      <a:srgbClr val="111827"/>
                    </a:solidFill>
                    <a:latin typeface="Cambria Math" panose="02040503050406030204" pitchFamily="18" charset="0"/>
                  </a:rPr>
                  <a:t>$-\frac{kh}{N}$</a:t>
                </a:r>
                <a:r>
                  <a:rPr sz="2400" b="0">
                    <a:solidFill>
                      <a:srgbClr val="111827"/>
                    </a:solidFill>
                    <a:latin typeface="Arial"/>
                  </a:rPr>
                  <a:t>; here </a:t>
                </a:r>
                <a:r>
                  <a:rPr lang="en-IN" sz="2400">
                    <a:solidFill>
                      <a:srgbClr val="111827"/>
                    </a:solidFill>
                    <a:latin typeface="Cambria Math" panose="02040503050406030204" pitchFamily="18" charset="0"/>
                  </a:rPr>
                  <a:t>$-\frac{2\cdot10}{40}=-0.5$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 correct the variance also, use </a:t>
                </a:r>
                <a:r>
                  <a:rPr lang="en-IN" sz="2400">
                    <a:solidFill>
                      <a:srgbClr val="111827"/>
                    </a:solidFill>
                    <a:latin typeface="Cambria Math" panose="02040503050406030204" pitchFamily="18" charset="0"/>
                  </a:rPr>
                  <a:t>$\sum x^2=N(\sigma^2+\bar x^2)=40(49+1600)=65960$</a:t>
                </a:r>
                <a:r>
                  <a:rPr sz="2400" b="0">
                    <a:solidFill>
                      <a:srgbClr val="111827"/>
                    </a:solidFill>
                    <a:latin typeface="Arial"/>
                  </a:rPr>
                  <a:t>; moving two values from </a:t>
                </a:r>
                <a:r>
                  <a:rPr lang="en-IN" sz="2400">
                    <a:solidFill>
                      <a:srgbClr val="111827"/>
                    </a:solidFill>
                    <a:latin typeface="Cambria Math" panose="02040503050406030204" pitchFamily="18" charset="0"/>
                  </a:rPr>
                  <a:t>$35$</a:t>
                </a:r>
                <a:r>
                  <a:rPr sz="2400" b="0">
                    <a:solidFill>
                      <a:srgbClr val="111827"/>
                    </a:solidFill>
                    <a:latin typeface="Arial"/>
                  </a:rPr>
                  <a:t> to </a:t>
                </a:r>
                <a:r>
                  <a:rPr lang="en-IN" sz="2400">
                    <a:solidFill>
                      <a:srgbClr val="111827"/>
                    </a:solidFill>
                    <a:latin typeface="Cambria Math" panose="02040503050406030204" pitchFamily="18" charset="0"/>
                  </a:rPr>
                  <a:t>$25$</a:t>
                </a:r>
                <a:r>
                  <a:rPr sz="2400" b="0">
                    <a:solidFill>
                      <a:srgbClr val="111827"/>
                    </a:solidFill>
                    <a:latin typeface="Arial"/>
                  </a:rPr>
                  <a:t> lowers it by </a:t>
                </a:r>
                <a:r>
                  <a:rPr lang="en-IN" sz="2400">
                    <a:solidFill>
                      <a:srgbClr val="111827"/>
                    </a:solidFill>
                    <a:latin typeface="Cambria Math" panose="02040503050406030204" pitchFamily="18" charset="0"/>
                  </a:rPr>
                  <a:t>$2(35^2-25^2)=1200$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Corrected variance </a:t>
                </a:r>
                <a:r>
                  <a:rPr lang="en-IN" sz="2400">
                    <a:solidFill>
                      <a:srgbClr val="111827"/>
                    </a:solidFill>
                    <a:latin typeface="Cambria Math" panose="02040503050406030204" pitchFamily="18" charset="0"/>
                  </a:rPr>
                  <a:t>$=\frac{64760}{40}-39.5^2=1619-1560.25=58.75$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20</m:t>
                        </m:r>
                      </m:sub>
                    </m:sSub>
                  </m:oMath>
                </a14:m>
                <a:r>
                  <a:rPr sz="2400" b="0">
                    <a:solidFill>
                      <a:srgbClr val="111827"/>
                    </a:solidFill>
                    <a:latin typeface="Arial"/>
                  </a:rPr>
                  <a:t> be in geometric progression with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 new data set is constructed by replacing each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by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If </a:t>
                </a:r>
                <a14:m>
                  <m:oMath xmlns:m="http://schemas.openxmlformats.org/officeDocument/2006/math">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𝑥</m:t>
                        </m:r>
                      </m:e>
                    </m:bar>
                  </m:oMath>
                </a14:m>
                <a:r>
                  <a:rPr sz="2400" b="0">
                    <a:solidFill>
                      <a:srgbClr val="111827"/>
                    </a:solidFill>
                    <a:latin typeface="Arial"/>
                  </a:rPr>
                  <a:t> denotes the mean of the new data, then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max</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Z</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𝑥</m:t>
                        </m:r>
                      </m:e>
                    </m:ba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$x_1,x_2,x_3,\dots,x_{20}$</a:t>
                </a:r>
                <a:r>
                  <a:rPr sz="2400" b="0">
                    <a:solidFill>
                      <a:srgbClr val="111827"/>
                    </a:solidFill>
                    <a:latin typeface="Arial"/>
                  </a:rPr>
                  <a:t> be in geometric progression with </a:t>
                </a:r>
                <a:r>
                  <a:rPr lang="en-IN" sz="2400">
                    <a:solidFill>
                      <a:srgbClr val="111827"/>
                    </a:solidFill>
                    <a:latin typeface="Cambria Math" panose="02040503050406030204" pitchFamily="18" charset="0"/>
                  </a:rPr>
                  <a:t>$x_3=\frac34$</a:t>
                </a:r>
                <a:r>
                  <a:rPr sz="2400" b="0">
                    <a:solidFill>
                      <a:srgbClr val="111827"/>
                    </a:solidFill>
                    <a:latin typeface="Arial"/>
                  </a:rPr>
                  <a:t> and </a:t>
                </a:r>
                <a:r>
                  <a:rPr lang="en-IN" sz="2400">
                    <a:solidFill>
                      <a:srgbClr val="111827"/>
                    </a:solidFill>
                    <a:latin typeface="Cambria Math" panose="02040503050406030204" pitchFamily="18" charset="0"/>
                  </a:rPr>
                  <a:t>$x_1=3$</a:t>
                </a:r>
                <a:r>
                  <a:rPr sz="2400" b="0">
                    <a:solidFill>
                      <a:srgbClr val="111827"/>
                    </a:solidFill>
                    <a:latin typeface="Arial"/>
                  </a:rPr>
                  <a:t>. A new data set is constructed by replacing each </a:t>
                </a:r>
                <a:r>
                  <a:rPr lang="en-IN" sz="2400">
                    <a:solidFill>
                      <a:srgbClr val="111827"/>
                    </a:solidFill>
                    <a:latin typeface="Cambria Math" panose="02040503050406030204" pitchFamily="18" charset="0"/>
                  </a:rPr>
                  <a:t>$x_i$</a:t>
                </a:r>
                <a:r>
                  <a:rPr sz="2400" b="0">
                    <a:solidFill>
                      <a:srgbClr val="111827"/>
                    </a:solidFill>
                    <a:latin typeface="Arial"/>
                  </a:rPr>
                  <a:t> by </a:t>
                </a:r>
                <a:r>
                  <a:rPr lang="en-IN" sz="2400">
                    <a:solidFill>
                      <a:srgbClr val="111827"/>
                    </a:solidFill>
                    <a:latin typeface="Cambria Math" panose="02040503050406030204" pitchFamily="18" charset="0"/>
                  </a:rPr>
                  <a:t>$(x_i-i)^2$</a:t>
                </a:r>
                <a:r>
                  <a:rPr sz="2400" b="0">
                    <a:solidFill>
                      <a:srgbClr val="111827"/>
                    </a:solidFill>
                    <a:latin typeface="Arial"/>
                  </a:rPr>
                  <a:t>. If </a:t>
                </a:r>
                <a:r>
                  <a:rPr lang="en-IN" sz="2400">
                    <a:solidFill>
                      <a:srgbClr val="111827"/>
                    </a:solidFill>
                    <a:latin typeface="Cambria Math" panose="02040503050406030204" pitchFamily="18" charset="0"/>
                  </a:rPr>
                  <a:t>$\overline{x}$</a:t>
                </a:r>
                <a:r>
                  <a:rPr sz="2400" b="0">
                    <a:solidFill>
                      <a:srgbClr val="111827"/>
                    </a:solidFill>
                    <a:latin typeface="Arial"/>
                  </a:rPr>
                  <a:t> denotes the mean of the new data, then </a:t>
                </a:r>
                <a:r>
                  <a:rPr lang="en-IN" sz="2400">
                    <a:solidFill>
                      <a:srgbClr val="111827"/>
                    </a:solidFill>
                    <a:latin typeface="Cambria Math" panose="02040503050406030204" pitchFamily="18" charset="0"/>
                  </a:rPr>
                  <a:t>$\lambda=\max\{a\in\mathbb{Z}: a\le\overline{x}\}$</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998467"/>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Geometric progression and arithmetico-geometric sums, Mean of a data set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use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 </m:t>
                    </m:r>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oMath>
                </a14:m>
                <a:r>
                  <a:rPr sz="2400" b="0">
                    <a:solidFill>
                      <a:srgbClr val="78350F"/>
                    </a:solidFill>
                    <a:latin typeface="Arial"/>
                  </a:rPr>
                  <a:t> for the cross term; only the integer part is needed.</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a:t>
                </a:r>
                <a:r>
                  <a:rPr lang="en-IN" sz="2400">
                    <a:solidFill>
                      <a:srgbClr val="78350F"/>
                    </a:solidFill>
                    <a:latin typeface="Cambria Math" panose="02040503050406030204" pitchFamily="18" charset="0"/>
                  </a:rPr>
                  <a:t>$(x_i-i)^2$</a:t>
                </a:r>
                <a:r>
                  <a:rPr sz="2400" b="0">
                    <a:solidFill>
                      <a:srgbClr val="78350F"/>
                    </a:solidFill>
                    <a:latin typeface="Arial"/>
                  </a:rPr>
                  <a:t> and use </a:t>
                </a:r>
                <a:r>
                  <a:rPr lang="en-IN" sz="2400">
                    <a:solidFill>
                      <a:srgbClr val="78350F"/>
                    </a:solidFill>
                    <a:latin typeface="Cambria Math" panose="02040503050406030204" pitchFamily="18" charset="0"/>
                  </a:rPr>
                  <a:t>$\sum i\,r^{i-1}$</a:t>
                </a:r>
                <a:r>
                  <a:rPr sz="2400" b="0">
                    <a:solidFill>
                      <a:srgbClr val="78350F"/>
                    </a:solidFill>
                    <a:latin typeface="Arial"/>
                  </a:rPr>
                  <a:t> for the cross term; only the integer part is needed.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intended ratio is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same method gives </a:t>
                </a:r>
                <a14:m>
                  <m:oMath xmlns:m="http://schemas.openxmlformats.org/officeDocument/2006/math">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𝑥</m:t>
                        </m:r>
                      </m:e>
                    </m:ba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143.97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the index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(if it were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 the mean would be complex and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meaningless).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𝑥</m:t>
                        </m:r>
                      </m:e>
                    </m:ba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m:t>
                        </m:r>
                      </m:den>
                    </m:f>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20</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m:t>
                        </m:r>
                      </m:den>
                    </m:f>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$x_3=x_1r^2$</a:t>
                </a:r>
                <a:r>
                  <a:rPr sz="2400" b="0">
                    <a:solidFill>
                      <a:srgbClr val="111827"/>
                    </a:solidFill>
                    <a:latin typeface="Arial"/>
                  </a:rPr>
                  <a:t> gives </a:t>
                </a:r>
                <a:r>
                  <a:rPr lang="en-IN" sz="2400">
                    <a:solidFill>
                      <a:srgbClr val="111827"/>
                    </a:solidFill>
                    <a:latin typeface="Cambria Math" panose="02040503050406030204" pitchFamily="18" charset="0"/>
                  </a:rPr>
                  <a:t>$\frac34=3r^2$</a:t>
                </a:r>
                <a:r>
                  <a:rPr sz="2400" b="0">
                    <a:solidFill>
                      <a:srgbClr val="111827"/>
                    </a:solidFill>
                    <a:latin typeface="Arial"/>
                  </a:rPr>
                  <a:t>, so </a:t>
                </a:r>
                <a:r>
                  <a:rPr lang="en-IN" sz="2400">
                    <a:solidFill>
                      <a:srgbClr val="111827"/>
                    </a:solidFill>
                    <a:latin typeface="Cambria Math" panose="02040503050406030204" pitchFamily="18" charset="0"/>
                  </a:rPr>
                  <a:t>$r^2=\frac14$</a:t>
                </a:r>
                <a:r>
                  <a:rPr sz="2400" b="0">
                    <a:solidFill>
                      <a:srgbClr val="111827"/>
                    </a:solidFill>
                    <a:latin typeface="Arial"/>
                  </a:rPr>
                  <a:t>. The intended ratio is </a:t>
                </a:r>
                <a:r>
                  <a:rPr lang="en-IN" sz="2400">
                    <a:solidFill>
                      <a:srgbClr val="111827"/>
                    </a:solidFill>
                    <a:latin typeface="Cambria Math" panose="02040503050406030204" pitchFamily="18" charset="0"/>
                  </a:rPr>
                  <a:t>$r=\frac12$</a:t>
                </a:r>
                <a:r>
                  <a:rPr sz="2400" b="0">
                    <a:solidFill>
                      <a:srgbClr val="111827"/>
                    </a:solidFill>
                    <a:latin typeface="Arial"/>
                  </a:rPr>
                  <a:t>, so </a:t>
                </a:r>
                <a:r>
                  <a:rPr lang="en-IN" sz="2400">
                    <a:solidFill>
                      <a:srgbClr val="111827"/>
                    </a:solidFill>
                    <a:latin typeface="Cambria Math" panose="02040503050406030204" pitchFamily="18" charset="0"/>
                  </a:rPr>
                  <a:t>$x_i=3\cdot2^{-(i-1)}$</a:t>
                </a:r>
                <a:r>
                  <a:rPr sz="2400" b="0">
                    <a:solidFill>
                      <a:srgbClr val="111827"/>
                    </a:solidFill>
                    <a:latin typeface="Arial"/>
                  </a:rPr>
                  <a:t> (if </a:t>
                </a:r>
                <a:r>
                  <a:rPr lang="en-IN" sz="2400">
                    <a:solidFill>
                      <a:srgbClr val="111827"/>
                    </a:solidFill>
                    <a:latin typeface="Cambria Math" panose="02040503050406030204" pitchFamily="18" charset="0"/>
                  </a:rPr>
                  <a:t>$r=-\frac12$</a:t>
                </a:r>
                <a:r>
                  <a:rPr sz="2400" b="0">
                    <a:solidFill>
                      <a:srgbClr val="111827"/>
                    </a:solidFill>
                    <a:latin typeface="Arial"/>
                  </a:rPr>
                  <a:t> the same method gives </a:t>
                </a:r>
                <a:r>
                  <a:rPr lang="en-IN" sz="2400">
                    <a:solidFill>
                      <a:srgbClr val="111827"/>
                    </a:solidFill>
                    <a:latin typeface="Cambria Math" panose="02040503050406030204" pitchFamily="18" charset="0"/>
                  </a:rPr>
                  <a:t>$\overline{x}\approx143.97$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$i$</a:t>
                </a:r>
                <a:r>
                  <a:rPr sz="2400" b="0">
                    <a:solidFill>
                      <a:srgbClr val="111827"/>
                    </a:solidFill>
                    <a:latin typeface="Arial"/>
                  </a:rPr>
                  <a:t> in </a:t>
                </a:r>
                <a:r>
                  <a:rPr lang="en-IN" sz="2400">
                    <a:solidFill>
                      <a:srgbClr val="111827"/>
                    </a:solidFill>
                    <a:latin typeface="Cambria Math" panose="02040503050406030204" pitchFamily="18" charset="0"/>
                  </a:rPr>
                  <a:t>$(x_i-i)^2$</a:t>
                </a:r>
                <a:r>
                  <a:rPr sz="2400" b="0">
                    <a:solidFill>
                      <a:srgbClr val="111827"/>
                    </a:solidFill>
                    <a:latin typeface="Arial"/>
                  </a:rPr>
                  <a:t> is the index </a:t>
                </a:r>
                <a:r>
                  <a:rPr lang="en-IN" sz="2400">
                    <a:solidFill>
                      <a:srgbClr val="111827"/>
                    </a:solidFill>
                    <a:latin typeface="Cambria Math" panose="02040503050406030204" pitchFamily="18" charset="0"/>
                  </a:rPr>
                  <a:t>$1,\dots,20$</a:t>
                </a:r>
                <a:r>
                  <a:rPr sz="2400" b="0">
                    <a:solidFill>
                      <a:srgbClr val="111827"/>
                    </a:solidFill>
                    <a:latin typeface="Arial"/>
                  </a:rPr>
                  <a:t> (if it were </a:t>
                </a:r>
                <a:r>
                  <a:rPr lang="en-IN" sz="2400">
                    <a:solidFill>
                      <a:srgbClr val="111827"/>
                    </a:solidFill>
                    <a:latin typeface="Cambria Math" panose="02040503050406030204" pitchFamily="18" charset="0"/>
                  </a:rPr>
                  <a:t>$\sqrt{-1}$</a:t>
                </a:r>
                <a:r>
                  <a:rPr sz="2400" b="0">
                    <a:solidFill>
                      <a:srgbClr val="111827"/>
                    </a:solidFill>
                    <a:latin typeface="Arial"/>
                  </a:rPr>
                  <a:t> the mean would be complex and </a:t>
                </a:r>
                <a:r>
                  <a:rPr lang="en-IN" sz="2400">
                    <a:solidFill>
                      <a:srgbClr val="111827"/>
                    </a:solidFill>
                    <a:latin typeface="Cambria Math" panose="02040503050406030204" pitchFamily="18" charset="0"/>
                  </a:rPr>
                  <a:t>$\lambda$</a:t>
                </a:r>
                <a:r>
                  <a:rPr sz="2400" b="0">
                    <a:solidFill>
                      <a:srgbClr val="111827"/>
                    </a:solidFill>
                    <a:latin typeface="Arial"/>
                  </a:rPr>
                  <a:t> meaningless).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$\overline{x}=\frac{1}{20}\sum_{i=1}^{20}(x_i-i)^2=\frac{1}{20}\left[\sum x_i^2-2\sum i\,x_i+\sum i^2\right]$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19</m:t>
                        </m:r>
                      </m:sup>
                      <m:e>
                        <m:sSup>
                          <m:e>
                            <m:r>
                              <a:rPr lang="en-IN" sz="2400" i="1">
                                <a:solidFill>
                                  <a:srgbClr val="111827"/>
                                </a:solidFill>
                                <a:latin typeface="Cambria Math" panose="02040503050406030204" pitchFamily="18" charset="0"/>
                              </a:rPr>
                              <m:t>4</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sup>
                        </m:sSup>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𝑆</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20</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𝑖</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en>
                        </m:f>
                      </m:e>
                    </m:nary>
                  </m:oMath>
                </a14:m>
                <a:r>
                  <a:rPr sz="2400" b="0">
                    <a:solidFill>
                      <a:srgbClr val="111827"/>
                    </a:solidFill>
                    <a:latin typeface="Arial"/>
                  </a:rPr>
                  <a:t>. Multiplying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subtracting gives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20</m:t>
                        </m:r>
                      </m:sup>
                      <m:e>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2870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𝑥</m:t>
                        </m:r>
                      </m:e>
                    </m:ba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20</m:t>
                        </m:r>
                      </m:den>
                    </m:f>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132</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2870</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2858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ε</m:t>
                        </m:r>
                      </m:num>
                      <m:den>
                        <m:r>
                          <a:rPr lang="en-IN" sz="2400" i="1">
                            <a:solidFill>
                              <a:srgbClr val="111827"/>
                            </a:solidFill>
                            <a:latin typeface="Cambria Math" panose="02040503050406030204" pitchFamily="18" charset="0"/>
                          </a:rPr>
                          <m:t>20</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132</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20</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0.00025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𝑥</m:t>
                        </m:r>
                      </m:e>
                    </m:ba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142.9000126</m:t>
                    </m:r>
                  </m:oMath>
                </a14:m>
                <a:r>
                  <a:rPr sz="2400" b="0">
                    <a:solidFill>
                      <a:srgbClr val="111827"/>
                    </a:solidFill>
                    <a:latin typeface="Arial"/>
                  </a:rPr>
                  <a:t>, which lies between </a:t>
                </a:r>
                <a14:m>
                  <m:oMath xmlns:m="http://schemas.openxmlformats.org/officeDocument/2006/math">
                    <m:r>
                      <a:rPr lang="en-IN" sz="2400" i="1">
                        <a:solidFill>
                          <a:srgbClr val="111827"/>
                        </a:solidFill>
                        <a:latin typeface="Cambria Math" panose="02040503050406030204" pitchFamily="18" charset="0"/>
                      </a:rPr>
                      <m:t>142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143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 x_i^2=9\sum_{k=0}^{19}4^{-k}=9\cdot\frac{1-4^{-20}}{3/4}=12\left(1-4^{-20}\right)$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 i\,x_i=3S$</a:t>
                </a:r>
                <a:r>
                  <a:rPr sz="2400" b="0">
                    <a:solidFill>
                      <a:srgbClr val="111827"/>
                    </a:solidFill>
                    <a:latin typeface="Arial"/>
                  </a:rPr>
                  <a:t> with </a:t>
                </a:r>
                <a:r>
                  <a:rPr lang="en-IN" sz="2400">
                    <a:solidFill>
                      <a:srgbClr val="111827"/>
                    </a:solidFill>
                    <a:latin typeface="Cambria Math" panose="02040503050406030204" pitchFamily="18" charset="0"/>
                  </a:rPr>
                  <a:t>$S=\sum_{i=1}^{20}\frac{i}{2^{i-1}}$</a:t>
                </a:r>
                <a:r>
                  <a:rPr sz="2400" b="0">
                    <a:solidFill>
                      <a:srgbClr val="111827"/>
                    </a:solidFill>
                    <a:latin typeface="Arial"/>
                  </a:rPr>
                  <a:t>. Multiplying </a:t>
                </a:r>
                <a:r>
                  <a:rPr lang="en-IN" sz="2400">
                    <a:solidFill>
                      <a:srgbClr val="111827"/>
                    </a:solidFill>
                    <a:latin typeface="Cambria Math" panose="02040503050406030204" pitchFamily="18" charset="0"/>
                  </a:rPr>
                  <a:t>$S$</a:t>
                </a:r>
                <a:r>
                  <a:rPr sz="2400" b="0">
                    <a:solidFill>
                      <a:srgbClr val="111827"/>
                    </a:solidFill>
                    <a:latin typeface="Arial"/>
                  </a:rPr>
                  <a:t> by </a:t>
                </a:r>
                <a:r>
                  <a:rPr lang="en-IN" sz="2400">
                    <a:solidFill>
                      <a:srgbClr val="111827"/>
                    </a:solidFill>
                    <a:latin typeface="Cambria Math" panose="02040503050406030204" pitchFamily="18" charset="0"/>
                  </a:rPr>
                  <a:t>$\frac12$</a:t>
                </a:r>
                <a:r>
                  <a:rPr sz="2400" b="0">
                    <a:solidFill>
                      <a:srgbClr val="111827"/>
                    </a:solidFill>
                    <a:latin typeface="Arial"/>
                  </a:rPr>
                  <a:t> and subtracting gives </a:t>
                </a:r>
                <a:r>
                  <a:rPr lang="en-IN" sz="2400">
                    <a:solidFill>
                      <a:srgbClr val="111827"/>
                    </a:solidFill>
                    <a:latin typeface="Cambria Math" panose="02040503050406030204" pitchFamily="18" charset="0"/>
                  </a:rPr>
                  <a:t>$S=4-\frac{22}{2^{19}}$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$\sum_{i=1}^{20}i^2=\frac{20\cdot21\cdot41}{6}=2870$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$\overline{x}=\frac{1}{20}\left[12-12\cdot4^{-20}-24+\frac{132}{2^{19}}+2870\right]=\frac{2858+\varepsilon}{20}$</a:t>
                </a:r>
                <a:r>
                  <a:rPr sz="2400" b="0">
                    <a:solidFill>
                      <a:srgbClr val="111827"/>
                    </a:solidFill>
                    <a:latin typeface="Arial"/>
                  </a:rPr>
                  <a:t>, with </a:t>
                </a:r>
                <a:r>
                  <a:rPr lang="en-IN" sz="2400">
                    <a:solidFill>
                      <a:srgbClr val="111827"/>
                    </a:solidFill>
                    <a:latin typeface="Cambria Math" panose="02040503050406030204" pitchFamily="18" charset="0"/>
                  </a:rPr>
                  <a:t>$\varepsilon=\frac{132}{2^{19}}-\frac{12}{4^{20}}\approx0.00025$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$\overline{x}\approx142.9000126$</a:t>
                </a:r>
                <a:r>
                  <a:rPr sz="2400" b="0">
                    <a:solidFill>
                      <a:srgbClr val="111827"/>
                    </a:solidFill>
                    <a:latin typeface="Arial"/>
                  </a:rPr>
                  <a:t>, which lies between </a:t>
                </a:r>
                <a:r>
                  <a:rPr lang="en-IN" sz="2400">
                    <a:solidFill>
                      <a:srgbClr val="111827"/>
                    </a:solidFill>
                    <a:latin typeface="Cambria Math" panose="02040503050406030204" pitchFamily="18" charset="0"/>
                  </a:rPr>
                  <a:t>$142$</a:t>
                </a:r>
                <a:r>
                  <a:rPr sz="2400" b="0">
                    <a:solidFill>
                      <a:srgbClr val="111827"/>
                    </a:solidFill>
                    <a:latin typeface="Arial"/>
                  </a:rPr>
                  <a:t> and </a:t>
                </a:r>
                <a:r>
                  <a:rPr lang="en-IN" sz="2400">
                    <a:solidFill>
                      <a:srgbClr val="111827"/>
                    </a:solidFill>
                    <a:latin typeface="Cambria Math" panose="02040503050406030204" pitchFamily="18" charset="0"/>
                  </a:rPr>
                  <a:t>$143$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$\lambda=142$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142</a:t>
            </a:r>
            <a:endParaRPr sz="2800">
              <a:solidFill>
                <a:srgbClr val="15803D"/>
              </a:solidFill>
            </a:endParaRPr>
          </a:p>
        </p:txBody>
      </p:sp>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𝑛</m:t>
                        </m:r>
                      </m:sup>
                      <m:e>
                        <m:r>
                          <a:rPr lang="en-IN" sz="2400" i="1">
                            <a:solidFill>
                              <a:srgbClr val="111827"/>
                            </a:solidFill>
                            <a:latin typeface="Cambria Math" panose="02040503050406030204" pitchFamily="18" charset="0"/>
                          </a:rPr>
                          <m:t>𝑖</m:t>
                        </m:r>
                      </m:e>
                    </m:nary>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(arithmetico-geometric sum); for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it equals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22</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19</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Mean of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𝑖</m:t>
                        </m:r>
                      </m:sub>
                    </m:sSub>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equals mean of </a:t>
                </a:r>
                <a14:m>
                  <m:oMath xmlns:m="http://schemas.openxmlformats.org/officeDocument/2006/math">
                    <m:sSubSup>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minus twice the mean of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sSub>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plus mean of </a:t>
                </a:r>
                <a14:m>
                  <m:oMath xmlns:m="http://schemas.openxmlformats.org/officeDocument/2006/math">
                    <m:sSubSup>
                      <m:e>
                        <m:r>
                          <a:rPr lang="en-IN" sz="2400" i="1">
                            <a:solidFill>
                              <a:srgbClr val="111827"/>
                            </a:solidFill>
                            <a:latin typeface="Cambria Math" panose="02040503050406030204" pitchFamily="18" charset="0"/>
                          </a:rPr>
                          <m:t>𝑐</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only a floor is asked, evaluate the infinite-series limit and check that the truncation error is too small to cross an integer.</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$\sum_{i=1}^{n}i\,r^{i-1}=\frac{1-(n+1)r^n+nr^{n+1}}{(1-r)^2}$</a:t>
                </a:r>
                <a:r>
                  <a:rPr sz="2400" b="0">
                    <a:solidFill>
                      <a:srgbClr val="111827"/>
                    </a:solidFill>
                    <a:latin typeface="Arial"/>
                  </a:rPr>
                  <a:t> (arithmetico-geometric sum); for </a:t>
                </a:r>
                <a:r>
                  <a:rPr lang="en-IN" sz="2400">
                    <a:solidFill>
                      <a:srgbClr val="111827"/>
                    </a:solidFill>
                    <a:latin typeface="Cambria Math" panose="02040503050406030204" pitchFamily="18" charset="0"/>
                  </a:rPr>
                  <a:t>$r=\frac12,n=20$</a:t>
                </a:r>
                <a:r>
                  <a:rPr sz="2400" b="0">
                    <a:solidFill>
                      <a:srgbClr val="111827"/>
                    </a:solidFill>
                    <a:latin typeface="Arial"/>
                  </a:rPr>
                  <a:t> it equals </a:t>
                </a:r>
                <a:r>
                  <a:rPr lang="en-IN" sz="2400">
                    <a:solidFill>
                      <a:srgbClr val="111827"/>
                    </a:solidFill>
                    <a:latin typeface="Cambria Math" panose="02040503050406030204" pitchFamily="18" charset="0"/>
                  </a:rPr>
                  <a:t>$4-\frac{22}{2^{19}}$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Mean of </a:t>
                </a:r>
                <a:r>
                  <a:rPr lang="en-IN" sz="2400">
                    <a:solidFill>
                      <a:srgbClr val="111827"/>
                    </a:solidFill>
                    <a:latin typeface="Cambria Math" panose="02040503050406030204" pitchFamily="18" charset="0"/>
                  </a:rPr>
                  <a:t>$(x_i-c_i)^2$</a:t>
                </a:r>
                <a:r>
                  <a:rPr sz="2400" b="0">
                    <a:solidFill>
                      <a:srgbClr val="111827"/>
                    </a:solidFill>
                    <a:latin typeface="Arial"/>
                  </a:rPr>
                  <a:t> equals mean of </a:t>
                </a:r>
                <a:r>
                  <a:rPr lang="en-IN" sz="2400">
                    <a:solidFill>
                      <a:srgbClr val="111827"/>
                    </a:solidFill>
                    <a:latin typeface="Cambria Math" panose="02040503050406030204" pitchFamily="18" charset="0"/>
                  </a:rPr>
                  <a:t>$x_i^2$</a:t>
                </a:r>
                <a:r>
                  <a:rPr sz="2400" b="0">
                    <a:solidFill>
                      <a:srgbClr val="111827"/>
                    </a:solidFill>
                    <a:latin typeface="Arial"/>
                  </a:rPr>
                  <a:t> minus twice the mean of </a:t>
                </a:r>
                <a:r>
                  <a:rPr lang="en-IN" sz="2400">
                    <a:solidFill>
                      <a:srgbClr val="111827"/>
                    </a:solidFill>
                    <a:latin typeface="Cambria Math" panose="02040503050406030204" pitchFamily="18" charset="0"/>
                  </a:rPr>
                  <a:t>$x_ic_i$</a:t>
                </a:r>
                <a:r>
                  <a:rPr sz="2400" b="0">
                    <a:solidFill>
                      <a:srgbClr val="111827"/>
                    </a:solidFill>
                    <a:latin typeface="Arial"/>
                  </a:rPr>
                  <a:t> plus mean of </a:t>
                </a:r>
                <a:r>
                  <a:rPr lang="en-IN" sz="2400">
                    <a:solidFill>
                      <a:srgbClr val="111827"/>
                    </a:solidFill>
                    <a:latin typeface="Cambria Math" panose="02040503050406030204" pitchFamily="18" charset="0"/>
                  </a:rPr>
                  <a:t>$c_i^2$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When only a floor is asked, evaluate the infinite-series limit and check that the truncation error is too small to cross an integer.</a:t>
                </a:r>
                <a:endParaRPr sz="2400">
                  <a:solidFill>
                    <a:srgbClr val="111827"/>
                  </a:solidFill>
                </a:endParaRPr>
              </a:p>
            </p:txBody>
          </p:sp>
        </mc:Fallback>
      </mc:AlternateContent>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real. There exists a complex number </a:t>
                </a:r>
                <a14:m>
                  <m:oMath xmlns:m="http://schemas.openxmlformats.org/officeDocument/2006/math">
                    <m:r>
                      <a:rPr lang="en-IN" sz="2400" i="1">
                        <a:solidFill>
                          <a:srgbClr val="111827"/>
                        </a:solidFill>
                        <a:latin typeface="Cambria Math" panose="02040503050406030204" pitchFamily="18" charset="0"/>
                      </a:rPr>
                      <m:t>𝑤</m:t>
                    </m:r>
                  </m:oMath>
                </a14:m>
                <a:r>
                  <a:rPr sz="2400" b="0">
                    <a:solidFill>
                      <a:srgbClr val="111827"/>
                    </a:solidFill>
                    <a:latin typeface="Arial"/>
                  </a:rPr>
                  <a:t> such that the three roots of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where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If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written as </a:t>
                </a:r>
                <a14:m>
                  <m:oMath xmlns:m="http://schemas.openxmlformats.org/officeDocument/2006/math">
                    <m:sSup>
                      <m:e>
                        <m:r>
                          <a:rPr lang="en-IN" sz="2400" i="1">
                            <a:solidFill>
                              <a:srgbClr val="111827"/>
                            </a:solidFill>
                            <a:latin typeface="Cambria Math" panose="02040503050406030204" pitchFamily="18" charset="0"/>
                          </a:rPr>
                          <m:t>2</m:t>
                        </m:r>
                      </m:e>
                      <m:sup>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3</m:t>
                            </m:r>
                          </m:sub>
                        </m:sSub>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4</m:t>
                            </m:r>
                          </m:sub>
                        </m:sSub>
                      </m:sup>
                    </m:sSup>
                  </m:oMath>
                </a14:m>
                <a:r>
                  <a:rPr sz="2400" b="0">
                    <a:solidFill>
                      <a:srgbClr val="111827"/>
                    </a:solidFill>
                    <a:latin typeface="Arial"/>
                  </a:rPr>
                  <a:t>, then the value of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$P(z)=z^3+az^2+bz+c$</a:t>
                </a:r>
                <a:r>
                  <a:rPr sz="2400" b="0">
                    <a:solidFill>
                      <a:srgbClr val="111827"/>
                    </a:solidFill>
                    <a:latin typeface="Arial"/>
                  </a:rPr>
                  <a:t>, where </a:t>
                </a:r>
                <a:r>
                  <a:rPr lang="en-IN" sz="2400">
                    <a:solidFill>
                      <a:srgbClr val="111827"/>
                    </a:solidFill>
                    <a:latin typeface="Cambria Math" panose="02040503050406030204" pitchFamily="18" charset="0"/>
                  </a:rPr>
                  <a:t>$a,b,c$</a:t>
                </a:r>
                <a:r>
                  <a:rPr sz="2400" b="0">
                    <a:solidFill>
                      <a:srgbClr val="111827"/>
                    </a:solidFill>
                    <a:latin typeface="Arial"/>
                  </a:rPr>
                  <a:t> are real. There exists a complex number </a:t>
                </a:r>
                <a:r>
                  <a:rPr lang="en-IN" sz="2400">
                    <a:solidFill>
                      <a:srgbClr val="111827"/>
                    </a:solidFill>
                    <a:latin typeface="Cambria Math" panose="02040503050406030204" pitchFamily="18" charset="0"/>
                  </a:rPr>
                  <a:t>$w$</a:t>
                </a:r>
                <a:r>
                  <a:rPr sz="2400" b="0">
                    <a:solidFill>
                      <a:srgbClr val="111827"/>
                    </a:solidFill>
                    <a:latin typeface="Arial"/>
                  </a:rPr>
                  <a:t> such that the three roots of </a:t>
                </a:r>
                <a:r>
                  <a:rPr lang="en-IN" sz="2400">
                    <a:solidFill>
                      <a:srgbClr val="111827"/>
                    </a:solidFill>
                    <a:latin typeface="Cambria Math" panose="02040503050406030204" pitchFamily="18" charset="0"/>
                  </a:rPr>
                  <a:t>$P(z)$</a:t>
                </a:r>
                <a:r>
                  <a:rPr sz="2400" b="0">
                    <a:solidFill>
                      <a:srgbClr val="111827"/>
                    </a:solidFill>
                    <a:latin typeface="Arial"/>
                  </a:rPr>
                  <a:t> are </a:t>
                </a:r>
                <a:r>
                  <a:rPr lang="en-IN" sz="2400">
                    <a:solidFill>
                      <a:srgbClr val="111827"/>
                    </a:solidFill>
                    <a:latin typeface="Cambria Math" panose="02040503050406030204" pitchFamily="18" charset="0"/>
                  </a:rPr>
                  <a:t>$w+3i$</a:t>
                </a:r>
                <a:r>
                  <a:rPr sz="2400" b="0">
                    <a:solidFill>
                      <a:srgbClr val="111827"/>
                    </a:solidFill>
                    <a:latin typeface="Arial"/>
                  </a:rPr>
                  <a:t>, </a:t>
                </a:r>
                <a:r>
                  <a:rPr lang="en-IN" sz="2400">
                    <a:solidFill>
                      <a:srgbClr val="111827"/>
                    </a:solidFill>
                    <a:latin typeface="Cambria Math" panose="02040503050406030204" pitchFamily="18" charset="0"/>
                  </a:rPr>
                  <a:t>$w+9i$</a:t>
                </a:r>
                <a:r>
                  <a:rPr sz="2400" b="0">
                    <a:solidFill>
                      <a:srgbClr val="111827"/>
                    </a:solidFill>
                    <a:latin typeface="Arial"/>
                  </a:rPr>
                  <a:t> and </a:t>
                </a:r>
                <a:r>
                  <a:rPr lang="en-IN" sz="2400">
                    <a:solidFill>
                      <a:srgbClr val="111827"/>
                    </a:solidFill>
                    <a:latin typeface="Cambria Math" panose="02040503050406030204" pitchFamily="18" charset="0"/>
                  </a:rPr>
                  <a:t>$2w-4$</a:t>
                </a:r>
                <a:r>
                  <a:rPr sz="2400" b="0">
                    <a:solidFill>
                      <a:srgbClr val="111827"/>
                    </a:solidFill>
                    <a:latin typeface="Arial"/>
                  </a:rPr>
                  <a:t>, where </a:t>
                </a:r>
                <a:r>
                  <a:rPr lang="en-IN" sz="2400">
                    <a:solidFill>
                      <a:srgbClr val="111827"/>
                    </a:solidFill>
                    <a:latin typeface="Cambria Math" panose="02040503050406030204" pitchFamily="18" charset="0"/>
                  </a:rPr>
                  <a:t>$i^2=-1$</a:t>
                </a:r>
                <a:r>
                  <a:rPr sz="2400" b="0">
                    <a:solidFill>
                      <a:srgbClr val="111827"/>
                    </a:solidFill>
                    <a:latin typeface="Arial"/>
                  </a:rPr>
                  <a:t>. If the value of </a:t>
                </a:r>
                <a:r>
                  <a:rPr lang="en-IN" sz="2400">
                    <a:solidFill>
                      <a:srgbClr val="111827"/>
                    </a:solidFill>
                    <a:latin typeface="Cambria Math" panose="02040503050406030204" pitchFamily="18" charset="0"/>
                  </a:rPr>
                  <a:t>$|a+b+c|$</a:t>
                </a:r>
                <a:r>
                  <a:rPr sz="2400" b="0">
                    <a:solidFill>
                      <a:srgbClr val="111827"/>
                    </a:solidFill>
                    <a:latin typeface="Arial"/>
                  </a:rPr>
                  <a:t> is written as </a:t>
                </a:r>
                <a:r>
                  <a:rPr lang="en-IN" sz="2400">
                    <a:solidFill>
                      <a:srgbClr val="111827"/>
                    </a:solidFill>
                    <a:latin typeface="Cambria Math" panose="02040503050406030204" pitchFamily="18" charset="0"/>
                  </a:rPr>
                  <a:t>$2^{n_1}\cdot3^{n_2}\cdot5^{n_3}\cdot7^{n_4}$</a:t>
                </a:r>
                <a:r>
                  <a:rPr sz="2400" b="0">
                    <a:solidFill>
                      <a:srgbClr val="111827"/>
                    </a:solidFill>
                    <a:latin typeface="Arial"/>
                  </a:rPr>
                  <a:t>, then the value of </a:t>
                </a:r>
                <a:r>
                  <a:rPr lang="en-IN" sz="2400">
                    <a:solidFill>
                      <a:srgbClr val="111827"/>
                    </a:solidFill>
                    <a:latin typeface="Cambria Math" panose="02040503050406030204" pitchFamily="18" charset="0"/>
                  </a:rPr>
                  <a:t>$n_1+n_2+n_3+n_4$</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888739"/>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polynomial equations with complex numbers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Real coefficients force a conjugate pair, which pins down which root is real and gives </a:t>
                </a:r>
                <a14:m>
                  <m:oMath xmlns:m="http://schemas.openxmlformats.org/officeDocument/2006/math">
                    <m:r>
                      <a:rPr lang="en-IN" sz="2400" i="1">
                        <a:solidFill>
                          <a:srgbClr val="78350F"/>
                        </a:solidFill>
                        <a:latin typeface="Cambria Math" panose="02040503050406030204" pitchFamily="18" charset="0"/>
                      </a:rPr>
                      <m:t>𝑤</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Real coefficients force a conjugate pair, which pins down which root is real and gives </a:t>
                </a:r>
                <a:r>
                  <a:rPr lang="en-IN" sz="2400">
                    <a:solidFill>
                      <a:srgbClr val="78350F"/>
                    </a:solidFill>
                    <a:latin typeface="Cambria Math" panose="02040503050406030204" pitchFamily="18" charset="0"/>
                  </a:rPr>
                  <a:t>$w$</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coefficients are real, so non-real roots occur in conjugate pairs; a cubic therefore has exactly one real root (or three).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oMath>
                </a14:m>
                <a:r>
                  <a:rPr sz="2400" b="0">
                    <a:solidFill>
                      <a:srgbClr val="111827"/>
                    </a:solidFill>
                    <a:latin typeface="Arial"/>
                  </a:rPr>
                  <a:t> differ by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so they are not both real. If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oMath>
                </a14:m>
                <a:r>
                  <a:rPr sz="2400" b="0">
                    <a:solidFill>
                      <a:srgbClr val="111827"/>
                    </a:solidFill>
                    <a:latin typeface="Arial"/>
                  </a:rPr>
                  <a:t> were the real one,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would need the conjugate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which is not a root. If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were real,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oMath>
                </a14:m>
                <a:r>
                  <a:rPr sz="2400" b="0">
                    <a:solidFill>
                      <a:srgbClr val="111827"/>
                    </a:solidFill>
                    <a:latin typeface="Arial"/>
                  </a:rPr>
                  <a:t> would be non-real with imaginary parts of the same sign, not conjugates. So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is real.</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coefficients are real, so non-real roots occur in conjugate pairs; a cubic therefore has exactly one real root (or three).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$w+3i$</a:t>
                </a:r>
                <a:r>
                  <a:rPr sz="2400" b="0">
                    <a:solidFill>
                      <a:srgbClr val="111827"/>
                    </a:solidFill>
                    <a:latin typeface="Arial"/>
                  </a:rPr>
                  <a:t> and </a:t>
                </a:r>
                <a:r>
                  <a:rPr lang="en-IN" sz="2400">
                    <a:solidFill>
                      <a:srgbClr val="111827"/>
                    </a:solidFill>
                    <a:latin typeface="Cambria Math" panose="02040503050406030204" pitchFamily="18" charset="0"/>
                  </a:rPr>
                  <a:t>$w+9i$</a:t>
                </a:r>
                <a:r>
                  <a:rPr sz="2400" b="0">
                    <a:solidFill>
                      <a:srgbClr val="111827"/>
                    </a:solidFill>
                    <a:latin typeface="Arial"/>
                  </a:rPr>
                  <a:t> differ by </a:t>
                </a:r>
                <a:r>
                  <a:rPr lang="en-IN" sz="2400">
                    <a:solidFill>
                      <a:srgbClr val="111827"/>
                    </a:solidFill>
                    <a:latin typeface="Cambria Math" panose="02040503050406030204" pitchFamily="18" charset="0"/>
                  </a:rPr>
                  <a:t>$6i$</a:t>
                </a:r>
                <a:r>
                  <a:rPr sz="2400" b="0">
                    <a:solidFill>
                      <a:srgbClr val="111827"/>
                    </a:solidFill>
                    <a:latin typeface="Arial"/>
                  </a:rPr>
                  <a:t>, so they are not both real. If </a:t>
                </a:r>
                <a:r>
                  <a:rPr lang="en-IN" sz="2400">
                    <a:solidFill>
                      <a:srgbClr val="111827"/>
                    </a:solidFill>
                    <a:latin typeface="Cambria Math" panose="02040503050406030204" pitchFamily="18" charset="0"/>
                  </a:rPr>
                  <a:t>$w+9i$</a:t>
                </a:r>
                <a:r>
                  <a:rPr sz="2400" b="0">
                    <a:solidFill>
                      <a:srgbClr val="111827"/>
                    </a:solidFill>
                    <a:latin typeface="Arial"/>
                  </a:rPr>
                  <a:t> were the real one, </a:t>
                </a:r>
                <a:r>
                  <a:rPr lang="en-IN" sz="2400">
                    <a:solidFill>
                      <a:srgbClr val="111827"/>
                    </a:solidFill>
                    <a:latin typeface="Cambria Math" panose="02040503050406030204" pitchFamily="18" charset="0"/>
                  </a:rPr>
                  <a:t>$w+3i=a-6i$</a:t>
                </a:r>
                <a:r>
                  <a:rPr sz="2400" b="0">
                    <a:solidFill>
                      <a:srgbClr val="111827"/>
                    </a:solidFill>
                    <a:latin typeface="Arial"/>
                  </a:rPr>
                  <a:t> would need the conjugate </a:t>
                </a:r>
                <a:r>
                  <a:rPr lang="en-IN" sz="2400">
                    <a:solidFill>
                      <a:srgbClr val="111827"/>
                    </a:solidFill>
                    <a:latin typeface="Cambria Math" panose="02040503050406030204" pitchFamily="18" charset="0"/>
                  </a:rPr>
                  <a:t>$a+6i$</a:t>
                </a:r>
                <a:r>
                  <a:rPr sz="2400" b="0">
                    <a:solidFill>
                      <a:srgbClr val="111827"/>
                    </a:solidFill>
                    <a:latin typeface="Arial"/>
                  </a:rPr>
                  <a:t>, which is not a root. If </a:t>
                </a:r>
                <a:r>
                  <a:rPr lang="en-IN" sz="2400">
                    <a:solidFill>
                      <a:srgbClr val="111827"/>
                    </a:solidFill>
                    <a:latin typeface="Cambria Math" panose="02040503050406030204" pitchFamily="18" charset="0"/>
                  </a:rPr>
                  <a:t>$2w-4$</a:t>
                </a:r>
                <a:r>
                  <a:rPr sz="2400" b="0">
                    <a:solidFill>
                      <a:srgbClr val="111827"/>
                    </a:solidFill>
                    <a:latin typeface="Arial"/>
                  </a:rPr>
                  <a:t> were real, </a:t>
                </a:r>
                <a:r>
                  <a:rPr lang="en-IN" sz="2400">
                    <a:solidFill>
                      <a:srgbClr val="111827"/>
                    </a:solidFill>
                    <a:latin typeface="Cambria Math" panose="02040503050406030204" pitchFamily="18" charset="0"/>
                  </a:rPr>
                  <a:t>$w+3i,w+9i$</a:t>
                </a:r>
                <a:r>
                  <a:rPr sz="2400" b="0">
                    <a:solidFill>
                      <a:srgbClr val="111827"/>
                    </a:solidFill>
                    <a:latin typeface="Arial"/>
                  </a:rPr>
                  <a:t> would be non-real with imaginary parts of the same sign, not conjugates. So </a:t>
                </a:r>
                <a:r>
                  <a:rPr lang="en-IN" sz="2400">
                    <a:solidFill>
                      <a:srgbClr val="111827"/>
                    </a:solidFill>
                    <a:latin typeface="Cambria Math" panose="02040503050406030204" pitchFamily="18" charset="0"/>
                  </a:rPr>
                  <a:t>$w+3i$</a:t>
                </a:r>
                <a:r>
                  <a:rPr sz="2400" b="0">
                    <a:solidFill>
                      <a:srgbClr val="111827"/>
                    </a:solidFill>
                    <a:latin typeface="Arial"/>
                  </a:rPr>
                  <a:t> is real.</a:t>
                </a:r>
                <a:endParaRPr sz="2400">
                  <a:solidFill>
                    <a:srgbClr val="111827"/>
                  </a:solidFill>
                </a:endParaRPr>
              </a:p>
            </p:txBody>
          </p:sp>
        </mc:Fallback>
      </mc:AlternateContent>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(real), so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and the roots are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must be conjugates, so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roots are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oMath>
                </a14:m>
                <a:r>
                  <a:rPr sz="2400" b="0">
                    <a:solidFill>
                      <a:srgbClr val="111827"/>
                    </a:solidFill>
                    <a:latin typeface="Arial"/>
                  </a:rPr>
                  <a:t>. The printed solution stops here, but </a:t>
                </a: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 is not among the allowed primes, so </a:t>
                </a:r>
                <a14:m>
                  <m:oMath xmlns:m="http://schemas.openxmlformats.org/officeDocument/2006/math">
                    <m:r>
                      <a:rPr lang="en-IN" sz="2400" i="1">
                        <a:solidFill>
                          <a:srgbClr val="111827"/>
                        </a:solidFill>
                        <a:latin typeface="Cambria Math" panose="02040503050406030204" pitchFamily="18" charset="0"/>
                      </a:rPr>
                      <m:t>136</m:t>
                    </m:r>
                  </m:oMath>
                </a14:m>
                <a:r>
                  <a:rPr sz="2400" b="0">
                    <a:solidFill>
                      <a:srgbClr val="111827"/>
                    </a:solidFill>
                    <a:latin typeface="Arial"/>
                  </a:rPr>
                  <a:t> cannot be written in the required form.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key value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corresponds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giving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$w+3i=a$</a:t>
                </a:r>
                <a:r>
                  <a:rPr sz="2400" b="0">
                    <a:solidFill>
                      <a:srgbClr val="111827"/>
                    </a:solidFill>
                    <a:latin typeface="Arial"/>
                  </a:rPr>
                  <a:t> (real), so </a:t>
                </a:r>
                <a:r>
                  <a:rPr lang="en-IN" sz="2400">
                    <a:solidFill>
                      <a:srgbClr val="111827"/>
                    </a:solidFill>
                    <a:latin typeface="Cambria Math" panose="02040503050406030204" pitchFamily="18" charset="0"/>
                  </a:rPr>
                  <a:t>$w=a-3i$</a:t>
                </a:r>
                <a:r>
                  <a:rPr sz="2400" b="0">
                    <a:solidFill>
                      <a:srgbClr val="111827"/>
                    </a:solidFill>
                    <a:latin typeface="Arial"/>
                  </a:rPr>
                  <a:t> and the roots are </a:t>
                </a:r>
                <a:r>
                  <a:rPr lang="en-IN" sz="2400">
                    <a:solidFill>
                      <a:srgbClr val="111827"/>
                    </a:solidFill>
                    <a:latin typeface="Cambria Math" panose="02040503050406030204" pitchFamily="18" charset="0"/>
                  </a:rPr>
                  <a:t>$a,\ a+6i,\ 2(a-3i)-4=(2a-4)-6i$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$a+6i$</a:t>
                </a:r>
                <a:r>
                  <a:rPr sz="2400" b="0">
                    <a:solidFill>
                      <a:srgbClr val="111827"/>
                    </a:solidFill>
                    <a:latin typeface="Arial"/>
                  </a:rPr>
                  <a:t> and </a:t>
                </a:r>
                <a:r>
                  <a:rPr lang="en-IN" sz="2400">
                    <a:solidFill>
                      <a:srgbClr val="111827"/>
                    </a:solidFill>
                    <a:latin typeface="Cambria Math" panose="02040503050406030204" pitchFamily="18" charset="0"/>
                  </a:rPr>
                  <a:t>$(2a-4)-6i$</a:t>
                </a:r>
                <a:r>
                  <a:rPr sz="2400" b="0">
                    <a:solidFill>
                      <a:srgbClr val="111827"/>
                    </a:solidFill>
                    <a:latin typeface="Arial"/>
                  </a:rPr>
                  <a:t> must be conjugates, so </a:t>
                </a:r>
                <a:r>
                  <a:rPr lang="en-IN" sz="2400">
                    <a:solidFill>
                      <a:srgbClr val="111827"/>
                    </a:solidFill>
                    <a:latin typeface="Cambria Math" panose="02040503050406030204" pitchFamily="18" charset="0"/>
                  </a:rPr>
                  <a:t>$2a-4=a$</a:t>
                </a:r>
                <a:r>
                  <a:rPr sz="2400" b="0">
                    <a:solidFill>
                      <a:srgbClr val="111827"/>
                    </a:solidFill>
                    <a:latin typeface="Arial"/>
                  </a:rPr>
                  <a:t> and </a:t>
                </a:r>
                <a:r>
                  <a:rPr lang="en-IN" sz="2400">
                    <a:solidFill>
                      <a:srgbClr val="111827"/>
                    </a:solidFill>
                    <a:latin typeface="Cambria Math" panose="02040503050406030204" pitchFamily="18" charset="0"/>
                  </a:rPr>
                  <a:t>$a=4$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roots are </a:t>
                </a:r>
                <a:r>
                  <a:rPr lang="en-IN" sz="2400">
                    <a:solidFill>
                      <a:srgbClr val="111827"/>
                    </a:solidFill>
                    <a:latin typeface="Cambria Math" panose="02040503050406030204" pitchFamily="18" charset="0"/>
                  </a:rPr>
                  <a:t>$4,\ 4+6i,\ 4-6i$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$P(z)=(z-4)\left(z^2-8z+52\right)=z^3-12z^2+84z-208$</a:t>
                </a:r>
                <a:r>
                  <a:rPr sz="2400" b="0">
                    <a:solidFill>
                      <a:srgbClr val="111827"/>
                    </a:solidFill>
                    <a:latin typeface="Arial"/>
                  </a:rPr>
                  <a:t>, so </a:t>
                </a:r>
                <a:r>
                  <a:rPr lang="en-IN" sz="2400">
                    <a:solidFill>
                      <a:srgbClr val="111827"/>
                    </a:solidFill>
                    <a:latin typeface="Cambria Math" panose="02040503050406030204" pitchFamily="18" charset="0"/>
                  </a:rPr>
                  <a:t>$a=-12,\ b=84,\ c=-208$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$a+b+c=-12+84-208=-136$</a:t>
                </a:r>
                <a:r>
                  <a:rPr sz="2400" b="0">
                    <a:solidFill>
                      <a:srgbClr val="111827"/>
                    </a:solidFill>
                    <a:latin typeface="Arial"/>
                  </a:rPr>
                  <a:t> and </a:t>
                </a:r>
                <a:r>
                  <a:rPr lang="en-IN" sz="2400">
                    <a:solidFill>
                      <a:srgbClr val="111827"/>
                    </a:solidFill>
                    <a:latin typeface="Cambria Math" panose="02040503050406030204" pitchFamily="18" charset="0"/>
                  </a:rPr>
                  <a:t>$|a+b+c|=136=2^3\cdot17$</a:t>
                </a:r>
                <a:r>
                  <a:rPr sz="2400" b="0">
                    <a:solidFill>
                      <a:srgbClr val="111827"/>
                    </a:solidFill>
                    <a:latin typeface="Arial"/>
                  </a:rPr>
                  <a:t>. The printed solution stops here, but </a:t>
                </a:r>
                <a:r>
                  <a:rPr lang="en-IN" sz="2400">
                    <a:solidFill>
                      <a:srgbClr val="111827"/>
                    </a:solidFill>
                    <a:latin typeface="Cambria Math" panose="02040503050406030204" pitchFamily="18" charset="0"/>
                  </a:rPr>
                  <a:t>$17$</a:t>
                </a:r>
                <a:r>
                  <a:rPr sz="2400" b="0">
                    <a:solidFill>
                      <a:srgbClr val="111827"/>
                    </a:solidFill>
                    <a:latin typeface="Arial"/>
                  </a:rPr>
                  <a:t> is not among the allowed primes, so </a:t>
                </a:r>
                <a:r>
                  <a:rPr lang="en-IN" sz="2400">
                    <a:solidFill>
                      <a:srgbClr val="111827"/>
                    </a:solidFill>
                    <a:latin typeface="Cambria Math" panose="02040503050406030204" pitchFamily="18" charset="0"/>
                  </a:rPr>
                  <a:t>$136$</a:t>
                </a:r>
                <a:r>
                  <a:rPr sz="2400" b="0">
                    <a:solidFill>
                      <a:srgbClr val="111827"/>
                    </a:solidFill>
                    <a:latin typeface="Arial"/>
                  </a:rPr>
                  <a:t> cannot be written in the required form.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key value </a:t>
                </a:r>
                <a:r>
                  <a:rPr lang="en-IN" sz="2400">
                    <a:solidFill>
                      <a:srgbClr val="111827"/>
                    </a:solidFill>
                    <a:latin typeface="Cambria Math" panose="02040503050406030204" pitchFamily="18" charset="0"/>
                  </a:rPr>
                  <a:t>$4$</a:t>
                </a:r>
                <a:r>
                  <a:rPr sz="2400" b="0">
                    <a:solidFill>
                      <a:srgbClr val="111827"/>
                    </a:solidFill>
                    <a:latin typeface="Arial"/>
                  </a:rPr>
                  <a:t> corresponds to </a:t>
                </a:r>
                <a:r>
                  <a:rPr lang="en-IN" sz="2400">
                    <a:solidFill>
                      <a:srgbClr val="111827"/>
                    </a:solidFill>
                    <a:latin typeface="Cambria Math" panose="02040503050406030204" pitchFamily="18" charset="0"/>
                  </a:rPr>
                  <a:t>$|P(1)|=|1+a+b+c|=|-135|=135=3^3\cdot5$</a:t>
                </a:r>
                <a:r>
                  <a:rPr sz="2400" b="0">
                    <a:solidFill>
                      <a:srgbClr val="111827"/>
                    </a:solidFill>
                    <a:latin typeface="Arial"/>
                  </a:rPr>
                  <a:t>, giving </a:t>
                </a:r>
                <a:r>
                  <a:rPr lang="en-IN" sz="2400">
                    <a:solidFill>
                      <a:srgbClr val="111827"/>
                    </a:solidFill>
                    <a:latin typeface="Cambria Math" panose="02040503050406030204" pitchFamily="18" charset="0"/>
                  </a:rPr>
                  <a:t>$n_1=0,\ n_2=3,\ n_3=1,\ n_4=0$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quantity intended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$n_1+n_2+n_3+n_4=4$</a:t>
                </a:r>
                <a:r>
                  <a:rPr sz="2400" b="0">
                    <a:solidFill>
                      <a:srgbClr val="111827"/>
                    </a:solidFill>
                    <a:latin typeface="Arial"/>
                  </a:rPr>
                  <a:t> (the quantity intended is </a:t>
                </a:r>
                <a:r>
                  <a:rPr lang="en-IN" sz="2400">
                    <a:solidFill>
                      <a:srgbClr val="111827"/>
                    </a:solidFill>
                    <a:latin typeface="Cambria Math" panose="02040503050406030204" pitchFamily="18" charset="0"/>
                  </a:rPr>
                  <a:t>$|P(1)|$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Vieta's relations: the reality of </a:t>
                </a:r>
                <a14:m>
                  <m:oMath xmlns:m="http://schemas.openxmlformats.org/officeDocument/2006/math">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oMath>
                </a14:m>
                <a:r>
                  <a:rPr sz="2400" b="0">
                    <a:solidFill>
                      <a:srgbClr val="78350F"/>
                    </a:solidFill>
                    <a:latin typeface="Arial"/>
                  </a:rPr>
                  <a:t> makes the imaginary parts of the symmetric functions vanish.</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Vieta's relations: the reality of </a:t>
                </a:r>
                <a:r>
                  <a:rPr lang="en-IN" sz="2400">
                    <a:solidFill>
                      <a:srgbClr val="78350F"/>
                    </a:solidFill>
                    <a:latin typeface="Cambria Math" panose="02040503050406030204" pitchFamily="18" charset="0"/>
                  </a:rPr>
                  <a:t>$a,b,c$</a:t>
                </a:r>
                <a:r>
                  <a:rPr sz="2400" b="0">
                    <a:solidFill>
                      <a:srgbClr val="78350F"/>
                    </a:solidFill>
                    <a:latin typeface="Arial"/>
                  </a:rPr>
                  <a:t> makes the imaginary parts of the symmetric functions vanish.</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of roots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is real: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𝑖</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Im</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Im</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real. The roots are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pairwise products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is real. Its imaginary part is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oMath>
                </a14:m>
                <a:r>
                  <a:rPr sz="2400" b="0">
                    <a:solidFill>
                      <a:srgbClr val="111827"/>
                    </a:solidFill>
                    <a:latin typeface="Arial"/>
                  </a:rPr>
                  <a:t> (computed by expanding the three products).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Sum of roots </a:t>
                </a:r>
                <a:r>
                  <a:rPr lang="en-IN" sz="2400">
                    <a:solidFill>
                      <a:srgbClr val="111827"/>
                    </a:solidFill>
                    <a:latin typeface="Cambria Math" panose="02040503050406030204" pitchFamily="18" charset="0"/>
                  </a:rPr>
                  <a:t>$=-a$</a:t>
                </a:r>
                <a:r>
                  <a:rPr sz="2400" b="0">
                    <a:solidFill>
                      <a:srgbClr val="111827"/>
                    </a:solidFill>
                    <a:latin typeface="Arial"/>
                  </a:rPr>
                  <a:t> is real: </a:t>
                </a:r>
                <a:r>
                  <a:rPr lang="en-IN" sz="2400">
                    <a:solidFill>
                      <a:srgbClr val="111827"/>
                    </a:solidFill>
                    <a:latin typeface="Cambria Math" panose="02040503050406030204" pitchFamily="18" charset="0"/>
                  </a:rPr>
                  <a:t>$(w+3i)+(w+9i)+(2w-4)=4w-4+12i$</a:t>
                </a:r>
                <a:r>
                  <a:rPr sz="2400" b="0">
                    <a:solidFill>
                      <a:srgbClr val="111827"/>
                    </a:solidFill>
                    <a:latin typeface="Arial"/>
                  </a:rPr>
                  <a:t>, so </a:t>
                </a:r>
                <a:r>
                  <a:rPr lang="en-IN" sz="2400">
                    <a:solidFill>
                      <a:srgbClr val="111827"/>
                    </a:solidFill>
                    <a:latin typeface="Cambria Math" panose="02040503050406030204" pitchFamily="18" charset="0"/>
                  </a:rPr>
                  <a:t>$\operatorname{Im}(4w)=-12$</a:t>
                </a:r>
                <a:r>
                  <a:rPr sz="2400" b="0">
                    <a:solidFill>
                      <a:srgbClr val="111827"/>
                    </a:solidFill>
                    <a:latin typeface="Arial"/>
                  </a:rPr>
                  <a:t> and </a:t>
                </a:r>
                <a:r>
                  <a:rPr lang="en-IN" sz="2400">
                    <a:solidFill>
                      <a:srgbClr val="111827"/>
                    </a:solidFill>
                    <a:latin typeface="Cambria Math" panose="02040503050406030204" pitchFamily="18" charset="0"/>
                  </a:rPr>
                  <a:t>$\operatorname{Im}w=-3$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$w=t-3i$</a:t>
                </a:r>
                <a:r>
                  <a:rPr sz="2400" b="0">
                    <a:solidFill>
                      <a:srgbClr val="111827"/>
                    </a:solidFill>
                    <a:latin typeface="Arial"/>
                  </a:rPr>
                  <a:t> with </a:t>
                </a:r>
                <a:r>
                  <a:rPr lang="en-IN" sz="2400">
                    <a:solidFill>
                      <a:srgbClr val="111827"/>
                    </a:solidFill>
                    <a:latin typeface="Cambria Math" panose="02040503050406030204" pitchFamily="18" charset="0"/>
                  </a:rPr>
                  <a:t>$t$</a:t>
                </a:r>
                <a:r>
                  <a:rPr sz="2400" b="0">
                    <a:solidFill>
                      <a:srgbClr val="111827"/>
                    </a:solidFill>
                    <a:latin typeface="Arial"/>
                  </a:rPr>
                  <a:t> real. The roots are </a:t>
                </a:r>
                <a:r>
                  <a:rPr lang="en-IN" sz="2400">
                    <a:solidFill>
                      <a:srgbClr val="111827"/>
                    </a:solidFill>
                    <a:latin typeface="Cambria Math" panose="02040503050406030204" pitchFamily="18" charset="0"/>
                  </a:rPr>
                  <a:t>$t,\ t+6i,\ 2t-4-6i$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pairwise products </a:t>
                </a:r>
                <a:r>
                  <a:rPr lang="en-IN" sz="2400">
                    <a:solidFill>
                      <a:srgbClr val="111827"/>
                    </a:solidFill>
                    <a:latin typeface="Cambria Math" panose="02040503050406030204" pitchFamily="18" charset="0"/>
                  </a:rPr>
                  <a:t>$=b$</a:t>
                </a:r>
                <a:r>
                  <a:rPr sz="2400" b="0">
                    <a:solidFill>
                      <a:srgbClr val="111827"/>
                    </a:solidFill>
                    <a:latin typeface="Arial"/>
                  </a:rPr>
                  <a:t> is real. Its imaginary part is </a:t>
                </a:r>
                <a:r>
                  <a:rPr lang="en-IN" sz="2400">
                    <a:solidFill>
                      <a:srgbClr val="111827"/>
                    </a:solidFill>
                    <a:latin typeface="Cambria Math" panose="02040503050406030204" pitchFamily="18" charset="0"/>
                  </a:rPr>
                  <a:t>$6t-24$</a:t>
                </a:r>
                <a:r>
                  <a:rPr sz="2400" b="0">
                    <a:solidFill>
                      <a:srgbClr val="111827"/>
                    </a:solidFill>
                    <a:latin typeface="Arial"/>
                  </a:rPr>
                  <a:t> (computed by expanding the three products).</a:t>
                </a:r>
                <a:endParaRPr sz="2400">
                  <a:solidFill>
                    <a:srgbClr val="111827"/>
                  </a:solidFill>
                </a:endParaRPr>
              </a:p>
            </p:txBody>
          </p:sp>
        </mc:Fallback>
      </mc:AlternateContent>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Setting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the roots are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the product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 is real as required.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giving </a:t>
                </a:r>
                <a14:m>
                  <m:oMath xmlns:m="http://schemas.openxmlformats.org/officeDocument/2006/math">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Setting </a:t>
                </a:r>
                <a:r>
                  <a:rPr lang="en-IN" sz="2400">
                    <a:solidFill>
                      <a:srgbClr val="111827"/>
                    </a:solidFill>
                    <a:latin typeface="Cambria Math" panose="02040503050406030204" pitchFamily="18" charset="0"/>
                  </a:rPr>
                  <a:t>$6t-24=0$</a:t>
                </a:r>
                <a:r>
                  <a:rPr sz="2400" b="0">
                    <a:solidFill>
                      <a:srgbClr val="111827"/>
                    </a:solidFill>
                    <a:latin typeface="Arial"/>
                  </a:rPr>
                  <a:t> gives </a:t>
                </a:r>
                <a:r>
                  <a:rPr lang="en-IN" sz="2400">
                    <a:solidFill>
                      <a:srgbClr val="111827"/>
                    </a:solidFill>
                    <a:latin typeface="Cambria Math" panose="02040503050406030204" pitchFamily="18" charset="0"/>
                  </a:rPr>
                  <a:t>$t=4$</a:t>
                </a:r>
                <a:r>
                  <a:rPr sz="2400" b="0">
                    <a:solidFill>
                      <a:srgbClr val="111827"/>
                    </a:solidFill>
                    <a:latin typeface="Arial"/>
                  </a:rPr>
                  <a:t>, so the roots are </a:t>
                </a:r>
                <a:r>
                  <a:rPr lang="en-IN" sz="2400">
                    <a:solidFill>
                      <a:srgbClr val="111827"/>
                    </a:solidFill>
                    <a:latin typeface="Cambria Math" panose="02040503050406030204" pitchFamily="18" charset="0"/>
                  </a:rPr>
                  <a:t>$4,\ 4+6i,\ 4-6i$</a:t>
                </a:r>
                <a:r>
                  <a:rPr sz="2400" b="0">
                    <a:solidFill>
                      <a:srgbClr val="111827"/>
                    </a:solidFill>
                    <a:latin typeface="Arial"/>
                  </a:rPr>
                  <a:t>; the product </a:t>
                </a:r>
                <a:r>
                  <a:rPr lang="en-IN" sz="2400">
                    <a:solidFill>
                      <a:srgbClr val="111827"/>
                    </a:solidFill>
                    <a:latin typeface="Cambria Math" panose="02040503050406030204" pitchFamily="18" charset="0"/>
                  </a:rPr>
                  <a:t>$4(16+36)=208$</a:t>
                </a:r>
                <a:r>
                  <a:rPr sz="2400" b="0">
                    <a:solidFill>
                      <a:srgbClr val="111827"/>
                    </a:solidFill>
                    <a:latin typeface="Arial"/>
                  </a:rPr>
                  <a:t> is real as required.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$P(z)=z^3-12z^2+84z-208$</a:t>
                </a:r>
                <a:r>
                  <a:rPr sz="2400" b="0">
                    <a:solidFill>
                      <a:srgbClr val="111827"/>
                    </a:solidFill>
                    <a:latin typeface="Arial"/>
                  </a:rPr>
                  <a:t> and </a:t>
                </a:r>
                <a:r>
                  <a:rPr lang="en-IN" sz="2400">
                    <a:solidFill>
                      <a:srgbClr val="111827"/>
                    </a:solidFill>
                    <a:latin typeface="Cambria Math" panose="02040503050406030204" pitchFamily="18" charset="0"/>
                  </a:rPr>
                  <a:t>$P(1)=-135=-3^3\cdot5$</a:t>
                </a:r>
                <a:r>
                  <a:rPr sz="2400" b="0">
                    <a:solidFill>
                      <a:srgbClr val="111827"/>
                    </a:solidFill>
                    <a:latin typeface="Arial"/>
                  </a:rPr>
                  <a:t>, giving </a:t>
                </a:r>
                <a:r>
                  <a:rPr lang="en-IN" sz="2400">
                    <a:solidFill>
                      <a:srgbClr val="111827"/>
                    </a:solidFill>
                    <a:latin typeface="Cambria Math" panose="02040503050406030204" pitchFamily="18" charset="0"/>
                  </a:rPr>
                  <a:t>$n_1+n_2+n_3+n_4=4$</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real-coefficient polynomial has non-real roots in conjugate pairs; a cubic therefore has one real root and a conjugate pair, or three real roots.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monic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with roots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Reality of each Vieta symmetric function gives linear conditions on the unknown parameters (Im of the sum fixes </a:t>
                </a:r>
                <a14:m>
                  <m:oMath xmlns:m="http://schemas.openxmlformats.org/officeDocument/2006/math">
                    <m:r>
                      <m:rPr>
                        <m:sty m:val="p"/>
                      </m:rPr>
                      <a:rPr lang="en-IN" sz="2400">
                        <a:solidFill>
                          <a:srgbClr val="111827"/>
                        </a:solidFill>
                        <a:latin typeface="Cambria Math" panose="02040503050406030204" pitchFamily="18" charset="0"/>
                      </a:rPr>
                      <m:t>Im</m:t>
                    </m:r>
                    <m:r>
                      <a:rPr lang="en-IN" sz="2400" i="1">
                        <a:solidFill>
                          <a:srgbClr val="111827"/>
                        </a:solidFill>
                        <a:latin typeface="Cambria Math" panose="02040503050406030204" pitchFamily="18" charset="0"/>
                      </a:rPr>
                      <m:t>𝑤</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real-coefficient polynomial has non-real roots in conjugate pairs; a cubic therefore has one real root and a conjugate pair, or three real roots.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monic </a:t>
                </a:r>
                <a:r>
                  <a:rPr lang="en-IN" sz="2400">
                    <a:solidFill>
                      <a:srgbClr val="111827"/>
                    </a:solidFill>
                    <a:latin typeface="Cambria Math" panose="02040503050406030204" pitchFamily="18" charset="0"/>
                  </a:rPr>
                  <a:t>$P$</a:t>
                </a:r>
                <a:r>
                  <a:rPr sz="2400" b="0">
                    <a:solidFill>
                      <a:srgbClr val="111827"/>
                    </a:solidFill>
                    <a:latin typeface="Arial"/>
                  </a:rPr>
                  <a:t> with roots </a:t>
                </a:r>
                <a:r>
                  <a:rPr lang="en-IN" sz="2400">
                    <a:solidFill>
                      <a:srgbClr val="111827"/>
                    </a:solidFill>
                    <a:latin typeface="Cambria Math" panose="02040503050406030204" pitchFamily="18" charset="0"/>
                  </a:rPr>
                  <a:t>$r_i$</a:t>
                </a:r>
                <a:r>
                  <a:rPr sz="2400" b="0">
                    <a:solidFill>
                      <a:srgbClr val="111827"/>
                    </a:solidFill>
                    <a:latin typeface="Arial"/>
                  </a:rPr>
                  <a:t>: </a:t>
                </a:r>
                <a:r>
                  <a:rPr lang="en-IN" sz="2400">
                    <a:solidFill>
                      <a:srgbClr val="111827"/>
                    </a:solidFill>
                    <a:latin typeface="Cambria Math" panose="02040503050406030204" pitchFamily="18" charset="0"/>
                  </a:rPr>
                  <a:t>$P(1)=\prod(1-r_i)=1+a+b+c$</a:t>
                </a:r>
                <a:r>
                  <a:rPr sz="2400" b="0">
                    <a:solidFill>
                      <a:srgbClr val="111827"/>
                    </a:solidFill>
                    <a:latin typeface="Arial"/>
                  </a:rPr>
                  <a:t>. Here </a:t>
                </a:r>
                <a:r>
                  <a:rPr lang="en-IN" sz="2400">
                    <a:solidFill>
                      <a:srgbClr val="111827"/>
                    </a:solidFill>
                    <a:latin typeface="Cambria Math" panose="02040503050406030204" pitchFamily="18" charset="0"/>
                  </a:rPr>
                  <a:t>$(1-4)(1-4-6i)(1-4+6i)=-3\cdot45=-135$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Reality of each Vieta symmetric function gives linear conditions on the unknown parameters (Im of the sum fixes </a:t>
                </a:r>
                <a:r>
                  <a:rPr lang="en-IN" sz="2400">
                    <a:solidFill>
                      <a:srgbClr val="111827"/>
                    </a:solidFill>
                    <a:latin typeface="Cambria Math" panose="02040503050406030204" pitchFamily="18" charset="0"/>
                  </a:rPr>
                  <a:t>$\operatorname{Im}w$</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71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curves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R</m:t>
                    </m:r>
                  </m:oMath>
                </a14:m>
                <a:r>
                  <a:rPr sz="2400" b="0">
                    <a:solidFill>
                      <a:srgbClr val="111827"/>
                    </a:solidFill>
                    <a:latin typeface="Arial"/>
                  </a:rPr>
                  <a:t> on the complex plane such that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touches both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Then find the sum of absolute value(s) of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________. (Figure in the paper: two V-shaped pairs of rays on the lines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the circle of radius </a:t>
                </a:r>
                <a14:m>
                  <m:oMath xmlns:m="http://schemas.openxmlformats.org/officeDocument/2006/math">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with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on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touching the rays.)</a:t>
                </a:r>
                <a:endParaRPr sz="2400">
                  <a:solidFill>
                    <a:srgbClr val="111827"/>
                  </a:solidFill>
                </a:endParaRPr>
              </a:p>
            </p:txBody>
          </p:sp>
        </mc:Choice>
        <mc:Fallback>
          <p:sp>
            <p:nvSpPr>
              <p:cNvPr id="4" name="Rounded Rectangle 3"/>
              <p:cNvSpPr/>
              <p:nvPr/>
            </p:nvSpPr>
            <p:spPr>
              <a:xfrm>
                <a:off x="731520" y="1280160"/>
                <a:ext cx="10725912" cy="2971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curves </a:t>
                </a:r>
                <a:r>
                  <a:rPr lang="en-IN" sz="2400">
                    <a:solidFill>
                      <a:srgbClr val="111827"/>
                    </a:solidFill>
                    <a:latin typeface="Cambria Math" panose="02040503050406030204" pitchFamily="18" charset="0"/>
                  </a:rPr>
                  <a:t>$C_1:|\arg(z-2)|=\frac{\pi}{4}$</a:t>
                </a:r>
                <a:r>
                  <a:rPr sz="2400" b="0">
                    <a:solidFill>
                      <a:srgbClr val="111827"/>
                    </a:solidFill>
                    <a:latin typeface="Arial"/>
                  </a:rPr>
                  <a:t>; </a:t>
                </a:r>
                <a:r>
                  <a:rPr lang="en-IN" sz="2400">
                    <a:solidFill>
                      <a:srgbClr val="111827"/>
                    </a:solidFill>
                    <a:latin typeface="Cambria Math" panose="02040503050406030204" pitchFamily="18" charset="0"/>
                  </a:rPr>
                  <a:t>$C_2:|\arg(z+2)|=\frac{3\pi}{4}$</a:t>
                </a:r>
                <a:r>
                  <a:rPr sz="2400" b="0">
                    <a:solidFill>
                      <a:srgbClr val="111827"/>
                    </a:solidFill>
                    <a:latin typeface="Arial"/>
                  </a:rPr>
                  <a:t> and </a:t>
                </a:r>
                <a:r>
                  <a:rPr lang="en-IN" sz="2400">
                    <a:solidFill>
                      <a:srgbClr val="111827"/>
                    </a:solidFill>
                    <a:latin typeface="Cambria Math" panose="02040503050406030204" pitchFamily="18" charset="0"/>
                  </a:rPr>
                  <a:t>$C_3:|z-\alpha i|=4\sqrt2,\ \alpha\in\mathbb{R}$</a:t>
                </a:r>
                <a:r>
                  <a:rPr sz="2400" b="0">
                    <a:solidFill>
                      <a:srgbClr val="111827"/>
                    </a:solidFill>
                    <a:latin typeface="Arial"/>
                  </a:rPr>
                  <a:t> on the complex plane such that </a:t>
                </a:r>
                <a:r>
                  <a:rPr lang="en-IN" sz="2400">
                    <a:solidFill>
                      <a:srgbClr val="111827"/>
                    </a:solidFill>
                    <a:latin typeface="Cambria Math" panose="02040503050406030204" pitchFamily="18" charset="0"/>
                  </a:rPr>
                  <a:t>$C_3$</a:t>
                </a:r>
                <a:r>
                  <a:rPr sz="2400" b="0">
                    <a:solidFill>
                      <a:srgbClr val="111827"/>
                    </a:solidFill>
                    <a:latin typeface="Arial"/>
                  </a:rPr>
                  <a:t> touches both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Then find the sum of absolute value(s) of </a:t>
                </a:r>
                <a:r>
                  <a:rPr lang="en-IN" sz="2400">
                    <a:solidFill>
                      <a:srgbClr val="111827"/>
                    </a:solidFill>
                    <a:latin typeface="Cambria Math" panose="02040503050406030204" pitchFamily="18" charset="0"/>
                  </a:rPr>
                  <a:t>$\alpha$</a:t>
                </a:r>
                <a:r>
                  <a:rPr sz="2400" b="0">
                    <a:solidFill>
                      <a:srgbClr val="111827"/>
                    </a:solidFill>
                    <a:latin typeface="Arial"/>
                  </a:rPr>
                  <a:t> ________. (Figure in the paper: two V-shaped pairs of rays on the lines </a:t>
                </a:r>
                <a:r>
                  <a:rPr lang="en-IN" sz="2400">
                    <a:solidFill>
                      <a:srgbClr val="111827"/>
                    </a:solidFill>
                    <a:latin typeface="Cambria Math" panose="02040503050406030204" pitchFamily="18" charset="0"/>
                  </a:rPr>
                  <a:t>$y=x-2$</a:t>
                </a:r>
                <a:r>
                  <a:rPr sz="2400" b="0">
                    <a:solidFill>
                      <a:srgbClr val="111827"/>
                    </a:solidFill>
                    <a:latin typeface="Arial"/>
                  </a:rPr>
                  <a:t>, </a:t>
                </a:r>
                <a:r>
                  <a:rPr lang="en-IN" sz="2400">
                    <a:solidFill>
                      <a:srgbClr val="111827"/>
                    </a:solidFill>
                    <a:latin typeface="Cambria Math" panose="02040503050406030204" pitchFamily="18" charset="0"/>
                  </a:rPr>
                  <a:t>$y=-x-2$</a:t>
                </a:r>
                <a:r>
                  <a:rPr sz="2400" b="0">
                    <a:solidFill>
                      <a:srgbClr val="111827"/>
                    </a:solidFill>
                    <a:latin typeface="Arial"/>
                  </a:rPr>
                  <a:t> and the circle of radius </a:t>
                </a:r>
                <a:r>
                  <a:rPr lang="en-IN" sz="2400">
                    <a:solidFill>
                      <a:srgbClr val="111827"/>
                    </a:solidFill>
                    <a:latin typeface="Cambria Math" panose="02040503050406030204" pitchFamily="18" charset="0"/>
                  </a:rPr>
                  <a:t>$4\sqrt2$</a:t>
                </a:r>
                <a:r>
                  <a:rPr sz="2400" b="0">
                    <a:solidFill>
                      <a:srgbClr val="111827"/>
                    </a:solidFill>
                    <a:latin typeface="Arial"/>
                  </a:rPr>
                  <a:t> with centre </a:t>
                </a:r>
                <a:r>
                  <a:rPr lang="en-IN" sz="2400">
                    <a:solidFill>
                      <a:srgbClr val="111827"/>
                    </a:solidFill>
                    <a:latin typeface="Cambria Math" panose="02040503050406030204" pitchFamily="18" charset="0"/>
                  </a:rPr>
                  <a:t>$(0,\alpha)$</a:t>
                </a:r>
                <a:r>
                  <a:rPr sz="2400" b="0">
                    <a:solidFill>
                      <a:srgbClr val="111827"/>
                    </a:solidFill>
                    <a:latin typeface="Arial"/>
                  </a:rPr>
                  <a:t> on the </a:t>
                </a:r>
                <a:r>
                  <a:rPr lang="en-IN" sz="2400">
                    <a:solidFill>
                      <a:srgbClr val="111827"/>
                    </a:solidFill>
                    <a:latin typeface="Cambria Math" panose="02040503050406030204" pitchFamily="18" charset="0"/>
                  </a:rPr>
                  <a:t>$y$</a:t>
                </a:r>
                <a:r>
                  <a:rPr sz="2400" b="0">
                    <a:solidFill>
                      <a:srgbClr val="111827"/>
                    </a:solidFill>
                    <a:latin typeface="Arial"/>
                  </a:rPr>
                  <a:t>-axis touching the rays.)</a:t>
                </a:r>
                <a:endParaRPr sz="2400">
                  <a:solidFill>
                    <a:srgbClr val="111827"/>
                  </a:solidFill>
                </a:endParaRPr>
              </a:p>
            </p:txBody>
          </p:sp>
        </mc:Fallback>
      </mc:AlternateContent>
      <p:sp>
        <p:nvSpPr>
          <p:cNvPr id="5" name="Rectangle 4"/>
          <p:cNvSpPr/>
          <p:nvPr/>
        </p:nvSpPr>
        <p:spPr>
          <a:xfrm>
            <a:off x="731520" y="448005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in the complex plane (arguments and modulus), Tangency of circle and line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circle touches a ray only if the foot of the perpendicular from the centre lies on that ray.</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the pair of rays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both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the pair of rays from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135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both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the circle with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radius </a:t>
                </a:r>
                <a14:m>
                  <m:oMath xmlns:m="http://schemas.openxmlformats.org/officeDocument/2006/math">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$C_1$</a:t>
                </a:r>
                <a:r>
                  <a:rPr sz="2400" b="0">
                    <a:solidFill>
                      <a:srgbClr val="111827"/>
                    </a:solidFill>
                    <a:latin typeface="Arial"/>
                  </a:rPr>
                  <a:t> is the pair of rays from </a:t>
                </a:r>
                <a:r>
                  <a:rPr lang="en-IN" sz="2400">
                    <a:solidFill>
                      <a:srgbClr val="111827"/>
                    </a:solidFill>
                    <a:latin typeface="Cambria Math" panose="02040503050406030204" pitchFamily="18" charset="0"/>
                  </a:rPr>
                  <a:t>$(2,0)$</a:t>
                </a:r>
                <a:r>
                  <a:rPr sz="2400" b="0">
                    <a:solidFill>
                      <a:srgbClr val="111827"/>
                    </a:solidFill>
                    <a:latin typeface="Arial"/>
                  </a:rPr>
                  <a:t> at </a:t>
                </a:r>
                <a:r>
                  <a:rPr lang="en-IN" sz="2400">
                    <a:solidFill>
                      <a:srgbClr val="111827"/>
                    </a:solidFill>
                    <a:latin typeface="Cambria Math" panose="02040503050406030204" pitchFamily="18" charset="0"/>
                  </a:rPr>
                  <a:t>$\pm45^\circ$</a:t>
                </a:r>
                <a:r>
                  <a:rPr sz="2400" b="0">
                    <a:solidFill>
                      <a:srgbClr val="111827"/>
                    </a:solidFill>
                    <a:latin typeface="Arial"/>
                  </a:rPr>
                  <a:t>: </a:t>
                </a:r>
                <a:r>
                  <a:rPr lang="en-IN" sz="2400">
                    <a:solidFill>
                      <a:srgbClr val="111827"/>
                    </a:solidFill>
                    <a:latin typeface="Cambria Math" panose="02040503050406030204" pitchFamily="18" charset="0"/>
                  </a:rPr>
                  <a:t>$y=x-2$</a:t>
                </a:r>
                <a:r>
                  <a:rPr sz="2400" b="0">
                    <a:solidFill>
                      <a:srgbClr val="111827"/>
                    </a:solidFill>
                    <a:latin typeface="Arial"/>
                  </a:rPr>
                  <a:t> and </a:t>
                </a:r>
                <a:r>
                  <a:rPr lang="en-IN" sz="2400">
                    <a:solidFill>
                      <a:srgbClr val="111827"/>
                    </a:solidFill>
                    <a:latin typeface="Cambria Math" panose="02040503050406030204" pitchFamily="18" charset="0"/>
                  </a:rPr>
                  <a:t>$y=-(x-2)$</a:t>
                </a:r>
                <a:r>
                  <a:rPr sz="2400" b="0">
                    <a:solidFill>
                      <a:srgbClr val="111827"/>
                    </a:solidFill>
                    <a:latin typeface="Arial"/>
                  </a:rPr>
                  <a:t>, both with </a:t>
                </a:r>
                <a:r>
                  <a:rPr lang="en-IN" sz="2400">
                    <a:solidFill>
                      <a:srgbClr val="111827"/>
                    </a:solidFill>
                    <a:latin typeface="Cambria Math" panose="02040503050406030204" pitchFamily="18" charset="0"/>
                  </a:rPr>
                  <a:t>$x&gt;2$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$C_2$</a:t>
                </a:r>
                <a:r>
                  <a:rPr sz="2400" b="0">
                    <a:solidFill>
                      <a:srgbClr val="111827"/>
                    </a:solidFill>
                    <a:latin typeface="Arial"/>
                  </a:rPr>
                  <a:t> is the pair of rays from </a:t>
                </a:r>
                <a:r>
                  <a:rPr lang="en-IN" sz="2400">
                    <a:solidFill>
                      <a:srgbClr val="111827"/>
                    </a:solidFill>
                    <a:latin typeface="Cambria Math" panose="02040503050406030204" pitchFamily="18" charset="0"/>
                  </a:rPr>
                  <a:t>$(-2,0)$</a:t>
                </a:r>
                <a:r>
                  <a:rPr sz="2400" b="0">
                    <a:solidFill>
                      <a:srgbClr val="111827"/>
                    </a:solidFill>
                    <a:latin typeface="Arial"/>
                  </a:rPr>
                  <a:t> at </a:t>
                </a:r>
                <a:r>
                  <a:rPr lang="en-IN" sz="2400">
                    <a:solidFill>
                      <a:srgbClr val="111827"/>
                    </a:solidFill>
                    <a:latin typeface="Cambria Math" panose="02040503050406030204" pitchFamily="18" charset="0"/>
                  </a:rPr>
                  <a:t>$\pm135^\circ$</a:t>
                </a:r>
                <a:r>
                  <a:rPr sz="2400" b="0">
                    <a:solidFill>
                      <a:srgbClr val="111827"/>
                    </a:solidFill>
                    <a:latin typeface="Arial"/>
                  </a:rPr>
                  <a:t>: </a:t>
                </a:r>
                <a:r>
                  <a:rPr lang="en-IN" sz="2400">
                    <a:solidFill>
                      <a:srgbClr val="111827"/>
                    </a:solidFill>
                    <a:latin typeface="Cambria Math" panose="02040503050406030204" pitchFamily="18" charset="0"/>
                  </a:rPr>
                  <a:t>$y=-(x+2)$</a:t>
                </a:r>
                <a:r>
                  <a:rPr sz="2400" b="0">
                    <a:solidFill>
                      <a:srgbClr val="111827"/>
                    </a:solidFill>
                    <a:latin typeface="Arial"/>
                  </a:rPr>
                  <a:t> and </a:t>
                </a:r>
                <a:r>
                  <a:rPr lang="en-IN" sz="2400">
                    <a:solidFill>
                      <a:srgbClr val="111827"/>
                    </a:solidFill>
                    <a:latin typeface="Cambria Math" panose="02040503050406030204" pitchFamily="18" charset="0"/>
                  </a:rPr>
                  <a:t>$y=x+2$</a:t>
                </a:r>
                <a:r>
                  <a:rPr sz="2400" b="0">
                    <a:solidFill>
                      <a:srgbClr val="111827"/>
                    </a:solidFill>
                    <a:latin typeface="Arial"/>
                  </a:rPr>
                  <a:t>, both with </a:t>
                </a:r>
                <a:r>
                  <a:rPr lang="en-IN" sz="2400">
                    <a:solidFill>
                      <a:srgbClr val="111827"/>
                    </a:solidFill>
                    <a:latin typeface="Cambria Math" panose="02040503050406030204" pitchFamily="18" charset="0"/>
                  </a:rPr>
                  <a:t>$x&lt;-2$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$C_3$</a:t>
                </a:r>
                <a:r>
                  <a:rPr sz="2400" b="0">
                    <a:solidFill>
                      <a:srgbClr val="111827"/>
                    </a:solidFill>
                    <a:latin typeface="Arial"/>
                  </a:rPr>
                  <a:t> is the circle with centre </a:t>
                </a:r>
                <a:r>
                  <a:rPr lang="en-IN" sz="2400">
                    <a:solidFill>
                      <a:srgbClr val="111827"/>
                    </a:solidFill>
                    <a:latin typeface="Cambria Math" panose="02040503050406030204" pitchFamily="18" charset="0"/>
                  </a:rPr>
                  <a:t>$(0,\alpha)$</a:t>
                </a:r>
                <a:r>
                  <a:rPr sz="2400" b="0">
                    <a:solidFill>
                      <a:srgbClr val="111827"/>
                    </a:solidFill>
                    <a:latin typeface="Arial"/>
                  </a:rPr>
                  <a:t> and radius </a:t>
                </a:r>
                <a:r>
                  <a:rPr lang="en-IN" sz="2400">
                    <a:solidFill>
                      <a:srgbClr val="111827"/>
                    </a:solidFill>
                    <a:latin typeface="Cambria Math" panose="02040503050406030204" pitchFamily="18" charset="0"/>
                  </a:rPr>
                  <a:t>$4\sqrt2$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the line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Foot of the perpendicular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it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has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m:t>
                    </m:r>
                  </m:oMath>
                </a14:m>
                <a:r>
                  <a:rPr sz="2400" b="0">
                    <a:solidFill>
                      <a:srgbClr val="111827"/>
                    </a:solidFill>
                    <a:latin typeface="Arial"/>
                  </a:rPr>
                  <a:t> and lies on the ray; 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it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off the ray.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the foot on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lies on the ray of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touches both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 printed value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Tangent to the line </a:t>
                </a:r>
                <a:r>
                  <a:rPr lang="en-IN" sz="2400">
                    <a:solidFill>
                      <a:srgbClr val="111827"/>
                    </a:solidFill>
                    <a:latin typeface="Cambria Math" panose="02040503050406030204" pitchFamily="18" charset="0"/>
                  </a:rPr>
                  <a:t>$y=x-2$</a:t>
                </a:r>
                <a:r>
                  <a:rPr sz="2400" b="0">
                    <a:solidFill>
                      <a:srgbClr val="111827"/>
                    </a:solidFill>
                    <a:latin typeface="Arial"/>
                  </a:rPr>
                  <a:t>: </a:t>
                </a:r>
                <a:r>
                  <a:rPr lang="en-IN" sz="2400">
                    <a:solidFill>
                      <a:srgbClr val="111827"/>
                    </a:solidFill>
                    <a:latin typeface="Cambria Math" panose="02040503050406030204" pitchFamily="18" charset="0"/>
                  </a:rPr>
                  <a:t>$\frac{|0-\alpha-2|}{\sqrt2}=4\sqrt2$</a:t>
                </a:r>
                <a:r>
                  <a:rPr sz="2400" b="0">
                    <a:solidFill>
                      <a:srgbClr val="111827"/>
                    </a:solidFill>
                    <a:latin typeface="Arial"/>
                  </a:rPr>
                  <a:t>, so </a:t>
                </a:r>
                <a:r>
                  <a:rPr lang="en-IN" sz="2400">
                    <a:solidFill>
                      <a:srgbClr val="111827"/>
                    </a:solidFill>
                    <a:latin typeface="Cambria Math" panose="02040503050406030204" pitchFamily="18" charset="0"/>
                  </a:rPr>
                  <a:t>$|\alpha+2|=8$</a:t>
                </a:r>
                <a:r>
                  <a:rPr sz="2400" b="0">
                    <a:solidFill>
                      <a:srgbClr val="111827"/>
                    </a:solidFill>
                    <a:latin typeface="Arial"/>
                  </a:rPr>
                  <a:t> and </a:t>
                </a:r>
                <a:r>
                  <a:rPr lang="en-IN" sz="2400">
                    <a:solidFill>
                      <a:srgbClr val="111827"/>
                    </a:solidFill>
                    <a:latin typeface="Cambria Math" panose="02040503050406030204" pitchFamily="18" charset="0"/>
                  </a:rPr>
                  <a:t>$\alpha=6$</a:t>
                </a:r>
                <a:r>
                  <a:rPr sz="2400" b="0">
                    <a:solidFill>
                      <a:srgbClr val="111827"/>
                    </a:solidFill>
                    <a:latin typeface="Arial"/>
                  </a:rPr>
                  <a:t> or </a:t>
                </a:r>
                <a:r>
                  <a:rPr lang="en-IN" sz="2400">
                    <a:solidFill>
                      <a:srgbClr val="111827"/>
                    </a:solidFill>
                    <a:latin typeface="Cambria Math" panose="02040503050406030204" pitchFamily="18" charset="0"/>
                  </a:rPr>
                  <a:t>$-10$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Foot of the perpendicular from </a:t>
                </a:r>
                <a:r>
                  <a:rPr lang="en-IN" sz="2400">
                    <a:solidFill>
                      <a:srgbClr val="111827"/>
                    </a:solidFill>
                    <a:latin typeface="Cambria Math" panose="02040503050406030204" pitchFamily="18" charset="0"/>
                  </a:rPr>
                  <a:t>$(0,\alpha)$</a:t>
                </a:r>
                <a:r>
                  <a:rPr sz="2400" b="0">
                    <a:solidFill>
                      <a:srgbClr val="111827"/>
                    </a:solidFill>
                    <a:latin typeface="Arial"/>
                  </a:rPr>
                  <a:t> to </a:t>
                </a:r>
                <a:r>
                  <a:rPr lang="en-IN" sz="2400">
                    <a:solidFill>
                      <a:srgbClr val="111827"/>
                    </a:solidFill>
                    <a:latin typeface="Cambria Math" panose="02040503050406030204" pitchFamily="18" charset="0"/>
                  </a:rPr>
                  <a:t>$y=x-2$</a:t>
                </a:r>
                <a:r>
                  <a:rPr sz="2400" b="0">
                    <a:solidFill>
                      <a:srgbClr val="111827"/>
                    </a:solidFill>
                    <a:latin typeface="Arial"/>
                  </a:rPr>
                  <a:t> is </a:t>
                </a:r>
                <a:r>
                  <a:rPr lang="en-IN" sz="2400">
                    <a:solidFill>
                      <a:srgbClr val="111827"/>
                    </a:solidFill>
                    <a:latin typeface="Cambria Math" panose="02040503050406030204" pitchFamily="18" charset="0"/>
                  </a:rPr>
                  <a:t>$\left(\frac{\alpha+2}{2},\frac{\alpha-2}{2}\right)$</a:t>
                </a:r>
                <a:r>
                  <a:rPr sz="2400" b="0">
                    <a:solidFill>
                      <a:srgbClr val="111827"/>
                    </a:solidFill>
                    <a:latin typeface="Arial"/>
                  </a:rPr>
                  <a:t>. For </a:t>
                </a:r>
                <a:r>
                  <a:rPr lang="en-IN" sz="2400">
                    <a:solidFill>
                      <a:srgbClr val="111827"/>
                    </a:solidFill>
                    <a:latin typeface="Cambria Math" panose="02040503050406030204" pitchFamily="18" charset="0"/>
                  </a:rPr>
                  <a:t>$\alpha=6$</a:t>
                </a:r>
                <a:r>
                  <a:rPr sz="2400" b="0">
                    <a:solidFill>
                      <a:srgbClr val="111827"/>
                    </a:solidFill>
                    <a:latin typeface="Arial"/>
                  </a:rPr>
                  <a:t> it is </a:t>
                </a:r>
                <a:r>
                  <a:rPr lang="en-IN" sz="2400">
                    <a:solidFill>
                      <a:srgbClr val="111827"/>
                    </a:solidFill>
                    <a:latin typeface="Cambria Math" panose="02040503050406030204" pitchFamily="18" charset="0"/>
                  </a:rPr>
                  <a:t>$(4,2)$</a:t>
                </a:r>
                <a:r>
                  <a:rPr sz="2400" b="0">
                    <a:solidFill>
                      <a:srgbClr val="111827"/>
                    </a:solidFill>
                    <a:latin typeface="Arial"/>
                  </a:rPr>
                  <a:t>, which has </a:t>
                </a:r>
                <a:r>
                  <a:rPr lang="en-IN" sz="2400">
                    <a:solidFill>
                      <a:srgbClr val="111827"/>
                    </a:solidFill>
                    <a:latin typeface="Cambria Math" panose="02040503050406030204" pitchFamily="18" charset="0"/>
                  </a:rPr>
                  <a:t>$x&gt;2$</a:t>
                </a:r>
                <a:r>
                  <a:rPr sz="2400" b="0">
                    <a:solidFill>
                      <a:srgbClr val="111827"/>
                    </a:solidFill>
                    <a:latin typeface="Arial"/>
                  </a:rPr>
                  <a:t> and lies on the ray; for </a:t>
                </a:r>
                <a:r>
                  <a:rPr lang="en-IN" sz="2400">
                    <a:solidFill>
                      <a:srgbClr val="111827"/>
                    </a:solidFill>
                    <a:latin typeface="Cambria Math" panose="02040503050406030204" pitchFamily="18" charset="0"/>
                  </a:rPr>
                  <a:t>$\alpha=-10$</a:t>
                </a:r>
                <a:r>
                  <a:rPr sz="2400" b="0">
                    <a:solidFill>
                      <a:srgbClr val="111827"/>
                    </a:solidFill>
                    <a:latin typeface="Arial"/>
                  </a:rPr>
                  <a:t> it is </a:t>
                </a:r>
                <a:r>
                  <a:rPr lang="en-IN" sz="2400">
                    <a:solidFill>
                      <a:srgbClr val="111827"/>
                    </a:solidFill>
                    <a:latin typeface="Cambria Math" panose="02040503050406030204" pitchFamily="18" charset="0"/>
                  </a:rPr>
                  <a:t>$(-4,-6)$</a:t>
                </a:r>
                <a:r>
                  <a:rPr sz="2400" b="0">
                    <a:solidFill>
                      <a:srgbClr val="111827"/>
                    </a:solidFill>
                    <a:latin typeface="Arial"/>
                  </a:rPr>
                  <a:t>, off the ray.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$\alpha=6$</a:t>
                </a:r>
                <a:r>
                  <a:rPr sz="2400" b="0">
                    <a:solidFill>
                      <a:srgbClr val="111827"/>
                    </a:solidFill>
                    <a:latin typeface="Arial"/>
                  </a:rPr>
                  <a:t> the foot on </a:t>
                </a:r>
                <a:r>
                  <a:rPr lang="en-IN" sz="2400">
                    <a:solidFill>
                      <a:srgbClr val="111827"/>
                    </a:solidFill>
                    <a:latin typeface="Cambria Math" panose="02040503050406030204" pitchFamily="18" charset="0"/>
                  </a:rPr>
                  <a:t>$y=-x-2$</a:t>
                </a:r>
                <a:r>
                  <a:rPr sz="2400" b="0">
                    <a:solidFill>
                      <a:srgbClr val="111827"/>
                    </a:solidFill>
                    <a:latin typeface="Arial"/>
                  </a:rPr>
                  <a:t> is </a:t>
                </a:r>
                <a:r>
                  <a:rPr lang="en-IN" sz="2400">
                    <a:solidFill>
                      <a:srgbClr val="111827"/>
                    </a:solidFill>
                    <a:latin typeface="Cambria Math" panose="02040503050406030204" pitchFamily="18" charset="0"/>
                  </a:rPr>
                  <a:t>$(-4,2)$</a:t>
                </a:r>
                <a:r>
                  <a:rPr sz="2400" b="0">
                    <a:solidFill>
                      <a:srgbClr val="111827"/>
                    </a:solidFill>
                    <a:latin typeface="Arial"/>
                  </a:rPr>
                  <a:t>, which lies on the ray of </a:t>
                </a:r>
                <a:r>
                  <a:rPr lang="en-IN" sz="2400">
                    <a:solidFill>
                      <a:srgbClr val="111827"/>
                    </a:solidFill>
                    <a:latin typeface="Cambria Math" panose="02040503050406030204" pitchFamily="18" charset="0"/>
                  </a:rPr>
                  <a:t>$C_2$</a:t>
                </a:r>
                <a:r>
                  <a:rPr sz="2400" b="0">
                    <a:solidFill>
                      <a:srgbClr val="111827"/>
                    </a:solidFill>
                    <a:latin typeface="Arial"/>
                  </a:rPr>
                  <a:t> (here </a:t>
                </a:r>
                <a:r>
                  <a:rPr lang="en-IN" sz="2400">
                    <a:solidFill>
                      <a:srgbClr val="111827"/>
                    </a:solidFill>
                    <a:latin typeface="Cambria Math" panose="02040503050406030204" pitchFamily="18" charset="0"/>
                  </a:rPr>
                  <a:t>$x&lt;-2$</a:t>
                </a:r>
                <a:r>
                  <a:rPr sz="2400" b="0">
                    <a:solidFill>
                      <a:srgbClr val="111827"/>
                    </a:solidFill>
                    <a:latin typeface="Arial"/>
                  </a:rPr>
                  <a:t>). So </a:t>
                </a:r>
                <a:r>
                  <a:rPr lang="en-IN" sz="2400">
                    <a:solidFill>
                      <a:srgbClr val="111827"/>
                    </a:solidFill>
                    <a:latin typeface="Cambria Math" panose="02040503050406030204" pitchFamily="18" charset="0"/>
                  </a:rPr>
                  <a:t>$\alpha=6$</a:t>
                </a:r>
                <a:r>
                  <a:rPr sz="2400" b="0">
                    <a:solidFill>
                      <a:srgbClr val="111827"/>
                    </a:solidFill>
                    <a:latin typeface="Arial"/>
                  </a:rPr>
                  <a:t> touches both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(the printed value </a:t>
                </a:r>
                <a:r>
                  <a:rPr lang="en-IN" sz="2400">
                    <a:solidFill>
                      <a:srgbClr val="111827"/>
                    </a:solidFill>
                    <a:latin typeface="Cambria Math" panose="02040503050406030204" pitchFamily="18" charset="0"/>
                  </a:rPr>
                  <a:t>$\alpha+2=8$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reflection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maps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to themselves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also works (touching the lower rays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printed text says the second case is also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(it writes similarly); the second value is actually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absolute values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reflection </a:t>
                </a:r>
                <a:r>
                  <a:rPr lang="en-IN" sz="2400">
                    <a:solidFill>
                      <a:srgbClr val="111827"/>
                    </a:solidFill>
                    <a:latin typeface="Cambria Math" panose="02040503050406030204" pitchFamily="18" charset="0"/>
                  </a:rPr>
                  <a:t>$y\to-y$</a:t>
                </a:r>
                <a:r>
                  <a:rPr sz="2400" b="0">
                    <a:solidFill>
                      <a:srgbClr val="111827"/>
                    </a:solidFill>
                    <a:latin typeface="Arial"/>
                  </a:rPr>
                  <a:t> maps </a:t>
                </a:r>
                <a:r>
                  <a:rPr lang="en-IN" sz="2400">
                    <a:solidFill>
                      <a:srgbClr val="111827"/>
                    </a:solidFill>
                    <a:latin typeface="Cambria Math" panose="02040503050406030204" pitchFamily="18" charset="0"/>
                  </a:rPr>
                  <a:t>$C_1$</a:t>
                </a:r>
                <a:r>
                  <a:rPr sz="2400" b="0">
                    <a:solidFill>
                      <a:srgbClr val="111827"/>
                    </a:solidFill>
                    <a:latin typeface="Arial"/>
                  </a:rPr>
                  <a:t> and </a:t>
                </a:r>
                <a:r>
                  <a:rPr lang="en-IN" sz="2400">
                    <a:solidFill>
                      <a:srgbClr val="111827"/>
                    </a:solidFill>
                    <a:latin typeface="Cambria Math" panose="02040503050406030204" pitchFamily="18" charset="0"/>
                  </a:rPr>
                  <a:t>$C_2$</a:t>
                </a:r>
                <a:r>
                  <a:rPr sz="2400" b="0">
                    <a:solidFill>
                      <a:srgbClr val="111827"/>
                    </a:solidFill>
                    <a:latin typeface="Arial"/>
                  </a:rPr>
                  <a:t> to themselves and </a:t>
                </a:r>
                <a:r>
                  <a:rPr lang="en-IN" sz="2400">
                    <a:solidFill>
                      <a:srgbClr val="111827"/>
                    </a:solidFill>
                    <a:latin typeface="Cambria Math" panose="02040503050406030204" pitchFamily="18" charset="0"/>
                  </a:rPr>
                  <a:t>$C_3(\alpha)$</a:t>
                </a:r>
                <a:r>
                  <a:rPr sz="2400" b="0">
                    <a:solidFill>
                      <a:srgbClr val="111827"/>
                    </a:solidFill>
                    <a:latin typeface="Arial"/>
                  </a:rPr>
                  <a:t> to </a:t>
                </a:r>
                <a:r>
                  <a:rPr lang="en-IN" sz="2400">
                    <a:solidFill>
                      <a:srgbClr val="111827"/>
                    </a:solidFill>
                    <a:latin typeface="Cambria Math" panose="02040503050406030204" pitchFamily="18" charset="0"/>
                  </a:rPr>
                  <a:t>$C_3(-\alpha)$</a:t>
                </a:r>
                <a:r>
                  <a:rPr sz="2400" b="0">
                    <a:solidFill>
                      <a:srgbClr val="111827"/>
                    </a:solidFill>
                    <a:latin typeface="Arial"/>
                  </a:rPr>
                  <a:t>, so </a:t>
                </a:r>
                <a:r>
                  <a:rPr lang="en-IN" sz="2400">
                    <a:solidFill>
                      <a:srgbClr val="111827"/>
                    </a:solidFill>
                    <a:latin typeface="Cambria Math" panose="02040503050406030204" pitchFamily="18" charset="0"/>
                  </a:rPr>
                  <a:t>$\alpha=-6$</a:t>
                </a:r>
                <a:r>
                  <a:rPr sz="2400" b="0">
                    <a:solidFill>
                      <a:srgbClr val="111827"/>
                    </a:solidFill>
                    <a:latin typeface="Arial"/>
                  </a:rPr>
                  <a:t> also works (touching the lower rays at </a:t>
                </a:r>
                <a:r>
                  <a:rPr lang="en-IN" sz="2400">
                    <a:solidFill>
                      <a:srgbClr val="111827"/>
                    </a:solidFill>
                    <a:latin typeface="Cambria Math" panose="02040503050406030204" pitchFamily="18" charset="0"/>
                  </a:rPr>
                  <a:t>$(4,-2)$</a:t>
                </a:r>
                <a:r>
                  <a:rPr sz="2400" b="0">
                    <a:solidFill>
                      <a:srgbClr val="111827"/>
                    </a:solidFill>
                    <a:latin typeface="Arial"/>
                  </a:rPr>
                  <a:t> and </a:t>
                </a:r>
                <a:r>
                  <a:rPr lang="en-IN" sz="2400">
                    <a:solidFill>
                      <a:srgbClr val="111827"/>
                    </a:solidFill>
                    <a:latin typeface="Cambria Math" panose="02040503050406030204" pitchFamily="18" charset="0"/>
                  </a:rPr>
                  <a:t>$(-4,-2)$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printed text says the second case is also </a:t>
                </a:r>
                <a:r>
                  <a:rPr lang="en-IN" sz="2400">
                    <a:solidFill>
                      <a:srgbClr val="111827"/>
                    </a:solidFill>
                    <a:latin typeface="Cambria Math" panose="02040503050406030204" pitchFamily="18" charset="0"/>
                  </a:rPr>
                  <a:t>$\alpha=6$</a:t>
                </a:r>
                <a:r>
                  <a:rPr sz="2400" b="0">
                    <a:solidFill>
                      <a:srgbClr val="111827"/>
                    </a:solidFill>
                    <a:latin typeface="Arial"/>
                  </a:rPr>
                  <a:t> (it writes similarly); the second value is actually </a:t>
                </a:r>
                <a:r>
                  <a:rPr lang="en-IN" sz="2400">
                    <a:solidFill>
                      <a:srgbClr val="111827"/>
                    </a:solidFill>
                    <a:latin typeface="Cambria Math" panose="02040503050406030204" pitchFamily="18" charset="0"/>
                  </a:rPr>
                  <a:t>$-6$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absolute values </a:t>
                </a:r>
                <a:r>
                  <a:rPr lang="en-IN" sz="2400">
                    <a:solidFill>
                      <a:srgbClr val="111827"/>
                    </a:solidFill>
                    <a:latin typeface="Cambria Math" panose="02040503050406030204" pitchFamily="18" charset="0"/>
                  </a:rPr>
                  <a:t>$=6+6=12$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12</a:t>
            </a:r>
            <a:endParaRPr sz="2800">
              <a:solidFill>
                <a:srgbClr val="15803D"/>
              </a:solidFill>
            </a:endParaRPr>
          </a:p>
        </p:txBody>
      </p:sp>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circle tangent to both sides of an angle has its centre on the bisector at distance </a:t>
                </a:r>
                <a14:m>
                  <m:oMath xmlns:m="http://schemas.openxmlformats.org/officeDocument/2006/math">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sin</m:t>
                    </m:r>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ℎ𝑎𝑙𝑓-𝑎𝑛𝑔𝑙𝑒</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from the vertex.</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circle tangent to both sides of an angle has its centre on the bisector at distance </a:t>
                </a:r>
                <a:r>
                  <a:rPr lang="en-IN" sz="2400">
                    <a:solidFill>
                      <a:srgbClr val="78350F"/>
                    </a:solidFill>
                    <a:latin typeface="Cambria Math" panose="02040503050406030204" pitchFamily="18" charset="0"/>
                  </a:rPr>
                  <a:t>$r/\sin(\text{half-angle})$</a:t>
                </a:r>
                <a:r>
                  <a:rPr sz="2400" b="0">
                    <a:solidFill>
                      <a:srgbClr val="78350F"/>
                    </a:solidFill>
                    <a:latin typeface="Arial"/>
                  </a:rPr>
                  <a:t> from the vertex.</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upper rays lie on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which meet at the vertex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half-angle </a:t>
                </a:r>
                <a14:m>
                  <m:oMath xmlns:m="http://schemas.openxmlformats.org/officeDocument/2006/math">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about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(the bisector).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circle tangent to both lines has centre on the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-axis at distance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45</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from the vertex, so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puts the tangent points on the rays (centre above the vertex, contact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upper rays lie on </a:t>
                </a:r>
                <a:r>
                  <a:rPr lang="en-IN" sz="2400">
                    <a:solidFill>
                      <a:srgbClr val="111827"/>
                    </a:solidFill>
                    <a:latin typeface="Cambria Math" panose="02040503050406030204" pitchFamily="18" charset="0"/>
                  </a:rPr>
                  <a:t>$y=x-2$</a:t>
                </a:r>
                <a:r>
                  <a:rPr sz="2400" b="0">
                    <a:solidFill>
                      <a:srgbClr val="111827"/>
                    </a:solidFill>
                    <a:latin typeface="Arial"/>
                  </a:rPr>
                  <a:t> and </a:t>
                </a:r>
                <a:r>
                  <a:rPr lang="en-IN" sz="2400">
                    <a:solidFill>
                      <a:srgbClr val="111827"/>
                    </a:solidFill>
                    <a:latin typeface="Cambria Math" panose="02040503050406030204" pitchFamily="18" charset="0"/>
                  </a:rPr>
                  <a:t>$y=-x-2$</a:t>
                </a:r>
                <a:r>
                  <a:rPr sz="2400" b="0">
                    <a:solidFill>
                      <a:srgbClr val="111827"/>
                    </a:solidFill>
                    <a:latin typeface="Arial"/>
                  </a:rPr>
                  <a:t>, which meet at the vertex </a:t>
                </a:r>
                <a:r>
                  <a:rPr lang="en-IN" sz="2400">
                    <a:solidFill>
                      <a:srgbClr val="111827"/>
                    </a:solidFill>
                    <a:latin typeface="Cambria Math" panose="02040503050406030204" pitchFamily="18" charset="0"/>
                  </a:rPr>
                  <a:t>$(0,-2)$</a:t>
                </a:r>
                <a:r>
                  <a:rPr sz="2400" b="0">
                    <a:solidFill>
                      <a:srgbClr val="111827"/>
                    </a:solidFill>
                    <a:latin typeface="Arial"/>
                  </a:rPr>
                  <a:t> with half-angle </a:t>
                </a:r>
                <a:r>
                  <a:rPr lang="en-IN" sz="2400">
                    <a:solidFill>
                      <a:srgbClr val="111827"/>
                    </a:solidFill>
                    <a:latin typeface="Cambria Math" panose="02040503050406030204" pitchFamily="18" charset="0"/>
                  </a:rPr>
                  <a:t>$45^\circ$</a:t>
                </a:r>
                <a:r>
                  <a:rPr sz="2400" b="0">
                    <a:solidFill>
                      <a:srgbClr val="111827"/>
                    </a:solidFill>
                    <a:latin typeface="Arial"/>
                  </a:rPr>
                  <a:t> about the </a:t>
                </a:r>
                <a:r>
                  <a:rPr lang="en-IN" sz="2400">
                    <a:solidFill>
                      <a:srgbClr val="111827"/>
                    </a:solidFill>
                    <a:latin typeface="Cambria Math" panose="02040503050406030204" pitchFamily="18" charset="0"/>
                  </a:rPr>
                  <a:t>$y$</a:t>
                </a:r>
                <a:r>
                  <a:rPr sz="2400" b="0">
                    <a:solidFill>
                      <a:srgbClr val="111827"/>
                    </a:solidFill>
                    <a:latin typeface="Arial"/>
                  </a:rPr>
                  <a:t>-axis (the bisector).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circle tangent to both lines has centre on the </a:t>
                </a:r>
                <a:r>
                  <a:rPr lang="en-IN" sz="2400">
                    <a:solidFill>
                      <a:srgbClr val="111827"/>
                    </a:solidFill>
                    <a:latin typeface="Cambria Math" panose="02040503050406030204" pitchFamily="18" charset="0"/>
                  </a:rPr>
                  <a:t>$y$</a:t>
                </a:r>
                <a:r>
                  <a:rPr sz="2400" b="0">
                    <a:solidFill>
                      <a:srgbClr val="111827"/>
                    </a:solidFill>
                    <a:latin typeface="Arial"/>
                  </a:rPr>
                  <a:t>-axis at distance </a:t>
                </a:r>
                <a:r>
                  <a:rPr lang="en-IN" sz="2400">
                    <a:solidFill>
                      <a:srgbClr val="111827"/>
                    </a:solidFill>
                    <a:latin typeface="Cambria Math" panose="02040503050406030204" pitchFamily="18" charset="0"/>
                  </a:rPr>
                  <a:t>$\frac{r}{\sin45^\circ}=\frac{4\sqrt2}{1/\sqrt2}=8$</a:t>
                </a:r>
                <a:r>
                  <a:rPr sz="2400" b="0">
                    <a:solidFill>
                      <a:srgbClr val="111827"/>
                    </a:solidFill>
                    <a:latin typeface="Arial"/>
                  </a:rPr>
                  <a:t> from the vertex, so </a:t>
                </a:r>
                <a:r>
                  <a:rPr lang="en-IN" sz="2400">
                    <a:solidFill>
                      <a:srgbClr val="111827"/>
                    </a:solidFill>
                    <a:latin typeface="Cambria Math" panose="02040503050406030204" pitchFamily="18" charset="0"/>
                  </a:rPr>
                  <a:t>$\alpha=-2\pm8=6$</a:t>
                </a:r>
                <a:r>
                  <a:rPr sz="2400" b="0">
                    <a:solidFill>
                      <a:srgbClr val="111827"/>
                    </a:solidFill>
                    <a:latin typeface="Arial"/>
                  </a:rPr>
                  <a:t> or </a:t>
                </a:r>
                <a:r>
                  <a:rPr lang="en-IN" sz="2400">
                    <a:solidFill>
                      <a:srgbClr val="111827"/>
                    </a:solidFill>
                    <a:latin typeface="Cambria Math" panose="02040503050406030204" pitchFamily="18" charset="0"/>
                  </a:rPr>
                  <a:t>$-10$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a:t>
                </a:r>
                <a:r>
                  <a:rPr lang="en-IN" sz="2400">
                    <a:solidFill>
                      <a:srgbClr val="111827"/>
                    </a:solidFill>
                    <a:latin typeface="Cambria Math" panose="02040503050406030204" pitchFamily="18" charset="0"/>
                  </a:rPr>
                  <a:t>$\alpha=6$</a:t>
                </a:r>
                <a:r>
                  <a:rPr sz="2400" b="0">
                    <a:solidFill>
                      <a:srgbClr val="111827"/>
                    </a:solidFill>
                    <a:latin typeface="Arial"/>
                  </a:rPr>
                  <a:t> puts the tangent points on the rays (centre above the vertex, contact at </a:t>
                </a:r>
                <a:r>
                  <a:rPr lang="en-IN" sz="2400">
                    <a:solidFill>
                      <a:srgbClr val="111827"/>
                    </a:solidFill>
                    <a:latin typeface="Cambria Math" panose="02040503050406030204" pitchFamily="18" charset="0"/>
                  </a:rPr>
                  <a:t>$(\pm4,2)$</a:t>
                </a:r>
                <a:r>
                  <a:rPr sz="2400" b="0">
                    <a:solidFill>
                      <a:srgbClr val="111827"/>
                    </a:solidFill>
                    <a:latin typeface="Arial"/>
                  </a:rPr>
                  <a:t> with </a:t>
                </a:r>
                <a:r>
                  <a:rPr lang="en-IN" sz="2400">
                    <a:solidFill>
                      <a:srgbClr val="111827"/>
                    </a:solidFill>
                    <a:latin typeface="Cambria Math" panose="02040503050406030204" pitchFamily="18" charset="0"/>
                  </a:rPr>
                  <a:t>$|x|&gt;2$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lower rays lie on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meeting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same argument gives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valid only for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lower rays lie on </a:t>
                </a:r>
                <a:r>
                  <a:rPr lang="en-IN" sz="2400">
                    <a:solidFill>
                      <a:srgbClr val="111827"/>
                    </a:solidFill>
                    <a:latin typeface="Cambria Math" panose="02040503050406030204" pitchFamily="18" charset="0"/>
                  </a:rPr>
                  <a:t>$y=-x+2$</a:t>
                </a:r>
                <a:r>
                  <a:rPr sz="2400" b="0">
                    <a:solidFill>
                      <a:srgbClr val="111827"/>
                    </a:solidFill>
                    <a:latin typeface="Arial"/>
                  </a:rPr>
                  <a:t> and </a:t>
                </a:r>
                <a:r>
                  <a:rPr lang="en-IN" sz="2400">
                    <a:solidFill>
                      <a:srgbClr val="111827"/>
                    </a:solidFill>
                    <a:latin typeface="Cambria Math" panose="02040503050406030204" pitchFamily="18" charset="0"/>
                  </a:rPr>
                  <a:t>$y=x+2$</a:t>
                </a:r>
                <a:r>
                  <a:rPr sz="2400" b="0">
                    <a:solidFill>
                      <a:srgbClr val="111827"/>
                    </a:solidFill>
                    <a:latin typeface="Arial"/>
                  </a:rPr>
                  <a:t>, meeting at </a:t>
                </a:r>
                <a:r>
                  <a:rPr lang="en-IN" sz="2400">
                    <a:solidFill>
                      <a:srgbClr val="111827"/>
                    </a:solidFill>
                    <a:latin typeface="Cambria Math" panose="02040503050406030204" pitchFamily="18" charset="0"/>
                  </a:rPr>
                  <a:t>$(0,2)$</a:t>
                </a:r>
                <a:r>
                  <a:rPr sz="2400" b="0">
                    <a:solidFill>
                      <a:srgbClr val="111827"/>
                    </a:solidFill>
                    <a:latin typeface="Arial"/>
                  </a:rPr>
                  <a:t>; the same argument gives </a:t>
                </a:r>
                <a:r>
                  <a:rPr lang="en-IN" sz="2400">
                    <a:solidFill>
                      <a:srgbClr val="111827"/>
                    </a:solidFill>
                    <a:latin typeface="Cambria Math" panose="02040503050406030204" pitchFamily="18" charset="0"/>
                  </a:rPr>
                  <a:t>$\alpha=2\pm8$</a:t>
                </a:r>
                <a:r>
                  <a:rPr sz="2400" b="0">
                    <a:solidFill>
                      <a:srgbClr val="111827"/>
                    </a:solidFill>
                    <a:latin typeface="Arial"/>
                  </a:rPr>
                  <a:t>, valid only for </a:t>
                </a:r>
                <a:r>
                  <a:rPr lang="en-IN" sz="2400">
                    <a:solidFill>
                      <a:srgbClr val="111827"/>
                    </a:solidFill>
                    <a:latin typeface="Cambria Math" panose="02040503050406030204" pitchFamily="18" charset="0"/>
                  </a:rPr>
                  <a:t>$\alpha=-6$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of </a:t>
                </a:r>
                <a:r>
                  <a:rPr lang="en-IN" sz="2400">
                    <a:solidFill>
                      <a:srgbClr val="111827"/>
                    </a:solidFill>
                    <a:latin typeface="Cambria Math" panose="02040503050406030204" pitchFamily="18" charset="0"/>
                  </a:rPr>
                  <a:t>$|\alpha|=6+6=12$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12</a:t>
            </a:r>
            <a:endParaRPr sz="2800">
              <a:solidFill>
                <a:srgbClr val="15803D"/>
              </a:solidFill>
            </a:endParaRPr>
          </a:p>
        </p:txBody>
      </p:sp>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π</m:t>
                    </m:r>
                  </m:oMath>
                </a14:m>
                <a:r>
                  <a:rPr sz="2400" b="0">
                    <a:solidFill>
                      <a:srgbClr val="111827"/>
                    </a:solidFill>
                    <a:latin typeface="Arial"/>
                  </a:rPr>
                  <a:t> is a pair of rays from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(not full lines); tangency to a ray needs the foot of the perpendicular on the ray.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circle tangent to both sides of an angle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φ</m:t>
                    </m:r>
                  </m:oMath>
                </a14:m>
                <a:r>
                  <a:rPr sz="2400" b="0">
                    <a:solidFill>
                      <a:srgbClr val="111827"/>
                    </a:solidFill>
                    <a:latin typeface="Arial"/>
                  </a:rPr>
                  <a:t> has centre on the bisector at distance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oMath>
                </a14:m>
                <a:r>
                  <a:rPr sz="2400" b="0">
                    <a:solidFill>
                      <a:srgbClr val="111827"/>
                    </a:solidFill>
                    <a:latin typeface="Arial"/>
                  </a:rPr>
                  <a:t> from the vertex.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numerically checked that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gives distance exactly </a:t>
                </a:r>
                <a14:m>
                  <m:oMath xmlns:m="http://schemas.openxmlformats.org/officeDocument/2006/math">
                    <m:r>
                      <a:rPr lang="en-IN" sz="2400" i="1">
                        <a:solidFill>
                          <a:srgbClr val="111827"/>
                        </a:solidFill>
                        <a:latin typeface="Cambria Math" panose="02040503050406030204" pitchFamily="18" charset="0"/>
                      </a:rPr>
                      <m:t>4</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to the rays and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does not touch.</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$|\arg(z-z_0)|=\theta$</a:t>
                </a:r>
                <a:r>
                  <a:rPr sz="2400" b="0">
                    <a:solidFill>
                      <a:srgbClr val="111827"/>
                    </a:solidFill>
                    <a:latin typeface="Arial"/>
                  </a:rPr>
                  <a:t> with </a:t>
                </a:r>
                <a:r>
                  <a:rPr lang="en-IN" sz="2400">
                    <a:solidFill>
                      <a:srgbClr val="111827"/>
                    </a:solidFill>
                    <a:latin typeface="Cambria Math" panose="02040503050406030204" pitchFamily="18" charset="0"/>
                  </a:rPr>
                  <a:t>$0&lt;\theta&lt;\pi$</a:t>
                </a:r>
                <a:r>
                  <a:rPr sz="2400" b="0">
                    <a:solidFill>
                      <a:srgbClr val="111827"/>
                    </a:solidFill>
                    <a:latin typeface="Arial"/>
                  </a:rPr>
                  <a:t> is a pair of rays from </a:t>
                </a:r>
                <a:r>
                  <a:rPr lang="en-IN" sz="2400">
                    <a:solidFill>
                      <a:srgbClr val="111827"/>
                    </a:solidFill>
                    <a:latin typeface="Cambria Math" panose="02040503050406030204" pitchFamily="18" charset="0"/>
                  </a:rPr>
                  <a:t>$z_0$</a:t>
                </a:r>
                <a:r>
                  <a:rPr sz="2400" b="0">
                    <a:solidFill>
                      <a:srgbClr val="111827"/>
                    </a:solidFill>
                    <a:latin typeface="Arial"/>
                  </a:rPr>
                  <a:t> (not full lines); tangency to a ray needs the foot of the perpendicular on the ray.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circle tangent to both sides of an angle </a:t>
                </a:r>
                <a:r>
                  <a:rPr lang="en-IN" sz="2400">
                    <a:solidFill>
                      <a:srgbClr val="111827"/>
                    </a:solidFill>
                    <a:latin typeface="Cambria Math" panose="02040503050406030204" pitchFamily="18" charset="0"/>
                  </a:rPr>
                  <a:t>$2\varphi$</a:t>
                </a:r>
                <a:r>
                  <a:rPr sz="2400" b="0">
                    <a:solidFill>
                      <a:srgbClr val="111827"/>
                    </a:solidFill>
                    <a:latin typeface="Arial"/>
                  </a:rPr>
                  <a:t> has centre on the bisector at distance </a:t>
                </a:r>
                <a:r>
                  <a:rPr lang="en-IN" sz="2400">
                    <a:solidFill>
                      <a:srgbClr val="111827"/>
                    </a:solidFill>
                    <a:latin typeface="Cambria Math" panose="02040503050406030204" pitchFamily="18" charset="0"/>
                  </a:rPr>
                  <a:t>$r/\sin\varphi$</a:t>
                </a:r>
                <a:r>
                  <a:rPr sz="2400" b="0">
                    <a:solidFill>
                      <a:srgbClr val="111827"/>
                    </a:solidFill>
                    <a:latin typeface="Arial"/>
                  </a:rPr>
                  <a:t> from the vertex.</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Distance from </a:t>
                </a:r>
                <a:r>
                  <a:rPr lang="en-IN" sz="2400">
                    <a:solidFill>
                      <a:srgbClr val="111827"/>
                    </a:solidFill>
                    <a:latin typeface="Cambria Math" panose="02040503050406030204" pitchFamily="18" charset="0"/>
                  </a:rPr>
                  <a:t>$(0,\alpha)$</a:t>
                </a:r>
                <a:r>
                  <a:rPr sz="2400" b="0">
                    <a:solidFill>
                      <a:srgbClr val="111827"/>
                    </a:solidFill>
                    <a:latin typeface="Arial"/>
                  </a:rPr>
                  <a:t> to </a:t>
                </a:r>
                <a:r>
                  <a:rPr lang="en-IN" sz="2400">
                    <a:solidFill>
                      <a:srgbClr val="111827"/>
                    </a:solidFill>
                    <a:latin typeface="Cambria Math" panose="02040503050406030204" pitchFamily="18" charset="0"/>
                  </a:rPr>
                  <a:t>$x-y-2=0$</a:t>
                </a:r>
                <a:r>
                  <a:rPr sz="2400" b="0">
                    <a:solidFill>
                      <a:srgbClr val="111827"/>
                    </a:solidFill>
                    <a:latin typeface="Arial"/>
                  </a:rPr>
                  <a:t> is </a:t>
                </a:r>
                <a:r>
                  <a:rPr lang="en-IN" sz="2400">
                    <a:solidFill>
                      <a:srgbClr val="111827"/>
                    </a:solidFill>
                    <a:latin typeface="Cambria Math" panose="02040503050406030204" pitchFamily="18" charset="0"/>
                  </a:rPr>
                  <a:t>$\frac{|\alpha+2|}{\sqrt2}$</a:t>
                </a:r>
                <a:r>
                  <a:rPr sz="2400" b="0">
                    <a:solidFill>
                      <a:srgbClr val="111827"/>
                    </a:solidFill>
                    <a:latin typeface="Arial"/>
                  </a:rPr>
                  <a:t>; numerically checked that </a:t>
                </a:r>
                <a:r>
                  <a:rPr lang="en-IN" sz="2400">
                    <a:solidFill>
                      <a:srgbClr val="111827"/>
                    </a:solidFill>
                    <a:latin typeface="Cambria Math" panose="02040503050406030204" pitchFamily="18" charset="0"/>
                  </a:rPr>
                  <a:t>$\alpha=\pm6$</a:t>
                </a:r>
                <a:r>
                  <a:rPr sz="2400" b="0">
                    <a:solidFill>
                      <a:srgbClr val="111827"/>
                    </a:solidFill>
                    <a:latin typeface="Arial"/>
                  </a:rPr>
                  <a:t> gives distance exactly </a:t>
                </a:r>
                <a:r>
                  <a:rPr lang="en-IN" sz="2400">
                    <a:solidFill>
                      <a:srgbClr val="111827"/>
                    </a:solidFill>
                    <a:latin typeface="Cambria Math" panose="02040503050406030204" pitchFamily="18" charset="0"/>
                  </a:rPr>
                  <a:t>$4\sqrt2$</a:t>
                </a:r>
                <a:r>
                  <a:rPr sz="2400" b="0">
                    <a:solidFill>
                      <a:srgbClr val="111827"/>
                    </a:solidFill>
                    <a:latin typeface="Arial"/>
                  </a:rPr>
                  <a:t> to the rays and </a:t>
                </a:r>
                <a:r>
                  <a:rPr lang="en-IN" sz="2400">
                    <a:solidFill>
                      <a:srgbClr val="111827"/>
                    </a:solidFill>
                    <a:latin typeface="Cambria Math" panose="02040503050406030204" pitchFamily="18" charset="0"/>
                  </a:rPr>
                  <a:t>$\alpha=\pm10$</a:t>
                </a:r>
                <a:r>
                  <a:rPr sz="2400" b="0">
                    <a:solidFill>
                      <a:srgbClr val="111827"/>
                    </a:solidFill>
                    <a:latin typeface="Arial"/>
                  </a:rPr>
                  <a:t> does not touch.</a:t>
                </a:r>
                <a:endParaRPr sz="2400">
                  <a:solidFill>
                    <a:srgbClr val="111827"/>
                  </a:solidFill>
                </a:endParaRPr>
              </a:p>
            </p:txBody>
          </p:sp>
        </mc:Fallback>
      </mc:AlternateContent>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95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curves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R</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rad>
                  </m:oMath>
                </a14:m>
                <a:r>
                  <a:rPr sz="2400" b="0">
                    <a:solidFill>
                      <a:srgbClr val="111827"/>
                    </a:solidFill>
                    <a:latin typeface="Arial"/>
                  </a:rPr>
                  <a:t>). They intersect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in the first and fourth quadrants respectively. Tangents to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intersect the x-axis at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and tangents to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intersect the x-axis at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If the area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𝑆</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λ</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sq. units, then </a:t>
                </a:r>
                <a14:m>
                  <m:oMath xmlns:m="http://schemas.openxmlformats.org/officeDocument/2006/math">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is ________. (Figure: the parabola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opening right inside the circle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tangent lines from </a:t>
                </a:r>
                <a14:m>
                  <m:oMath xmlns:m="http://schemas.openxmlformats.org/officeDocument/2006/math">
                    <m:r>
                      <a:rPr lang="en-IN" sz="2400" i="1">
                        <a:solidFill>
                          <a:srgbClr val="111827"/>
                        </a:solidFill>
                        <a:latin typeface="Cambria Math" panose="02040503050406030204" pitchFamily="18" charset="0"/>
                      </a:rPr>
                      <m:t>𝑅</m:t>
                    </m:r>
                  </m:oMath>
                </a14:m>
                <a:r>
                  <a:rPr sz="2400" b="0">
                    <a:solidFill>
                      <a:srgbClr val="111827"/>
                    </a:solidFill>
                    <a:latin typeface="Arial"/>
                  </a:rPr>
                  <a:t> on the left and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on the right.)</a:t>
                </a:r>
                <a:endParaRPr sz="2400">
                  <a:solidFill>
                    <a:srgbClr val="111827"/>
                  </a:solidFill>
                </a:endParaRPr>
              </a:p>
            </p:txBody>
          </p:sp>
        </mc:Choice>
        <mc:Fallback>
          <p:sp>
            <p:nvSpPr>
              <p:cNvPr id="4" name="Rounded Rectangle 3"/>
              <p:cNvSpPr/>
              <p:nvPr/>
            </p:nvSpPr>
            <p:spPr>
              <a:xfrm>
                <a:off x="731520" y="1280160"/>
                <a:ext cx="10725912" cy="3495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the curves </a:t>
                </a:r>
                <a:r>
                  <a:rPr lang="en-IN" sz="2400">
                    <a:solidFill>
                      <a:srgbClr val="111827"/>
                    </a:solidFill>
                    <a:latin typeface="Cambria Math" panose="02040503050406030204" pitchFamily="18" charset="0"/>
                  </a:rPr>
                  <a:t>$C_1:|z-2|=2+\operatorname{Re}(z)$</a:t>
                </a:r>
                <a:r>
                  <a:rPr sz="2400" b="0">
                    <a:solidFill>
                      <a:srgbClr val="111827"/>
                    </a:solidFill>
                    <a:latin typeface="Arial"/>
                  </a:rPr>
                  <a:t> and </a:t>
                </a:r>
                <a:r>
                  <a:rPr lang="en-IN" sz="2400">
                    <a:solidFill>
                      <a:srgbClr val="111827"/>
                    </a:solidFill>
                    <a:latin typeface="Cambria Math" panose="02040503050406030204" pitchFamily="18" charset="0"/>
                  </a:rPr>
                  <a:t>$C_2:|z|=3$</a:t>
                </a:r>
                <a:r>
                  <a:rPr sz="2400" b="0">
                    <a:solidFill>
                      <a:srgbClr val="111827"/>
                    </a:solidFill>
                    <a:latin typeface="Arial"/>
                  </a:rPr>
                  <a:t> (where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$x,y\in\mathbb{R}$</a:t>
                </a:r>
                <a:r>
                  <a:rPr sz="2400" b="0">
                    <a:solidFill>
                      <a:srgbClr val="111827"/>
                    </a:solidFill>
                    <a:latin typeface="Arial"/>
                  </a:rPr>
                  <a:t> and </a:t>
                </a:r>
                <a:r>
                  <a:rPr lang="en-IN" sz="2400">
                    <a:solidFill>
                      <a:srgbClr val="111827"/>
                    </a:solidFill>
                    <a:latin typeface="Cambria Math" panose="02040503050406030204" pitchFamily="18" charset="0"/>
                  </a:rPr>
                  <a:t>$i=\sqrt{-1}$</a:t>
                </a:r>
                <a:r>
                  <a:rPr sz="2400" b="0">
                    <a:solidFill>
                      <a:srgbClr val="111827"/>
                    </a:solidFill>
                    <a:latin typeface="Arial"/>
                  </a:rPr>
                  <a:t>). They intersect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in the first and fourth quadrants respectively. Tangents to </a:t>
                </a:r>
                <a:r>
                  <a:rPr lang="en-IN" sz="2400">
                    <a:solidFill>
                      <a:srgbClr val="111827"/>
                    </a:solidFill>
                    <a:latin typeface="Cambria Math" panose="02040503050406030204" pitchFamily="18" charset="0"/>
                  </a:rPr>
                  <a:t>$C_1$</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intersect the x-axis at </a:t>
                </a:r>
                <a:r>
                  <a:rPr lang="en-IN" sz="2400">
                    <a:solidFill>
                      <a:srgbClr val="111827"/>
                    </a:solidFill>
                    <a:latin typeface="Cambria Math" panose="02040503050406030204" pitchFamily="18" charset="0"/>
                  </a:rPr>
                  <a:t>$R$</a:t>
                </a:r>
                <a:r>
                  <a:rPr sz="2400" b="0">
                    <a:solidFill>
                      <a:srgbClr val="111827"/>
                    </a:solidFill>
                    <a:latin typeface="Arial"/>
                  </a:rPr>
                  <a:t> and tangents to </a:t>
                </a:r>
                <a:r>
                  <a:rPr lang="en-IN" sz="2400">
                    <a:solidFill>
                      <a:srgbClr val="111827"/>
                    </a:solidFill>
                    <a:latin typeface="Cambria Math" panose="02040503050406030204" pitchFamily="18" charset="0"/>
                  </a:rPr>
                  <a:t>$C_2$</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intersect the x-axis at </a:t>
                </a:r>
                <a:r>
                  <a:rPr lang="en-IN" sz="2400">
                    <a:solidFill>
                      <a:srgbClr val="111827"/>
                    </a:solidFill>
                    <a:latin typeface="Cambria Math" panose="02040503050406030204" pitchFamily="18" charset="0"/>
                  </a:rPr>
                  <a:t>$S$</a:t>
                </a:r>
                <a:r>
                  <a:rPr sz="2400" b="0">
                    <a:solidFill>
                      <a:srgbClr val="111827"/>
                    </a:solidFill>
                    <a:latin typeface="Arial"/>
                  </a:rPr>
                  <a:t>. If the area of </a:t>
                </a:r>
                <a:r>
                  <a:rPr lang="en-IN" sz="2400">
                    <a:solidFill>
                      <a:srgbClr val="111827"/>
                    </a:solidFill>
                    <a:latin typeface="Cambria Math" panose="02040503050406030204" pitchFamily="18" charset="0"/>
                  </a:rPr>
                  <a:t>$\triangle PRS$</a:t>
                </a:r>
                <a:r>
                  <a:rPr sz="2400" b="0">
                    <a:solidFill>
                      <a:srgbClr val="111827"/>
                    </a:solidFill>
                    <a:latin typeface="Arial"/>
                  </a:rPr>
                  <a:t> is </a:t>
                </a:r>
                <a:r>
                  <a:rPr lang="en-IN" sz="2400">
                    <a:solidFill>
                      <a:srgbClr val="111827"/>
                    </a:solidFill>
                    <a:latin typeface="Cambria Math" panose="02040503050406030204" pitchFamily="18" charset="0"/>
                  </a:rPr>
                  <a:t>$\lambda\sqrt2$</a:t>
                </a:r>
                <a:r>
                  <a:rPr sz="2400" b="0">
                    <a:solidFill>
                      <a:srgbClr val="111827"/>
                    </a:solidFill>
                    <a:latin typeface="Arial"/>
                  </a:rPr>
                  <a:t> sq. units, then </a:t>
                </a:r>
                <a:r>
                  <a:rPr lang="en-IN" sz="2400">
                    <a:solidFill>
                      <a:srgbClr val="111827"/>
                    </a:solidFill>
                    <a:latin typeface="Cambria Math" panose="02040503050406030204" pitchFamily="18" charset="0"/>
                  </a:rPr>
                  <a:t>$\lambda^2$</a:t>
                </a:r>
                <a:r>
                  <a:rPr sz="2400" b="0">
                    <a:solidFill>
                      <a:srgbClr val="111827"/>
                    </a:solidFill>
                    <a:latin typeface="Arial"/>
                  </a:rPr>
                  <a:t> is ________. (Figure: the parabola </a:t>
                </a:r>
                <a:r>
                  <a:rPr lang="en-IN" sz="2400">
                    <a:solidFill>
                      <a:srgbClr val="111827"/>
                    </a:solidFill>
                    <a:latin typeface="Cambria Math" panose="02040503050406030204" pitchFamily="18" charset="0"/>
                  </a:rPr>
                  <a:t>$C_1$</a:t>
                </a:r>
                <a:r>
                  <a:rPr sz="2400" b="0">
                    <a:solidFill>
                      <a:srgbClr val="111827"/>
                    </a:solidFill>
                    <a:latin typeface="Arial"/>
                  </a:rPr>
                  <a:t> opening right inside the circle </a:t>
                </a:r>
                <a:r>
                  <a:rPr lang="en-IN" sz="2400">
                    <a:solidFill>
                      <a:srgbClr val="111827"/>
                    </a:solidFill>
                    <a:latin typeface="Cambria Math" panose="02040503050406030204" pitchFamily="18" charset="0"/>
                  </a:rPr>
                  <a:t>$C_2$</a:t>
                </a:r>
                <a:r>
                  <a:rPr sz="2400" b="0">
                    <a:solidFill>
                      <a:srgbClr val="111827"/>
                    </a:solidFill>
                    <a:latin typeface="Arial"/>
                  </a:rPr>
                  <a:t>, tangent lines from </a:t>
                </a:r>
                <a:r>
                  <a:rPr lang="en-IN" sz="2400">
                    <a:solidFill>
                      <a:srgbClr val="111827"/>
                    </a:solidFill>
                    <a:latin typeface="Cambria Math" panose="02040503050406030204" pitchFamily="18" charset="0"/>
                  </a:rPr>
                  <a:t>$R$</a:t>
                </a:r>
                <a:r>
                  <a:rPr sz="2400" b="0">
                    <a:solidFill>
                      <a:srgbClr val="111827"/>
                    </a:solidFill>
                    <a:latin typeface="Arial"/>
                  </a:rPr>
                  <a:t> on the left and </a:t>
                </a:r>
                <a:r>
                  <a:rPr lang="en-IN" sz="2400">
                    <a:solidFill>
                      <a:srgbClr val="111827"/>
                    </a:solidFill>
                    <a:latin typeface="Cambria Math" panose="02040503050406030204" pitchFamily="18" charset="0"/>
                  </a:rPr>
                  <a:t>$S$</a:t>
                </a:r>
                <a:r>
                  <a:rPr sz="2400" b="0">
                    <a:solidFill>
                      <a:srgbClr val="111827"/>
                    </a:solidFill>
                    <a:latin typeface="Arial"/>
                  </a:rPr>
                  <a:t> on the right.)</a:t>
                </a:r>
                <a:endParaRPr sz="2400">
                  <a:solidFill>
                    <a:srgbClr val="111827"/>
                  </a:solidFill>
                </a:endParaRPr>
              </a:p>
            </p:txBody>
          </p:sp>
        </mc:Fallback>
      </mc:AlternateContent>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in the complex plane (parabola and circle), Tangents to conics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oMath>
                </a14:m>
                <a:r>
                  <a:rPr sz="2400" b="0">
                    <a:solidFill>
                      <a:srgbClr val="78350F"/>
                    </a:solidFill>
                    <a:latin typeface="Arial"/>
                  </a:rPr>
                  <a:t> is the parabola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m:t>
                    </m:r>
                    <m:r>
                      <a:rPr lang="en-IN" sz="2400" i="1">
                        <a:solidFill>
                          <a:srgbClr val="78350F"/>
                        </a:solidFill>
                        <a:latin typeface="Cambria Math" panose="02040503050406030204" pitchFamily="18" charset="0"/>
                      </a:rPr>
                      <m:t>𝑥</m:t>
                    </m:r>
                  </m:oMath>
                </a14:m>
                <a:r>
                  <a:rPr sz="2400" b="0">
                    <a:solidFill>
                      <a:srgbClr val="78350F"/>
                    </a:solidFill>
                    <a:latin typeface="Arial"/>
                  </a:rPr>
                  <a:t>; its tangent at </a:t>
                </a:r>
                <a14:m>
                  <m:oMath xmlns:m="http://schemas.openxmlformats.org/officeDocument/2006/math">
                    <m:r>
                      <a:rPr lang="en-IN" sz="2400" i="1">
                        <a:solidFill>
                          <a:srgbClr val="78350F"/>
                        </a:solidFill>
                        <a:latin typeface="Cambria Math" panose="02040503050406030204" pitchFamily="18" charset="0"/>
                      </a:rPr>
                      <m:t>𝑃</m:t>
                    </m:r>
                  </m:oMath>
                </a14:m>
                <a:r>
                  <a:rPr sz="2400" b="0">
                    <a:solidFill>
                      <a:srgbClr val="78350F"/>
                    </a:solidFill>
                    <a:latin typeface="Arial"/>
                  </a:rPr>
                  <a:t> meets the axis at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1</m:t>
                        </m:r>
                      </m:sub>
                    </m:sSub>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$|z-2|=2+x$</a:t>
                </a:r>
                <a:r>
                  <a:rPr sz="2400" b="0">
                    <a:solidFill>
                      <a:srgbClr val="78350F"/>
                    </a:solidFill>
                    <a:latin typeface="Arial"/>
                  </a:rPr>
                  <a:t> is the parabola </a:t>
                </a:r>
                <a:r>
                  <a:rPr lang="en-IN" sz="2400">
                    <a:solidFill>
                      <a:srgbClr val="78350F"/>
                    </a:solidFill>
                    <a:latin typeface="Cambria Math" panose="02040503050406030204" pitchFamily="18" charset="0"/>
                  </a:rPr>
                  <a:t>$y^2=8x$</a:t>
                </a:r>
                <a:r>
                  <a:rPr sz="2400" b="0">
                    <a:solidFill>
                      <a:srgbClr val="78350F"/>
                    </a:solidFill>
                    <a:latin typeface="Arial"/>
                  </a:rPr>
                  <a:t>; its tangent at </a:t>
                </a:r>
                <a:r>
                  <a:rPr lang="en-IN" sz="2400">
                    <a:solidFill>
                      <a:srgbClr val="78350F"/>
                    </a:solidFill>
                    <a:latin typeface="Cambria Math" panose="02040503050406030204" pitchFamily="18" charset="0"/>
                  </a:rPr>
                  <a:t>$P$</a:t>
                </a:r>
                <a:r>
                  <a:rPr sz="2400" b="0">
                    <a:solidFill>
                      <a:srgbClr val="78350F"/>
                    </a:solidFill>
                    <a:latin typeface="Arial"/>
                  </a:rPr>
                  <a:t> meets the axis at </a:t>
                </a:r>
                <a:r>
                  <a:rPr lang="en-IN" sz="2400">
                    <a:solidFill>
                      <a:srgbClr val="78350F"/>
                    </a:solidFill>
                    <a:latin typeface="Cambria Math" panose="02040503050406030204" pitchFamily="18" charset="0"/>
                  </a:rPr>
                  <a:t>$-x_1$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$C_1$</a:t>
                </a:r>
                <a:r>
                  <a:rPr sz="2400" b="0">
                    <a:solidFill>
                      <a:srgbClr val="111827"/>
                    </a:solidFill>
                    <a:latin typeface="Arial"/>
                  </a:rPr>
                  <a:t>: </a:t>
                </a:r>
                <a:r>
                  <a:rPr lang="en-IN" sz="2400">
                    <a:solidFill>
                      <a:srgbClr val="111827"/>
                    </a:solidFill>
                    <a:latin typeface="Cambria Math" panose="02040503050406030204" pitchFamily="18" charset="0"/>
                  </a:rPr>
                  <a:t>$\sqrt{(x-2)^2+y^2}=2+x$</a:t>
                </a:r>
                <a:r>
                  <a:rPr sz="2400" b="0">
                    <a:solidFill>
                      <a:srgbClr val="111827"/>
                    </a:solidFill>
                    <a:latin typeface="Arial"/>
                  </a:rPr>
                  <a:t>, so </a:t>
                </a:r>
                <a:r>
                  <a:rPr lang="en-IN" sz="2400">
                    <a:solidFill>
                      <a:srgbClr val="111827"/>
                    </a:solidFill>
                    <a:latin typeface="Cambria Math" panose="02040503050406030204" pitchFamily="18" charset="0"/>
                  </a:rPr>
                  <a:t>$(x-2)^2+y^2=(x+2)^2$</a:t>
                </a:r>
                <a:r>
                  <a:rPr sz="2400" b="0">
                    <a:solidFill>
                      <a:srgbClr val="111827"/>
                    </a:solidFill>
                    <a:latin typeface="Arial"/>
                  </a:rPr>
                  <a:t> and </a:t>
                </a:r>
                <a:r>
                  <a:rPr lang="en-IN" sz="2400">
                    <a:solidFill>
                      <a:srgbClr val="111827"/>
                    </a:solidFill>
                    <a:latin typeface="Cambria Math" panose="02040503050406030204" pitchFamily="18" charset="0"/>
                  </a:rPr>
                  <a:t>$y^2=8x$</a:t>
                </a:r>
                <a:r>
                  <a:rPr sz="2400" b="0">
                    <a:solidFill>
                      <a:srgbClr val="111827"/>
                    </a:solidFill>
                    <a:latin typeface="Arial"/>
                  </a:rPr>
                  <a:t>. </a:t>
                </a:r>
                <a:r>
                  <a:rPr lang="en-IN" sz="2400">
                    <a:solidFill>
                      <a:srgbClr val="111827"/>
                    </a:solidFill>
                    <a:latin typeface="Cambria Math" panose="02040503050406030204" pitchFamily="18" charset="0"/>
                  </a:rPr>
                  <a:t>$C_2$</a:t>
                </a:r>
                <a:r>
                  <a:rPr sz="2400" b="0">
                    <a:solidFill>
                      <a:srgbClr val="111827"/>
                    </a:solidFill>
                    <a:latin typeface="Arial"/>
                  </a:rPr>
                  <a:t>: </a:t>
                </a:r>
                <a:r>
                  <a:rPr lang="en-IN" sz="2400">
                    <a:solidFill>
                      <a:srgbClr val="111827"/>
                    </a:solidFill>
                    <a:latin typeface="Cambria Math" panose="02040503050406030204" pitchFamily="18" charset="0"/>
                  </a:rPr>
                  <a:t>$x^2+y^2=9$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Solving: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root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is rejected since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tangent at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meets the axis at the same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14:m>
                  <m:oMath xmlns:m="http://schemas.openxmlformats.org/officeDocument/2006/math">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𝑆</m:t>
                    </m:r>
                  </m:oMath>
                </a14:m>
                <a:r>
                  <a:rPr sz="2400" b="0">
                    <a:solidFill>
                      <a:srgbClr val="111827"/>
                    </a:solidFill>
                    <a:latin typeface="Arial"/>
                  </a:rPr>
                  <a:t> the base is </a:t>
                </a:r>
                <a14:m>
                  <m:oMath xmlns:m="http://schemas.openxmlformats.org/officeDocument/2006/math">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and the height is the ordinate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Solving: </a:t>
                </a:r>
                <a:r>
                  <a:rPr lang="en-IN" sz="2400">
                    <a:solidFill>
                      <a:srgbClr val="111827"/>
                    </a:solidFill>
                    <a:latin typeface="Cambria Math" panose="02040503050406030204" pitchFamily="18" charset="0"/>
                  </a:rPr>
                  <a:t>$x^2+8x=9$</a:t>
                </a:r>
                <a:r>
                  <a:rPr sz="2400" b="0">
                    <a:solidFill>
                      <a:srgbClr val="111827"/>
                    </a:solidFill>
                    <a:latin typeface="Arial"/>
                  </a:rPr>
                  <a:t>, so </a:t>
                </a:r>
                <a:r>
                  <a:rPr lang="en-IN" sz="2400">
                    <a:solidFill>
                      <a:srgbClr val="111827"/>
                    </a:solidFill>
                    <a:latin typeface="Cambria Math" panose="02040503050406030204" pitchFamily="18" charset="0"/>
                  </a:rPr>
                  <a:t>$x=1$</a:t>
                </a:r>
                <a:r>
                  <a:rPr sz="2400" b="0">
                    <a:solidFill>
                      <a:srgbClr val="111827"/>
                    </a:solidFill>
                    <a:latin typeface="Arial"/>
                  </a:rPr>
                  <a:t> (the root </a:t>
                </a:r>
                <a:r>
                  <a:rPr lang="en-IN" sz="2400">
                    <a:solidFill>
                      <a:srgbClr val="111827"/>
                    </a:solidFill>
                    <a:latin typeface="Cambria Math" panose="02040503050406030204" pitchFamily="18" charset="0"/>
                  </a:rPr>
                  <a:t>$x=-9$</a:t>
                </a:r>
                <a:r>
                  <a:rPr sz="2400" b="0">
                    <a:solidFill>
                      <a:srgbClr val="111827"/>
                    </a:solidFill>
                    <a:latin typeface="Arial"/>
                  </a:rPr>
                  <a:t> is rejected since </a:t>
                </a:r>
                <a:r>
                  <a:rPr lang="en-IN" sz="2400">
                    <a:solidFill>
                      <a:srgbClr val="111827"/>
                    </a:solidFill>
                    <a:latin typeface="Cambria Math" panose="02040503050406030204" pitchFamily="18" charset="0"/>
                  </a:rPr>
                  <a:t>$y^2=8x\ge0$</a:t>
                </a:r>
                <a:r>
                  <a:rPr sz="2400" b="0">
                    <a:solidFill>
                      <a:srgbClr val="111827"/>
                    </a:solidFill>
                    <a:latin typeface="Arial"/>
                  </a:rPr>
                  <a:t>). Then </a:t>
                </a:r>
                <a:r>
                  <a:rPr lang="en-IN" sz="2400">
                    <a:solidFill>
                      <a:srgbClr val="111827"/>
                    </a:solidFill>
                    <a:latin typeface="Cambria Math" panose="02040503050406030204" pitchFamily="18" charset="0"/>
                  </a:rPr>
                  <a:t>$P=(1,2\sqrt2)$</a:t>
                </a:r>
                <a:r>
                  <a:rPr sz="2400" b="0">
                    <a:solidFill>
                      <a:srgbClr val="111827"/>
                    </a:solidFill>
                    <a:latin typeface="Arial"/>
                  </a:rPr>
                  <a:t> and </a:t>
                </a:r>
                <a:r>
                  <a:rPr lang="en-IN" sz="2400">
                    <a:solidFill>
                      <a:srgbClr val="111827"/>
                    </a:solidFill>
                    <a:latin typeface="Cambria Math" panose="02040503050406030204" pitchFamily="18" charset="0"/>
                  </a:rPr>
                  <a:t>$Q=(1,-2\sqrt2)$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$C_1$</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$y(2\sqrt2)=8\cdot\frac{x+1}{2}$</a:t>
                </a:r>
                <a:r>
                  <a:rPr sz="2400" b="0">
                    <a:solidFill>
                      <a:srgbClr val="111827"/>
                    </a:solidFill>
                    <a:latin typeface="Arial"/>
                  </a:rPr>
                  <a:t>, i.e. </a:t>
                </a:r>
                <a:r>
                  <a:rPr lang="en-IN" sz="2400">
                    <a:solidFill>
                      <a:srgbClr val="111827"/>
                    </a:solidFill>
                    <a:latin typeface="Cambria Math" panose="02040503050406030204" pitchFamily="18" charset="0"/>
                  </a:rPr>
                  <a:t>$2\sqrt2\,y=4(x+1)$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$x=-1$</a:t>
                </a:r>
                <a:r>
                  <a:rPr sz="2400" b="0">
                    <a:solidFill>
                      <a:srgbClr val="111827"/>
                    </a:solidFill>
                    <a:latin typeface="Arial"/>
                  </a:rPr>
                  <a:t>, so </a:t>
                </a:r>
                <a:r>
                  <a:rPr lang="en-IN" sz="2400">
                    <a:solidFill>
                      <a:srgbClr val="111827"/>
                    </a:solidFill>
                    <a:latin typeface="Cambria Math" panose="02040503050406030204" pitchFamily="18" charset="0"/>
                  </a:rPr>
                  <a:t>$R=(-1,0)$</a:t>
                </a:r>
                <a:r>
                  <a:rPr sz="2400" b="0">
                    <a:solidFill>
                      <a:srgbClr val="111827"/>
                    </a:solidFill>
                    <a:latin typeface="Arial"/>
                  </a:rPr>
                  <a:t> (the tangent at </a:t>
                </a:r>
                <a:r>
                  <a:rPr lang="en-IN" sz="2400">
                    <a:solidFill>
                      <a:srgbClr val="111827"/>
                    </a:solidFill>
                    <a:latin typeface="Cambria Math" panose="02040503050406030204" pitchFamily="18" charset="0"/>
                  </a:rPr>
                  <a:t>$Q$</a:t>
                </a:r>
                <a:r>
                  <a:rPr sz="2400" b="0">
                    <a:solidFill>
                      <a:srgbClr val="111827"/>
                    </a:solidFill>
                    <a:latin typeface="Arial"/>
                  </a:rPr>
                  <a:t> meets the axis at the same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to </a:t>
                </a:r>
                <a:r>
                  <a:rPr lang="en-IN" sz="2400">
                    <a:solidFill>
                      <a:srgbClr val="111827"/>
                    </a:solidFill>
                    <a:latin typeface="Cambria Math" panose="02040503050406030204" pitchFamily="18" charset="0"/>
                  </a:rPr>
                  <a:t>$C_2$</a:t>
                </a:r>
                <a:r>
                  <a:rPr sz="2400" b="0">
                    <a:solidFill>
                      <a:srgbClr val="111827"/>
                    </a:solidFill>
                    <a:latin typeface="Arial"/>
                  </a:rPr>
                  <a:t> at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$x(1)+y(2\sqrt2)=9$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a:t>
                </a:r>
                <a:r>
                  <a:rPr lang="en-IN" sz="2400">
                    <a:solidFill>
                      <a:srgbClr val="111827"/>
                    </a:solidFill>
                    <a:latin typeface="Cambria Math" panose="02040503050406030204" pitchFamily="18" charset="0"/>
                  </a:rPr>
                  <a:t>$y=0$</a:t>
                </a:r>
                <a:r>
                  <a:rPr sz="2400" b="0">
                    <a:solidFill>
                      <a:srgbClr val="111827"/>
                    </a:solidFill>
                    <a:latin typeface="Arial"/>
                  </a:rPr>
                  <a:t>: </a:t>
                </a:r>
                <a:r>
                  <a:rPr lang="en-IN" sz="2400">
                    <a:solidFill>
                      <a:srgbClr val="111827"/>
                    </a:solidFill>
                    <a:latin typeface="Cambria Math" panose="02040503050406030204" pitchFamily="18" charset="0"/>
                  </a:rPr>
                  <a:t>$x=9$</a:t>
                </a:r>
                <a:r>
                  <a:rPr sz="2400" b="0">
                    <a:solidFill>
                      <a:srgbClr val="111827"/>
                    </a:solidFill>
                    <a:latin typeface="Arial"/>
                  </a:rPr>
                  <a:t>, so </a:t>
                </a:r>
                <a:r>
                  <a:rPr lang="en-IN" sz="2400">
                    <a:solidFill>
                      <a:srgbClr val="111827"/>
                    </a:solidFill>
                    <a:latin typeface="Cambria Math" panose="02040503050406030204" pitchFamily="18" charset="0"/>
                  </a:rPr>
                  <a:t>$S=(9,0)$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$\triangle PRS$</a:t>
                </a:r>
                <a:r>
                  <a:rPr sz="2400" b="0">
                    <a:solidFill>
                      <a:srgbClr val="111827"/>
                    </a:solidFill>
                    <a:latin typeface="Arial"/>
                  </a:rPr>
                  <a:t> the base is </a:t>
                </a:r>
                <a:r>
                  <a:rPr lang="en-IN" sz="2400">
                    <a:solidFill>
                      <a:srgbClr val="111827"/>
                    </a:solidFill>
                    <a:latin typeface="Cambria Math" panose="02040503050406030204" pitchFamily="18" charset="0"/>
                  </a:rPr>
                  <a:t>$RS=9-(-1)=10$</a:t>
                </a:r>
                <a:r>
                  <a:rPr sz="2400" b="0">
                    <a:solidFill>
                      <a:srgbClr val="111827"/>
                    </a:solidFill>
                    <a:latin typeface="Arial"/>
                  </a:rPr>
                  <a:t> and the height is the ordinate of </a:t>
                </a:r>
                <a:r>
                  <a:rPr lang="en-IN" sz="2400">
                    <a:solidFill>
                      <a:srgbClr val="111827"/>
                    </a:solidFill>
                    <a:latin typeface="Cambria Math" panose="02040503050406030204" pitchFamily="18" charset="0"/>
                  </a:rPr>
                  <a:t>$P$</a:t>
                </a:r>
                <a:r>
                  <a:rPr sz="2400" b="0">
                    <a:solidFill>
                      <a:srgbClr val="111827"/>
                    </a:solidFill>
                    <a:latin typeface="Arial"/>
                  </a:rPr>
                  <a:t>, </a:t>
                </a:r>
                <a:r>
                  <a:rPr lang="en-IN" sz="2400">
                    <a:solidFill>
                      <a:srgbClr val="111827"/>
                    </a:solidFill>
                    <a:latin typeface="Cambria Math" panose="02040503050406030204" pitchFamily="18" charset="0"/>
                  </a:rPr>
                  <a:t>$2\sqrt2$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$=\frac12\times10\times2\sqrt2=10\sqrt2$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$\lambda=10$</a:t>
                </a:r>
                <a:r>
                  <a:rPr sz="2400" b="0">
                    <a:solidFill>
                      <a:srgbClr val="111827"/>
                    </a:solidFill>
                    <a:latin typeface="Arial"/>
                  </a:rPr>
                  <a:t> and </a:t>
                </a:r>
                <a:r>
                  <a:rPr lang="en-IN" sz="2400">
                    <a:solidFill>
                      <a:srgbClr val="111827"/>
                    </a:solidFill>
                    <a:latin typeface="Cambria Math" panose="02040503050406030204" pitchFamily="18" charset="0"/>
                  </a:rPr>
                  <a:t>$\lambda^2=100$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100</a:t>
            </a:r>
            <a:endParaRPr sz="2800">
              <a:solidFill>
                <a:srgbClr val="15803D"/>
              </a:solidFill>
            </a:endParaRPr>
          </a:p>
        </p:txBody>
      </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sub-tangent properties: the tangent at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𝑦</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oMath>
                </a14:m>
                <a:r>
                  <a:rPr sz="2400" b="0">
                    <a:solidFill>
                      <a:srgbClr val="78350F"/>
                    </a:solidFill>
                    <a:latin typeface="Arial"/>
                  </a:rPr>
                  <a:t> to </a:t>
                </a:r>
                <a14:m>
                  <m:oMath xmlns:m="http://schemas.openxmlformats.org/officeDocument/2006/math">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𝑥</m:t>
                    </m:r>
                  </m:oMath>
                </a14:m>
                <a:r>
                  <a:rPr sz="2400" b="0">
                    <a:solidFill>
                      <a:srgbClr val="78350F"/>
                    </a:solidFill>
                    <a:latin typeface="Arial"/>
                  </a:rPr>
                  <a:t> cuts the axis at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to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𝑦</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at </a:t>
                </a:r>
                <a14:m>
                  <m:oMath xmlns:m="http://schemas.openxmlformats.org/officeDocument/2006/math">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𝑟</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sub-tangent properties: the tangent at </a:t>
                </a:r>
                <a:r>
                  <a:rPr lang="en-IN" sz="2400">
                    <a:solidFill>
                      <a:srgbClr val="78350F"/>
                    </a:solidFill>
                    <a:latin typeface="Cambria Math" panose="02040503050406030204" pitchFamily="18" charset="0"/>
                  </a:rPr>
                  <a:t>$(x_1,y_1)$</a:t>
                </a:r>
                <a:r>
                  <a:rPr sz="2400" b="0">
                    <a:solidFill>
                      <a:srgbClr val="78350F"/>
                    </a:solidFill>
                    <a:latin typeface="Arial"/>
                  </a:rPr>
                  <a:t> to </a:t>
                </a:r>
                <a:r>
                  <a:rPr lang="en-IN" sz="2400">
                    <a:solidFill>
                      <a:srgbClr val="78350F"/>
                    </a:solidFill>
                    <a:latin typeface="Cambria Math" panose="02040503050406030204" pitchFamily="18" charset="0"/>
                  </a:rPr>
                  <a:t>$y^2=4ax$</a:t>
                </a:r>
                <a:r>
                  <a:rPr sz="2400" b="0">
                    <a:solidFill>
                      <a:srgbClr val="78350F"/>
                    </a:solidFill>
                    <a:latin typeface="Arial"/>
                  </a:rPr>
                  <a:t> cuts the axis at </a:t>
                </a:r>
                <a:r>
                  <a:rPr lang="en-IN" sz="2400">
                    <a:solidFill>
                      <a:srgbClr val="78350F"/>
                    </a:solidFill>
                    <a:latin typeface="Cambria Math" panose="02040503050406030204" pitchFamily="18" charset="0"/>
                  </a:rPr>
                  <a:t>$(-x_1,0)$</a:t>
                </a:r>
                <a:r>
                  <a:rPr sz="2400" b="0">
                    <a:solidFill>
                      <a:srgbClr val="78350F"/>
                    </a:solidFill>
                    <a:latin typeface="Arial"/>
                  </a:rPr>
                  <a:t>, and to </a:t>
                </a:r>
                <a:r>
                  <a:rPr lang="en-IN" sz="2400">
                    <a:solidFill>
                      <a:srgbClr val="78350F"/>
                    </a:solidFill>
                    <a:latin typeface="Cambria Math" panose="02040503050406030204" pitchFamily="18" charset="0"/>
                  </a:rPr>
                  <a:t>$x^2+y^2=r^2$</a:t>
                </a:r>
                <a:r>
                  <a:rPr sz="2400" b="0">
                    <a:solidFill>
                      <a:srgbClr val="78350F"/>
                    </a:solidFill>
                    <a:latin typeface="Arial"/>
                  </a:rPr>
                  <a:t> at </a:t>
                </a:r>
                <a:r>
                  <a:rPr lang="en-IN" sz="2400">
                    <a:solidFill>
                      <a:srgbClr val="78350F"/>
                    </a:solidFill>
                    <a:latin typeface="Cambria Math" panose="02040503050406030204" pitchFamily="18" charset="0"/>
                  </a:rPr>
                  <a:t>$(r^2/x_1,0)$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says distance from the focus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equals distance from the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parabola with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Meeting the circle gives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meets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oMath>
                </a14:m>
                <a:r>
                  <a:rPr sz="2400" b="0">
                    <a:solidFill>
                      <a:srgbClr val="111827"/>
                    </a:solidFill>
                    <a:latin typeface="Arial"/>
                  </a:rPr>
                  <a:t> (the vertex bisects the sub-tangent).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$|z-2|=2+x$</a:t>
                </a:r>
                <a:r>
                  <a:rPr sz="2400" b="0">
                    <a:solidFill>
                      <a:srgbClr val="111827"/>
                    </a:solidFill>
                    <a:latin typeface="Arial"/>
                  </a:rPr>
                  <a:t> says distance from the focus </a:t>
                </a:r>
                <a:r>
                  <a:rPr lang="en-IN" sz="2400">
                    <a:solidFill>
                      <a:srgbClr val="111827"/>
                    </a:solidFill>
                    <a:latin typeface="Cambria Math" panose="02040503050406030204" pitchFamily="18" charset="0"/>
                  </a:rPr>
                  <a:t>$(2,0)$</a:t>
                </a:r>
                <a:r>
                  <a:rPr sz="2400" b="0">
                    <a:solidFill>
                      <a:srgbClr val="111827"/>
                    </a:solidFill>
                    <a:latin typeface="Arial"/>
                  </a:rPr>
                  <a:t> equals distance from the line </a:t>
                </a:r>
                <a:r>
                  <a:rPr lang="en-IN" sz="2400">
                    <a:solidFill>
                      <a:srgbClr val="111827"/>
                    </a:solidFill>
                    <a:latin typeface="Cambria Math" panose="02040503050406030204" pitchFamily="18" charset="0"/>
                  </a:rPr>
                  <a:t>$x=-2$</a:t>
                </a:r>
                <a:r>
                  <a:rPr sz="2400" b="0">
                    <a:solidFill>
                      <a:srgbClr val="111827"/>
                    </a:solidFill>
                    <a:latin typeface="Arial"/>
                  </a:rPr>
                  <a:t>: a parabola with </a:t>
                </a:r>
                <a:r>
                  <a:rPr lang="en-IN" sz="2400">
                    <a:solidFill>
                      <a:srgbClr val="111827"/>
                    </a:solidFill>
                    <a:latin typeface="Cambria Math" panose="02040503050406030204" pitchFamily="18" charset="0"/>
                  </a:rPr>
                  <a:t>$4a=8$</a:t>
                </a:r>
                <a:r>
                  <a:rPr sz="2400" b="0">
                    <a:solidFill>
                      <a:srgbClr val="111827"/>
                    </a:solidFill>
                    <a:latin typeface="Arial"/>
                  </a:rPr>
                  <a:t>, i.e. </a:t>
                </a:r>
                <a:r>
                  <a:rPr lang="en-IN" sz="2400">
                    <a:solidFill>
                      <a:srgbClr val="111827"/>
                    </a:solidFill>
                    <a:latin typeface="Cambria Math" panose="02040503050406030204" pitchFamily="18" charset="0"/>
                  </a:rPr>
                  <a:t>$y^2=8x$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Meeting the circle gives </a:t>
                </a:r>
                <a:r>
                  <a:rPr lang="en-IN" sz="2400">
                    <a:solidFill>
                      <a:srgbClr val="111827"/>
                    </a:solidFill>
                    <a:latin typeface="Cambria Math" panose="02040503050406030204" pitchFamily="18" charset="0"/>
                  </a:rPr>
                  <a:t>$x_1=1$</a:t>
                </a:r>
                <a:r>
                  <a:rPr sz="2400" b="0">
                    <a:solidFill>
                      <a:srgbClr val="111827"/>
                    </a:solidFill>
                    <a:latin typeface="Arial"/>
                  </a:rPr>
                  <a:t>, </a:t>
                </a:r>
                <a:r>
                  <a:rPr lang="en-IN" sz="2400">
                    <a:solidFill>
                      <a:srgbClr val="111827"/>
                    </a:solidFill>
                    <a:latin typeface="Cambria Math" panose="02040503050406030204" pitchFamily="18" charset="0"/>
                  </a:rPr>
                  <a:t>$P=(1,2\sqrt2)$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$y^2=4ax$</a:t>
                </a:r>
                <a:r>
                  <a:rPr sz="2400" b="0">
                    <a:solidFill>
                      <a:srgbClr val="111827"/>
                    </a:solidFill>
                    <a:latin typeface="Arial"/>
                  </a:rPr>
                  <a:t> the tangent at </a:t>
                </a:r>
                <a:r>
                  <a:rPr lang="en-IN" sz="2400">
                    <a:solidFill>
                      <a:srgbClr val="111827"/>
                    </a:solidFill>
                    <a:latin typeface="Cambria Math" panose="02040503050406030204" pitchFamily="18" charset="0"/>
                  </a:rPr>
                  <a:t>$P$</a:t>
                </a:r>
                <a:r>
                  <a:rPr sz="2400" b="0">
                    <a:solidFill>
                      <a:srgbClr val="111827"/>
                    </a:solidFill>
                    <a:latin typeface="Arial"/>
                  </a:rPr>
                  <a:t> meets the axis at </a:t>
                </a:r>
                <a:r>
                  <a:rPr lang="en-IN" sz="2400">
                    <a:solidFill>
                      <a:srgbClr val="111827"/>
                    </a:solidFill>
                    <a:latin typeface="Cambria Math" panose="02040503050406030204" pitchFamily="18" charset="0"/>
                  </a:rPr>
                  <a:t>$(-x_1,0)=(-1,0)=R$</a:t>
                </a:r>
                <a:r>
                  <a:rPr sz="2400" b="0">
                    <a:solidFill>
                      <a:srgbClr val="111827"/>
                    </a:solidFill>
                    <a:latin typeface="Arial"/>
                  </a:rPr>
                  <a:t> (the vertex bisects the sub-tangent).</a:t>
                </a:r>
                <a:endParaRPr sz="2400">
                  <a:solidFill>
                    <a:srgbClr val="111827"/>
                  </a:solidFill>
                </a:endParaRPr>
              </a:p>
            </p:txBody>
          </p:sp>
        </mc:Fallback>
      </mc:AlternateContent>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the tangent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meets the axis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circle </a:t>
                </a:r>
                <a:r>
                  <a:rPr lang="en-IN" sz="2400">
                    <a:solidFill>
                      <a:srgbClr val="111827"/>
                    </a:solidFill>
                    <a:latin typeface="Cambria Math" panose="02040503050406030204" pitchFamily="18" charset="0"/>
                  </a:rPr>
                  <a:t>$x^2+y^2=9$</a:t>
                </a:r>
                <a:r>
                  <a:rPr sz="2400" b="0">
                    <a:solidFill>
                      <a:srgbClr val="111827"/>
                    </a:solidFill>
                    <a:latin typeface="Arial"/>
                  </a:rPr>
                  <a:t>, the tangent at </a:t>
                </a:r>
                <a:r>
                  <a:rPr lang="en-IN" sz="2400">
                    <a:solidFill>
                      <a:srgbClr val="111827"/>
                    </a:solidFill>
                    <a:latin typeface="Cambria Math" panose="02040503050406030204" pitchFamily="18" charset="0"/>
                  </a:rPr>
                  <a:t>$P$</a:t>
                </a:r>
                <a:r>
                  <a:rPr sz="2400" b="0">
                    <a:solidFill>
                      <a:srgbClr val="111827"/>
                    </a:solidFill>
                    <a:latin typeface="Arial"/>
                  </a:rPr>
                  <a:t> meets the axis at </a:t>
                </a:r>
                <a:r>
                  <a:rPr lang="en-IN" sz="2400">
                    <a:solidFill>
                      <a:srgbClr val="111827"/>
                    </a:solidFill>
                    <a:latin typeface="Cambria Math" panose="02040503050406030204" pitchFamily="18" charset="0"/>
                  </a:rPr>
                  <a:t>$\left(\frac{9}{x_1},0\right)=(9,0)=S$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$=\frac12\cdot10\cdot2\sqrt2=10\sqrt2$</a:t>
                </a:r>
                <a:r>
                  <a:rPr sz="2400" b="0">
                    <a:solidFill>
                      <a:srgbClr val="111827"/>
                    </a:solidFill>
                    <a:latin typeface="Arial"/>
                  </a:rPr>
                  <a:t>, so </a:t>
                </a:r>
                <a:r>
                  <a:rPr lang="en-IN" sz="2400">
                    <a:solidFill>
                      <a:srgbClr val="111827"/>
                    </a:solidFill>
                    <a:latin typeface="Cambria Math" panose="02040503050406030204" pitchFamily="18" charset="0"/>
                  </a:rPr>
                  <a:t>$\lambda^2=100$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100</a:t>
            </a:r>
            <a:endParaRPr sz="2800">
              <a:solidFill>
                <a:srgbClr val="15803D"/>
              </a:solidFill>
            </a:endParaRPr>
          </a:p>
        </p:txBody>
      </p:sp>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Re</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is the parabola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(focus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directrix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𝑥</m:t>
                    </m:r>
                  </m:oMath>
                </a14:m>
                <a:r>
                  <a:rPr sz="2400" b="0">
                    <a:solidFill>
                      <a:srgbClr val="111827"/>
                    </a:solidFill>
                    <a:latin typeface="Arial"/>
                  </a:rPr>
                  <a:t> meets the axis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tangent at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𝑦</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meets it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num>
                          <m:den>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Check: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Tangents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(mirror points about the axis) meet the axis at the same point.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$|z-a|=\operatorname{Re}z+a$</a:t>
                </a:r>
                <a:r>
                  <a:rPr sz="2400" b="0">
                    <a:solidFill>
                      <a:srgbClr val="111827"/>
                    </a:solidFill>
                    <a:latin typeface="Arial"/>
                  </a:rPr>
                  <a:t> (</a:t>
                </a:r>
                <a:r>
                  <a:rPr lang="en-IN" sz="2400">
                    <a:solidFill>
                      <a:srgbClr val="111827"/>
                    </a:solidFill>
                    <a:latin typeface="Cambria Math" panose="02040503050406030204" pitchFamily="18" charset="0"/>
                  </a:rPr>
                  <a:t>$a&gt;0$</a:t>
                </a:r>
                <a:r>
                  <a:rPr sz="2400" b="0">
                    <a:solidFill>
                      <a:srgbClr val="111827"/>
                    </a:solidFill>
                    <a:latin typeface="Arial"/>
                  </a:rPr>
                  <a:t>) is the parabola </a:t>
                </a:r>
                <a:r>
                  <a:rPr lang="en-IN" sz="2400">
                    <a:solidFill>
                      <a:srgbClr val="111827"/>
                    </a:solidFill>
                    <a:latin typeface="Cambria Math" panose="02040503050406030204" pitchFamily="18" charset="0"/>
                  </a:rPr>
                  <a:t>$y^2=4ax$</a:t>
                </a:r>
                <a:r>
                  <a:rPr sz="2400" b="0">
                    <a:solidFill>
                      <a:srgbClr val="111827"/>
                    </a:solidFill>
                    <a:latin typeface="Arial"/>
                  </a:rPr>
                  <a:t> (focus </a:t>
                </a:r>
                <a:r>
                  <a:rPr lang="en-IN" sz="2400">
                    <a:solidFill>
                      <a:srgbClr val="111827"/>
                    </a:solidFill>
                    <a:latin typeface="Cambria Math" panose="02040503050406030204" pitchFamily="18" charset="0"/>
                  </a:rPr>
                  <a:t>$a$</a:t>
                </a:r>
                <a:r>
                  <a:rPr sz="2400" b="0">
                    <a:solidFill>
                      <a:srgbClr val="111827"/>
                    </a:solidFill>
                    <a:latin typeface="Arial"/>
                  </a:rPr>
                  <a:t>, directrix </a:t>
                </a:r>
                <a:r>
                  <a:rPr lang="en-IN" sz="2400">
                    <a:solidFill>
                      <a:srgbClr val="111827"/>
                    </a:solidFill>
                    <a:latin typeface="Cambria Math" panose="02040503050406030204" pitchFamily="18" charset="0"/>
                  </a:rPr>
                  <a:t>$x=-a$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 at </a:t>
                </a:r>
                <a:r>
                  <a:rPr lang="en-IN" sz="2400">
                    <a:solidFill>
                      <a:srgbClr val="111827"/>
                    </a:solidFill>
                    <a:latin typeface="Cambria Math" panose="02040503050406030204" pitchFamily="18" charset="0"/>
                  </a:rPr>
                  <a:t>$(x_1,y_1)$</a:t>
                </a:r>
                <a:r>
                  <a:rPr sz="2400" b="0">
                    <a:solidFill>
                      <a:srgbClr val="111827"/>
                    </a:solidFill>
                    <a:latin typeface="Arial"/>
                  </a:rPr>
                  <a:t> to </a:t>
                </a:r>
                <a:r>
                  <a:rPr lang="en-IN" sz="2400">
                    <a:solidFill>
                      <a:srgbClr val="111827"/>
                    </a:solidFill>
                    <a:latin typeface="Cambria Math" panose="02040503050406030204" pitchFamily="18" charset="0"/>
                  </a:rPr>
                  <a:t>$y^2=4ax$</a:t>
                </a:r>
                <a:r>
                  <a:rPr sz="2400" b="0">
                    <a:solidFill>
                      <a:srgbClr val="111827"/>
                    </a:solidFill>
                    <a:latin typeface="Arial"/>
                  </a:rPr>
                  <a:t> meets the axis at </a:t>
                </a:r>
                <a:r>
                  <a:rPr lang="en-IN" sz="2400">
                    <a:solidFill>
                      <a:srgbClr val="111827"/>
                    </a:solidFill>
                    <a:latin typeface="Cambria Math" panose="02040503050406030204" pitchFamily="18" charset="0"/>
                  </a:rPr>
                  <a:t>$(-x_1,0)$</a:t>
                </a:r>
                <a:r>
                  <a:rPr sz="2400" b="0">
                    <a:solidFill>
                      <a:srgbClr val="111827"/>
                    </a:solidFill>
                    <a:latin typeface="Arial"/>
                  </a:rPr>
                  <a:t>; tangent at </a:t>
                </a:r>
                <a:r>
                  <a:rPr lang="en-IN" sz="2400">
                    <a:solidFill>
                      <a:srgbClr val="111827"/>
                    </a:solidFill>
                    <a:latin typeface="Cambria Math" panose="02040503050406030204" pitchFamily="18" charset="0"/>
                  </a:rPr>
                  <a:t>$(x_1,y_1)$</a:t>
                </a:r>
                <a:r>
                  <a:rPr sz="2400" b="0">
                    <a:solidFill>
                      <a:srgbClr val="111827"/>
                    </a:solidFill>
                    <a:latin typeface="Arial"/>
                  </a:rPr>
                  <a:t> to </a:t>
                </a:r>
                <a:r>
                  <a:rPr lang="en-IN" sz="2400">
                    <a:solidFill>
                      <a:srgbClr val="111827"/>
                    </a:solidFill>
                    <a:latin typeface="Cambria Math" panose="02040503050406030204" pitchFamily="18" charset="0"/>
                  </a:rPr>
                  <a:t>$x^2+y^2=r^2$</a:t>
                </a:r>
                <a:r>
                  <a:rPr sz="2400" b="0">
                    <a:solidFill>
                      <a:srgbClr val="111827"/>
                    </a:solidFill>
                    <a:latin typeface="Arial"/>
                  </a:rPr>
                  <a:t> meets it at </a:t>
                </a:r>
                <a:r>
                  <a:rPr lang="en-IN" sz="2400">
                    <a:solidFill>
                      <a:srgbClr val="111827"/>
                    </a:solidFill>
                    <a:latin typeface="Cambria Math" panose="02040503050406030204" pitchFamily="18" charset="0"/>
                  </a:rPr>
                  <a:t>$\left(\frac{r^2}{x_1},0\right)$</a:t>
                </a:r>
                <a:r>
                  <a:rPr sz="2400" b="0">
                    <a:solidFill>
                      <a:srgbClr val="111827"/>
                    </a:solidFill>
                    <a:latin typeface="Arial"/>
                  </a:rPr>
                  <a:t>. Check: </a:t>
                </a:r>
                <a:r>
                  <a:rPr lang="en-IN" sz="2400">
                    <a:solidFill>
                      <a:srgbClr val="111827"/>
                    </a:solidFill>
                    <a:latin typeface="Cambria Math" panose="02040503050406030204" pitchFamily="18" charset="0"/>
                  </a:rPr>
                  <a:t>$(-1,0)$</a:t>
                </a:r>
                <a:r>
                  <a:rPr sz="2400" b="0">
                    <a:solidFill>
                      <a:srgbClr val="111827"/>
                    </a:solidFill>
                    <a:latin typeface="Arial"/>
                  </a:rPr>
                  <a:t> and </a:t>
                </a:r>
                <a:r>
                  <a:rPr lang="en-IN" sz="2400">
                    <a:solidFill>
                      <a:srgbClr val="111827"/>
                    </a:solidFill>
                    <a:latin typeface="Cambria Math" panose="02040503050406030204" pitchFamily="18" charset="0"/>
                  </a:rPr>
                  <a:t>$(9,0)$</a:t>
                </a:r>
                <a:r>
                  <a:rPr sz="2400" b="0">
                    <a:solidFill>
                      <a:srgbClr val="111827"/>
                    </a:solidFill>
                    <a:latin typeface="Arial"/>
                  </a:rPr>
                  <a:t> here.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Tangents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(mirror points about the axis) meet the axis at the same point.</a:t>
                </a:r>
                <a:endParaRPr sz="2400">
                  <a:solidFill>
                    <a:srgbClr val="111827"/>
                  </a:solidFill>
                </a:endParaRPr>
              </a:p>
            </p:txBody>
          </p:sp>
        </mc:Fallback>
      </mc:AlternateContent>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3342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 tournament, team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plays with each of the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other teams once. For each match the probabilities of a win, draw and loss are equal. The probability that team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finishes with more wins than losses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are coprime. 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a matrix of order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where </a:t>
                </a:r>
                <a14:m>
                  <m:oMath xmlns:m="http://schemas.openxmlformats.org/officeDocument/2006/math">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adj</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If </a:t>
                </a:r>
                <a14:m>
                  <m:oMath xmlns:m="http://schemas.openxmlformats.org/officeDocument/2006/math">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number of such matrices is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then find the value of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𝑝</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323342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 tournament, team </a:t>
                </a:r>
                <a:r>
                  <a:rPr lang="en-IN" sz="2400">
                    <a:solidFill>
                      <a:srgbClr val="111827"/>
                    </a:solidFill>
                    <a:latin typeface="Cambria Math" panose="02040503050406030204" pitchFamily="18" charset="0"/>
                  </a:rPr>
                  <a:t>$X$</a:t>
                </a:r>
                <a:r>
                  <a:rPr sz="2400" b="0">
                    <a:solidFill>
                      <a:srgbClr val="111827"/>
                    </a:solidFill>
                    <a:latin typeface="Arial"/>
                  </a:rPr>
                  <a:t> plays with each of the </a:t>
                </a:r>
                <a:r>
                  <a:rPr lang="en-IN" sz="2400">
                    <a:solidFill>
                      <a:srgbClr val="111827"/>
                    </a:solidFill>
                    <a:latin typeface="Cambria Math" panose="02040503050406030204" pitchFamily="18" charset="0"/>
                  </a:rPr>
                  <a:t>$6$</a:t>
                </a:r>
                <a:r>
                  <a:rPr sz="2400" b="0">
                    <a:solidFill>
                      <a:srgbClr val="111827"/>
                    </a:solidFill>
                    <a:latin typeface="Arial"/>
                  </a:rPr>
                  <a:t> other teams once. For each match the probabilities of a win, draw and loss are equal. The probability that team </a:t>
                </a:r>
                <a:r>
                  <a:rPr lang="en-IN" sz="2400">
                    <a:solidFill>
                      <a:srgbClr val="111827"/>
                    </a:solidFill>
                    <a:latin typeface="Cambria Math" panose="02040503050406030204" pitchFamily="18" charset="0"/>
                  </a:rPr>
                  <a:t>$X$</a:t>
                </a:r>
                <a:r>
                  <a:rPr sz="2400" b="0">
                    <a:solidFill>
                      <a:srgbClr val="111827"/>
                    </a:solidFill>
                    <a:latin typeface="Arial"/>
                  </a:rPr>
                  <a:t> finishes with more wins than losses is </a:t>
                </a:r>
                <a:r>
                  <a:rPr lang="en-IN" sz="2400">
                    <a:solidFill>
                      <a:srgbClr val="111827"/>
                    </a:solidFill>
                    <a:latin typeface="Cambria Math" panose="02040503050406030204" pitchFamily="18" charset="0"/>
                  </a:rPr>
                  <a:t>$\frac{m}{n}$</a:t>
                </a:r>
                <a:r>
                  <a:rPr sz="2400" b="0">
                    <a:solidFill>
                      <a:srgbClr val="111827"/>
                    </a:solidFill>
                    <a:latin typeface="Arial"/>
                  </a:rPr>
                  <a:t> where </a:t>
                </a:r>
                <a:r>
                  <a:rPr lang="en-IN" sz="2400">
                    <a:solidFill>
                      <a:srgbClr val="111827"/>
                    </a:solidFill>
                    <a:latin typeface="Cambria Math" panose="02040503050406030204" pitchFamily="18" charset="0"/>
                  </a:rPr>
                  <a:t>$m,n$</a:t>
                </a:r>
                <a:r>
                  <a:rPr sz="2400" b="0">
                    <a:solidFill>
                      <a:srgbClr val="111827"/>
                    </a:solidFill>
                    <a:latin typeface="Arial"/>
                  </a:rPr>
                  <a:t> are coprime. Let </a:t>
                </a:r>
                <a:r>
                  <a:rPr lang="en-IN" sz="2400">
                    <a:solidFill>
                      <a:srgbClr val="111827"/>
                    </a:solidFill>
                    <a:latin typeface="Cambria Math" panose="02040503050406030204" pitchFamily="18" charset="0"/>
                  </a:rPr>
                  <a:t>$A=[a_{ij}]$</a:t>
                </a:r>
                <a:r>
                  <a:rPr sz="2400" b="0">
                    <a:solidFill>
                      <a:srgbClr val="111827"/>
                    </a:solidFill>
                    <a:latin typeface="Arial"/>
                  </a:rPr>
                  <a:t> be a matrix of order </a:t>
                </a:r>
                <a:r>
                  <a:rPr lang="en-IN" sz="2400">
                    <a:solidFill>
                      <a:srgbClr val="111827"/>
                    </a:solidFill>
                    <a:latin typeface="Cambria Math" panose="02040503050406030204" pitchFamily="18" charset="0"/>
                  </a:rPr>
                  <a:t>$2$</a:t>
                </a:r>
                <a:r>
                  <a:rPr sz="2400" b="0">
                    <a:solidFill>
                      <a:srgbClr val="111827"/>
                    </a:solidFill>
                    <a:latin typeface="Arial"/>
                  </a:rPr>
                  <a:t> where </a:t>
                </a:r>
                <a:r>
                  <a:rPr lang="en-IN" sz="2400">
                    <a:solidFill>
                      <a:srgbClr val="111827"/>
                    </a:solidFill>
                    <a:latin typeface="Cambria Math" panose="02040503050406030204" pitchFamily="18" charset="0"/>
                  </a:rPr>
                  <a:t>$a_{ij}\in\{-1,0,1\}$</a:t>
                </a:r>
                <a:r>
                  <a:rPr sz="2400" b="0">
                    <a:solidFill>
                      <a:srgbClr val="111827"/>
                    </a:solidFill>
                    <a:latin typeface="Arial"/>
                  </a:rPr>
                  <a:t> and </a:t>
                </a:r>
                <a:r>
                  <a:rPr lang="en-IN" sz="2400">
                    <a:solidFill>
                      <a:srgbClr val="111827"/>
                    </a:solidFill>
                    <a:latin typeface="Cambria Math" panose="02040503050406030204" pitchFamily="18" charset="0"/>
                  </a:rPr>
                  <a:t>$\operatorname{adj}A=-A$</a:t>
                </a:r>
                <a:r>
                  <a:rPr sz="2400" b="0">
                    <a:solidFill>
                      <a:srgbClr val="111827"/>
                    </a:solidFill>
                    <a:latin typeface="Arial"/>
                  </a:rPr>
                  <a:t>. If </a:t>
                </a:r>
                <a:r>
                  <a:rPr lang="en-IN" sz="2400">
                    <a:solidFill>
                      <a:srgbClr val="111827"/>
                    </a:solidFill>
                    <a:latin typeface="Cambria Math" panose="02040503050406030204" pitchFamily="18" charset="0"/>
                  </a:rPr>
                  <a:t>$\det(A)=-1$</a:t>
                </a:r>
                <a:r>
                  <a:rPr sz="2400" b="0">
                    <a:solidFill>
                      <a:srgbClr val="111827"/>
                    </a:solidFill>
                    <a:latin typeface="Arial"/>
                  </a:rPr>
                  <a:t> and the number of such matrices is </a:t>
                </a:r>
                <a:r>
                  <a:rPr lang="en-IN" sz="2400">
                    <a:solidFill>
                      <a:srgbClr val="111827"/>
                    </a:solidFill>
                    <a:latin typeface="Cambria Math" panose="02040503050406030204" pitchFamily="18" charset="0"/>
                  </a:rPr>
                  <a:t>$p$</a:t>
                </a:r>
                <a:r>
                  <a:rPr sz="2400" b="0">
                    <a:solidFill>
                      <a:srgbClr val="111827"/>
                    </a:solidFill>
                    <a:latin typeface="Arial"/>
                  </a:rPr>
                  <a:t>, then find the value of </a:t>
                </a:r>
                <a:r>
                  <a:rPr lang="en-IN" sz="2400">
                    <a:solidFill>
                      <a:srgbClr val="111827"/>
                    </a:solidFill>
                    <a:latin typeface="Cambria Math" panose="02040503050406030204" pitchFamily="18" charset="0"/>
                  </a:rPr>
                  <a:t>$3m-n-3p$</a:t>
                </a:r>
                <a:r>
                  <a:rPr sz="2400" b="0">
                    <a:solidFill>
                      <a:srgbClr val="111827"/>
                    </a:solidFill>
                    <a:latin typeface="Arial"/>
                  </a:rPr>
                  <a:t> ________.</a:t>
                </a:r>
                <a:endParaRPr sz="2400">
                  <a:solidFill>
                    <a:srgbClr val="111827"/>
                  </a:solidFill>
                </a:endParaRPr>
              </a:p>
            </p:txBody>
          </p:sp>
        </mc:Fallback>
      </mc:AlternateContent>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(multinomial), Matrices: adjoint and counting</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By symmetry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𝑊</m:t>
                    </m:r>
                    <m:r>
                      <m:rPr>
                        <m:sty m:val="p"/>
                      </m:rPr>
                      <a:rPr lang="en-IN" sz="2400">
                        <a:solidFill>
                          <a:srgbClr val="78350F"/>
                        </a:solidFill>
                        <a:latin typeface="Cambria Math" panose="02040503050406030204" pitchFamily="18" charset="0"/>
                      </a:rPr>
                      <m:t>&gt;</m:t>
                    </m:r>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𝑊</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𝐿</m:t>
                        </m:r>
                        <m:r>
                          <m:rPr>
                            <m:sty m:val="p"/>
                          </m:rPr>
                          <a:rPr lang="en-IN" sz="2400">
                            <a:solidFill>
                              <a:srgbClr val="78350F"/>
                            </a:solidFill>
                            <a:latin typeface="Cambria Math" panose="02040503050406030204" pitchFamily="18" charset="0"/>
                          </a:rPr>
                          <m:t>)</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adj</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oMath>
                </a14:m>
                <a:r>
                  <a:rPr sz="2400" b="0">
                    <a:solidFill>
                      <a:srgbClr val="78350F"/>
                    </a:solidFill>
                    <a:latin typeface="Arial"/>
                  </a:rPr>
                  <a:t> with </a:t>
                </a:r>
                <a14:m>
                  <m:oMath xmlns:m="http://schemas.openxmlformats.org/officeDocument/2006/math">
                    <m:r>
                      <m:rPr>
                        <m:sty m:val="p"/>
                      </m:rPr>
                      <a:rPr lang="en-IN" sz="2400">
                        <a:solidFill>
                          <a:srgbClr val="78350F"/>
                        </a:solidFill>
                        <a:latin typeface="Cambria Math" panose="02040503050406030204" pitchFamily="18" charset="0"/>
                      </a:rPr>
                      <m:t>det</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gives </a:t>
                </a:r>
                <a14:m>
                  <m:oMath xmlns:m="http://schemas.openxmlformats.org/officeDocument/2006/math">
                    <m:sSup>
                      <m:e>
                        <m:r>
                          <a:rPr lang="en-IN" sz="2400" i="1">
                            <a:solidFill>
                              <a:srgbClr val="78350F"/>
                            </a:solidFill>
                            <a:latin typeface="Cambria Math" panose="02040503050406030204" pitchFamily="18" charset="0"/>
                          </a:rPr>
                          <m:t>𝐴</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𝐼</m:t>
                    </m:r>
                  </m:oMath>
                </a14:m>
                <a:r>
                  <a:rPr sz="2400" b="0">
                    <a:solidFill>
                      <a:srgbClr val="78350F"/>
                    </a:solidFill>
                    <a:latin typeface="Arial"/>
                  </a:rPr>
                  <a:t>, trace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By symmetry </a:t>
                </a:r>
                <a:r>
                  <a:rPr lang="en-IN" sz="2400">
                    <a:solidFill>
                      <a:srgbClr val="78350F"/>
                    </a:solidFill>
                    <a:latin typeface="Cambria Math" panose="02040503050406030204" pitchFamily="18" charset="0"/>
                  </a:rPr>
                  <a:t>$P(W&gt;L)=\frac{1-P(W=L)}{2}$</a:t>
                </a:r>
                <a:r>
                  <a:rPr sz="2400" b="0">
                    <a:solidFill>
                      <a:srgbClr val="78350F"/>
                    </a:solidFill>
                    <a:latin typeface="Arial"/>
                  </a:rPr>
                  <a:t>; and </a:t>
                </a:r>
                <a:r>
                  <a:rPr lang="en-IN" sz="2400">
                    <a:solidFill>
                      <a:srgbClr val="78350F"/>
                    </a:solidFill>
                    <a:latin typeface="Cambria Math" panose="02040503050406030204" pitchFamily="18" charset="0"/>
                  </a:rPr>
                  <a:t>$\operatorname{adj}A=-A$</a:t>
                </a:r>
                <a:r>
                  <a:rPr sz="2400" b="0">
                    <a:solidFill>
                      <a:srgbClr val="78350F"/>
                    </a:solidFill>
                    <a:latin typeface="Arial"/>
                  </a:rPr>
                  <a:t> with </a:t>
                </a:r>
                <a:r>
                  <a:rPr lang="en-IN" sz="2400">
                    <a:solidFill>
                      <a:srgbClr val="78350F"/>
                    </a:solidFill>
                    <a:latin typeface="Cambria Math" panose="02040503050406030204" pitchFamily="18" charset="0"/>
                  </a:rPr>
                  <a:t>$\det A=-1$</a:t>
                </a:r>
                <a:r>
                  <a:rPr sz="2400" b="0">
                    <a:solidFill>
                      <a:srgbClr val="78350F"/>
                    </a:solidFill>
                    <a:latin typeface="Arial"/>
                  </a:rPr>
                  <a:t> gives </a:t>
                </a:r>
                <a:r>
                  <a:rPr lang="en-IN" sz="2400">
                    <a:solidFill>
                      <a:srgbClr val="78350F"/>
                    </a:solidFill>
                    <a:latin typeface="Cambria Math" panose="02040503050406030204" pitchFamily="18" charset="0"/>
                  </a:rPr>
                  <a:t>$A^2=I$</a:t>
                </a:r>
                <a:r>
                  <a:rPr sz="2400" b="0">
                    <a:solidFill>
                      <a:srgbClr val="78350F"/>
                    </a:solidFill>
                    <a:latin typeface="Arial"/>
                  </a:rPr>
                  <a:t>, trace </a:t>
                </a:r>
                <a:r>
                  <a:rPr lang="en-IN" sz="2400">
                    <a:solidFill>
                      <a:srgbClr val="78350F"/>
                    </a:solidFill>
                    <a:latin typeface="Cambria Math" panose="02040503050406030204" pitchFamily="18" charset="0"/>
                  </a:rPr>
                  <a:t>$0$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match is win, draw or loss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each; there are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729</m:t>
                    </m:r>
                  </m:oMath>
                </a14:m>
                <a:r>
                  <a:rPr sz="2400" b="0">
                    <a:solidFill>
                      <a:srgbClr val="111827"/>
                    </a:solidFill>
                    <a:latin typeface="Arial"/>
                  </a:rPr>
                  <a:t> equally likely outcomes. By the win/loss symmetry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794504"/>
                <a:ext cx="10725912" cy="1880615"/>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match is win, draw or loss with probability </a:t>
                </a:r>
                <a:r>
                  <a:rPr lang="en-IN" sz="2400">
                    <a:solidFill>
                      <a:srgbClr val="111827"/>
                    </a:solidFill>
                    <a:latin typeface="Cambria Math" panose="02040503050406030204" pitchFamily="18" charset="0"/>
                  </a:rPr>
                  <a:t>$\frac13$</a:t>
                </a:r>
                <a:r>
                  <a:rPr sz="2400" b="0">
                    <a:solidFill>
                      <a:srgbClr val="111827"/>
                    </a:solidFill>
                    <a:latin typeface="Arial"/>
                  </a:rPr>
                  <a:t> each; there are </a:t>
                </a:r>
                <a:r>
                  <a:rPr lang="en-IN" sz="2400">
                    <a:solidFill>
                      <a:srgbClr val="111827"/>
                    </a:solidFill>
                    <a:latin typeface="Cambria Math" panose="02040503050406030204" pitchFamily="18" charset="0"/>
                  </a:rPr>
                  <a:t>$3^6=729$</a:t>
                </a:r>
                <a:r>
                  <a:rPr sz="2400" b="0">
                    <a:solidFill>
                      <a:srgbClr val="111827"/>
                    </a:solidFill>
                    <a:latin typeface="Arial"/>
                  </a:rPr>
                  <a:t> equally likely outcomes. By the win/loss symmetry </a:t>
                </a:r>
                <a:r>
                  <a:rPr lang="en-IN" sz="2400">
                    <a:solidFill>
                      <a:srgbClr val="111827"/>
                    </a:solidFill>
                    <a:latin typeface="Cambria Math" panose="02040503050406030204" pitchFamily="18" charset="0"/>
                  </a:rPr>
                  <a:t>$P(W&gt;L)=\frac{1-P(W=L)}{2}$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729</m:t>
                        </m:r>
                      </m:den>
                    </m:f>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3</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729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141</m:t>
                        </m:r>
                      </m:num>
                      <m:den>
                        <m:r>
                          <a:rPr lang="en-IN" sz="2400" i="1">
                            <a:solidFill>
                              <a:srgbClr val="111827"/>
                            </a:solidFill>
                            <a:latin typeface="Cambria Math" panose="02040503050406030204" pitchFamily="18" charset="0"/>
                          </a:rPr>
                          <m:t>729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729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294</m:t>
                        </m:r>
                      </m:num>
                      <m:den>
                        <m:r>
                          <a:rPr lang="en-IN" sz="2400" i="1">
                            <a:solidFill>
                              <a:srgbClr val="111827"/>
                            </a:solidFill>
                            <a:latin typeface="Cambria Math" panose="02040503050406030204" pitchFamily="18" charset="0"/>
                          </a:rPr>
                          <m:t>729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98</m:t>
                        </m:r>
                      </m:num>
                      <m:den>
                        <m:r>
                          <a:rPr lang="en-IN" sz="2400" i="1">
                            <a:solidFill>
                              <a:srgbClr val="111827"/>
                            </a:solidFill>
                            <a:latin typeface="Cambria Math" panose="02040503050406030204" pitchFamily="18" charset="0"/>
                          </a:rPr>
                          <m:t>243</m:t>
                        </m:r>
                      </m:den>
                    </m:f>
                  </m:oMath>
                </a14:m>
                <a:r>
                  <a:rPr sz="2400" b="0">
                    <a:solidFill>
                      <a:srgbClr val="111827"/>
                    </a:solidFill>
                    <a:latin typeface="Arial"/>
                  </a:rPr>
                  <a:t>, in lowest terms,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98</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Matrix part: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adj</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adj</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give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𝑎</m:t>
                              </m:r>
                            </m:e>
                            <m:e>
                              <m:r>
                                <a:rPr lang="en-IN" sz="2400" i="1">
                                  <a:solidFill>
                                    <a:srgbClr val="111827"/>
                                  </a:solidFill>
                                  <a:latin typeface="Cambria Math" panose="02040503050406030204" pitchFamily="18" charset="0"/>
                                </a:rPr>
                                <m:t>𝑏</m:t>
                              </m:r>
                            </m:e>
                          </m:mr>
                          <m:mr>
                            <m:e>
                              <m:r>
                                <a:rPr lang="en-IN" sz="2400" i="1">
                                  <a:solidFill>
                                    <a:srgbClr val="111827"/>
                                  </a:solidFill>
                                  <a:latin typeface="Cambria Math" panose="02040503050406030204" pitchFamily="18" charset="0"/>
                                </a:rPr>
                                <m:t>𝑐</m:t>
                              </m:r>
                            </m:e>
                            <m:e>
                              <m:r>
                                <a:rPr lang="en-IN" sz="2400" i="1">
                                  <a:solidFill>
                                    <a:srgbClr val="111827"/>
                                  </a:solidFill>
                                  <a:latin typeface="Cambria Math" panose="02040503050406030204" pitchFamily="18" charset="0"/>
                                </a:rPr>
                                <m:t>𝑑</m:t>
                              </m:r>
                            </m:e>
                          </m:mr>
                        </m:m>
                      </m:e>
                    </m:d>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e>
                            <m:e>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e>
                          </m:mr>
                        </m:m>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Rejected because </a:t>
                </a:r>
                <a14:m>
                  <m:oMath xmlns:m="http://schemas.openxmlformats.org/officeDocument/2006/math">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$P(W=L)=\frac{1}{729}\sum_{k=0}^{3}\frac{6!}{k!\,k!\,(6-2k)!}=\frac{1+30+90+20}{729}=\frac{141}{729}$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$P(W&gt;L)=\frac{729-141}{2\cdot729}=\frac{294}{729}=\frac{98}{243}$</a:t>
                </a:r>
                <a:r>
                  <a:rPr sz="2400" b="0">
                    <a:solidFill>
                      <a:srgbClr val="111827"/>
                    </a:solidFill>
                    <a:latin typeface="Arial"/>
                  </a:rPr>
                  <a:t>, in lowest terms, so </a:t>
                </a:r>
                <a:r>
                  <a:rPr lang="en-IN" sz="2400">
                    <a:solidFill>
                      <a:srgbClr val="111827"/>
                    </a:solidFill>
                    <a:latin typeface="Cambria Math" panose="02040503050406030204" pitchFamily="18" charset="0"/>
                  </a:rPr>
                  <a:t>$m=98$</a:t>
                </a:r>
                <a:r>
                  <a:rPr sz="2400" b="0">
                    <a:solidFill>
                      <a:srgbClr val="111827"/>
                    </a:solidFill>
                    <a:latin typeface="Arial"/>
                  </a:rPr>
                  <a:t>, </a:t>
                </a:r>
                <a:r>
                  <a:rPr lang="en-IN" sz="2400">
                    <a:solidFill>
                      <a:srgbClr val="111827"/>
                    </a:solidFill>
                    <a:latin typeface="Cambria Math" panose="02040503050406030204" pitchFamily="18" charset="0"/>
                  </a:rPr>
                  <a:t>$n=243$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Matrix part: </a:t>
                </a:r>
                <a:r>
                  <a:rPr lang="en-IN" sz="2400">
                    <a:solidFill>
                      <a:srgbClr val="111827"/>
                    </a:solidFill>
                    <a:latin typeface="Cambria Math" panose="02040503050406030204" pitchFamily="18" charset="0"/>
                  </a:rPr>
                  <a:t>$A\,\operatorname{adj}A=\det(A)\,I=-I$</a:t>
                </a:r>
                <a:r>
                  <a:rPr sz="2400" b="0">
                    <a:solidFill>
                      <a:srgbClr val="111827"/>
                    </a:solidFill>
                    <a:latin typeface="Arial"/>
                  </a:rPr>
                  <a:t> and </a:t>
                </a:r>
                <a:r>
                  <a:rPr lang="en-IN" sz="2400">
                    <a:solidFill>
                      <a:srgbClr val="111827"/>
                    </a:solidFill>
                    <a:latin typeface="Cambria Math" panose="02040503050406030204" pitchFamily="18" charset="0"/>
                  </a:rPr>
                  <a:t>$\operatorname{adj}A=-A$</a:t>
                </a:r>
                <a:r>
                  <a:rPr sz="2400" b="0">
                    <a:solidFill>
                      <a:srgbClr val="111827"/>
                    </a:solidFill>
                    <a:latin typeface="Arial"/>
                  </a:rPr>
                  <a:t> give </a:t>
                </a:r>
                <a:r>
                  <a:rPr lang="en-IN" sz="2400">
                    <a:solidFill>
                      <a:srgbClr val="111827"/>
                    </a:solidFill>
                    <a:latin typeface="Cambria Math" panose="02040503050406030204" pitchFamily="18" charset="0"/>
                  </a:rPr>
                  <a:t>$-A^2=-I$</a:t>
                </a:r>
                <a:r>
                  <a:rPr sz="2400" b="0">
                    <a:solidFill>
                      <a:srgbClr val="111827"/>
                    </a:solidFill>
                    <a:latin typeface="Arial"/>
                  </a:rPr>
                  <a:t>, so </a:t>
                </a:r>
                <a:r>
                  <a:rPr lang="en-IN" sz="2400">
                    <a:solidFill>
                      <a:srgbClr val="111827"/>
                    </a:solidFill>
                    <a:latin typeface="Cambria Math" panose="02040503050406030204" pitchFamily="18" charset="0"/>
                  </a:rPr>
                  <a:t>$A^2=I$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$A=\begin{pmatrix}a&amp;b\\c&amp;d\end{pmatrix}$</a:t>
                </a:r>
                <a:r>
                  <a:rPr sz="2400" b="0">
                    <a:solidFill>
                      <a:srgbClr val="111827"/>
                    </a:solidFill>
                    <a:latin typeface="Arial"/>
                  </a:rPr>
                  <a:t>. </a:t>
                </a:r>
                <a:r>
                  <a:rPr lang="en-IN" sz="2400">
                    <a:solidFill>
                      <a:srgbClr val="111827"/>
                    </a:solidFill>
                    <a:latin typeface="Cambria Math" panose="02040503050406030204" pitchFamily="18" charset="0"/>
                  </a:rPr>
                  <a:t>$A^2=\begin{pmatrix}a^2+bc&amp;(a+d)b\\(a+d)c&amp;d^2+bc\end{pmatrix}=I$</a:t>
                </a:r>
                <a:r>
                  <a:rPr sz="2400" b="0">
                    <a:solidFill>
                      <a:srgbClr val="111827"/>
                    </a:solidFill>
                    <a:latin typeface="Arial"/>
                  </a:rPr>
                  <a:t> gives </a:t>
                </a:r>
                <a:r>
                  <a:rPr lang="en-IN" sz="2400">
                    <a:solidFill>
                      <a:srgbClr val="111827"/>
                    </a:solidFill>
                    <a:latin typeface="Cambria Math" panose="02040503050406030204" pitchFamily="18" charset="0"/>
                  </a:rPr>
                  <a:t>$a^2+bc=1$</a:t>
                </a:r>
                <a:r>
                  <a:rPr sz="2400" b="0">
                    <a:solidFill>
                      <a:srgbClr val="111827"/>
                    </a:solidFill>
                    <a:latin typeface="Arial"/>
                  </a:rPr>
                  <a:t>, </a:t>
                </a:r>
                <a:r>
                  <a:rPr lang="en-IN" sz="2400">
                    <a:solidFill>
                      <a:srgbClr val="111827"/>
                    </a:solidFill>
                    <a:latin typeface="Cambria Math" panose="02040503050406030204" pitchFamily="18" charset="0"/>
                  </a:rPr>
                  <a:t>$d^2+bc=1$</a:t>
                </a:r>
                <a:r>
                  <a:rPr sz="2400" b="0">
                    <a:solidFill>
                      <a:srgbClr val="111827"/>
                    </a:solidFill>
                    <a:latin typeface="Arial"/>
                  </a:rPr>
                  <a:t>, </a:t>
                </a:r>
                <a:r>
                  <a:rPr lang="en-IN" sz="2400">
                    <a:solidFill>
                      <a:srgbClr val="111827"/>
                    </a:solidFill>
                    <a:latin typeface="Cambria Math" panose="02040503050406030204" pitchFamily="18" charset="0"/>
                  </a:rPr>
                  <a:t>$(a+d)b=0$</a:t>
                </a:r>
                <a:r>
                  <a:rPr sz="2400" b="0">
                    <a:solidFill>
                      <a:srgbClr val="111827"/>
                    </a:solidFill>
                    <a:latin typeface="Arial"/>
                  </a:rPr>
                  <a:t>, </a:t>
                </a:r>
                <a:r>
                  <a:rPr lang="en-IN" sz="2400">
                    <a:solidFill>
                      <a:srgbClr val="111827"/>
                    </a:solidFill>
                    <a:latin typeface="Cambria Math" panose="02040503050406030204" pitchFamily="18" charset="0"/>
                  </a:rPr>
                  <a:t>$(a+d)c=0$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I, </a:t>
                </a:r>
                <a:r>
                  <a:rPr lang="en-IN" sz="2400">
                    <a:solidFill>
                      <a:srgbClr val="111827"/>
                    </a:solidFill>
                    <a:latin typeface="Cambria Math" panose="02040503050406030204" pitchFamily="18" charset="0"/>
                  </a:rPr>
                  <a:t>$a+d\neq0$</a:t>
                </a:r>
                <a:r>
                  <a:rPr sz="2400" b="0">
                    <a:solidFill>
                      <a:srgbClr val="111827"/>
                    </a:solidFill>
                    <a:latin typeface="Arial"/>
                  </a:rPr>
                  <a:t>: then </a:t>
                </a:r>
                <a:r>
                  <a:rPr lang="en-IN" sz="2400">
                    <a:solidFill>
                      <a:srgbClr val="111827"/>
                    </a:solidFill>
                    <a:latin typeface="Cambria Math" panose="02040503050406030204" pitchFamily="18" charset="0"/>
                  </a:rPr>
                  <a:t>$b=c=0$</a:t>
                </a:r>
                <a:r>
                  <a:rPr sz="2400" b="0">
                    <a:solidFill>
                      <a:srgbClr val="111827"/>
                    </a:solidFill>
                    <a:latin typeface="Arial"/>
                  </a:rPr>
                  <a:t> and </a:t>
                </a:r>
                <a:r>
                  <a:rPr lang="en-IN" sz="2400">
                    <a:solidFill>
                      <a:srgbClr val="111827"/>
                    </a:solidFill>
                    <a:latin typeface="Cambria Math" panose="02040503050406030204" pitchFamily="18" charset="0"/>
                  </a:rPr>
                  <a:t>$a=d=\pm1$</a:t>
                </a:r>
                <a:r>
                  <a:rPr sz="2400" b="0">
                    <a:solidFill>
                      <a:srgbClr val="111827"/>
                    </a:solidFill>
                    <a:latin typeface="Arial"/>
                  </a:rPr>
                  <a:t>, so </a:t>
                </a:r>
                <a:r>
                  <a:rPr lang="en-IN" sz="2400">
                    <a:solidFill>
                      <a:srgbClr val="111827"/>
                    </a:solidFill>
                    <a:latin typeface="Cambria Math" panose="02040503050406030204" pitchFamily="18" charset="0"/>
                  </a:rPr>
                  <a:t>$A=\pm I$</a:t>
                </a:r>
                <a:r>
                  <a:rPr sz="2400" b="0">
                    <a:solidFill>
                      <a:srgbClr val="111827"/>
                    </a:solidFill>
                    <a:latin typeface="Arial"/>
                  </a:rPr>
                  <a:t> with </a:t>
                </a:r>
                <a:r>
                  <a:rPr lang="en-IN" sz="2400">
                    <a:solidFill>
                      <a:srgbClr val="111827"/>
                    </a:solidFill>
                    <a:latin typeface="Cambria Math" panose="02040503050406030204" pitchFamily="18" charset="0"/>
                  </a:rPr>
                  <a:t>$\det A=1$</a:t>
                </a:r>
                <a:r>
                  <a:rPr sz="2400" b="0">
                    <a:solidFill>
                      <a:srgbClr val="111827"/>
                    </a:solidFill>
                    <a:latin typeface="Arial"/>
                  </a:rPr>
                  <a:t>. Rejected because </a:t>
                </a:r>
                <a:r>
                  <a:rPr lang="en-IN" sz="2400">
                    <a:solidFill>
                      <a:srgbClr val="111827"/>
                    </a:solidFill>
                    <a:latin typeface="Cambria Math" panose="02040503050406030204" pitchFamily="18" charset="0"/>
                  </a:rPr>
                  <a:t>$\det A=-1$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II,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That is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matrices.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(ii)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again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matrices.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(iii)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0</m:t>
                              </m:r>
                            </m:e>
                            <m:e>
                              <m:r>
                                <a:rPr lang="en-IN" sz="2400" i="1">
                                  <a:solidFill>
                                    <a:srgbClr val="111827"/>
                                  </a:solidFill>
                                  <a:latin typeface="Cambria Math" panose="02040503050406030204" pitchFamily="18" charset="0"/>
                                </a:rPr>
                                <m:t>1</m:t>
                              </m:r>
                            </m:e>
                          </m:mr>
                          <m:mr>
                            <m:e>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mr>
                        </m:m>
                      </m:e>
                    </m:d>
                  </m:oMath>
                </a14:m>
                <a:r>
                  <a:rPr sz="2400" b="0">
                    <a:solidFill>
                      <a:srgbClr val="111827"/>
                    </a:solidFill>
                    <a:latin typeface="Arial"/>
                  </a:rPr>
                  <a:t> or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0</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e>
                              <m:r>
                                <a:rPr lang="en-IN" sz="2400" i="1">
                                  <a:solidFill>
                                    <a:srgbClr val="111827"/>
                                  </a:solidFill>
                                  <a:latin typeface="Cambria Math" panose="02040503050406030204" pitchFamily="18" charset="0"/>
                                </a:rPr>
                                <m:t>0</m:t>
                              </m:r>
                            </m:e>
                          </m:mr>
                        </m:m>
                      </m:e>
                    </m:d>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matrices.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(the printed last line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belongs to another question).</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II, </a:t>
                </a:r>
                <a:r>
                  <a:rPr lang="en-IN" sz="2400">
                    <a:solidFill>
                      <a:srgbClr val="111827"/>
                    </a:solidFill>
                    <a:latin typeface="Cambria Math" panose="02040503050406030204" pitchFamily="18" charset="0"/>
                  </a:rPr>
                  <a:t>$a+d=0$</a:t>
                </a:r>
                <a:r>
                  <a:rPr sz="2400" b="0">
                    <a:solidFill>
                      <a:srgbClr val="111827"/>
                    </a:solidFill>
                    <a:latin typeface="Arial"/>
                  </a:rPr>
                  <a:t>, so </a:t>
                </a:r>
                <a:r>
                  <a:rPr lang="en-IN" sz="2400">
                    <a:solidFill>
                      <a:srgbClr val="111827"/>
                    </a:solidFill>
                    <a:latin typeface="Cambria Math" panose="02040503050406030204" pitchFamily="18" charset="0"/>
                  </a:rPr>
                  <a:t>$d=-a$</a:t>
                </a:r>
                <a:r>
                  <a:rPr sz="2400" b="0">
                    <a:solidFill>
                      <a:srgbClr val="111827"/>
                    </a:solidFill>
                    <a:latin typeface="Arial"/>
                  </a:rPr>
                  <a:t> and </a:t>
                </a:r>
                <a:r>
                  <a:rPr lang="en-IN" sz="2400">
                    <a:solidFill>
                      <a:srgbClr val="111827"/>
                    </a:solidFill>
                    <a:latin typeface="Cambria Math" panose="02040503050406030204" pitchFamily="18" charset="0"/>
                  </a:rPr>
                  <a:t>$bc=1-a^2$</a:t>
                </a:r>
                <a:r>
                  <a:rPr sz="2400" b="0">
                    <a:solidFill>
                      <a:srgbClr val="111827"/>
                    </a:solidFill>
                    <a:latin typeface="Arial"/>
                  </a:rPr>
                  <a:t>. (i) </a:t>
                </a:r>
                <a:r>
                  <a:rPr lang="en-IN" sz="2400">
                    <a:solidFill>
                      <a:srgbClr val="111827"/>
                    </a:solidFill>
                    <a:latin typeface="Cambria Math" panose="02040503050406030204" pitchFamily="18" charset="0"/>
                  </a:rPr>
                  <a:t>$a=1,d=-1$</a:t>
                </a:r>
                <a:r>
                  <a:rPr sz="2400" b="0">
                    <a:solidFill>
                      <a:srgbClr val="111827"/>
                    </a:solidFill>
                    <a:latin typeface="Arial"/>
                  </a:rPr>
                  <a:t>: </a:t>
                </a:r>
                <a:r>
                  <a:rPr lang="en-IN" sz="2400">
                    <a:solidFill>
                      <a:srgbClr val="111827"/>
                    </a:solidFill>
                    <a:latin typeface="Cambria Math" panose="02040503050406030204" pitchFamily="18" charset="0"/>
                  </a:rPr>
                  <a:t>$bc=0$</a:t>
                </a:r>
                <a:r>
                  <a:rPr sz="2400" b="0">
                    <a:solidFill>
                      <a:srgbClr val="111827"/>
                    </a:solidFill>
                    <a:latin typeface="Arial"/>
                  </a:rPr>
                  <a:t>. For </a:t>
                </a:r>
                <a:r>
                  <a:rPr lang="en-IN" sz="2400">
                    <a:solidFill>
                      <a:srgbClr val="111827"/>
                    </a:solidFill>
                    <a:latin typeface="Cambria Math" panose="02040503050406030204" pitchFamily="18" charset="0"/>
                  </a:rPr>
                  <a:t>$b=0$</a:t>
                </a:r>
                <a:r>
                  <a:rPr sz="2400" b="0">
                    <a:solidFill>
                      <a:srgbClr val="111827"/>
                    </a:solidFill>
                    <a:latin typeface="Arial"/>
                  </a:rPr>
                  <a:t>, </a:t>
                </a:r>
                <a:r>
                  <a:rPr lang="en-IN" sz="2400">
                    <a:solidFill>
                      <a:srgbClr val="111827"/>
                    </a:solidFill>
                    <a:latin typeface="Cambria Math" panose="02040503050406030204" pitchFamily="18" charset="0"/>
                  </a:rPr>
                  <a:t>$c\in\{-1,0,1\}$</a:t>
                </a:r>
                <a:r>
                  <a:rPr sz="2400" b="0">
                    <a:solidFill>
                      <a:srgbClr val="111827"/>
                    </a:solidFill>
                    <a:latin typeface="Arial"/>
                  </a:rPr>
                  <a:t>; for </a:t>
                </a:r>
                <a:r>
                  <a:rPr lang="en-IN" sz="2400">
                    <a:solidFill>
                      <a:srgbClr val="111827"/>
                    </a:solidFill>
                    <a:latin typeface="Cambria Math" panose="02040503050406030204" pitchFamily="18" charset="0"/>
                  </a:rPr>
                  <a:t>$b=1$</a:t>
                </a:r>
                <a:r>
                  <a:rPr sz="2400" b="0">
                    <a:solidFill>
                      <a:srgbClr val="111827"/>
                    </a:solidFill>
                    <a:latin typeface="Arial"/>
                  </a:rPr>
                  <a:t> or </a:t>
                </a:r>
                <a:r>
                  <a:rPr lang="en-IN" sz="2400">
                    <a:solidFill>
                      <a:srgbClr val="111827"/>
                    </a:solidFill>
                    <a:latin typeface="Cambria Math" panose="02040503050406030204" pitchFamily="18" charset="0"/>
                  </a:rPr>
                  <a:t>$b=-1$</a:t>
                </a:r>
                <a:r>
                  <a:rPr sz="2400" b="0">
                    <a:solidFill>
                      <a:srgbClr val="111827"/>
                    </a:solidFill>
                    <a:latin typeface="Arial"/>
                  </a:rPr>
                  <a:t>, </a:t>
                </a:r>
                <a:r>
                  <a:rPr lang="en-IN" sz="2400">
                    <a:solidFill>
                      <a:srgbClr val="111827"/>
                    </a:solidFill>
                    <a:latin typeface="Cambria Math" panose="02040503050406030204" pitchFamily="18" charset="0"/>
                  </a:rPr>
                  <a:t>$c=0$</a:t>
                </a:r>
                <a:r>
                  <a:rPr sz="2400" b="0">
                    <a:solidFill>
                      <a:srgbClr val="111827"/>
                    </a:solidFill>
                    <a:latin typeface="Arial"/>
                  </a:rPr>
                  <a:t>. That is </a:t>
                </a:r>
                <a:r>
                  <a:rPr lang="en-IN" sz="2400">
                    <a:solidFill>
                      <a:srgbClr val="111827"/>
                    </a:solidFill>
                    <a:latin typeface="Cambria Math" panose="02040503050406030204" pitchFamily="18" charset="0"/>
                  </a:rPr>
                  <a:t>$5$</a:t>
                </a:r>
                <a:r>
                  <a:rPr sz="2400" b="0">
                    <a:solidFill>
                      <a:srgbClr val="111827"/>
                    </a:solidFill>
                    <a:latin typeface="Arial"/>
                  </a:rPr>
                  <a:t> matrices.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(ii) </a:t>
                </a:r>
                <a:r>
                  <a:rPr lang="en-IN" sz="2400">
                    <a:solidFill>
                      <a:srgbClr val="111827"/>
                    </a:solidFill>
                    <a:latin typeface="Cambria Math" panose="02040503050406030204" pitchFamily="18" charset="0"/>
                  </a:rPr>
                  <a:t>$a=-1,d=1$</a:t>
                </a:r>
                <a:r>
                  <a:rPr sz="2400" b="0">
                    <a:solidFill>
                      <a:srgbClr val="111827"/>
                    </a:solidFill>
                    <a:latin typeface="Arial"/>
                  </a:rPr>
                  <a:t>: again </a:t>
                </a:r>
                <a:r>
                  <a:rPr lang="en-IN" sz="2400">
                    <a:solidFill>
                      <a:srgbClr val="111827"/>
                    </a:solidFill>
                    <a:latin typeface="Cambria Math" panose="02040503050406030204" pitchFamily="18" charset="0"/>
                  </a:rPr>
                  <a:t>$bc=0$</a:t>
                </a:r>
                <a:r>
                  <a:rPr sz="2400" b="0">
                    <a:solidFill>
                      <a:srgbClr val="111827"/>
                    </a:solidFill>
                    <a:latin typeface="Arial"/>
                  </a:rPr>
                  <a:t> and </a:t>
                </a:r>
                <a:r>
                  <a:rPr lang="en-IN" sz="2400">
                    <a:solidFill>
                      <a:srgbClr val="111827"/>
                    </a:solidFill>
                    <a:latin typeface="Cambria Math" panose="02040503050406030204" pitchFamily="18" charset="0"/>
                  </a:rPr>
                  <a:t>$5$</a:t>
                </a:r>
                <a:r>
                  <a:rPr sz="2400" b="0">
                    <a:solidFill>
                      <a:srgbClr val="111827"/>
                    </a:solidFill>
                    <a:latin typeface="Arial"/>
                  </a:rPr>
                  <a:t> matrices.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(iii) </a:t>
                </a:r>
                <a:r>
                  <a:rPr lang="en-IN" sz="2400">
                    <a:solidFill>
                      <a:srgbClr val="111827"/>
                    </a:solidFill>
                    <a:latin typeface="Cambria Math" panose="02040503050406030204" pitchFamily="18" charset="0"/>
                  </a:rPr>
                  <a:t>$a=d=0$</a:t>
                </a:r>
                <a:r>
                  <a:rPr sz="2400" b="0">
                    <a:solidFill>
                      <a:srgbClr val="111827"/>
                    </a:solidFill>
                    <a:latin typeface="Arial"/>
                  </a:rPr>
                  <a:t>: </a:t>
                </a:r>
                <a:r>
                  <a:rPr lang="en-IN" sz="2400">
                    <a:solidFill>
                      <a:srgbClr val="111827"/>
                    </a:solidFill>
                    <a:latin typeface="Cambria Math" panose="02040503050406030204" pitchFamily="18" charset="0"/>
                  </a:rPr>
                  <a:t>$bc=1$</a:t>
                </a:r>
                <a:r>
                  <a:rPr sz="2400" b="0">
                    <a:solidFill>
                      <a:srgbClr val="111827"/>
                    </a:solidFill>
                    <a:latin typeface="Arial"/>
                  </a:rPr>
                  <a:t>, so </a:t>
                </a:r>
                <a:r>
                  <a:rPr lang="en-IN" sz="2400">
                    <a:solidFill>
                      <a:srgbClr val="111827"/>
                    </a:solidFill>
                    <a:latin typeface="Cambria Math" panose="02040503050406030204" pitchFamily="18" charset="0"/>
                  </a:rPr>
                  <a:t>$A=\begin{pmatrix}0&amp;1\\1&amp;0\end{pmatrix}$</a:t>
                </a:r>
                <a:r>
                  <a:rPr sz="2400" b="0">
                    <a:solidFill>
                      <a:srgbClr val="111827"/>
                    </a:solidFill>
                    <a:latin typeface="Arial"/>
                  </a:rPr>
                  <a:t> or </a:t>
                </a:r>
                <a:r>
                  <a:rPr lang="en-IN" sz="2400">
                    <a:solidFill>
                      <a:srgbClr val="111827"/>
                    </a:solidFill>
                    <a:latin typeface="Cambria Math" panose="02040503050406030204" pitchFamily="18" charset="0"/>
                  </a:rPr>
                  <a:t>$\begin{pmatrix}0&amp;-1\\-1&amp;0\end{pmatrix}$</a:t>
                </a:r>
                <a:r>
                  <a:rPr sz="2400" b="0">
                    <a:solidFill>
                      <a:srgbClr val="111827"/>
                    </a:solidFill>
                    <a:latin typeface="Arial"/>
                  </a:rPr>
                  <a:t>: </a:t>
                </a:r>
                <a:r>
                  <a:rPr lang="en-IN" sz="2400">
                    <a:solidFill>
                      <a:srgbClr val="111827"/>
                    </a:solidFill>
                    <a:latin typeface="Cambria Math" panose="02040503050406030204" pitchFamily="18" charset="0"/>
                  </a:rPr>
                  <a:t>$2$</a:t>
                </a:r>
                <a:r>
                  <a:rPr sz="2400" b="0">
                    <a:solidFill>
                      <a:srgbClr val="111827"/>
                    </a:solidFill>
                    <a:latin typeface="Arial"/>
                  </a:rPr>
                  <a:t> matrices.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$p=5+5+2=12$</a:t>
                </a:r>
                <a:r>
                  <a:rPr sz="2400" b="0">
                    <a:solidFill>
                      <a:srgbClr val="111827"/>
                    </a:solidFill>
                    <a:latin typeface="Arial"/>
                  </a:rPr>
                  <a:t> (the printed last line </a:t>
                </a:r>
                <a:r>
                  <a:rPr lang="en-IN" sz="2400">
                    <a:solidFill>
                      <a:srgbClr val="111827"/>
                    </a:solidFill>
                    <a:latin typeface="Cambria Math" panose="02040503050406030204" pitchFamily="18" charset="0"/>
                  </a:rPr>
                  <a:t>$N-7=5$</a:t>
                </a:r>
                <a:r>
                  <a:rPr sz="2400" b="0">
                    <a:solidFill>
                      <a:srgbClr val="111827"/>
                    </a:solidFill>
                    <a:latin typeface="Arial"/>
                  </a:rPr>
                  <a:t> belongs to another question).</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$3m-n-3p=294-243-36=15$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15</a:t>
            </a:r>
            <a:endParaRPr sz="2800">
              <a:solidFill>
                <a:srgbClr val="15803D"/>
              </a:solidFill>
            </a:endParaRP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a </a:t>
                </a:r>
                <a14:m>
                  <m:oMath xmlns:m="http://schemas.openxmlformats.org/officeDocument/2006/math">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 matrix </a:t>
                </a:r>
                <a14:m>
                  <m:oMath xmlns:m="http://schemas.openxmlformats.org/officeDocument/2006/math">
                    <m:r>
                      <m:rPr>
                        <m:sty m:val="p"/>
                      </m:rPr>
                      <a:rPr lang="en-IN" sz="2400">
                        <a:solidFill>
                          <a:srgbClr val="78350F"/>
                        </a:solidFill>
                        <a:latin typeface="Cambria Math" panose="02040503050406030204" pitchFamily="18" charset="0"/>
                      </a:rPr>
                      <m:t>adj</m:t>
                    </m:r>
                    <m:r>
                      <a:rPr lang="en-IN" sz="2400" i="1">
                        <a:solidFill>
                          <a:srgbClr val="78350F"/>
                        </a:solidFill>
                        <a:latin typeface="Cambria Math" panose="02040503050406030204" pitchFamily="18" charset="0"/>
                      </a:rPr>
                      <m:t>𝐴</m:t>
                    </m:r>
                  </m:oMath>
                </a14:m>
                <a:r>
                  <a:rPr sz="2400" b="0">
                    <a:solidFill>
                      <a:srgbClr val="78350F"/>
                    </a:solidFill>
                    <a:latin typeface="Arial"/>
                  </a:rPr>
                  <a:t> is read off directly, so </a:t>
                </a:r>
                <a14:m>
                  <m:oMath xmlns:m="http://schemas.openxmlformats.org/officeDocument/2006/math">
                    <m:r>
                      <m:rPr>
                        <m:sty m:val="p"/>
                      </m:rPr>
                      <a:rPr lang="en-IN" sz="2400">
                        <a:solidFill>
                          <a:srgbClr val="78350F"/>
                        </a:solidFill>
                        <a:latin typeface="Cambria Math" panose="02040503050406030204" pitchFamily="18" charset="0"/>
                      </a:rPr>
                      <m:t>adj</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𝐴</m:t>
                    </m:r>
                  </m:oMath>
                </a14:m>
                <a:r>
                  <a:rPr sz="2400" b="0">
                    <a:solidFill>
                      <a:srgbClr val="78350F"/>
                    </a:solidFill>
                    <a:latin typeface="Arial"/>
                  </a:rPr>
                  <a:t> simply says trace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a </a:t>
                </a:r>
                <a:r>
                  <a:rPr lang="en-IN" sz="2400">
                    <a:solidFill>
                      <a:srgbClr val="78350F"/>
                    </a:solidFill>
                    <a:latin typeface="Cambria Math" panose="02040503050406030204" pitchFamily="18" charset="0"/>
                  </a:rPr>
                  <a:t>$2\times2$</a:t>
                </a:r>
                <a:r>
                  <a:rPr sz="2400" b="0">
                    <a:solidFill>
                      <a:srgbClr val="78350F"/>
                    </a:solidFill>
                    <a:latin typeface="Arial"/>
                  </a:rPr>
                  <a:t> matrix </a:t>
                </a:r>
                <a:r>
                  <a:rPr lang="en-IN" sz="2400">
                    <a:solidFill>
                      <a:srgbClr val="78350F"/>
                    </a:solidFill>
                    <a:latin typeface="Cambria Math" panose="02040503050406030204" pitchFamily="18" charset="0"/>
                  </a:rPr>
                  <a:t>$\operatorname{adj}A$</a:t>
                </a:r>
                <a:r>
                  <a:rPr sz="2400" b="0">
                    <a:solidFill>
                      <a:srgbClr val="78350F"/>
                    </a:solidFill>
                    <a:latin typeface="Arial"/>
                  </a:rPr>
                  <a:t> is read off directly, so </a:t>
                </a:r>
                <a:r>
                  <a:rPr lang="en-IN" sz="2400">
                    <a:solidFill>
                      <a:srgbClr val="78350F"/>
                    </a:solidFill>
                    <a:latin typeface="Cambria Math" panose="02040503050406030204" pitchFamily="18" charset="0"/>
                  </a:rPr>
                  <a:t>$\operatorname{adj}A=-A$</a:t>
                </a:r>
                <a:r>
                  <a:rPr sz="2400" b="0">
                    <a:solidFill>
                      <a:srgbClr val="78350F"/>
                    </a:solidFill>
                    <a:latin typeface="Arial"/>
                  </a:rPr>
                  <a:t> simply says trace </a:t>
                </a:r>
                <a:r>
                  <a:rPr lang="en-IN" sz="2400">
                    <a:solidFill>
                      <a:srgbClr val="78350F"/>
                    </a:solidFill>
                    <a:latin typeface="Cambria Math" panose="02040503050406030204" pitchFamily="18" charset="0"/>
                  </a:rPr>
                  <a:t>$=0$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𝑎</m:t>
                              </m:r>
                            </m:e>
                            <m:e>
                              <m:r>
                                <a:rPr lang="en-IN" sz="2400" i="1">
                                  <a:solidFill>
                                    <a:srgbClr val="111827"/>
                                  </a:solidFill>
                                  <a:latin typeface="Cambria Math" panose="02040503050406030204" pitchFamily="18" charset="0"/>
                                </a:rPr>
                                <m:t>𝑏</m:t>
                              </m:r>
                            </m:e>
                          </m:mr>
                          <m:mr>
                            <m:e>
                              <m:r>
                                <a:rPr lang="en-IN" sz="2400" i="1">
                                  <a:solidFill>
                                    <a:srgbClr val="111827"/>
                                  </a:solidFill>
                                  <a:latin typeface="Cambria Math" panose="02040503050406030204" pitchFamily="18" charset="0"/>
                                </a:rPr>
                                <m:t>𝑐</m:t>
                              </m:r>
                            </m:e>
                            <m:e>
                              <m:r>
                                <a:rPr lang="en-IN" sz="2400" i="1">
                                  <a:solidFill>
                                    <a:srgbClr val="111827"/>
                                  </a:solidFill>
                                  <a:latin typeface="Cambria Math" panose="02040503050406030204" pitchFamily="18" charset="0"/>
                                </a:rPr>
                                <m:t>𝑑</m:t>
                              </m:r>
                            </m:e>
                          </m:mr>
                        </m:m>
                      </m:e>
                    </m: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adj</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m>
                          <m:mPr>
                            <m:baseJc m:val="center"/>
                            <m:plcHide m:val="on"/>
                            <m:mcs>
                              <m:mc>
                                <m:mcPr>
                                  <m:count m:val="1"/>
                                  <m:mcJc m:val="center"/>
                                </m:mcPr>
                              </m:mc>
                              <m:mc>
                                <m:mcPr>
                                  <m:count m:val="1"/>
                                  <m:mcJc m:val="center"/>
                                </m:mcPr>
                              </m:mc>
                            </m:mcs>
                            <m:ctrlPr>
                              <a:rPr lang="en-IN" sz="2400" i="1">
                                <a:solidFill>
                                  <a:srgbClr val="111827"/>
                                </a:solidFill>
                                <a:latin typeface="Cambria Math" panose="02040503050406030204" pitchFamily="18" charset="0"/>
                              </a:rPr>
                            </m:ctrlPr>
                          </m:mPr>
                          <m:mr>
                            <m:e>
                              <m:r>
                                <a:rPr lang="en-IN" sz="2400" i="1">
                                  <a:solidFill>
                                    <a:srgbClr val="111827"/>
                                  </a:solidFill>
                                  <a:latin typeface="Cambria Math" panose="02040503050406030204" pitchFamily="18" charset="0"/>
                                </a:rPr>
                                <m:t>𝑑</m:t>
                              </m:r>
                            </m:e>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e>
                          </m:mr>
                          <m:m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e>
                            <m:e>
                              <m:r>
                                <a:rPr lang="en-IN" sz="2400" i="1">
                                  <a:solidFill>
                                    <a:srgbClr val="111827"/>
                                  </a:solidFill>
                                  <a:latin typeface="Cambria Math" panose="02040503050406030204" pitchFamily="18" charset="0"/>
                                </a:rPr>
                                <m:t>𝑎</m:t>
                              </m:r>
                            </m:e>
                          </m:mr>
                        </m:m>
                      </m:e>
                    </m:d>
                  </m:oMath>
                </a14:m>
                <a:r>
                  <a:rPr sz="2400" b="0">
                    <a:solidFill>
                      <a:srgbClr val="111827"/>
                    </a:solidFill>
                    <a:latin typeface="Arial"/>
                  </a:rPr>
                  <a:t>. Setting this equal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free.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matrices.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$A=\begin{pmatrix}a&amp;b\\c&amp;d\end{pmatrix}$</a:t>
                </a:r>
                <a:r>
                  <a:rPr sz="2400" b="0">
                    <a:solidFill>
                      <a:srgbClr val="111827"/>
                    </a:solidFill>
                    <a:latin typeface="Arial"/>
                  </a:rPr>
                  <a:t>, </a:t>
                </a:r>
                <a:r>
                  <a:rPr lang="en-IN" sz="2400">
                    <a:solidFill>
                      <a:srgbClr val="111827"/>
                    </a:solidFill>
                    <a:latin typeface="Cambria Math" panose="02040503050406030204" pitchFamily="18" charset="0"/>
                  </a:rPr>
                  <a:t>$\operatorname{adj}A=\begin{pmatrix}d&amp;-b\\-c&amp;a\end{pmatrix}$</a:t>
                </a:r>
                <a:r>
                  <a:rPr sz="2400" b="0">
                    <a:solidFill>
                      <a:srgbClr val="111827"/>
                    </a:solidFill>
                    <a:latin typeface="Arial"/>
                  </a:rPr>
                  <a:t>. Setting this equal to </a:t>
                </a:r>
                <a:r>
                  <a:rPr lang="en-IN" sz="2400">
                    <a:solidFill>
                      <a:srgbClr val="111827"/>
                    </a:solidFill>
                    <a:latin typeface="Cambria Math" panose="02040503050406030204" pitchFamily="18" charset="0"/>
                  </a:rPr>
                  <a:t>$-A$</a:t>
                </a:r>
                <a:r>
                  <a:rPr sz="2400" b="0">
                    <a:solidFill>
                      <a:srgbClr val="111827"/>
                    </a:solidFill>
                    <a:latin typeface="Arial"/>
                  </a:rPr>
                  <a:t> gives </a:t>
                </a:r>
                <a:r>
                  <a:rPr lang="en-IN" sz="2400">
                    <a:solidFill>
                      <a:srgbClr val="111827"/>
                    </a:solidFill>
                    <a:latin typeface="Cambria Math" panose="02040503050406030204" pitchFamily="18" charset="0"/>
                  </a:rPr>
                  <a:t>$d=-a$</a:t>
                </a:r>
                <a:r>
                  <a:rPr sz="2400" b="0">
                    <a:solidFill>
                      <a:srgbClr val="111827"/>
                    </a:solidFill>
                    <a:latin typeface="Arial"/>
                  </a:rPr>
                  <a:t> with </a:t>
                </a:r>
                <a:r>
                  <a:rPr lang="en-IN" sz="2400">
                    <a:solidFill>
                      <a:srgbClr val="111827"/>
                    </a:solidFill>
                    <a:latin typeface="Cambria Math" panose="02040503050406030204" pitchFamily="18" charset="0"/>
                  </a:rPr>
                  <a:t>$b,c$</a:t>
                </a:r>
                <a:r>
                  <a:rPr sz="2400" b="0">
                    <a:solidFill>
                      <a:srgbClr val="111827"/>
                    </a:solidFill>
                    <a:latin typeface="Arial"/>
                  </a:rPr>
                  <a:t> free.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$\det A=-a^2-bc=-1$</a:t>
                </a:r>
                <a:r>
                  <a:rPr sz="2400" b="0">
                    <a:solidFill>
                      <a:srgbClr val="111827"/>
                    </a:solidFill>
                    <a:latin typeface="Arial"/>
                  </a:rPr>
                  <a:t> gives </a:t>
                </a:r>
                <a:r>
                  <a:rPr lang="en-IN" sz="2400">
                    <a:solidFill>
                      <a:srgbClr val="111827"/>
                    </a:solidFill>
                    <a:latin typeface="Cambria Math" panose="02040503050406030204" pitchFamily="18" charset="0"/>
                  </a:rPr>
                  <a:t>$a^2+bc=1$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$a=0$</a:t>
                </a:r>
                <a:r>
                  <a:rPr sz="2400" b="0">
                    <a:solidFill>
                      <a:srgbClr val="111827"/>
                    </a:solidFill>
                    <a:latin typeface="Arial"/>
                  </a:rPr>
                  <a:t>: </a:t>
                </a:r>
                <a:r>
                  <a:rPr lang="en-IN" sz="2400">
                    <a:solidFill>
                      <a:srgbClr val="111827"/>
                    </a:solidFill>
                    <a:latin typeface="Cambria Math" panose="02040503050406030204" pitchFamily="18" charset="0"/>
                  </a:rPr>
                  <a:t>$bc=1$</a:t>
                </a:r>
                <a:r>
                  <a:rPr sz="2400" b="0">
                    <a:solidFill>
                      <a:srgbClr val="111827"/>
                    </a:solidFill>
                    <a:latin typeface="Arial"/>
                  </a:rPr>
                  <a:t>, so </a:t>
                </a:r>
                <a:r>
                  <a:rPr lang="en-IN" sz="2400">
                    <a:solidFill>
                      <a:srgbClr val="111827"/>
                    </a:solidFill>
                    <a:latin typeface="Cambria Math" panose="02040503050406030204" pitchFamily="18" charset="0"/>
                  </a:rPr>
                  <a:t>$(b,c)=(1,1),(-1,-1)$</a:t>
                </a:r>
                <a:r>
                  <a:rPr sz="2400" b="0">
                    <a:solidFill>
                      <a:srgbClr val="111827"/>
                    </a:solidFill>
                    <a:latin typeface="Arial"/>
                  </a:rPr>
                  <a:t>: </a:t>
                </a:r>
                <a:r>
                  <a:rPr lang="en-IN" sz="2400">
                    <a:solidFill>
                      <a:srgbClr val="111827"/>
                    </a:solidFill>
                    <a:latin typeface="Cambria Math" panose="02040503050406030204" pitchFamily="18" charset="0"/>
                  </a:rPr>
                  <a:t>$2$</a:t>
                </a:r>
                <a:r>
                  <a:rPr sz="2400" b="0">
                    <a:solidFill>
                      <a:srgbClr val="111827"/>
                    </a:solidFill>
                    <a:latin typeface="Arial"/>
                  </a:rPr>
                  <a:t> matrices.</a:t>
                </a:r>
                <a:endParaRPr sz="2400">
                  <a:solidFill>
                    <a:srgbClr val="111827"/>
                  </a:solidFill>
                </a:endParaRPr>
              </a:p>
            </p:txBody>
          </p:sp>
        </mc:Fallback>
      </mc:AlternateContent>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there are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pairs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matrices each,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in all.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$a=\pm1$</a:t>
                </a:r>
                <a:r>
                  <a:rPr sz="2400" b="0">
                    <a:solidFill>
                      <a:srgbClr val="111827"/>
                    </a:solidFill>
                    <a:latin typeface="Arial"/>
                  </a:rPr>
                  <a:t>: </a:t>
                </a:r>
                <a:r>
                  <a:rPr lang="en-IN" sz="2400">
                    <a:solidFill>
                      <a:srgbClr val="111827"/>
                    </a:solidFill>
                    <a:latin typeface="Cambria Math" panose="02040503050406030204" pitchFamily="18" charset="0"/>
                  </a:rPr>
                  <a:t>$bc=0$</a:t>
                </a:r>
                <a:r>
                  <a:rPr sz="2400" b="0">
                    <a:solidFill>
                      <a:srgbClr val="111827"/>
                    </a:solidFill>
                    <a:latin typeface="Arial"/>
                  </a:rPr>
                  <a:t>, and there are </a:t>
                </a:r>
                <a:r>
                  <a:rPr lang="en-IN" sz="2400">
                    <a:solidFill>
                      <a:srgbClr val="111827"/>
                    </a:solidFill>
                    <a:latin typeface="Cambria Math" panose="02040503050406030204" pitchFamily="18" charset="0"/>
                  </a:rPr>
                  <a:t>$5$</a:t>
                </a:r>
                <a:r>
                  <a:rPr sz="2400" b="0">
                    <a:solidFill>
                      <a:srgbClr val="111827"/>
                    </a:solidFill>
                    <a:latin typeface="Arial"/>
                  </a:rPr>
                  <a:t> pairs </a:t>
                </a:r>
                <a:r>
                  <a:rPr lang="en-IN" sz="2400">
                    <a:solidFill>
                      <a:srgbClr val="111827"/>
                    </a:solidFill>
                    <a:latin typeface="Cambria Math" panose="02040503050406030204" pitchFamily="18" charset="0"/>
                  </a:rPr>
                  <a:t>$(b,c)$</a:t>
                </a:r>
                <a:r>
                  <a:rPr sz="2400" b="0">
                    <a:solidFill>
                      <a:srgbClr val="111827"/>
                    </a:solidFill>
                    <a:latin typeface="Arial"/>
                  </a:rPr>
                  <a:t> in </a:t>
                </a:r>
                <a:r>
                  <a:rPr lang="en-IN" sz="2400">
                    <a:solidFill>
                      <a:srgbClr val="111827"/>
                    </a:solidFill>
                    <a:latin typeface="Cambria Math" panose="02040503050406030204" pitchFamily="18" charset="0"/>
                  </a:rPr>
                  <a:t>$\{-1,0,1\}^2$</a:t>
                </a:r>
                <a:r>
                  <a:rPr sz="2400" b="0">
                    <a:solidFill>
                      <a:srgbClr val="111827"/>
                    </a:solidFill>
                    <a:latin typeface="Arial"/>
                  </a:rPr>
                  <a:t> with </a:t>
                </a:r>
                <a:r>
                  <a:rPr lang="en-IN" sz="2400">
                    <a:solidFill>
                      <a:srgbClr val="111827"/>
                    </a:solidFill>
                    <a:latin typeface="Cambria Math" panose="02040503050406030204" pitchFamily="18" charset="0"/>
                  </a:rPr>
                  <a:t>$bc=0$</a:t>
                </a:r>
                <a:r>
                  <a:rPr sz="2400" b="0">
                    <a:solidFill>
                      <a:srgbClr val="111827"/>
                    </a:solidFill>
                    <a:latin typeface="Arial"/>
                  </a:rPr>
                  <a:t>: </a:t>
                </a:r>
                <a:r>
                  <a:rPr lang="en-IN" sz="2400">
                    <a:solidFill>
                      <a:srgbClr val="111827"/>
                    </a:solidFill>
                    <a:latin typeface="Cambria Math" panose="02040503050406030204" pitchFamily="18" charset="0"/>
                  </a:rPr>
                  <a:t>$5$</a:t>
                </a:r>
                <a:r>
                  <a:rPr sz="2400" b="0">
                    <a:solidFill>
                      <a:srgbClr val="111827"/>
                    </a:solidFill>
                    <a:latin typeface="Arial"/>
                  </a:rPr>
                  <a:t> matrices each, </a:t>
                </a:r>
                <a:r>
                  <a:rPr lang="en-IN" sz="2400">
                    <a:solidFill>
                      <a:srgbClr val="111827"/>
                    </a:solidFill>
                    <a:latin typeface="Cambria Math" panose="02040503050406030204" pitchFamily="18" charset="0"/>
                  </a:rPr>
                  <a:t>$10$</a:t>
                </a:r>
                <a:r>
                  <a:rPr sz="2400" b="0">
                    <a:solidFill>
                      <a:srgbClr val="111827"/>
                    </a:solidFill>
                    <a:latin typeface="Arial"/>
                  </a:rPr>
                  <a:t> in all.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$p=12$</a:t>
                </a:r>
                <a:r>
                  <a:rPr sz="2400" b="0">
                    <a:solidFill>
                      <a:srgbClr val="111827"/>
                    </a:solidFill>
                    <a:latin typeface="Arial"/>
                  </a:rPr>
                  <a:t>, hence </a:t>
                </a:r>
                <a:r>
                  <a:rPr lang="en-IN" sz="2400">
                    <a:solidFill>
                      <a:srgbClr val="111827"/>
                    </a:solidFill>
                    <a:latin typeface="Cambria Math" panose="02040503050406030204" pitchFamily="18" charset="0"/>
                  </a:rPr>
                  <a:t>$3m-n-3p=294-243-36=15$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15</a:t>
            </a:r>
            <a:endParaRPr sz="2800">
              <a:solidFill>
                <a:srgbClr val="15803D"/>
              </a:solidFill>
            </a:endParaRPr>
          </a:p>
        </p:txBody>
      </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trials with three equally likely outcomes,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𝑛</m:t>
                            </m:r>
                          </m:sup>
                        </m:sSup>
                      </m:den>
                    </m:f>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e>
                    </m:nary>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this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141</m:t>
                        </m:r>
                      </m:num>
                      <m:den>
                        <m:r>
                          <a:rPr lang="en-IN" sz="2400" i="1">
                            <a:solidFill>
                              <a:srgbClr val="111827"/>
                            </a:solidFill>
                            <a:latin typeface="Cambria Math" panose="02040503050406030204" pitchFamily="18" charset="0"/>
                          </a:rPr>
                          <m:t>729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matrices </a:t>
                </a:r>
                <a14:m>
                  <m:oMath xmlns:m="http://schemas.openxmlformats.org/officeDocument/2006/math">
                    <m:r>
                      <m:rPr>
                        <m:sty m:val="p"/>
                      </m:rPr>
                      <a:rPr lang="en-IN" sz="2400">
                        <a:solidFill>
                          <a:srgbClr val="111827"/>
                        </a:solidFill>
                        <a:latin typeface="Cambria Math" panose="02040503050406030204" pitchFamily="18" charset="0"/>
                      </a:rPr>
                      <m:t>adj</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tr</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adj</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tr</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Trace-zero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matrices satisfy </a:t>
                </a:r>
                <a14:m>
                  <m:oMath xmlns:m="http://schemas.openxmlformats.org/officeDocument/2006/math">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det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 (Cayley-Hamilton), so </a:t>
                </a:r>
                <a14:m>
                  <m:oMath xmlns:m="http://schemas.openxmlformats.org/officeDocument/2006/math">
                    <m:r>
                      <m:rPr>
                        <m:sty m:val="p"/>
                      </m:rPr>
                      <a:rPr lang="en-IN" sz="2400">
                        <a:solidFill>
                          <a:srgbClr val="111827"/>
                        </a:solidFill>
                        <a:latin typeface="Cambria Math" panose="02040503050406030204" pitchFamily="18" charset="0"/>
                      </a:rPr>
                      <m:t>det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𝐼</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Matrices over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trace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determinant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number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(checked by brute force).</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a:t>
                </a:r>
                <a:r>
                  <a:rPr sz="2400" b="0">
                    <a:solidFill>
                      <a:srgbClr val="111827"/>
                    </a:solidFill>
                    <a:latin typeface="Arial"/>
                  </a:rPr>
                  <a:t> trials with three equally likely outcomes, </a:t>
                </a:r>
                <a:r>
                  <a:rPr lang="en-IN" sz="2400">
                    <a:solidFill>
                      <a:srgbClr val="111827"/>
                    </a:solidFill>
                    <a:latin typeface="Cambria Math" panose="02040503050406030204" pitchFamily="18" charset="0"/>
                  </a:rPr>
                  <a:t>$P(W&gt;L)=\frac{1-P(W=L)}{2}$</a:t>
                </a:r>
                <a:r>
                  <a:rPr sz="2400" b="0">
                    <a:solidFill>
                      <a:srgbClr val="111827"/>
                    </a:solidFill>
                    <a:latin typeface="Arial"/>
                  </a:rPr>
                  <a:t> and </a:t>
                </a:r>
                <a:r>
                  <a:rPr lang="en-IN" sz="2400">
                    <a:solidFill>
                      <a:srgbClr val="111827"/>
                    </a:solidFill>
                    <a:latin typeface="Cambria Math" panose="02040503050406030204" pitchFamily="18" charset="0"/>
                  </a:rPr>
                  <a:t>$P(W=L)=\frac{1}{3^n}\sum_k\frac{n!}{k!k!(n-2k)!}$</a:t>
                </a:r>
                <a:r>
                  <a:rPr sz="2400" b="0">
                    <a:solidFill>
                      <a:srgbClr val="111827"/>
                    </a:solidFill>
                    <a:latin typeface="Arial"/>
                  </a:rPr>
                  <a:t>; for </a:t>
                </a:r>
                <a:r>
                  <a:rPr lang="en-IN" sz="2400">
                    <a:solidFill>
                      <a:srgbClr val="111827"/>
                    </a:solidFill>
                    <a:latin typeface="Cambria Math" panose="02040503050406030204" pitchFamily="18" charset="0"/>
                  </a:rPr>
                  <a:t>$n=6$</a:t>
                </a:r>
                <a:r>
                  <a:rPr sz="2400" b="0">
                    <a:solidFill>
                      <a:srgbClr val="111827"/>
                    </a:solidFill>
                    <a:latin typeface="Arial"/>
                  </a:rPr>
                  <a:t> this is </a:t>
                </a:r>
                <a:r>
                  <a:rPr lang="en-IN" sz="2400">
                    <a:solidFill>
                      <a:srgbClr val="111827"/>
                    </a:solidFill>
                    <a:latin typeface="Cambria Math" panose="02040503050406030204" pitchFamily="18" charset="0"/>
                  </a:rPr>
                  <a:t>$\frac{141}{729}$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$2\times2$</a:t>
                </a:r>
                <a:r>
                  <a:rPr sz="2400" b="0">
                    <a:solidFill>
                      <a:srgbClr val="111827"/>
                    </a:solidFill>
                    <a:latin typeface="Arial"/>
                  </a:rPr>
                  <a:t> matrices </a:t>
                </a:r>
                <a:r>
                  <a:rPr lang="en-IN" sz="2400">
                    <a:solidFill>
                      <a:srgbClr val="111827"/>
                    </a:solidFill>
                    <a:latin typeface="Cambria Math" panose="02040503050406030204" pitchFamily="18" charset="0"/>
                  </a:rPr>
                  <a:t>$\operatorname{adj}A=(\operatorname{tr}A)I-A$</a:t>
                </a:r>
                <a:r>
                  <a:rPr sz="2400" b="0">
                    <a:solidFill>
                      <a:srgbClr val="111827"/>
                    </a:solidFill>
                    <a:latin typeface="Arial"/>
                  </a:rPr>
                  <a:t>, so </a:t>
                </a:r>
                <a:r>
                  <a:rPr lang="en-IN" sz="2400">
                    <a:solidFill>
                      <a:srgbClr val="111827"/>
                    </a:solidFill>
                    <a:latin typeface="Cambria Math" panose="02040503050406030204" pitchFamily="18" charset="0"/>
                  </a:rPr>
                  <a:t>$\operatorname{adj}A=-A\iff\operatorname{tr}A=0$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Trace-zero </a:t>
                </a:r>
                <a:r>
                  <a:rPr lang="en-IN" sz="2400">
                    <a:solidFill>
                      <a:srgbClr val="111827"/>
                    </a:solidFill>
                    <a:latin typeface="Cambria Math" panose="02040503050406030204" pitchFamily="18" charset="0"/>
                  </a:rPr>
                  <a:t>$2\times2$</a:t>
                </a:r>
                <a:r>
                  <a:rPr sz="2400" b="0">
                    <a:solidFill>
                      <a:srgbClr val="111827"/>
                    </a:solidFill>
                    <a:latin typeface="Arial"/>
                  </a:rPr>
                  <a:t> matrices satisfy </a:t>
                </a:r>
                <a:r>
                  <a:rPr lang="en-IN" sz="2400">
                    <a:solidFill>
                      <a:srgbClr val="111827"/>
                    </a:solidFill>
                    <a:latin typeface="Cambria Math" panose="02040503050406030204" pitchFamily="18" charset="0"/>
                  </a:rPr>
                  <a:t>$A^2=-\det(A)I$</a:t>
                </a:r>
                <a:r>
                  <a:rPr sz="2400" b="0">
                    <a:solidFill>
                      <a:srgbClr val="111827"/>
                    </a:solidFill>
                    <a:latin typeface="Arial"/>
                  </a:rPr>
                  <a:t> (Cayley-Hamilton), so </a:t>
                </a:r>
                <a:r>
                  <a:rPr lang="en-IN" sz="2400">
                    <a:solidFill>
                      <a:srgbClr val="111827"/>
                    </a:solidFill>
                    <a:latin typeface="Cambria Math" panose="02040503050406030204" pitchFamily="18" charset="0"/>
                  </a:rPr>
                  <a:t>$\det A=-1$</a:t>
                </a:r>
                <a:r>
                  <a:rPr sz="2400" b="0">
                    <a:solidFill>
                      <a:srgbClr val="111827"/>
                    </a:solidFill>
                    <a:latin typeface="Arial"/>
                  </a:rPr>
                  <a:t> gives </a:t>
                </a:r>
                <a:r>
                  <a:rPr lang="en-IN" sz="2400">
                    <a:solidFill>
                      <a:srgbClr val="111827"/>
                    </a:solidFill>
                    <a:latin typeface="Cambria Math" panose="02040503050406030204" pitchFamily="18" charset="0"/>
                  </a:rPr>
                  <a:t>$A^2=I$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Matrices over </a:t>
                </a:r>
                <a:r>
                  <a:rPr lang="en-IN" sz="2400">
                    <a:solidFill>
                      <a:srgbClr val="111827"/>
                    </a:solidFill>
                    <a:latin typeface="Cambria Math" panose="02040503050406030204" pitchFamily="18" charset="0"/>
                  </a:rPr>
                  <a:t>$\{-1,0,1\}$</a:t>
                </a:r>
                <a:r>
                  <a:rPr sz="2400" b="0">
                    <a:solidFill>
                      <a:srgbClr val="111827"/>
                    </a:solidFill>
                    <a:latin typeface="Arial"/>
                  </a:rPr>
                  <a:t> with trace </a:t>
                </a:r>
                <a:r>
                  <a:rPr lang="en-IN" sz="2400">
                    <a:solidFill>
                      <a:srgbClr val="111827"/>
                    </a:solidFill>
                    <a:latin typeface="Cambria Math" panose="02040503050406030204" pitchFamily="18" charset="0"/>
                  </a:rPr>
                  <a:t>$0$</a:t>
                </a:r>
                <a:r>
                  <a:rPr sz="2400" b="0">
                    <a:solidFill>
                      <a:srgbClr val="111827"/>
                    </a:solidFill>
                    <a:latin typeface="Arial"/>
                  </a:rPr>
                  <a:t> and determinant </a:t>
                </a:r>
                <a:r>
                  <a:rPr lang="en-IN" sz="2400">
                    <a:solidFill>
                      <a:srgbClr val="111827"/>
                    </a:solidFill>
                    <a:latin typeface="Cambria Math" panose="02040503050406030204" pitchFamily="18" charset="0"/>
                  </a:rPr>
                  <a:t>$-1$</a:t>
                </a:r>
                <a:r>
                  <a:rPr sz="2400" b="0">
                    <a:solidFill>
                      <a:srgbClr val="111827"/>
                    </a:solidFill>
                    <a:latin typeface="Arial"/>
                  </a:rPr>
                  <a:t> number </a:t>
                </a:r>
                <a:r>
                  <a:rPr lang="en-IN" sz="2400">
                    <a:solidFill>
                      <a:srgbClr val="111827"/>
                    </a:solidFill>
                    <a:latin typeface="Cambria Math" panose="02040503050406030204" pitchFamily="18" charset="0"/>
                  </a:rPr>
                  <a:t>$12$</a:t>
                </a:r>
                <a:r>
                  <a:rPr sz="2400" b="0">
                    <a:solidFill>
                      <a:srgbClr val="111827"/>
                    </a:solidFill>
                    <a:latin typeface="Arial"/>
                  </a:rPr>
                  <a:t> (checked by brute force).</a:t>
                </a:r>
                <a:endParaRPr sz="2400">
                  <a:solidFill>
                    <a:srgbClr val="111827"/>
                  </a:solidFill>
                </a:endParaRPr>
              </a:p>
            </p:txBody>
          </p:sp>
        </mc:Fallback>
      </mc:AlternateContent>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ordered pairs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such that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is a multiple of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ordered pairs </a:t>
                </a:r>
                <a:r>
                  <a:rPr lang="en-IN" sz="2400">
                    <a:solidFill>
                      <a:srgbClr val="111827"/>
                    </a:solidFill>
                    <a:latin typeface="Cambria Math" panose="02040503050406030204" pitchFamily="18" charset="0"/>
                  </a:rPr>
                  <a:t>$(m,n)$</a:t>
                </a:r>
                <a:r>
                  <a:rPr sz="2400" b="0">
                    <a:solidFill>
                      <a:srgbClr val="111827"/>
                    </a:solidFill>
                    <a:latin typeface="Arial"/>
                  </a:rPr>
                  <a:t>; </a:t>
                </a:r>
                <a:r>
                  <a:rPr lang="en-IN" sz="2400">
                    <a:solidFill>
                      <a:srgbClr val="111827"/>
                    </a:solidFill>
                    <a:latin typeface="Cambria Math" panose="02040503050406030204" pitchFamily="18" charset="0"/>
                  </a:rPr>
                  <a:t>$m,n\in\{1,2,3,\dots,20\}$</a:t>
                </a:r>
                <a:r>
                  <a:rPr sz="2400" b="0">
                    <a:solidFill>
                      <a:srgbClr val="111827"/>
                    </a:solidFill>
                    <a:latin typeface="Arial"/>
                  </a:rPr>
                  <a:t> such that </a:t>
                </a:r>
                <a:r>
                  <a:rPr lang="en-IN" sz="2400">
                    <a:solidFill>
                      <a:srgbClr val="111827"/>
                    </a:solidFill>
                    <a:latin typeface="Cambria Math" panose="02040503050406030204" pitchFamily="18" charset="0"/>
                  </a:rPr>
                  <a:t>$3^m+7^n$</a:t>
                </a:r>
                <a:r>
                  <a:rPr sz="2400" b="0">
                    <a:solidFill>
                      <a:srgbClr val="111827"/>
                    </a:solidFill>
                    <a:latin typeface="Arial"/>
                  </a:rPr>
                  <a:t> is a multiple of </a:t>
                </a:r>
                <a:r>
                  <a:rPr lang="en-IN" sz="2400">
                    <a:solidFill>
                      <a:srgbClr val="111827"/>
                    </a:solidFill>
                    <a:latin typeface="Cambria Math" panose="02040503050406030204" pitchFamily="18" charset="0"/>
                  </a:rPr>
                  <a:t>$10$</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24612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Permutations and combinations (counting pairs), Number theory: unit digits of powers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Unit digits of </a:t>
                </a:r>
                <a14:m>
                  <m:oMath xmlns:m="http://schemas.openxmlformats.org/officeDocument/2006/math">
                    <m:sSup>
                      <m:e>
                        <m:r>
                          <a:rPr lang="en-IN" sz="2400" i="1">
                            <a:solidFill>
                              <a:srgbClr val="78350F"/>
                            </a:solidFill>
                            <a:latin typeface="Cambria Math" panose="02040503050406030204" pitchFamily="18" charset="0"/>
                          </a:rPr>
                          <m:t>3</m:t>
                        </m:r>
                      </m:e>
                      <m:sup>
                        <m:r>
                          <a:rPr lang="en-IN" sz="2400" i="1">
                            <a:solidFill>
                              <a:srgbClr val="78350F"/>
                            </a:solidFill>
                            <a:latin typeface="Cambria Math" panose="02040503050406030204" pitchFamily="18" charset="0"/>
                          </a:rPr>
                          <m:t>𝑚</m:t>
                        </m:r>
                      </m:sup>
                    </m:sSup>
                  </m:oMath>
                </a14:m>
                <a:r>
                  <a:rPr sz="2400" b="0">
                    <a:solidFill>
                      <a:srgbClr val="78350F"/>
                    </a:solidFill>
                    <a:latin typeface="Arial"/>
                  </a:rPr>
                  <a:t> and </a:t>
                </a:r>
                <a14:m>
                  <m:oMath xmlns:m="http://schemas.openxmlformats.org/officeDocument/2006/math">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repeat with period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so split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m:t>
                    </m:r>
                  </m:oMath>
                </a14:m>
                <a:r>
                  <a:rPr sz="2400" b="0">
                    <a:solidFill>
                      <a:srgbClr val="78350F"/>
                    </a:solidFill>
                    <a:latin typeface="Arial"/>
                  </a:rPr>
                  <a:t> into four residue classes of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Unit digits of </a:t>
                </a:r>
                <a:r>
                  <a:rPr lang="en-IN" sz="2400">
                    <a:solidFill>
                      <a:srgbClr val="78350F"/>
                    </a:solidFill>
                    <a:latin typeface="Cambria Math" panose="02040503050406030204" pitchFamily="18" charset="0"/>
                  </a:rPr>
                  <a:t>$3^m$</a:t>
                </a:r>
                <a:r>
                  <a:rPr sz="2400" b="0">
                    <a:solidFill>
                      <a:srgbClr val="78350F"/>
                    </a:solidFill>
                    <a:latin typeface="Arial"/>
                  </a:rPr>
                  <a:t> and </a:t>
                </a:r>
                <a:r>
                  <a:rPr lang="en-IN" sz="2400">
                    <a:solidFill>
                      <a:srgbClr val="78350F"/>
                    </a:solidFill>
                    <a:latin typeface="Cambria Math" panose="02040503050406030204" pitchFamily="18" charset="0"/>
                  </a:rPr>
                  <a:t>$7^n$</a:t>
                </a:r>
                <a:r>
                  <a:rPr sz="2400" b="0">
                    <a:solidFill>
                      <a:srgbClr val="78350F"/>
                    </a:solidFill>
                    <a:latin typeface="Arial"/>
                  </a:rPr>
                  <a:t> repeat with period </a:t>
                </a:r>
                <a:r>
                  <a:rPr lang="en-IN" sz="2400">
                    <a:solidFill>
                      <a:srgbClr val="78350F"/>
                    </a:solidFill>
                    <a:latin typeface="Cambria Math" panose="02040503050406030204" pitchFamily="18" charset="0"/>
                  </a:rPr>
                  <a:t>$4$</a:t>
                </a:r>
                <a:r>
                  <a:rPr sz="2400" b="0">
                    <a:solidFill>
                      <a:srgbClr val="78350F"/>
                    </a:solidFill>
                    <a:latin typeface="Arial"/>
                  </a:rPr>
                  <a:t>, so split </a:t>
                </a:r>
                <a:r>
                  <a:rPr lang="en-IN" sz="2400">
                    <a:solidFill>
                      <a:srgbClr val="78350F"/>
                    </a:solidFill>
                    <a:latin typeface="Cambria Math" panose="02040503050406030204" pitchFamily="18" charset="0"/>
                  </a:rPr>
                  <a:t>$1,\dots,20$</a:t>
                </a:r>
                <a:r>
                  <a:rPr sz="2400" b="0">
                    <a:solidFill>
                      <a:srgbClr val="78350F"/>
                    </a:solidFill>
                    <a:latin typeface="Arial"/>
                  </a:rPr>
                  <a:t> into four residue classes of </a:t>
                </a:r>
                <a:r>
                  <a:rPr lang="en-IN" sz="2400">
                    <a:solidFill>
                      <a:srgbClr val="78350F"/>
                    </a:solidFill>
                    <a:latin typeface="Cambria Math" panose="02040503050406030204" pitchFamily="18" charset="0"/>
                  </a:rPr>
                  <a:t>$5$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is a multiple of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exactly when its unit digit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i.e. the unit digits of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add up to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digits of powers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repeat in a cycle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Likewise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into four sets of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elements: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(type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$3^m+7^n$</a:t>
                </a:r>
                <a:r>
                  <a:rPr sz="2400" b="0">
                    <a:solidFill>
                      <a:srgbClr val="111827"/>
                    </a:solidFill>
                    <a:latin typeface="Arial"/>
                  </a:rPr>
                  <a:t> is a multiple of </a:t>
                </a:r>
                <a:r>
                  <a:rPr lang="en-IN" sz="2400">
                    <a:solidFill>
                      <a:srgbClr val="111827"/>
                    </a:solidFill>
                    <a:latin typeface="Cambria Math" panose="02040503050406030204" pitchFamily="18" charset="0"/>
                  </a:rPr>
                  <a:t>$10$</a:t>
                </a:r>
                <a:r>
                  <a:rPr sz="2400" b="0">
                    <a:solidFill>
                      <a:srgbClr val="111827"/>
                    </a:solidFill>
                    <a:latin typeface="Arial"/>
                  </a:rPr>
                  <a:t> exactly when its unit digit is </a:t>
                </a:r>
                <a:r>
                  <a:rPr lang="en-IN" sz="2400">
                    <a:solidFill>
                      <a:srgbClr val="111827"/>
                    </a:solidFill>
                    <a:latin typeface="Cambria Math" panose="02040503050406030204" pitchFamily="18" charset="0"/>
                  </a:rPr>
                  <a:t>$0$</a:t>
                </a:r>
                <a:r>
                  <a:rPr sz="2400" b="0">
                    <a:solidFill>
                      <a:srgbClr val="111827"/>
                    </a:solidFill>
                    <a:latin typeface="Arial"/>
                  </a:rPr>
                  <a:t>, i.e. the unit digits of </a:t>
                </a:r>
                <a:r>
                  <a:rPr lang="en-IN" sz="2400">
                    <a:solidFill>
                      <a:srgbClr val="111827"/>
                    </a:solidFill>
                    <a:latin typeface="Cambria Math" panose="02040503050406030204" pitchFamily="18" charset="0"/>
                  </a:rPr>
                  <a:t>$3^m$</a:t>
                </a:r>
                <a:r>
                  <a:rPr sz="2400" b="0">
                    <a:solidFill>
                      <a:srgbClr val="111827"/>
                    </a:solidFill>
                    <a:latin typeface="Arial"/>
                  </a:rPr>
                  <a:t> and </a:t>
                </a:r>
                <a:r>
                  <a:rPr lang="en-IN" sz="2400">
                    <a:solidFill>
                      <a:srgbClr val="111827"/>
                    </a:solidFill>
                    <a:latin typeface="Cambria Math" panose="02040503050406030204" pitchFamily="18" charset="0"/>
                  </a:rPr>
                  <a:t>$7^n$</a:t>
                </a:r>
                <a:r>
                  <a:rPr sz="2400" b="0">
                    <a:solidFill>
                      <a:srgbClr val="111827"/>
                    </a:solidFill>
                    <a:latin typeface="Arial"/>
                  </a:rPr>
                  <a:t> add up to </a:t>
                </a:r>
                <a:r>
                  <a:rPr lang="en-IN" sz="2400">
                    <a:solidFill>
                      <a:srgbClr val="111827"/>
                    </a:solidFill>
                    <a:latin typeface="Cambria Math" panose="02040503050406030204" pitchFamily="18" charset="0"/>
                  </a:rPr>
                  <a:t>$10$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Unit digits of powers of </a:t>
                </a:r>
                <a:r>
                  <a:rPr lang="en-IN" sz="2400">
                    <a:solidFill>
                      <a:srgbClr val="111827"/>
                    </a:solidFill>
                    <a:latin typeface="Cambria Math" panose="02040503050406030204" pitchFamily="18" charset="0"/>
                  </a:rPr>
                  <a:t>$3$</a:t>
                </a:r>
                <a:r>
                  <a:rPr sz="2400" b="0">
                    <a:solidFill>
                      <a:srgbClr val="111827"/>
                    </a:solidFill>
                    <a:latin typeface="Arial"/>
                  </a:rPr>
                  <a:t> and </a:t>
                </a:r>
                <a:r>
                  <a:rPr lang="en-IN" sz="2400">
                    <a:solidFill>
                      <a:srgbClr val="111827"/>
                    </a:solidFill>
                    <a:latin typeface="Cambria Math" panose="02040503050406030204" pitchFamily="18" charset="0"/>
                  </a:rPr>
                  <a:t>$7$</a:t>
                </a:r>
                <a:r>
                  <a:rPr sz="2400" b="0">
                    <a:solidFill>
                      <a:srgbClr val="111827"/>
                    </a:solidFill>
                    <a:latin typeface="Arial"/>
                  </a:rPr>
                  <a:t> repeat in a cycle of </a:t>
                </a:r>
                <a:r>
                  <a:rPr lang="en-IN" sz="2400">
                    <a:solidFill>
                      <a:srgbClr val="111827"/>
                    </a:solidFill>
                    <a:latin typeface="Cambria Math" panose="02040503050406030204" pitchFamily="18" charset="0"/>
                  </a:rPr>
                  <a:t>$4$</a:t>
                </a:r>
                <a:r>
                  <a:rPr sz="2400" b="0">
                    <a:solidFill>
                      <a:srgbClr val="111827"/>
                    </a:solidFill>
                    <a:latin typeface="Arial"/>
                  </a:rPr>
                  <a:t>: </a:t>
                </a:r>
                <a:r>
                  <a:rPr lang="en-IN" sz="2400">
                    <a:solidFill>
                      <a:srgbClr val="111827"/>
                    </a:solidFill>
                    <a:latin typeface="Cambria Math" panose="02040503050406030204" pitchFamily="18" charset="0"/>
                  </a:rPr>
                  <a:t>$3^{4k}\to1,\ 3^{4k+1}\to3,\ 3^{4k+2}\to9,\ 3^{4k+3}\to7$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Likewise </a:t>
                </a:r>
                <a:r>
                  <a:rPr lang="en-IN" sz="2400">
                    <a:solidFill>
                      <a:srgbClr val="111827"/>
                    </a:solidFill>
                    <a:latin typeface="Cambria Math" panose="02040503050406030204" pitchFamily="18" charset="0"/>
                  </a:rPr>
                  <a:t>$7^{4k}\to1,\ 7^{4k+1}\to7,\ 7^{4k+2}\to9,\ 7^{4k+3}\to3$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Divide </a:t>
                </a:r>
                <a:r>
                  <a:rPr lang="en-IN" sz="2400">
                    <a:solidFill>
                      <a:srgbClr val="111827"/>
                    </a:solidFill>
                    <a:latin typeface="Cambria Math" panose="02040503050406030204" pitchFamily="18" charset="0"/>
                  </a:rPr>
                  <a:t>$\{1,\dots,20\}$</a:t>
                </a:r>
                <a:r>
                  <a:rPr sz="2400" b="0">
                    <a:solidFill>
                      <a:srgbClr val="111827"/>
                    </a:solidFill>
                    <a:latin typeface="Arial"/>
                  </a:rPr>
                  <a:t> into four sets of </a:t>
                </a:r>
                <a:r>
                  <a:rPr lang="en-IN" sz="2400">
                    <a:solidFill>
                      <a:srgbClr val="111827"/>
                    </a:solidFill>
                    <a:latin typeface="Cambria Math" panose="02040503050406030204" pitchFamily="18" charset="0"/>
                  </a:rPr>
                  <a:t>$5$</a:t>
                </a:r>
                <a:r>
                  <a:rPr sz="2400" b="0">
                    <a:solidFill>
                      <a:srgbClr val="111827"/>
                    </a:solidFill>
                    <a:latin typeface="Arial"/>
                  </a:rPr>
                  <a:t> elements: </a:t>
                </a:r>
                <a:r>
                  <a:rPr lang="en-IN" sz="2400">
                    <a:solidFill>
                      <a:srgbClr val="111827"/>
                    </a:solidFill>
                    <a:latin typeface="Cambria Math" panose="02040503050406030204" pitchFamily="18" charset="0"/>
                  </a:rPr>
                  <a:t>$A=\{4,8,12,16,20\}$</a:t>
                </a:r>
                <a:r>
                  <a:rPr sz="2400" b="0">
                    <a:solidFill>
                      <a:srgbClr val="111827"/>
                    </a:solidFill>
                    <a:latin typeface="Arial"/>
                  </a:rPr>
                  <a:t> (type </a:t>
                </a:r>
                <a:r>
                  <a:rPr lang="en-IN" sz="2400">
                    <a:solidFill>
                      <a:srgbClr val="111827"/>
                    </a:solidFill>
                    <a:latin typeface="Cambria Math" panose="02040503050406030204" pitchFamily="18" charset="0"/>
                  </a:rPr>
                  <a:t>$4k$</a:t>
                </a:r>
                <a:r>
                  <a:rPr sz="2400" b="0">
                    <a:solidFill>
                      <a:srgbClr val="111827"/>
                    </a:solidFill>
                    <a:latin typeface="Arial"/>
                  </a:rPr>
                  <a:t>), </a:t>
                </a:r>
                <a:r>
                  <a:rPr lang="en-IN" sz="2400">
                    <a:solidFill>
                      <a:srgbClr val="111827"/>
                    </a:solidFill>
                    <a:latin typeface="Cambria Math" panose="02040503050406030204" pitchFamily="18" charset="0"/>
                  </a:rPr>
                  <a:t>$B=\{1,5,9,13,17\}$</a:t>
                </a:r>
                <a:r>
                  <a:rPr sz="2400" b="0">
                    <a:solidFill>
                      <a:srgbClr val="111827"/>
                    </a:solidFill>
                    <a:latin typeface="Arial"/>
                  </a:rPr>
                  <a:t> (</a:t>
                </a:r>
                <a:r>
                  <a:rPr lang="en-IN" sz="2400">
                    <a:solidFill>
                      <a:srgbClr val="111827"/>
                    </a:solidFill>
                    <a:latin typeface="Cambria Math" panose="02040503050406030204" pitchFamily="18" charset="0"/>
                  </a:rPr>
                  <a:t>$4k+1$</a:t>
                </a:r>
                <a:r>
                  <a:rPr sz="2400" b="0">
                    <a:solidFill>
                      <a:srgbClr val="111827"/>
                    </a:solidFill>
                    <a:latin typeface="Arial"/>
                  </a:rPr>
                  <a:t>), </a:t>
                </a:r>
                <a:r>
                  <a:rPr lang="en-IN" sz="2400">
                    <a:solidFill>
                      <a:srgbClr val="111827"/>
                    </a:solidFill>
                    <a:latin typeface="Cambria Math" panose="02040503050406030204" pitchFamily="18" charset="0"/>
                  </a:rPr>
                  <a:t>$C=\{2,6,10,14,18\}$</a:t>
                </a:r>
                <a:r>
                  <a:rPr sz="2400" b="0">
                    <a:solidFill>
                      <a:srgbClr val="111827"/>
                    </a:solidFill>
                    <a:latin typeface="Arial"/>
                  </a:rPr>
                  <a:t> (</a:t>
                </a:r>
                <a:r>
                  <a:rPr lang="en-IN" sz="2400">
                    <a:solidFill>
                      <a:srgbClr val="111827"/>
                    </a:solidFill>
                    <a:latin typeface="Cambria Math" panose="02040503050406030204" pitchFamily="18" charset="0"/>
                  </a:rPr>
                  <a:t>$4k+2$</a:t>
                </a:r>
                <a:r>
                  <a:rPr sz="2400" b="0">
                    <a:solidFill>
                      <a:srgbClr val="111827"/>
                    </a:solidFill>
                    <a:latin typeface="Arial"/>
                  </a:rPr>
                  <a:t>), </a:t>
                </a:r>
                <a:r>
                  <a:rPr lang="en-IN" sz="2400">
                    <a:solidFill>
                      <a:srgbClr val="111827"/>
                    </a:solidFill>
                    <a:latin typeface="Cambria Math" panose="02040503050406030204" pitchFamily="18" charset="0"/>
                  </a:rPr>
                  <a:t>$D=\{3,7,11,15,19\}$</a:t>
                </a:r>
                <a:r>
                  <a:rPr sz="2400" b="0">
                    <a:solidFill>
                      <a:srgbClr val="111827"/>
                    </a:solidFill>
                    <a:latin typeface="Arial"/>
                  </a:rPr>
                  <a:t> (</a:t>
                </a:r>
                <a:r>
                  <a:rPr lang="en-IN" sz="2400">
                    <a:solidFill>
                      <a:srgbClr val="111827"/>
                    </a:solidFill>
                    <a:latin typeface="Cambria Math" panose="02040503050406030204" pitchFamily="18" charset="0"/>
                  </a:rPr>
                  <a:t>$4k+3$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ends in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must end in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ends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must end in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ends in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must end in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 ends in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must end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of the four cases gives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pairs, so the number of pairs is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$m\in A$</a:t>
                </a:r>
                <a:r>
                  <a:rPr sz="2400" b="0">
                    <a:solidFill>
                      <a:srgbClr val="111827"/>
                    </a:solidFill>
                    <a:latin typeface="Arial"/>
                  </a:rPr>
                  <a:t>: </a:t>
                </a:r>
                <a:r>
                  <a:rPr lang="en-IN" sz="2400">
                    <a:solidFill>
                      <a:srgbClr val="111827"/>
                    </a:solidFill>
                    <a:latin typeface="Cambria Math" panose="02040503050406030204" pitchFamily="18" charset="0"/>
                  </a:rPr>
                  <a:t>$3^m$</a:t>
                </a:r>
                <a:r>
                  <a:rPr sz="2400" b="0">
                    <a:solidFill>
                      <a:srgbClr val="111827"/>
                    </a:solidFill>
                    <a:latin typeface="Arial"/>
                  </a:rPr>
                  <a:t> ends in </a:t>
                </a:r>
                <a:r>
                  <a:rPr lang="en-IN" sz="2400">
                    <a:solidFill>
                      <a:srgbClr val="111827"/>
                    </a:solidFill>
                    <a:latin typeface="Cambria Math" panose="02040503050406030204" pitchFamily="18" charset="0"/>
                  </a:rPr>
                  <a:t>$1$</a:t>
                </a:r>
                <a:r>
                  <a:rPr sz="2400" b="0">
                    <a:solidFill>
                      <a:srgbClr val="111827"/>
                    </a:solidFill>
                    <a:latin typeface="Arial"/>
                  </a:rPr>
                  <a:t>, so </a:t>
                </a:r>
                <a:r>
                  <a:rPr lang="en-IN" sz="2400">
                    <a:solidFill>
                      <a:srgbClr val="111827"/>
                    </a:solidFill>
                    <a:latin typeface="Cambria Math" panose="02040503050406030204" pitchFamily="18" charset="0"/>
                  </a:rPr>
                  <a:t>$7^n$</a:t>
                </a:r>
                <a:r>
                  <a:rPr sz="2400" b="0">
                    <a:solidFill>
                      <a:srgbClr val="111827"/>
                    </a:solidFill>
                    <a:latin typeface="Arial"/>
                  </a:rPr>
                  <a:t> must end in </a:t>
                </a:r>
                <a:r>
                  <a:rPr lang="en-IN" sz="2400">
                    <a:solidFill>
                      <a:srgbClr val="111827"/>
                    </a:solidFill>
                    <a:latin typeface="Cambria Math" panose="02040503050406030204" pitchFamily="18" charset="0"/>
                  </a:rPr>
                  <a:t>$9$</a:t>
                </a:r>
                <a:r>
                  <a:rPr sz="2400" b="0">
                    <a:solidFill>
                      <a:srgbClr val="111827"/>
                    </a:solidFill>
                    <a:latin typeface="Arial"/>
                  </a:rPr>
                  <a:t>, i.e. </a:t>
                </a:r>
                <a:r>
                  <a:rPr lang="en-IN" sz="2400">
                    <a:solidFill>
                      <a:srgbClr val="111827"/>
                    </a:solidFill>
                    <a:latin typeface="Cambria Math" panose="02040503050406030204" pitchFamily="18" charset="0"/>
                  </a:rPr>
                  <a:t>$n\in 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$m\in B$</a:t>
                </a:r>
                <a:r>
                  <a:rPr sz="2400" b="0">
                    <a:solidFill>
                      <a:srgbClr val="111827"/>
                    </a:solidFill>
                    <a:latin typeface="Arial"/>
                  </a:rPr>
                  <a:t>: ends in </a:t>
                </a:r>
                <a:r>
                  <a:rPr lang="en-IN" sz="2400">
                    <a:solidFill>
                      <a:srgbClr val="111827"/>
                    </a:solidFill>
                    <a:latin typeface="Cambria Math" panose="02040503050406030204" pitchFamily="18" charset="0"/>
                  </a:rPr>
                  <a:t>$3$</a:t>
                </a:r>
                <a:r>
                  <a:rPr sz="2400" b="0">
                    <a:solidFill>
                      <a:srgbClr val="111827"/>
                    </a:solidFill>
                    <a:latin typeface="Arial"/>
                  </a:rPr>
                  <a:t>, so </a:t>
                </a:r>
                <a:r>
                  <a:rPr lang="en-IN" sz="2400">
                    <a:solidFill>
                      <a:srgbClr val="111827"/>
                    </a:solidFill>
                    <a:latin typeface="Cambria Math" panose="02040503050406030204" pitchFamily="18" charset="0"/>
                  </a:rPr>
                  <a:t>$7^n$</a:t>
                </a:r>
                <a:r>
                  <a:rPr sz="2400" b="0">
                    <a:solidFill>
                      <a:srgbClr val="111827"/>
                    </a:solidFill>
                    <a:latin typeface="Arial"/>
                  </a:rPr>
                  <a:t> must end in </a:t>
                </a:r>
                <a:r>
                  <a:rPr lang="en-IN" sz="2400">
                    <a:solidFill>
                      <a:srgbClr val="111827"/>
                    </a:solidFill>
                    <a:latin typeface="Cambria Math" panose="02040503050406030204" pitchFamily="18" charset="0"/>
                  </a:rPr>
                  <a:t>$7$</a:t>
                </a:r>
                <a:r>
                  <a:rPr sz="2400" b="0">
                    <a:solidFill>
                      <a:srgbClr val="111827"/>
                    </a:solidFill>
                    <a:latin typeface="Arial"/>
                  </a:rPr>
                  <a:t>, i.e. </a:t>
                </a:r>
                <a:r>
                  <a:rPr lang="en-IN" sz="2400">
                    <a:solidFill>
                      <a:srgbClr val="111827"/>
                    </a:solidFill>
                    <a:latin typeface="Cambria Math" panose="02040503050406030204" pitchFamily="18" charset="0"/>
                  </a:rPr>
                  <a:t>$n\in 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$m\in C$</a:t>
                </a:r>
                <a:r>
                  <a:rPr sz="2400" b="0">
                    <a:solidFill>
                      <a:srgbClr val="111827"/>
                    </a:solidFill>
                    <a:latin typeface="Arial"/>
                  </a:rPr>
                  <a:t>: ends in </a:t>
                </a:r>
                <a:r>
                  <a:rPr lang="en-IN" sz="2400">
                    <a:solidFill>
                      <a:srgbClr val="111827"/>
                    </a:solidFill>
                    <a:latin typeface="Cambria Math" panose="02040503050406030204" pitchFamily="18" charset="0"/>
                  </a:rPr>
                  <a:t>$9$</a:t>
                </a:r>
                <a:r>
                  <a:rPr sz="2400" b="0">
                    <a:solidFill>
                      <a:srgbClr val="111827"/>
                    </a:solidFill>
                    <a:latin typeface="Arial"/>
                  </a:rPr>
                  <a:t>, so </a:t>
                </a:r>
                <a:r>
                  <a:rPr lang="en-IN" sz="2400">
                    <a:solidFill>
                      <a:srgbClr val="111827"/>
                    </a:solidFill>
                    <a:latin typeface="Cambria Math" panose="02040503050406030204" pitchFamily="18" charset="0"/>
                  </a:rPr>
                  <a:t>$7^n$</a:t>
                </a:r>
                <a:r>
                  <a:rPr sz="2400" b="0">
                    <a:solidFill>
                      <a:srgbClr val="111827"/>
                    </a:solidFill>
                    <a:latin typeface="Arial"/>
                  </a:rPr>
                  <a:t> must end in </a:t>
                </a:r>
                <a:r>
                  <a:rPr lang="en-IN" sz="2400">
                    <a:solidFill>
                      <a:srgbClr val="111827"/>
                    </a:solidFill>
                    <a:latin typeface="Cambria Math" panose="02040503050406030204" pitchFamily="18" charset="0"/>
                  </a:rPr>
                  <a:t>$1$</a:t>
                </a:r>
                <a:r>
                  <a:rPr sz="2400" b="0">
                    <a:solidFill>
                      <a:srgbClr val="111827"/>
                    </a:solidFill>
                    <a:latin typeface="Arial"/>
                  </a:rPr>
                  <a:t>, i.e. </a:t>
                </a:r>
                <a:r>
                  <a:rPr lang="en-IN" sz="2400">
                    <a:solidFill>
                      <a:srgbClr val="111827"/>
                    </a:solidFill>
                    <a:latin typeface="Cambria Math" panose="02040503050406030204" pitchFamily="18" charset="0"/>
                  </a:rPr>
                  <a:t>$n\in A$</a:t>
                </a:r>
                <a:r>
                  <a:rPr sz="2400" b="0">
                    <a:solidFill>
                      <a:srgbClr val="111827"/>
                    </a:solidFill>
                    <a:latin typeface="Arial"/>
                  </a:rPr>
                  <a:t>. </a:t>
                </a:r>
                <a:r>
                  <a:rPr lang="en-IN" sz="2400">
                    <a:solidFill>
                      <a:srgbClr val="111827"/>
                    </a:solidFill>
                    <a:latin typeface="Cambria Math" panose="02040503050406030204" pitchFamily="18" charset="0"/>
                  </a:rPr>
                  <a:t>$m\in D$</a:t>
                </a:r>
                <a:r>
                  <a:rPr sz="2400" b="0">
                    <a:solidFill>
                      <a:srgbClr val="111827"/>
                    </a:solidFill>
                    <a:latin typeface="Arial"/>
                  </a:rPr>
                  <a:t>: ends in </a:t>
                </a:r>
                <a:r>
                  <a:rPr lang="en-IN" sz="2400">
                    <a:solidFill>
                      <a:srgbClr val="111827"/>
                    </a:solidFill>
                    <a:latin typeface="Cambria Math" panose="02040503050406030204" pitchFamily="18" charset="0"/>
                  </a:rPr>
                  <a:t>$7$</a:t>
                </a:r>
                <a:r>
                  <a:rPr sz="2400" b="0">
                    <a:solidFill>
                      <a:srgbClr val="111827"/>
                    </a:solidFill>
                    <a:latin typeface="Arial"/>
                  </a:rPr>
                  <a:t>, so </a:t>
                </a:r>
                <a:r>
                  <a:rPr lang="en-IN" sz="2400">
                    <a:solidFill>
                      <a:srgbClr val="111827"/>
                    </a:solidFill>
                    <a:latin typeface="Cambria Math" panose="02040503050406030204" pitchFamily="18" charset="0"/>
                  </a:rPr>
                  <a:t>$7^n$</a:t>
                </a:r>
                <a:r>
                  <a:rPr sz="2400" b="0">
                    <a:solidFill>
                      <a:srgbClr val="111827"/>
                    </a:solidFill>
                    <a:latin typeface="Arial"/>
                  </a:rPr>
                  <a:t> must end in </a:t>
                </a:r>
                <a:r>
                  <a:rPr lang="en-IN" sz="2400">
                    <a:solidFill>
                      <a:srgbClr val="111827"/>
                    </a:solidFill>
                    <a:latin typeface="Cambria Math" panose="02040503050406030204" pitchFamily="18" charset="0"/>
                  </a:rPr>
                  <a:t>$3$</a:t>
                </a:r>
                <a:r>
                  <a:rPr sz="2400" b="0">
                    <a:solidFill>
                      <a:srgbClr val="111827"/>
                    </a:solidFill>
                    <a:latin typeface="Arial"/>
                  </a:rPr>
                  <a:t>, i.e. </a:t>
                </a:r>
                <a:r>
                  <a:rPr lang="en-IN" sz="2400">
                    <a:solidFill>
                      <a:srgbClr val="111827"/>
                    </a:solidFill>
                    <a:latin typeface="Cambria Math" panose="02040503050406030204" pitchFamily="18" charset="0"/>
                  </a:rPr>
                  <a:t>$n\in 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of the four cases gives </a:t>
                </a:r>
                <a:r>
                  <a:rPr lang="en-IN" sz="2400">
                    <a:solidFill>
                      <a:srgbClr val="111827"/>
                    </a:solidFill>
                    <a:latin typeface="Cambria Math" panose="02040503050406030204" pitchFamily="18" charset="0"/>
                  </a:rPr>
                  <a:t>$5\times5$</a:t>
                </a:r>
                <a:r>
                  <a:rPr sz="2400" b="0">
                    <a:solidFill>
                      <a:srgbClr val="111827"/>
                    </a:solidFill>
                    <a:latin typeface="Arial"/>
                  </a:rPr>
                  <a:t> pairs, so the number of pairs is </a:t>
                </a:r>
                <a:r>
                  <a:rPr lang="en-IN" sz="2400">
                    <a:solidFill>
                      <a:srgbClr val="111827"/>
                    </a:solidFill>
                    <a:latin typeface="Cambria Math" panose="02040503050406030204" pitchFamily="18" charset="0"/>
                  </a:rPr>
                  <a:t>$4\times25=100$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100</a:t>
            </a:r>
            <a:endParaRPr sz="2800">
              <a:solidFill>
                <a:srgbClr val="15803D"/>
              </a:solidFill>
            </a:endParaRPr>
          </a:p>
        </p:txBody>
      </p:sp>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multiple of </a:t>
                </a:r>
                <a14:m>
                  <m:oMath xmlns:m="http://schemas.openxmlformats.org/officeDocument/2006/math">
                    <m:r>
                      <a:rPr lang="en-IN" sz="2400" i="1">
                        <a:solidFill>
                          <a:srgbClr val="78350F"/>
                        </a:solidFill>
                        <a:latin typeface="Cambria Math" panose="02040503050406030204" pitchFamily="18" charset="0"/>
                      </a:rPr>
                      <m:t>10</m:t>
                    </m:r>
                  </m:oMath>
                </a14:m>
                <a:r>
                  <a:rPr sz="2400" b="0">
                    <a:solidFill>
                      <a:srgbClr val="78350F"/>
                    </a:solidFill>
                    <a:latin typeface="Arial"/>
                  </a:rPr>
                  <a:t> means divisible by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 parity is automatic, so reduce to a single congruence mod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 multiple of </a:t>
                </a:r>
                <a:r>
                  <a:rPr lang="en-IN" sz="2400">
                    <a:solidFill>
                      <a:srgbClr val="78350F"/>
                    </a:solidFill>
                    <a:latin typeface="Cambria Math" panose="02040503050406030204" pitchFamily="18" charset="0"/>
                  </a:rPr>
                  <a:t>$10$</a:t>
                </a:r>
                <a:r>
                  <a:rPr sz="2400" b="0">
                    <a:solidFill>
                      <a:srgbClr val="78350F"/>
                    </a:solidFill>
                    <a:latin typeface="Arial"/>
                  </a:rPr>
                  <a:t> means divisible by </a:t>
                </a:r>
                <a:r>
                  <a:rPr lang="en-IN" sz="2400">
                    <a:solidFill>
                      <a:srgbClr val="78350F"/>
                    </a:solidFill>
                    <a:latin typeface="Cambria Math" panose="02040503050406030204" pitchFamily="18" charset="0"/>
                  </a:rPr>
                  <a:t>$2$</a:t>
                </a:r>
                <a:r>
                  <a:rPr sz="2400" b="0">
                    <a:solidFill>
                      <a:srgbClr val="78350F"/>
                    </a:solidFill>
                    <a:latin typeface="Arial"/>
                  </a:rPr>
                  <a:t> and </a:t>
                </a:r>
                <a:r>
                  <a:rPr lang="en-IN" sz="2400">
                    <a:solidFill>
                      <a:srgbClr val="78350F"/>
                    </a:solidFill>
                    <a:latin typeface="Cambria Math" panose="02040503050406030204" pitchFamily="18" charset="0"/>
                  </a:rPr>
                  <a:t>$5$</a:t>
                </a:r>
                <a:r>
                  <a:rPr sz="2400" b="0">
                    <a:solidFill>
                      <a:srgbClr val="78350F"/>
                    </a:solidFill>
                    <a:latin typeface="Arial"/>
                  </a:rPr>
                  <a:t>: parity is automatic, so reduce to a single congruence mod </a:t>
                </a:r>
                <a:r>
                  <a:rPr lang="en-IN" sz="2400">
                    <a:solidFill>
                      <a:srgbClr val="78350F"/>
                    </a:solidFill>
                    <a:latin typeface="Cambria Math" panose="02040503050406030204" pitchFamily="18" charset="0"/>
                  </a:rPr>
                  <a:t>$5$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is always even (odd plus odd), so it is divisible by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iff it is divisible by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has order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modulo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$3^m+7^n$</a:t>
                </a:r>
                <a:r>
                  <a:rPr sz="2400" b="0">
                    <a:solidFill>
                      <a:srgbClr val="111827"/>
                    </a:solidFill>
                    <a:latin typeface="Arial"/>
                  </a:rPr>
                  <a:t> is always even (odd plus odd), so it is divisible by </a:t>
                </a:r>
                <a:r>
                  <a:rPr lang="en-IN" sz="2400">
                    <a:solidFill>
                      <a:srgbClr val="111827"/>
                    </a:solidFill>
                    <a:latin typeface="Cambria Math" panose="02040503050406030204" pitchFamily="18" charset="0"/>
                  </a:rPr>
                  <a:t>$10$</a:t>
                </a:r>
                <a:r>
                  <a:rPr sz="2400" b="0">
                    <a:solidFill>
                      <a:srgbClr val="111827"/>
                    </a:solidFill>
                    <a:latin typeface="Arial"/>
                  </a:rPr>
                  <a:t> iff it is divisible by </a:t>
                </a:r>
                <a:r>
                  <a:rPr lang="en-IN" sz="2400">
                    <a:solidFill>
                      <a:srgbClr val="111827"/>
                    </a:solidFill>
                    <a:latin typeface="Cambria Math" panose="02040503050406030204" pitchFamily="18" charset="0"/>
                  </a:rPr>
                  <a: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 </a:t>
                </a:r>
                <a:r>
                  <a:rPr lang="en-IN" sz="2400">
                    <a:solidFill>
                      <a:srgbClr val="111827"/>
                    </a:solidFill>
                    <a:latin typeface="Cambria Math" panose="02040503050406030204" pitchFamily="18" charset="0"/>
                  </a:rPr>
                  <a:t>$5$</a:t>
                </a:r>
                <a:r>
                  <a:rPr sz="2400" b="0">
                    <a:solidFill>
                      <a:srgbClr val="111827"/>
                    </a:solidFill>
                    <a:latin typeface="Arial"/>
                  </a:rPr>
                  <a:t>: </a:t>
                </a:r>
                <a:r>
                  <a:rPr lang="en-IN" sz="2400">
                    <a:solidFill>
                      <a:srgbClr val="111827"/>
                    </a:solidFill>
                    <a:latin typeface="Cambria Math" panose="02040503050406030204" pitchFamily="18" charset="0"/>
                  </a:rPr>
                  <a:t>$7\equiv2$</a:t>
                </a:r>
                <a:r>
                  <a:rPr sz="2400" b="0">
                    <a:solidFill>
                      <a:srgbClr val="111827"/>
                    </a:solidFill>
                    <a:latin typeface="Arial"/>
                  </a:rPr>
                  <a:t> and </a:t>
                </a:r>
                <a:r>
                  <a:rPr lang="en-IN" sz="2400">
                    <a:solidFill>
                      <a:srgbClr val="111827"/>
                    </a:solidFill>
                    <a:latin typeface="Cambria Math" panose="02040503050406030204" pitchFamily="18" charset="0"/>
                  </a:rPr>
                  <a:t>$2\equiv3^3$</a:t>
                </a:r>
                <a:r>
                  <a:rPr sz="2400" b="0">
                    <a:solidFill>
                      <a:srgbClr val="111827"/>
                    </a:solidFill>
                    <a:latin typeface="Arial"/>
                  </a:rPr>
                  <a:t> (as </a:t>
                </a:r>
                <a:r>
                  <a:rPr lang="en-IN" sz="2400">
                    <a:solidFill>
                      <a:srgbClr val="111827"/>
                    </a:solidFill>
                    <a:latin typeface="Cambria Math" panose="02040503050406030204" pitchFamily="18" charset="0"/>
                  </a:rPr>
                  <a:t>$27\equiv2$</a:t>
                </a:r>
                <a:r>
                  <a:rPr sz="2400" b="0">
                    <a:solidFill>
                      <a:srgbClr val="111827"/>
                    </a:solidFill>
                    <a:latin typeface="Arial"/>
                  </a:rPr>
                  <a:t>), so </a:t>
                </a:r>
                <a:r>
                  <a:rPr lang="en-IN" sz="2400">
                    <a:solidFill>
                      <a:srgbClr val="111827"/>
                    </a:solidFill>
                    <a:latin typeface="Cambria Math" panose="02040503050406030204" pitchFamily="18" charset="0"/>
                  </a:rPr>
                  <a:t>$7^n\equiv3^{3n}$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condition </a:t>
                </a:r>
                <a:r>
                  <a:rPr lang="en-IN" sz="2400">
                    <a:solidFill>
                      <a:srgbClr val="111827"/>
                    </a:solidFill>
                    <a:latin typeface="Cambria Math" panose="02040503050406030204" pitchFamily="18" charset="0"/>
                  </a:rPr>
                  <a:t>$3^m+3^{3n}\equiv0\pmod5$</a:t>
                </a:r>
                <a:r>
                  <a:rPr sz="2400" b="0">
                    <a:solidFill>
                      <a:srgbClr val="111827"/>
                    </a:solidFill>
                    <a:latin typeface="Arial"/>
                  </a:rPr>
                  <a:t> is </a:t>
                </a:r>
                <a:r>
                  <a:rPr lang="en-IN" sz="2400">
                    <a:solidFill>
                      <a:srgbClr val="111827"/>
                    </a:solidFill>
                    <a:latin typeface="Cambria Math" panose="02040503050406030204" pitchFamily="18" charset="0"/>
                  </a:rPr>
                  <a:t>$3^{m-3n}\equiv-1\equiv3^2$</a:t>
                </a:r>
                <a:r>
                  <a:rPr sz="2400" b="0">
                    <a:solidFill>
                      <a:srgbClr val="111827"/>
                    </a:solidFill>
                    <a:latin typeface="Arial"/>
                  </a:rPr>
                  <a:t>, and </a:t>
                </a:r>
                <a:r>
                  <a:rPr lang="en-IN" sz="2400">
                    <a:solidFill>
                      <a:srgbClr val="111827"/>
                    </a:solidFill>
                    <a:latin typeface="Cambria Math" panose="02040503050406030204" pitchFamily="18" charset="0"/>
                  </a:rPr>
                  <a:t>$3$</a:t>
                </a:r>
                <a:r>
                  <a:rPr sz="2400" b="0">
                    <a:solidFill>
                      <a:srgbClr val="111827"/>
                    </a:solidFill>
                    <a:latin typeface="Arial"/>
                  </a:rPr>
                  <a:t> has order </a:t>
                </a:r>
                <a:r>
                  <a:rPr lang="en-IN" sz="2400">
                    <a:solidFill>
                      <a:srgbClr val="111827"/>
                    </a:solidFill>
                    <a:latin typeface="Cambria Math" panose="02040503050406030204" pitchFamily="18" charset="0"/>
                  </a:rPr>
                  <a:t>$4$</a:t>
                </a:r>
                <a:r>
                  <a:rPr sz="2400" b="0">
                    <a:solidFill>
                      <a:srgbClr val="111827"/>
                    </a:solidFill>
                    <a:latin typeface="Arial"/>
                  </a:rPr>
                  <a:t> modulo </a:t>
                </a:r>
                <a:r>
                  <a:rPr lang="en-IN" sz="2400">
                    <a:solidFill>
                      <a:srgbClr val="111827"/>
                    </a:solidFill>
                    <a:latin typeface="Cambria Math" panose="02040503050406030204" pitchFamily="18" charset="0"/>
                  </a:rPr>
                  <a:t>$5$</a:t>
                </a:r>
                <a:r>
                  <a:rPr sz="2400" b="0">
                    <a:solidFill>
                      <a:srgbClr val="111827"/>
                    </a:solidFill>
                    <a:latin typeface="Arial"/>
                  </a:rPr>
                  <a:t>, so </a:t>
                </a:r>
                <a:r>
                  <a:rPr lang="en-IN" sz="2400">
                    <a:solidFill>
                      <a:srgbClr val="111827"/>
                    </a:solidFill>
                    <a:latin typeface="Cambria Math" panose="02040503050406030204" pitchFamily="18" charset="0"/>
                  </a:rPr>
                  <a:t>$m-3n\equiv2\pmod4$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each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the residue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mod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is fixed and each residue class contains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values in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values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per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(a direct enumeration of the congruence confirms </a:t>
                </a:r>
                <a14:m>
                  <m:oMath xmlns:m="http://schemas.openxmlformats.org/officeDocument/2006/math">
                    <m:r>
                      <a:rPr lang="en-IN" sz="2400" i="1">
                        <a:solidFill>
                          <a:srgbClr val="111827"/>
                        </a:solidFill>
                        <a:latin typeface="Cambria Math" panose="02040503050406030204" pitchFamily="18" charset="0"/>
                      </a:rPr>
                      <m:t>100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each </a:t>
                </a:r>
                <a:r>
                  <a:rPr lang="en-IN" sz="2400">
                    <a:solidFill>
                      <a:srgbClr val="111827"/>
                    </a:solidFill>
                    <a:latin typeface="Cambria Math" panose="02040503050406030204" pitchFamily="18" charset="0"/>
                  </a:rPr>
                  <a:t>$n$</a:t>
                </a:r>
                <a:r>
                  <a:rPr sz="2400" b="0">
                    <a:solidFill>
                      <a:srgbClr val="111827"/>
                    </a:solidFill>
                    <a:latin typeface="Arial"/>
                  </a:rPr>
                  <a:t> the residue of </a:t>
                </a:r>
                <a:r>
                  <a:rPr lang="en-IN" sz="2400">
                    <a:solidFill>
                      <a:srgbClr val="111827"/>
                    </a:solidFill>
                    <a:latin typeface="Cambria Math" panose="02040503050406030204" pitchFamily="18" charset="0"/>
                  </a:rPr>
                  <a:t>$m$</a:t>
                </a:r>
                <a:r>
                  <a:rPr sz="2400" b="0">
                    <a:solidFill>
                      <a:srgbClr val="111827"/>
                    </a:solidFill>
                    <a:latin typeface="Arial"/>
                  </a:rPr>
                  <a:t> mod </a:t>
                </a:r>
                <a:r>
                  <a:rPr lang="en-IN" sz="2400">
                    <a:solidFill>
                      <a:srgbClr val="111827"/>
                    </a:solidFill>
                    <a:latin typeface="Cambria Math" panose="02040503050406030204" pitchFamily="18" charset="0"/>
                  </a:rPr>
                  <a:t>$4$</a:t>
                </a:r>
                <a:r>
                  <a:rPr sz="2400" b="0">
                    <a:solidFill>
                      <a:srgbClr val="111827"/>
                    </a:solidFill>
                    <a:latin typeface="Arial"/>
                  </a:rPr>
                  <a:t> is fixed and each residue class contains </a:t>
                </a:r>
                <a:r>
                  <a:rPr lang="en-IN" sz="2400">
                    <a:solidFill>
                      <a:srgbClr val="111827"/>
                    </a:solidFill>
                    <a:latin typeface="Cambria Math" panose="02040503050406030204" pitchFamily="18" charset="0"/>
                  </a:rPr>
                  <a:t>$5$</a:t>
                </a:r>
                <a:r>
                  <a:rPr sz="2400" b="0">
                    <a:solidFill>
                      <a:srgbClr val="111827"/>
                    </a:solidFill>
                    <a:latin typeface="Arial"/>
                  </a:rPr>
                  <a:t> values in </a:t>
                </a:r>
                <a:r>
                  <a:rPr lang="en-IN" sz="2400">
                    <a:solidFill>
                      <a:srgbClr val="111827"/>
                    </a:solidFill>
                    <a:latin typeface="Cambria Math" panose="02040503050406030204" pitchFamily="18" charset="0"/>
                  </a:rPr>
                  <a:t>$1\ldots20$</a:t>
                </a:r>
                <a:r>
                  <a:rPr sz="2400" b="0">
                    <a:solidFill>
                      <a:srgbClr val="111827"/>
                    </a:solidFill>
                    <a:latin typeface="Arial"/>
                  </a:rPr>
                  <a:t>, so </a:t>
                </a:r>
                <a:r>
                  <a:rPr lang="en-IN" sz="2400">
                    <a:solidFill>
                      <a:srgbClr val="111827"/>
                    </a:solidFill>
                    <a:latin typeface="Cambria Math" panose="02040503050406030204" pitchFamily="18" charset="0"/>
                  </a:rPr>
                  <a:t>$5$</a:t>
                </a:r>
                <a:r>
                  <a:rPr sz="2400" b="0">
                    <a:solidFill>
                      <a:srgbClr val="111827"/>
                    </a:solidFill>
                    <a:latin typeface="Arial"/>
                  </a:rPr>
                  <a:t> values of </a:t>
                </a:r>
                <a:r>
                  <a:rPr lang="en-IN" sz="2400">
                    <a:solidFill>
                      <a:srgbClr val="111827"/>
                    </a:solidFill>
                    <a:latin typeface="Cambria Math" panose="02040503050406030204" pitchFamily="18" charset="0"/>
                  </a:rPr>
                  <a:t>$m$</a:t>
                </a:r>
                <a:r>
                  <a:rPr sz="2400" b="0">
                    <a:solidFill>
                      <a:srgbClr val="111827"/>
                    </a:solidFill>
                    <a:latin typeface="Arial"/>
                  </a:rPr>
                  <a:t> per </a:t>
                </a:r>
                <a:r>
                  <a:rPr lang="en-IN" sz="2400">
                    <a:solidFill>
                      <a:srgbClr val="111827"/>
                    </a:solidFill>
                    <a:latin typeface="Cambria Math" panose="02040503050406030204" pitchFamily="18" charset="0"/>
                  </a:rPr>
                  <a: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$=20\times5=100$</a:t>
                </a:r>
                <a:r>
                  <a:rPr sz="2400" b="0">
                    <a:solidFill>
                      <a:srgbClr val="111827"/>
                    </a:solidFill>
                    <a:latin typeface="Arial"/>
                  </a:rPr>
                  <a:t> (a direct enumeration of the congruence confirms </a:t>
                </a:r>
                <a:r>
                  <a:rPr lang="en-IN" sz="2400">
                    <a:solidFill>
                      <a:srgbClr val="111827"/>
                    </a:solidFill>
                    <a:latin typeface="Cambria Math" panose="02040503050406030204" pitchFamily="18" charset="0"/>
                  </a:rPr>
                  <a:t>$100$</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100</a:t>
            </a:r>
            <a:endParaRPr sz="2800">
              <a:solidFill>
                <a:srgbClr val="15803D"/>
              </a:solidFill>
            </a:endParaRPr>
          </a:p>
        </p:txBody>
      </p:sp>
    </p:spTree>
  </p:cSld>
  <p:clrMapOvr>
    <a:masterClrMapping/>
  </p:clrMapOvr>
</p:sld>
</file>

<file path=ppt/slides/slide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ends in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exponents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𝑏</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odd and coprime to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reduces to a single congruence mod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since the sum is already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run over a complete range of residues mod the period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each residue class has equal size, so pairs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𝑐𝑙𝑎𝑠𝑠 𝑠𝑖𝑧𝑒</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𝑣𝑎𝑙𝑖𝑑 𝑟𝑒𝑠𝑖𝑑𝑢𝑒 𝑝𝑎𝑖𝑟𝑠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$3^m$</a:t>
                </a:r>
                <a:r>
                  <a:rPr sz="2400" b="0">
                    <a:solidFill>
                      <a:srgbClr val="111827"/>
                    </a:solidFill>
                    <a:latin typeface="Arial"/>
                  </a:rPr>
                  <a:t> ends in </a:t>
                </a:r>
                <a:r>
                  <a:rPr lang="en-IN" sz="2400">
                    <a:solidFill>
                      <a:srgbClr val="111827"/>
                    </a:solidFill>
                    <a:latin typeface="Cambria Math" panose="02040503050406030204" pitchFamily="18" charset="0"/>
                  </a:rPr>
                  <a:t>$3,9,7,1$</a:t>
                </a:r>
                <a:r>
                  <a:rPr sz="2400" b="0">
                    <a:solidFill>
                      <a:srgbClr val="111827"/>
                    </a:solidFill>
                    <a:latin typeface="Arial"/>
                  </a:rPr>
                  <a:t> and </a:t>
                </a:r>
                <a:r>
                  <a:rPr lang="en-IN" sz="2400">
                    <a:solidFill>
                      <a:srgbClr val="111827"/>
                    </a:solidFill>
                    <a:latin typeface="Cambria Math" panose="02040503050406030204" pitchFamily="18" charset="0"/>
                  </a:rPr>
                  <a:t>$7^n$</a:t>
                </a:r>
                <a:r>
                  <a:rPr sz="2400" b="0">
                    <a:solidFill>
                      <a:srgbClr val="111827"/>
                    </a:solidFill>
                    <a:latin typeface="Arial"/>
                  </a:rPr>
                  <a:t> in </a:t>
                </a:r>
                <a:r>
                  <a:rPr lang="en-IN" sz="2400">
                    <a:solidFill>
                      <a:srgbClr val="111827"/>
                    </a:solidFill>
                    <a:latin typeface="Cambria Math" panose="02040503050406030204" pitchFamily="18" charset="0"/>
                  </a:rPr>
                  <a:t>$7,9,3,1$</a:t>
                </a:r>
                <a:r>
                  <a:rPr sz="2400" b="0">
                    <a:solidFill>
                      <a:srgbClr val="111827"/>
                    </a:solidFill>
                    <a:latin typeface="Arial"/>
                  </a:rPr>
                  <a:t> for exponents </a:t>
                </a:r>
                <a:r>
                  <a:rPr lang="en-IN" sz="2400">
                    <a:solidFill>
                      <a:srgbClr val="111827"/>
                    </a:solidFill>
                    <a:latin typeface="Cambria Math" panose="02040503050406030204" pitchFamily="18" charset="0"/>
                  </a:rPr>
                  <a:t>$\equiv1,2,3,0\pmod4$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$a^m+b^n\equiv0\pmod{10}$</a:t>
                </a:r>
                <a:r>
                  <a:rPr sz="2400" b="0">
                    <a:solidFill>
                      <a:srgbClr val="111827"/>
                    </a:solidFill>
                    <a:latin typeface="Arial"/>
                  </a:rPr>
                  <a:t> with </a:t>
                </a:r>
                <a:r>
                  <a:rPr lang="en-IN" sz="2400">
                    <a:solidFill>
                      <a:srgbClr val="111827"/>
                    </a:solidFill>
                    <a:latin typeface="Cambria Math" panose="02040503050406030204" pitchFamily="18" charset="0"/>
                  </a:rPr>
                  <a:t>$a,b$</a:t>
                </a:r>
                <a:r>
                  <a:rPr sz="2400" b="0">
                    <a:solidFill>
                      <a:srgbClr val="111827"/>
                    </a:solidFill>
                    <a:latin typeface="Arial"/>
                  </a:rPr>
                  <a:t> odd and coprime to </a:t>
                </a:r>
                <a:r>
                  <a:rPr lang="en-IN" sz="2400">
                    <a:solidFill>
                      <a:srgbClr val="111827"/>
                    </a:solidFill>
                    <a:latin typeface="Cambria Math" panose="02040503050406030204" pitchFamily="18" charset="0"/>
                  </a:rPr>
                  <a:t>$5$</a:t>
                </a:r>
                <a:r>
                  <a:rPr sz="2400" b="0">
                    <a:solidFill>
                      <a:srgbClr val="111827"/>
                    </a:solidFill>
                    <a:latin typeface="Arial"/>
                  </a:rPr>
                  <a:t> reduces to a single congruence mod </a:t>
                </a:r>
                <a:r>
                  <a:rPr lang="en-IN" sz="2400">
                    <a:solidFill>
                      <a:srgbClr val="111827"/>
                    </a:solidFill>
                    <a:latin typeface="Cambria Math" panose="02040503050406030204" pitchFamily="18" charset="0"/>
                  </a:rPr>
                  <a:t>$5$</a:t>
                </a:r>
                <a:r>
                  <a:rPr sz="2400" b="0">
                    <a:solidFill>
                      <a:srgbClr val="111827"/>
                    </a:solidFill>
                    <a:latin typeface="Arial"/>
                  </a:rPr>
                  <a:t>, since the sum is already even.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$m,n$</a:t>
                </a:r>
                <a:r>
                  <a:rPr sz="2400" b="0">
                    <a:solidFill>
                      <a:srgbClr val="111827"/>
                    </a:solidFill>
                    <a:latin typeface="Arial"/>
                  </a:rPr>
                  <a:t> run over a complete range of residues mod the period </a:t>
                </a:r>
                <a:r>
                  <a:rPr lang="en-IN" sz="2400">
                    <a:solidFill>
                      <a:srgbClr val="111827"/>
                    </a:solidFill>
                    <a:latin typeface="Cambria Math" panose="02040503050406030204" pitchFamily="18" charset="0"/>
                  </a:rPr>
                  <a:t>$4$</a:t>
                </a:r>
                <a:r>
                  <a:rPr sz="2400" b="0">
                    <a:solidFill>
                      <a:srgbClr val="111827"/>
                    </a:solidFill>
                    <a:latin typeface="Arial"/>
                  </a:rPr>
                  <a:t> (here </a:t>
                </a:r>
                <a:r>
                  <a:rPr lang="en-IN" sz="2400">
                    <a:solidFill>
                      <a:srgbClr val="111827"/>
                    </a:solidFill>
                    <a:latin typeface="Cambria Math" panose="02040503050406030204" pitchFamily="18" charset="0"/>
                  </a:rPr>
                  <a:t>$1\ldots20$</a:t>
                </a:r>
                <a:r>
                  <a:rPr sz="2400" b="0">
                    <a:solidFill>
                      <a:srgbClr val="111827"/>
                    </a:solidFill>
                    <a:latin typeface="Arial"/>
                  </a:rPr>
                  <a:t>), each residue class has equal size, so pairs </a:t>
                </a:r>
                <a:r>
                  <a:rPr lang="en-IN" sz="2400">
                    <a:solidFill>
                      <a:srgbClr val="111827"/>
                    </a:solidFill>
                    <a:latin typeface="Cambria Math" panose="02040503050406030204" pitchFamily="18" charset="0"/>
                  </a:rPr>
                  <a:t>$=(\text{class size})^2\times(\text{valid residue pairs})=25\times4$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be a number amongst the first hundred natural numbers such that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find the number of possible values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$n$</a:t>
                </a:r>
                <a:r>
                  <a:rPr sz="2400" b="0">
                    <a:solidFill>
                      <a:srgbClr val="111827"/>
                    </a:solidFill>
                    <a:latin typeface="Arial"/>
                  </a:rPr>
                  <a:t> be a number amongst the first hundred natural numbers such that </a:t>
                </a:r>
                <a:r>
                  <a:rPr lang="en-IN" sz="2400">
                    <a:solidFill>
                      <a:srgbClr val="111827"/>
                    </a:solidFill>
                    <a:latin typeface="Cambria Math" panose="02040503050406030204" pitchFamily="18" charset="0"/>
                  </a:rPr>
                  <a:t>$(\sin\theta+i\cos\theta)^n=\sin(n\theta)+i\cos(n\theta)$</a:t>
                </a:r>
                <a:r>
                  <a:rPr sz="2400" b="0">
                    <a:solidFill>
                      <a:srgbClr val="111827"/>
                    </a:solidFill>
                    <a:latin typeface="Arial"/>
                  </a:rPr>
                  <a:t>, then find the number of possible values of </a:t>
                </a:r>
                <a:r>
                  <a:rPr lang="en-IN" sz="2400">
                    <a:solidFill>
                      <a:srgbClr val="111827"/>
                    </a:solidFill>
                    <a:latin typeface="Cambria Math" panose="02040503050406030204" pitchFamily="18" charset="0"/>
                  </a:rPr>
                  <a:t>$n$</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De Moivre's theorem and complex numbers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a:t>
                </a:r>
                <a14:m>
                  <m:oMath xmlns:m="http://schemas.openxmlformats.org/officeDocument/2006/math">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cos</m:t>
                    </m:r>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θ</m:t>
                        </m:r>
                      </m:e>
                    </m:d>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sin</m:t>
                    </m:r>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θ</m:t>
                        </m:r>
                      </m:e>
                    </m:d>
                  </m:oMath>
                </a14:m>
                <a:r>
                  <a:rPr sz="2400" b="0">
                    <a:solidFill>
                      <a:srgbClr val="78350F"/>
                    </a:solidFill>
                    <a:latin typeface="Arial"/>
                  </a:rPr>
                  <a:t> so De Moivre applies.</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Write </a:t>
                </a:r>
                <a:r>
                  <a:rPr lang="en-IN" sz="2400">
                    <a:solidFill>
                      <a:srgbClr val="78350F"/>
                    </a:solidFill>
                    <a:latin typeface="Cambria Math" panose="02040503050406030204" pitchFamily="18" charset="0"/>
                  </a:rPr>
                  <a:t>$\sin\theta+i\cos\theta=\cos\left(\frac\pi2-\theta\right)+i\sin\left(\frac\pi2-\theta\right)$</a:t>
                </a:r>
                <a:r>
                  <a:rPr sz="2400" b="0">
                    <a:solidFill>
                      <a:srgbClr val="78350F"/>
                    </a:solidFill>
                    <a:latin typeface="Arial"/>
                  </a:rPr>
                  <a:t> so De Moivre applies.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e>
                    </m:d>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e>
                    </m:d>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θ</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De Moivre: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right side is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$\sin\theta=\cos\left(\frac\pi2-\theta\right)$</a:t>
                </a:r>
                <a:r>
                  <a:rPr sz="2400" b="0">
                    <a:solidFill>
                      <a:srgbClr val="111827"/>
                    </a:solidFill>
                    <a:latin typeface="Arial"/>
                  </a:rPr>
                  <a:t> and </a:t>
                </a:r>
                <a:r>
                  <a:rPr lang="en-IN" sz="2400">
                    <a:solidFill>
                      <a:srgbClr val="111827"/>
                    </a:solidFill>
                    <a:latin typeface="Cambria Math" panose="02040503050406030204" pitchFamily="18" charset="0"/>
                  </a:rPr>
                  <a:t>$\cos\theta=\sin\left(\frac\pi2-\theta\right)$</a:t>
                </a:r>
                <a:r>
                  <a:rPr sz="2400" b="0">
                    <a:solidFill>
                      <a:srgbClr val="111827"/>
                    </a:solidFill>
                    <a:latin typeface="Arial"/>
                  </a:rPr>
                  <a:t>, so </a:t>
                </a:r>
                <a:r>
                  <a:rPr lang="en-IN" sz="2400">
                    <a:solidFill>
                      <a:srgbClr val="111827"/>
                    </a:solidFill>
                    <a:latin typeface="Cambria Math" panose="02040503050406030204" pitchFamily="18" charset="0"/>
                  </a:rPr>
                  <a:t>$\sin\theta+i\cos\theta=\cos\left(\frac\pi2-\theta\right)+i\sin\left(\frac\pi2-\theta\right)$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De Moivre: </a:t>
                </a:r>
                <a:r>
                  <a:rPr lang="en-IN" sz="2400">
                    <a:solidFill>
                      <a:srgbClr val="111827"/>
                    </a:solidFill>
                    <a:latin typeface="Cambria Math" panose="02040503050406030204" pitchFamily="18" charset="0"/>
                  </a:rPr>
                  <a:t>$(\sin\theta+i\cos\theta)^n=\cos\left(\frac{n\pi}{2}-n\theta\right)+i\sin\left(\frac{n\pi}{2}-n\theta\right)$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right side is </a:t>
                </a:r>
                <a:r>
                  <a:rPr lang="en-IN" sz="2400">
                    <a:solidFill>
                      <a:srgbClr val="111827"/>
                    </a:solidFill>
                    <a:latin typeface="Cambria Math" panose="02040503050406030204" pitchFamily="18" charset="0"/>
                  </a:rPr>
                  <a:t>$\sin n\theta+i\cos n\theta=\cos\left(\frac\pi2-n\theta\right)+i\sin\left(\frac\pi2-n\theta\right)$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identity to hold for all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the angles must agree mod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π</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m:t>
                    </m:r>
                  </m:oMath>
                </a14:m>
                <a:r>
                  <a:rPr sz="2400" b="0">
                    <a:solidFill>
                      <a:srgbClr val="111827"/>
                    </a:solidFill>
                    <a:latin typeface="Arial"/>
                  </a:rPr>
                  <a:t> among the first hundred natural numbers.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These are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values.</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identity to hold for all </a:t>
                </a:r>
                <a:r>
                  <a:rPr lang="en-IN" sz="2400">
                    <a:solidFill>
                      <a:srgbClr val="111827"/>
                    </a:solidFill>
                    <a:latin typeface="Cambria Math" panose="02040503050406030204" pitchFamily="18" charset="0"/>
                  </a:rPr>
                  <a:t>$\theta$</a:t>
                </a:r>
                <a:r>
                  <a:rPr sz="2400" b="0">
                    <a:solidFill>
                      <a:srgbClr val="111827"/>
                    </a:solidFill>
                    <a:latin typeface="Arial"/>
                  </a:rPr>
                  <a:t>, the angles must agree mod </a:t>
                </a:r>
                <a:r>
                  <a:rPr lang="en-IN" sz="2400">
                    <a:solidFill>
                      <a:srgbClr val="111827"/>
                    </a:solidFill>
                    <a:latin typeface="Cambria Math" panose="02040503050406030204" pitchFamily="18" charset="0"/>
                  </a:rPr>
                  <a:t>$2\pi$</a:t>
                </a:r>
                <a:r>
                  <a:rPr sz="2400" b="0">
                    <a:solidFill>
                      <a:srgbClr val="111827"/>
                    </a:solidFill>
                    <a:latin typeface="Arial"/>
                  </a:rPr>
                  <a:t>: </a:t>
                </a:r>
                <a:r>
                  <a:rPr lang="en-IN" sz="2400">
                    <a:solidFill>
                      <a:srgbClr val="111827"/>
                    </a:solidFill>
                    <a:latin typeface="Cambria Math" panose="02040503050406030204" pitchFamily="18" charset="0"/>
                  </a:rPr>
                  <a:t>$\frac{n\pi}{2}-n\theta\equiv\frac\pi2-n\theta$</a:t>
                </a:r>
                <a:r>
                  <a:rPr sz="2400" b="0">
                    <a:solidFill>
                      <a:srgbClr val="111827"/>
                    </a:solidFill>
                    <a:latin typeface="Arial"/>
                  </a:rPr>
                  <a:t>, so </a:t>
                </a:r>
                <a:r>
                  <a:rPr lang="en-IN" sz="2400">
                    <a:solidFill>
                      <a:srgbClr val="111827"/>
                    </a:solidFill>
                    <a:latin typeface="Cambria Math" panose="02040503050406030204" pitchFamily="18" charset="0"/>
                  </a:rPr>
                  <a:t>$\frac{(n-1)\pi}{2}=2k\pi$</a:t>
                </a:r>
                <a:r>
                  <a:rPr sz="2400" b="0">
                    <a:solidFill>
                      <a:srgbClr val="111827"/>
                    </a:solidFill>
                    <a:latin typeface="Arial"/>
                  </a:rPr>
                  <a:t> and </a:t>
                </a:r>
                <a:r>
                  <a:rPr lang="en-IN" sz="2400">
                    <a:solidFill>
                      <a:srgbClr val="111827"/>
                    </a:solidFill>
                    <a:latin typeface="Cambria Math" panose="02040503050406030204" pitchFamily="18" charset="0"/>
                  </a:rPr>
                  <a:t>$n=4k+1$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$n=1,5,9,\dots,97$</a:t>
                </a:r>
                <a:r>
                  <a:rPr sz="2400" b="0">
                    <a:solidFill>
                      <a:srgbClr val="111827"/>
                    </a:solidFill>
                    <a:latin typeface="Arial"/>
                  </a:rPr>
                  <a:t> among the first hundred natural numbers.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These are </a:t>
                </a:r>
                <a:r>
                  <a:rPr lang="en-IN" sz="2400">
                    <a:solidFill>
                      <a:srgbClr val="111827"/>
                    </a:solidFill>
                    <a:latin typeface="Cambria Math" panose="02040503050406030204" pitchFamily="18" charset="0"/>
                  </a:rPr>
                  <a:t>$\frac{97-1}{4}+1=25$</a:t>
                </a:r>
                <a:r>
                  <a:rPr sz="2400" b="0">
                    <a:solidFill>
                      <a:srgbClr val="111827"/>
                    </a:solidFill>
                    <a:latin typeface="Arial"/>
                  </a:rPr>
                  <a:t> values.</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25</a:t>
            </a:r>
            <a:endParaRPr sz="2800">
              <a:solidFill>
                <a:srgbClr val="15803D"/>
              </a:solidFill>
            </a:endParaRPr>
          </a:p>
        </p:txBody>
      </p:sp>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a:t>
                </a:r>
                <a14:m>
                  <m:oMath xmlns:m="http://schemas.openxmlformats.org/officeDocument/2006/math">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cos</m:t>
                    </m:r>
                    <m:r>
                      <a:rPr lang="en-IN" sz="2400" i="1">
                        <a:solidFill>
                          <a:srgbClr val="78350F"/>
                        </a:solidFill>
                        <a:latin typeface="Cambria Math" panose="02040503050406030204" pitchFamily="18" charset="0"/>
                      </a:rPr>
                      <m:t>θ</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 </m:t>
                    </m:r>
                    <m:sSup>
                      <m:e>
                        <m:r>
                          <a:rPr lang="en-IN" sz="2400" i="1">
                            <a:solidFill>
                              <a:srgbClr val="78350F"/>
                            </a:solidFill>
                            <a:latin typeface="Cambria Math" panose="02040503050406030204" pitchFamily="18" charset="0"/>
                          </a:rPr>
                          <m:t>𝑒</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θ</m:t>
                        </m:r>
                      </m:sup>
                    </m:sSup>
                  </m:oMath>
                </a14:m>
                <a:r>
                  <a:rPr sz="2400" b="0">
                    <a:solidFill>
                      <a:srgbClr val="78350F"/>
                    </a:solidFill>
                    <a:latin typeface="Arial"/>
                  </a:rPr>
                  <a:t>, so the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th power is </a:t>
                </a:r>
                <a14:m>
                  <m:oMath xmlns:m="http://schemas.openxmlformats.org/officeDocument/2006/math">
                    <m:sSup>
                      <m:e>
                        <m:r>
                          <a:rPr lang="en-IN" sz="2400" i="1">
                            <a:solidFill>
                              <a:srgbClr val="78350F"/>
                            </a:solidFill>
                            <a:latin typeface="Cambria Math" panose="02040503050406030204" pitchFamily="18" charset="0"/>
                          </a:rPr>
                          <m:t>𝑖</m:t>
                        </m:r>
                      </m:e>
                      <m:sup>
                        <m:r>
                          <a:rPr lang="en-IN" sz="2400" i="1">
                            <a:solidFill>
                              <a:srgbClr val="78350F"/>
                            </a:solidFill>
                            <a:latin typeface="Cambria Math" panose="02040503050406030204" pitchFamily="18" charset="0"/>
                          </a:rPr>
                          <m:t>𝑛</m:t>
                        </m:r>
                      </m:sup>
                    </m:sSup>
                    <m:sSup>
                      <m:e>
                        <m:r>
                          <a:rPr lang="en-IN" sz="2400" i="1">
                            <a:solidFill>
                              <a:srgbClr val="78350F"/>
                            </a:solidFill>
                            <a:latin typeface="Cambria Math" panose="02040503050406030204" pitchFamily="18" charset="0"/>
                          </a:rPr>
                          <m:t>𝑒</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a:rPr lang="en-IN" sz="2400" i="1">
                            <a:solidFill>
                              <a:srgbClr val="78350F"/>
                            </a:solidFill>
                            <a:latin typeface="Cambria Math" panose="02040503050406030204" pitchFamily="18" charset="0"/>
                          </a:rPr>
                          <m:t>𝑛</m:t>
                        </m:r>
                        <m:r>
                          <a:rPr lang="en-IN" sz="2400" i="1">
                            <a:solidFill>
                              <a:srgbClr val="78350F"/>
                            </a:solidFill>
                            <a:latin typeface="Cambria Math" panose="02040503050406030204" pitchFamily="18" charset="0"/>
                          </a:rPr>
                          <m:t>θ</m:t>
                        </m:r>
                      </m:sup>
                    </m:sSup>
                  </m:oMath>
                </a14:m>
                <a:r>
                  <a:rPr sz="2400" b="0">
                    <a:solidFill>
                      <a:srgbClr val="78350F"/>
                    </a:solidFill>
                    <a:latin typeface="Arial"/>
                  </a:rPr>
                  <a:t> and only </a:t>
                </a:r>
                <a14:m>
                  <m:oMath xmlns:m="http://schemas.openxmlformats.org/officeDocument/2006/math">
                    <m:sSup>
                      <m:e>
                        <m:r>
                          <a:rPr lang="en-IN" sz="2400" i="1">
                            <a:solidFill>
                              <a:srgbClr val="78350F"/>
                            </a:solidFill>
                            <a:latin typeface="Cambria Math" panose="02040503050406030204" pitchFamily="18" charset="0"/>
                          </a:rPr>
                          <m:t>𝑖</m:t>
                        </m:r>
                      </m:e>
                      <m:sup>
                        <m:r>
                          <a:rPr lang="en-IN" sz="2400" i="1">
                            <a:solidFill>
                              <a:srgbClr val="78350F"/>
                            </a:solidFill>
                            <a:latin typeface="Cambria Math" panose="02040503050406030204" pitchFamily="18" charset="0"/>
                          </a:rPr>
                          <m:t>𝑛</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oMath>
                </a14:m>
                <a:r>
                  <a:rPr sz="2400" b="0">
                    <a:solidFill>
                      <a:srgbClr val="78350F"/>
                    </a:solidFill>
                    <a:latin typeface="Arial"/>
                  </a:rPr>
                  <a:t> remains.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a:t>
                </a:r>
                <a:r>
                  <a:rPr lang="en-IN" sz="2400">
                    <a:solidFill>
                      <a:srgbClr val="78350F"/>
                    </a:solidFill>
                    <a:latin typeface="Cambria Math" panose="02040503050406030204" pitchFamily="18" charset="0"/>
                  </a:rPr>
                  <a:t>$\sin\theta+i\cos\theta=i\,e^{-i\theta}$</a:t>
                </a:r>
                <a:r>
                  <a:rPr sz="2400" b="0">
                    <a:solidFill>
                      <a:srgbClr val="78350F"/>
                    </a:solidFill>
                    <a:latin typeface="Arial"/>
                  </a:rPr>
                  <a:t>, so the </a:t>
                </a:r>
                <a:r>
                  <a:rPr lang="en-IN" sz="2400">
                    <a:solidFill>
                      <a:srgbClr val="78350F"/>
                    </a:solidFill>
                    <a:latin typeface="Cambria Math" panose="02040503050406030204" pitchFamily="18" charset="0"/>
                  </a:rPr>
                  <a:t>$n$</a:t>
                </a:r>
                <a:r>
                  <a:rPr sz="2400" b="0">
                    <a:solidFill>
                      <a:srgbClr val="78350F"/>
                    </a:solidFill>
                    <a:latin typeface="Arial"/>
                  </a:rPr>
                  <a:t>th power is </a:t>
                </a:r>
                <a:r>
                  <a:rPr lang="en-IN" sz="2400">
                    <a:solidFill>
                      <a:srgbClr val="78350F"/>
                    </a:solidFill>
                    <a:latin typeface="Cambria Math" panose="02040503050406030204" pitchFamily="18" charset="0"/>
                  </a:rPr>
                  <a:t>$i^ne^{-in\theta}$</a:t>
                </a:r>
                <a:r>
                  <a:rPr sz="2400" b="0">
                    <a:solidFill>
                      <a:srgbClr val="78350F"/>
                    </a:solidFill>
                    <a:latin typeface="Arial"/>
                  </a:rPr>
                  <a:t> and only </a:t>
                </a:r>
                <a:r>
                  <a:rPr lang="en-IN" sz="2400">
                    <a:solidFill>
                      <a:srgbClr val="78350F"/>
                    </a:solidFill>
                    <a:latin typeface="Cambria Math" panose="02040503050406030204" pitchFamily="18" charset="0"/>
                  </a:rPr>
                  <a:t>$i^n=i$</a:t>
                </a:r>
                <a:r>
                  <a:rPr sz="2400" b="0">
                    <a:solidFill>
                      <a:srgbClr val="78350F"/>
                    </a:solidFill>
                    <a:latin typeface="Arial"/>
                  </a:rPr>
                  <a:t> remains.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sup>
                    </m:sSup>
                  </m:oMath>
                </a14:m>
                <a:r>
                  <a:rPr sz="2400" b="0">
                    <a:solidFill>
                      <a:srgbClr val="111827"/>
                    </a:solidFill>
                    <a:latin typeface="Arial"/>
                  </a:rPr>
                  <a:t>, while </a:t>
                </a: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Cancelling the non-zero factor </a:t>
                </a:r>
                <a14:m>
                  <m:oMath xmlns:m="http://schemas.openxmlformats.org/officeDocument/2006/math">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sup>
                    </m:sSup>
                  </m:oMath>
                </a14:m>
                <a:r>
                  <a:rPr sz="2400" b="0">
                    <a:solidFill>
                      <a:srgbClr val="111827"/>
                    </a:solidFill>
                    <a:latin typeface="Arial"/>
                  </a:rPr>
                  <a:t> leaves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 multiple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is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numbers.</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$\sin\theta+i\cos\theta=i(\cos\theta-i\sin\theta)=i\,e^{-i\theta}$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$(\sin\theta+i\cos\theta)^n=i^n e^{-in\theta}$</a:t>
                </a:r>
                <a:r>
                  <a:rPr sz="2400" b="0">
                    <a:solidFill>
                      <a:srgbClr val="111827"/>
                    </a:solidFill>
                    <a:latin typeface="Arial"/>
                  </a:rPr>
                  <a:t>, while </a:t>
                </a:r>
                <a:r>
                  <a:rPr lang="en-IN" sz="2400">
                    <a:solidFill>
                      <a:srgbClr val="111827"/>
                    </a:solidFill>
                    <a:latin typeface="Cambria Math" panose="02040503050406030204" pitchFamily="18" charset="0"/>
                  </a:rPr>
                  <a:t>$\sin n\theta+i\cos n\theta=i\,e^{-in\theta}$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Cancelling the non-zero factor </a:t>
                </a:r>
                <a:r>
                  <a:rPr lang="en-IN" sz="2400">
                    <a:solidFill>
                      <a:srgbClr val="111827"/>
                    </a:solidFill>
                    <a:latin typeface="Cambria Math" panose="02040503050406030204" pitchFamily="18" charset="0"/>
                  </a:rPr>
                  <a:t>$e^{-in\theta}$</a:t>
                </a:r>
                <a:r>
                  <a:rPr sz="2400" b="0">
                    <a:solidFill>
                      <a:srgbClr val="111827"/>
                    </a:solidFill>
                    <a:latin typeface="Arial"/>
                  </a:rPr>
                  <a:t> leaves </a:t>
                </a:r>
                <a:r>
                  <a:rPr lang="en-IN" sz="2400">
                    <a:solidFill>
                      <a:srgbClr val="111827"/>
                    </a:solidFill>
                    <a:latin typeface="Cambria Math" panose="02040503050406030204" pitchFamily="18" charset="0"/>
                  </a:rPr>
                  <a:t>$i^n=i$</a:t>
                </a:r>
                <a:r>
                  <a:rPr sz="2400" b="0">
                    <a:solidFill>
                      <a:srgbClr val="111827"/>
                    </a:solidFill>
                    <a:latin typeface="Arial"/>
                  </a:rPr>
                  <a:t>, so </a:t>
                </a:r>
                <a:r>
                  <a:rPr lang="en-IN" sz="2400">
                    <a:solidFill>
                      <a:srgbClr val="111827"/>
                    </a:solidFill>
                    <a:latin typeface="Cambria Math" panose="02040503050406030204" pitchFamily="18" charset="0"/>
                  </a:rPr>
                  <a:t>$i^{n-1}=1$</a:t>
                </a:r>
                <a:r>
                  <a:rPr sz="2400" b="0">
                    <a:solidFill>
                      <a:srgbClr val="111827"/>
                    </a:solidFill>
                    <a:latin typeface="Arial"/>
                  </a:rPr>
                  <a:t> and </a:t>
                </a:r>
                <a:r>
                  <a:rPr lang="en-IN" sz="2400">
                    <a:solidFill>
                      <a:srgbClr val="111827"/>
                    </a:solidFill>
                    <a:latin typeface="Cambria Math" panose="02040503050406030204" pitchFamily="18" charset="0"/>
                  </a:rPr>
                  <a:t>$n-1$</a:t>
                </a:r>
                <a:r>
                  <a:rPr sz="2400" b="0">
                    <a:solidFill>
                      <a:srgbClr val="111827"/>
                    </a:solidFill>
                    <a:latin typeface="Arial"/>
                  </a:rPr>
                  <a:t> is a multiple of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$n\in\{1,5,\dots,97\}$</a:t>
                </a:r>
                <a:r>
                  <a:rPr sz="2400" b="0">
                    <a:solidFill>
                      <a:srgbClr val="111827"/>
                    </a:solidFill>
                    <a:latin typeface="Arial"/>
                  </a:rPr>
                  <a:t>, which is </a:t>
                </a:r>
                <a:r>
                  <a:rPr lang="en-IN" sz="2400">
                    <a:solidFill>
                      <a:srgbClr val="111827"/>
                    </a:solidFill>
                    <a:latin typeface="Cambria Math" panose="02040503050406030204" pitchFamily="18" charset="0"/>
                  </a:rPr>
                  <a:t>$25$</a:t>
                </a:r>
                <a:r>
                  <a:rPr sz="2400" b="0">
                    <a:solidFill>
                      <a:srgbClr val="111827"/>
                    </a:solidFill>
                    <a:latin typeface="Arial"/>
                  </a:rPr>
                  <a:t> numbers.</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25</a:t>
            </a:r>
            <a:endParaRPr sz="2800">
              <a:solidFill>
                <a:srgbClr val="15803D"/>
              </a:solidFill>
            </a:endParaRPr>
          </a:p>
        </p:txBody>
      </p:sp>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bar>
                      <m:barPr>
                        <m:pos m:val="top"/>
                        <m:ctrlPr>
                          <a:rPr lang="en-IN" sz="2400" i="1">
                            <a:solidFill>
                              <a:srgbClr val="111827"/>
                            </a:solidFill>
                            <a:latin typeface="Cambria Math" panose="02040503050406030204" pitchFamily="18" charset="0"/>
                          </a:rPr>
                        </m:ctrlPr>
                      </m:barPr>
                      <m:e>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θ</m:t>
                            </m:r>
                          </m:sup>
                        </m:sSup>
                      </m:e>
                    </m:bar>
                  </m:oMath>
                </a14:m>
                <a:r>
                  <a:rPr sz="2400" b="0">
                    <a:solidFill>
                      <a:srgbClr val="111827"/>
                    </a:solidFill>
                    <a:latin typeface="Arial"/>
                  </a:rPr>
                  <a:t>, so its powers are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oMath>
                </a14:m>
                <a:r>
                  <a:rPr sz="2400" b="0">
                    <a:solidFill>
                      <a:srgbClr val="111827"/>
                    </a:solidFill>
                    <a:latin typeface="Arial"/>
                  </a:rPr>
                  <a:t> holds for all integers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it is the shift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that forces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Checked numerically for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oMath>
                </a14:m>
                <a:r>
                  <a:rPr sz="2400" b="0">
                    <a:solidFill>
                      <a:srgbClr val="111827"/>
                    </a:solidFill>
                    <a:latin typeface="Arial"/>
                  </a:rPr>
                  <a:t>: exactly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values of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m:t>
                    </m:r>
                  </m:oMath>
                </a14:m>
                <a:r>
                  <a:rPr sz="2400" b="0">
                    <a:solidFill>
                      <a:srgbClr val="111827"/>
                    </a:solidFill>
                    <a:latin typeface="Arial"/>
                  </a:rPr>
                  <a:t> work.</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$\sin\theta+i\cos\theta=i\,e^{-i\theta}=i\,\overline{e^{i\theta}}$</a:t>
                </a:r>
                <a:r>
                  <a:rPr sz="2400" b="0">
                    <a:solidFill>
                      <a:srgbClr val="111827"/>
                    </a:solidFill>
                    <a:latin typeface="Arial"/>
                  </a:rPr>
                  <a:t>, so its powers are </a:t>
                </a:r>
                <a:r>
                  <a:rPr lang="en-IN" sz="2400">
                    <a:solidFill>
                      <a:srgbClr val="111827"/>
                    </a:solidFill>
                    <a:latin typeface="Cambria Math" panose="02040503050406030204" pitchFamily="18" charset="0"/>
                  </a:rPr>
                  <a:t>$i^ne^{-in\theta}$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$i^n=i\iff n\equiv1\pmod4$</a:t>
                </a:r>
                <a:r>
                  <a:rPr sz="2400" b="0">
                    <a:solidFill>
                      <a:srgbClr val="111827"/>
                    </a:solidFill>
                    <a:latin typeface="Arial"/>
                  </a:rPr>
                  <a:t>; </a:t>
                </a:r>
                <a:r>
                  <a:rPr lang="en-IN" sz="2400">
                    <a:solidFill>
                      <a:srgbClr val="111827"/>
                    </a:solidFill>
                    <a:latin typeface="Cambria Math" panose="02040503050406030204" pitchFamily="18" charset="0"/>
                  </a:rPr>
                  <a:t>$i^n=1\iff n\equiv0$</a:t>
                </a:r>
                <a:r>
                  <a:rPr sz="2400" b="0">
                    <a:solidFill>
                      <a:srgbClr val="111827"/>
                    </a:solidFill>
                    <a:latin typeface="Arial"/>
                  </a:rPr>
                  <a:t>, </a:t>
                </a:r>
                <a:r>
                  <a:rPr lang="en-IN" sz="2400">
                    <a:solidFill>
                      <a:srgbClr val="111827"/>
                    </a:solidFill>
                    <a:latin typeface="Cambria Math" panose="02040503050406030204" pitchFamily="18" charset="0"/>
                  </a:rPr>
                  <a:t>$i^n=-1\iff n\equiv2$</a:t>
                </a:r>
                <a:r>
                  <a:rPr sz="2400" b="0">
                    <a:solidFill>
                      <a:srgbClr val="111827"/>
                    </a:solidFill>
                    <a:latin typeface="Arial"/>
                  </a:rPr>
                  <a:t>, </a:t>
                </a:r>
                <a:r>
                  <a:rPr lang="en-IN" sz="2400">
                    <a:solidFill>
                      <a:srgbClr val="111827"/>
                    </a:solidFill>
                    <a:latin typeface="Cambria Math" panose="02040503050406030204" pitchFamily="18" charset="0"/>
                  </a:rPr>
                  <a:t>$i^n=-i\iff n\equiv3\pmod4$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$(\cos\theta+i\sin\theta)^n=\cos n\theta+i\sin n\theta$</a:t>
                </a:r>
                <a:r>
                  <a:rPr sz="2400" b="0">
                    <a:solidFill>
                      <a:srgbClr val="111827"/>
                    </a:solidFill>
                    <a:latin typeface="Arial"/>
                  </a:rPr>
                  <a:t> holds for all integers </a:t>
                </a:r>
                <a:r>
                  <a:rPr lang="en-IN" sz="2400">
                    <a:solidFill>
                      <a:srgbClr val="111827"/>
                    </a:solidFill>
                    <a:latin typeface="Cambria Math" panose="02040503050406030204" pitchFamily="18" charset="0"/>
                  </a:rPr>
                  <a:t>$n$</a:t>
                </a:r>
                <a:r>
                  <a:rPr sz="2400" b="0">
                    <a:solidFill>
                      <a:srgbClr val="111827"/>
                    </a:solidFill>
                    <a:latin typeface="Arial"/>
                  </a:rPr>
                  <a:t>; it is the shift by </a:t>
                </a:r>
                <a:r>
                  <a:rPr lang="en-IN" sz="2400">
                    <a:solidFill>
                      <a:srgbClr val="111827"/>
                    </a:solidFill>
                    <a:latin typeface="Cambria Math" panose="02040503050406030204" pitchFamily="18" charset="0"/>
                  </a:rPr>
                  <a:t>$\frac\pi2$</a:t>
                </a:r>
                <a:r>
                  <a:rPr sz="2400" b="0">
                    <a:solidFill>
                      <a:srgbClr val="111827"/>
                    </a:solidFill>
                    <a:latin typeface="Arial"/>
                  </a:rPr>
                  <a:t> that forces </a:t>
                </a:r>
                <a:r>
                  <a:rPr lang="en-IN" sz="2400">
                    <a:solidFill>
                      <a:srgbClr val="111827"/>
                    </a:solidFill>
                    <a:latin typeface="Cambria Math" panose="02040503050406030204" pitchFamily="18" charset="0"/>
                  </a:rPr>
                  <a:t>$n\equiv1\pmod4$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Checked numerically for </a:t>
                </a:r>
                <a:r>
                  <a:rPr lang="en-IN" sz="2400">
                    <a:solidFill>
                      <a:srgbClr val="111827"/>
                    </a:solidFill>
                    <a:latin typeface="Cambria Math" panose="02040503050406030204" pitchFamily="18" charset="0"/>
                  </a:rPr>
                  <a:t>$\theta=0.7,1.3,2.1$</a:t>
                </a:r>
                <a:r>
                  <a:rPr sz="2400" b="0">
                    <a:solidFill>
                      <a:srgbClr val="111827"/>
                    </a:solidFill>
                    <a:latin typeface="Arial"/>
                  </a:rPr>
                  <a:t>: exactly </a:t>
                </a:r>
                <a:r>
                  <a:rPr lang="en-IN" sz="2400">
                    <a:solidFill>
                      <a:srgbClr val="111827"/>
                    </a:solidFill>
                    <a:latin typeface="Cambria Math" panose="02040503050406030204" pitchFamily="18" charset="0"/>
                  </a:rPr>
                  <a:t>$25$</a:t>
                </a:r>
                <a:r>
                  <a:rPr sz="2400" b="0">
                    <a:solidFill>
                      <a:srgbClr val="111827"/>
                    </a:solidFill>
                    <a:latin typeface="Arial"/>
                  </a:rPr>
                  <a:t> values of </a:t>
                </a:r>
                <a:r>
                  <a:rPr lang="en-IN" sz="2400">
                    <a:solidFill>
                      <a:srgbClr val="111827"/>
                    </a:solidFill>
                    <a:latin typeface="Cambria Math" panose="02040503050406030204" pitchFamily="18" charset="0"/>
                  </a:rPr>
                  <a:t>$n\le100$</a:t>
                </a:r>
                <a:r>
                  <a:rPr sz="2400" b="0">
                    <a:solidFill>
                      <a:srgbClr val="111827"/>
                    </a:solidFill>
                    <a:latin typeface="Arial"/>
                  </a:rPr>
                  <a:t> work.</a:t>
                </a:r>
                <a:endParaRPr sz="2400">
                  <a:solidFill>
                    <a:srgbClr val="111827"/>
                  </a:solidFill>
                </a:endParaRPr>
              </a:p>
            </p:txBody>
          </p:sp>
        </mc:Fallback>
      </mc:AlternateContent>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C</m:t>
                        </m:r>
                      </m:e>
                    </m:d>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complex numbers representing points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respectively on the complex plane such that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then the maximum value of the area of quadrilateral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𝑆</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$A=\left\{z:\left|\frac{z-2}{z+2}\right|=3,\ z\in\mathbb{C}\right\}$</a:t>
                </a:r>
                <a:r>
                  <a:rPr sz="2400" b="0">
                    <a:solidFill>
                      <a:srgbClr val="111827"/>
                    </a:solidFill>
                    <a:latin typeface="Arial"/>
                  </a:rPr>
                  <a:t> and </a:t>
                </a:r>
                <a:r>
                  <a:rPr lang="en-IN" sz="2400">
                    <a:solidFill>
                      <a:srgbClr val="111827"/>
                    </a:solidFill>
                    <a:latin typeface="Cambria Math" panose="02040503050406030204" pitchFamily="18" charset="0"/>
                  </a:rPr>
                  <a:t>$z_1,z_2,z_3,z_4\in A$</a:t>
                </a:r>
                <a:r>
                  <a:rPr sz="2400" b="0">
                    <a:solidFill>
                      <a:srgbClr val="111827"/>
                    </a:solidFill>
                    <a:latin typeface="Arial"/>
                  </a:rPr>
                  <a:t> are </a:t>
                </a:r>
                <a:r>
                  <a:rPr lang="en-IN" sz="2400">
                    <a:solidFill>
                      <a:srgbClr val="111827"/>
                    </a:solidFill>
                    <a:latin typeface="Cambria Math" panose="02040503050406030204" pitchFamily="18" charset="0"/>
                  </a:rPr>
                  <a:t>$4$</a:t>
                </a:r>
                <a:r>
                  <a:rPr sz="2400" b="0">
                    <a:solidFill>
                      <a:srgbClr val="111827"/>
                    </a:solidFill>
                    <a:latin typeface="Arial"/>
                  </a:rPr>
                  <a:t> complex numbers representing points </a:t>
                </a:r>
                <a:r>
                  <a:rPr lang="en-IN" sz="2400">
                    <a:solidFill>
                      <a:srgbClr val="111827"/>
                    </a:solidFill>
                    <a:latin typeface="Cambria Math" panose="02040503050406030204" pitchFamily="18" charset="0"/>
                  </a:rPr>
                  <a:t>$P,Q,R,S$</a:t>
                </a:r>
                <a:r>
                  <a:rPr sz="2400" b="0">
                    <a:solidFill>
                      <a:srgbClr val="111827"/>
                    </a:solidFill>
                    <a:latin typeface="Arial"/>
                  </a:rPr>
                  <a:t> respectively on the complex plane such that </a:t>
                </a:r>
                <a:r>
                  <a:rPr lang="en-IN" sz="2400">
                    <a:solidFill>
                      <a:srgbClr val="111827"/>
                    </a:solidFill>
                    <a:latin typeface="Cambria Math" panose="02040503050406030204" pitchFamily="18" charset="0"/>
                  </a:rPr>
                  <a:t>$z_1-z_2=z_4-z_3$</a:t>
                </a:r>
                <a:r>
                  <a:rPr sz="2400" b="0">
                    <a:solidFill>
                      <a:srgbClr val="111827"/>
                    </a:solidFill>
                    <a:latin typeface="Arial"/>
                  </a:rPr>
                  <a:t>, then the maximum value of the area of quadrilateral </a:t>
                </a:r>
                <a:r>
                  <a:rPr lang="en-IN" sz="2400">
                    <a:solidFill>
                      <a:srgbClr val="111827"/>
                    </a:solidFill>
                    <a:latin typeface="Cambria Math" panose="02040503050406030204" pitchFamily="18" charset="0"/>
                  </a:rPr>
                  <a:t>$PQRS$</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998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Locus in the complex plane (Apollonius circle), Parallelogram inscribed in a circle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locus is a circle, and an inscribed parallelogram is a rectangle whose area is at most half the product of two diameters.</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a:t>
                </a:r>
                <a14:m>
                  <m:oMath xmlns:m="http://schemas.openxmlformats.org/officeDocument/2006/math">
                    <m:r>
                      <a:rPr lang="en-IN" sz="2400" i="1">
                        <a:solidFill>
                          <a:srgbClr val="111827"/>
                        </a:solidFill>
                        <a:latin typeface="Cambria Math" panose="02040503050406030204" pitchFamily="18" charset="0"/>
                      </a:rPr>
                      <m:t>8</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a circle with centre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and radius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PDF's printed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oMath>
                </a14:m>
                <a:r>
                  <a:rPr sz="2400" b="0">
                    <a:solidFill>
                      <a:srgbClr val="111827"/>
                    </a:solidFill>
                    <a:latin typeface="Arial"/>
                  </a:rPr>
                  <a:t> is a slip for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e>
                    </m:ra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means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the diagonals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𝑆</m:t>
                    </m:r>
                  </m:oMath>
                </a14:m>
                <a:r>
                  <a:rPr sz="2400" b="0">
                    <a:solidFill>
                      <a:srgbClr val="111827"/>
                    </a:solidFill>
                    <a:latin typeface="Arial"/>
                  </a:rPr>
                  <a:t> have the same midpoint, so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𝑆</m:t>
                    </m:r>
                  </m:oMath>
                </a14:m>
                <a:r>
                  <a:rPr sz="2400" b="0">
                    <a:solidFill>
                      <a:srgbClr val="111827"/>
                    </a:solidFill>
                    <a:latin typeface="Arial"/>
                  </a:rPr>
                  <a:t> is a parallelogram with all four vertices on the circle.</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$|z-2|=3|z+2|$</a:t>
                </a:r>
                <a:r>
                  <a:rPr sz="2400" b="0">
                    <a:solidFill>
                      <a:srgbClr val="111827"/>
                    </a:solidFill>
                    <a:latin typeface="Arial"/>
                  </a:rPr>
                  <a:t> gives </a:t>
                </a:r>
                <a:r>
                  <a:rPr lang="en-IN" sz="2400">
                    <a:solidFill>
                      <a:srgbClr val="111827"/>
                    </a:solidFill>
                    <a:latin typeface="Cambria Math" panose="02040503050406030204" pitchFamily="18" charset="0"/>
                  </a:rPr>
                  <a:t>$(x-2)^2+y^2=9\left[(x+2)^2+y^2\right]$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a:t>
                </a:r>
                <a:r>
                  <a:rPr lang="en-IN" sz="2400">
                    <a:solidFill>
                      <a:srgbClr val="111827"/>
                    </a:solidFill>
                    <a:latin typeface="Cambria Math" panose="02040503050406030204" pitchFamily="18" charset="0"/>
                  </a:rPr>
                  <a:t>$8x^2+8y^2+40x+32=0$</a:t>
                </a:r>
                <a:r>
                  <a:rPr sz="2400" b="0">
                    <a:solidFill>
                      <a:srgbClr val="111827"/>
                    </a:solidFill>
                    <a:latin typeface="Arial"/>
                  </a:rPr>
                  <a:t>, i.e. </a:t>
                </a:r>
                <a:r>
                  <a:rPr lang="en-IN" sz="2400">
                    <a:solidFill>
                      <a:srgbClr val="111827"/>
                    </a:solidFill>
                    <a:latin typeface="Cambria Math" panose="02040503050406030204" pitchFamily="18" charset="0"/>
                  </a:rPr>
                  <a:t>$x^2+y^2+5x+4=0$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is a circle with centre </a:t>
                </a:r>
                <a:r>
                  <a:rPr lang="en-IN" sz="2400">
                    <a:solidFill>
                      <a:srgbClr val="111827"/>
                    </a:solidFill>
                    <a:latin typeface="Cambria Math" panose="02040503050406030204" pitchFamily="18" charset="0"/>
                  </a:rPr>
                  <a:t>$\left(-\frac52,0\right)$</a:t>
                </a:r>
                <a:r>
                  <a:rPr sz="2400" b="0">
                    <a:solidFill>
                      <a:srgbClr val="111827"/>
                    </a:solidFill>
                    <a:latin typeface="Arial"/>
                  </a:rPr>
                  <a:t> and radius </a:t>
                </a:r>
                <a:r>
                  <a:rPr lang="en-IN" sz="2400">
                    <a:solidFill>
                      <a:srgbClr val="111827"/>
                    </a:solidFill>
                    <a:latin typeface="Cambria Math" panose="02040503050406030204" pitchFamily="18" charset="0"/>
                  </a:rPr>
                  <a:t>$\sqrt{\frac{25}{4}-4}=\frac32$</a:t>
                </a:r>
                <a:r>
                  <a:rPr sz="2400" b="0">
                    <a:solidFill>
                      <a:srgbClr val="111827"/>
                    </a:solidFill>
                    <a:latin typeface="Arial"/>
                  </a:rPr>
                  <a:t> (the PDF's printed </a:t>
                </a:r>
                <a:r>
                  <a:rPr lang="en-IN" sz="2400">
                    <a:solidFill>
                      <a:srgbClr val="111827"/>
                    </a:solidFill>
                    <a:latin typeface="Cambria Math" panose="02040503050406030204" pitchFamily="18" charset="0"/>
                  </a:rPr>
                  <a:t>$\sqrt{24/4}$</a:t>
                </a:r>
                <a:r>
                  <a:rPr sz="2400" b="0">
                    <a:solidFill>
                      <a:srgbClr val="111827"/>
                    </a:solidFill>
                    <a:latin typeface="Arial"/>
                  </a:rPr>
                  <a:t> is a slip for </a:t>
                </a:r>
                <a:r>
                  <a:rPr lang="en-IN" sz="2400">
                    <a:solidFill>
                      <a:srgbClr val="111827"/>
                    </a:solidFill>
                    <a:latin typeface="Cambria Math" panose="02040503050406030204" pitchFamily="18" charset="0"/>
                  </a:rPr>
                  <a:t>$\sqrt{9/4}$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$z_1-z_2=z_4-z_3$</a:t>
                </a:r>
                <a:r>
                  <a:rPr sz="2400" b="0">
                    <a:solidFill>
                      <a:srgbClr val="111827"/>
                    </a:solidFill>
                    <a:latin typeface="Arial"/>
                  </a:rPr>
                  <a:t> means </a:t>
                </a:r>
                <a:r>
                  <a:rPr lang="en-IN" sz="2400">
                    <a:solidFill>
                      <a:srgbClr val="111827"/>
                    </a:solidFill>
                    <a:latin typeface="Cambria Math" panose="02040503050406030204" pitchFamily="18" charset="0"/>
                  </a:rPr>
                  <a:t>$z_1+z_3=z_2+z_4$</a:t>
                </a:r>
                <a:r>
                  <a:rPr sz="2400" b="0">
                    <a:solidFill>
                      <a:srgbClr val="111827"/>
                    </a:solidFill>
                    <a:latin typeface="Arial"/>
                  </a:rPr>
                  <a:t>: the diagonals </a:t>
                </a:r>
                <a:r>
                  <a:rPr lang="en-IN" sz="2400">
                    <a:solidFill>
                      <a:srgbClr val="111827"/>
                    </a:solidFill>
                    <a:latin typeface="Cambria Math" panose="02040503050406030204" pitchFamily="18" charset="0"/>
                  </a:rPr>
                  <a:t>$PR$</a:t>
                </a:r>
                <a:r>
                  <a:rPr sz="2400" b="0">
                    <a:solidFill>
                      <a:srgbClr val="111827"/>
                    </a:solidFill>
                    <a:latin typeface="Arial"/>
                  </a:rPr>
                  <a:t> and </a:t>
                </a:r>
                <a:r>
                  <a:rPr lang="en-IN" sz="2400">
                    <a:solidFill>
                      <a:srgbClr val="111827"/>
                    </a:solidFill>
                    <a:latin typeface="Cambria Math" panose="02040503050406030204" pitchFamily="18" charset="0"/>
                  </a:rPr>
                  <a:t>$QS$</a:t>
                </a:r>
                <a:r>
                  <a:rPr sz="2400" b="0">
                    <a:solidFill>
                      <a:srgbClr val="111827"/>
                    </a:solidFill>
                    <a:latin typeface="Arial"/>
                  </a:rPr>
                  <a:t> have the same midpoint, so </a:t>
                </a:r>
                <a:r>
                  <a:rPr lang="en-IN" sz="2400">
                    <a:solidFill>
                      <a:srgbClr val="111827"/>
                    </a:solidFill>
                    <a:latin typeface="Cambria Math" panose="02040503050406030204" pitchFamily="18" charset="0"/>
                  </a:rPr>
                  <a:t>$PQRS$</a:t>
                </a:r>
                <a:r>
                  <a:rPr sz="2400" b="0">
                    <a:solidFill>
                      <a:srgbClr val="111827"/>
                    </a:solidFill>
                    <a:latin typeface="Arial"/>
                  </a:rPr>
                  <a:t> is a parallelogram with all four vertices on the circle.</a:t>
                </a:r>
                <a:endParaRPr sz="2400">
                  <a:solidFill>
                    <a:srgbClr val="111827"/>
                  </a:solidFill>
                </a:endParaRPr>
              </a:p>
            </p:txBody>
          </p:sp>
        </mc:Fallback>
      </mc:AlternateContent>
    </p:spTree>
  </p:cSld>
  <p:clrMapOvr>
    <a:masterClrMapping/>
  </p:clrMapOvr>
</p:sld>
</file>

<file path=ppt/slides/slide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parallelogram inscribed in a circle is a rectangle, so its diagonals are diameters, each of length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φ</m:t>
                    </m:r>
                  </m:oMath>
                </a14:m>
                <a:r>
                  <a:rPr sz="2400" b="0">
                    <a:solidFill>
                      <a:srgbClr val="111827"/>
                    </a:solidFill>
                    <a:latin typeface="Arial"/>
                  </a:rPr>
                  <a:t> is the angle between the diagonals; it is largest at </a:t>
                </a:r>
                <a14:m>
                  <m:oMath xmlns:m="http://schemas.openxmlformats.org/officeDocument/2006/math">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90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when the rectangle is a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area of the square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𝑑</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parallelogram inscribed in a circle is a rectangle, so its diagonals are diameters, each of length </a:t>
                </a:r>
                <a:r>
                  <a:rPr lang="en-IN" sz="2400">
                    <a:solidFill>
                      <a:srgbClr val="111827"/>
                    </a:solidFill>
                    <a:latin typeface="Cambria Math" panose="02040503050406030204" pitchFamily="18" charset="0"/>
                  </a:rPr>
                  <a:t>$d=2\cdot\frac32=3$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a:t>
                </a:r>
                <a:r>
                  <a:rPr lang="en-IN" sz="2400">
                    <a:solidFill>
                      <a:srgbClr val="111827"/>
                    </a:solidFill>
                    <a:latin typeface="Cambria Math" panose="02040503050406030204" pitchFamily="18" charset="0"/>
                  </a:rPr>
                  <a:t>$=\frac12d_1d_2\sin\varphi=\frac92\sin\varphi$</a:t>
                </a:r>
                <a:r>
                  <a:rPr sz="2400" b="0">
                    <a:solidFill>
                      <a:srgbClr val="111827"/>
                    </a:solidFill>
                    <a:latin typeface="Arial"/>
                  </a:rPr>
                  <a:t>, where </a:t>
                </a:r>
                <a:r>
                  <a:rPr lang="en-IN" sz="2400">
                    <a:solidFill>
                      <a:srgbClr val="111827"/>
                    </a:solidFill>
                    <a:latin typeface="Cambria Math" panose="02040503050406030204" pitchFamily="18" charset="0"/>
                  </a:rPr>
                  <a:t>$\varphi$</a:t>
                </a:r>
                <a:r>
                  <a:rPr sz="2400" b="0">
                    <a:solidFill>
                      <a:srgbClr val="111827"/>
                    </a:solidFill>
                    <a:latin typeface="Arial"/>
                  </a:rPr>
                  <a:t> is the angle between the diagonals; it is largest at </a:t>
                </a:r>
                <a:r>
                  <a:rPr lang="en-IN" sz="2400">
                    <a:solidFill>
                      <a:srgbClr val="111827"/>
                    </a:solidFill>
                    <a:latin typeface="Cambria Math" panose="02040503050406030204" pitchFamily="18" charset="0"/>
                  </a:rPr>
                  <a:t>$\varphi=90^\circ$</a:t>
                </a:r>
                <a:r>
                  <a:rPr sz="2400" b="0">
                    <a:solidFill>
                      <a:srgbClr val="111827"/>
                    </a:solidFill>
                    <a:latin typeface="Arial"/>
                  </a:rPr>
                  <a:t>, when the rectangle is a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area of the square </a:t>
                </a:r>
                <a:r>
                  <a:rPr lang="en-IN" sz="2400">
                    <a:solidFill>
                      <a:srgbClr val="111827"/>
                    </a:solidFill>
                    <a:latin typeface="Cambria Math" panose="02040503050406030204" pitchFamily="18" charset="0"/>
                  </a:rPr>
                  <a:t>$=\frac{d^2}{2}=\frac92=4.5$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4.5</a:t>
            </a:r>
            <a:endParaRPr sz="2800">
              <a:solidFill>
                <a:srgbClr val="15803D"/>
              </a:solidFill>
            </a:endParaRPr>
          </a:p>
        </p:txBody>
      </p:sp>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Area of any quadrilateral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sin</m:t>
                    </m:r>
                    <m:r>
                      <a:rPr lang="en-IN" sz="2400" i="1">
                        <a:solidFill>
                          <a:srgbClr val="78350F"/>
                        </a:solidFill>
                        <a:latin typeface="Cambria Math" panose="02040503050406030204" pitchFamily="18" charset="0"/>
                      </a:rPr>
                      <m:t>φ</m:t>
                    </m:r>
                  </m:oMath>
                </a14:m>
                <a:r>
                  <a:rPr sz="2400" b="0">
                    <a:solidFill>
                      <a:srgbClr val="78350F"/>
                    </a:solidFill>
                    <a:latin typeface="Arial"/>
                  </a:rPr>
                  <a:t>, and each diagonal is a chord, hence at most the diameter </a:t>
                </a:r>
                <a14:m>
                  <m:oMath xmlns:m="http://schemas.openxmlformats.org/officeDocument/2006/math">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Area of any quadrilateral is </a:t>
                </a:r>
                <a:r>
                  <a:rPr lang="en-IN" sz="2400">
                    <a:solidFill>
                      <a:srgbClr val="78350F"/>
                    </a:solidFill>
                    <a:latin typeface="Cambria Math" panose="02040503050406030204" pitchFamily="18" charset="0"/>
                  </a:rPr>
                  <a:t>$\frac12d_1d_2\sin\varphi$</a:t>
                </a:r>
                <a:r>
                  <a:rPr sz="2400" b="0">
                    <a:solidFill>
                      <a:srgbClr val="78350F"/>
                    </a:solidFill>
                    <a:latin typeface="Arial"/>
                  </a:rPr>
                  <a:t>, and each diagonal is a chord, hence at most the diameter </a:t>
                </a:r>
                <a:r>
                  <a:rPr lang="en-IN" sz="2400">
                    <a:solidFill>
                      <a:srgbClr val="78350F"/>
                    </a:solidFill>
                    <a:latin typeface="Cambria Math" panose="02040503050406030204" pitchFamily="18" charset="0"/>
                  </a:rPr>
                  <a: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locus is the circle with centre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e>
                    </m:d>
                  </m:oMath>
                </a14:m>
                <a:r>
                  <a:rPr sz="2400" b="0">
                    <a:solidFill>
                      <a:srgbClr val="111827"/>
                    </a:solidFill>
                    <a:latin typeface="Arial"/>
                  </a:rPr>
                  <a:t>, radius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every chord has length at most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area of the parallelogram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φ</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locus is the circle with centre </a:t>
                </a:r>
                <a:r>
                  <a:rPr lang="en-IN" sz="2400">
                    <a:solidFill>
                      <a:srgbClr val="111827"/>
                    </a:solidFill>
                    <a:latin typeface="Cambria Math" panose="02040503050406030204" pitchFamily="18" charset="0"/>
                  </a:rPr>
                  <a:t>$\left(-\frac52,0\right)$</a:t>
                </a:r>
                <a:r>
                  <a:rPr sz="2400" b="0">
                    <a:solidFill>
                      <a:srgbClr val="111827"/>
                    </a:solidFill>
                    <a:latin typeface="Arial"/>
                  </a:rPr>
                  <a:t>, radius </a:t>
                </a:r>
                <a:r>
                  <a:rPr lang="en-IN" sz="2400">
                    <a:solidFill>
                      <a:srgbClr val="111827"/>
                    </a:solidFill>
                    <a:latin typeface="Cambria Math" panose="02040503050406030204" pitchFamily="18" charset="0"/>
                  </a:rPr>
                  <a:t>$\frac32$</a:t>
                </a:r>
                <a:r>
                  <a:rPr sz="2400" b="0">
                    <a:solidFill>
                      <a:srgbClr val="111827"/>
                    </a:solidFill>
                    <a:latin typeface="Arial"/>
                  </a:rPr>
                  <a:t>, so every chord has length at most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area of the parallelogram is </a:t>
                </a:r>
                <a:r>
                  <a:rPr lang="en-IN" sz="2400">
                    <a:solidFill>
                      <a:srgbClr val="111827"/>
                    </a:solidFill>
                    <a:latin typeface="Cambria Math" panose="02040503050406030204" pitchFamily="18" charset="0"/>
                  </a:rPr>
                  <a:t>$\frac12\cdot PR\cdot QS\cdot\sin\varphi\le\frac12\cdot3\cdot3\cdot1$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Equality needs both diagonals to be diameters (equal to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and perpendicular: a square inscribed in the circle, which exists.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area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Equality needs both diagonals to be diameters (equal to </a:t>
                </a:r>
                <a:r>
                  <a:rPr lang="en-IN" sz="2400">
                    <a:solidFill>
                      <a:srgbClr val="111827"/>
                    </a:solidFill>
                    <a:latin typeface="Cambria Math" panose="02040503050406030204" pitchFamily="18" charset="0"/>
                  </a:rPr>
                  <a:t>$3$</a:t>
                </a:r>
                <a:r>
                  <a:rPr sz="2400" b="0">
                    <a:solidFill>
                      <a:srgbClr val="111827"/>
                    </a:solidFill>
                    <a:latin typeface="Arial"/>
                  </a:rPr>
                  <a:t>) and perpendicular: a square inscribed in the circle, which exists.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Maximum area </a:t>
                </a:r>
                <a:r>
                  <a:rPr lang="en-IN" sz="2400">
                    <a:solidFill>
                      <a:srgbClr val="111827"/>
                    </a:solidFill>
                    <a:latin typeface="Cambria Math" panose="02040503050406030204" pitchFamily="18" charset="0"/>
                  </a:rPr>
                  <a:t>$=\frac92=4.5$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4.5</a:t>
            </a:r>
            <a:endParaRPr sz="2800">
              <a:solidFill>
                <a:srgbClr val="15803D"/>
              </a:solidFill>
            </a:endParaRPr>
          </a:p>
        </p:txBody>
      </p:sp>
    </p:spTree>
  </p:cSld>
  <p:clrMapOvr>
    <a:masterClrMapping/>
  </p:clrMapOvr>
</p:sld>
</file>

<file path=ppt/slides/slide4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the Apollonius circle; its diameter has endpoints dividing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oMath>
                </a14:m>
                <a:r>
                  <a:rPr sz="2400" b="0">
                    <a:solidFill>
                      <a:srgbClr val="111827"/>
                    </a:solidFill>
                    <a:latin typeface="Arial"/>
                  </a:rPr>
                  <a:t> internally and externally in the ratio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giving centre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radius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4</m:t>
                        </m:r>
                      </m:sub>
                    </m:sSub>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𝑄</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𝑆</m:t>
                    </m:r>
                  </m:oMath>
                </a14:m>
                <a:r>
                  <a:rPr sz="2400" b="0">
                    <a:solidFill>
                      <a:srgbClr val="111827"/>
                    </a:solidFill>
                    <a:latin typeface="Arial"/>
                  </a:rPr>
                  <a:t> is a parallelogram (diagonals bisect each other).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cyclic parallelogram is a rectangle; the largest area of a quadrilateral inscribed in a circle of 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$\left|\frac{z-a}{z-b}\right|=k$</a:t>
                </a:r>
                <a:r>
                  <a:rPr sz="2400" b="0">
                    <a:solidFill>
                      <a:srgbClr val="111827"/>
                    </a:solidFill>
                    <a:latin typeface="Arial"/>
                  </a:rPr>
                  <a:t> (</a:t>
                </a:r>
                <a:r>
                  <a:rPr lang="en-IN" sz="2400">
                    <a:solidFill>
                      <a:srgbClr val="111827"/>
                    </a:solidFill>
                    <a:latin typeface="Cambria Math" panose="02040503050406030204" pitchFamily="18" charset="0"/>
                  </a:rPr>
                  <a:t>$k\neq1$</a:t>
                </a:r>
                <a:r>
                  <a:rPr sz="2400" b="0">
                    <a:solidFill>
                      <a:srgbClr val="111827"/>
                    </a:solidFill>
                    <a:latin typeface="Arial"/>
                  </a:rPr>
                  <a:t>) is the Apollonius circle; its diameter has endpoints dividing </a:t>
                </a:r>
                <a:r>
                  <a:rPr lang="en-IN" sz="2400">
                    <a:solidFill>
                      <a:srgbClr val="111827"/>
                    </a:solidFill>
                    <a:latin typeface="Cambria Math" panose="02040503050406030204" pitchFamily="18" charset="0"/>
                  </a:rPr>
                  <a:t>$ab$</a:t>
                </a:r>
                <a:r>
                  <a:rPr sz="2400" b="0">
                    <a:solidFill>
                      <a:srgbClr val="111827"/>
                    </a:solidFill>
                    <a:latin typeface="Arial"/>
                  </a:rPr>
                  <a:t> internally and externally in the ratio </a:t>
                </a:r>
                <a:r>
                  <a:rPr lang="en-IN" sz="2400">
                    <a:solidFill>
                      <a:srgbClr val="111827"/>
                    </a:solidFill>
                    <a:latin typeface="Cambria Math" panose="02040503050406030204" pitchFamily="18" charset="0"/>
                  </a:rPr>
                  <a:t>$k$</a:t>
                </a:r>
                <a:r>
                  <a:rPr sz="2400" b="0">
                    <a:solidFill>
                      <a:srgbClr val="111827"/>
                    </a:solidFill>
                    <a:latin typeface="Arial"/>
                  </a:rPr>
                  <a:t>. Here </a:t>
                </a:r>
                <a:r>
                  <a:rPr lang="en-IN" sz="2400">
                    <a:solidFill>
                      <a:srgbClr val="111827"/>
                    </a:solidFill>
                    <a:latin typeface="Cambria Math" panose="02040503050406030204" pitchFamily="18" charset="0"/>
                  </a:rPr>
                  <a:t>$\frac{2+3(-2)}{4}=-1$</a:t>
                </a:r>
                <a:r>
                  <a:rPr sz="2400" b="0">
                    <a:solidFill>
                      <a:srgbClr val="111827"/>
                    </a:solidFill>
                    <a:latin typeface="Arial"/>
                  </a:rPr>
                  <a:t> and </a:t>
                </a:r>
                <a:r>
                  <a:rPr lang="en-IN" sz="2400">
                    <a:solidFill>
                      <a:srgbClr val="111827"/>
                    </a:solidFill>
                    <a:latin typeface="Cambria Math" panose="02040503050406030204" pitchFamily="18" charset="0"/>
                  </a:rPr>
                  <a:t>$\frac{2-3(-2)}{1-3}=-4$</a:t>
                </a:r>
                <a:r>
                  <a:rPr sz="2400" b="0">
                    <a:solidFill>
                      <a:srgbClr val="111827"/>
                    </a:solidFill>
                    <a:latin typeface="Arial"/>
                  </a:rPr>
                  <a:t>, giving centre </a:t>
                </a:r>
                <a:r>
                  <a:rPr lang="en-IN" sz="2400">
                    <a:solidFill>
                      <a:srgbClr val="111827"/>
                    </a:solidFill>
                    <a:latin typeface="Cambria Math" panose="02040503050406030204" pitchFamily="18" charset="0"/>
                  </a:rPr>
                  <a:t>$-\frac52$</a:t>
                </a:r>
                <a:r>
                  <a:rPr sz="2400" b="0">
                    <a:solidFill>
                      <a:srgbClr val="111827"/>
                    </a:solidFill>
                    <a:latin typeface="Arial"/>
                  </a:rPr>
                  <a:t>, radius </a:t>
                </a:r>
                <a:r>
                  <a:rPr lang="en-IN" sz="2400">
                    <a:solidFill>
                      <a:srgbClr val="111827"/>
                    </a:solidFill>
                    <a:latin typeface="Cambria Math" panose="02040503050406030204" pitchFamily="18" charset="0"/>
                  </a:rPr>
                  <a:t>$\frac32$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$z_1+z_3=z_2+z_4$</a:t>
                </a:r>
                <a:r>
                  <a:rPr sz="2400" b="0">
                    <a:solidFill>
                      <a:srgbClr val="111827"/>
                    </a:solidFill>
                    <a:latin typeface="Arial"/>
                  </a:rPr>
                  <a:t> means </a:t>
                </a:r>
                <a:r>
                  <a:rPr lang="en-IN" sz="2400">
                    <a:solidFill>
                      <a:srgbClr val="111827"/>
                    </a:solidFill>
                    <a:latin typeface="Cambria Math" panose="02040503050406030204" pitchFamily="18" charset="0"/>
                  </a:rPr>
                  <a:t>$PQRS$</a:t>
                </a:r>
                <a:r>
                  <a:rPr sz="2400" b="0">
                    <a:solidFill>
                      <a:srgbClr val="111827"/>
                    </a:solidFill>
                    <a:latin typeface="Arial"/>
                  </a:rPr>
                  <a:t> is a parallelogram (diagonals bisect each other).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cyclic parallelogram is a rectangle; the largest area of a quadrilateral inscribed in a circle of radius </a:t>
                </a:r>
                <a:r>
                  <a:rPr lang="en-IN" sz="2400">
                    <a:solidFill>
                      <a:srgbClr val="111827"/>
                    </a:solidFill>
                    <a:latin typeface="Cambria Math" panose="02040503050406030204" pitchFamily="18" charset="0"/>
                  </a:rPr>
                  <a:t>$r$</a:t>
                </a:r>
                <a:r>
                  <a:rPr sz="2400" b="0">
                    <a:solidFill>
                      <a:srgbClr val="111827"/>
                    </a:solidFill>
                    <a:latin typeface="Arial"/>
                  </a:rPr>
                  <a:t> is </a:t>
                </a:r>
                <a:r>
                  <a:rPr lang="en-IN" sz="2400">
                    <a:solidFill>
                      <a:srgbClr val="111827"/>
                    </a:solidFill>
                    <a:latin typeface="Cambria Math" panose="02040503050406030204" pitchFamily="18" charset="0"/>
                  </a:rPr>
                  <a:t>$2r^2$</a:t>
                </a:r>
                <a:r>
                  <a:rPr sz="2400" b="0">
                    <a:solidFill>
                      <a:srgbClr val="111827"/>
                    </a:solidFill>
                    <a:latin typeface="Arial"/>
                  </a:rPr>
                  <a:t> (square).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$2\cdot\left(\frac32\right)^2=\frac92$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90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each of a set of games it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in favour of the winner of the previous game. The chance that the player who wins the first game shall win three at least of the next four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are coprime. If </a:t>
                </a: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𝑥</m:t>
                            </m:r>
                          </m:den>
                        </m:f>
                      </m:e>
                    </m:d>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𝑥</m:t>
                            </m:r>
                          </m:den>
                        </m:f>
                      </m:e>
                    </m:d>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then the value of </a:t>
                </a:r>
                <a14:m>
                  <m:oMath xmlns:m="http://schemas.openxmlformats.org/officeDocument/2006/math">
                    <m:r>
                      <a:rPr lang="en-IN" sz="2400" i="1">
                        <a:solidFill>
                          <a:srgbClr val="111827"/>
                        </a:solidFill>
                        <a:latin typeface="Cambria Math" panose="02040503050406030204" pitchFamily="18" charset="0"/>
                      </a:rPr>
                      <m:t>250</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1630</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319074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each of a set of games it is </a:t>
                </a:r>
                <a:r>
                  <a:rPr lang="en-IN" sz="2400">
                    <a:solidFill>
                      <a:srgbClr val="111827"/>
                    </a:solidFill>
                    <a:latin typeface="Cambria Math" panose="02040503050406030204" pitchFamily="18" charset="0"/>
                  </a:rPr>
                  <a:t>$2$</a:t>
                </a:r>
                <a:r>
                  <a:rPr sz="2400" b="0">
                    <a:solidFill>
                      <a:srgbClr val="111827"/>
                    </a:solidFill>
                    <a:latin typeface="Arial"/>
                  </a:rPr>
                  <a:t> to </a:t>
                </a:r>
                <a:r>
                  <a:rPr lang="en-IN" sz="2400">
                    <a:solidFill>
                      <a:srgbClr val="111827"/>
                    </a:solidFill>
                    <a:latin typeface="Cambria Math" panose="02040503050406030204" pitchFamily="18" charset="0"/>
                  </a:rPr>
                  <a:t>$1$</a:t>
                </a:r>
                <a:r>
                  <a:rPr sz="2400" b="0">
                    <a:solidFill>
                      <a:srgbClr val="111827"/>
                    </a:solidFill>
                    <a:latin typeface="Arial"/>
                  </a:rPr>
                  <a:t> in favour of the winner of the previous game. The chance that the player who wins the first game shall win three at least of the next four is </a:t>
                </a:r>
                <a:r>
                  <a:rPr lang="en-IN" sz="2400">
                    <a:solidFill>
                      <a:srgbClr val="111827"/>
                    </a:solidFill>
                    <a:latin typeface="Cambria Math" panose="02040503050406030204" pitchFamily="18" charset="0"/>
                  </a:rPr>
                  <a:t>$\frac{m}{n}$</a:t>
                </a:r>
                <a:r>
                  <a:rPr sz="2400" b="0">
                    <a:solidFill>
                      <a:srgbClr val="111827"/>
                    </a:solidFill>
                    <a:latin typeface="Arial"/>
                  </a:rPr>
                  <a:t> where </a:t>
                </a:r>
                <a:r>
                  <a:rPr lang="en-IN" sz="2400">
                    <a:solidFill>
                      <a:srgbClr val="111827"/>
                    </a:solidFill>
                    <a:latin typeface="Cambria Math" panose="02040503050406030204" pitchFamily="18" charset="0"/>
                  </a:rPr>
                  <a:t>$m,n$</a:t>
                </a:r>
                <a:r>
                  <a:rPr sz="2400" b="0">
                    <a:solidFill>
                      <a:srgbClr val="111827"/>
                    </a:solidFill>
                    <a:latin typeface="Arial"/>
                  </a:rPr>
                  <a:t> are coprime. If </a:t>
                </a:r>
                <a:r>
                  <a:rPr lang="en-IN" sz="2400">
                    <a:solidFill>
                      <a:srgbClr val="111827"/>
                    </a:solidFill>
                    <a:latin typeface="Cambria Math" panose="02040503050406030204" pitchFamily="18" charset="0"/>
                  </a:rPr>
                  <a:t>$\tan^{-1}\left(x+\frac{2}{x}\right)-\tan^{-1}\left(x-\frac{2}{x}\right)=\tan^{-1}\frac{m}{x}$</a:t>
                </a:r>
                <a:r>
                  <a:rPr sz="2400" b="0">
                    <a:solidFill>
                      <a:srgbClr val="111827"/>
                    </a:solidFill>
                    <a:latin typeface="Arial"/>
                  </a:rPr>
                  <a:t> then the value of </a:t>
                </a:r>
                <a:r>
                  <a:rPr lang="en-IN" sz="2400">
                    <a:solidFill>
                      <a:srgbClr val="111827"/>
                    </a:solidFill>
                    <a:latin typeface="Cambria Math" panose="02040503050406030204" pitchFamily="18" charset="0"/>
                  </a:rPr>
                  <a:t>$250x^4+320x^2-1630$</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469950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(dependent trials), Inverse trigonometric functions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probability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4</m:t>
                        </m:r>
                      </m:num>
                      <m:den>
                        <m:r>
                          <a:rPr lang="en-IN" sz="2400" i="1">
                            <a:solidFill>
                              <a:srgbClr val="78350F"/>
                            </a:solidFill>
                            <a:latin typeface="Cambria Math" panose="02040503050406030204" pitchFamily="18" charset="0"/>
                          </a:rPr>
                          <m:t>9</m:t>
                        </m:r>
                      </m:den>
                    </m:f>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𝑚</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then </a:t>
                </a:r>
                <a14:m>
                  <m:oMath xmlns:m="http://schemas.openxmlformats.org/officeDocument/2006/math">
                    <m:sSup>
                      <m:e>
                        <m:r>
                          <m:rPr>
                            <m:sty m:val="p"/>
                          </m:rPr>
                          <a:rPr lang="en-IN" sz="2400">
                            <a:solidFill>
                              <a:srgbClr val="78350F"/>
                            </a:solidFill>
                            <a:latin typeface="Cambria Math" panose="02040503050406030204" pitchFamily="18" charset="0"/>
                          </a:rPr>
                          <m:t>tan</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sSup>
                      <m:e>
                        <m:r>
                          <m:rPr>
                            <m:sty m:val="p"/>
                          </m:rPr>
                          <a:rPr lang="en-IN" sz="2400">
                            <a:solidFill>
                              <a:srgbClr val="78350F"/>
                            </a:solidFill>
                            <a:latin typeface="Cambria Math" panose="02040503050406030204" pitchFamily="18" charset="0"/>
                          </a:rPr>
                          <m:t>tan</m:t>
                        </m:r>
                      </m:e>
                      <m: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r>
                      <a:rPr lang="en-IN" sz="2400" i="1">
                        <a:solidFill>
                          <a:srgbClr val="78350F"/>
                        </a:solidFill>
                        <a:latin typeface="Cambria Math" panose="02040503050406030204" pitchFamily="18" charset="0"/>
                      </a:rPr>
                      <m:t>𝐵</m:t>
                    </m:r>
                  </m:oMath>
                </a14:m>
                <a:r>
                  <a:rPr sz="2400" b="0">
                    <a:solidFill>
                      <a:srgbClr val="78350F"/>
                    </a:solidFill>
                    <a:latin typeface="Arial"/>
                  </a:rPr>
                  <a:t> reduces the equation to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4</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probability is </a:t>
                </a:r>
                <a:r>
                  <a:rPr lang="en-IN" sz="2400">
                    <a:solidFill>
                      <a:srgbClr val="78350F"/>
                    </a:solidFill>
                    <a:latin typeface="Cambria Math" panose="02040503050406030204" pitchFamily="18" charset="0"/>
                  </a:rPr>
                  <a:t>$\frac49$</a:t>
                </a:r>
                <a:r>
                  <a:rPr sz="2400" b="0">
                    <a:solidFill>
                      <a:srgbClr val="78350F"/>
                    </a:solidFill>
                    <a:latin typeface="Arial"/>
                  </a:rPr>
                  <a:t>, so </a:t>
                </a:r>
                <a:r>
                  <a:rPr lang="en-IN" sz="2400">
                    <a:solidFill>
                      <a:srgbClr val="78350F"/>
                    </a:solidFill>
                    <a:latin typeface="Cambria Math" panose="02040503050406030204" pitchFamily="18" charset="0"/>
                  </a:rPr>
                  <a:t>$m=4$</a:t>
                </a:r>
                <a:r>
                  <a:rPr sz="2400" b="0">
                    <a:solidFill>
                      <a:srgbClr val="78350F"/>
                    </a:solidFill>
                    <a:latin typeface="Arial"/>
                  </a:rPr>
                  <a:t>; then </a:t>
                </a:r>
                <a:r>
                  <a:rPr lang="en-IN" sz="2400">
                    <a:solidFill>
                      <a:srgbClr val="78350F"/>
                    </a:solidFill>
                    <a:latin typeface="Cambria Math" panose="02040503050406030204" pitchFamily="18" charset="0"/>
                  </a:rPr>
                  <a:t>$\tan^{-1}A-\tan^{-1}B$</a:t>
                </a:r>
                <a:r>
                  <a:rPr sz="2400" b="0">
                    <a:solidFill>
                      <a:srgbClr val="78350F"/>
                    </a:solidFill>
                    <a:latin typeface="Arial"/>
                  </a:rPr>
                  <a:t> reduces the equation to </a:t>
                </a:r>
                <a:r>
                  <a:rPr lang="en-IN" sz="2400">
                    <a:solidFill>
                      <a:srgbClr val="78350F"/>
                    </a:solidFill>
                    <a:latin typeface="Cambria Math" panose="02040503050406030204" pitchFamily="18" charset="0"/>
                  </a:rPr>
                  <a:t>$x^4=4$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winner of the previous game wins the next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loses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win game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we need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to win at least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of games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oMath>
                </a14:m>
                <a:r>
                  <a:rPr sz="2400" b="0">
                    <a:solidFill>
                      <a:srgbClr val="111827"/>
                    </a:solidFill>
                    <a:latin typeface="Arial"/>
                  </a:rPr>
                  <a:t>: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e>
                        </m:d>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81</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𝐿</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81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𝑊</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81</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81</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81</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winner of the previous game wins the next with probability </a:t>
                </a:r>
                <a:r>
                  <a:rPr lang="en-IN" sz="2400">
                    <a:solidFill>
                      <a:srgbClr val="111827"/>
                    </a:solidFill>
                    <a:latin typeface="Cambria Math" panose="02040503050406030204" pitchFamily="18" charset="0"/>
                  </a:rPr>
                  <a:t>$\frac23$</a:t>
                </a:r>
                <a:r>
                  <a:rPr sz="2400" b="0">
                    <a:solidFill>
                      <a:srgbClr val="111827"/>
                    </a:solidFill>
                    <a:latin typeface="Arial"/>
                  </a:rPr>
                  <a:t> and loses with </a:t>
                </a:r>
                <a:r>
                  <a:rPr lang="en-IN" sz="2400">
                    <a:solidFill>
                      <a:srgbClr val="111827"/>
                    </a:solidFill>
                    <a:latin typeface="Cambria Math" panose="02040503050406030204" pitchFamily="18" charset="0"/>
                  </a:rPr>
                  <a:t>$\frac13$</a:t>
                </a:r>
                <a:r>
                  <a:rPr sz="2400" b="0">
                    <a:solidFill>
                      <a:srgbClr val="111827"/>
                    </a:solidFill>
                    <a:latin typeface="Arial"/>
                  </a:rPr>
                  <a:t>. Let </a:t>
                </a:r>
                <a:r>
                  <a:rPr lang="en-IN" sz="2400">
                    <a:solidFill>
                      <a:srgbClr val="111827"/>
                    </a:solidFill>
                    <a:latin typeface="Cambria Math" panose="02040503050406030204" pitchFamily="18" charset="0"/>
                  </a:rPr>
                  <a:t>$A$</a:t>
                </a:r>
                <a:r>
                  <a:rPr sz="2400" b="0">
                    <a:solidFill>
                      <a:srgbClr val="111827"/>
                    </a:solidFill>
                    <a:latin typeface="Arial"/>
                  </a:rPr>
                  <a:t> win game </a:t>
                </a:r>
                <a:r>
                  <a:rPr lang="en-IN" sz="2400">
                    <a:solidFill>
                      <a:srgbClr val="111827"/>
                    </a:solidFill>
                    <a:latin typeface="Cambria Math" panose="02040503050406030204" pitchFamily="18" charset="0"/>
                  </a:rPr>
                  <a:t>$1$</a:t>
                </a:r>
                <a:r>
                  <a:rPr sz="2400" b="0">
                    <a:solidFill>
                      <a:srgbClr val="111827"/>
                    </a:solidFill>
                    <a:latin typeface="Arial"/>
                  </a:rPr>
                  <a:t>; we need </a:t>
                </a:r>
                <a:r>
                  <a:rPr lang="en-IN" sz="2400">
                    <a:solidFill>
                      <a:srgbClr val="111827"/>
                    </a:solidFill>
                    <a:latin typeface="Cambria Math" panose="02040503050406030204" pitchFamily="18" charset="0"/>
                  </a:rPr>
                  <a:t>$A$</a:t>
                </a:r>
                <a:r>
                  <a:rPr sz="2400" b="0">
                    <a:solidFill>
                      <a:srgbClr val="111827"/>
                    </a:solidFill>
                    <a:latin typeface="Arial"/>
                  </a:rPr>
                  <a:t> to win at least </a:t>
                </a:r>
                <a:r>
                  <a:rPr lang="en-IN" sz="2400">
                    <a:solidFill>
                      <a:srgbClr val="111827"/>
                    </a:solidFill>
                    <a:latin typeface="Cambria Math" panose="02040503050406030204" pitchFamily="18" charset="0"/>
                  </a:rPr>
                  <a:t>$3$</a:t>
                </a:r>
                <a:r>
                  <a:rPr sz="2400" b="0">
                    <a:solidFill>
                      <a:srgbClr val="111827"/>
                    </a:solidFill>
                    <a:latin typeface="Arial"/>
                  </a:rPr>
                  <a:t> of games </a:t>
                </a:r>
                <a:r>
                  <a:rPr lang="en-IN" sz="2400">
                    <a:solidFill>
                      <a:srgbClr val="111827"/>
                    </a:solidFill>
                    <a:latin typeface="Cambria Math" panose="02040503050406030204" pitchFamily="18" charset="0"/>
                  </a:rPr>
                  <a:t>$2$</a:t>
                </a:r>
                <a:r>
                  <a:rPr sz="2400" b="0">
                    <a:solidFill>
                      <a:srgbClr val="111827"/>
                    </a:solidFill>
                    <a:latin typeface="Arial"/>
                  </a:rPr>
                  <a:t> to </a:t>
                </a:r>
                <a:r>
                  <a:rPr lang="en-IN" sz="2400">
                    <a:solidFill>
                      <a:srgbClr val="111827"/>
                    </a:solidFill>
                    <a:latin typeface="Cambria Math" panose="02040503050406030204" pitchFamily="18" charset="0"/>
                  </a:rPr>
                  <a:t>$5$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$WWWW$</a:t>
                </a:r>
                <a:r>
                  <a:rPr sz="2400" b="0">
                    <a:solidFill>
                      <a:srgbClr val="111827"/>
                    </a:solidFill>
                    <a:latin typeface="Arial"/>
                  </a:rPr>
                  <a:t>: </a:t>
                </a:r>
                <a:r>
                  <a:rPr lang="en-IN" sz="2400">
                    <a:solidFill>
                      <a:srgbClr val="111827"/>
                    </a:solidFill>
                    <a:latin typeface="Cambria Math" panose="02040503050406030204" pitchFamily="18" charset="0"/>
                  </a:rPr>
                  <a:t>$\left(\frac23\right)^4=\frac{16}{81}$</a:t>
                </a:r>
                <a:r>
                  <a:rPr sz="2400" b="0">
                    <a:solidFill>
                      <a:srgbClr val="111827"/>
                    </a:solidFill>
                    <a:latin typeface="Arial"/>
                  </a:rPr>
                  <a:t>.  </a:t>
                </a:r>
                <a:r>
                  <a:rPr lang="en-IN" sz="2400">
                    <a:solidFill>
                      <a:srgbClr val="111827"/>
                    </a:solidFill>
                    <a:latin typeface="Cambria Math" panose="02040503050406030204" pitchFamily="18" charset="0"/>
                  </a:rPr>
                  <a:t>$WWWL$</a:t>
                </a:r>
                <a:r>
                  <a:rPr sz="2400" b="0">
                    <a:solidFill>
                      <a:srgbClr val="111827"/>
                    </a:solidFill>
                    <a:latin typeface="Arial"/>
                  </a:rPr>
                  <a:t>: </a:t>
                </a:r>
                <a:r>
                  <a:rPr lang="en-IN" sz="2400">
                    <a:solidFill>
                      <a:srgbClr val="111827"/>
                    </a:solidFill>
                    <a:latin typeface="Cambria Math" panose="02040503050406030204" pitchFamily="18" charset="0"/>
                  </a:rPr>
                  <a:t>$\frac23\cdot\frac23\cdot\frac23\cdot\frac13=\frac{8}{81}$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$WWLW$</a:t>
                </a:r>
                <a:r>
                  <a:rPr sz="2400" b="0">
                    <a:solidFill>
                      <a:srgbClr val="111827"/>
                    </a:solidFill>
                    <a:latin typeface="Arial"/>
                  </a:rPr>
                  <a:t>: </a:t>
                </a:r>
                <a:r>
                  <a:rPr lang="en-IN" sz="2400">
                    <a:solidFill>
                      <a:srgbClr val="111827"/>
                    </a:solidFill>
                    <a:latin typeface="Cambria Math" panose="02040503050406030204" pitchFamily="18" charset="0"/>
                  </a:rPr>
                  <a:t>$\frac23\cdot\frac23\cdot\frac13\cdot\frac13=\frac{4}{81}$</a:t>
                </a:r>
                <a:r>
                  <a:rPr sz="2400" b="0">
                    <a:solidFill>
                      <a:srgbClr val="111827"/>
                    </a:solidFill>
                    <a:latin typeface="Arial"/>
                  </a:rPr>
                  <a:t>.  </a:t>
                </a:r>
                <a:r>
                  <a:rPr lang="en-IN" sz="2400">
                    <a:solidFill>
                      <a:srgbClr val="111827"/>
                    </a:solidFill>
                    <a:latin typeface="Cambria Math" panose="02040503050406030204" pitchFamily="18" charset="0"/>
                  </a:rPr>
                  <a:t>$WLWW$</a:t>
                </a:r>
                <a:r>
                  <a:rPr sz="2400" b="0">
                    <a:solidFill>
                      <a:srgbClr val="111827"/>
                    </a:solidFill>
                    <a:latin typeface="Arial"/>
                  </a:rPr>
                  <a:t>: </a:t>
                </a:r>
                <a:r>
                  <a:rPr lang="en-IN" sz="2400">
                    <a:solidFill>
                      <a:srgbClr val="111827"/>
                    </a:solidFill>
                    <a:latin typeface="Cambria Math" panose="02040503050406030204" pitchFamily="18" charset="0"/>
                  </a:rPr>
                  <a:t>$\frac23\cdot\frac13\cdot\frac13\cdot\frac23=\frac{4}{81}$</a:t>
                </a:r>
                <a:r>
                  <a:rPr sz="2400" b="0">
                    <a:solidFill>
                      <a:srgbClr val="111827"/>
                    </a:solidFill>
                    <a:latin typeface="Arial"/>
                  </a:rPr>
                  <a:t>.  </a:t>
                </a:r>
                <a:r>
                  <a:rPr lang="en-IN" sz="2400">
                    <a:solidFill>
                      <a:srgbClr val="111827"/>
                    </a:solidFill>
                    <a:latin typeface="Cambria Math" panose="02040503050406030204" pitchFamily="18" charset="0"/>
                  </a:rPr>
                  <a:t>$LWWW$</a:t>
                </a:r>
                <a:r>
                  <a:rPr sz="2400" b="0">
                    <a:solidFill>
                      <a:srgbClr val="111827"/>
                    </a:solidFill>
                    <a:latin typeface="Arial"/>
                  </a:rPr>
                  <a:t>: </a:t>
                </a:r>
                <a:r>
                  <a:rPr lang="en-IN" sz="2400">
                    <a:solidFill>
                      <a:srgbClr val="111827"/>
                    </a:solidFill>
                    <a:latin typeface="Cambria Math" panose="02040503050406030204" pitchFamily="18" charset="0"/>
                  </a:rPr>
                  <a:t>$\frac13\cdot\frac13\cdot\frac23\cdot\frac23=\frac{4}{81}$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36</m:t>
                        </m:r>
                      </m:num>
                      <m:den>
                        <m:r>
                          <a:rPr lang="en-IN" sz="2400" i="1">
                            <a:solidFill>
                              <a:srgbClr val="111827"/>
                            </a:solidFill>
                            <a:latin typeface="Cambria Math" panose="02040503050406030204" pitchFamily="18" charset="0"/>
                          </a:rPr>
                          <m:t>81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(this is the printed step: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𝑥</m:t>
                            </m:r>
                          </m:den>
                        </m:f>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𝑥</m:t>
                                </m:r>
                              </m:den>
                            </m:f>
                          </m:e>
                        </m: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e>
                        </m:d>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$=\frac{16+8+4+4+4}{81}=\frac{36}{81}=\frac49$</a:t>
                </a:r>
                <a:r>
                  <a:rPr sz="2400" b="0">
                    <a:solidFill>
                      <a:srgbClr val="111827"/>
                    </a:solidFill>
                    <a:latin typeface="Arial"/>
                  </a:rPr>
                  <a:t>, so </a:t>
                </a:r>
                <a:r>
                  <a:rPr lang="en-IN" sz="2400">
                    <a:solidFill>
                      <a:srgbClr val="111827"/>
                    </a:solidFill>
                    <a:latin typeface="Cambria Math" panose="02040503050406030204" pitchFamily="18" charset="0"/>
                  </a:rPr>
                  <a:t>$m=4$</a:t>
                </a:r>
                <a:r>
                  <a:rPr sz="2400" b="0">
                    <a:solidFill>
                      <a:srgbClr val="111827"/>
                    </a:solidFill>
                    <a:latin typeface="Arial"/>
                  </a:rPr>
                  <a:t>, </a:t>
                </a:r>
                <a:r>
                  <a:rPr lang="en-IN" sz="2400">
                    <a:solidFill>
                      <a:srgbClr val="111827"/>
                    </a:solidFill>
                    <a:latin typeface="Cambria Math" panose="02040503050406030204" pitchFamily="18" charset="0"/>
                  </a:rPr>
                  <a:t>$n=9$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$\tan^{-1}A-\tan^{-1}B=\tan^{-1}\frac{A-B}{1+AB}$</a:t>
                </a:r>
                <a:r>
                  <a:rPr sz="2400" b="0">
                    <a:solidFill>
                      <a:srgbClr val="111827"/>
                    </a:solidFill>
                    <a:latin typeface="Arial"/>
                  </a:rPr>
                  <a:t> with </a:t>
                </a:r>
                <a:r>
                  <a:rPr lang="en-IN" sz="2400">
                    <a:solidFill>
                      <a:srgbClr val="111827"/>
                    </a:solidFill>
                    <a:latin typeface="Cambria Math" panose="02040503050406030204" pitchFamily="18" charset="0"/>
                  </a:rPr>
                  <a:t>$A=x+\frac2x$</a:t>
                </a:r>
                <a:r>
                  <a:rPr sz="2400" b="0">
                    <a:solidFill>
                      <a:srgbClr val="111827"/>
                    </a:solidFill>
                    <a:latin typeface="Arial"/>
                  </a:rPr>
                  <a:t>, </a:t>
                </a:r>
                <a:r>
                  <a:rPr lang="en-IN" sz="2400">
                    <a:solidFill>
                      <a:srgbClr val="111827"/>
                    </a:solidFill>
                    <a:latin typeface="Cambria Math" panose="02040503050406030204" pitchFamily="18" charset="0"/>
                  </a:rPr>
                  <a:t>$B=x-\frac2x$</a:t>
                </a:r>
                <a:r>
                  <a:rPr sz="2400" b="0">
                    <a:solidFill>
                      <a:srgbClr val="111827"/>
                    </a:solidFill>
                    <a:latin typeface="Arial"/>
                  </a:rPr>
                  <a:t>: </a:t>
                </a:r>
                <a:r>
                  <a:rPr lang="en-IN" sz="2400">
                    <a:solidFill>
                      <a:srgbClr val="111827"/>
                    </a:solidFill>
                    <a:latin typeface="Cambria Math" panose="02040503050406030204" pitchFamily="18" charset="0"/>
                  </a:rPr>
                  <a:t>$A-B=\frac4x$</a:t>
                </a:r>
                <a:r>
                  <a:rPr sz="2400" b="0">
                    <a:solidFill>
                      <a:srgbClr val="111827"/>
                    </a:solidFill>
                    <a:latin typeface="Arial"/>
                  </a:rPr>
                  <a:t> and </a:t>
                </a:r>
                <a:r>
                  <a:rPr lang="en-IN" sz="2400">
                    <a:solidFill>
                      <a:srgbClr val="111827"/>
                    </a:solidFill>
                    <a:latin typeface="Cambria Math" panose="02040503050406030204" pitchFamily="18" charset="0"/>
                  </a:rPr>
                  <a:t>$1+AB=1+x^2-\frac{4}{x^2}$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$\frac{4/x}{1+x^2-4/x^2}=\frac4x$</a:t>
                </a:r>
                <a:r>
                  <a:rPr sz="2400" b="0">
                    <a:solidFill>
                      <a:srgbClr val="111827"/>
                    </a:solidFill>
                    <a:latin typeface="Arial"/>
                  </a:rPr>
                  <a:t> (this is the printed step: </a:t>
                </a:r>
                <a:r>
                  <a:rPr lang="en-IN" sz="2400">
                    <a:solidFill>
                      <a:srgbClr val="111827"/>
                    </a:solidFill>
                    <a:latin typeface="Cambria Math" panose="02040503050406030204" pitchFamily="18" charset="0"/>
                  </a:rPr>
                  <a:t>$\frac{x+\frac2x-\left(x-\frac2x\right)}{1+\left(x^2-\frac4{x^2}\right)}=\frac4x$</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giving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so the formula is valid.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250</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$1+x^2-\frac{4}{x^2}=1$</a:t>
                </a:r>
                <a:r>
                  <a:rPr sz="2400" b="0">
                    <a:solidFill>
                      <a:srgbClr val="111827"/>
                    </a:solidFill>
                    <a:latin typeface="Arial"/>
                  </a:rPr>
                  <a:t>, so </a:t>
                </a:r>
                <a:r>
                  <a:rPr lang="en-IN" sz="2400">
                    <a:solidFill>
                      <a:srgbClr val="111827"/>
                    </a:solidFill>
                    <a:latin typeface="Cambria Math" panose="02040503050406030204" pitchFamily="18" charset="0"/>
                  </a:rPr>
                  <a:t>$x^2-\frac{4}{x^2}=0$</a:t>
                </a:r>
                <a:r>
                  <a:rPr sz="2400" b="0">
                    <a:solidFill>
                      <a:srgbClr val="111827"/>
                    </a:solidFill>
                    <a:latin typeface="Arial"/>
                  </a:rPr>
                  <a:t> and </a:t>
                </a:r>
                <a:r>
                  <a:rPr lang="en-IN" sz="2400">
                    <a:solidFill>
                      <a:srgbClr val="111827"/>
                    </a:solidFill>
                    <a:latin typeface="Cambria Math" panose="02040503050406030204" pitchFamily="18" charset="0"/>
                  </a:rPr>
                  <a:t>$x^4=4$</a:t>
                </a:r>
                <a:r>
                  <a:rPr sz="2400" b="0">
                    <a:solidFill>
                      <a:srgbClr val="111827"/>
                    </a:solidFill>
                    <a:latin typeface="Arial"/>
                  </a:rPr>
                  <a:t>, giving </a:t>
                </a:r>
                <a:r>
                  <a:rPr lang="en-IN" sz="2400">
                    <a:solidFill>
                      <a:srgbClr val="111827"/>
                    </a:solidFill>
                    <a:latin typeface="Cambria Math" panose="02040503050406030204" pitchFamily="18" charset="0"/>
                  </a:rPr>
                  <a:t>$x^2=2$</a:t>
                </a:r>
                <a:r>
                  <a:rPr sz="2400" b="0">
                    <a:solidFill>
                      <a:srgbClr val="111827"/>
                    </a:solidFill>
                    <a:latin typeface="Arial"/>
                  </a:rPr>
                  <a:t>. Here </a:t>
                </a:r>
                <a:r>
                  <a:rPr lang="en-IN" sz="2400">
                    <a:solidFill>
                      <a:srgbClr val="111827"/>
                    </a:solidFill>
                    <a:latin typeface="Cambria Math" panose="02040503050406030204" pitchFamily="18" charset="0"/>
                  </a:rPr>
                  <a:t>$1+AB=1&gt;0$</a:t>
                </a:r>
                <a:r>
                  <a:rPr sz="2400" b="0">
                    <a:solidFill>
                      <a:srgbClr val="111827"/>
                    </a:solidFill>
                    <a:latin typeface="Arial"/>
                  </a:rPr>
                  <a:t>, so the formula is valid.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$250x^4+320x^2-1630=250(4)+320(2)-1630=1000+640-1630=10$</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10</a:t>
            </a:r>
            <a:endParaRPr sz="2800">
              <a:solidFill>
                <a:srgbClr val="15803D"/>
              </a:solidFill>
            </a:endParaRPr>
          </a:p>
        </p:txBody>
      </p:sp>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the winner of the previous game wins the next with probability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enumerate the five sequences </a:t>
                </a:r>
                <a14:m>
                  <m:oMath xmlns:m="http://schemas.openxmlformats.org/officeDocument/2006/math">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𝐿</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𝐿</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r>
                      <a:rPr lang="en-IN" sz="2400" i="1">
                        <a:solidFill>
                          <a:srgbClr val="111827"/>
                        </a:solidFill>
                        <a:latin typeface="Cambria Math" panose="02040503050406030204" pitchFamily="18" charset="0"/>
                      </a:rPr>
                      <m:t>𝑊</m:t>
                    </m:r>
                  </m:oMath>
                </a14:m>
                <a:r>
                  <a:rPr sz="2400" b="0">
                    <a:solidFill>
                      <a:srgbClr val="111827"/>
                    </a:solidFill>
                    <a:latin typeface="Arial"/>
                  </a:rPr>
                  <a:t> with weights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(repeat) and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(switch); here the total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tan</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den>
                    </m:f>
                  </m:oMath>
                </a14:m>
                <a:r>
                  <a:rPr sz="2400" b="0">
                    <a:solidFill>
                      <a:srgbClr val="111827"/>
                    </a:solidFill>
                    <a:latin typeface="Arial"/>
                  </a:rPr>
                  <a:t> only when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&gt;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otherwise add or subtract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and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e>
                    </m:d>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den>
                    </m:f>
                  </m:oMath>
                </a14:m>
                <a:r>
                  <a:rPr sz="2400" b="0">
                    <a:solidFill>
                      <a:srgbClr val="111827"/>
                    </a:solidFill>
                    <a:latin typeface="Arial"/>
                  </a:rPr>
                  <a:t>: a pattern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expressions.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the winner of the previous game wins the next with probability </a:t>
                </a:r>
                <a:r>
                  <a:rPr lang="en-IN" sz="2400">
                    <a:solidFill>
                      <a:srgbClr val="111827"/>
                    </a:solidFill>
                    <a:latin typeface="Cambria Math" panose="02040503050406030204" pitchFamily="18" charset="0"/>
                  </a:rPr>
                  <a:t>$p$</a:t>
                </a:r>
                <a:r>
                  <a:rPr sz="2400" b="0">
                    <a:solidFill>
                      <a:srgbClr val="111827"/>
                    </a:solidFill>
                    <a:latin typeface="Arial"/>
                  </a:rPr>
                  <a:t> (here </a:t>
                </a:r>
                <a:r>
                  <a:rPr lang="en-IN" sz="2400">
                    <a:solidFill>
                      <a:srgbClr val="111827"/>
                    </a:solidFill>
                    <a:latin typeface="Cambria Math" panose="02040503050406030204" pitchFamily="18" charset="0"/>
                  </a:rPr>
                  <a:t>$p=\frac23$</a:t>
                </a:r>
                <a:r>
                  <a:rPr sz="2400" b="0">
                    <a:solidFill>
                      <a:srgbClr val="111827"/>
                    </a:solidFill>
                    <a:latin typeface="Arial"/>
                  </a:rPr>
                  <a:t>), enumerate the five sequences </a:t>
                </a:r>
                <a:r>
                  <a:rPr lang="en-IN" sz="2400">
                    <a:solidFill>
                      <a:srgbClr val="111827"/>
                    </a:solidFill>
                    <a:latin typeface="Cambria Math" panose="02040503050406030204" pitchFamily="18" charset="0"/>
                  </a:rPr>
                  <a:t>$WWWW,WWWL,WWLW,WLWW,LWWW$</a:t>
                </a:r>
                <a:r>
                  <a:rPr sz="2400" b="0">
                    <a:solidFill>
                      <a:srgbClr val="111827"/>
                    </a:solidFill>
                    <a:latin typeface="Arial"/>
                  </a:rPr>
                  <a:t> with weights </a:t>
                </a:r>
                <a:r>
                  <a:rPr lang="en-IN" sz="2400">
                    <a:solidFill>
                      <a:srgbClr val="111827"/>
                    </a:solidFill>
                    <a:latin typeface="Cambria Math" panose="02040503050406030204" pitchFamily="18" charset="0"/>
                  </a:rPr>
                  <a:t>$p$</a:t>
                </a:r>
                <a:r>
                  <a:rPr sz="2400" b="0">
                    <a:solidFill>
                      <a:srgbClr val="111827"/>
                    </a:solidFill>
                    <a:latin typeface="Arial"/>
                  </a:rPr>
                  <a:t> (repeat) and </a:t>
                </a:r>
                <a:r>
                  <a:rPr lang="en-IN" sz="2400">
                    <a:solidFill>
                      <a:srgbClr val="111827"/>
                    </a:solidFill>
                    <a:latin typeface="Cambria Math" panose="02040503050406030204" pitchFamily="18" charset="0"/>
                  </a:rPr>
                  <a:t>$1-p$</a:t>
                </a:r>
                <a:r>
                  <a:rPr sz="2400" b="0">
                    <a:solidFill>
                      <a:srgbClr val="111827"/>
                    </a:solidFill>
                    <a:latin typeface="Arial"/>
                  </a:rPr>
                  <a:t> (switch); here the total is </a:t>
                </a:r>
                <a:r>
                  <a:rPr lang="en-IN" sz="2400">
                    <a:solidFill>
                      <a:srgbClr val="111827"/>
                    </a:solidFill>
                    <a:latin typeface="Cambria Math" panose="02040503050406030204" pitchFamily="18" charset="0"/>
                  </a:rPr>
                  <a:t>$\frac49$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$\tan^{-1}A-\tan^{-1}B=\tan^{-1}\frac{A-B}{1+AB}$</a:t>
                </a:r>
                <a:r>
                  <a:rPr sz="2400" b="0">
                    <a:solidFill>
                      <a:srgbClr val="111827"/>
                    </a:solidFill>
                    <a:latin typeface="Arial"/>
                  </a:rPr>
                  <a:t> only when </a:t>
                </a:r>
                <a:r>
                  <a:rPr lang="en-IN" sz="2400">
                    <a:solidFill>
                      <a:srgbClr val="111827"/>
                    </a:solidFill>
                    <a:latin typeface="Cambria Math" panose="02040503050406030204" pitchFamily="18" charset="0"/>
                  </a:rPr>
                  <a:t>$AB&gt;-1$</a:t>
                </a:r>
                <a:r>
                  <a:rPr sz="2400" b="0">
                    <a:solidFill>
                      <a:srgbClr val="111827"/>
                    </a:solidFill>
                    <a:latin typeface="Arial"/>
                  </a:rPr>
                  <a:t>; otherwise add or subtract </a:t>
                </a:r>
                <a:r>
                  <a:rPr lang="en-IN" sz="2400">
                    <a:solidFill>
                      <a:srgbClr val="111827"/>
                    </a:solidFill>
                    <a:latin typeface="Cambria Math" panose="02040503050406030204" pitchFamily="18" charset="0"/>
                  </a:rPr>
                  <a:t>$\pi$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$\left(x+\frac ax\right)-\left(x-\frac ax\right)=\frac{2a}{x}$</a:t>
                </a:r>
                <a:r>
                  <a:rPr sz="2400" b="0">
                    <a:solidFill>
                      <a:srgbClr val="111827"/>
                    </a:solidFill>
                    <a:latin typeface="Arial"/>
                  </a:rPr>
                  <a:t> and </a:t>
                </a:r>
                <a:r>
                  <a:rPr lang="en-IN" sz="2400">
                    <a:solidFill>
                      <a:srgbClr val="111827"/>
                    </a:solidFill>
                    <a:latin typeface="Cambria Math" panose="02040503050406030204" pitchFamily="18" charset="0"/>
                  </a:rPr>
                  <a:t>$\left(x+\frac ax\right)\left(x-\frac ax\right)=x^2-\frac{a^2}{x^2}$</a:t>
                </a:r>
                <a:r>
                  <a:rPr sz="2400" b="0">
                    <a:solidFill>
                      <a:srgbClr val="111827"/>
                    </a:solidFill>
                    <a:latin typeface="Arial"/>
                  </a:rPr>
                  <a:t>: a pattern for </a:t>
                </a:r>
                <a:r>
                  <a:rPr lang="en-IN" sz="2400">
                    <a:solidFill>
                      <a:srgbClr val="111827"/>
                    </a:solidFill>
                    <a:latin typeface="Cambria Math" panose="02040503050406030204" pitchFamily="18" charset="0"/>
                  </a:rPr>
                  <a:t>$x\pm\frac ax$</a:t>
                </a:r>
                <a:r>
                  <a:rPr sz="2400" b="0">
                    <a:solidFill>
                      <a:srgbClr val="111827"/>
                    </a:solidFill>
                    <a:latin typeface="Arial"/>
                  </a:rPr>
                  <a:t> expressions.</a:t>
                </a:r>
                <a:endParaRPr sz="2400">
                  <a:solidFill>
                    <a:srgbClr val="111827"/>
                  </a:solidFill>
                </a:endParaRPr>
              </a:p>
            </p:txBody>
          </p:sp>
        </mc:Fallback>
      </mc:AlternateContent>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the complex number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satisfy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 point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is selected at random in this region. The probability that the argument of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lies in the interval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𝐾</m:t>
                        </m:r>
                      </m:den>
                    </m:f>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233730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the complex number </a:t>
                </a:r>
                <a:r>
                  <a:rPr lang="en-IN" sz="2400">
                    <a:solidFill>
                      <a:srgbClr val="111827"/>
                    </a:solidFill>
                    <a:latin typeface="Cambria Math" panose="02040503050406030204" pitchFamily="18" charset="0"/>
                  </a:rPr>
                  <a:t>$z$</a:t>
                </a:r>
                <a:r>
                  <a:rPr sz="2400" b="0">
                    <a:solidFill>
                      <a:srgbClr val="111827"/>
                    </a:solidFill>
                    <a:latin typeface="Arial"/>
                  </a:rPr>
                  <a:t> satisfy </a:t>
                </a:r>
                <a:r>
                  <a:rPr lang="en-IN" sz="2400">
                    <a:solidFill>
                      <a:srgbClr val="111827"/>
                    </a:solidFill>
                    <a:latin typeface="Cambria Math" panose="02040503050406030204" pitchFamily="18" charset="0"/>
                  </a:rPr>
                  <a:t>$2\le|z|\le4$</a:t>
                </a:r>
                <a:r>
                  <a:rPr sz="2400" b="0">
                    <a:solidFill>
                      <a:srgbClr val="111827"/>
                    </a:solidFill>
                    <a:latin typeface="Arial"/>
                  </a:rPr>
                  <a:t>. A point </a:t>
                </a:r>
                <a:r>
                  <a:rPr lang="en-IN" sz="2400">
                    <a:solidFill>
                      <a:srgbClr val="111827"/>
                    </a:solidFill>
                    <a:latin typeface="Cambria Math" panose="02040503050406030204" pitchFamily="18" charset="0"/>
                  </a:rPr>
                  <a:t>$P$</a:t>
                </a:r>
                <a:r>
                  <a:rPr sz="2400" b="0">
                    <a:solidFill>
                      <a:srgbClr val="111827"/>
                    </a:solidFill>
                    <a:latin typeface="Arial"/>
                  </a:rPr>
                  <a:t> is selected at random in this region. The probability that the argument of </a:t>
                </a:r>
                <a:r>
                  <a:rPr lang="en-IN" sz="2400">
                    <a:solidFill>
                      <a:srgbClr val="111827"/>
                    </a:solidFill>
                    <a:latin typeface="Cambria Math" panose="02040503050406030204" pitchFamily="18" charset="0"/>
                  </a:rPr>
                  <a:t>$P$</a:t>
                </a:r>
                <a:r>
                  <a:rPr sz="2400" b="0">
                    <a:solidFill>
                      <a:srgbClr val="111827"/>
                    </a:solidFill>
                    <a:latin typeface="Arial"/>
                  </a:rPr>
                  <a:t> lies in the interval </a:t>
                </a:r>
                <a:r>
                  <a:rPr lang="en-IN" sz="2400">
                    <a:solidFill>
                      <a:srgbClr val="111827"/>
                    </a:solidFill>
                    <a:latin typeface="Cambria Math" panose="02040503050406030204" pitchFamily="18" charset="0"/>
                  </a:rPr>
                  <a:t>$\left[-\frac{\pi}{4},\frac{\pi}{4}\right]$</a:t>
                </a:r>
                <a:r>
                  <a:rPr sz="2400" b="0">
                    <a:solidFill>
                      <a:srgbClr val="111827"/>
                    </a:solidFill>
                    <a:latin typeface="Arial"/>
                  </a:rPr>
                  <a:t> is </a:t>
                </a:r>
                <a:r>
                  <a:rPr lang="en-IN" sz="2400">
                    <a:solidFill>
                      <a:srgbClr val="111827"/>
                    </a:solidFill>
                    <a:latin typeface="Cambria Math" panose="02040503050406030204" pitchFamily="18" charset="0"/>
                  </a:rPr>
                  <a:t>$\frac{1}{K}$</a:t>
                </a:r>
                <a:r>
                  <a:rPr sz="2400" b="0">
                    <a:solidFill>
                      <a:srgbClr val="111827"/>
                    </a:solidFill>
                    <a:latin typeface="Arial"/>
                  </a:rPr>
                  <a:t>. Then </a:t>
                </a:r>
                <a:r>
                  <a:rPr lang="en-IN" sz="2400">
                    <a:solidFill>
                      <a:srgbClr val="111827"/>
                    </a:solidFill>
                    <a:latin typeface="Cambria Math" panose="02040503050406030204" pitchFamily="18" charset="0"/>
                  </a:rPr>
                  <a:t>$K=$</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846068"/>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Geometric probability with complex numbers (argument and modulus)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region is an annulus, symmetric under rotation, so probability depends only on the fraction of the angle </a:t>
                </a:r>
                <a14:m>
                  <m:oMath xmlns:m="http://schemas.openxmlformats.org/officeDocument/2006/math">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π</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region is an annulus, symmetric under rotation, so probability depends only on the fraction of the angle </a:t>
                </a:r>
                <a:r>
                  <a:rPr lang="en-IN" sz="2400">
                    <a:solidFill>
                      <a:srgbClr val="78350F"/>
                    </a:solidFill>
                    <a:latin typeface="Cambria Math" panose="02040503050406030204" pitchFamily="18" charset="0"/>
                  </a:rPr>
                  <a:t>$2\pi$</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is the annulus between the circles of radii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centred at the origin.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points with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form the sector between the lines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on the right of the imaginary axis, cut to the annulus.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annulus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a:t>
                </a:r>
                <a:r>
                  <a:rPr lang="en-IN" sz="2400">
                    <a:solidFill>
                      <a:srgbClr val="111827"/>
                    </a:solidFill>
                    <a:latin typeface="Cambria Math" panose="02040503050406030204" pitchFamily="18" charset="0"/>
                  </a:rPr>
                  <a:t>$2\le|z|\le4$</a:t>
                </a:r>
                <a:r>
                  <a:rPr sz="2400" b="0">
                    <a:solidFill>
                      <a:srgbClr val="111827"/>
                    </a:solidFill>
                    <a:latin typeface="Arial"/>
                  </a:rPr>
                  <a:t> is the annulus between the circles of radii </a:t>
                </a:r>
                <a:r>
                  <a:rPr lang="en-IN" sz="2400">
                    <a:solidFill>
                      <a:srgbClr val="111827"/>
                    </a:solidFill>
                    <a:latin typeface="Cambria Math" panose="02040503050406030204" pitchFamily="18" charset="0"/>
                  </a:rPr>
                  <a:t>$2$</a:t>
                </a:r>
                <a:r>
                  <a:rPr sz="2400" b="0">
                    <a:solidFill>
                      <a:srgbClr val="111827"/>
                    </a:solidFill>
                    <a:latin typeface="Arial"/>
                  </a:rPr>
                  <a:t> and </a:t>
                </a:r>
                <a:r>
                  <a:rPr lang="en-IN" sz="2400">
                    <a:solidFill>
                      <a:srgbClr val="111827"/>
                    </a:solidFill>
                    <a:latin typeface="Cambria Math" panose="02040503050406030204" pitchFamily="18" charset="0"/>
                  </a:rPr>
                  <a:t>$4$</a:t>
                </a:r>
                <a:r>
                  <a:rPr sz="2400" b="0">
                    <a:solidFill>
                      <a:srgbClr val="111827"/>
                    </a:solidFill>
                    <a:latin typeface="Arial"/>
                  </a:rPr>
                  <a:t> centred at the origin.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points with </a:t>
                </a:r>
                <a:r>
                  <a:rPr lang="en-IN" sz="2400">
                    <a:solidFill>
                      <a:srgbClr val="111827"/>
                    </a:solidFill>
                    <a:latin typeface="Cambria Math" panose="02040503050406030204" pitchFamily="18" charset="0"/>
                  </a:rPr>
                  <a:t>$\arg z\in\left[-\frac{\pi}{4},\frac{\pi}{4}\right]$</a:t>
                </a:r>
                <a:r>
                  <a:rPr sz="2400" b="0">
                    <a:solidFill>
                      <a:srgbClr val="111827"/>
                    </a:solidFill>
                    <a:latin typeface="Arial"/>
                  </a:rPr>
                  <a:t> form the sector between the lines </a:t>
                </a:r>
                <a:r>
                  <a:rPr lang="en-IN" sz="2400">
                    <a:solidFill>
                      <a:srgbClr val="111827"/>
                    </a:solidFill>
                    <a:latin typeface="Cambria Math" panose="02040503050406030204" pitchFamily="18" charset="0"/>
                  </a:rPr>
                  <a:t>$y=\pm x$</a:t>
                </a:r>
                <a:r>
                  <a:rPr sz="2400" b="0">
                    <a:solidFill>
                      <a:srgbClr val="111827"/>
                    </a:solidFill>
                    <a:latin typeface="Arial"/>
                  </a:rPr>
                  <a:t> on the right of the imaginary axis, cut to the annulus.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Area of the annulus </a:t>
                </a:r>
                <a:r>
                  <a:rPr lang="en-IN" sz="2400">
                    <a:solidFill>
                      <a:srgbClr val="111827"/>
                    </a:solidFill>
                    <a:latin typeface="Cambria Math" panose="02040503050406030204" pitchFamily="18" charset="0"/>
                  </a:rPr>
                  <a:t>$=\pi(4^2-2^2)=12\pi$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the shaded part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oMath>
                </a14:m>
                <a:r>
                  <a:rPr sz="2400" b="0">
                    <a:solidFill>
                      <a:srgbClr val="111827"/>
                    </a:solidFill>
                    <a:latin typeface="Arial"/>
                  </a:rPr>
                  <a:t>, since the angular width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out of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π</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Area of the shaded part </a:t>
                </a:r>
                <a:r>
                  <a:rPr lang="en-IN" sz="2400">
                    <a:solidFill>
                      <a:srgbClr val="111827"/>
                    </a:solidFill>
                    <a:latin typeface="Cambria Math" panose="02040503050406030204" pitchFamily="18" charset="0"/>
                  </a:rPr>
                  <a:t>$=\frac{\pi/2}{2\pi}\times 12\pi=3\pi$</a:t>
                </a:r>
                <a:r>
                  <a:rPr sz="2400" b="0">
                    <a:solidFill>
                      <a:srgbClr val="111827"/>
                    </a:solidFill>
                    <a:latin typeface="Arial"/>
                  </a:rPr>
                  <a:t>, since the angular width is </a:t>
                </a:r>
                <a:r>
                  <a:rPr lang="en-IN" sz="2400">
                    <a:solidFill>
                      <a:srgbClr val="111827"/>
                    </a:solidFill>
                    <a:latin typeface="Cambria Math" panose="02040503050406030204" pitchFamily="18" charset="0"/>
                  </a:rPr>
                  <a:t>$\frac{\pi}{2}$</a:t>
                </a:r>
                <a:r>
                  <a:rPr sz="2400" b="0">
                    <a:solidFill>
                      <a:srgbClr val="111827"/>
                    </a:solidFill>
                    <a:latin typeface="Arial"/>
                  </a:rPr>
                  <a:t> out of </a:t>
                </a:r>
                <a:r>
                  <a:rPr lang="en-IN" sz="2400">
                    <a:solidFill>
                      <a:srgbClr val="111827"/>
                    </a:solidFill>
                    <a:latin typeface="Cambria Math" panose="02040503050406030204" pitchFamily="18" charset="0"/>
                  </a:rPr>
                  <a:t>$2\pi$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$=\frac{3\pi}{12\pi}=\frac{1}{4}$</a:t>
                </a:r>
                <a:r>
                  <a:rPr sz="2400" b="0">
                    <a:solidFill>
                      <a:srgbClr val="111827"/>
                    </a:solidFill>
                    <a:latin typeface="Arial"/>
                  </a:rPr>
                  <a:t>, so </a:t>
                </a:r>
                <a:r>
                  <a:rPr lang="en-IN" sz="2400">
                    <a:solidFill>
                      <a:srgbClr val="111827"/>
                    </a:solidFill>
                    <a:latin typeface="Cambria Math" panose="02040503050406030204" pitchFamily="18" charset="0"/>
                  </a:rPr>
                  <a:t>$K=4$</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annulus is rotation invariant, so the four quarter-turn sectors are equally likely; no area calculation is needed.</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is symmetric about the origin: rotating it by any angle maps it onto itself and preserves area.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chance that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lies in a sector of the region depends only on the angular width of the sector.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Rotating the sector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e>
                    </m:d>
                  </m:oMath>
                </a14:m>
                <a:r>
                  <a:rPr sz="2400" b="0">
                    <a:solidFill>
                      <a:srgbClr val="111827"/>
                    </a:solidFill>
                    <a:latin typeface="Arial"/>
                  </a:rPr>
                  <a:t> by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π</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gives three congruent sectors.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region </a:t>
                </a:r>
                <a:r>
                  <a:rPr lang="en-IN" sz="2400">
                    <a:solidFill>
                      <a:srgbClr val="111827"/>
                    </a:solidFill>
                    <a:latin typeface="Cambria Math" panose="02040503050406030204" pitchFamily="18" charset="0"/>
                  </a:rPr>
                  <a:t>$2\le|z|\le4$</a:t>
                </a:r>
                <a:r>
                  <a:rPr sz="2400" b="0">
                    <a:solidFill>
                      <a:srgbClr val="111827"/>
                    </a:solidFill>
                    <a:latin typeface="Arial"/>
                  </a:rPr>
                  <a:t> is symmetric about the origin: rotating it by any angle maps it onto itself and preserves area.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chance that </a:t>
                </a:r>
                <a:r>
                  <a:rPr lang="en-IN" sz="2400">
                    <a:solidFill>
                      <a:srgbClr val="111827"/>
                    </a:solidFill>
                    <a:latin typeface="Cambria Math" panose="02040503050406030204" pitchFamily="18" charset="0"/>
                  </a:rPr>
                  <a:t>$P$</a:t>
                </a:r>
                <a:r>
                  <a:rPr sz="2400" b="0">
                    <a:solidFill>
                      <a:srgbClr val="111827"/>
                    </a:solidFill>
                    <a:latin typeface="Arial"/>
                  </a:rPr>
                  <a:t> lies in a sector of the region depends only on the angular width of the sector.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Rotating the sector </a:t>
                </a:r>
                <a:r>
                  <a:rPr lang="en-IN" sz="2400">
                    <a:solidFill>
                      <a:srgbClr val="111827"/>
                    </a:solidFill>
                    <a:latin typeface="Cambria Math" panose="02040503050406030204" pitchFamily="18" charset="0"/>
                  </a:rPr>
                  <a:t>$\arg z\in\left[-\frac{\pi}{4},\frac{\pi}{4}\right]$</a:t>
                </a:r>
                <a:r>
                  <a:rPr sz="2400" b="0">
                    <a:solidFill>
                      <a:srgbClr val="111827"/>
                    </a:solidFill>
                    <a:latin typeface="Arial"/>
                  </a:rPr>
                  <a:t> by </a:t>
                </a:r>
                <a:r>
                  <a:rPr lang="en-IN" sz="2400">
                    <a:solidFill>
                      <a:srgbClr val="111827"/>
                    </a:solidFill>
                    <a:latin typeface="Cambria Math" panose="02040503050406030204" pitchFamily="18" charset="0"/>
                  </a:rPr>
                  <a:t>$\frac{\pi}{2}$</a:t>
                </a:r>
                <a:r>
                  <a:rPr sz="2400" b="0">
                    <a:solidFill>
                      <a:srgbClr val="111827"/>
                    </a:solidFill>
                    <a:latin typeface="Arial"/>
                  </a:rPr>
                  <a:t>, </a:t>
                </a:r>
                <a:r>
                  <a:rPr lang="en-IN" sz="2400">
                    <a:solidFill>
                      <a:srgbClr val="111827"/>
                    </a:solidFill>
                    <a:latin typeface="Cambria Math" panose="02040503050406030204" pitchFamily="18" charset="0"/>
                  </a:rPr>
                  <a:t>$\pi$</a:t>
                </a:r>
                <a:r>
                  <a:rPr sz="2400" b="0">
                    <a:solidFill>
                      <a:srgbClr val="111827"/>
                    </a:solidFill>
                    <a:latin typeface="Arial"/>
                  </a:rPr>
                  <a:t>, </a:t>
                </a:r>
                <a:r>
                  <a:rPr lang="en-IN" sz="2400">
                    <a:solidFill>
                      <a:srgbClr val="111827"/>
                    </a:solidFill>
                    <a:latin typeface="Cambria Math" panose="02040503050406030204" pitchFamily="18" charset="0"/>
                  </a:rPr>
                  <a:t>$\frac{3\pi}{2}$</a:t>
                </a:r>
                <a:r>
                  <a:rPr sz="2400" b="0">
                    <a:solidFill>
                      <a:srgbClr val="111827"/>
                    </a:solidFill>
                    <a:latin typeface="Arial"/>
                  </a:rPr>
                  <a:t> gives three congruent sectors.</a:t>
                </a:r>
                <a:endParaRPr sz="2400">
                  <a:solidFill>
                    <a:srgbClr val="111827"/>
                  </a:solidFill>
                </a:endParaRPr>
              </a:p>
            </p:txBody>
          </p:sp>
        </mc:Fallback>
      </mc:AlternateContent>
    </p:spTree>
  </p:cSld>
  <p:clrMapOvr>
    <a:masterClrMapping/>
  </p:clrMapOvr>
</p:sld>
</file>

<file path=ppt/slides/slide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four sectors together cover the whole annulus and overlap only along the lines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(zero area).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equal probabilities add to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so each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𝐾</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four sectors together cover the whole annulus and overlap only along the lines </a:t>
                </a:r>
                <a:r>
                  <a:rPr lang="en-IN" sz="2400">
                    <a:solidFill>
                      <a:srgbClr val="111827"/>
                    </a:solidFill>
                    <a:latin typeface="Cambria Math" panose="02040503050406030204" pitchFamily="18" charset="0"/>
                  </a:rPr>
                  <a:t>$y=\pm x$</a:t>
                </a:r>
                <a:r>
                  <a:rPr sz="2400" b="0">
                    <a:solidFill>
                      <a:srgbClr val="111827"/>
                    </a:solidFill>
                    <a:latin typeface="Arial"/>
                  </a:rPr>
                  <a:t> (zero area).</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four equal probabilities add to </a:t>
                </a:r>
                <a:r>
                  <a:rPr lang="en-IN" sz="2400">
                    <a:solidFill>
                      <a:srgbClr val="111827"/>
                    </a:solidFill>
                    <a:latin typeface="Cambria Math" panose="02040503050406030204" pitchFamily="18" charset="0"/>
                  </a:rPr>
                  <a:t>$1$</a:t>
                </a:r>
                <a:r>
                  <a:rPr sz="2400" b="0">
                    <a:solidFill>
                      <a:srgbClr val="111827"/>
                    </a:solidFill>
                    <a:latin typeface="Arial"/>
                  </a:rPr>
                  <a:t>, so each is </a:t>
                </a:r>
                <a:r>
                  <a:rPr lang="en-IN" sz="2400">
                    <a:solidFill>
                      <a:srgbClr val="111827"/>
                    </a:solidFill>
                    <a:latin typeface="Cambria Math" panose="02040503050406030204" pitchFamily="18" charset="0"/>
                  </a:rPr>
                  <a:t>$\frac14$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$\frac1K=\frac14$</a:t>
                </a:r>
                <a:r>
                  <a:rPr sz="2400" b="0">
                    <a:solidFill>
                      <a:srgbClr val="111827"/>
                    </a:solidFill>
                    <a:latin typeface="Arial"/>
                  </a:rPr>
                  <a:t> and </a:t>
                </a:r>
                <a:r>
                  <a:rPr lang="en-IN" sz="2400">
                    <a:solidFill>
                      <a:srgbClr val="111827"/>
                    </a:solidFill>
                    <a:latin typeface="Cambria Math" panose="02040503050406030204" pitchFamily="18" charset="0"/>
                  </a:rPr>
                  <a:t>$K=4$</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79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region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 probability of </a:t>
                </a:r>
                <a14:m>
                  <m:oMath xmlns:m="http://schemas.openxmlformats.org/officeDocument/2006/math">
                    <m:r>
                      <m:rPr>
                        <m:sty m:val="p"/>
                      </m:rPr>
                      <a:rPr lang="en-IN" sz="2400">
                        <a:solidFill>
                          <a:srgbClr val="111827"/>
                        </a:solidFill>
                        <a:latin typeface="Cambria Math" panose="02040503050406030204" pitchFamily="18" charset="0"/>
                      </a:rPr>
                      <m:t>arg</m:t>
                    </m:r>
                    <m:r>
                      <a:rPr lang="en-IN" sz="2400" i="1">
                        <a:solidFill>
                          <a:srgbClr val="111827"/>
                        </a:solidFill>
                        <a:latin typeface="Cambria Math" panose="02040503050406030204" pitchFamily="18" charset="0"/>
                      </a:rPr>
                      <m:t>𝑧</m:t>
                    </m:r>
                  </m:oMath>
                </a14:m>
                <a:r>
                  <a:rPr sz="2400" b="0">
                    <a:solidFill>
                      <a:srgbClr val="111827"/>
                    </a:solidFill>
                    <a:latin typeface="Arial"/>
                  </a:rPr>
                  <a:t> lying in an arc of width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den>
                    </m:f>
                  </m:oMath>
                </a14:m>
                <a:r>
                  <a:rPr sz="2400" b="0">
                    <a:solidFill>
                      <a:srgbClr val="111827"/>
                    </a:solidFill>
                    <a:latin typeface="Arial"/>
                  </a:rPr>
                  <a:t>, independent of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(rotational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Annulus area is </a:t>
                </a:r>
                <a14:m>
                  <m:oMath xmlns:m="http://schemas.openxmlformats.org/officeDocument/2006/math">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sector of angle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of it has area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α</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π</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(checked).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the region </a:t>
                </a:r>
                <a:r>
                  <a:rPr lang="en-IN" sz="2400">
                    <a:solidFill>
                      <a:srgbClr val="111827"/>
                    </a:solidFill>
                    <a:latin typeface="Cambria Math" panose="02040503050406030204" pitchFamily="18" charset="0"/>
                  </a:rPr>
                  <a:t>$r_1\le|z|\le r_2$</a:t>
                </a:r>
                <a:r>
                  <a:rPr sz="2400" b="0">
                    <a:solidFill>
                      <a:srgbClr val="111827"/>
                    </a:solidFill>
                    <a:latin typeface="Arial"/>
                  </a:rPr>
                  <a:t> the probability of </a:t>
                </a:r>
                <a:r>
                  <a:rPr lang="en-IN" sz="2400">
                    <a:solidFill>
                      <a:srgbClr val="111827"/>
                    </a:solidFill>
                    <a:latin typeface="Cambria Math" panose="02040503050406030204" pitchFamily="18" charset="0"/>
                  </a:rPr>
                  <a:t>$\arg z$</a:t>
                </a:r>
                <a:r>
                  <a:rPr sz="2400" b="0">
                    <a:solidFill>
                      <a:srgbClr val="111827"/>
                    </a:solidFill>
                    <a:latin typeface="Arial"/>
                  </a:rPr>
                  <a:t> lying in an arc of width </a:t>
                </a:r>
                <a:r>
                  <a:rPr lang="en-IN" sz="2400">
                    <a:solidFill>
                      <a:srgbClr val="111827"/>
                    </a:solidFill>
                    <a:latin typeface="Cambria Math" panose="02040503050406030204" pitchFamily="18" charset="0"/>
                  </a:rPr>
                  <a:t>$\alpha$</a:t>
                </a:r>
                <a:r>
                  <a:rPr sz="2400" b="0">
                    <a:solidFill>
                      <a:srgbClr val="111827"/>
                    </a:solidFill>
                    <a:latin typeface="Arial"/>
                  </a:rPr>
                  <a:t> is </a:t>
                </a:r>
                <a:r>
                  <a:rPr lang="en-IN" sz="2400">
                    <a:solidFill>
                      <a:srgbClr val="111827"/>
                    </a:solidFill>
                    <a:latin typeface="Cambria Math" panose="02040503050406030204" pitchFamily="18" charset="0"/>
                  </a:rPr>
                  <a:t>$\frac{\alpha}{2\pi}$</a:t>
                </a:r>
                <a:r>
                  <a:rPr sz="2400" b="0">
                    <a:solidFill>
                      <a:srgbClr val="111827"/>
                    </a:solidFill>
                    <a:latin typeface="Arial"/>
                  </a:rPr>
                  <a:t>, independent of </a:t>
                </a:r>
                <a:r>
                  <a:rPr lang="en-IN" sz="2400">
                    <a:solidFill>
                      <a:srgbClr val="111827"/>
                    </a:solidFill>
                    <a:latin typeface="Cambria Math" panose="02040503050406030204" pitchFamily="18" charset="0"/>
                  </a:rPr>
                  <a:t>$r_1,r_2$</a:t>
                </a:r>
                <a:r>
                  <a:rPr sz="2400" b="0">
                    <a:solidFill>
                      <a:srgbClr val="111827"/>
                    </a:solidFill>
                    <a:latin typeface="Arial"/>
                  </a:rPr>
                  <a:t> (rotational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Annulus area is </a:t>
                </a:r>
                <a:r>
                  <a:rPr lang="en-IN" sz="2400">
                    <a:solidFill>
                      <a:srgbClr val="111827"/>
                    </a:solidFill>
                    <a:latin typeface="Cambria Math" panose="02040503050406030204" pitchFamily="18" charset="0"/>
                  </a:rPr>
                  <a:t>$\pi(r_2^2-r_1^2)$</a:t>
                </a:r>
                <a:r>
                  <a:rPr sz="2400" b="0">
                    <a:solidFill>
                      <a:srgbClr val="111827"/>
                    </a:solidFill>
                    <a:latin typeface="Arial"/>
                  </a:rPr>
                  <a:t>; sector of angle </a:t>
                </a:r>
                <a:r>
                  <a:rPr lang="en-IN" sz="2400">
                    <a:solidFill>
                      <a:srgbClr val="111827"/>
                    </a:solidFill>
                    <a:latin typeface="Cambria Math" panose="02040503050406030204" pitchFamily="18" charset="0"/>
                  </a:rPr>
                  <a:t>$\alpha$</a:t>
                </a:r>
                <a:r>
                  <a:rPr sz="2400" b="0">
                    <a:solidFill>
                      <a:srgbClr val="111827"/>
                    </a:solidFill>
                    <a:latin typeface="Arial"/>
                  </a:rPr>
                  <a:t> of it has area </a:t>
                </a:r>
                <a:r>
                  <a:rPr lang="en-IN" sz="2400">
                    <a:solidFill>
                      <a:srgbClr val="111827"/>
                    </a:solidFill>
                    <a:latin typeface="Cambria Math" panose="02040503050406030204" pitchFamily="18" charset="0"/>
                  </a:rPr>
                  <a:t>$\frac{\alpha}{2}(r_2^2-r_1^2)$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$\frac{\alpha}{2}(16-4)=\frac{\pi}{4}\cdot 12=3\pi$</a:t>
                </a:r>
                <a:r>
                  <a:rPr sz="2400" b="0">
                    <a:solidFill>
                      <a:srgbClr val="111827"/>
                    </a:solidFill>
                    <a:latin typeface="Arial"/>
                  </a:rPr>
                  <a:t> and </a:t>
                </a:r>
                <a:r>
                  <a:rPr lang="en-IN" sz="2400">
                    <a:solidFill>
                      <a:srgbClr val="111827"/>
                    </a:solidFill>
                    <a:latin typeface="Cambria Math" panose="02040503050406030204" pitchFamily="18" charset="0"/>
                  </a:rPr>
                  <a:t>$\frac{3\pi}{12\pi}=\frac14$</a:t>
                </a:r>
                <a:r>
                  <a:rPr sz="2400" b="0">
                    <a:solidFill>
                      <a:srgbClr val="111827"/>
                    </a:solidFill>
                    <a:latin typeface="Arial"/>
                  </a:rPr>
                  <a:t> (checked).</a:t>
                </a:r>
                <a:endParaRPr sz="2400">
                  <a:solidFill>
                    <a:srgbClr val="111827"/>
                  </a:solidFill>
                </a:endParaRPr>
              </a:p>
            </p:txBody>
          </p:sp>
        </mc:Fallback>
      </mc:AlternateContent>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ways in which the letters of the word ABBCABBC can be arranged such that the word ABBC does not appear anywhere in the arrangement is a three digit natural number. Find the units digit of this number. ________</a:t>
            </a:r>
            <a:endParaRPr sz="2400">
              <a:solidFill>
                <a:srgbClr val="111827"/>
              </a:solidFill>
            </a:endParaRPr>
          </a:p>
        </p:txBody>
      </p:sp>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Arrangements with repeated letters and a forbidden block (inclusion-exclusion)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Count arrangements containing the block ABBC by gluing it, then correct for the one word ABBCABBC that gets counted twice.</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word ABBCABBC has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B's,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C's, so the total number of arrangements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Treat ABBC as a single block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Then we arrange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together with the remaining letters A, B, B, C: five objects with B repeated twice.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such arrangements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word ABBCABBC has </a:t>
                </a:r>
                <a:r>
                  <a:rPr lang="en-IN" sz="2400">
                    <a:solidFill>
                      <a:srgbClr val="111827"/>
                    </a:solidFill>
                    <a:latin typeface="Cambria Math" panose="02040503050406030204" pitchFamily="18" charset="0"/>
                  </a:rPr>
                  <a:t>$2$</a:t>
                </a:r>
                <a:r>
                  <a:rPr sz="2400" b="0">
                    <a:solidFill>
                      <a:srgbClr val="111827"/>
                    </a:solidFill>
                    <a:latin typeface="Arial"/>
                  </a:rPr>
                  <a:t> A's, </a:t>
                </a:r>
                <a:r>
                  <a:rPr lang="en-IN" sz="2400">
                    <a:solidFill>
                      <a:srgbClr val="111827"/>
                    </a:solidFill>
                    <a:latin typeface="Cambria Math" panose="02040503050406030204" pitchFamily="18" charset="0"/>
                  </a:rPr>
                  <a:t>$4$</a:t>
                </a:r>
                <a:r>
                  <a:rPr sz="2400" b="0">
                    <a:solidFill>
                      <a:srgbClr val="111827"/>
                    </a:solidFill>
                    <a:latin typeface="Arial"/>
                  </a:rPr>
                  <a:t> B's, </a:t>
                </a:r>
                <a:r>
                  <a:rPr lang="en-IN" sz="2400">
                    <a:solidFill>
                      <a:srgbClr val="111827"/>
                    </a:solidFill>
                    <a:latin typeface="Cambria Math" panose="02040503050406030204" pitchFamily="18" charset="0"/>
                  </a:rPr>
                  <a:t>$2$</a:t>
                </a:r>
                <a:r>
                  <a:rPr sz="2400" b="0">
                    <a:solidFill>
                      <a:srgbClr val="111827"/>
                    </a:solidFill>
                    <a:latin typeface="Arial"/>
                  </a:rPr>
                  <a:t> C's, so the total number of arrangements is </a:t>
                </a:r>
                <a:r>
                  <a:rPr lang="en-IN" sz="2400">
                    <a:solidFill>
                      <a:srgbClr val="111827"/>
                    </a:solidFill>
                    <a:latin typeface="Cambria Math" panose="02040503050406030204" pitchFamily="18" charset="0"/>
                  </a:rPr>
                  <a:t>$\frac{8!}{4!\,2!\,2!}=420$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Treat ABBC as a single block </a:t>
                </a:r>
                <a:r>
                  <a:rPr lang="en-IN" sz="2400">
                    <a:solidFill>
                      <a:srgbClr val="111827"/>
                    </a:solidFill>
                    <a:latin typeface="Cambria Math" panose="02040503050406030204" pitchFamily="18" charset="0"/>
                  </a:rPr>
                  <a:t>$X$</a:t>
                </a:r>
                <a:r>
                  <a:rPr sz="2400" b="0">
                    <a:solidFill>
                      <a:srgbClr val="111827"/>
                    </a:solidFill>
                    <a:latin typeface="Arial"/>
                  </a:rPr>
                  <a:t>. Then we arrange </a:t>
                </a:r>
                <a:r>
                  <a:rPr lang="en-IN" sz="2400">
                    <a:solidFill>
                      <a:srgbClr val="111827"/>
                    </a:solidFill>
                    <a:latin typeface="Cambria Math" panose="02040503050406030204" pitchFamily="18" charset="0"/>
                  </a:rPr>
                  <a:t>$X$</a:t>
                </a:r>
                <a:r>
                  <a:rPr sz="2400" b="0">
                    <a:solidFill>
                      <a:srgbClr val="111827"/>
                    </a:solidFill>
                    <a:latin typeface="Arial"/>
                  </a:rPr>
                  <a:t> together with the remaining letters A, B, B, C: five objects with B repeated twice.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such arrangements is </a:t>
                </a:r>
                <a:r>
                  <a:rPr lang="en-IN" sz="2400">
                    <a:solidFill>
                      <a:srgbClr val="111827"/>
                    </a:solidFill>
                    <a:latin typeface="Cambria Math" panose="02040503050406030204" pitchFamily="18" charset="0"/>
                  </a:rPr>
                  <a:t>$\frac{5!}{2!}=60$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These </a:t>
                </a:r>
                <a14:m>
                  <m:oMath xmlns:m="http://schemas.openxmlformats.org/officeDocument/2006/math">
                    <m:r>
                      <a:rPr lang="en-IN" sz="2400" i="1">
                        <a:solidFill>
                          <a:srgbClr val="111827"/>
                        </a:solidFill>
                        <a:latin typeface="Cambria Math" panose="02040503050406030204" pitchFamily="18" charset="0"/>
                      </a:rPr>
                      <m:t>60</m:t>
                    </m:r>
                  </m:oMath>
                </a14:m>
                <a:r>
                  <a:rPr sz="2400" b="0">
                    <a:solidFill>
                      <a:srgbClr val="111827"/>
                    </a:solidFill>
                    <a:latin typeface="Arial"/>
                  </a:rPr>
                  <a:t> include the arrangements </a:t>
                </a:r>
                <a14:m>
                  <m:oMath xmlns:m="http://schemas.openxmlformats.org/officeDocument/2006/math">
                    <m:r>
                      <a:rPr lang="en-IN" sz="2400" i="1">
                        <a:solidFill>
                          <a:srgbClr val="111827"/>
                        </a:solidFill>
                        <a:latin typeface="Cambria Math" panose="02040503050406030204" pitchFamily="18" charset="0"/>
                      </a:rPr>
                      <m:t>𝑋</m:t>
                    </m:r>
                    <m:r>
                      <a:rPr lang="en-IN" sz="2400" i="1">
                        <a:solidFill>
                          <a:srgbClr val="111827"/>
                        </a:solidFill>
                        <a:latin typeface="Cambria Math" panose="02040503050406030204" pitchFamily="18" charset="0"/>
                      </a:rPr>
                      <m:t> </m:t>
                    </m:r>
                  </m:oMath>
                </a14:m>
                <a:r>
                  <a:rPr sz="2400" b="0">
                    <a:solidFill>
                      <a:srgbClr val="111827"/>
                    </a:solidFill>
                    <a:latin typeface="Arial"/>
                  </a:rPr>
                  <a:t>ABBC and ABBC</a:t>
                </a:r>
                <a14:m>
                  <m:oMath xmlns:m="http://schemas.openxmlformats.org/officeDocument/2006/math">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𝑋</m:t>
                    </m:r>
                  </m:oMath>
                </a14:m>
                <a:r>
                  <a:rPr sz="2400" b="0">
                    <a:solidFill>
                      <a:srgbClr val="111827"/>
                    </a:solidFill>
                    <a:latin typeface="Arial"/>
                  </a:rPr>
                  <a:t> (the block followed or preceded by the leftover letters in this order).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of these are the same word ABBCABBC, so this word has been counted twice among the </a:t>
                </a:r>
                <a14:m>
                  <m:oMath xmlns:m="http://schemas.openxmlformats.org/officeDocument/2006/math">
                    <m:r>
                      <a:rPr lang="en-IN" sz="2400" i="1">
                        <a:solidFill>
                          <a:srgbClr val="111827"/>
                        </a:solidFill>
                        <a:latin typeface="Cambria Math" panose="02040503050406030204" pitchFamily="18" charset="0"/>
                      </a:rPr>
                      <m:t>60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number of distinct words containing ABBC is </a:t>
                </a:r>
                <a14:m>
                  <m:oMath xmlns:m="http://schemas.openxmlformats.org/officeDocument/2006/math">
                    <m:r>
                      <a:rPr lang="en-IN" sz="2400" i="1">
                        <a:solidFill>
                          <a:srgbClr val="111827"/>
                        </a:solidFill>
                        <a:latin typeface="Cambria Math" panose="02040503050406030204" pitchFamily="18" charset="0"/>
                      </a:rPr>
                      <m:t>60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number of words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361</m:t>
                    </m:r>
                  </m:oMath>
                </a14:m>
                <a:r>
                  <a:rPr sz="2400" b="0">
                    <a:solidFill>
                      <a:srgbClr val="111827"/>
                    </a:solidFill>
                    <a:latin typeface="Arial"/>
                  </a:rPr>
                  <a:t>, and the units digit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These </a:t>
                </a:r>
                <a:r>
                  <a:rPr lang="en-IN" sz="2400">
                    <a:solidFill>
                      <a:srgbClr val="111827"/>
                    </a:solidFill>
                    <a:latin typeface="Cambria Math" panose="02040503050406030204" pitchFamily="18" charset="0"/>
                  </a:rPr>
                  <a:t>$60$</a:t>
                </a:r>
                <a:r>
                  <a:rPr sz="2400" b="0">
                    <a:solidFill>
                      <a:srgbClr val="111827"/>
                    </a:solidFill>
                    <a:latin typeface="Arial"/>
                  </a:rPr>
                  <a:t> include the arrangements </a:t>
                </a:r>
                <a:r>
                  <a:rPr lang="en-IN" sz="2400">
                    <a:solidFill>
                      <a:srgbClr val="111827"/>
                    </a:solidFill>
                    <a:latin typeface="Cambria Math" panose="02040503050406030204" pitchFamily="18" charset="0"/>
                  </a:rPr>
                  <a:t>$X\,$</a:t>
                </a:r>
                <a:r>
                  <a:rPr sz="2400" b="0">
                    <a:solidFill>
                      <a:srgbClr val="111827"/>
                    </a:solidFill>
                    <a:latin typeface="Arial"/>
                  </a:rPr>
                  <a:t>ABBC and ABBC</a:t>
                </a:r>
                <a:r>
                  <a:rPr lang="en-IN" sz="2400">
                    <a:solidFill>
                      <a:srgbClr val="111827"/>
                    </a:solidFill>
                    <a:latin typeface="Cambria Math" panose="02040503050406030204" pitchFamily="18" charset="0"/>
                  </a:rPr>
                  <a:t>$\,X$</a:t>
                </a:r>
                <a:r>
                  <a:rPr sz="2400" b="0">
                    <a:solidFill>
                      <a:srgbClr val="111827"/>
                    </a:solidFill>
                    <a:latin typeface="Arial"/>
                  </a:rPr>
                  <a:t> (the block followed or preceded by the leftover letters in this order).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Both of these are the same word ABBCABBC, so this word has been counted twice among the </a:t>
                </a:r>
                <a:r>
                  <a:rPr lang="en-IN" sz="2400">
                    <a:solidFill>
                      <a:srgbClr val="111827"/>
                    </a:solidFill>
                    <a:latin typeface="Cambria Math" panose="02040503050406030204" pitchFamily="18" charset="0"/>
                  </a:rPr>
                  <a:t>$60$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number of distinct words containing ABBC is </a:t>
                </a:r>
                <a:r>
                  <a:rPr lang="en-IN" sz="2400">
                    <a:solidFill>
                      <a:srgbClr val="111827"/>
                    </a:solidFill>
                    <a:latin typeface="Cambria Math" panose="02040503050406030204" pitchFamily="18" charset="0"/>
                  </a:rPr>
                  <a:t>$60-1=59$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number of words </a:t>
                </a:r>
                <a:r>
                  <a:rPr lang="en-IN" sz="2400">
                    <a:solidFill>
                      <a:srgbClr val="111827"/>
                    </a:solidFill>
                    <a:latin typeface="Cambria Math" panose="02040503050406030204" pitchFamily="18" charset="0"/>
                  </a:rPr>
                  <a:t>$=420-59=361$</a:t>
                </a:r>
                <a:r>
                  <a:rPr sz="2400" b="0">
                    <a:solidFill>
                      <a:srgbClr val="111827"/>
                    </a:solidFill>
                    <a:latin typeface="Arial"/>
                  </a:rPr>
                  <a:t>, and the units digit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a:t>
            </a:r>
            <a:endParaRPr sz="2800">
              <a:solidFill>
                <a:srgbClr val="15803D"/>
              </a:solidFill>
            </a:endParaRPr>
          </a:p>
        </p:txBody>
      </p:sp>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the starting position </a:t>
                </a:r>
                <a14:m>
                  <m:oMath xmlns:m="http://schemas.openxmlformats.org/officeDocument/2006/math">
                    <m:r>
                      <a:rPr lang="en-IN" sz="2400" i="1">
                        <a:solidFill>
                          <a:srgbClr val="78350F"/>
                        </a:solidFill>
                        <a:latin typeface="Cambria Math" panose="02040503050406030204" pitchFamily="18" charset="0"/>
                      </a:rPr>
                      <m:t>𝑖</m:t>
                    </m:r>
                  </m:oMath>
                </a14:m>
                <a:r>
                  <a:rPr sz="2400" b="0">
                    <a:solidFill>
                      <a:srgbClr val="78350F"/>
                    </a:solidFill>
                    <a:latin typeface="Arial"/>
                  </a:rPr>
                  <a:t> of ABBC (</a:t>
                </a:r>
                <a14:m>
                  <m:oMath xmlns:m="http://schemas.openxmlformats.org/officeDocument/2006/math">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 fill the other four places with A, B, B, C, then use inclusion-exclusion over positions.</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Fix the starting position </a:t>
                </a:r>
                <a:r>
                  <a:rPr lang="en-IN" sz="2400">
                    <a:solidFill>
                      <a:srgbClr val="78350F"/>
                    </a:solidFill>
                    <a:latin typeface="Cambria Math" panose="02040503050406030204" pitchFamily="18" charset="0"/>
                  </a:rPr>
                  <a:t>$i$</a:t>
                </a:r>
                <a:r>
                  <a:rPr sz="2400" b="0">
                    <a:solidFill>
                      <a:srgbClr val="78350F"/>
                    </a:solidFill>
                    <a:latin typeface="Arial"/>
                  </a:rPr>
                  <a:t> of ABBC (</a:t>
                </a:r>
                <a:r>
                  <a:rPr lang="en-IN" sz="2400">
                    <a:solidFill>
                      <a:srgbClr val="78350F"/>
                    </a:solidFill>
                    <a:latin typeface="Cambria Math" panose="02040503050406030204" pitchFamily="18" charset="0"/>
                  </a:rPr>
                  <a:t>$i=1,\dots,5$</a:t>
                </a:r>
                <a:r>
                  <a:rPr sz="2400" b="0">
                    <a:solidFill>
                      <a:srgbClr val="78350F"/>
                    </a:solidFill>
                    <a:latin typeface="Arial"/>
                  </a:rPr>
                  <a:t>), fill the other four places with A, B, B, C, then use inclusion-exclusion over positions.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ABBC can start at position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 fixed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the other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places hold A, B, B, C in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over positions: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oMath>
                </a14:m>
                <a:r>
                  <a:rPr sz="2400" b="0">
                    <a:solidFill>
                      <a:srgbClr val="111827"/>
                    </a:solidFill>
                    <a:latin typeface="Arial"/>
                  </a:rPr>
                  <a:t> (word, position) pairs.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occurrences need non-overlapping positions </a:t>
                </a:r>
                <a14:m>
                  <m:oMath xmlns:m="http://schemas.openxmlformats.org/officeDocument/2006/math">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only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then the word is forced: ABBCABBC, giving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word.</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ABBC can start at position </a:t>
                </a:r>
                <a:r>
                  <a:rPr lang="en-IN" sz="2400">
                    <a:solidFill>
                      <a:srgbClr val="111827"/>
                    </a:solidFill>
                    <a:latin typeface="Cambria Math" panose="02040503050406030204" pitchFamily="18" charset="0"/>
                  </a:rPr>
                  <a:t>$i\in\{1,2,3,4,5\}$</a:t>
                </a:r>
                <a:r>
                  <a:rPr sz="2400" b="0">
                    <a:solidFill>
                      <a:srgbClr val="111827"/>
                    </a:solidFill>
                    <a:latin typeface="Arial"/>
                  </a:rPr>
                  <a:t>. For a fixed </a:t>
                </a:r>
                <a:r>
                  <a:rPr lang="en-IN" sz="2400">
                    <a:solidFill>
                      <a:srgbClr val="111827"/>
                    </a:solidFill>
                    <a:latin typeface="Cambria Math" panose="02040503050406030204" pitchFamily="18" charset="0"/>
                  </a:rPr>
                  <a:t>$i$</a:t>
                </a:r>
                <a:r>
                  <a:rPr sz="2400" b="0">
                    <a:solidFill>
                      <a:srgbClr val="111827"/>
                    </a:solidFill>
                    <a:latin typeface="Arial"/>
                  </a:rPr>
                  <a:t>, the other </a:t>
                </a:r>
                <a:r>
                  <a:rPr lang="en-IN" sz="2400">
                    <a:solidFill>
                      <a:srgbClr val="111827"/>
                    </a:solidFill>
                    <a:latin typeface="Cambria Math" panose="02040503050406030204" pitchFamily="18" charset="0"/>
                  </a:rPr>
                  <a:t>$4$</a:t>
                </a:r>
                <a:r>
                  <a:rPr sz="2400" b="0">
                    <a:solidFill>
                      <a:srgbClr val="111827"/>
                    </a:solidFill>
                    <a:latin typeface="Arial"/>
                  </a:rPr>
                  <a:t> places hold A, B, B, C in </a:t>
                </a:r>
                <a:r>
                  <a:rPr lang="en-IN" sz="2400">
                    <a:solidFill>
                      <a:srgbClr val="111827"/>
                    </a:solidFill>
                    <a:latin typeface="Cambria Math" panose="02040503050406030204" pitchFamily="18" charset="0"/>
                  </a:rPr>
                  <a:t>$\frac{4!}{2!}=12$</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over positions: </a:t>
                </a:r>
                <a:r>
                  <a:rPr lang="en-IN" sz="2400">
                    <a:solidFill>
                      <a:srgbClr val="111827"/>
                    </a:solidFill>
                    <a:latin typeface="Cambria Math" panose="02040503050406030204" pitchFamily="18" charset="0"/>
                  </a:rPr>
                  <a:t>$5\times 12=60$</a:t>
                </a:r>
                <a:r>
                  <a:rPr sz="2400" b="0">
                    <a:solidFill>
                      <a:srgbClr val="111827"/>
                    </a:solidFill>
                    <a:latin typeface="Arial"/>
                  </a:rPr>
                  <a:t> (word, position) pairs.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occurrences need non-overlapping positions </a:t>
                </a:r>
                <a:r>
                  <a:rPr lang="en-IN" sz="2400">
                    <a:solidFill>
                      <a:srgbClr val="111827"/>
                    </a:solidFill>
                    <a:latin typeface="Cambria Math" panose="02040503050406030204" pitchFamily="18" charset="0"/>
                  </a:rPr>
                  <a:t>$i,j$</a:t>
                </a:r>
                <a:r>
                  <a:rPr sz="2400" b="0">
                    <a:solidFill>
                      <a:srgbClr val="111827"/>
                    </a:solidFill>
                    <a:latin typeface="Arial"/>
                  </a:rPr>
                  <a:t> with </a:t>
                </a:r>
                <a:r>
                  <a:rPr lang="en-IN" sz="2400">
                    <a:solidFill>
                      <a:srgbClr val="111827"/>
                    </a:solidFill>
                    <a:latin typeface="Cambria Math" panose="02040503050406030204" pitchFamily="18" charset="0"/>
                  </a:rPr>
                  <a:t>$|i-j|\ge4$</a:t>
                </a:r>
                <a:r>
                  <a:rPr sz="2400" b="0">
                    <a:solidFill>
                      <a:srgbClr val="111827"/>
                    </a:solidFill>
                    <a:latin typeface="Arial"/>
                  </a:rPr>
                  <a:t>: only </a:t>
                </a:r>
                <a:r>
                  <a:rPr lang="en-IN" sz="2400">
                    <a:solidFill>
                      <a:srgbClr val="111827"/>
                    </a:solidFill>
                    <a:latin typeface="Cambria Math" panose="02040503050406030204" pitchFamily="18" charset="0"/>
                  </a:rPr>
                  <a:t>$(1,5)$</a:t>
                </a:r>
                <a:r>
                  <a:rPr sz="2400" b="0">
                    <a:solidFill>
                      <a:srgbClr val="111827"/>
                    </a:solidFill>
                    <a:latin typeface="Arial"/>
                  </a:rPr>
                  <a:t>, and then the word is forced: ABBCABBC, giving </a:t>
                </a:r>
                <a:r>
                  <a:rPr lang="en-IN" sz="2400">
                    <a:solidFill>
                      <a:srgbClr val="111827"/>
                    </a:solidFill>
                    <a:latin typeface="Cambria Math" panose="02040503050406030204" pitchFamily="18" charset="0"/>
                  </a:rPr>
                  <a:t>$1$</a:t>
                </a:r>
                <a:r>
                  <a:rPr sz="2400" b="0">
                    <a:solidFill>
                      <a:srgbClr val="111827"/>
                    </a:solidFill>
                    <a:latin typeface="Arial"/>
                  </a:rPr>
                  <a:t> word.</a:t>
                </a:r>
                <a:endParaRPr sz="2400">
                  <a:solidFill>
                    <a:srgbClr val="111827"/>
                  </a:solidFill>
                </a:endParaRPr>
              </a:p>
            </p:txBody>
          </p:sp>
        </mc:Fallback>
      </mc:AlternateContent>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inclusion-exclusion, words with at least one ABBC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Words without ABBC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361</m:t>
                    </m:r>
                  </m:oMath>
                </a14:m>
                <a:r>
                  <a:rPr sz="2400" b="0">
                    <a:solidFill>
                      <a:srgbClr val="111827"/>
                    </a:solidFill>
                    <a:latin typeface="Arial"/>
                  </a:rPr>
                  <a:t>; units digit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(brute-force check over all </a:t>
                </a:r>
                <a14:m>
                  <m:oMath xmlns:m="http://schemas.openxmlformats.org/officeDocument/2006/math">
                    <m:r>
                      <a:rPr lang="en-IN" sz="2400" i="1">
                        <a:solidFill>
                          <a:srgbClr val="111827"/>
                        </a:solidFill>
                        <a:latin typeface="Cambria Math" panose="02040503050406030204" pitchFamily="18" charset="0"/>
                      </a:rPr>
                      <m:t>420</m:t>
                    </m:r>
                  </m:oMath>
                </a14:m>
                <a:r>
                  <a:rPr sz="2400" b="0">
                    <a:solidFill>
                      <a:srgbClr val="111827"/>
                    </a:solidFill>
                    <a:latin typeface="Arial"/>
                  </a:rPr>
                  <a:t> words also gives </a:t>
                </a:r>
                <a14:m>
                  <m:oMath xmlns:m="http://schemas.openxmlformats.org/officeDocument/2006/math">
                    <m:r>
                      <a:rPr lang="en-IN" sz="2400" i="1">
                        <a:solidFill>
                          <a:srgbClr val="111827"/>
                        </a:solidFill>
                        <a:latin typeface="Cambria Math" panose="02040503050406030204" pitchFamily="18" charset="0"/>
                      </a:rPr>
                      <m:t>361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inclusion-exclusion, words with at least one ABBC </a:t>
                </a:r>
                <a:r>
                  <a:rPr lang="en-IN" sz="2400">
                    <a:solidFill>
                      <a:srgbClr val="111827"/>
                    </a:solidFill>
                    <a:latin typeface="Cambria Math" panose="02040503050406030204" pitchFamily="18" charset="0"/>
                  </a:rPr>
                  <a:t>$=60-1=59$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Words without ABBC </a:t>
                </a:r>
                <a:r>
                  <a:rPr lang="en-IN" sz="2400">
                    <a:solidFill>
                      <a:srgbClr val="111827"/>
                    </a:solidFill>
                    <a:latin typeface="Cambria Math" panose="02040503050406030204" pitchFamily="18" charset="0"/>
                  </a:rPr>
                  <a:t>$=420-59=361$</a:t>
                </a:r>
                <a:r>
                  <a:rPr sz="2400" b="0">
                    <a:solidFill>
                      <a:srgbClr val="111827"/>
                    </a:solidFill>
                    <a:latin typeface="Arial"/>
                  </a:rPr>
                  <a:t>; units digit </a:t>
                </a:r>
                <a:r>
                  <a:rPr lang="en-IN" sz="2400">
                    <a:solidFill>
                      <a:srgbClr val="111827"/>
                    </a:solidFill>
                    <a:latin typeface="Cambria Math" panose="02040503050406030204" pitchFamily="18" charset="0"/>
                  </a:rPr>
                  <a:t>$1$</a:t>
                </a:r>
                <a:r>
                  <a:rPr sz="2400" b="0">
                    <a:solidFill>
                      <a:srgbClr val="111827"/>
                    </a:solidFill>
                    <a:latin typeface="Arial"/>
                  </a:rPr>
                  <a:t> (brute-force check over all </a:t>
                </a:r>
                <a:r>
                  <a:rPr lang="en-IN" sz="2400">
                    <a:solidFill>
                      <a:srgbClr val="111827"/>
                    </a:solidFill>
                    <a:latin typeface="Cambria Math" panose="02040503050406030204" pitchFamily="18" charset="0"/>
                  </a:rPr>
                  <a:t>$420$</a:t>
                </a:r>
                <a:r>
                  <a:rPr sz="2400" b="0">
                    <a:solidFill>
                      <a:srgbClr val="111827"/>
                    </a:solidFill>
                    <a:latin typeface="Arial"/>
                  </a:rPr>
                  <a:t> words also gives </a:t>
                </a:r>
                <a:r>
                  <a:rPr lang="en-IN" sz="2400">
                    <a:solidFill>
                      <a:srgbClr val="111827"/>
                    </a:solidFill>
                    <a:latin typeface="Cambria Math" panose="02040503050406030204" pitchFamily="18" charset="0"/>
                  </a:rPr>
                  <a:t>$361$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a:t>
            </a:r>
            <a:endParaRPr sz="2800">
              <a:solidFill>
                <a:srgbClr val="15803D"/>
              </a:solidFill>
            </a:endParaRPr>
          </a:p>
        </p:txBody>
      </p:sp>
    </p:spTree>
  </p:cSld>
  <p:clrMapOvr>
    <a:masterClrMapping/>
  </p:clrMapOvr>
</p:sld>
</file>

<file path=ppt/slides/slide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Words with a forbidden pattern: count by (word, occurrence) pairs, then subtract overcounts using inclusion-exclusion over occurrences (here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 block can overlap or repeat itself in the word, gluing alone overcounts; always check whether the full word can contain the block twice.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arrangements of a multiset with multiplicities </a:t>
                </a:r>
                <a14:m>
                  <m:oMath xmlns:m="http://schemas.openxmlformats.org/officeDocument/2006/math">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𝑚</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420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Words with a forbidden pattern: count by (word, occurrence) pairs, then subtract overcounts using inclusion-exclusion over occurrences (here </a:t>
                </a:r>
                <a:r>
                  <a:rPr lang="en-IN" sz="2400">
                    <a:solidFill>
                      <a:srgbClr val="111827"/>
                    </a:solidFill>
                    <a:latin typeface="Cambria Math" panose="02040503050406030204" pitchFamily="18" charset="0"/>
                  </a:rPr>
                  <a:t>$S_1-S_2=60-1$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 block can overlap or repeat itself in the word, gluing alone overcounts; always check whether the full word can contain the block twice.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arrangements of a multiset with multiplicities </a:t>
                </a:r>
                <a:r>
                  <a:rPr lang="en-IN" sz="2400">
                    <a:solidFill>
                      <a:srgbClr val="111827"/>
                    </a:solidFill>
                    <a:latin typeface="Cambria Math" panose="02040503050406030204" pitchFamily="18" charset="0"/>
                  </a:rPr>
                  <a:t>$m_i$</a:t>
                </a:r>
                <a:r>
                  <a:rPr sz="2400" b="0">
                    <a:solidFill>
                      <a:srgbClr val="111827"/>
                    </a:solidFill>
                    <a:latin typeface="Arial"/>
                  </a:rPr>
                  <a:t> is </a:t>
                </a:r>
                <a:r>
                  <a:rPr lang="en-IN" sz="2400">
                    <a:solidFill>
                      <a:srgbClr val="111827"/>
                    </a:solidFill>
                    <a:latin typeface="Cambria Math" panose="02040503050406030204" pitchFamily="18" charset="0"/>
                  </a:rPr>
                  <a:t>$\frac{n!}{\prod m_i!}$</a:t>
                </a:r>
                <a:r>
                  <a:rPr sz="2400" b="0">
                    <a:solidFill>
                      <a:srgbClr val="111827"/>
                    </a:solidFill>
                    <a:latin typeface="Arial"/>
                  </a:rPr>
                  <a:t>; here </a:t>
                </a:r>
                <a:r>
                  <a:rPr lang="en-IN" sz="2400">
                    <a:solidFill>
                      <a:srgbClr val="111827"/>
                    </a:solidFill>
                    <a:latin typeface="Cambria Math" panose="02040503050406030204" pitchFamily="18" charset="0"/>
                  </a:rPr>
                  <a:t>$\frac{8!}{4!2!2!}=420$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positive integer just greater than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Find the positive integer just greater than </a:t>
                </a:r>
                <a:r>
                  <a:rPr lang="en-IN" sz="2400">
                    <a:solidFill>
                      <a:srgbClr val="111827"/>
                    </a:solidFill>
                    <a:latin typeface="Cambria Math" panose="02040503050406030204" pitchFamily="18" charset="0"/>
                  </a:rPr>
                  <a:t>$(1+0.0001)^{10000}$</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expansion and bounds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binomially: the first two terms give exactly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and the rest are positive, so the value exceeds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it is bounded above by </a:t>
                </a:r>
                <a14:m>
                  <m:oMath xmlns:m="http://schemas.openxmlformats.org/officeDocument/2006/math">
                    <m:r>
                      <a:rPr lang="en-IN" sz="2400" i="1">
                        <a:solidFill>
                          <a:srgbClr val="78350F"/>
                        </a:solidFill>
                        <a:latin typeface="Cambria Math" panose="02040503050406030204" pitchFamily="18" charset="0"/>
                      </a:rPr>
                      <m:t>𝑒</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3</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Expand binomially: the first two terms give exactly </a:t>
                </a:r>
                <a:r>
                  <a:rPr lang="en-IN" sz="2400">
                    <a:solidFill>
                      <a:srgbClr val="78350F"/>
                    </a:solidFill>
                    <a:latin typeface="Cambria Math" panose="02040503050406030204" pitchFamily="18" charset="0"/>
                  </a:rPr>
                  <a:t>$2$</a:t>
                </a:r>
                <a:r>
                  <a:rPr sz="2400" b="0">
                    <a:solidFill>
                      <a:srgbClr val="78350F"/>
                    </a:solidFill>
                    <a:latin typeface="Arial"/>
                  </a:rPr>
                  <a:t> and the rest are positive, so the value exceeds </a:t>
                </a:r>
                <a:r>
                  <a:rPr lang="en-IN" sz="2400">
                    <a:solidFill>
                      <a:srgbClr val="78350F"/>
                    </a:solidFill>
                    <a:latin typeface="Cambria Math" panose="02040503050406030204" pitchFamily="18" charset="0"/>
                  </a:rPr>
                  <a:t>$2$</a:t>
                </a:r>
                <a:r>
                  <a:rPr sz="2400" b="0">
                    <a:solidFill>
                      <a:srgbClr val="78350F"/>
                    </a:solidFill>
                    <a:latin typeface="Arial"/>
                  </a:rPr>
                  <a:t>; it is bounded above by </a:t>
                </a:r>
                <a:r>
                  <a:rPr lang="en-IN" sz="2400">
                    <a:solidFill>
                      <a:srgbClr val="78350F"/>
                    </a:solidFill>
                    <a:latin typeface="Cambria Math" panose="02040503050406030204" pitchFamily="18" charset="0"/>
                  </a:rPr>
                  <a:t>$e&lt;3$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9999</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second term is </a:t>
                </a:r>
                <a14:m>
                  <m:oMath xmlns:m="http://schemas.openxmlformats.org/officeDocument/2006/math">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sum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9999</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every extra term is positive, so the value is greater than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$(1+0.0001)^{10000}=1+10000(0.0001)+\frac{10000\cdot 9999}{2!}(0.0001)^2+\dots$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second term is </a:t>
                </a:r>
                <a:r>
                  <a:rPr lang="en-IN" sz="2400">
                    <a:solidFill>
                      <a:srgbClr val="111827"/>
                    </a:solidFill>
                    <a:latin typeface="Cambria Math" panose="02040503050406030204" pitchFamily="18" charset="0"/>
                  </a:rPr>
                  <a:t>$10000\times 0.0001=1$</a:t>
                </a:r>
                <a:r>
                  <a:rPr sz="2400" b="0">
                    <a:solidFill>
                      <a:srgbClr val="111827"/>
                    </a:solidFill>
                    <a:latin typeface="Arial"/>
                  </a:rPr>
                  <a:t>, so the sum is </a:t>
                </a:r>
                <a:r>
                  <a:rPr lang="en-IN" sz="2400">
                    <a:solidFill>
                      <a:srgbClr val="111827"/>
                    </a:solidFill>
                    <a:latin typeface="Cambria Math" panose="02040503050406030204" pitchFamily="18" charset="0"/>
                  </a:rPr>
                  <a:t>$1+1+\frac{10000\cdot 9999}{2}(0.0001)^2+\dots$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$(1+0.0001)^{10000}=2+{}^{10000}C_2(0.0001)^2+{}^{10000}C_3(0.0001)^3+\dots$</a:t>
                </a:r>
                <a:r>
                  <a:rPr sz="2400" b="0">
                    <a:solidFill>
                      <a:srgbClr val="111827"/>
                    </a:solidFill>
                    <a:latin typeface="Arial"/>
                  </a:rPr>
                  <a:t>, and every extra term is positive, so the value is greater than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Upper bound (the PDF states it without proof): the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-th term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9999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10000</m:t>
                            </m:r>
                          </m:e>
                          <m:sup>
                            <m:r>
                              <a:rPr lang="en-IN" sz="2400" i="1">
                                <a:solidFill>
                                  <a:srgbClr val="111827"/>
                                </a:solidFill>
                                <a:latin typeface="Cambria Math" panose="02040503050406030204" pitchFamily="18" charset="0"/>
                              </a:rPr>
                              <m:t>𝑘</m:t>
                            </m:r>
                          </m:sup>
                        </m:sSup>
                      </m:den>
                    </m:f>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value is less than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positive integer just greater than it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Upper bound (the PDF states it without proof): the </a:t>
                </a:r>
                <a:r>
                  <a:rPr lang="en-IN" sz="2400">
                    <a:solidFill>
                      <a:srgbClr val="111827"/>
                    </a:solidFill>
                    <a:latin typeface="Cambria Math" panose="02040503050406030204" pitchFamily="18" charset="0"/>
                  </a:rPr>
                  <a:t>$k$</a:t>
                </a:r>
                <a:r>
                  <a:rPr sz="2400" b="0">
                    <a:solidFill>
                      <a:srgbClr val="111827"/>
                    </a:solidFill>
                    <a:latin typeface="Arial"/>
                  </a:rPr>
                  <a:t>-th term is </a:t>
                </a:r>
                <a:r>
                  <a:rPr lang="en-IN" sz="2400">
                    <a:solidFill>
                      <a:srgbClr val="111827"/>
                    </a:solidFill>
                    <a:latin typeface="Cambria Math" panose="02040503050406030204" pitchFamily="18" charset="0"/>
                  </a:rPr>
                  <a:t>$\frac{10000\cdot 9999\cdots(10000-k+1)}{k!\,10000^k}&lt;\frac{1}{k!}$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value is less than </a:t>
                </a:r>
                <a:r>
                  <a:rPr lang="en-IN" sz="2400">
                    <a:solidFill>
                      <a:srgbClr val="111827"/>
                    </a:solidFill>
                    <a:latin typeface="Cambria Math" panose="02040503050406030204" pitchFamily="18" charset="0"/>
                  </a:rPr>
                  <a:t>$1+1+\frac{1}{2!}+\frac{1}{3!}+\dots&lt;1+1+\frac12+\frac14+\frac18+\dots=3$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r>
                  <a:rPr lang="en-IN" sz="2400">
                    <a:solidFill>
                      <a:srgbClr val="111827"/>
                    </a:solidFill>
                    <a:latin typeface="Cambria Math" panose="02040503050406030204" pitchFamily="18" charset="0"/>
                  </a:rPr>
                  <a:t>$(1+0.0001)^{10000}\in(2,3)$</a:t>
                </a:r>
                <a:r>
                  <a:rPr sz="2400" b="0">
                    <a:solidFill>
                      <a:srgbClr val="111827"/>
                    </a:solidFill>
                    <a:latin typeface="Arial"/>
                  </a:rPr>
                  <a:t>, and the positive integer just greater than it is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a:t>
            </a:r>
            <a:endParaRPr sz="2800">
              <a:solidFill>
                <a:srgbClr val="15803D"/>
              </a:solidFill>
            </a:endParaRPr>
          </a:p>
        </p:txBody>
      </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Bernoulli's inequality for the lower bound and </a:t>
                </a:r>
                <a14:m>
                  <m:oMath xmlns:m="http://schemas.openxmlformats.org/officeDocument/2006/math">
                    <m:r>
                      <m:rPr>
                        <m:sty m:val="p"/>
                      </m:rPr>
                      <a:rPr lang="en-IN" sz="2400">
                        <a:solidFill>
                          <a:srgbClr val="78350F"/>
                        </a:solidFill>
                        <a:latin typeface="Cambria Math" panose="02040503050406030204" pitchFamily="18" charset="0"/>
                      </a:rPr>
                      <m:t>ln</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𝑥</m:t>
                    </m:r>
                  </m:oMath>
                </a14:m>
                <a:r>
                  <a:rPr sz="2400" b="0">
                    <a:solidFill>
                      <a:srgbClr val="78350F"/>
                    </a:solidFill>
                    <a:latin typeface="Arial"/>
                  </a:rPr>
                  <a:t> for the upper bound.</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Bernoulli's inequality for the lower bound and </a:t>
                </a:r>
                <a:r>
                  <a:rPr lang="en-IN" sz="2400">
                    <a:solidFill>
                      <a:srgbClr val="78350F"/>
                    </a:solidFill>
                    <a:latin typeface="Cambria Math" panose="02040503050406030204" pitchFamily="18" charset="0"/>
                  </a:rPr>
                  <a:t>$\ln(1+x)&lt;x$</a:t>
                </a:r>
                <a:r>
                  <a:rPr sz="2400" b="0">
                    <a:solidFill>
                      <a:srgbClr val="78350F"/>
                    </a:solidFill>
                    <a:latin typeface="Arial"/>
                  </a:rPr>
                  <a:t> for the upper bound.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Bernoulli: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10000</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logarithms: </a:t>
                </a:r>
                <a14:m>
                  <m:oMath xmlns:m="http://schemas.openxmlformats.org/officeDocument/2006/math">
                    <m:r>
                      <m:rPr>
                        <m:sty m:val="p"/>
                      </m:rPr>
                      <a:rPr lang="en-IN" sz="2400">
                        <a:solidFill>
                          <a:srgbClr val="111827"/>
                        </a:solidFill>
                        <a:latin typeface="Cambria Math" panose="02040503050406030204" pitchFamily="18" charset="0"/>
                      </a:rPr>
                      <m:t>ln</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ln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0.0001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using </a:t>
                </a:r>
                <a14:m>
                  <m:oMath xmlns:m="http://schemas.openxmlformats.org/officeDocument/2006/math">
                    <m:r>
                      <m:rPr>
                        <m:sty m:val="p"/>
                      </m:rPr>
                      <a:rPr lang="en-IN" sz="2400">
                        <a:solidFill>
                          <a:srgbClr val="111827"/>
                        </a:solidFill>
                        <a:latin typeface="Cambria Math" panose="02040503050406030204" pitchFamily="18" charset="0"/>
                      </a:rPr>
                      <m:t>ln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value lies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required integer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(direct computation gives </a:t>
                </a:r>
                <a14:m>
                  <m:oMath xmlns:m="http://schemas.openxmlformats.org/officeDocument/2006/math">
                    <m:r>
                      <a:rPr lang="en-IN" sz="2400" i="1">
                        <a:solidFill>
                          <a:srgbClr val="111827"/>
                        </a:solidFill>
                        <a:latin typeface="Cambria Math" panose="02040503050406030204" pitchFamily="18" charset="0"/>
                      </a:rPr>
                      <m:t>2.71815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Bernoulli: </a:t>
                </a:r>
                <a:r>
                  <a:rPr lang="en-IN" sz="2400">
                    <a:solidFill>
                      <a:srgbClr val="111827"/>
                    </a:solidFill>
                    <a:latin typeface="Cambria Math" panose="02040503050406030204" pitchFamily="18" charset="0"/>
                  </a:rPr>
                  <a:t>$(1+x)^n&gt;1+nx$</a:t>
                </a:r>
                <a:r>
                  <a:rPr sz="2400" b="0">
                    <a:solidFill>
                      <a:srgbClr val="111827"/>
                    </a:solidFill>
                    <a:latin typeface="Arial"/>
                  </a:rPr>
                  <a:t> for </a:t>
                </a:r>
                <a:r>
                  <a:rPr lang="en-IN" sz="2400">
                    <a:solidFill>
                      <a:srgbClr val="111827"/>
                    </a:solidFill>
                    <a:latin typeface="Cambria Math" panose="02040503050406030204" pitchFamily="18" charset="0"/>
                  </a:rPr>
                  <a:t>$x&gt;0$</a:t>
                </a:r>
                <a:r>
                  <a:rPr sz="2400" b="0">
                    <a:solidFill>
                      <a:srgbClr val="111827"/>
                    </a:solidFill>
                    <a:latin typeface="Arial"/>
                  </a:rPr>
                  <a:t>, </a:t>
                </a:r>
                <a:r>
                  <a:rPr lang="en-IN" sz="2400">
                    <a:solidFill>
                      <a:srgbClr val="111827"/>
                    </a:solidFill>
                    <a:latin typeface="Cambria Math" panose="02040503050406030204" pitchFamily="18" charset="0"/>
                  </a:rPr>
                  <a:t>$n\ge2$</a:t>
                </a:r>
                <a:r>
                  <a:rPr sz="2400" b="0">
                    <a:solidFill>
                      <a:srgbClr val="111827"/>
                    </a:solidFill>
                    <a:latin typeface="Arial"/>
                  </a:rPr>
                  <a:t>. With </a:t>
                </a:r>
                <a:r>
                  <a:rPr lang="en-IN" sz="2400">
                    <a:solidFill>
                      <a:srgbClr val="111827"/>
                    </a:solidFill>
                    <a:latin typeface="Cambria Math" panose="02040503050406030204" pitchFamily="18" charset="0"/>
                  </a:rPr>
                  <a:t>$x=0.0001$</a:t>
                </a:r>
                <a:r>
                  <a:rPr sz="2400" b="0">
                    <a:solidFill>
                      <a:srgbClr val="111827"/>
                    </a:solidFill>
                    <a:latin typeface="Arial"/>
                  </a:rPr>
                  <a:t>, </a:t>
                </a:r>
                <a:r>
                  <a:rPr lang="en-IN" sz="2400">
                    <a:solidFill>
                      <a:srgbClr val="111827"/>
                    </a:solidFill>
                    <a:latin typeface="Cambria Math" panose="02040503050406030204" pitchFamily="18" charset="0"/>
                  </a:rPr>
                  <a:t>$n=10000$</a:t>
                </a:r>
                <a:r>
                  <a:rPr sz="2400" b="0">
                    <a:solidFill>
                      <a:srgbClr val="111827"/>
                    </a:solidFill>
                    <a:latin typeface="Arial"/>
                  </a:rPr>
                  <a:t>: </a:t>
                </a:r>
                <a:r>
                  <a:rPr lang="en-IN" sz="2400">
                    <a:solidFill>
                      <a:srgbClr val="111827"/>
                    </a:solidFill>
                    <a:latin typeface="Cambria Math" panose="02040503050406030204" pitchFamily="18" charset="0"/>
                  </a:rPr>
                  <a:t>$(1.0001)^{10000}&gt;1+1=2$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Take logarithms: </a:t>
                </a:r>
                <a:r>
                  <a:rPr lang="en-IN" sz="2400">
                    <a:solidFill>
                      <a:srgbClr val="111827"/>
                    </a:solidFill>
                    <a:latin typeface="Cambria Math" panose="02040503050406030204" pitchFamily="18" charset="0"/>
                  </a:rPr>
                  <a:t>$\ln\left[(1.0001)^{10000}\right]=10000\ln(1.0001)&lt;10000\times 0.0001=1$</a:t>
                </a:r>
                <a:r>
                  <a:rPr sz="2400" b="0">
                    <a:solidFill>
                      <a:srgbClr val="111827"/>
                    </a:solidFill>
                    <a:latin typeface="Arial"/>
                  </a:rPr>
                  <a:t>, using </a:t>
                </a:r>
                <a:r>
                  <a:rPr lang="en-IN" sz="2400">
                    <a:solidFill>
                      <a:srgbClr val="111827"/>
                    </a:solidFill>
                    <a:latin typeface="Cambria Math" panose="02040503050406030204" pitchFamily="18" charset="0"/>
                  </a:rPr>
                  <a:t>$\ln(1+x)&lt;x$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$(1.0001)^{10000}&lt;e&lt;3$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value lies in </a:t>
                </a:r>
                <a:r>
                  <a:rPr lang="en-IN" sz="2400">
                    <a:solidFill>
                      <a:srgbClr val="111827"/>
                    </a:solidFill>
                    <a:latin typeface="Cambria Math" panose="02040503050406030204" pitchFamily="18" charset="0"/>
                  </a:rPr>
                  <a:t>$(2,3)$</a:t>
                </a:r>
                <a:r>
                  <a:rPr sz="2400" b="0">
                    <a:solidFill>
                      <a:srgbClr val="111827"/>
                    </a:solidFill>
                    <a:latin typeface="Arial"/>
                  </a:rPr>
                  <a:t> and the required integer is </a:t>
                </a:r>
                <a:r>
                  <a:rPr lang="en-IN" sz="2400">
                    <a:solidFill>
                      <a:srgbClr val="111827"/>
                    </a:solidFill>
                    <a:latin typeface="Cambria Math" panose="02040503050406030204" pitchFamily="18" charset="0"/>
                  </a:rPr>
                  <a:t>$3$</a:t>
                </a:r>
                <a:r>
                  <a:rPr sz="2400" b="0">
                    <a:solidFill>
                      <a:srgbClr val="111827"/>
                    </a:solidFill>
                    <a:latin typeface="Arial"/>
                  </a:rPr>
                  <a:t> (direct computation gives </a:t>
                </a:r>
                <a:r>
                  <a:rPr lang="en-IN" sz="2400">
                    <a:solidFill>
                      <a:srgbClr val="111827"/>
                    </a:solidFill>
                    <a:latin typeface="Cambria Math" panose="02040503050406030204" pitchFamily="18" charset="0"/>
                  </a:rPr>
                  <a:t>$2.71815\ldots$</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a:t>
            </a:r>
            <a:endParaRPr sz="2800">
              <a:solidFill>
                <a:srgbClr val="15803D"/>
              </a:solidFill>
            </a:endParaRPr>
          </a:p>
        </p:txBody>
      </p:sp>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increases with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and tends to </a:t>
                </a:r>
                <a14:m>
                  <m:oMath xmlns:m="http://schemas.openxmlformats.org/officeDocument/2006/math">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2.718</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𝑛</m:t>
                                </m:r>
                              </m:den>
                            </m:f>
                          </m:e>
                        </m:d>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𝑒</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3</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Bernoulli: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integer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(strict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ln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𝑥</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ln</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oMath>
                </a14:m>
                <a:r>
                  <a:rPr sz="2400" b="0">
                    <a:solidFill>
                      <a:srgbClr val="111827"/>
                    </a:solidFill>
                    <a:latin typeface="Arial"/>
                  </a:rPr>
                  <a:t>, a one-line upper bound.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1.0001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10000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2.71815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(checked).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$\left(1+\frac1n\right)^n$</a:t>
                </a:r>
                <a:r>
                  <a:rPr sz="2400" b="0">
                    <a:solidFill>
                      <a:srgbClr val="111827"/>
                    </a:solidFill>
                    <a:latin typeface="Arial"/>
                  </a:rPr>
                  <a:t> increases with </a:t>
                </a:r>
                <a:r>
                  <a:rPr lang="en-IN" sz="2400">
                    <a:solidFill>
                      <a:srgbClr val="111827"/>
                    </a:solidFill>
                    <a:latin typeface="Cambria Math" panose="02040503050406030204" pitchFamily="18" charset="0"/>
                  </a:rPr>
                  <a:t>$n$</a:t>
                </a:r>
                <a:r>
                  <a:rPr sz="2400" b="0">
                    <a:solidFill>
                      <a:srgbClr val="111827"/>
                    </a:solidFill>
                    <a:latin typeface="Arial"/>
                  </a:rPr>
                  <a:t> and tends to </a:t>
                </a:r>
                <a:r>
                  <a:rPr lang="en-IN" sz="2400">
                    <a:solidFill>
                      <a:srgbClr val="111827"/>
                    </a:solidFill>
                    <a:latin typeface="Cambria Math" panose="02040503050406030204" pitchFamily="18" charset="0"/>
                  </a:rPr>
                  <a:t>$e\approx2.718$</a:t>
                </a:r>
                <a:r>
                  <a:rPr sz="2400" b="0">
                    <a:solidFill>
                      <a:srgbClr val="111827"/>
                    </a:solidFill>
                    <a:latin typeface="Arial"/>
                  </a:rPr>
                  <a:t>; so </a:t>
                </a:r>
                <a:r>
                  <a:rPr lang="en-IN" sz="2400">
                    <a:solidFill>
                      <a:srgbClr val="111827"/>
                    </a:solidFill>
                    <a:latin typeface="Cambria Math" panose="02040503050406030204" pitchFamily="18" charset="0"/>
                  </a:rPr>
                  <a:t>$2\le\left(1+\frac1n\right)^n&lt;e&lt;3$</a:t>
                </a:r>
                <a:r>
                  <a:rPr sz="2400" b="0">
                    <a:solidFill>
                      <a:srgbClr val="111827"/>
                    </a:solidFill>
                    <a:latin typeface="Arial"/>
                  </a:rPr>
                  <a:t> for all </a:t>
                </a:r>
                <a:r>
                  <a:rPr lang="en-IN" sz="2400">
                    <a:solidFill>
                      <a:srgbClr val="111827"/>
                    </a:solidFill>
                    <a:latin typeface="Cambria Math" panose="02040503050406030204" pitchFamily="18" charset="0"/>
                  </a:rPr>
                  <a:t>$n\ge1$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Bernoulli: </a:t>
                </a:r>
                <a:r>
                  <a:rPr lang="en-IN" sz="2400">
                    <a:solidFill>
                      <a:srgbClr val="111827"/>
                    </a:solidFill>
                    <a:latin typeface="Cambria Math" panose="02040503050406030204" pitchFamily="18" charset="0"/>
                  </a:rPr>
                  <a:t>$(1+x)^n\ge1+nx$</a:t>
                </a:r>
                <a:r>
                  <a:rPr sz="2400" b="0">
                    <a:solidFill>
                      <a:srgbClr val="111827"/>
                    </a:solidFill>
                    <a:latin typeface="Arial"/>
                  </a:rPr>
                  <a:t> for </a:t>
                </a:r>
                <a:r>
                  <a:rPr lang="en-IN" sz="2400">
                    <a:solidFill>
                      <a:srgbClr val="111827"/>
                    </a:solidFill>
                    <a:latin typeface="Cambria Math" panose="02040503050406030204" pitchFamily="18" charset="0"/>
                  </a:rPr>
                  <a:t>$x\ge-1$</a:t>
                </a:r>
                <a:r>
                  <a:rPr sz="2400" b="0">
                    <a:solidFill>
                      <a:srgbClr val="111827"/>
                    </a:solidFill>
                    <a:latin typeface="Arial"/>
                  </a:rPr>
                  <a:t>, integer </a:t>
                </a:r>
                <a:r>
                  <a:rPr lang="en-IN" sz="2400">
                    <a:solidFill>
                      <a:srgbClr val="111827"/>
                    </a:solidFill>
                    <a:latin typeface="Cambria Math" panose="02040503050406030204" pitchFamily="18" charset="0"/>
                  </a:rPr>
                  <a:t>$n\ge1$</a:t>
                </a:r>
                <a:r>
                  <a:rPr sz="2400" b="0">
                    <a:solidFill>
                      <a:srgbClr val="111827"/>
                    </a:solidFill>
                    <a:latin typeface="Arial"/>
                  </a:rPr>
                  <a:t> (strict for </a:t>
                </a:r>
                <a:r>
                  <a:rPr lang="en-IN" sz="2400">
                    <a:solidFill>
                      <a:srgbClr val="111827"/>
                    </a:solidFill>
                    <a:latin typeface="Cambria Math" panose="02040503050406030204" pitchFamily="18" charset="0"/>
                  </a:rPr>
                  <a:t>$x\neq0$</a:t>
                </a:r>
                <a:r>
                  <a:rPr sz="2400" b="0">
                    <a:solidFill>
                      <a:srgbClr val="111827"/>
                    </a:solidFill>
                    <a:latin typeface="Arial"/>
                  </a:rPr>
                  <a:t>, </a:t>
                </a:r>
                <a:r>
                  <a:rPr lang="en-IN" sz="2400">
                    <a:solidFill>
                      <a:srgbClr val="111827"/>
                    </a:solidFill>
                    <a:latin typeface="Cambria Math" panose="02040503050406030204" pitchFamily="18" charset="0"/>
                  </a:rPr>
                  <a:t>$n\ge2$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$\ln(1+x)&lt;x$</a:t>
                </a:r>
                <a:r>
                  <a:rPr sz="2400" b="0">
                    <a:solidFill>
                      <a:srgbClr val="111827"/>
                    </a:solidFill>
                    <a:latin typeface="Arial"/>
                  </a:rPr>
                  <a:t> for </a:t>
                </a:r>
                <a:r>
                  <a:rPr lang="en-IN" sz="2400">
                    <a:solidFill>
                      <a:srgbClr val="111827"/>
                    </a:solidFill>
                    <a:latin typeface="Cambria Math" panose="02040503050406030204" pitchFamily="18" charset="0"/>
                  </a:rPr>
                  <a:t>$x&gt;0$</a:t>
                </a:r>
                <a:r>
                  <a:rPr sz="2400" b="0">
                    <a:solidFill>
                      <a:srgbClr val="111827"/>
                    </a:solidFill>
                    <a:latin typeface="Arial"/>
                  </a:rPr>
                  <a:t> gives </a:t>
                </a:r>
                <a:r>
                  <a:rPr lang="en-IN" sz="2400">
                    <a:solidFill>
                      <a:srgbClr val="111827"/>
                    </a:solidFill>
                    <a:latin typeface="Cambria Math" panose="02040503050406030204" pitchFamily="18" charset="0"/>
                  </a:rPr>
                  <a:t>$n\ln(1+x)&lt;nx$</a:t>
                </a:r>
                <a:r>
                  <a:rPr sz="2400" b="0">
                    <a:solidFill>
                      <a:srgbClr val="111827"/>
                    </a:solidFill>
                    <a:latin typeface="Arial"/>
                  </a:rPr>
                  <a:t>, a one-line upper bound.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$(1.0001)^{10000}=2.71815\ldots$</a:t>
                </a:r>
                <a:r>
                  <a:rPr sz="2400" b="0">
                    <a:solidFill>
                      <a:srgbClr val="111827"/>
                    </a:solidFill>
                    <a:latin typeface="Arial"/>
                  </a:rPr>
                  <a:t> (checked).</a:t>
                </a:r>
                <a:endParaRPr sz="2400">
                  <a:solidFill>
                    <a:srgbClr val="111827"/>
                  </a:solidFill>
                </a:endParaRPr>
              </a:p>
            </p:txBody>
          </p:sp>
        </mc:Fallback>
      </mc:AlternateContent>
    </p:spTree>
  </p:cSld>
  <p:clrMapOvr>
    <a:masterClrMapping/>
  </p:clrMapOvr>
</p:sld>
</file>

<file path=ppt/slides/slide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fair dice are thrown simultaneously. If the probability that the highest number obtained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Four fair dice are thrown simultaneously. If the probability that the highest number obtained is </a:t>
                </a:r>
                <a:r>
                  <a:rPr lang="en-IN" sz="2400">
                    <a:solidFill>
                      <a:srgbClr val="111827"/>
                    </a:solidFill>
                    <a:latin typeface="Cambria Math" panose="02040503050406030204" pitchFamily="18" charset="0"/>
                  </a:rPr>
                  <a:t>$4$</a:t>
                </a:r>
                <a:r>
                  <a:rPr sz="2400" b="0">
                    <a:solidFill>
                      <a:srgbClr val="111827"/>
                    </a:solidFill>
                    <a:latin typeface="Arial"/>
                  </a:rPr>
                  <a:t> is </a:t>
                </a:r>
                <a:r>
                  <a:rPr lang="en-IN" sz="2400">
                    <a:solidFill>
                      <a:srgbClr val="111827"/>
                    </a:solidFill>
                    <a:latin typeface="Cambria Math" panose="02040503050406030204" pitchFamily="18" charset="0"/>
                  </a:rPr>
                  <a:t>$\frac{25a}{1296}$</a:t>
                </a:r>
                <a:r>
                  <a:rPr sz="2400" b="0">
                    <a:solidFill>
                      <a:srgbClr val="111827"/>
                    </a:solidFill>
                    <a:latin typeface="Arial"/>
                  </a:rPr>
                  <a:t>, then </a:t>
                </a:r>
                <a:r>
                  <a:rPr lang="en-IN" sz="2400">
                    <a:solidFill>
                      <a:srgbClr val="111827"/>
                    </a:solidFill>
                    <a:latin typeface="Cambria Math" panose="02040503050406030204" pitchFamily="18" charset="0"/>
                  </a:rPr>
                  <a:t>$a$</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254755"/>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highest number obtained when dice are thrown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highest number is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means at least one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and nothing above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count by the number of dice showing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highest number is </a:t>
                </a:r>
                <a:r>
                  <a:rPr lang="en-IN" sz="2400">
                    <a:solidFill>
                      <a:srgbClr val="78350F"/>
                    </a:solidFill>
                    <a:latin typeface="Cambria Math" panose="02040503050406030204" pitchFamily="18" charset="0"/>
                  </a:rPr>
                  <a:t>$4$</a:t>
                </a:r>
                <a:r>
                  <a:rPr sz="2400" b="0">
                    <a:solidFill>
                      <a:srgbClr val="78350F"/>
                    </a:solidFill>
                    <a:latin typeface="Arial"/>
                  </a:rPr>
                  <a:t> means at least one </a:t>
                </a:r>
                <a:r>
                  <a:rPr lang="en-IN" sz="2400">
                    <a:solidFill>
                      <a:srgbClr val="78350F"/>
                    </a:solidFill>
                    <a:latin typeface="Cambria Math" panose="02040503050406030204" pitchFamily="18" charset="0"/>
                  </a:rPr>
                  <a:t>$4$</a:t>
                </a:r>
                <a:r>
                  <a:rPr sz="2400" b="0">
                    <a:solidFill>
                      <a:srgbClr val="78350F"/>
                    </a:solidFill>
                    <a:latin typeface="Arial"/>
                  </a:rPr>
                  <a:t> and nothing above </a:t>
                </a:r>
                <a:r>
                  <a:rPr lang="en-IN" sz="2400">
                    <a:solidFill>
                      <a:srgbClr val="78350F"/>
                    </a:solidFill>
                    <a:latin typeface="Cambria Math" panose="02040503050406030204" pitchFamily="18" charset="0"/>
                  </a:rPr>
                  <a:t>$4$</a:t>
                </a:r>
                <a:r>
                  <a:rPr sz="2400" b="0">
                    <a:solidFill>
                      <a:srgbClr val="78350F"/>
                    </a:solidFill>
                    <a:latin typeface="Arial"/>
                  </a:rPr>
                  <a:t>; count by the number of dice showing </a:t>
                </a:r>
                <a:r>
                  <a:rPr lang="en-IN" sz="2400">
                    <a:solidFill>
                      <a:srgbClr val="78350F"/>
                    </a:solidFill>
                    <a:latin typeface="Cambria Math" panose="02040503050406030204" pitchFamily="18" charset="0"/>
                  </a:rPr>
                  <a:t>$4$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highest number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exactly when at least one die shows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and every die shows at most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be the number of dice showing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the other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oMath>
                </a14:m>
                <a:r>
                  <a:rPr sz="2400" b="0">
                    <a:solidFill>
                      <a:srgbClr val="111827"/>
                    </a:solidFill>
                    <a:latin typeface="Arial"/>
                  </a:rPr>
                  <a:t> dice must show one of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(three choices each). Required probability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highest number is </a:t>
                </a:r>
                <a:r>
                  <a:rPr lang="en-IN" sz="2400">
                    <a:solidFill>
                      <a:srgbClr val="111827"/>
                    </a:solidFill>
                    <a:latin typeface="Cambria Math" panose="02040503050406030204" pitchFamily="18" charset="0"/>
                  </a:rPr>
                  <a:t>$4$</a:t>
                </a:r>
                <a:r>
                  <a:rPr sz="2400" b="0">
                    <a:solidFill>
                      <a:srgbClr val="111827"/>
                    </a:solidFill>
                    <a:latin typeface="Arial"/>
                  </a:rPr>
                  <a:t> exactly when at least one die shows </a:t>
                </a:r>
                <a:r>
                  <a:rPr lang="en-IN" sz="2400">
                    <a:solidFill>
                      <a:srgbClr val="111827"/>
                    </a:solidFill>
                    <a:latin typeface="Cambria Math" panose="02040503050406030204" pitchFamily="18" charset="0"/>
                  </a:rPr>
                  <a:t>$4$</a:t>
                </a:r>
                <a:r>
                  <a:rPr sz="2400" b="0">
                    <a:solidFill>
                      <a:srgbClr val="111827"/>
                    </a:solidFill>
                    <a:latin typeface="Arial"/>
                  </a:rPr>
                  <a:t> and every die shows at most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$x$</a:t>
                </a:r>
                <a:r>
                  <a:rPr sz="2400" b="0">
                    <a:solidFill>
                      <a:srgbClr val="111827"/>
                    </a:solidFill>
                    <a:latin typeface="Arial"/>
                  </a:rPr>
                  <a:t> be the number of dice showing </a:t>
                </a:r>
                <a:r>
                  <a:rPr lang="en-IN" sz="2400">
                    <a:solidFill>
                      <a:srgbClr val="111827"/>
                    </a:solidFill>
                    <a:latin typeface="Cambria Math" panose="02040503050406030204" pitchFamily="18" charset="0"/>
                  </a:rPr>
                  <a:t>$4$</a:t>
                </a:r>
                <a:r>
                  <a:rPr sz="2400" b="0">
                    <a:solidFill>
                      <a:srgbClr val="111827"/>
                    </a:solidFill>
                    <a:latin typeface="Arial"/>
                  </a:rPr>
                  <a:t>; the other </a:t>
                </a:r>
                <a:r>
                  <a:rPr lang="en-IN" sz="2400">
                    <a:solidFill>
                      <a:srgbClr val="111827"/>
                    </a:solidFill>
                    <a:latin typeface="Cambria Math" panose="02040503050406030204" pitchFamily="18" charset="0"/>
                  </a:rPr>
                  <a:t>$4-x$</a:t>
                </a:r>
                <a:r>
                  <a:rPr sz="2400" b="0">
                    <a:solidFill>
                      <a:srgbClr val="111827"/>
                    </a:solidFill>
                    <a:latin typeface="Arial"/>
                  </a:rPr>
                  <a:t> dice must show one of </a:t>
                </a:r>
                <a:r>
                  <a:rPr lang="en-IN" sz="2400">
                    <a:solidFill>
                      <a:srgbClr val="111827"/>
                    </a:solidFill>
                    <a:latin typeface="Cambria Math" panose="02040503050406030204" pitchFamily="18" charset="0"/>
                  </a:rPr>
                  <a:t>$1,2,3$</a:t>
                </a:r>
                <a:r>
                  <a:rPr sz="2400" b="0">
                    <a:solidFill>
                      <a:srgbClr val="111827"/>
                    </a:solidFill>
                    <a:latin typeface="Arial"/>
                  </a:rPr>
                  <a:t> (three choices each). Required probability </a:t>
                </a:r>
                <a:r>
                  <a:rPr lang="en-IN" sz="2400">
                    <a:solidFill>
                      <a:srgbClr val="111827"/>
                    </a:solidFill>
                    <a:latin typeface="Cambria Math" panose="02040503050406030204" pitchFamily="18" charset="0"/>
                  </a:rPr>
                  <a:t>$=P(x=1)+P(x=2)+P(x=3)+P(x=4)$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$P(x=1)=\frac{{}^4C_1\times 3^3}{6^4}$</a:t>
                </a:r>
                <a:r>
                  <a:rPr sz="2400" b="0">
                    <a:solidFill>
                      <a:srgbClr val="111827"/>
                    </a:solidFill>
                    <a:latin typeface="Arial"/>
                  </a:rPr>
                  <a:t>, </a:t>
                </a:r>
                <a:r>
                  <a:rPr lang="en-IN" sz="2400">
                    <a:solidFill>
                      <a:srgbClr val="111827"/>
                    </a:solidFill>
                    <a:latin typeface="Cambria Math" panose="02040503050406030204" pitchFamily="18" charset="0"/>
                  </a:rPr>
                  <a:t>$P(x=2)=\frac{{}^4C_2\times 3^2}{6^4}$</a:t>
                </a:r>
                <a:r>
                  <a:rPr sz="2400" b="0">
                    <a:solidFill>
                      <a:srgbClr val="111827"/>
                    </a:solidFill>
                    <a:latin typeface="Arial"/>
                  </a:rPr>
                  <a:t>, </a:t>
                </a:r>
                <a:r>
                  <a:rPr lang="en-IN" sz="2400">
                    <a:solidFill>
                      <a:srgbClr val="111827"/>
                    </a:solidFill>
                    <a:latin typeface="Cambria Math" panose="02040503050406030204" pitchFamily="18" charset="0"/>
                  </a:rPr>
                  <a:t>$P(x=3)=\frac{{}^4C_3\times 3}{6^4}$</a:t>
                </a:r>
                <a:r>
                  <a:rPr sz="2400" b="0">
                    <a:solidFill>
                      <a:srgbClr val="111827"/>
                    </a:solidFill>
                    <a:latin typeface="Arial"/>
                  </a:rPr>
                  <a:t>, </a:t>
                </a:r>
                <a:r>
                  <a:rPr lang="en-IN" sz="2400">
                    <a:solidFill>
                      <a:srgbClr val="111827"/>
                    </a:solidFill>
                    <a:latin typeface="Cambria Math" panose="02040503050406030204" pitchFamily="18" charset="0"/>
                  </a:rPr>
                  <a:t>$P(x=4)=\frac{1}{6^4}$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Numerators: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108</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sum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175</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1296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175</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 we get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Numerators: </a:t>
                </a:r>
                <a:r>
                  <a:rPr lang="en-IN" sz="2400">
                    <a:solidFill>
                      <a:srgbClr val="111827"/>
                    </a:solidFill>
                    <a:latin typeface="Cambria Math" panose="02040503050406030204" pitchFamily="18" charset="0"/>
                  </a:rPr>
                  <a:t>$4\cdot27=108$</a:t>
                </a:r>
                <a:r>
                  <a:rPr sz="2400" b="0">
                    <a:solidFill>
                      <a:srgbClr val="111827"/>
                    </a:solidFill>
                    <a:latin typeface="Arial"/>
                  </a:rPr>
                  <a:t>, </a:t>
                </a:r>
                <a:r>
                  <a:rPr lang="en-IN" sz="2400">
                    <a:solidFill>
                      <a:srgbClr val="111827"/>
                    </a:solidFill>
                    <a:latin typeface="Cambria Math" panose="02040503050406030204" pitchFamily="18" charset="0"/>
                  </a:rPr>
                  <a:t>$6\cdot9=54$</a:t>
                </a:r>
                <a:r>
                  <a:rPr sz="2400" b="0">
                    <a:solidFill>
                      <a:srgbClr val="111827"/>
                    </a:solidFill>
                    <a:latin typeface="Arial"/>
                  </a:rPr>
                  <a:t>, </a:t>
                </a:r>
                <a:r>
                  <a:rPr lang="en-IN" sz="2400">
                    <a:solidFill>
                      <a:srgbClr val="111827"/>
                    </a:solidFill>
                    <a:latin typeface="Cambria Math" panose="02040503050406030204" pitchFamily="18" charset="0"/>
                  </a:rPr>
                  <a:t>$4\cdot3=12$</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 sum </a:t>
                </a:r>
                <a:r>
                  <a:rPr lang="en-IN" sz="2400">
                    <a:solidFill>
                      <a:srgbClr val="111827"/>
                    </a:solidFill>
                    <a:latin typeface="Cambria Math" panose="02040503050406030204" pitchFamily="18" charset="0"/>
                  </a:rPr>
                  <a:t>$=175$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$=\frac{175}{1296}$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$\frac{25a}{1296}=\frac{175}{1296}$</a:t>
                </a:r>
                <a:r>
                  <a:rPr sz="2400" b="0">
                    <a:solidFill>
                      <a:srgbClr val="111827"/>
                    </a:solidFill>
                    <a:latin typeface="Arial"/>
                  </a:rPr>
                  <a:t>, we get </a:t>
                </a:r>
                <a:r>
                  <a:rPr lang="en-IN" sz="2400">
                    <a:solidFill>
                      <a:srgbClr val="111827"/>
                    </a:solidFill>
                    <a:latin typeface="Cambria Math" panose="02040503050406030204" pitchFamily="18" charset="0"/>
                  </a:rPr>
                  <a:t>$a=7$</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7</a:t>
            </a:r>
            <a:endParaRPr sz="2800">
              <a:solidFill>
                <a:srgbClr val="15803D"/>
              </a:solidFill>
            </a:endParaRPr>
          </a:p>
        </p:txBody>
      </p:sp>
    </p:spTree>
  </p:cSld>
  <p:clrMapOvr>
    <a:masterClrMapping/>
  </p:clrMapOvr>
</p:sld>
</file>

<file path=ppt/slides/slide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Highest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4</m:t>
                    </m:r>
                  </m:oMath>
                </a14:m>
                <a:r>
                  <a:rPr sz="2400" b="0">
                    <a:solidFill>
                      <a:srgbClr val="78350F"/>
                    </a:solidFill>
                    <a:latin typeface="Arial"/>
                  </a:rPr>
                  <a:t> minus highest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oMath>
                </a14:m>
                <a:r>
                  <a:rPr sz="2400" b="0">
                    <a:solidFill>
                      <a:srgbClr val="78350F"/>
                    </a:solidFill>
                    <a:latin typeface="Arial"/>
                  </a:rPr>
                  <a:t>: the count of outcomes with maximum exactly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is </a:t>
                </a:r>
                <a14:m>
                  <m:oMath xmlns:m="http://schemas.openxmlformats.org/officeDocument/2006/math">
                    <m:sSup>
                      <m:e>
                        <m:r>
                          <a:rPr lang="en-IN" sz="2400" i="1">
                            <a:solidFill>
                              <a:srgbClr val="78350F"/>
                            </a:solidFill>
                            <a:latin typeface="Cambria Math" panose="02040503050406030204" pitchFamily="18" charset="0"/>
                          </a:rPr>
                          <m:t>4</m:t>
                        </m:r>
                      </m:e>
                      <m:sup>
                        <m:r>
                          <a:rPr lang="en-IN" sz="2400" i="1">
                            <a:solidFill>
                              <a:srgbClr val="78350F"/>
                            </a:solidFill>
                            <a:latin typeface="Cambria Math" panose="02040503050406030204" pitchFamily="18" charset="0"/>
                          </a:rPr>
                          <m:t>4</m:t>
                        </m:r>
                      </m:sup>
                    </m:sSup>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3</m:t>
                        </m:r>
                      </m:e>
                      <m:sup>
                        <m:r>
                          <a:rPr lang="en-IN" sz="2400" i="1">
                            <a:solidFill>
                              <a:srgbClr val="78350F"/>
                            </a:solidFill>
                            <a:latin typeface="Cambria Math" panose="02040503050406030204" pitchFamily="18" charset="0"/>
                          </a:rPr>
                          <m:t>4</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Highest </a:t>
                </a:r>
                <a:r>
                  <a:rPr lang="en-IN" sz="2400">
                    <a:solidFill>
                      <a:srgbClr val="78350F"/>
                    </a:solidFill>
                    <a:latin typeface="Cambria Math" panose="02040503050406030204" pitchFamily="18" charset="0"/>
                  </a:rPr>
                  <a:t>$\le4$</a:t>
                </a:r>
                <a:r>
                  <a:rPr sz="2400" b="0">
                    <a:solidFill>
                      <a:srgbClr val="78350F"/>
                    </a:solidFill>
                    <a:latin typeface="Arial"/>
                  </a:rPr>
                  <a:t> minus highest </a:t>
                </a:r>
                <a:r>
                  <a:rPr lang="en-IN" sz="2400">
                    <a:solidFill>
                      <a:srgbClr val="78350F"/>
                    </a:solidFill>
                    <a:latin typeface="Cambria Math" panose="02040503050406030204" pitchFamily="18" charset="0"/>
                  </a:rPr>
                  <a:t>$\le3$</a:t>
                </a:r>
                <a:r>
                  <a:rPr sz="2400" b="0">
                    <a:solidFill>
                      <a:srgbClr val="78350F"/>
                    </a:solidFill>
                    <a:latin typeface="Arial"/>
                  </a:rPr>
                  <a:t>: the count of outcomes with maximum exactly </a:t>
                </a:r>
                <a:r>
                  <a:rPr lang="en-IN" sz="2400">
                    <a:solidFill>
                      <a:srgbClr val="78350F"/>
                    </a:solidFill>
                    <a:latin typeface="Cambria Math" panose="02040503050406030204" pitchFamily="18" charset="0"/>
                  </a:rPr>
                  <a:t>$4$</a:t>
                </a:r>
                <a:r>
                  <a:rPr sz="2400" b="0">
                    <a:solidFill>
                      <a:srgbClr val="78350F"/>
                    </a:solidFill>
                    <a:latin typeface="Arial"/>
                  </a:rPr>
                  <a:t> is </a:t>
                </a:r>
                <a:r>
                  <a:rPr lang="en-IN" sz="2400">
                    <a:solidFill>
                      <a:srgbClr val="78350F"/>
                    </a:solidFill>
                    <a:latin typeface="Cambria Math" panose="02040503050406030204" pitchFamily="18" charset="0"/>
                  </a:rPr>
                  <a:t>$4^4-3^4$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Outcomes with every die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 Outcomes with every die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Outcomes with maximum exactly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175</m:t>
                    </m:r>
                  </m:oMath>
                </a14:m>
                <a:r>
                  <a:rPr sz="2400" b="0">
                    <a:solidFill>
                      <a:srgbClr val="111827"/>
                    </a:solidFill>
                    <a:latin typeface="Arial"/>
                  </a:rPr>
                  <a:t> out of </a:t>
                </a:r>
                <a14:m>
                  <m:oMath xmlns:m="http://schemas.openxmlformats.org/officeDocument/2006/math">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1296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175</m:t>
                        </m:r>
                      </m:num>
                      <m:den>
                        <m:r>
                          <a:rPr lang="en-IN" sz="2400" i="1">
                            <a:solidFill>
                              <a:srgbClr val="111827"/>
                            </a:solidFill>
                            <a:latin typeface="Cambria Math" panose="02040503050406030204" pitchFamily="18" charset="0"/>
                          </a:rPr>
                          <m:t>1296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Outcomes with every die </a:t>
                </a:r>
                <a:r>
                  <a:rPr lang="en-IN" sz="2400">
                    <a:solidFill>
                      <a:srgbClr val="111827"/>
                    </a:solidFill>
                    <a:latin typeface="Cambria Math" panose="02040503050406030204" pitchFamily="18" charset="0"/>
                  </a:rPr>
                  <a:t>$\le4$</a:t>
                </a:r>
                <a:r>
                  <a:rPr sz="2400" b="0">
                    <a:solidFill>
                      <a:srgbClr val="111827"/>
                    </a:solidFill>
                    <a:latin typeface="Arial"/>
                  </a:rPr>
                  <a:t>: </a:t>
                </a:r>
                <a:r>
                  <a:rPr lang="en-IN" sz="2400">
                    <a:solidFill>
                      <a:srgbClr val="111827"/>
                    </a:solidFill>
                    <a:latin typeface="Cambria Math" panose="02040503050406030204" pitchFamily="18" charset="0"/>
                  </a:rPr>
                  <a:t>$4^4=256$</a:t>
                </a:r>
                <a:r>
                  <a:rPr sz="2400" b="0">
                    <a:solidFill>
                      <a:srgbClr val="111827"/>
                    </a:solidFill>
                    <a:latin typeface="Arial"/>
                  </a:rPr>
                  <a:t>. Outcomes with every die </a:t>
                </a:r>
                <a:r>
                  <a:rPr lang="en-IN" sz="2400">
                    <a:solidFill>
                      <a:srgbClr val="111827"/>
                    </a:solidFill>
                    <a:latin typeface="Cambria Math" panose="02040503050406030204" pitchFamily="18" charset="0"/>
                  </a:rPr>
                  <a:t>$\le3$</a:t>
                </a:r>
                <a:r>
                  <a:rPr sz="2400" b="0">
                    <a:solidFill>
                      <a:srgbClr val="111827"/>
                    </a:solidFill>
                    <a:latin typeface="Arial"/>
                  </a:rPr>
                  <a:t>: </a:t>
                </a:r>
                <a:r>
                  <a:rPr lang="en-IN" sz="2400">
                    <a:solidFill>
                      <a:srgbClr val="111827"/>
                    </a:solidFill>
                    <a:latin typeface="Cambria Math" panose="02040503050406030204" pitchFamily="18" charset="0"/>
                  </a:rPr>
                  <a:t>$3^4=81$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Outcomes with maximum exactly </a:t>
                </a:r>
                <a:r>
                  <a:rPr lang="en-IN" sz="2400">
                    <a:solidFill>
                      <a:srgbClr val="111827"/>
                    </a:solidFill>
                    <a:latin typeface="Cambria Math" panose="02040503050406030204" pitchFamily="18" charset="0"/>
                  </a:rPr>
                  <a:t>$4$</a:t>
                </a:r>
                <a:r>
                  <a:rPr sz="2400" b="0">
                    <a:solidFill>
                      <a:srgbClr val="111827"/>
                    </a:solidFill>
                    <a:latin typeface="Arial"/>
                  </a:rPr>
                  <a:t>: </a:t>
                </a:r>
                <a:r>
                  <a:rPr lang="en-IN" sz="2400">
                    <a:solidFill>
                      <a:srgbClr val="111827"/>
                    </a:solidFill>
                    <a:latin typeface="Cambria Math" panose="02040503050406030204" pitchFamily="18" charset="0"/>
                  </a:rPr>
                  <a:t>$256-81=175$</a:t>
                </a:r>
                <a:r>
                  <a:rPr sz="2400" b="0">
                    <a:solidFill>
                      <a:srgbClr val="111827"/>
                    </a:solidFill>
                    <a:latin typeface="Arial"/>
                  </a:rPr>
                  <a:t> out of </a:t>
                </a:r>
                <a:r>
                  <a:rPr lang="en-IN" sz="2400">
                    <a:solidFill>
                      <a:srgbClr val="111827"/>
                    </a:solidFill>
                    <a:latin typeface="Cambria Math" panose="02040503050406030204" pitchFamily="18" charset="0"/>
                  </a:rPr>
                  <a:t>$6^4=1296$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probability is </a:t>
                </a:r>
                <a:r>
                  <a:rPr lang="en-IN" sz="2400">
                    <a:solidFill>
                      <a:srgbClr val="111827"/>
                    </a:solidFill>
                    <a:latin typeface="Cambria Math" panose="02040503050406030204" pitchFamily="18" charset="0"/>
                  </a:rPr>
                  <a:t>$\frac{175}{1296}=\frac{25\times7}{1296}$</a:t>
                </a:r>
                <a:r>
                  <a:rPr sz="2400" b="0">
                    <a:solidFill>
                      <a:srgbClr val="111827"/>
                    </a:solidFill>
                    <a:latin typeface="Arial"/>
                  </a:rPr>
                  <a:t> and </a:t>
                </a:r>
                <a:r>
                  <a:rPr lang="en-IN" sz="2400">
                    <a:solidFill>
                      <a:srgbClr val="111827"/>
                    </a:solidFill>
                    <a:latin typeface="Cambria Math" panose="02040503050406030204" pitchFamily="18" charset="0"/>
                  </a:rPr>
                  <a:t>$a=7$</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7</a:t>
            </a:r>
            <a:endParaRPr sz="2800">
              <a:solidFill>
                <a:srgbClr val="15803D"/>
              </a:solidFill>
            </a:endParaRPr>
          </a:p>
        </p:txBody>
      </p:sp>
    </p:spTree>
  </p:cSld>
  <p:clrMapOvr>
    <a:masterClrMapping/>
  </p:clrMapOvr>
</p:sld>
</file>

<file path=ppt/slides/slide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dice,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𝑚𝑎𝑥𝑖𝑚𝑢𝑚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𝑛</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𝑚𝑖𝑛𝑖𝑚𝑢𝑚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𝑛</m:t>
                            </m:r>
                          </m:sup>
                        </m:sSup>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256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num>
                      <m:den>
                        <m:r>
                          <a:rPr lang="en-IN" sz="2400" i="1">
                            <a:solidFill>
                              <a:srgbClr val="111827"/>
                            </a:solidFill>
                            <a:latin typeface="Cambria Math" panose="02040503050406030204" pitchFamily="18" charset="0"/>
                          </a:rPr>
                          <m:t>1296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175</m:t>
                        </m:r>
                      </m:num>
                      <m:den>
                        <m:r>
                          <a:rPr lang="en-IN" sz="2400" i="1">
                            <a:solidFill>
                              <a:srgbClr val="111827"/>
                            </a:solidFill>
                            <a:latin typeface="Cambria Math" panose="02040503050406030204" pitchFamily="18" charset="0"/>
                          </a:rPr>
                          <m:t>1296</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a:t>
                </a:r>
                <a:r>
                  <a:rPr sz="2400" b="0">
                    <a:solidFill>
                      <a:srgbClr val="111827"/>
                    </a:solidFill>
                    <a:latin typeface="Arial"/>
                  </a:rPr>
                  <a:t> dice, </a:t>
                </a:r>
                <a:r>
                  <a:rPr lang="en-IN" sz="2400">
                    <a:solidFill>
                      <a:srgbClr val="111827"/>
                    </a:solidFill>
                    <a:latin typeface="Cambria Math" panose="02040503050406030204" pitchFamily="18" charset="0"/>
                  </a:rPr>
                  <a:t>$P(\text{maximum}=k)=\frac{k^n-(k-1)^n}{6^n}$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$P(\text{minimum}=k)=\frac{(7-k)^n-(6-k)^n}{6^n}$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a:t>
                </a:r>
                <a:r>
                  <a:rPr lang="en-IN" sz="2400">
                    <a:solidFill>
                      <a:srgbClr val="111827"/>
                    </a:solidFill>
                    <a:latin typeface="Cambria Math" panose="02040503050406030204" pitchFamily="18" charset="0"/>
                  </a:rPr>
                  <a:t>$n=4,k=4$</a:t>
                </a:r>
                <a:r>
                  <a:rPr sz="2400" b="0">
                    <a:solidFill>
                      <a:srgbClr val="111827"/>
                    </a:solidFill>
                    <a:latin typeface="Arial"/>
                  </a:rPr>
                  <a:t> gives </a:t>
                </a:r>
                <a:r>
                  <a:rPr lang="en-IN" sz="2400">
                    <a:solidFill>
                      <a:srgbClr val="111827"/>
                    </a:solidFill>
                    <a:latin typeface="Cambria Math" panose="02040503050406030204" pitchFamily="18" charset="0"/>
                  </a:rPr>
                  <a:t>$\frac{256-81}{1296}=\frac{175}{1296}$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box contains </a:t>
                </a:r>
                <a14:m>
                  <m:oMath xmlns:m="http://schemas.openxmlformats.org/officeDocument/2006/math">
                    <m:r>
                      <a:rPr lang="en-IN" sz="2400" i="1">
                        <a:solidFill>
                          <a:srgbClr val="111827"/>
                        </a:solidFill>
                        <a:latin typeface="Cambria Math" panose="02040503050406030204" pitchFamily="18" charset="0"/>
                      </a:rPr>
                      <m:t>28</m:t>
                    </m:r>
                  </m:oMath>
                </a14:m>
                <a:r>
                  <a:rPr sz="2400" b="0">
                    <a:solidFill>
                      <a:srgbClr val="111827"/>
                    </a:solidFill>
                    <a:latin typeface="Arial"/>
                  </a:rPr>
                  <a:t> identical balls of which </a:t>
                </a:r>
                <a14:m>
                  <m:oMath xmlns:m="http://schemas.openxmlformats.org/officeDocument/2006/math">
                    <m:r>
                      <a:rPr lang="en-IN" sz="2400" i="1">
                        <a:solidFill>
                          <a:srgbClr val="111827"/>
                        </a:solidFill>
                        <a:latin typeface="Cambria Math" panose="02040503050406030204" pitchFamily="18" charset="0"/>
                      </a:rPr>
                      <m:t>21</m:t>
                    </m:r>
                  </m:oMath>
                </a14:m>
                <a:r>
                  <a:rPr sz="2400" b="0">
                    <a:solidFill>
                      <a:srgbClr val="111827"/>
                    </a:solidFill>
                    <a:latin typeface="Arial"/>
                  </a:rPr>
                  <a:t> are red and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are black. Balls are drawn at random from the box one at a time with replacement. If the probability that a red ball is drawn for the </a:t>
                </a:r>
                <a14:m>
                  <m:oMath xmlns:m="http://schemas.openxmlformats.org/officeDocument/2006/math">
                    <m:sSup>
                      <m:e>
                        <m:r>
                          <a:rPr lang="en-IN" sz="2400" i="1">
                            <a:solidFill>
                              <a:srgbClr val="111827"/>
                            </a:solidFill>
                            <a:latin typeface="Cambria Math" panose="02040503050406030204" pitchFamily="18" charset="0"/>
                          </a:rPr>
                          <m:t>5</m:t>
                        </m:r>
                      </m:e>
                      <m:sup>
                        <m:r>
                          <m:rPr>
                            <m:nor/>
                          </m:rPr>
                          <a:rPr lang="en-IN" sz="2400" i="1">
                            <a:solidFill>
                              <a:srgbClr val="111827"/>
                            </a:solidFill>
                            <a:latin typeface="Cambria Math" panose="02040503050406030204" pitchFamily="18" charset="0"/>
                          </a:rPr>
                          <m:t>𝑡ℎ</m:t>
                        </m:r>
                      </m:sup>
                    </m:sSup>
                  </m:oMath>
                </a14:m>
                <a:r>
                  <a:rPr sz="2400" b="0">
                    <a:solidFill>
                      <a:srgbClr val="111827"/>
                    </a:solidFill>
                    <a:latin typeface="Arial"/>
                  </a:rPr>
                  <a:t> time on the </a:t>
                </a:r>
                <a14:m>
                  <m:oMath xmlns:m="http://schemas.openxmlformats.org/officeDocument/2006/math">
                    <m:sSup>
                      <m:e>
                        <m:r>
                          <a:rPr lang="en-IN" sz="2400" i="1">
                            <a:solidFill>
                              <a:srgbClr val="111827"/>
                            </a:solidFill>
                            <a:latin typeface="Cambria Math" panose="02040503050406030204" pitchFamily="18" charset="0"/>
                          </a:rPr>
                          <m:t>13</m:t>
                        </m:r>
                      </m:e>
                      <m:sup>
                        <m:r>
                          <m:rPr>
                            <m:nor/>
                          </m:rPr>
                          <a:rPr lang="en-IN" sz="2400" i="1">
                            <a:solidFill>
                              <a:srgbClr val="111827"/>
                            </a:solidFill>
                            <a:latin typeface="Cambria Math" panose="02040503050406030204" pitchFamily="18" charset="0"/>
                          </a:rPr>
                          <m:t>𝑡ℎ</m:t>
                        </m:r>
                      </m:sup>
                    </m:sSup>
                  </m:oMath>
                </a14:m>
                <a:r>
                  <a:rPr sz="2400" b="0">
                    <a:solidFill>
                      <a:srgbClr val="111827"/>
                    </a:solidFill>
                    <a:latin typeface="Arial"/>
                  </a:rPr>
                  <a:t> draw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𝑘</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13</m:t>
                            </m:r>
                          </m:sup>
                        </m:sSup>
                      </m:den>
                    </m:f>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is ________.</a:t>
                </a:r>
                <a:endParaRPr sz="2400">
                  <a:solidFill>
                    <a:srgbClr val="111827"/>
                  </a:solidFill>
                </a:endParaRPr>
              </a:p>
            </p:txBody>
          </p:sp>
        </mc:Choice>
        <mc:Fallback>
          <p:sp>
            <p:nvSpPr>
              <p:cNvPr id="4" name="Rounded Rectangle 3"/>
              <p:cNvSpPr/>
              <p:nvPr/>
            </p:nvSpPr>
            <p:spPr>
              <a:xfrm>
                <a:off x="731520" y="1280160"/>
                <a:ext cx="10725912" cy="2489707"/>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box contains </a:t>
                </a:r>
                <a:r>
                  <a:rPr lang="en-IN" sz="2400">
                    <a:solidFill>
                      <a:srgbClr val="111827"/>
                    </a:solidFill>
                    <a:latin typeface="Cambria Math" panose="02040503050406030204" pitchFamily="18" charset="0"/>
                  </a:rPr>
                  <a:t>$28$</a:t>
                </a:r>
                <a:r>
                  <a:rPr sz="2400" b="0">
                    <a:solidFill>
                      <a:srgbClr val="111827"/>
                    </a:solidFill>
                    <a:latin typeface="Arial"/>
                  </a:rPr>
                  <a:t> identical balls of which </a:t>
                </a:r>
                <a:r>
                  <a:rPr lang="en-IN" sz="2400">
                    <a:solidFill>
                      <a:srgbClr val="111827"/>
                    </a:solidFill>
                    <a:latin typeface="Cambria Math" panose="02040503050406030204" pitchFamily="18" charset="0"/>
                  </a:rPr>
                  <a:t>$21$</a:t>
                </a:r>
                <a:r>
                  <a:rPr sz="2400" b="0">
                    <a:solidFill>
                      <a:srgbClr val="111827"/>
                    </a:solidFill>
                    <a:latin typeface="Arial"/>
                  </a:rPr>
                  <a:t> are red and </a:t>
                </a:r>
                <a:r>
                  <a:rPr lang="en-IN" sz="2400">
                    <a:solidFill>
                      <a:srgbClr val="111827"/>
                    </a:solidFill>
                    <a:latin typeface="Cambria Math" panose="02040503050406030204" pitchFamily="18" charset="0"/>
                  </a:rPr>
                  <a:t>$7$</a:t>
                </a:r>
                <a:r>
                  <a:rPr sz="2400" b="0">
                    <a:solidFill>
                      <a:srgbClr val="111827"/>
                    </a:solidFill>
                    <a:latin typeface="Arial"/>
                  </a:rPr>
                  <a:t> are black. Balls are drawn at random from the box one at a time with replacement. If the probability that a red ball is drawn for the </a:t>
                </a:r>
                <a:r>
                  <a:rPr lang="en-IN" sz="2400">
                    <a:solidFill>
                      <a:srgbClr val="111827"/>
                    </a:solidFill>
                    <a:latin typeface="Cambria Math" panose="02040503050406030204" pitchFamily="18" charset="0"/>
                  </a:rPr>
                  <a:t>$5^{\text{th}}$</a:t>
                </a:r>
                <a:r>
                  <a:rPr sz="2400" b="0">
                    <a:solidFill>
                      <a:srgbClr val="111827"/>
                    </a:solidFill>
                    <a:latin typeface="Arial"/>
                  </a:rPr>
                  <a:t> time on the </a:t>
                </a:r>
                <a:r>
                  <a:rPr lang="en-IN" sz="2400">
                    <a:solidFill>
                      <a:srgbClr val="111827"/>
                    </a:solidFill>
                    <a:latin typeface="Cambria Math" panose="02040503050406030204" pitchFamily="18" charset="0"/>
                  </a:rPr>
                  <a:t>$13^{\text{th}}$</a:t>
                </a:r>
                <a:r>
                  <a:rPr sz="2400" b="0">
                    <a:solidFill>
                      <a:srgbClr val="111827"/>
                    </a:solidFill>
                    <a:latin typeface="Arial"/>
                  </a:rPr>
                  <a:t> draw is </a:t>
                </a:r>
                <a:r>
                  <a:rPr lang="en-IN" sz="2400">
                    <a:solidFill>
                      <a:srgbClr val="111827"/>
                    </a:solidFill>
                    <a:latin typeface="Cambria Math" panose="02040503050406030204" pitchFamily="18" charset="0"/>
                  </a:rPr>
                  <a:t>$\frac{55\cdot3^k}{4^{13}}$</a:t>
                </a:r>
                <a:r>
                  <a:rPr sz="2400" b="0">
                    <a:solidFill>
                      <a:srgbClr val="111827"/>
                    </a:solidFill>
                    <a:latin typeface="Arial"/>
                  </a:rPr>
                  <a:t>, then </a:t>
                </a:r>
                <a:r>
                  <a:rPr lang="en-IN" sz="2400">
                    <a:solidFill>
                      <a:srgbClr val="111827"/>
                    </a:solidFill>
                    <a:latin typeface="Cambria Math" panose="02040503050406030204" pitchFamily="18" charset="0"/>
                  </a:rPr>
                  <a:t>$k$</a:t>
                </a:r>
                <a:r>
                  <a:rPr sz="2400" b="0">
                    <a:solidFill>
                      <a:srgbClr val="111827"/>
                    </a:solidFill>
                    <a:latin typeface="Arial"/>
                  </a:rPr>
                  <a:t> is ________.</a:t>
                </a:r>
                <a:endParaRPr sz="2400">
                  <a:solidFill>
                    <a:srgbClr val="111827"/>
                  </a:solidFill>
                </a:endParaRPr>
              </a:p>
            </p:txBody>
          </p:sp>
        </mc:Fallback>
      </mc:AlternateContent>
      <p:sp>
        <p:nvSpPr>
          <p:cNvPr id="5" name="Rectangle 4"/>
          <p:cNvSpPr/>
          <p:nvPr/>
        </p:nvSpPr>
        <p:spPr>
          <a:xfrm>
            <a:off x="731520" y="3998467"/>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repeated independent trials (negative binomial)</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th red on the </a:t>
                </a:r>
                <a14:m>
                  <m:oMath xmlns:m="http://schemas.openxmlformats.org/officeDocument/2006/math">
                    <m:r>
                      <a:rPr lang="en-IN" sz="2400" i="1">
                        <a:solidFill>
                          <a:srgbClr val="78350F"/>
                        </a:solidFill>
                        <a:latin typeface="Cambria Math" panose="02040503050406030204" pitchFamily="18" charset="0"/>
                      </a:rPr>
                      <m:t>13</m:t>
                    </m:r>
                  </m:oMath>
                </a14:m>
                <a:r>
                  <a:rPr sz="2400" b="0">
                    <a:solidFill>
                      <a:srgbClr val="78350F"/>
                    </a:solidFill>
                    <a:latin typeface="Arial"/>
                  </a:rPr>
                  <a:t>th draw means exactly </a:t>
                </a:r>
                <a14:m>
                  <m:oMath xmlns:m="http://schemas.openxmlformats.org/officeDocument/2006/math">
                    <m:r>
                      <a:rPr lang="en-IN" sz="2400" i="1">
                        <a:solidFill>
                          <a:srgbClr val="78350F"/>
                        </a:solidFill>
                        <a:latin typeface="Cambria Math" panose="02040503050406030204" pitchFamily="18" charset="0"/>
                      </a:rPr>
                      <m:t>4</m:t>
                    </m:r>
                  </m:oMath>
                </a14:m>
                <a:r>
                  <a:rPr sz="2400" b="0">
                    <a:solidFill>
                      <a:srgbClr val="78350F"/>
                    </a:solidFill>
                    <a:latin typeface="Arial"/>
                  </a:rPr>
                  <a:t> reds in the first </a:t>
                </a:r>
                <a14:m>
                  <m:oMath xmlns:m="http://schemas.openxmlformats.org/officeDocument/2006/math">
                    <m:r>
                      <a:rPr lang="en-IN" sz="2400" i="1">
                        <a:solidFill>
                          <a:srgbClr val="78350F"/>
                        </a:solidFill>
                        <a:latin typeface="Cambria Math" panose="02040503050406030204" pitchFamily="18" charset="0"/>
                      </a:rPr>
                      <m:t>12</m:t>
                    </m:r>
                  </m:oMath>
                </a14:m>
                <a:r>
                  <a:rPr sz="2400" b="0">
                    <a:solidFill>
                      <a:srgbClr val="78350F"/>
                    </a:solidFill>
                    <a:latin typeface="Arial"/>
                  </a:rPr>
                  <a:t> draws and then a red on the </a:t>
                </a:r>
                <a14:m>
                  <m:oMath xmlns:m="http://schemas.openxmlformats.org/officeDocument/2006/math">
                    <m:r>
                      <a:rPr lang="en-IN" sz="2400" i="1">
                        <a:solidFill>
                          <a:srgbClr val="78350F"/>
                        </a:solidFill>
                        <a:latin typeface="Cambria Math" panose="02040503050406030204" pitchFamily="18" charset="0"/>
                      </a:rPr>
                      <m:t>13</m:t>
                    </m:r>
                  </m:oMath>
                </a14:m>
                <a:r>
                  <a:rPr sz="2400" b="0">
                    <a:solidFill>
                      <a:srgbClr val="78350F"/>
                    </a:solidFill>
                    <a:latin typeface="Arial"/>
                  </a:rPr>
                  <a:t>th.</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a:t>
                </a:r>
                <a:r>
                  <a:rPr lang="en-IN" sz="2400">
                    <a:solidFill>
                      <a:srgbClr val="78350F"/>
                    </a:solidFill>
                    <a:latin typeface="Cambria Math" panose="02040503050406030204" pitchFamily="18" charset="0"/>
                  </a:rPr>
                  <a:t>$5$</a:t>
                </a:r>
                <a:r>
                  <a:rPr sz="2400" b="0">
                    <a:solidFill>
                      <a:srgbClr val="78350F"/>
                    </a:solidFill>
                    <a:latin typeface="Arial"/>
                  </a:rPr>
                  <a:t>th red on the </a:t>
                </a:r>
                <a:r>
                  <a:rPr lang="en-IN" sz="2400">
                    <a:solidFill>
                      <a:srgbClr val="78350F"/>
                    </a:solidFill>
                    <a:latin typeface="Cambria Math" panose="02040503050406030204" pitchFamily="18" charset="0"/>
                  </a:rPr>
                  <a:t>$13$</a:t>
                </a:r>
                <a:r>
                  <a:rPr sz="2400" b="0">
                    <a:solidFill>
                      <a:srgbClr val="78350F"/>
                    </a:solidFill>
                    <a:latin typeface="Arial"/>
                  </a:rPr>
                  <a:t>th draw means exactly </a:t>
                </a:r>
                <a:r>
                  <a:rPr lang="en-IN" sz="2400">
                    <a:solidFill>
                      <a:srgbClr val="78350F"/>
                    </a:solidFill>
                    <a:latin typeface="Cambria Math" panose="02040503050406030204" pitchFamily="18" charset="0"/>
                  </a:rPr>
                  <a:t>$4$</a:t>
                </a:r>
                <a:r>
                  <a:rPr sz="2400" b="0">
                    <a:solidFill>
                      <a:srgbClr val="78350F"/>
                    </a:solidFill>
                    <a:latin typeface="Arial"/>
                  </a:rPr>
                  <a:t> reds in the first </a:t>
                </a:r>
                <a:r>
                  <a:rPr lang="en-IN" sz="2400">
                    <a:solidFill>
                      <a:srgbClr val="78350F"/>
                    </a:solidFill>
                    <a:latin typeface="Cambria Math" panose="02040503050406030204" pitchFamily="18" charset="0"/>
                  </a:rPr>
                  <a:t>$12$</a:t>
                </a:r>
                <a:r>
                  <a:rPr sz="2400" b="0">
                    <a:solidFill>
                      <a:srgbClr val="78350F"/>
                    </a:solidFill>
                    <a:latin typeface="Arial"/>
                  </a:rPr>
                  <a:t> draws and then a red on the </a:t>
                </a:r>
                <a:r>
                  <a:rPr lang="en-IN" sz="2400">
                    <a:solidFill>
                      <a:srgbClr val="78350F"/>
                    </a:solidFill>
                    <a:latin typeface="Cambria Math" panose="02040503050406030204" pitchFamily="18" charset="0"/>
                  </a:rPr>
                  <a:t>$13$</a:t>
                </a:r>
                <a:r>
                  <a:rPr sz="2400" b="0">
                    <a:solidFill>
                      <a:srgbClr val="78350F"/>
                    </a:solidFill>
                    <a:latin typeface="Arial"/>
                  </a:rPr>
                  <a:t>th.</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the draws are with replacement,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21</m:t>
                        </m:r>
                      </m:num>
                      <m:den>
                        <m:r>
                          <a:rPr lang="en-IN" sz="2400" i="1">
                            <a:solidFill>
                              <a:srgbClr val="111827"/>
                            </a:solidFill>
                            <a:latin typeface="Cambria Math" panose="02040503050406030204" pitchFamily="18" charset="0"/>
                          </a:rPr>
                          <m:t>28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th red ball on the </a:t>
                </a:r>
                <a14:m>
                  <m:oMath xmlns:m="http://schemas.openxmlformats.org/officeDocument/2006/math">
                    <m:r>
                      <a:rPr lang="en-IN" sz="2400" i="1">
                        <a:solidFill>
                          <a:srgbClr val="111827"/>
                        </a:solidFill>
                        <a:latin typeface="Cambria Math" panose="02040503050406030204" pitchFamily="18" charset="0"/>
                      </a:rPr>
                      <m:t>13</m:t>
                    </m:r>
                  </m:oMath>
                </a14:m>
                <a:r>
                  <a:rPr sz="2400" b="0">
                    <a:solidFill>
                      <a:srgbClr val="111827"/>
                    </a:solidFill>
                    <a:latin typeface="Arial"/>
                  </a:rPr>
                  <a:t>th draw means exactly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reds and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 blacks in the first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draws, then a red on the </a:t>
                </a:r>
                <a14:m>
                  <m:oMath xmlns:m="http://schemas.openxmlformats.org/officeDocument/2006/math">
                    <m:r>
                      <a:rPr lang="en-IN" sz="2400" i="1">
                        <a:solidFill>
                          <a:srgbClr val="111827"/>
                        </a:solidFill>
                        <a:latin typeface="Cambria Math" panose="02040503050406030204" pitchFamily="18" charset="0"/>
                      </a:rPr>
                      <m:t>13</m:t>
                    </m:r>
                  </m:oMath>
                </a14:m>
                <a:r>
                  <a:rPr sz="2400" b="0">
                    <a:solidFill>
                      <a:srgbClr val="111827"/>
                    </a:solidFill>
                    <a:latin typeface="Arial"/>
                  </a:rPr>
                  <a:t>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4</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the draws are with replacement, </a:t>
                </a:r>
                <a:r>
                  <a:rPr lang="en-IN" sz="2400">
                    <a:solidFill>
                      <a:srgbClr val="111827"/>
                    </a:solidFill>
                    <a:latin typeface="Cambria Math" panose="02040503050406030204" pitchFamily="18" charset="0"/>
                  </a:rPr>
                  <a:t>$P(R)=\frac{21}{28}=\frac34$</a:t>
                </a:r>
                <a:r>
                  <a:rPr sz="2400" b="0">
                    <a:solidFill>
                      <a:srgbClr val="111827"/>
                    </a:solidFill>
                    <a:latin typeface="Arial"/>
                  </a:rPr>
                  <a:t> and </a:t>
                </a:r>
                <a:r>
                  <a:rPr lang="en-IN" sz="2400">
                    <a:solidFill>
                      <a:srgbClr val="111827"/>
                    </a:solidFill>
                    <a:latin typeface="Cambria Math" panose="02040503050406030204" pitchFamily="18" charset="0"/>
                  </a:rPr>
                  <a:t>$P(B)=\frac14$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$5$</a:t>
                </a:r>
                <a:r>
                  <a:rPr sz="2400" b="0">
                    <a:solidFill>
                      <a:srgbClr val="111827"/>
                    </a:solidFill>
                    <a:latin typeface="Arial"/>
                  </a:rPr>
                  <a:t>th red ball on the </a:t>
                </a:r>
                <a:r>
                  <a:rPr lang="en-IN" sz="2400">
                    <a:solidFill>
                      <a:srgbClr val="111827"/>
                    </a:solidFill>
                    <a:latin typeface="Cambria Math" panose="02040503050406030204" pitchFamily="18" charset="0"/>
                  </a:rPr>
                  <a:t>$13$</a:t>
                </a:r>
                <a:r>
                  <a:rPr sz="2400" b="0">
                    <a:solidFill>
                      <a:srgbClr val="111827"/>
                    </a:solidFill>
                    <a:latin typeface="Arial"/>
                  </a:rPr>
                  <a:t>th draw means exactly </a:t>
                </a:r>
                <a:r>
                  <a:rPr lang="en-IN" sz="2400">
                    <a:solidFill>
                      <a:srgbClr val="111827"/>
                    </a:solidFill>
                    <a:latin typeface="Cambria Math" panose="02040503050406030204" pitchFamily="18" charset="0"/>
                  </a:rPr>
                  <a:t>$4$</a:t>
                </a:r>
                <a:r>
                  <a:rPr sz="2400" b="0">
                    <a:solidFill>
                      <a:srgbClr val="111827"/>
                    </a:solidFill>
                    <a:latin typeface="Arial"/>
                  </a:rPr>
                  <a:t> reds and </a:t>
                </a:r>
                <a:r>
                  <a:rPr lang="en-IN" sz="2400">
                    <a:solidFill>
                      <a:srgbClr val="111827"/>
                    </a:solidFill>
                    <a:latin typeface="Cambria Math" panose="02040503050406030204" pitchFamily="18" charset="0"/>
                  </a:rPr>
                  <a:t>$8$</a:t>
                </a:r>
                <a:r>
                  <a:rPr sz="2400" b="0">
                    <a:solidFill>
                      <a:srgbClr val="111827"/>
                    </a:solidFill>
                    <a:latin typeface="Arial"/>
                  </a:rPr>
                  <a:t> blacks in the first </a:t>
                </a:r>
                <a:r>
                  <a:rPr lang="en-IN" sz="2400">
                    <a:solidFill>
                      <a:srgbClr val="111827"/>
                    </a:solidFill>
                    <a:latin typeface="Cambria Math" panose="02040503050406030204" pitchFamily="18" charset="0"/>
                  </a:rPr>
                  <a:t>$12$</a:t>
                </a:r>
                <a:r>
                  <a:rPr sz="2400" b="0">
                    <a:solidFill>
                      <a:srgbClr val="111827"/>
                    </a:solidFill>
                    <a:latin typeface="Arial"/>
                  </a:rPr>
                  <a:t> draws, then a red on the </a:t>
                </a:r>
                <a:r>
                  <a:rPr lang="en-IN" sz="2400">
                    <a:solidFill>
                      <a:srgbClr val="111827"/>
                    </a:solidFill>
                    <a:latin typeface="Cambria Math" panose="02040503050406030204" pitchFamily="18" charset="0"/>
                  </a:rPr>
                  <a:t>$13$</a:t>
                </a:r>
                <a:r>
                  <a:rPr sz="2400" b="0">
                    <a:solidFill>
                      <a:srgbClr val="111827"/>
                    </a:solidFill>
                    <a:latin typeface="Arial"/>
                  </a:rPr>
                  <a:t>th.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probability </a:t>
                </a:r>
                <a:r>
                  <a:rPr lang="en-IN" sz="2400">
                    <a:solidFill>
                      <a:srgbClr val="111827"/>
                    </a:solidFill>
                    <a:latin typeface="Cambria Math" panose="02040503050406030204" pitchFamily="18" charset="0"/>
                  </a:rPr>
                  <a:t>$=\frac{12!}{8!\,4!}\left(\frac34\right)^4\left(\frac14\right)^8\cdot\frac34$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495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powers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from the probabilities: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contributes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and the powers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total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13</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13</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7</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13</m:t>
                            </m:r>
                          </m:sup>
                        </m:sSup>
                      </m:den>
                    </m:f>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(the printed key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is incorrect).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$\frac{12!}{8!\,4!}=495=55\times 9=55\times3^2$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powers of </a:t>
                </a:r>
                <a:r>
                  <a:rPr lang="en-IN" sz="2400">
                    <a:solidFill>
                      <a:srgbClr val="111827"/>
                    </a:solidFill>
                    <a:latin typeface="Cambria Math" panose="02040503050406030204" pitchFamily="18" charset="0"/>
                  </a:rPr>
                  <a:t>$3$</a:t>
                </a:r>
                <a:r>
                  <a:rPr sz="2400" b="0">
                    <a:solidFill>
                      <a:srgbClr val="111827"/>
                    </a:solidFill>
                    <a:latin typeface="Arial"/>
                  </a:rPr>
                  <a:t> from the probabilities: </a:t>
                </a:r>
                <a:r>
                  <a:rPr lang="en-IN" sz="2400">
                    <a:solidFill>
                      <a:srgbClr val="111827"/>
                    </a:solidFill>
                    <a:latin typeface="Cambria Math" panose="02040503050406030204" pitchFamily="18" charset="0"/>
                  </a:rPr>
                  <a:t>$\left(\frac34\right)^4\cdot\frac34$</a:t>
                </a:r>
                <a:r>
                  <a:rPr sz="2400" b="0">
                    <a:solidFill>
                      <a:srgbClr val="111827"/>
                    </a:solidFill>
                    <a:latin typeface="Arial"/>
                  </a:rPr>
                  <a:t> contributes </a:t>
                </a:r>
                <a:r>
                  <a:rPr lang="en-IN" sz="2400">
                    <a:solidFill>
                      <a:srgbClr val="111827"/>
                    </a:solidFill>
                    <a:latin typeface="Cambria Math" panose="02040503050406030204" pitchFamily="18" charset="0"/>
                  </a:rPr>
                  <a:t>$3^5$</a:t>
                </a:r>
                <a:r>
                  <a:rPr sz="2400" b="0">
                    <a:solidFill>
                      <a:srgbClr val="111827"/>
                    </a:solidFill>
                    <a:latin typeface="Arial"/>
                  </a:rPr>
                  <a:t>, and the powers of </a:t>
                </a:r>
                <a:r>
                  <a:rPr lang="en-IN" sz="2400">
                    <a:solidFill>
                      <a:srgbClr val="111827"/>
                    </a:solidFill>
                    <a:latin typeface="Cambria Math" panose="02040503050406030204" pitchFamily="18" charset="0"/>
                  </a:rPr>
                  <a:t>$4$</a:t>
                </a:r>
                <a:r>
                  <a:rPr sz="2400" b="0">
                    <a:solidFill>
                      <a:srgbClr val="111827"/>
                    </a:solidFill>
                    <a:latin typeface="Arial"/>
                  </a:rPr>
                  <a:t> total </a:t>
                </a:r>
                <a:r>
                  <a:rPr lang="en-IN" sz="2400">
                    <a:solidFill>
                      <a:srgbClr val="111827"/>
                    </a:solidFill>
                    <a:latin typeface="Cambria Math" panose="02040503050406030204" pitchFamily="18" charset="0"/>
                  </a:rPr>
                  <a:t>$4^{4+8+1}=4^{13}$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probability is </a:t>
                </a:r>
                <a:r>
                  <a:rPr lang="en-IN" sz="2400">
                    <a:solidFill>
                      <a:srgbClr val="111827"/>
                    </a:solidFill>
                    <a:latin typeface="Cambria Math" panose="02040503050406030204" pitchFamily="18" charset="0"/>
                  </a:rPr>
                  <a:t>$\frac{55\cdot3^2\cdot3^5}{4^{13}}=\frac{55\cdot3^7}{4^{13}}$</a:t>
                </a:r>
                <a:r>
                  <a:rPr sz="2400" b="0">
                    <a:solidFill>
                      <a:srgbClr val="111827"/>
                    </a:solidFill>
                    <a:latin typeface="Arial"/>
                  </a:rPr>
                  <a:t>, giving </a:t>
                </a:r>
                <a:r>
                  <a:rPr lang="en-IN" sz="2400">
                    <a:solidFill>
                      <a:srgbClr val="111827"/>
                    </a:solidFill>
                    <a:latin typeface="Cambria Math" panose="02040503050406030204" pitchFamily="18" charset="0"/>
                  </a:rPr>
                  <a:t>$k=7$</a:t>
                </a:r>
                <a:r>
                  <a:rPr sz="2400" b="0">
                    <a:solidFill>
                      <a:srgbClr val="111827"/>
                    </a:solidFill>
                    <a:latin typeface="Arial"/>
                  </a:rPr>
                  <a:t> (the printed key </a:t>
                </a:r>
                <a:r>
                  <a:rPr lang="en-IN" sz="2400">
                    <a:solidFill>
                      <a:srgbClr val="111827"/>
                    </a:solidFill>
                    <a:latin typeface="Cambria Math" panose="02040503050406030204" pitchFamily="18" charset="0"/>
                  </a:rPr>
                  <a:t>$9$</a:t>
                </a:r>
                <a:r>
                  <a:rPr sz="2400" b="0">
                    <a:solidFill>
                      <a:srgbClr val="111827"/>
                    </a:solidFill>
                    <a:latin typeface="Arial"/>
                  </a:rPr>
                  <a:t> is incorrect).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7</a:t>
            </a:r>
            <a:endParaRPr sz="2800">
              <a:solidFill>
                <a:srgbClr val="15803D"/>
              </a:solidFill>
            </a:endParaRPr>
          </a:p>
        </p:txBody>
      </p:sp>
    </p:spTree>
  </p:cSld>
  <p:clrMapOvr>
    <a:masterClrMapping/>
  </p:clrMapOvr>
</p:sld>
</file>

<file path=ppt/slides/slide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exponent of </a:t>
                </a:r>
                <a14:m>
                  <m:oMath xmlns:m="http://schemas.openxmlformats.org/officeDocument/2006/math">
                    <m:r>
                      <a:rPr lang="en-IN" sz="2400" i="1">
                        <a:solidFill>
                          <a:srgbClr val="78350F"/>
                        </a:solidFill>
                        <a:latin typeface="Cambria Math" panose="02040503050406030204" pitchFamily="18" charset="0"/>
                      </a:rPr>
                      <m:t>3</m:t>
                    </m:r>
                  </m:oMath>
                </a14:m>
                <a:r>
                  <a:rPr sz="2400" b="0">
                    <a:solidFill>
                      <a:srgbClr val="78350F"/>
                    </a:solidFill>
                    <a:latin typeface="Arial"/>
                  </a:rPr>
                  <a:t> in the coefficient directly with Legendre's formula, instead of evaluating </a:t>
                </a:r>
                <a14:m>
                  <m:oMath xmlns:m="http://schemas.openxmlformats.org/officeDocument/2006/math">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12</m:t>
                            </m:r>
                          </m:num>
                          <m:den>
                            <m:r>
                              <a:rPr lang="en-IN" sz="2400" i="1">
                                <a:solidFill>
                                  <a:srgbClr val="78350F"/>
                                </a:solidFill>
                                <a:latin typeface="Cambria Math" panose="02040503050406030204" pitchFamily="18" charset="0"/>
                              </a:rPr>
                              <m:t>4</m:t>
                            </m:r>
                          </m:den>
                        </m:f>
                      </m:e>
                    </m:d>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Find the exponent of </a:t>
                </a:r>
                <a:r>
                  <a:rPr lang="en-IN" sz="2400">
                    <a:solidFill>
                      <a:srgbClr val="78350F"/>
                    </a:solidFill>
                    <a:latin typeface="Cambria Math" panose="02040503050406030204" pitchFamily="18" charset="0"/>
                  </a:rPr>
                  <a:t>$3$</a:t>
                </a:r>
                <a:r>
                  <a:rPr sz="2400" b="0">
                    <a:solidFill>
                      <a:srgbClr val="78350F"/>
                    </a:solidFill>
                    <a:latin typeface="Arial"/>
                  </a:rPr>
                  <a:t> in the coefficient directly with Legendre's formula, instead of evaluating </a:t>
                </a:r>
                <a:r>
                  <a:rPr lang="en-IN" sz="2400">
                    <a:solidFill>
                      <a:srgbClr val="78350F"/>
                    </a:solidFill>
                    <a:latin typeface="Cambria Math" panose="02040503050406030204" pitchFamily="18" charset="0"/>
                  </a:rPr>
                  <a:t>$\binom{12}{4}$</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probability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5</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13</m:t>
                            </m:r>
                          </m:sup>
                        </m:sSup>
                      </m:den>
                    </m:f>
                  </m:oMath>
                </a14:m>
                <a:r>
                  <a:rPr sz="2400" b="0">
                    <a:solidFill>
                      <a:srgbClr val="111827"/>
                    </a:solidFill>
                    <a:latin typeface="Arial"/>
                  </a:rPr>
                  <a:t> (4 reds among the first 12 draws, then a red).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need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Since </a:t>
                </a:r>
                <a14:m>
                  <m:oMath xmlns:m="http://schemas.openxmlformats.org/officeDocument/2006/math">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 is coprime to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is the exponent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Legendre: </a:t>
                </a:r>
                <a14:m>
                  <m:oMath xmlns:m="http://schemas.openxmlformats.org/officeDocument/2006/math">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probability is </a:t>
                </a:r>
                <a:r>
                  <a:rPr lang="en-IN" sz="2400">
                    <a:solidFill>
                      <a:srgbClr val="111827"/>
                    </a:solidFill>
                    <a:latin typeface="Cambria Math" panose="02040503050406030204" pitchFamily="18" charset="0"/>
                  </a:rPr>
                  <a:t>$\binom{12}{4}\left(\frac34\right)^5\left(\frac14\right)^8=\binom{12}{4}\frac{3^5}{4^{13}}$</a:t>
                </a:r>
                <a:r>
                  <a:rPr sz="2400" b="0">
                    <a:solidFill>
                      <a:srgbClr val="111827"/>
                    </a:solidFill>
                    <a:latin typeface="Arial"/>
                  </a:rPr>
                  <a:t> (4 reds among the first 12 draws, then a red).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need </a:t>
                </a:r>
                <a:r>
                  <a:rPr lang="en-IN" sz="2400">
                    <a:solidFill>
                      <a:srgbClr val="111827"/>
                    </a:solidFill>
                    <a:latin typeface="Cambria Math" panose="02040503050406030204" pitchFamily="18" charset="0"/>
                  </a:rPr>
                  <a:t>$\binom{12}{4}\cdot3^5=55\cdot3^k$</a:t>
                </a:r>
                <a:r>
                  <a:rPr sz="2400" b="0">
                    <a:solidFill>
                      <a:srgbClr val="111827"/>
                    </a:solidFill>
                    <a:latin typeface="Arial"/>
                  </a:rPr>
                  <a:t>. Since </a:t>
                </a:r>
                <a:r>
                  <a:rPr lang="en-IN" sz="2400">
                    <a:solidFill>
                      <a:srgbClr val="111827"/>
                    </a:solidFill>
                    <a:latin typeface="Cambria Math" panose="02040503050406030204" pitchFamily="18" charset="0"/>
                  </a:rPr>
                  <a:t>$55=5\cdot11$</a:t>
                </a:r>
                <a:r>
                  <a:rPr sz="2400" b="0">
                    <a:solidFill>
                      <a:srgbClr val="111827"/>
                    </a:solidFill>
                    <a:latin typeface="Arial"/>
                  </a:rPr>
                  <a:t> is coprime to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$k$</a:t>
                </a:r>
                <a:r>
                  <a:rPr sz="2400" b="0">
                    <a:solidFill>
                      <a:srgbClr val="111827"/>
                    </a:solidFill>
                    <a:latin typeface="Arial"/>
                  </a:rPr>
                  <a:t> is the exponent of </a:t>
                </a:r>
                <a:r>
                  <a:rPr lang="en-IN" sz="2400">
                    <a:solidFill>
                      <a:srgbClr val="111827"/>
                    </a:solidFill>
                    <a:latin typeface="Cambria Math" panose="02040503050406030204" pitchFamily="18" charset="0"/>
                  </a:rPr>
                  <a:t>$3$</a:t>
                </a:r>
                <a:r>
                  <a:rPr sz="2400" b="0">
                    <a:solidFill>
                      <a:srgbClr val="111827"/>
                    </a:solidFill>
                    <a:latin typeface="Arial"/>
                  </a:rPr>
                  <a:t> in </a:t>
                </a:r>
                <a:r>
                  <a:rPr lang="en-IN" sz="2400">
                    <a:solidFill>
                      <a:srgbClr val="111827"/>
                    </a:solidFill>
                    <a:latin typeface="Cambria Math" panose="02040503050406030204" pitchFamily="18" charset="0"/>
                  </a:rPr>
                  <a:t>$\binom{12}{4}\cdot3^5$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Legendre: </a:t>
                </a:r>
                <a:r>
                  <a:rPr lang="en-IN" sz="2400">
                    <a:solidFill>
                      <a:srgbClr val="111827"/>
                    </a:solidFill>
                    <a:latin typeface="Cambria Math" panose="02040503050406030204" pitchFamily="18" charset="0"/>
                  </a:rPr>
                  <a:t>$v_3(12!)=4+1=5$</a:t>
                </a:r>
                <a:r>
                  <a:rPr sz="2400" b="0">
                    <a:solidFill>
                      <a:srgbClr val="111827"/>
                    </a:solidFill>
                    <a:latin typeface="Arial"/>
                  </a:rPr>
                  <a:t>, </a:t>
                </a:r>
                <a:r>
                  <a:rPr lang="en-IN" sz="2400">
                    <a:solidFill>
                      <a:srgbClr val="111827"/>
                    </a:solidFill>
                    <a:latin typeface="Cambria Math" panose="02040503050406030204" pitchFamily="18" charset="0"/>
                  </a:rPr>
                  <a:t>$v_3(8!)=2$</a:t>
                </a:r>
                <a:r>
                  <a:rPr sz="2400" b="0">
                    <a:solidFill>
                      <a:srgbClr val="111827"/>
                    </a:solidFill>
                    <a:latin typeface="Arial"/>
                  </a:rPr>
                  <a:t>, </a:t>
                </a:r>
                <a:r>
                  <a:rPr lang="en-IN" sz="2400">
                    <a:solidFill>
                      <a:srgbClr val="111827"/>
                    </a:solidFill>
                    <a:latin typeface="Cambria Math" panose="02040503050406030204" pitchFamily="18" charset="0"/>
                  </a:rPr>
                  <a:t>$v_3(4!)=1$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𝑣</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(the remaining factor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oMath>
                </a14:m>
                <a:r>
                  <a:rPr sz="2400" b="0">
                    <a:solidFill>
                      <a:srgbClr val="111827"/>
                    </a:solidFill>
                    <a:latin typeface="Arial"/>
                  </a:rPr>
                  <a:t>, as required).</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$v_3\binom{12}{4}=v_3(12!)-v_3(8!)-v_3(4!)=5-2-1=2$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$k=2+5=7$</a:t>
                </a:r>
                <a:r>
                  <a:rPr sz="2400" b="0">
                    <a:solidFill>
                      <a:srgbClr val="111827"/>
                    </a:solidFill>
                    <a:latin typeface="Arial"/>
                  </a:rPr>
                  <a:t> (the remaining factor is </a:t>
                </a:r>
                <a:r>
                  <a:rPr lang="en-IN" sz="2400">
                    <a:solidFill>
                      <a:srgbClr val="111827"/>
                    </a:solidFill>
                    <a:latin typeface="Cambria Math" panose="02040503050406030204" pitchFamily="18" charset="0"/>
                  </a:rPr>
                  <a:t>$\binom{12}{4}/3^2=55$</a:t>
                </a:r>
                <a:r>
                  <a:rPr sz="2400" b="0">
                    <a:solidFill>
                      <a:srgbClr val="111827"/>
                    </a:solidFill>
                    <a:latin typeface="Arial"/>
                  </a:rPr>
                  <a:t>, as required).</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7</a:t>
            </a:r>
            <a:endParaRPr sz="2800">
              <a:solidFill>
                <a:srgbClr val="15803D"/>
              </a:solidFill>
            </a:endParaRPr>
          </a:p>
        </p:txBody>
      </p:sp>
    </p:spTree>
  </p:cSld>
  <p:clrMapOvr>
    <a:masterClrMapping/>
  </p:clrMapOvr>
</p:sld>
</file>

<file path=ppt/slides/slide4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that the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-th success occurs on trial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(success probability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4</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5</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e>
                        </m:d>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120285</m:t>
                        </m:r>
                      </m:num>
                      <m:den>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13</m:t>
                            </m:r>
                          </m:sup>
                        </m:sSup>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120285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2187</m:t>
                    </m:r>
                  </m:oMath>
                </a14:m>
                <a:r>
                  <a:rPr sz="2400" b="0">
                    <a:solidFill>
                      <a:srgbClr val="111827"/>
                    </a:solidFill>
                    <a:latin typeface="Arial"/>
                  </a:rPr>
                  <a:t> (checked).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the form: when factoring a given answer shape such as </a:t>
                </a:r>
                <a14:m>
                  <m:oMath xmlns:m="http://schemas.openxmlformats.org/officeDocument/2006/math">
                    <m:r>
                      <a:rPr lang="en-IN" sz="2400" i="1">
                        <a:solidFill>
                          <a:srgbClr val="111827"/>
                        </a:solidFill>
                        <a:latin typeface="Cambria Math" panose="02040503050406030204" pitchFamily="18" charset="0"/>
                      </a:rPr>
                      <m:t>55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divide out the prime powers carefully; here </a:t>
                </a:r>
                <a14:m>
                  <m:oMath xmlns:m="http://schemas.openxmlformats.org/officeDocument/2006/math">
                    <m:r>
                      <a:rPr lang="en-IN" sz="2400" i="1">
                        <a:solidFill>
                          <a:srgbClr val="111827"/>
                        </a:solidFill>
                        <a:latin typeface="Cambria Math" panose="02040503050406030204" pitchFamily="18" charset="0"/>
                      </a:rPr>
                      <m:t>495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that the </a:t>
                </a:r>
                <a:r>
                  <a:rPr lang="en-IN" sz="2400">
                    <a:solidFill>
                      <a:srgbClr val="111827"/>
                    </a:solidFill>
                    <a:latin typeface="Cambria Math" panose="02040503050406030204" pitchFamily="18" charset="0"/>
                  </a:rPr>
                  <a:t>$r$</a:t>
                </a:r>
                <a:r>
                  <a:rPr sz="2400" b="0">
                    <a:solidFill>
                      <a:srgbClr val="111827"/>
                    </a:solidFill>
                    <a:latin typeface="Arial"/>
                  </a:rPr>
                  <a:t>-th success occurs on trial </a:t>
                </a:r>
                <a:r>
                  <a:rPr lang="en-IN" sz="2400">
                    <a:solidFill>
                      <a:srgbClr val="111827"/>
                    </a:solidFill>
                    <a:latin typeface="Cambria Math" panose="02040503050406030204" pitchFamily="18" charset="0"/>
                  </a:rPr>
                  <a:t>$n$</a:t>
                </a:r>
                <a:r>
                  <a:rPr sz="2400" b="0">
                    <a:solidFill>
                      <a:srgbClr val="111827"/>
                    </a:solidFill>
                    <a:latin typeface="Arial"/>
                  </a:rPr>
                  <a:t> (success probability </a:t>
                </a:r>
                <a:r>
                  <a:rPr lang="en-IN" sz="2400">
                    <a:solidFill>
                      <a:srgbClr val="111827"/>
                    </a:solidFill>
                    <a:latin typeface="Cambria Math" panose="02040503050406030204" pitchFamily="18" charset="0"/>
                  </a:rPr>
                  <a:t>$p$</a:t>
                </a:r>
                <a:r>
                  <a:rPr sz="2400" b="0">
                    <a:solidFill>
                      <a:srgbClr val="111827"/>
                    </a:solidFill>
                    <a:latin typeface="Arial"/>
                  </a:rPr>
                  <a:t>) is </a:t>
                </a:r>
                <a:r>
                  <a:rPr lang="en-IN" sz="2400">
                    <a:solidFill>
                      <a:srgbClr val="111827"/>
                    </a:solidFill>
                    <a:latin typeface="Cambria Math" panose="02040503050406030204" pitchFamily="18" charset="0"/>
                  </a:rPr>
                  <a:t>$\binom{n-1}{r-1}p^r(1-p)^{n-r}$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$\binom{12}{4}\left(\frac34\right)^5\left(\frac14\right)^8=\frac{120285}{4^{13}}$</a:t>
                </a:r>
                <a:r>
                  <a:rPr sz="2400" b="0">
                    <a:solidFill>
                      <a:srgbClr val="111827"/>
                    </a:solidFill>
                    <a:latin typeface="Arial"/>
                  </a:rPr>
                  <a:t> and </a:t>
                </a:r>
                <a:r>
                  <a:rPr lang="en-IN" sz="2400">
                    <a:solidFill>
                      <a:srgbClr val="111827"/>
                    </a:solidFill>
                    <a:latin typeface="Cambria Math" panose="02040503050406030204" pitchFamily="18" charset="0"/>
                  </a:rPr>
                  <a:t>$120285=55\cdot3^7=55\cdot2187$</a:t>
                </a:r>
                <a:r>
                  <a:rPr sz="2400" b="0">
                    <a:solidFill>
                      <a:srgbClr val="111827"/>
                    </a:solidFill>
                    <a:latin typeface="Arial"/>
                  </a:rPr>
                  <a:t> (checked).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the form: when factoring a given answer shape such as </a:t>
                </a:r>
                <a:r>
                  <a:rPr lang="en-IN" sz="2400">
                    <a:solidFill>
                      <a:srgbClr val="111827"/>
                    </a:solidFill>
                    <a:latin typeface="Cambria Math" panose="02040503050406030204" pitchFamily="18" charset="0"/>
                  </a:rPr>
                  <a:t>$55\cdot3^k$</a:t>
                </a:r>
                <a:r>
                  <a:rPr sz="2400" b="0">
                    <a:solidFill>
                      <a:srgbClr val="111827"/>
                    </a:solidFill>
                    <a:latin typeface="Arial"/>
                  </a:rPr>
                  <a:t>, divide out the prime powers carefully; here </a:t>
                </a:r>
                <a:r>
                  <a:rPr lang="en-IN" sz="2400">
                    <a:solidFill>
                      <a:srgbClr val="111827"/>
                    </a:solidFill>
                    <a:latin typeface="Cambria Math" panose="02040503050406030204" pitchFamily="18" charset="0"/>
                  </a:rPr>
                  <a:t>$495=5\cdot9\cdot11$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4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431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Mr. A writes an article which is originally error free. Each day Mr. B introduces one new error into the article. At the end of the day Mr. A checks the article and has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chance of catching each individual error still in the article. After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days, the probability that the article is error free can be expressed as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are relatively prime positive integers. Let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Then find the sum of the digits of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3431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Mr. A writes an article which is originally error free. Each day Mr. B introduces one new error into the article. At the end of the day Mr. A checks the article and has </a:t>
                </a:r>
                <a:r>
                  <a:rPr lang="en-IN" sz="2400">
                    <a:solidFill>
                      <a:srgbClr val="111827"/>
                    </a:solidFill>
                    <a:latin typeface="Cambria Math" panose="02040503050406030204" pitchFamily="18" charset="0"/>
                  </a:rPr>
                  <a:t>$\frac23$</a:t>
                </a:r>
                <a:r>
                  <a:rPr sz="2400" b="0">
                    <a:solidFill>
                      <a:srgbClr val="111827"/>
                    </a:solidFill>
                    <a:latin typeface="Arial"/>
                  </a:rPr>
                  <a:t> chance of catching each individual error still in the article. After </a:t>
                </a:r>
                <a:r>
                  <a:rPr lang="en-IN" sz="2400">
                    <a:solidFill>
                      <a:srgbClr val="111827"/>
                    </a:solidFill>
                    <a:latin typeface="Cambria Math" panose="02040503050406030204" pitchFamily="18" charset="0"/>
                  </a:rPr>
                  <a:t>$3$</a:t>
                </a:r>
                <a:r>
                  <a:rPr sz="2400" b="0">
                    <a:solidFill>
                      <a:srgbClr val="111827"/>
                    </a:solidFill>
                    <a:latin typeface="Arial"/>
                  </a:rPr>
                  <a:t> days, the probability that the article is error free can be expressed as </a:t>
                </a:r>
                <a:r>
                  <a:rPr lang="en-IN" sz="2400">
                    <a:solidFill>
                      <a:srgbClr val="111827"/>
                    </a:solidFill>
                    <a:latin typeface="Cambria Math" panose="02040503050406030204" pitchFamily="18" charset="0"/>
                  </a:rPr>
                  <a:t>$\frac{p}{q}$</a:t>
                </a:r>
                <a:r>
                  <a:rPr sz="2400" b="0">
                    <a:solidFill>
                      <a:srgbClr val="111827"/>
                    </a:solidFill>
                    <a:latin typeface="Arial"/>
                  </a:rPr>
                  <a:t> where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relatively prime positive integers. Let </a:t>
                </a:r>
                <a:r>
                  <a:rPr lang="en-IN" sz="2400">
                    <a:solidFill>
                      <a:srgbClr val="111827"/>
                    </a:solidFill>
                    <a:latin typeface="Cambria Math" panose="02040503050406030204" pitchFamily="18" charset="0"/>
                  </a:rPr>
                  <a:t>$\lambda=q-p$</a:t>
                </a:r>
                <a:r>
                  <a:rPr sz="2400" b="0">
                    <a:solidFill>
                      <a:srgbClr val="111827"/>
                    </a:solidFill>
                    <a:latin typeface="Arial"/>
                  </a:rPr>
                  <a:t>. Then find the sum of the digits of </a:t>
                </a:r>
                <a:r>
                  <a:rPr lang="en-IN" sz="2400">
                    <a:solidFill>
                      <a:srgbClr val="111827"/>
                    </a:solidFill>
                    <a:latin typeface="Cambria Math" panose="02040503050406030204" pitchFamily="18" charset="0"/>
                  </a:rPr>
                  <a:t>$\lambda$</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851908"/>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independent events and repeated trials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Errors are independent; an error introduced on day </a:t>
                </a:r>
                <a14:m>
                  <m:oMath xmlns:m="http://schemas.openxmlformats.org/officeDocument/2006/math">
                    <m:r>
                      <a:rPr lang="en-IN" sz="2400" i="1">
                        <a:solidFill>
                          <a:srgbClr val="78350F"/>
                        </a:solidFill>
                        <a:latin typeface="Cambria Math" panose="02040503050406030204" pitchFamily="18" charset="0"/>
                      </a:rPr>
                      <m:t>𝑗</m:t>
                    </m:r>
                  </m:oMath>
                </a14:m>
                <a:r>
                  <a:rPr sz="2400" b="0">
                    <a:solidFill>
                      <a:srgbClr val="78350F"/>
                    </a:solidFill>
                    <a:latin typeface="Arial"/>
                  </a:rPr>
                  <a:t> survives </a:t>
                </a:r>
                <a14:m>
                  <m:oMath xmlns:m="http://schemas.openxmlformats.org/officeDocument/2006/math">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oMath>
                </a14:m>
                <a:r>
                  <a:rPr sz="2400" b="0">
                    <a:solidFill>
                      <a:srgbClr val="78350F"/>
                    </a:solidFill>
                    <a:latin typeface="Arial"/>
                  </a:rPr>
                  <a:t> checks, so it is gone with probability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d>
                          <m:dPr>
                            <m:begChr m:val="("/>
                            <m:sepChr m:val=""/>
                            <m:endChr m:val=")"/>
                            <m:grow/>
                            <m:ctrlPr>
                              <a:rPr lang="en-IN" sz="2400" i="1">
                                <a:solidFill>
                                  <a:srgbClr val="78350F"/>
                                </a:solidFill>
                                <a:latin typeface="Cambria Math" panose="02040503050406030204" pitchFamily="18" charset="0"/>
                              </a:rPr>
                            </m:ctrlPr>
                          </m:dPr>
                          <m:e>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e>
                        </m:d>
                      </m:e>
                      <m:sup>
                        <m:r>
                          <a:rPr lang="en-IN" sz="2400" i="1">
                            <a:solidFill>
                              <a:srgbClr val="78350F"/>
                            </a:solidFill>
                            <a:latin typeface="Cambria Math" panose="02040503050406030204" pitchFamily="18" charset="0"/>
                          </a:rPr>
                          <m:t>4</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𝑗</m:t>
                        </m:r>
                      </m:sup>
                    </m:sSup>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Errors are independent; an error introduced on day </a:t>
                </a:r>
                <a:r>
                  <a:rPr lang="en-IN" sz="2400">
                    <a:solidFill>
                      <a:srgbClr val="78350F"/>
                    </a:solidFill>
                    <a:latin typeface="Cambria Math" panose="02040503050406030204" pitchFamily="18" charset="0"/>
                  </a:rPr>
                  <a:t>$j$</a:t>
                </a:r>
                <a:r>
                  <a:rPr sz="2400" b="0">
                    <a:solidFill>
                      <a:srgbClr val="78350F"/>
                    </a:solidFill>
                    <a:latin typeface="Arial"/>
                  </a:rPr>
                  <a:t> survives </a:t>
                </a:r>
                <a:r>
                  <a:rPr lang="en-IN" sz="2400">
                    <a:solidFill>
                      <a:srgbClr val="78350F"/>
                    </a:solidFill>
                    <a:latin typeface="Cambria Math" panose="02040503050406030204" pitchFamily="18" charset="0"/>
                  </a:rPr>
                  <a:t>$4-j$</a:t>
                </a:r>
                <a:r>
                  <a:rPr sz="2400" b="0">
                    <a:solidFill>
                      <a:srgbClr val="78350F"/>
                    </a:solidFill>
                    <a:latin typeface="Arial"/>
                  </a:rPr>
                  <a:t> checks, so it is gone with probability </a:t>
                </a:r>
                <a:r>
                  <a:rPr lang="en-IN" sz="2400">
                    <a:solidFill>
                      <a:srgbClr val="78350F"/>
                    </a:solidFill>
                    <a:latin typeface="Cambria Math" panose="02040503050406030204" pitchFamily="18" charset="0"/>
                  </a:rPr>
                  <a:t>$1-\left(\frac13\right)^{4-j}$</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error is checked independently, and an error introduced on a given day is caught on any check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it escapes a check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error introduced on day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faces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checks (days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it is eliminated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26</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3008375"/>
                <a:ext cx="10725912" cy="36667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Each error is checked independently, and an error introduced on a given day is caught on any check with probability </a:t>
                </a:r>
                <a:r>
                  <a:rPr lang="en-IN" sz="2400">
                    <a:solidFill>
                      <a:srgbClr val="111827"/>
                    </a:solidFill>
                    <a:latin typeface="Cambria Math" panose="02040503050406030204" pitchFamily="18" charset="0"/>
                  </a:rPr>
                  <a:t>$\frac23$</a:t>
                </a:r>
                <a:r>
                  <a:rPr sz="2400" b="0">
                    <a:solidFill>
                      <a:srgbClr val="111827"/>
                    </a:solidFill>
                    <a:latin typeface="Arial"/>
                  </a:rPr>
                  <a:t>, so it escapes a check with probability </a:t>
                </a:r>
                <a:r>
                  <a:rPr lang="en-IN" sz="2400">
                    <a:solidFill>
                      <a:srgbClr val="111827"/>
                    </a:solidFill>
                    <a:latin typeface="Cambria Math" panose="02040503050406030204" pitchFamily="18" charset="0"/>
                  </a:rPr>
                  <a:t>$\frac13$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error introduced on day </a:t>
                </a:r>
                <a:r>
                  <a:rPr lang="en-IN" sz="2400">
                    <a:solidFill>
                      <a:srgbClr val="111827"/>
                    </a:solidFill>
                    <a:latin typeface="Cambria Math" panose="02040503050406030204" pitchFamily="18" charset="0"/>
                  </a:rPr>
                  <a:t>$1$</a:t>
                </a:r>
                <a:r>
                  <a:rPr sz="2400" b="0">
                    <a:solidFill>
                      <a:srgbClr val="111827"/>
                    </a:solidFill>
                    <a:latin typeface="Arial"/>
                  </a:rPr>
                  <a:t> faces </a:t>
                </a:r>
                <a:r>
                  <a:rPr lang="en-IN" sz="2400">
                    <a:solidFill>
                      <a:srgbClr val="111827"/>
                    </a:solidFill>
                    <a:latin typeface="Cambria Math" panose="02040503050406030204" pitchFamily="18" charset="0"/>
                  </a:rPr>
                  <a:t>$3$</a:t>
                </a:r>
                <a:r>
                  <a:rPr sz="2400" b="0">
                    <a:solidFill>
                      <a:srgbClr val="111827"/>
                    </a:solidFill>
                    <a:latin typeface="Arial"/>
                  </a:rPr>
                  <a:t> checks (days </a:t>
                </a:r>
                <a:r>
                  <a:rPr lang="en-IN" sz="2400">
                    <a:solidFill>
                      <a:srgbClr val="111827"/>
                    </a:solidFill>
                    <a:latin typeface="Cambria Math" panose="02040503050406030204" pitchFamily="18" charset="0"/>
                  </a:rPr>
                  <a:t>$1,2,3$</a:t>
                </a:r>
                <a:r>
                  <a:rPr sz="2400" b="0">
                    <a:solidFill>
                      <a:srgbClr val="111827"/>
                    </a:solidFill>
                    <a:latin typeface="Arial"/>
                  </a:rPr>
                  <a:t>): it is eliminated with probability </a:t>
                </a:r>
                <a:r>
                  <a:rPr lang="en-IN" sz="2400">
                    <a:solidFill>
                      <a:srgbClr val="111827"/>
                    </a:solidFill>
                    <a:latin typeface="Cambria Math" panose="02040503050406030204" pitchFamily="18" charset="0"/>
                  </a:rPr>
                  <a:t>$\frac23+\frac13\cdot\frac23+\frac13\cdot\frac13\cdot\frac23=\frac{26}{27}$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error introduced on day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faces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checks: eliminated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error introduced on day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faces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check: eliminated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article is error free after day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if all three errors are eliminated; these events are independent, so the probability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26</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416</m:t>
                        </m:r>
                      </m:num>
                      <m:den>
                        <m:r>
                          <a:rPr lang="en-IN" sz="2400" i="1">
                            <a:solidFill>
                              <a:srgbClr val="111827"/>
                            </a:solidFill>
                            <a:latin typeface="Cambria Math" panose="02040503050406030204" pitchFamily="18" charset="0"/>
                          </a:rPr>
                          <m:t>729</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error introduced on day </a:t>
                </a:r>
                <a:r>
                  <a:rPr lang="en-IN" sz="2400">
                    <a:solidFill>
                      <a:srgbClr val="111827"/>
                    </a:solidFill>
                    <a:latin typeface="Cambria Math" panose="02040503050406030204" pitchFamily="18" charset="0"/>
                  </a:rPr>
                  <a:t>$2$</a:t>
                </a:r>
                <a:r>
                  <a:rPr sz="2400" b="0">
                    <a:solidFill>
                      <a:srgbClr val="111827"/>
                    </a:solidFill>
                    <a:latin typeface="Arial"/>
                  </a:rPr>
                  <a:t> faces </a:t>
                </a:r>
                <a:r>
                  <a:rPr lang="en-IN" sz="2400">
                    <a:solidFill>
                      <a:srgbClr val="111827"/>
                    </a:solidFill>
                    <a:latin typeface="Cambria Math" panose="02040503050406030204" pitchFamily="18" charset="0"/>
                  </a:rPr>
                  <a:t>$2$</a:t>
                </a:r>
                <a:r>
                  <a:rPr sz="2400" b="0">
                    <a:solidFill>
                      <a:srgbClr val="111827"/>
                    </a:solidFill>
                    <a:latin typeface="Arial"/>
                  </a:rPr>
                  <a:t> checks: eliminated with probability </a:t>
                </a:r>
                <a:r>
                  <a:rPr lang="en-IN" sz="2400">
                    <a:solidFill>
                      <a:srgbClr val="111827"/>
                    </a:solidFill>
                    <a:latin typeface="Cambria Math" panose="02040503050406030204" pitchFamily="18" charset="0"/>
                  </a:rPr>
                  <a:t>$\frac23+\frac13\cdot\frac23=\frac89$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error introduced on day </a:t>
                </a:r>
                <a:r>
                  <a:rPr lang="en-IN" sz="2400">
                    <a:solidFill>
                      <a:srgbClr val="111827"/>
                    </a:solidFill>
                    <a:latin typeface="Cambria Math" panose="02040503050406030204" pitchFamily="18" charset="0"/>
                  </a:rPr>
                  <a:t>$3$</a:t>
                </a:r>
                <a:r>
                  <a:rPr sz="2400" b="0">
                    <a:solidFill>
                      <a:srgbClr val="111827"/>
                    </a:solidFill>
                    <a:latin typeface="Arial"/>
                  </a:rPr>
                  <a:t> faces </a:t>
                </a:r>
                <a:r>
                  <a:rPr lang="en-IN" sz="2400">
                    <a:solidFill>
                      <a:srgbClr val="111827"/>
                    </a:solidFill>
                    <a:latin typeface="Cambria Math" panose="02040503050406030204" pitchFamily="18" charset="0"/>
                  </a:rPr>
                  <a:t>$1$</a:t>
                </a:r>
                <a:r>
                  <a:rPr sz="2400" b="0">
                    <a:solidFill>
                      <a:srgbClr val="111827"/>
                    </a:solidFill>
                    <a:latin typeface="Arial"/>
                  </a:rPr>
                  <a:t> check: eliminated with probability </a:t>
                </a:r>
                <a:r>
                  <a:rPr lang="en-IN" sz="2400">
                    <a:solidFill>
                      <a:srgbClr val="111827"/>
                    </a:solidFill>
                    <a:latin typeface="Cambria Math" panose="02040503050406030204" pitchFamily="18" charset="0"/>
                  </a:rPr>
                  <a:t>$\frac23$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article is error free after day </a:t>
                </a:r>
                <a:r>
                  <a:rPr lang="en-IN" sz="2400">
                    <a:solidFill>
                      <a:srgbClr val="111827"/>
                    </a:solidFill>
                    <a:latin typeface="Cambria Math" panose="02040503050406030204" pitchFamily="18" charset="0"/>
                  </a:rPr>
                  <a:t>$3$</a:t>
                </a:r>
                <a:r>
                  <a:rPr sz="2400" b="0">
                    <a:solidFill>
                      <a:srgbClr val="111827"/>
                    </a:solidFill>
                    <a:latin typeface="Arial"/>
                  </a:rPr>
                  <a:t> if all three errors are eliminated; these events are independent, so the probability is </a:t>
                </a:r>
                <a:r>
                  <a:rPr lang="en-IN" sz="2400">
                    <a:solidFill>
                      <a:srgbClr val="111827"/>
                    </a:solidFill>
                    <a:latin typeface="Cambria Math" panose="02040503050406030204" pitchFamily="18" charset="0"/>
                  </a:rPr>
                  <a:t>$\frac{26}{27}\times\frac89\times\frac23=\frac{416}{729}$</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416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729</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have no common factor,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313</m:t>
                    </m:r>
                  </m:oMath>
                </a14:m>
                <a:r>
                  <a:rPr sz="2400" b="0">
                    <a:solidFill>
                      <a:srgbClr val="111827"/>
                    </a:solidFill>
                    <a:latin typeface="Arial"/>
                  </a:rPr>
                  <a:t>, and the sum of its digits is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$416=2^5\cdot13$</a:t>
                </a:r>
                <a:r>
                  <a:rPr sz="2400" b="0">
                    <a:solidFill>
                      <a:srgbClr val="111827"/>
                    </a:solidFill>
                    <a:latin typeface="Arial"/>
                  </a:rPr>
                  <a:t> and </a:t>
                </a:r>
                <a:r>
                  <a:rPr lang="en-IN" sz="2400">
                    <a:solidFill>
                      <a:srgbClr val="111827"/>
                    </a:solidFill>
                    <a:latin typeface="Cambria Math" panose="02040503050406030204" pitchFamily="18" charset="0"/>
                  </a:rPr>
                  <a:t>$729=3^6$</a:t>
                </a:r>
                <a:r>
                  <a:rPr sz="2400" b="0">
                    <a:solidFill>
                      <a:srgbClr val="111827"/>
                    </a:solidFill>
                    <a:latin typeface="Arial"/>
                  </a:rPr>
                  <a:t> have no common factor, so </a:t>
                </a:r>
                <a:r>
                  <a:rPr lang="en-IN" sz="2400">
                    <a:solidFill>
                      <a:srgbClr val="111827"/>
                    </a:solidFill>
                    <a:latin typeface="Cambria Math" panose="02040503050406030204" pitchFamily="18" charset="0"/>
                  </a:rPr>
                  <a:t>$p=416$</a:t>
                </a:r>
                <a:r>
                  <a:rPr sz="2400" b="0">
                    <a:solidFill>
                      <a:srgbClr val="111827"/>
                    </a:solidFill>
                    <a:latin typeface="Arial"/>
                  </a:rPr>
                  <a:t>, </a:t>
                </a:r>
                <a:r>
                  <a:rPr lang="en-IN" sz="2400">
                    <a:solidFill>
                      <a:srgbClr val="111827"/>
                    </a:solidFill>
                    <a:latin typeface="Cambria Math" panose="02040503050406030204" pitchFamily="18" charset="0"/>
                  </a:rPr>
                  <a:t>$q=729$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$\lambda=q-p=729-416=313$</a:t>
                </a:r>
                <a:r>
                  <a:rPr sz="2400" b="0">
                    <a:solidFill>
                      <a:srgbClr val="111827"/>
                    </a:solidFill>
                    <a:latin typeface="Arial"/>
                  </a:rPr>
                  <a:t>, and the sum of its digits is </a:t>
                </a:r>
                <a:r>
                  <a:rPr lang="en-IN" sz="2400">
                    <a:solidFill>
                      <a:srgbClr val="111827"/>
                    </a:solidFill>
                    <a:latin typeface="Cambria Math" panose="02040503050406030204" pitchFamily="18" charset="0"/>
                  </a:rPr>
                  <a:t>$3+1+3=7$</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7</a:t>
            </a:r>
            <a:endParaRPr sz="2800">
              <a:solidFill>
                <a:srgbClr val="15803D"/>
              </a:solidFill>
            </a:endParaRPr>
          </a:p>
        </p:txBody>
      </p:sp>
    </p:spTree>
  </p:cSld>
  <p:clrMapOvr>
    <a:masterClrMapping/>
  </p:clrMapOvr>
</p:sld>
</file>

<file path=ppt/slides/slide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Track the number of errors still present as a Markov chain and compute the probability of ending in state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Track the number of errors still present as a Markov chain and compute the probability of ending in state </a:t>
                </a:r>
                <a:r>
                  <a:rPr lang="en-IN" sz="2400">
                    <a:solidFill>
                      <a:srgbClr val="78350F"/>
                    </a:solidFill>
                    <a:latin typeface="Cambria Math" panose="02040503050406030204" pitchFamily="18" charset="0"/>
                  </a:rPr>
                  <a:t>$0$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state be the number of errors in the article at the end of a day. Start with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Day 1: one error is added, then removed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State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state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state be the number of errors in the article at the end of a day. Start with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Day 1: one error is added, then removed with probability </a:t>
                </a:r>
                <a:r>
                  <a:rPr lang="en-IN" sz="2400">
                    <a:solidFill>
                      <a:srgbClr val="111827"/>
                    </a:solidFill>
                    <a:latin typeface="Cambria Math" panose="02040503050406030204" pitchFamily="18" charset="0"/>
                  </a:rPr>
                  <a:t>$\frac23$</a:t>
                </a:r>
                <a:r>
                  <a:rPr sz="2400" b="0">
                    <a:solidFill>
                      <a:srgbClr val="111827"/>
                    </a:solidFill>
                    <a:latin typeface="Arial"/>
                  </a:rPr>
                  <a:t>. State </a:t>
                </a:r>
                <a:r>
                  <a:rPr lang="en-IN" sz="2400">
                    <a:solidFill>
                      <a:srgbClr val="111827"/>
                    </a:solidFill>
                    <a:latin typeface="Cambria Math" panose="02040503050406030204" pitchFamily="18" charset="0"/>
                  </a:rPr>
                  <a:t>$0$</a:t>
                </a:r>
                <a:r>
                  <a:rPr sz="2400" b="0">
                    <a:solidFill>
                      <a:srgbClr val="111827"/>
                    </a:solidFill>
                    <a:latin typeface="Arial"/>
                  </a:rPr>
                  <a:t> with probability </a:t>
                </a:r>
                <a:r>
                  <a:rPr lang="en-IN" sz="2400">
                    <a:solidFill>
                      <a:srgbClr val="111827"/>
                    </a:solidFill>
                    <a:latin typeface="Cambria Math" panose="02040503050406030204" pitchFamily="18" charset="0"/>
                  </a:rPr>
                  <a:t>$\frac23$</a:t>
                </a:r>
                <a:r>
                  <a:rPr sz="2400" b="0">
                    <a:solidFill>
                      <a:srgbClr val="111827"/>
                    </a:solidFill>
                    <a:latin typeface="Arial"/>
                  </a:rPr>
                  <a:t>, state </a:t>
                </a:r>
                <a:r>
                  <a:rPr lang="en-IN" sz="2400">
                    <a:solidFill>
                      <a:srgbClr val="111827"/>
                    </a:solidFill>
                    <a:latin typeface="Cambria Math" panose="02040503050406030204" pitchFamily="18" charset="0"/>
                  </a:rPr>
                  <a:t>$1$</a:t>
                </a:r>
                <a:r>
                  <a:rPr sz="2400" b="0">
                    <a:solidFill>
                      <a:srgbClr val="111827"/>
                    </a:solidFill>
                    <a:latin typeface="Arial"/>
                  </a:rPr>
                  <a:t> with probability </a:t>
                </a:r>
                <a:r>
                  <a:rPr lang="en-IN" sz="2400">
                    <a:solidFill>
                      <a:srgbClr val="111827"/>
                    </a:solidFill>
                    <a:latin typeface="Cambria Math" panose="02040503050406030204" pitchFamily="18" charset="0"/>
                  </a:rPr>
                  <a:t>$\frac13$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Day 2: add one error. From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error, becomes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stays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errors, becomes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After day 2: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Day 3 adds one error and ends at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from state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from state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(two errors)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oMath>
                </a14:m>
                <a:r>
                  <a:rPr sz="2400" b="0">
                    <a:solidFill>
                      <a:srgbClr val="111827"/>
                    </a:solidFill>
                    <a:latin typeface="Arial"/>
                  </a:rPr>
                  <a:t>; from state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(three errors) w.p.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27</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Day 2: add one error. From </a:t>
                </a:r>
                <a:r>
                  <a:rPr lang="en-IN" sz="2400">
                    <a:solidFill>
                      <a:srgbClr val="111827"/>
                    </a:solidFill>
                    <a:latin typeface="Cambria Math" panose="02040503050406030204" pitchFamily="18" charset="0"/>
                  </a:rPr>
                  <a:t>$0$</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 error, becomes </a:t>
                </a:r>
                <a:r>
                  <a:rPr lang="en-IN" sz="2400">
                    <a:solidFill>
                      <a:srgbClr val="111827"/>
                    </a:solidFill>
                    <a:latin typeface="Cambria Math" panose="02040503050406030204" pitchFamily="18" charset="0"/>
                  </a:rPr>
                  <a:t>$0$</a:t>
                </a:r>
                <a:r>
                  <a:rPr sz="2400" b="0">
                    <a:solidFill>
                      <a:srgbClr val="111827"/>
                    </a:solidFill>
                    <a:latin typeface="Arial"/>
                  </a:rPr>
                  <a:t> w.p. </a:t>
                </a:r>
                <a:r>
                  <a:rPr lang="en-IN" sz="2400">
                    <a:solidFill>
                      <a:srgbClr val="111827"/>
                    </a:solidFill>
                    <a:latin typeface="Cambria Math" panose="02040503050406030204" pitchFamily="18" charset="0"/>
                  </a:rPr>
                  <a:t>$\frac23$</a:t>
                </a:r>
                <a:r>
                  <a:rPr sz="2400" b="0">
                    <a:solidFill>
                      <a:srgbClr val="111827"/>
                    </a:solidFill>
                    <a:latin typeface="Arial"/>
                  </a:rPr>
                  <a:t>, stays </a:t>
                </a:r>
                <a:r>
                  <a:rPr lang="en-IN" sz="2400">
                    <a:solidFill>
                      <a:srgbClr val="111827"/>
                    </a:solidFill>
                    <a:latin typeface="Cambria Math" panose="02040503050406030204" pitchFamily="18" charset="0"/>
                  </a:rPr>
                  <a:t>$1$</a:t>
                </a:r>
                <a:r>
                  <a:rPr sz="2400" b="0">
                    <a:solidFill>
                      <a:srgbClr val="111827"/>
                    </a:solidFill>
                    <a:latin typeface="Arial"/>
                  </a:rPr>
                  <a:t> w.p. </a:t>
                </a:r>
                <a:r>
                  <a:rPr lang="en-IN" sz="2400">
                    <a:solidFill>
                      <a:srgbClr val="111827"/>
                    </a:solidFill>
                    <a:latin typeface="Cambria Math" panose="02040503050406030204" pitchFamily="18" charset="0"/>
                  </a:rPr>
                  <a:t>$\frac13$</a:t>
                </a:r>
                <a:r>
                  <a:rPr sz="2400" b="0">
                    <a:solidFill>
                      <a:srgbClr val="111827"/>
                    </a:solidFill>
                    <a:latin typeface="Arial"/>
                  </a:rPr>
                  <a:t>. From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$2$</a:t>
                </a:r>
                <a:r>
                  <a:rPr sz="2400" b="0">
                    <a:solidFill>
                      <a:srgbClr val="111827"/>
                    </a:solidFill>
                    <a:latin typeface="Arial"/>
                  </a:rPr>
                  <a:t> errors, becomes </a:t>
                </a:r>
                <a:r>
                  <a:rPr lang="en-IN" sz="2400">
                    <a:solidFill>
                      <a:srgbClr val="111827"/>
                    </a:solidFill>
                    <a:latin typeface="Cambria Math" panose="02040503050406030204" pitchFamily="18" charset="0"/>
                  </a:rPr>
                  <a:t>$0$</a:t>
                </a:r>
                <a:r>
                  <a:rPr sz="2400" b="0">
                    <a:solidFill>
                      <a:srgbClr val="111827"/>
                    </a:solidFill>
                    <a:latin typeface="Arial"/>
                  </a:rPr>
                  <a:t> w.p. </a:t>
                </a:r>
                <a:r>
                  <a:rPr lang="en-IN" sz="2400">
                    <a:solidFill>
                      <a:srgbClr val="111827"/>
                    </a:solidFill>
                    <a:latin typeface="Cambria Math" panose="02040503050406030204" pitchFamily="18" charset="0"/>
                  </a:rPr>
                  <a:t>$\frac49$</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 w.p. </a:t>
                </a:r>
                <a:r>
                  <a:rPr lang="en-IN" sz="2400">
                    <a:solidFill>
                      <a:srgbClr val="111827"/>
                    </a:solidFill>
                    <a:latin typeface="Cambria Math" panose="02040503050406030204" pitchFamily="18" charset="0"/>
                  </a:rPr>
                  <a:t>$\frac49$</a:t>
                </a:r>
                <a:r>
                  <a:rPr sz="2400" b="0">
                    <a:solidFill>
                      <a:srgbClr val="111827"/>
                    </a:solidFill>
                    <a:latin typeface="Arial"/>
                  </a:rPr>
                  <a:t>, </a:t>
                </a:r>
                <a:r>
                  <a:rPr lang="en-IN" sz="2400">
                    <a:solidFill>
                      <a:srgbClr val="111827"/>
                    </a:solidFill>
                    <a:latin typeface="Cambria Math" panose="02040503050406030204" pitchFamily="18" charset="0"/>
                  </a:rPr>
                  <a:t>$2$</a:t>
                </a:r>
                <a:r>
                  <a:rPr sz="2400" b="0">
                    <a:solidFill>
                      <a:srgbClr val="111827"/>
                    </a:solidFill>
                    <a:latin typeface="Arial"/>
                  </a:rPr>
                  <a:t> w.p. </a:t>
                </a:r>
                <a:r>
                  <a:rPr lang="en-IN" sz="2400">
                    <a:solidFill>
                      <a:srgbClr val="111827"/>
                    </a:solidFill>
                    <a:latin typeface="Cambria Math" panose="02040503050406030204" pitchFamily="18" charset="0"/>
                  </a:rPr>
                  <a:t>$\frac19$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After day 2: </a:t>
                </a:r>
                <a:r>
                  <a:rPr lang="en-IN" sz="2400">
                    <a:solidFill>
                      <a:srgbClr val="111827"/>
                    </a:solidFill>
                    <a:latin typeface="Cambria Math" panose="02040503050406030204" pitchFamily="18" charset="0"/>
                  </a:rPr>
                  <a:t>$P(0)=\frac23\cdot\frac23+\frac13\cdot\frac49=\frac{16}{27}$</a:t>
                </a:r>
                <a:r>
                  <a:rPr sz="2400" b="0">
                    <a:solidFill>
                      <a:srgbClr val="111827"/>
                    </a:solidFill>
                    <a:latin typeface="Arial"/>
                  </a:rPr>
                  <a:t>, </a:t>
                </a:r>
                <a:r>
                  <a:rPr lang="en-IN" sz="2400">
                    <a:solidFill>
                      <a:srgbClr val="111827"/>
                    </a:solidFill>
                    <a:latin typeface="Cambria Math" panose="02040503050406030204" pitchFamily="18" charset="0"/>
                  </a:rPr>
                  <a:t>$P(1)=\frac{10}{27}$</a:t>
                </a:r>
                <a:r>
                  <a:rPr sz="2400" b="0">
                    <a:solidFill>
                      <a:srgbClr val="111827"/>
                    </a:solidFill>
                    <a:latin typeface="Arial"/>
                  </a:rPr>
                  <a:t>, </a:t>
                </a:r>
                <a:r>
                  <a:rPr lang="en-IN" sz="2400">
                    <a:solidFill>
                      <a:srgbClr val="111827"/>
                    </a:solidFill>
                    <a:latin typeface="Cambria Math" panose="02040503050406030204" pitchFamily="18" charset="0"/>
                  </a:rPr>
                  <a:t>$P(2)=\frac{1}{27}$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Day 3 adds one error and ends at </a:t>
                </a:r>
                <a:r>
                  <a:rPr lang="en-IN" sz="2400">
                    <a:solidFill>
                      <a:srgbClr val="111827"/>
                    </a:solidFill>
                    <a:latin typeface="Cambria Math" panose="02040503050406030204" pitchFamily="18" charset="0"/>
                  </a:rPr>
                  <a:t>$0$</a:t>
                </a:r>
                <a:r>
                  <a:rPr sz="2400" b="0">
                    <a:solidFill>
                      <a:srgbClr val="111827"/>
                    </a:solidFill>
                    <a:latin typeface="Arial"/>
                  </a:rPr>
                  <a:t>: from state </a:t>
                </a:r>
                <a:r>
                  <a:rPr lang="en-IN" sz="2400">
                    <a:solidFill>
                      <a:srgbClr val="111827"/>
                    </a:solidFill>
                    <a:latin typeface="Cambria Math" panose="02040503050406030204" pitchFamily="18" charset="0"/>
                  </a:rPr>
                  <a:t>$0$</a:t>
                </a:r>
                <a:r>
                  <a:rPr sz="2400" b="0">
                    <a:solidFill>
                      <a:srgbClr val="111827"/>
                    </a:solidFill>
                    <a:latin typeface="Arial"/>
                  </a:rPr>
                  <a:t> w.p. </a:t>
                </a:r>
                <a:r>
                  <a:rPr lang="en-IN" sz="2400">
                    <a:solidFill>
                      <a:srgbClr val="111827"/>
                    </a:solidFill>
                    <a:latin typeface="Cambria Math" panose="02040503050406030204" pitchFamily="18" charset="0"/>
                  </a:rPr>
                  <a:t>$\frac23$</a:t>
                </a:r>
                <a:r>
                  <a:rPr sz="2400" b="0">
                    <a:solidFill>
                      <a:srgbClr val="111827"/>
                    </a:solidFill>
                    <a:latin typeface="Arial"/>
                  </a:rPr>
                  <a:t>; from state </a:t>
                </a:r>
                <a:r>
                  <a:rPr lang="en-IN" sz="2400">
                    <a:solidFill>
                      <a:srgbClr val="111827"/>
                    </a:solidFill>
                    <a:latin typeface="Cambria Math" panose="02040503050406030204" pitchFamily="18" charset="0"/>
                  </a:rPr>
                  <a:t>$1$</a:t>
                </a:r>
                <a:r>
                  <a:rPr sz="2400" b="0">
                    <a:solidFill>
                      <a:srgbClr val="111827"/>
                    </a:solidFill>
                    <a:latin typeface="Arial"/>
                  </a:rPr>
                  <a:t> (two errors) w.p. </a:t>
                </a:r>
                <a:r>
                  <a:rPr lang="en-IN" sz="2400">
                    <a:solidFill>
                      <a:srgbClr val="111827"/>
                    </a:solidFill>
                    <a:latin typeface="Cambria Math" panose="02040503050406030204" pitchFamily="18" charset="0"/>
                  </a:rPr>
                  <a:t>$\frac49$</a:t>
                </a:r>
                <a:r>
                  <a:rPr sz="2400" b="0">
                    <a:solidFill>
                      <a:srgbClr val="111827"/>
                    </a:solidFill>
                    <a:latin typeface="Arial"/>
                  </a:rPr>
                  <a:t>; from state </a:t>
                </a:r>
                <a:r>
                  <a:rPr lang="en-IN" sz="2400">
                    <a:solidFill>
                      <a:srgbClr val="111827"/>
                    </a:solidFill>
                    <a:latin typeface="Cambria Math" panose="02040503050406030204" pitchFamily="18" charset="0"/>
                  </a:rPr>
                  <a:t>$2$</a:t>
                </a:r>
                <a:r>
                  <a:rPr sz="2400" b="0">
                    <a:solidFill>
                      <a:srgbClr val="111827"/>
                    </a:solidFill>
                    <a:latin typeface="Arial"/>
                  </a:rPr>
                  <a:t> (three errors) w.p. </a:t>
                </a:r>
                <a:r>
                  <a:rPr lang="en-IN" sz="2400">
                    <a:solidFill>
                      <a:srgbClr val="111827"/>
                    </a:solidFill>
                    <a:latin typeface="Cambria Math" panose="02040503050406030204" pitchFamily="18" charset="0"/>
                  </a:rPr>
                  <a:t>$\frac{8}{27}$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288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729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416</m:t>
                        </m:r>
                      </m:num>
                      <m:den>
                        <m:r>
                          <a:rPr lang="en-IN" sz="2400" i="1">
                            <a:solidFill>
                              <a:srgbClr val="111827"/>
                            </a:solidFill>
                            <a:latin typeface="Cambria Math" panose="02040503050406030204" pitchFamily="18" charset="0"/>
                          </a:rPr>
                          <m:t>729</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729</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313</m:t>
                    </m:r>
                  </m:oMath>
                </a14:m>
                <a:r>
                  <a:rPr sz="2400" b="0">
                    <a:solidFill>
                      <a:srgbClr val="111827"/>
                    </a:solidFill>
                    <a:latin typeface="Arial"/>
                  </a:rPr>
                  <a:t>, digit sum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$P(0)=\frac{16}{27}\cdot\frac23+\frac{10}{27}\cdot\frac49+\frac1{27}\cdot\frac8{27}=\frac{288+120+8}{729}=\frac{416}{729}$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$p=416$</a:t>
                </a:r>
                <a:r>
                  <a:rPr sz="2400" b="0">
                    <a:solidFill>
                      <a:srgbClr val="111827"/>
                    </a:solidFill>
                    <a:latin typeface="Arial"/>
                  </a:rPr>
                  <a:t>, </a:t>
                </a:r>
                <a:r>
                  <a:rPr lang="en-IN" sz="2400">
                    <a:solidFill>
                      <a:srgbClr val="111827"/>
                    </a:solidFill>
                    <a:latin typeface="Cambria Math" panose="02040503050406030204" pitchFamily="18" charset="0"/>
                  </a:rPr>
                  <a:t>$q=729$</a:t>
                </a:r>
                <a:r>
                  <a:rPr sz="2400" b="0">
                    <a:solidFill>
                      <a:srgbClr val="111827"/>
                    </a:solidFill>
                    <a:latin typeface="Arial"/>
                  </a:rPr>
                  <a:t>, </a:t>
                </a:r>
                <a:r>
                  <a:rPr lang="en-IN" sz="2400">
                    <a:solidFill>
                      <a:srgbClr val="111827"/>
                    </a:solidFill>
                    <a:latin typeface="Cambria Math" panose="02040503050406030204" pitchFamily="18" charset="0"/>
                  </a:rPr>
                  <a:t>$\lambda=313$</a:t>
                </a:r>
                <a:r>
                  <a:rPr sz="2400" b="0">
                    <a:solidFill>
                      <a:srgbClr val="111827"/>
                    </a:solidFill>
                    <a:latin typeface="Arial"/>
                  </a:rPr>
                  <a:t>, digit sum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7</a:t>
            </a:r>
            <a:endParaRPr sz="2800">
              <a:solidFill>
                <a:srgbClr val="15803D"/>
              </a:solidFill>
            </a:endParaRPr>
          </a:p>
        </p:txBody>
      </p:sp>
    </p:spTree>
  </p:cSld>
  <p:clrMapOvr>
    <a:masterClrMapping/>
  </p:clrMapOvr>
</p:sld>
</file>

<file path=ppt/slides/slide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each of several items independently survives a stage with probability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then the number of items present is a sum of independent indicators; compute each item's survival separately.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 item present for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checks is eliminated with probability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𝑠</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26</m:t>
                        </m:r>
                      </m:num>
                      <m:den>
                        <m:r>
                          <a:rPr lang="en-IN" sz="2400" i="1">
                            <a:solidFill>
                              <a:srgbClr val="111827"/>
                            </a:solidFill>
                            <a:latin typeface="Cambria Math" panose="02040503050406030204" pitchFamily="18" charset="0"/>
                          </a:rPr>
                          <m:t>27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Final probability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3</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416</m:t>
                        </m:r>
                      </m:num>
                      <m:den>
                        <m:r>
                          <a:rPr lang="en-IN" sz="2400" i="1">
                            <a:solidFill>
                              <a:srgbClr val="111827"/>
                            </a:solidFill>
                            <a:latin typeface="Cambria Math" panose="02040503050406030204" pitchFamily="18" charset="0"/>
                          </a:rPr>
                          <m:t>729</m:t>
                        </m:r>
                      </m:den>
                    </m:f>
                  </m:oMath>
                </a14:m>
                <a:r>
                  <a:rPr sz="2400" b="0">
                    <a:solidFill>
                      <a:srgbClr val="111827"/>
                    </a:solidFill>
                    <a:latin typeface="Arial"/>
                  </a:rPr>
                  <a:t> (checked by exact Markov-chain computation).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each of several items independently survives a stage with probability </a:t>
                </a:r>
                <a:r>
                  <a:rPr lang="en-IN" sz="2400">
                    <a:solidFill>
                      <a:srgbClr val="111827"/>
                    </a:solidFill>
                    <a:latin typeface="Cambria Math" panose="02040503050406030204" pitchFamily="18" charset="0"/>
                  </a:rPr>
                  <a:t>$s$</a:t>
                </a:r>
                <a:r>
                  <a:rPr sz="2400" b="0">
                    <a:solidFill>
                      <a:srgbClr val="111827"/>
                    </a:solidFill>
                    <a:latin typeface="Arial"/>
                  </a:rPr>
                  <a:t>, then the number of items present is a sum of independent indicators; compute each item's survival separately.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 item present for </a:t>
                </a:r>
                <a:r>
                  <a:rPr lang="en-IN" sz="2400">
                    <a:solidFill>
                      <a:srgbClr val="111827"/>
                    </a:solidFill>
                    <a:latin typeface="Cambria Math" panose="02040503050406030204" pitchFamily="18" charset="0"/>
                  </a:rPr>
                  <a:t>$m$</a:t>
                </a:r>
                <a:r>
                  <a:rPr sz="2400" b="0">
                    <a:solidFill>
                      <a:srgbClr val="111827"/>
                    </a:solidFill>
                    <a:latin typeface="Arial"/>
                  </a:rPr>
                  <a:t> checks is eliminated with probability </a:t>
                </a:r>
                <a:r>
                  <a:rPr lang="en-IN" sz="2400">
                    <a:solidFill>
                      <a:srgbClr val="111827"/>
                    </a:solidFill>
                    <a:latin typeface="Cambria Math" panose="02040503050406030204" pitchFamily="18" charset="0"/>
                  </a:rPr>
                  <a:t>$1-s^m$</a:t>
                </a:r>
                <a:r>
                  <a:rPr sz="2400" b="0">
                    <a:solidFill>
                      <a:srgbClr val="111827"/>
                    </a:solidFill>
                    <a:latin typeface="Arial"/>
                  </a:rPr>
                  <a:t> (here </a:t>
                </a:r>
                <a:r>
                  <a:rPr lang="en-IN" sz="2400">
                    <a:solidFill>
                      <a:srgbClr val="111827"/>
                    </a:solidFill>
                    <a:latin typeface="Cambria Math" panose="02040503050406030204" pitchFamily="18" charset="0"/>
                  </a:rPr>
                  <a:t>$s=\frac13$</a:t>
                </a:r>
                <a:r>
                  <a:rPr sz="2400" b="0">
                    <a:solidFill>
                      <a:srgbClr val="111827"/>
                    </a:solidFill>
                    <a:latin typeface="Arial"/>
                  </a:rPr>
                  <a:t>): </a:t>
                </a:r>
                <a:r>
                  <a:rPr lang="en-IN" sz="2400">
                    <a:solidFill>
                      <a:srgbClr val="111827"/>
                    </a:solidFill>
                    <a:latin typeface="Cambria Math" panose="02040503050406030204" pitchFamily="18" charset="0"/>
                  </a:rPr>
                  <a:t>$\frac{26}{27},\frac89,\frac23$</a:t>
                </a:r>
                <a:r>
                  <a:rPr sz="2400" b="0">
                    <a:solidFill>
                      <a:srgbClr val="111827"/>
                    </a:solidFill>
                    <a:latin typeface="Arial"/>
                  </a:rPr>
                  <a:t> for </a:t>
                </a:r>
                <a:r>
                  <a:rPr lang="en-IN" sz="2400">
                    <a:solidFill>
                      <a:srgbClr val="111827"/>
                    </a:solidFill>
                    <a:latin typeface="Cambria Math" panose="02040503050406030204" pitchFamily="18" charset="0"/>
                  </a:rPr>
                  <a:t>$m=3,2,1$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Final probability </a:t>
                </a:r>
                <a:r>
                  <a:rPr lang="en-IN" sz="2400">
                    <a:solidFill>
                      <a:srgbClr val="111827"/>
                    </a:solidFill>
                    <a:latin typeface="Cambria Math" panose="02040503050406030204" pitchFamily="18" charset="0"/>
                  </a:rPr>
                  <a:t>$\prod_{m=1}^{3}(1-3^{-m})=\frac{416}{729}$</a:t>
                </a:r>
                <a:r>
                  <a:rPr sz="2400" b="0">
                    <a:solidFill>
                      <a:srgbClr val="111827"/>
                    </a:solidFill>
                    <a:latin typeface="Arial"/>
                  </a:rPr>
                  <a:t> (checked by exact Markov-chain computation).</a:t>
                </a:r>
                <a:endParaRPr sz="2400">
                  <a:solidFill>
                    <a:srgbClr val="111827"/>
                  </a:solidFill>
                </a:endParaRPr>
              </a:p>
            </p:txBody>
          </p:sp>
        </mc:Fallback>
      </mc:AlternateContent>
    </p:spTree>
  </p:cSld>
  <p:clrMapOvr>
    <a:masterClrMapping/>
  </p:clrMapOvr>
</p:sld>
</file>

<file path=ppt/slides/slide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44587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construction company has three different sites located in the city. Analysis of the daily wages paid to the labourers in the three sites is as follows. Site 1: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labourers, average daily wage Rs </a:t>
                </a:r>
                <a14:m>
                  <m:oMath xmlns:m="http://schemas.openxmlformats.org/officeDocument/2006/math">
                    <m:r>
                      <a:rPr lang="en-IN" sz="2400" i="1">
                        <a:solidFill>
                          <a:srgbClr val="111827"/>
                        </a:solidFill>
                        <a:latin typeface="Cambria Math" panose="02040503050406030204" pitchFamily="18" charset="0"/>
                      </a:rPr>
                      <m:t>305</m:t>
                    </m:r>
                  </m:oMath>
                </a14:m>
                <a:r>
                  <a:rPr sz="2400" b="0">
                    <a:solidFill>
                      <a:srgbClr val="111827"/>
                    </a:solidFill>
                    <a:latin typeface="Arial"/>
                  </a:rPr>
                  <a:t>, standard deviation Rs </a:t>
                </a:r>
                <a14:m>
                  <m:oMath xmlns:m="http://schemas.openxmlformats.org/officeDocument/2006/math">
                    <m:r>
                      <a:rPr lang="en-IN" sz="2400" i="1">
                        <a:solidFill>
                          <a:srgbClr val="111827"/>
                        </a:solidFill>
                        <a:latin typeface="Cambria Math" panose="02040503050406030204" pitchFamily="18" charset="0"/>
                      </a:rPr>
                      <m:t>50</m:t>
                    </m:r>
                  </m:oMath>
                </a14:m>
                <a:r>
                  <a:rPr sz="2400" b="0">
                    <a:solidFill>
                      <a:srgbClr val="111827"/>
                    </a:solidFill>
                    <a:latin typeface="Arial"/>
                  </a:rPr>
                  <a:t>. Site 2: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labourers, average Rs </a:t>
                </a:r>
                <a14:m>
                  <m:oMath xmlns:m="http://schemas.openxmlformats.org/officeDocument/2006/math">
                    <m:r>
                      <a:rPr lang="en-IN" sz="2400" i="1">
                        <a:solidFill>
                          <a:srgbClr val="111827"/>
                        </a:solidFill>
                        <a:latin typeface="Cambria Math" panose="02040503050406030204" pitchFamily="18" charset="0"/>
                      </a:rPr>
                      <m:t>300</m:t>
                    </m:r>
                  </m:oMath>
                </a14:m>
                <a:r>
                  <a:rPr sz="2400" b="0">
                    <a:solidFill>
                      <a:srgbClr val="111827"/>
                    </a:solidFill>
                    <a:latin typeface="Arial"/>
                  </a:rPr>
                  <a:t>, standard deviation Rs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Site 3: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labourers, average Rs </a:t>
                </a:r>
                <a14:m>
                  <m:oMath xmlns:m="http://schemas.openxmlformats.org/officeDocument/2006/math">
                    <m:r>
                      <a:rPr lang="en-IN" sz="2400" i="1">
                        <a:solidFill>
                          <a:srgbClr val="111827"/>
                        </a:solidFill>
                        <a:latin typeface="Cambria Math" panose="02040503050406030204" pitchFamily="18" charset="0"/>
                      </a:rPr>
                      <m:t>340</m:t>
                    </m:r>
                  </m:oMath>
                </a14:m>
                <a:r>
                  <a:rPr sz="2400" b="0">
                    <a:solidFill>
                      <a:srgbClr val="111827"/>
                    </a:solidFill>
                    <a:latin typeface="Arial"/>
                  </a:rPr>
                  <a:t>, standard deviation Rs </a:t>
                </a:r>
                <a14:m>
                  <m:oMath xmlns:m="http://schemas.openxmlformats.org/officeDocument/2006/math">
                    <m:r>
                      <a:rPr lang="en-IN" sz="2400" i="1">
                        <a:solidFill>
                          <a:srgbClr val="111827"/>
                        </a:solidFill>
                        <a:latin typeface="Cambria Math" panose="02040503050406030204" pitchFamily="18" charset="0"/>
                      </a:rPr>
                      <m:t>45</m:t>
                    </m:r>
                  </m:oMath>
                </a14:m>
                <a:r>
                  <a:rPr sz="2400" b="0">
                    <a:solidFill>
                      <a:srgbClr val="111827"/>
                    </a:solidFill>
                    <a:latin typeface="Arial"/>
                  </a:rPr>
                  <a:t>. If the standard deviation of the wages of all the </a:t>
                </a:r>
                <a14:m>
                  <m:oMath xmlns:m="http://schemas.openxmlformats.org/officeDocument/2006/math">
                    <m:r>
                      <a:rPr lang="en-IN" sz="2400" i="1">
                        <a:solidFill>
                          <a:srgbClr val="111827"/>
                        </a:solidFill>
                        <a:latin typeface="Cambria Math" panose="02040503050406030204" pitchFamily="18" charset="0"/>
                      </a:rPr>
                      <m:t>85</m:t>
                    </m:r>
                  </m:oMath>
                </a14:m>
                <a:r>
                  <a:rPr sz="2400" b="0">
                    <a:solidFill>
                      <a:srgbClr val="111827"/>
                    </a:solidFill>
                    <a:latin typeface="Arial"/>
                  </a:rPr>
                  <a:t> labourers in the city is Rs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e>
                    </m:rad>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and H.C.F.</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find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2362</m:t>
                        </m:r>
                      </m:e>
                    </m:d>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denotes the greatest integer function). ________</a:t>
                </a:r>
                <a:endParaRPr sz="2400">
                  <a:solidFill>
                    <a:srgbClr val="111827"/>
                  </a:solidFill>
                </a:endParaRPr>
              </a:p>
            </p:txBody>
          </p:sp>
        </mc:Choice>
        <mc:Fallback>
          <p:sp>
            <p:nvSpPr>
              <p:cNvPr id="4" name="Rounded Rectangle 3"/>
              <p:cNvSpPr/>
              <p:nvPr/>
            </p:nvSpPr>
            <p:spPr>
              <a:xfrm>
                <a:off x="731520" y="1280160"/>
                <a:ext cx="10725912" cy="445871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construction company has three different sites located in the city. Analysis of the daily wages paid to the labourers in the three sites is as follows. Site 1: </a:t>
                </a:r>
                <a:r>
                  <a:rPr lang="en-IN" sz="2400">
                    <a:solidFill>
                      <a:srgbClr val="111827"/>
                    </a:solidFill>
                    <a:latin typeface="Cambria Math" panose="02040503050406030204" pitchFamily="18" charset="0"/>
                  </a:rPr>
                  <a:t>$20$</a:t>
                </a:r>
                <a:r>
                  <a:rPr sz="2400" b="0">
                    <a:solidFill>
                      <a:srgbClr val="111827"/>
                    </a:solidFill>
                    <a:latin typeface="Arial"/>
                  </a:rPr>
                  <a:t> labourers, average daily wage Rs </a:t>
                </a:r>
                <a:r>
                  <a:rPr lang="en-IN" sz="2400">
                    <a:solidFill>
                      <a:srgbClr val="111827"/>
                    </a:solidFill>
                    <a:latin typeface="Cambria Math" panose="02040503050406030204" pitchFamily="18" charset="0"/>
                  </a:rPr>
                  <a:t>$305$</a:t>
                </a:r>
                <a:r>
                  <a:rPr sz="2400" b="0">
                    <a:solidFill>
                      <a:srgbClr val="111827"/>
                    </a:solidFill>
                    <a:latin typeface="Arial"/>
                  </a:rPr>
                  <a:t>, standard deviation Rs </a:t>
                </a:r>
                <a:r>
                  <a:rPr lang="en-IN" sz="2400">
                    <a:solidFill>
                      <a:srgbClr val="111827"/>
                    </a:solidFill>
                    <a:latin typeface="Cambria Math" panose="02040503050406030204" pitchFamily="18" charset="0"/>
                  </a:rPr>
                  <a:t>$50$</a:t>
                </a:r>
                <a:r>
                  <a:rPr sz="2400" b="0">
                    <a:solidFill>
                      <a:srgbClr val="111827"/>
                    </a:solidFill>
                    <a:latin typeface="Arial"/>
                  </a:rPr>
                  <a:t>. Site 2: </a:t>
                </a:r>
                <a:r>
                  <a:rPr lang="en-IN" sz="2400">
                    <a:solidFill>
                      <a:srgbClr val="111827"/>
                    </a:solidFill>
                    <a:latin typeface="Cambria Math" panose="02040503050406030204" pitchFamily="18" charset="0"/>
                  </a:rPr>
                  <a:t>$25$</a:t>
                </a:r>
                <a:r>
                  <a:rPr sz="2400" b="0">
                    <a:solidFill>
                      <a:srgbClr val="111827"/>
                    </a:solidFill>
                    <a:latin typeface="Arial"/>
                  </a:rPr>
                  <a:t> labourers, average Rs </a:t>
                </a:r>
                <a:r>
                  <a:rPr lang="en-IN" sz="2400">
                    <a:solidFill>
                      <a:srgbClr val="111827"/>
                    </a:solidFill>
                    <a:latin typeface="Cambria Math" panose="02040503050406030204" pitchFamily="18" charset="0"/>
                  </a:rPr>
                  <a:t>$300$</a:t>
                </a:r>
                <a:r>
                  <a:rPr sz="2400" b="0">
                    <a:solidFill>
                      <a:srgbClr val="111827"/>
                    </a:solidFill>
                    <a:latin typeface="Arial"/>
                  </a:rPr>
                  <a:t>, standard deviation Rs </a:t>
                </a:r>
                <a:r>
                  <a:rPr lang="en-IN" sz="2400">
                    <a:solidFill>
                      <a:srgbClr val="111827"/>
                    </a:solidFill>
                    <a:latin typeface="Cambria Math" panose="02040503050406030204" pitchFamily="18" charset="0"/>
                  </a:rPr>
                  <a:t>$40$</a:t>
                </a:r>
                <a:r>
                  <a:rPr sz="2400" b="0">
                    <a:solidFill>
                      <a:srgbClr val="111827"/>
                    </a:solidFill>
                    <a:latin typeface="Arial"/>
                  </a:rPr>
                  <a:t>. Site 3: </a:t>
                </a:r>
                <a:r>
                  <a:rPr lang="en-IN" sz="2400">
                    <a:solidFill>
                      <a:srgbClr val="111827"/>
                    </a:solidFill>
                    <a:latin typeface="Cambria Math" panose="02040503050406030204" pitchFamily="18" charset="0"/>
                  </a:rPr>
                  <a:t>$40$</a:t>
                </a:r>
                <a:r>
                  <a:rPr sz="2400" b="0">
                    <a:solidFill>
                      <a:srgbClr val="111827"/>
                    </a:solidFill>
                    <a:latin typeface="Arial"/>
                  </a:rPr>
                  <a:t> labourers, average Rs </a:t>
                </a:r>
                <a:r>
                  <a:rPr lang="en-IN" sz="2400">
                    <a:solidFill>
                      <a:srgbClr val="111827"/>
                    </a:solidFill>
                    <a:latin typeface="Cambria Math" panose="02040503050406030204" pitchFamily="18" charset="0"/>
                  </a:rPr>
                  <a:t>$340$</a:t>
                </a:r>
                <a:r>
                  <a:rPr sz="2400" b="0">
                    <a:solidFill>
                      <a:srgbClr val="111827"/>
                    </a:solidFill>
                    <a:latin typeface="Arial"/>
                  </a:rPr>
                  <a:t>, standard deviation Rs </a:t>
                </a:r>
                <a:r>
                  <a:rPr lang="en-IN" sz="2400">
                    <a:solidFill>
                      <a:srgbClr val="111827"/>
                    </a:solidFill>
                    <a:latin typeface="Cambria Math" panose="02040503050406030204" pitchFamily="18" charset="0"/>
                  </a:rPr>
                  <a:t>$45$</a:t>
                </a:r>
                <a:r>
                  <a:rPr sz="2400" b="0">
                    <a:solidFill>
                      <a:srgbClr val="111827"/>
                    </a:solidFill>
                    <a:latin typeface="Arial"/>
                  </a:rPr>
                  <a:t>. If the standard deviation of the wages of all the </a:t>
                </a:r>
                <a:r>
                  <a:rPr lang="en-IN" sz="2400">
                    <a:solidFill>
                      <a:srgbClr val="111827"/>
                    </a:solidFill>
                    <a:latin typeface="Cambria Math" panose="02040503050406030204" pitchFamily="18" charset="0"/>
                  </a:rPr>
                  <a:t>$85$</a:t>
                </a:r>
                <a:r>
                  <a:rPr sz="2400" b="0">
                    <a:solidFill>
                      <a:srgbClr val="111827"/>
                    </a:solidFill>
                    <a:latin typeface="Arial"/>
                  </a:rPr>
                  <a:t> labourers in the city is Rs </a:t>
                </a:r>
                <a:r>
                  <a:rPr lang="en-IN" sz="2400">
                    <a:solidFill>
                      <a:srgbClr val="111827"/>
                    </a:solidFill>
                    <a:latin typeface="Cambria Math" panose="02040503050406030204" pitchFamily="18" charset="0"/>
                  </a:rPr>
                  <a:t>$\sqrt{\frac pq}$</a:t>
                </a:r>
                <a:r>
                  <a:rPr sz="2400" b="0">
                    <a:solidFill>
                      <a:srgbClr val="111827"/>
                    </a:solidFill>
                    <a:latin typeface="Arial"/>
                  </a:rPr>
                  <a:t>, where </a:t>
                </a:r>
                <a:r>
                  <a:rPr lang="en-IN" sz="2400">
                    <a:solidFill>
                      <a:srgbClr val="111827"/>
                    </a:solidFill>
                    <a:latin typeface="Cambria Math" panose="02040503050406030204" pitchFamily="18" charset="0"/>
                  </a:rPr>
                  <a:t>$p,q\in N$</a:t>
                </a:r>
                <a:r>
                  <a:rPr sz="2400" b="0">
                    <a:solidFill>
                      <a:srgbClr val="111827"/>
                    </a:solidFill>
                    <a:latin typeface="Arial"/>
                  </a:rPr>
                  <a:t> and H.C.F.</a:t>
                </a:r>
                <a:r>
                  <a:rPr lang="en-IN" sz="2400">
                    <a:solidFill>
                      <a:srgbClr val="111827"/>
                    </a:solidFill>
                    <a:latin typeface="Cambria Math" panose="02040503050406030204" pitchFamily="18" charset="0"/>
                  </a:rPr>
                  <a:t>$(p,q)=1$</a:t>
                </a:r>
                <a:r>
                  <a:rPr sz="2400" b="0">
                    <a:solidFill>
                      <a:srgbClr val="111827"/>
                    </a:solidFill>
                    <a:latin typeface="Arial"/>
                  </a:rPr>
                  <a:t>, then find the value of </a:t>
                </a:r>
                <a:r>
                  <a:rPr lang="en-IN" sz="2400">
                    <a:solidFill>
                      <a:srgbClr val="111827"/>
                    </a:solidFill>
                    <a:latin typeface="Cambria Math" panose="02040503050406030204" pitchFamily="18" charset="0"/>
                  </a:rPr>
                  <a:t>$\left[\frac pq-2362\right]$</a:t>
                </a:r>
                <a:r>
                  <a:rPr sz="2400" b="0">
                    <a:solidFill>
                      <a:srgbClr val="111827"/>
                    </a:solidFill>
                    <a:latin typeface="Arial"/>
                  </a:rPr>
                  <a:t> (where </a:t>
                </a:r>
                <a:r>
                  <a:rPr lang="en-IN" sz="2400">
                    <a:solidFill>
                      <a:srgbClr val="111827"/>
                    </a:solidFill>
                    <a:latin typeface="Cambria Math" panose="02040503050406030204" pitchFamily="18" charset="0"/>
                  </a:rPr>
                  <a:t>$[\cdot]$</a:t>
                </a:r>
                <a:r>
                  <a:rPr sz="2400" b="0">
                    <a:solidFill>
                      <a:srgbClr val="111827"/>
                    </a:solidFill>
                    <a:latin typeface="Arial"/>
                  </a:rPr>
                  <a:t> denotes the greatest integer function). ________</a:t>
                </a:r>
                <a:endParaRPr sz="2400">
                  <a:solidFill>
                    <a:srgbClr val="111827"/>
                  </a:solidFill>
                </a:endParaRPr>
              </a:p>
            </p:txBody>
          </p:sp>
        </mc:Fallback>
      </mc:AlternateContent>
    </p:spTree>
  </p:cSld>
  <p:clrMapOvr>
    <a:masterClrMapping/>
  </p:clrMapOvr>
</p:sld>
</file>

<file path=ppt/slides/slide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Statistics: combined mean and standard deviation of groups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Combined variance </a:t>
                </a:r>
                <a14:m>
                  <m:oMath xmlns:m="http://schemas.openxmlformats.org/officeDocument/2006/math">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𝑁</m:t>
                        </m:r>
                      </m:den>
                    </m:f>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𝑛</m:t>
                        </m:r>
                      </m:e>
                      <m:sub>
                        <m:r>
                          <a:rPr lang="en-IN" sz="2400" i="1">
                            <a:solidFill>
                              <a:srgbClr val="78350F"/>
                            </a:solidFill>
                            <a:latin typeface="Cambria Math" panose="02040503050406030204" pitchFamily="18" charset="0"/>
                          </a:rPr>
                          <m:t>𝑖</m:t>
                        </m:r>
                      </m:sub>
                    </m:sSub>
                    <m:d>
                      <m:dPr>
                        <m:begChr m:val="("/>
                        <m:sepChr m:val=""/>
                        <m:endChr m:val=")"/>
                        <m:grow/>
                        <m:ctrlPr>
                          <a:rPr lang="en-IN" sz="2400" i="1">
                            <a:solidFill>
                              <a:srgbClr val="78350F"/>
                            </a:solidFill>
                            <a:latin typeface="Cambria Math" panose="02040503050406030204" pitchFamily="18" charset="0"/>
                          </a:rPr>
                        </m:ctrlPr>
                      </m:dPr>
                      <m:e>
                        <m:sSubSup>
                          <m:e>
                            <m:r>
                              <a:rPr lang="en-IN" sz="2400" i="1">
                                <a:solidFill>
                                  <a:srgbClr val="78350F"/>
                                </a:solidFill>
                                <a:latin typeface="Cambria Math" panose="02040503050406030204" pitchFamily="18" charset="0"/>
                              </a:rPr>
                              <m:t>σ</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2</m:t>
                            </m:r>
                          </m:sup>
                        </m:sSubSup>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2</m:t>
                            </m:r>
                          </m:sup>
                        </m:sSubSup>
                      </m:e>
                    </m:d>
                  </m:oMath>
                </a14:m>
                <a:r>
                  <a:rPr sz="2400" b="0">
                    <a:solidFill>
                      <a:srgbClr val="78350F"/>
                    </a:solidFill>
                    <a:latin typeface="Arial"/>
                  </a:rPr>
                  <a:t> with </a:t>
                </a:r>
                <a14:m>
                  <m:oMath xmlns:m="http://schemas.openxmlformats.org/officeDocument/2006/math">
                    <m:sSub>
                      <m:e>
                        <m:r>
                          <a:rPr lang="en-IN" sz="2400" i="1">
                            <a:solidFill>
                              <a:srgbClr val="78350F"/>
                            </a:solidFill>
                            <a:latin typeface="Cambria Math" panose="02040503050406030204" pitchFamily="18" charset="0"/>
                          </a:rPr>
                          <m:t>𝑑</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the deviation of each group mean from the overall mean.</a:t>
                </a:r>
                <a:endParaRPr sz="2400">
                  <a:solidFill>
                    <a:srgbClr val="78350F"/>
                  </a:solidFill>
                </a:endParaRPr>
              </a:p>
            </p:txBody>
          </p:sp>
        </mc:Choice>
        <mc:Fallback>
          <p:sp>
            <p:nvSpPr>
              <p:cNvPr id="5" name="Rounded Rectangle 4"/>
              <p:cNvSpPr/>
              <p:nvPr/>
            </p:nvSpPr>
            <p:spPr>
              <a:xfrm>
                <a:off x="731520" y="365760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Combined variance </a:t>
                </a:r>
                <a:r>
                  <a:rPr lang="en-IN" sz="2400">
                    <a:solidFill>
                      <a:srgbClr val="78350F"/>
                    </a:solidFill>
                    <a:latin typeface="Cambria Math" panose="02040503050406030204" pitchFamily="18" charset="0"/>
                  </a:rPr>
                  <a:t>$=\frac{1}{N}\sum n_i\left(\sigma_i^2+d_i^2\right)$</a:t>
                </a:r>
                <a:r>
                  <a:rPr sz="2400" b="0">
                    <a:solidFill>
                      <a:srgbClr val="78350F"/>
                    </a:solidFill>
                    <a:latin typeface="Arial"/>
                  </a:rPr>
                  <a:t> with </a:t>
                </a:r>
                <a:r>
                  <a:rPr lang="en-IN" sz="2400">
                    <a:solidFill>
                      <a:srgbClr val="78350F"/>
                    </a:solidFill>
                    <a:latin typeface="Cambria Math" panose="02040503050406030204" pitchFamily="18" charset="0"/>
                  </a:rPr>
                  <a:t>$d_i$</a:t>
                </a:r>
                <a:r>
                  <a:rPr sz="2400" b="0">
                    <a:solidFill>
                      <a:srgbClr val="78350F"/>
                    </a:solidFill>
                    <a:latin typeface="Arial"/>
                  </a:rPr>
                  <a:t> the deviation of each group mean from the overall mean.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printed solution has no working. Total wages: </a:t>
                </a:r>
                <a14:m>
                  <m:oMath xmlns:m="http://schemas.openxmlformats.org/officeDocument/2006/math">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6100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7500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27200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013960"/>
                <a:ext cx="10725912" cy="166115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printed solution has no working. Total wages: </a:t>
                </a:r>
                <a:r>
                  <a:rPr lang="en-IN" sz="2400">
                    <a:solidFill>
                      <a:srgbClr val="111827"/>
                    </a:solidFill>
                    <a:latin typeface="Cambria Math" panose="02040503050406030204" pitchFamily="18" charset="0"/>
                  </a:rPr>
                  <a:t>$20(305)+25(300)+40(340)=6100+7500+13600=27200$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Overall mean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27200</m:t>
                        </m:r>
                      </m:num>
                      <m:den>
                        <m:r>
                          <a:rPr lang="en-IN" sz="2400" i="1">
                            <a:solidFill>
                              <a:srgbClr val="111827"/>
                            </a:solidFill>
                            <a:latin typeface="Cambria Math" panose="02040503050406030204" pitchFamily="18" charset="0"/>
                          </a:rPr>
                          <m:t>85</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Deviations of the group means: </a:t>
                </a: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Combined variance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σ</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85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Site 1: </a:t>
                </a:r>
                <a14:m>
                  <m:oMath xmlns:m="http://schemas.openxmlformats.org/officeDocument/2006/math">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54500</m:t>
                    </m:r>
                  </m:oMath>
                </a14:m>
                <a:r>
                  <a:rPr sz="2400" b="0">
                    <a:solidFill>
                      <a:srgbClr val="111827"/>
                    </a:solidFill>
                    <a:latin typeface="Arial"/>
                  </a:rPr>
                  <a:t>. Site 2: </a:t>
                </a:r>
                <a14:m>
                  <m:oMath xmlns:m="http://schemas.openxmlformats.org/officeDocument/2006/math">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50000</m:t>
                    </m:r>
                  </m:oMath>
                </a14:m>
                <a:r>
                  <a:rPr sz="2400" b="0">
                    <a:solidFill>
                      <a:srgbClr val="111827"/>
                    </a:solidFill>
                    <a:latin typeface="Arial"/>
                  </a:rPr>
                  <a:t>. Site 3: </a:t>
                </a:r>
                <a14:m>
                  <m:oMath xmlns:m="http://schemas.openxmlformats.org/officeDocument/2006/math">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97000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54500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97000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201500</m:t>
                    </m:r>
                  </m:oMath>
                </a14:m>
                <a:r>
                  <a:rPr sz="2400" b="0">
                    <a:solidFill>
                      <a:srgbClr val="111827"/>
                    </a:solidFill>
                    <a:latin typeface="Arial"/>
                  </a:rPr>
                  <a:t>, so the variance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201500</m:t>
                        </m:r>
                      </m:num>
                      <m:den>
                        <m:r>
                          <a:rPr lang="en-IN" sz="2400" i="1">
                            <a:solidFill>
                              <a:srgbClr val="111827"/>
                            </a:solidFill>
                            <a:latin typeface="Cambria Math" panose="02040503050406030204" pitchFamily="18" charset="0"/>
                          </a:rPr>
                          <m:t>85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40300</m:t>
                        </m:r>
                      </m:num>
                      <m:den>
                        <m:r>
                          <a:rPr lang="en-IN" sz="2400" i="1">
                            <a:solidFill>
                              <a:srgbClr val="111827"/>
                            </a:solidFill>
                            <a:latin typeface="Cambria Math" panose="02040503050406030204" pitchFamily="18" charset="0"/>
                          </a:rPr>
                          <m:t>17</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40300</m:t>
                    </m:r>
                  </m:oMath>
                </a14:m>
                <a:r>
                  <a:rPr sz="2400" b="0">
                    <a:solidFill>
                      <a:srgbClr val="111827"/>
                    </a:solidFill>
                    <a:latin typeface="Arial"/>
                  </a:rPr>
                  <a:t> is not divisible by </a:t>
                </a:r>
                <a14:m>
                  <m:oMath xmlns:m="http://schemas.openxmlformats.org/officeDocument/2006/math">
                    <m:r>
                      <a:rPr lang="en-IN" sz="2400" i="1">
                        <a:solidFill>
                          <a:srgbClr val="111827"/>
                        </a:solidFill>
                        <a:latin typeface="Cambria Math" panose="02040503050406030204" pitchFamily="18" charset="0"/>
                      </a:rPr>
                      <m:t>17</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2370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40290</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40300</m:t>
                        </m:r>
                      </m:num>
                      <m:den>
                        <m:r>
                          <a:rPr lang="en-IN" sz="2400" i="1">
                            <a:solidFill>
                              <a:srgbClr val="111827"/>
                            </a:solidFill>
                            <a:latin typeface="Cambria Math" panose="02040503050406030204" pitchFamily="18" charset="0"/>
                          </a:rPr>
                          <m:t>17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2370.588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Overall mean </a:t>
                </a:r>
                <a:r>
                  <a:rPr lang="en-IN" sz="2400">
                    <a:solidFill>
                      <a:srgbClr val="111827"/>
                    </a:solidFill>
                    <a:latin typeface="Cambria Math" panose="02040503050406030204" pitchFamily="18" charset="0"/>
                  </a:rPr>
                  <a:t>$\bar x=\frac{27200}{85}=320$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Deviations of the group means: </a:t>
                </a:r>
                <a:r>
                  <a:rPr lang="en-IN" sz="2400">
                    <a:solidFill>
                      <a:srgbClr val="111827"/>
                    </a:solidFill>
                    <a:latin typeface="Cambria Math" panose="02040503050406030204" pitchFamily="18" charset="0"/>
                  </a:rPr>
                  <a:t>$d_1=305-320=-15$</a:t>
                </a:r>
                <a:r>
                  <a:rPr sz="2400" b="0">
                    <a:solidFill>
                      <a:srgbClr val="111827"/>
                    </a:solidFill>
                    <a:latin typeface="Arial"/>
                  </a:rPr>
                  <a:t>, </a:t>
                </a:r>
                <a:r>
                  <a:rPr lang="en-IN" sz="2400">
                    <a:solidFill>
                      <a:srgbClr val="111827"/>
                    </a:solidFill>
                    <a:latin typeface="Cambria Math" panose="02040503050406030204" pitchFamily="18" charset="0"/>
                  </a:rPr>
                  <a:t>$d_2=300-320=-20$</a:t>
                </a:r>
                <a:r>
                  <a:rPr sz="2400" b="0">
                    <a:solidFill>
                      <a:srgbClr val="111827"/>
                    </a:solidFill>
                    <a:latin typeface="Arial"/>
                  </a:rPr>
                  <a:t>, </a:t>
                </a:r>
                <a:r>
                  <a:rPr lang="en-IN" sz="2400">
                    <a:solidFill>
                      <a:srgbClr val="111827"/>
                    </a:solidFill>
                    <a:latin typeface="Cambria Math" panose="02040503050406030204" pitchFamily="18" charset="0"/>
                  </a:rPr>
                  <a:t>$d_3=340-320=20$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Combined variance </a:t>
                </a:r>
                <a:r>
                  <a:rPr lang="en-IN" sz="2400">
                    <a:solidFill>
                      <a:srgbClr val="111827"/>
                    </a:solidFill>
                    <a:latin typeface="Cambria Math" panose="02040503050406030204" pitchFamily="18" charset="0"/>
                  </a:rPr>
                  <a:t>$=\frac{\sum n_i(\sigma_i^2+d_i^2)}{85}$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Site 1: </a:t>
                </a:r>
                <a:r>
                  <a:rPr lang="en-IN" sz="2400">
                    <a:solidFill>
                      <a:srgbClr val="111827"/>
                    </a:solidFill>
                    <a:latin typeface="Cambria Math" panose="02040503050406030204" pitchFamily="18" charset="0"/>
                  </a:rPr>
                  <a:t>$20(2500+225)=54500$</a:t>
                </a:r>
                <a:r>
                  <a:rPr sz="2400" b="0">
                    <a:solidFill>
                      <a:srgbClr val="111827"/>
                    </a:solidFill>
                    <a:latin typeface="Arial"/>
                  </a:rPr>
                  <a:t>. Site 2: </a:t>
                </a:r>
                <a:r>
                  <a:rPr lang="en-IN" sz="2400">
                    <a:solidFill>
                      <a:srgbClr val="111827"/>
                    </a:solidFill>
                    <a:latin typeface="Cambria Math" panose="02040503050406030204" pitchFamily="18" charset="0"/>
                  </a:rPr>
                  <a:t>$25(1600+400)=50000$</a:t>
                </a:r>
                <a:r>
                  <a:rPr sz="2400" b="0">
                    <a:solidFill>
                      <a:srgbClr val="111827"/>
                    </a:solidFill>
                    <a:latin typeface="Arial"/>
                  </a:rPr>
                  <a:t>. Site 3: </a:t>
                </a:r>
                <a:r>
                  <a:rPr lang="en-IN" sz="2400">
                    <a:solidFill>
                      <a:srgbClr val="111827"/>
                    </a:solidFill>
                    <a:latin typeface="Cambria Math" panose="02040503050406030204" pitchFamily="18" charset="0"/>
                  </a:rPr>
                  <a:t>$40(2025+400)=97000$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Sum </a:t>
                </a:r>
                <a:r>
                  <a:rPr lang="en-IN" sz="2400">
                    <a:solidFill>
                      <a:srgbClr val="111827"/>
                    </a:solidFill>
                    <a:latin typeface="Cambria Math" panose="02040503050406030204" pitchFamily="18" charset="0"/>
                  </a:rPr>
                  <a:t>$=54500+50000+97000=201500$</a:t>
                </a:r>
                <a:r>
                  <a:rPr sz="2400" b="0">
                    <a:solidFill>
                      <a:srgbClr val="111827"/>
                    </a:solidFill>
                    <a:latin typeface="Arial"/>
                  </a:rPr>
                  <a:t>, so the variance is </a:t>
                </a:r>
                <a:r>
                  <a:rPr lang="en-IN" sz="2400">
                    <a:solidFill>
                      <a:srgbClr val="111827"/>
                    </a:solidFill>
                    <a:latin typeface="Cambria Math" panose="02040503050406030204" pitchFamily="18" charset="0"/>
                  </a:rPr>
                  <a:t>$\frac{201500}{85}=\frac{40300}{17}$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$40300$</a:t>
                </a:r>
                <a:r>
                  <a:rPr sz="2400" b="0">
                    <a:solidFill>
                      <a:srgbClr val="111827"/>
                    </a:solidFill>
                    <a:latin typeface="Arial"/>
                  </a:rPr>
                  <a:t> is not divisible by </a:t>
                </a:r>
                <a:r>
                  <a:rPr lang="en-IN" sz="2400">
                    <a:solidFill>
                      <a:srgbClr val="111827"/>
                    </a:solidFill>
                    <a:latin typeface="Cambria Math" panose="02040503050406030204" pitchFamily="18" charset="0"/>
                  </a:rPr>
                  <a:t>$17$</a:t>
                </a:r>
                <a:r>
                  <a:rPr sz="2400" b="0">
                    <a:solidFill>
                      <a:srgbClr val="111827"/>
                    </a:solidFill>
                    <a:latin typeface="Arial"/>
                  </a:rPr>
                  <a:t> (</a:t>
                </a:r>
                <a:r>
                  <a:rPr lang="en-IN" sz="2400">
                    <a:solidFill>
                      <a:srgbClr val="111827"/>
                    </a:solidFill>
                    <a:latin typeface="Cambria Math" panose="02040503050406030204" pitchFamily="18" charset="0"/>
                  </a:rPr>
                  <a:t>$17\cdot2370=40290$</a:t>
                </a:r>
                <a:r>
                  <a:rPr sz="2400" b="0">
                    <a:solidFill>
                      <a:srgbClr val="111827"/>
                    </a:solidFill>
                    <a:latin typeface="Arial"/>
                  </a:rPr>
                  <a:t>), so </a:t>
                </a:r>
                <a:r>
                  <a:rPr lang="en-IN" sz="2400">
                    <a:solidFill>
                      <a:srgbClr val="111827"/>
                    </a:solidFill>
                    <a:latin typeface="Cambria Math" panose="02040503050406030204" pitchFamily="18" charset="0"/>
                  </a:rPr>
                  <a:t>$\frac pq=\frac{40300}{17}\approx2370.588$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2362</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8.588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$\left[\frac pq-2362\right]=[8.588]=8$</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8</a:t>
            </a:r>
            <a:endParaRPr sz="2800">
              <a:solidFill>
                <a:srgbClr val="15803D"/>
              </a:solidFill>
            </a:endParaRPr>
          </a:p>
        </p:txBody>
      </p:sp>
    </p:spTree>
  </p:cSld>
  <p:clrMapOvr>
    <a:masterClrMapping/>
  </p:clrMapOvr>
</p:sld>
</file>

<file path=ppt/slides/slide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raw second moments: </a:t>
                </a:r>
                <a14:m>
                  <m:oMath xmlns:m="http://schemas.openxmlformats.org/officeDocument/2006/math">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of each site is </a:t>
                </a:r>
                <a14:m>
                  <m:oMath xmlns:m="http://schemas.openxmlformats.org/officeDocument/2006/math">
                    <m:sSub>
                      <m:e>
                        <m:r>
                          <a:rPr lang="en-IN" sz="2400" i="1">
                            <a:solidFill>
                              <a:srgbClr val="78350F"/>
                            </a:solidFill>
                            <a:latin typeface="Cambria Math" panose="02040503050406030204" pitchFamily="18" charset="0"/>
                          </a:rPr>
                          <m:t>𝑛</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σ</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2</m:t>
                        </m:r>
                      </m:sup>
                    </m:sSubSup>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μ</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2</m:t>
                        </m:r>
                      </m:sup>
                    </m:sSubSup>
                    <m:r>
                      <m:rPr>
                        <m:sty m:val="p"/>
                      </m:rPr>
                      <a:rPr lang="en-IN" sz="2400">
                        <a:solidFill>
                          <a:srgbClr val="78350F"/>
                        </a:solidFill>
                        <a:latin typeface="Cambria Math" panose="02040503050406030204" pitchFamily="18" charset="0"/>
                      </a:rPr>
                      <m:t>)</m:t>
                    </m:r>
                  </m:oMath>
                </a14:m>
                <a:r>
                  <a:rPr sz="2400" b="0">
                    <a:solidFill>
                      <a:srgbClr val="78350F"/>
                    </a:solidFill>
                    <a:latin typeface="Arial"/>
                  </a:rPr>
                  <a:t>; subtract the overall mean squared.</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raw second moments: </a:t>
                </a:r>
                <a:r>
                  <a:rPr lang="en-IN" sz="2400">
                    <a:solidFill>
                      <a:srgbClr val="78350F"/>
                    </a:solidFill>
                    <a:latin typeface="Cambria Math" panose="02040503050406030204" pitchFamily="18" charset="0"/>
                  </a:rPr>
                  <a:t>$\sum x^2$</a:t>
                </a:r>
                <a:r>
                  <a:rPr sz="2400" b="0">
                    <a:solidFill>
                      <a:srgbClr val="78350F"/>
                    </a:solidFill>
                    <a:latin typeface="Arial"/>
                  </a:rPr>
                  <a:t> of each site is </a:t>
                </a:r>
                <a:r>
                  <a:rPr lang="en-IN" sz="2400">
                    <a:solidFill>
                      <a:srgbClr val="78350F"/>
                    </a:solidFill>
                    <a:latin typeface="Cambria Math" panose="02040503050406030204" pitchFamily="18" charset="0"/>
                  </a:rPr>
                  <a:t>$n_i(\sigma_i^2+\mu_i^2)$</a:t>
                </a:r>
                <a:r>
                  <a:rPr sz="2400" b="0">
                    <a:solidFill>
                      <a:srgbClr val="78350F"/>
                    </a:solidFill>
                    <a:latin typeface="Arial"/>
                  </a:rPr>
                  <a:t>; subtract the overall mean squared.</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Site sums of squares: </a:t>
                </a:r>
                <a14:m>
                  <m:oMath xmlns:m="http://schemas.openxmlformats.org/officeDocument/2006/math">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2500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95525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1910500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1600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300</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91600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2290000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2025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340</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117625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4705000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1910500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2290000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4705000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8905500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Variance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8905500</m:t>
                        </m:r>
                      </m:num>
                      <m:den>
                        <m:r>
                          <a:rPr lang="en-IN" sz="2400" i="1">
                            <a:solidFill>
                              <a:srgbClr val="111827"/>
                            </a:solidFill>
                            <a:latin typeface="Cambria Math" panose="02040503050406030204" pitchFamily="18" charset="0"/>
                          </a:rPr>
                          <m:t>85</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320</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8905500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8704000</m:t>
                        </m:r>
                      </m:num>
                      <m:den>
                        <m:r>
                          <a:rPr lang="en-IN" sz="2400" i="1">
                            <a:solidFill>
                              <a:srgbClr val="111827"/>
                            </a:solidFill>
                            <a:latin typeface="Cambria Math" panose="02040503050406030204" pitchFamily="18" charset="0"/>
                          </a:rPr>
                          <m:t>85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201500</m:t>
                        </m:r>
                      </m:num>
                      <m:den>
                        <m:r>
                          <a:rPr lang="en-IN" sz="2400" i="1">
                            <a:solidFill>
                              <a:srgbClr val="111827"/>
                            </a:solidFill>
                            <a:latin typeface="Cambria Math" panose="02040503050406030204" pitchFamily="18" charset="0"/>
                          </a:rPr>
                          <m:t>85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40300</m:t>
                        </m:r>
                      </m:num>
                      <m:den>
                        <m:r>
                          <a:rPr lang="en-IN" sz="2400" i="1">
                            <a:solidFill>
                              <a:srgbClr val="111827"/>
                            </a:solidFill>
                            <a:latin typeface="Cambria Math" panose="02040503050406030204" pitchFamily="18" charset="0"/>
                          </a:rPr>
                          <m:t>17</m:t>
                        </m:r>
                      </m:den>
                    </m:f>
                  </m:oMath>
                </a14:m>
                <a:r>
                  <a:rPr sz="2400" b="0">
                    <a:solidFill>
                      <a:srgbClr val="111827"/>
                    </a:solidFill>
                    <a:latin typeface="Arial"/>
                  </a:rPr>
                  <a:t>, the same value.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40300</m:t>
                            </m:r>
                          </m:num>
                          <m:den>
                            <m:r>
                              <a:rPr lang="en-IN" sz="2400" i="1">
                                <a:solidFill>
                                  <a:srgbClr val="111827"/>
                                </a:solidFill>
                                <a:latin typeface="Cambria Math" panose="02040503050406030204" pitchFamily="18" charset="0"/>
                              </a:rPr>
                              <m:t>17</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2362</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Site sums of squares: </a:t>
                </a:r>
                <a:r>
                  <a:rPr lang="en-IN" sz="2400">
                    <a:solidFill>
                      <a:srgbClr val="111827"/>
                    </a:solidFill>
                    <a:latin typeface="Cambria Math" panose="02040503050406030204" pitchFamily="18" charset="0"/>
                  </a:rPr>
                  <a:t>$20(2500+305^2)=20(95525)=1910500$</a:t>
                </a:r>
                <a:r>
                  <a:rPr sz="2400" b="0">
                    <a:solidFill>
                      <a:srgbClr val="111827"/>
                    </a:solidFill>
                    <a:latin typeface="Arial"/>
                  </a:rPr>
                  <a:t>; </a:t>
                </a:r>
                <a:r>
                  <a:rPr lang="en-IN" sz="2400">
                    <a:solidFill>
                      <a:srgbClr val="111827"/>
                    </a:solidFill>
                    <a:latin typeface="Cambria Math" panose="02040503050406030204" pitchFamily="18" charset="0"/>
                  </a:rPr>
                  <a:t>$25(1600+300^2)=25(91600)=2290000$</a:t>
                </a:r>
                <a:r>
                  <a:rPr sz="2400" b="0">
                    <a:solidFill>
                      <a:srgbClr val="111827"/>
                    </a:solidFill>
                    <a:latin typeface="Arial"/>
                  </a:rPr>
                  <a:t>; </a:t>
                </a:r>
                <a:r>
                  <a:rPr lang="en-IN" sz="2400">
                    <a:solidFill>
                      <a:srgbClr val="111827"/>
                    </a:solidFill>
                    <a:latin typeface="Cambria Math" panose="02040503050406030204" pitchFamily="18" charset="0"/>
                  </a:rPr>
                  <a:t>$40(2025+340^2)=40(117625)=4705000$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$\sum x^2=1910500+2290000+4705000=8905500$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Variance </a:t>
                </a:r>
                <a:r>
                  <a:rPr lang="en-IN" sz="2400">
                    <a:solidFill>
                      <a:srgbClr val="111827"/>
                    </a:solidFill>
                    <a:latin typeface="Cambria Math" panose="02040503050406030204" pitchFamily="18" charset="0"/>
                  </a:rPr>
                  <a:t>$=\frac{8905500}{85}-320^2=\frac{8905500-8704000}{85}=\frac{201500}{85}=\frac{40300}{17}$</a:t>
                </a:r>
                <a:r>
                  <a:rPr sz="2400" b="0">
                    <a:solidFill>
                      <a:srgbClr val="111827"/>
                    </a:solidFill>
                    <a:latin typeface="Arial"/>
                  </a:rPr>
                  <a:t>, the same value.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$\left[\frac{40300}{17}-2362\right]=8$</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8</a:t>
            </a:r>
            <a:endParaRPr sz="2800">
              <a:solidFill>
                <a:srgbClr val="15803D"/>
              </a:solidFill>
            </a:endParaRPr>
          </a:p>
        </p:txBody>
      </p:sp>
    </p:spTree>
  </p:cSld>
  <p:clrMapOvr>
    <a:masterClrMapping/>
  </p:clrMapOvr>
</p:sld>
</file>

<file path=ppt/slides/slide5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Combined variance of groups: </a:t>
                </a:r>
                <a14:m>
                  <m:oMath xmlns:m="http://schemas.openxmlformats.org/officeDocument/2006/math">
                    <m:sSup>
                      <m:e>
                        <m:r>
                          <a:rPr lang="en-IN" sz="2400" i="1">
                            <a:solidFill>
                              <a:srgbClr val="111827"/>
                            </a:solidFill>
                            <a:latin typeface="Cambria Math" panose="02040503050406030204" pitchFamily="18" charset="0"/>
                          </a:rPr>
                          <m:t>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𝑖</m:t>
                            </m:r>
                          </m:sub>
                        </m:sSub>
                        <m:sSubSup>
                          <m:e>
                            <m:r>
                              <a:rPr lang="en-IN" sz="2400" i="1">
                                <a:solidFill>
                                  <a:srgbClr val="111827"/>
                                </a:solidFill>
                                <a:latin typeface="Cambria Math" panose="02040503050406030204" pitchFamily="18" charset="0"/>
                              </a:rPr>
                              <m:t>σ</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num>
                      <m:den>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𝑖</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𝑖</m:t>
                            </m:r>
                          </m:sub>
                        </m:sSub>
                        <m:sSubSup>
                          <m:e>
                            <m:r>
                              <a:rPr lang="en-IN" sz="2400" i="1">
                                <a:solidFill>
                                  <a:srgbClr val="111827"/>
                                </a:solidFill>
                                <a:latin typeface="Cambria Math" panose="02040503050406030204" pitchFamily="18" charset="0"/>
                              </a:rPr>
                              <m:t>𝑑</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num>
                      <m:den>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𝑖</m:t>
                            </m:r>
                          </m:sub>
                        </m:sSub>
                      </m:den>
                    </m:f>
                  </m:oMath>
                </a14:m>
                <a:r>
                  <a:rPr sz="2400" b="0">
                    <a:solidFill>
                      <a:srgbClr val="111827"/>
                    </a:solidFill>
                    <a:latin typeface="Arial"/>
                  </a:rPr>
                  <a:t> (within-group plus between-group parts).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 </a:t>
                </a:r>
                <a14:m>
                  <m:oMath xmlns:m="http://schemas.openxmlformats.org/officeDocument/2006/math">
                    <m:sSup>
                      <m:e>
                        <m:r>
                          <a:rPr lang="en-IN" sz="2400" i="1">
                            <a:solidFill>
                              <a:srgbClr val="111827"/>
                            </a:solidFill>
                            <a:latin typeface="Cambria Math" panose="02040503050406030204" pitchFamily="18" charset="0"/>
                          </a:rPr>
                          <m:t>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𝑛</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σ</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μ</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𝑁</m:t>
                        </m:r>
                      </m:den>
                    </m:f>
                    <m:r>
                      <m:rPr>
                        <m:sty m:val="p"/>
                      </m:rPr>
                      <a:rPr lang="en-IN" sz="2400">
                        <a:solidFill>
                          <a:srgbClr val="111827"/>
                        </a:solidFill>
                        <a:latin typeface="Cambria Math" panose="02040503050406030204" pitchFamily="18" charset="0"/>
                      </a:rPr>
                      <m:t>−</m:t>
                    </m:r>
                    <m:sSup>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here: within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1600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2025</m:t>
                        </m:r>
                      </m:num>
                      <m:den>
                        <m:r>
                          <a:rPr lang="en-IN" sz="2400" i="1">
                            <a:solidFill>
                              <a:srgbClr val="111827"/>
                            </a:solidFill>
                            <a:latin typeface="Cambria Math" panose="02040503050406030204" pitchFamily="18" charset="0"/>
                          </a:rPr>
                          <m:t>85</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171000</m:t>
                        </m:r>
                      </m:num>
                      <m:den>
                        <m:r>
                          <a:rPr lang="en-IN" sz="2400" i="1">
                            <a:solidFill>
                              <a:srgbClr val="111827"/>
                            </a:solidFill>
                            <a:latin typeface="Cambria Math" panose="02040503050406030204" pitchFamily="18" charset="0"/>
                          </a:rPr>
                          <m:t>85</m:t>
                        </m:r>
                      </m:den>
                    </m:f>
                  </m:oMath>
                </a14:m>
                <a:r>
                  <a:rPr sz="2400" b="0">
                    <a:solidFill>
                      <a:srgbClr val="111827"/>
                    </a:solidFill>
                    <a:latin typeface="Arial"/>
                  </a:rPr>
                  <a:t>, between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30500</m:t>
                        </m:r>
                      </m:num>
                      <m:den>
                        <m:r>
                          <a:rPr lang="en-IN" sz="2400" i="1">
                            <a:solidFill>
                              <a:srgbClr val="111827"/>
                            </a:solidFill>
                            <a:latin typeface="Cambria Math" panose="02040503050406030204" pitchFamily="18" charset="0"/>
                          </a:rPr>
                          <m:t>85</m:t>
                        </m:r>
                      </m:den>
                    </m:f>
                  </m:oMath>
                </a14:m>
                <a:r>
                  <a:rPr sz="2400" b="0">
                    <a:solidFill>
                      <a:srgbClr val="111827"/>
                    </a:solidFill>
                    <a:latin typeface="Arial"/>
                  </a:rPr>
                  <a:t>; sum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201500</m:t>
                        </m:r>
                      </m:num>
                      <m:den>
                        <m:r>
                          <a:rPr lang="en-IN" sz="2400" i="1">
                            <a:solidFill>
                              <a:srgbClr val="111827"/>
                            </a:solidFill>
                            <a:latin typeface="Cambria Math" panose="02040503050406030204" pitchFamily="18" charset="0"/>
                          </a:rPr>
                          <m:t>85</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Combined variance of groups: </a:t>
                </a:r>
                <a:r>
                  <a:rPr lang="en-IN" sz="2400">
                    <a:solidFill>
                      <a:srgbClr val="111827"/>
                    </a:solidFill>
                    <a:latin typeface="Cambria Math" panose="02040503050406030204" pitchFamily="18" charset="0"/>
                  </a:rPr>
                  <a:t>$\sigma^2=\frac{\sum n_i\sigma_i^2}{\sum n_i}+\frac{\sum n_i d_i^2}{\sum n_i}$</a:t>
                </a:r>
                <a:r>
                  <a:rPr sz="2400" b="0">
                    <a:solidFill>
                      <a:srgbClr val="111827"/>
                    </a:solidFill>
                    <a:latin typeface="Arial"/>
                  </a:rPr>
                  <a:t> (within-group plus between-group parts).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Equivalent: </a:t>
                </a:r>
                <a:r>
                  <a:rPr lang="en-IN" sz="2400">
                    <a:solidFill>
                      <a:srgbClr val="111827"/>
                    </a:solidFill>
                    <a:latin typeface="Cambria Math" panose="02040503050406030204" pitchFamily="18" charset="0"/>
                  </a:rPr>
                  <a:t>$\sigma^2=\frac{\sum n_i(\sigma_i^2+\mu_i^2)}{N}-\bar x^2$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here: within </a:t>
                </a:r>
                <a:r>
                  <a:rPr lang="en-IN" sz="2400">
                    <a:solidFill>
                      <a:srgbClr val="111827"/>
                    </a:solidFill>
                    <a:latin typeface="Cambria Math" panose="02040503050406030204" pitchFamily="18" charset="0"/>
                  </a:rPr>
                  <a:t>$=\frac{20\cdot2500+25\cdot1600+40\cdot2025}{85}=\frac{171000}{85}$</a:t>
                </a:r>
                <a:r>
                  <a:rPr sz="2400" b="0">
                    <a:solidFill>
                      <a:srgbClr val="111827"/>
                    </a:solidFill>
                    <a:latin typeface="Arial"/>
                  </a:rPr>
                  <a:t>, between </a:t>
                </a:r>
                <a:r>
                  <a:rPr lang="en-IN" sz="2400">
                    <a:solidFill>
                      <a:srgbClr val="111827"/>
                    </a:solidFill>
                    <a:latin typeface="Cambria Math" panose="02040503050406030204" pitchFamily="18" charset="0"/>
                  </a:rPr>
                  <a:t>$=\frac{30500}{85}$</a:t>
                </a:r>
                <a:r>
                  <a:rPr sz="2400" b="0">
                    <a:solidFill>
                      <a:srgbClr val="111827"/>
                    </a:solidFill>
                    <a:latin typeface="Arial"/>
                  </a:rPr>
                  <a:t>; sum </a:t>
                </a:r>
                <a:r>
                  <a:rPr lang="en-IN" sz="2400">
                    <a:solidFill>
                      <a:srgbClr val="111827"/>
                    </a:solidFill>
                    <a:latin typeface="Cambria Math" panose="02040503050406030204" pitchFamily="18" charset="0"/>
                  </a:rPr>
                  <a:t>$\frac{201500}{85}$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be distinct reals satisfying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18</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and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18</m:t>
                        </m:r>
                      </m:sup>
                      <m:e>
                        <m:r>
                          <m:rPr>
                            <m:sty m:val="p"/>
                          </m:rPr>
                          <a:rPr lang="en-IN" sz="2400">
                            <a:solidFill>
                              <a:srgbClr val="111827"/>
                            </a:solidFill>
                            <a:latin typeface="Cambria Math" panose="02040503050406030204" pitchFamily="18" charset="0"/>
                          </a:rPr>
                          <m:t>(</m:t>
                        </m:r>
                      </m:e>
                    </m:nary>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 If the standard deviation of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18</m:t>
                        </m:r>
                      </m:sub>
                    </m:sSub>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then the value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$\alpha$</a:t>
                </a:r>
                <a:r>
                  <a:rPr sz="2400" b="0">
                    <a:solidFill>
                      <a:srgbClr val="111827"/>
                    </a:solidFill>
                    <a:latin typeface="Arial"/>
                  </a:rPr>
                  <a:t> and </a:t>
                </a:r>
                <a:r>
                  <a:rPr lang="en-IN" sz="2400">
                    <a:solidFill>
                      <a:srgbClr val="111827"/>
                    </a:solidFill>
                    <a:latin typeface="Cambria Math" panose="02040503050406030204" pitchFamily="18" charset="0"/>
                  </a:rPr>
                  <a:t>$\beta$</a:t>
                </a:r>
                <a:r>
                  <a:rPr sz="2400" b="0">
                    <a:solidFill>
                      <a:srgbClr val="111827"/>
                    </a:solidFill>
                    <a:latin typeface="Arial"/>
                  </a:rPr>
                  <a:t> be distinct reals satisfying </a:t>
                </a:r>
                <a:r>
                  <a:rPr lang="en-IN" sz="2400">
                    <a:solidFill>
                      <a:srgbClr val="111827"/>
                    </a:solidFill>
                    <a:latin typeface="Cambria Math" panose="02040503050406030204" pitchFamily="18" charset="0"/>
                  </a:rPr>
                  <a:t>$\sum_{i=1}^{18}(x_i-\alpha)=36$</a:t>
                </a:r>
                <a:r>
                  <a:rPr sz="2400" b="0">
                    <a:solidFill>
                      <a:srgbClr val="111827"/>
                    </a:solidFill>
                    <a:latin typeface="Arial"/>
                  </a:rPr>
                  <a:t> and </a:t>
                </a:r>
                <a:r>
                  <a:rPr lang="en-IN" sz="2400">
                    <a:solidFill>
                      <a:srgbClr val="111827"/>
                    </a:solidFill>
                    <a:latin typeface="Cambria Math" panose="02040503050406030204" pitchFamily="18" charset="0"/>
                  </a:rPr>
                  <a:t>$\sum_{i=1}^{18}(x_i-\beta)^2=90$</a:t>
                </a:r>
                <a:r>
                  <a:rPr sz="2400" b="0">
                    <a:solidFill>
                      <a:srgbClr val="111827"/>
                    </a:solidFill>
                    <a:latin typeface="Arial"/>
                  </a:rPr>
                  <a:t>. If the standard deviation of </a:t>
                </a:r>
                <a:r>
                  <a:rPr lang="en-IN" sz="2400">
                    <a:solidFill>
                      <a:srgbClr val="111827"/>
                    </a:solidFill>
                    <a:latin typeface="Cambria Math" panose="02040503050406030204" pitchFamily="18" charset="0"/>
                  </a:rPr>
                  <a:t>$x_1,x_2,\dots,x_{18}$</a:t>
                </a:r>
                <a:r>
                  <a:rPr sz="2400" b="0">
                    <a:solidFill>
                      <a:srgbClr val="111827"/>
                    </a:solidFill>
                    <a:latin typeface="Arial"/>
                  </a:rPr>
                  <a:t> is </a:t>
                </a:r>
                <a:r>
                  <a:rPr lang="en-IN" sz="2400">
                    <a:solidFill>
                      <a:srgbClr val="111827"/>
                    </a:solidFill>
                    <a:latin typeface="Cambria Math" panose="02040503050406030204" pitchFamily="18" charset="0"/>
                  </a:rPr>
                  <a:t>$1$</a:t>
                </a:r>
                <a:r>
                  <a:rPr sz="2400" b="0">
                    <a:solidFill>
                      <a:srgbClr val="111827"/>
                    </a:solidFill>
                    <a:latin typeface="Arial"/>
                  </a:rPr>
                  <a:t>, then the value of </a:t>
                </a:r>
                <a:r>
                  <a:rPr lang="en-IN" sz="2400">
                    <a:solidFill>
                      <a:srgbClr val="111827"/>
                    </a:solidFill>
                    <a:latin typeface="Cambria Math" panose="02040503050406030204" pitchFamily="18" charset="0"/>
                  </a:rPr>
                  <a:t>$|\alpha-\beta|$</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3516884"/>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Statistics: mean and standard deviation (variance about a shifted point)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18</m:t>
                    </m:r>
                    <m:r>
                      <m:rPr>
                        <m:sty m:val="p"/>
                      </m:rPr>
                      <a:rPr lang="en-IN" sz="2400">
                        <a:solidFill>
                          <a:srgbClr val="78350F"/>
                        </a:solidFill>
                        <a:latin typeface="Cambria Math" panose="02040503050406030204" pitchFamily="18" charset="0"/>
                      </a:rPr>
                      <m:t>(</m:t>
                    </m:r>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𝑥</m:t>
                        </m:r>
                      </m:e>
                    </m:acc>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turns both conditions into distances from the mean.</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$\sum(x_i-c)^2=\sum(x_i-\bar x)^2+18(\bar x-c)^2$</a:t>
                </a:r>
                <a:r>
                  <a:rPr sz="2400" b="0">
                    <a:solidFill>
                      <a:srgbClr val="78350F"/>
                    </a:solidFill>
                    <a:latin typeface="Arial"/>
                  </a:rPr>
                  <a:t> turns both conditions into distances from the mean.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printed solution has no working. Let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oMath>
                </a14:m>
                <a:r>
                  <a:rPr sz="2400" b="0">
                    <a:solidFill>
                      <a:srgbClr val="111827"/>
                    </a:solidFill>
                    <a:latin typeface="Arial"/>
                  </a:rPr>
                  <a:t> be the mean of the </a:t>
                </a:r>
                <a14:m>
                  <m:oMath xmlns:m="http://schemas.openxmlformats.org/officeDocument/2006/math">
                    <m:r>
                      <a:rPr lang="en-IN" sz="2400" i="1">
                        <a:solidFill>
                          <a:srgbClr val="111827"/>
                        </a:solidFill>
                        <a:latin typeface="Cambria Math" panose="02040503050406030204" pitchFamily="18" charset="0"/>
                      </a:rPr>
                      <m:t>18</m:t>
                    </m:r>
                  </m:oMath>
                </a14:m>
                <a:r>
                  <a:rPr sz="2400" b="0">
                    <a:solidFill>
                      <a:srgbClr val="111827"/>
                    </a:solidFill>
                    <a:latin typeface="Arial"/>
                  </a:rPr>
                  <a:t> numbers.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Standard deviation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90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printed solution has no working. Let </a:t>
                </a:r>
                <a:r>
                  <a:rPr lang="en-IN" sz="2400">
                    <a:solidFill>
                      <a:srgbClr val="111827"/>
                    </a:solidFill>
                    <a:latin typeface="Cambria Math" panose="02040503050406030204" pitchFamily="18" charset="0"/>
                  </a:rPr>
                  <a:t>$\bar x$</a:t>
                </a:r>
                <a:r>
                  <a:rPr sz="2400" b="0">
                    <a:solidFill>
                      <a:srgbClr val="111827"/>
                    </a:solidFill>
                    <a:latin typeface="Arial"/>
                  </a:rPr>
                  <a:t> be the mean of the </a:t>
                </a:r>
                <a:r>
                  <a:rPr lang="en-IN" sz="2400">
                    <a:solidFill>
                      <a:srgbClr val="111827"/>
                    </a:solidFill>
                    <a:latin typeface="Cambria Math" panose="02040503050406030204" pitchFamily="18" charset="0"/>
                  </a:rPr>
                  <a:t>$18$</a:t>
                </a:r>
                <a:r>
                  <a:rPr sz="2400" b="0">
                    <a:solidFill>
                      <a:srgbClr val="111827"/>
                    </a:solidFill>
                    <a:latin typeface="Arial"/>
                  </a:rPr>
                  <a:t> numbers.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$\sum(x_i-\alpha)=18(\bar x-\alpha)=36$</a:t>
                </a:r>
                <a:r>
                  <a:rPr sz="2400" b="0">
                    <a:solidFill>
                      <a:srgbClr val="111827"/>
                    </a:solidFill>
                    <a:latin typeface="Arial"/>
                  </a:rPr>
                  <a:t>, so </a:t>
                </a:r>
                <a:r>
                  <a:rPr lang="en-IN" sz="2400">
                    <a:solidFill>
                      <a:srgbClr val="111827"/>
                    </a:solidFill>
                    <a:latin typeface="Cambria Math" panose="02040503050406030204" pitchFamily="18" charset="0"/>
                  </a:rPr>
                  <a:t>$\bar x-\alpha=2$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Standard deviation </a:t>
                </a:r>
                <a:r>
                  <a:rPr lang="en-IN" sz="2400">
                    <a:solidFill>
                      <a:srgbClr val="111827"/>
                    </a:solidFill>
                    <a:latin typeface="Cambria Math" panose="02040503050406030204" pitchFamily="18" charset="0"/>
                  </a:rPr>
                  <a:t>$1$</a:t>
                </a:r>
                <a:r>
                  <a:rPr sz="2400" b="0">
                    <a:solidFill>
                      <a:srgbClr val="111827"/>
                    </a:solidFill>
                    <a:latin typeface="Arial"/>
                  </a:rPr>
                  <a:t> gives </a:t>
                </a:r>
                <a:r>
                  <a:rPr lang="en-IN" sz="2400">
                    <a:solidFill>
                      <a:srgbClr val="111827"/>
                    </a:solidFill>
                    <a:latin typeface="Cambria Math" panose="02040503050406030204" pitchFamily="18" charset="0"/>
                  </a:rPr>
                  <a:t>$\sum(x_i-\bar x)^2=18\cdot1^2=18$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 </a:t>
                </a:r>
                <a:r>
                  <a:rPr lang="en-IN" sz="2400">
                    <a:solidFill>
                      <a:srgbClr val="111827"/>
                    </a:solidFill>
                    <a:latin typeface="Cambria Math" panose="02040503050406030204" pitchFamily="18" charset="0"/>
                  </a:rPr>
                  <a:t>$\sum(x_i-\beta)^2=\sum(x_i-\bar x)^2+18(\bar x-\beta)^2$</a:t>
                </a:r>
                <a:r>
                  <a:rPr sz="2400" b="0">
                    <a:solidFill>
                      <a:srgbClr val="111827"/>
                    </a:solidFill>
                    <a:latin typeface="Arial"/>
                  </a:rPr>
                  <a:t>, so </a:t>
                </a:r>
                <a:r>
                  <a:rPr lang="en-IN" sz="2400">
                    <a:solidFill>
                      <a:srgbClr val="111827"/>
                    </a:solidFill>
                    <a:latin typeface="Cambria Math" panose="02040503050406030204" pitchFamily="18" charset="0"/>
                  </a:rPr>
                  <a:t>$90=18+18(\bar x-\beta)^2$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oMath>
                </a14:m>
                <a:r>
                  <a:rPr sz="2400" b="0">
                    <a:solidFill>
                      <a:srgbClr val="111827"/>
                    </a:solidFill>
                    <a:latin typeface="Arial"/>
                  </a:rPr>
                  <a:t>, which is excluded because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So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$(\bar x-\beta)^2=4$</a:t>
                </a:r>
                <a:r>
                  <a:rPr sz="2400" b="0">
                    <a:solidFill>
                      <a:srgbClr val="111827"/>
                    </a:solidFill>
                    <a:latin typeface="Arial"/>
                  </a:rPr>
                  <a:t>, so </a:t>
                </a:r>
                <a:r>
                  <a:rPr lang="en-IN" sz="2400">
                    <a:solidFill>
                      <a:srgbClr val="111827"/>
                    </a:solidFill>
                    <a:latin typeface="Cambria Math" panose="02040503050406030204" pitchFamily="18" charset="0"/>
                  </a:rPr>
                  <a:t>$\bar x-\beta=\pm2$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$\bar x-\beta=2$</a:t>
                </a:r>
                <a:r>
                  <a:rPr sz="2400" b="0">
                    <a:solidFill>
                      <a:srgbClr val="111827"/>
                    </a:solidFill>
                    <a:latin typeface="Arial"/>
                  </a:rPr>
                  <a:t> then </a:t>
                </a:r>
                <a:r>
                  <a:rPr lang="en-IN" sz="2400">
                    <a:solidFill>
                      <a:srgbClr val="111827"/>
                    </a:solidFill>
                    <a:latin typeface="Cambria Math" panose="02040503050406030204" pitchFamily="18" charset="0"/>
                  </a:rPr>
                  <a:t>$\beta=\alpha$</a:t>
                </a:r>
                <a:r>
                  <a:rPr sz="2400" b="0">
                    <a:solidFill>
                      <a:srgbClr val="111827"/>
                    </a:solidFill>
                    <a:latin typeface="Arial"/>
                  </a:rPr>
                  <a:t>, which is excluded because </a:t>
                </a:r>
                <a:r>
                  <a:rPr lang="en-IN" sz="2400">
                    <a:solidFill>
                      <a:srgbClr val="111827"/>
                    </a:solidFill>
                    <a:latin typeface="Cambria Math" panose="02040503050406030204" pitchFamily="18" charset="0"/>
                  </a:rPr>
                  <a:t>$\alpha\neq\beta$</a:t>
                </a:r>
                <a:r>
                  <a:rPr sz="2400" b="0">
                    <a:solidFill>
                      <a:srgbClr val="111827"/>
                    </a:solidFill>
                    <a:latin typeface="Arial"/>
                  </a:rPr>
                  <a:t>. So </a:t>
                </a:r>
                <a:r>
                  <a:rPr lang="en-IN" sz="2400">
                    <a:solidFill>
                      <a:srgbClr val="111827"/>
                    </a:solidFill>
                    <a:latin typeface="Cambria Math" panose="02040503050406030204" pitchFamily="18" charset="0"/>
                  </a:rPr>
                  <a:t>$\bar x-\beta=-2$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$\alpha=\bar x-2$</a:t>
                </a:r>
                <a:r>
                  <a:rPr sz="2400" b="0">
                    <a:solidFill>
                      <a:srgbClr val="111827"/>
                    </a:solidFill>
                    <a:latin typeface="Arial"/>
                  </a:rPr>
                  <a:t> and </a:t>
                </a:r>
                <a:r>
                  <a:rPr lang="en-IN" sz="2400">
                    <a:solidFill>
                      <a:srgbClr val="111827"/>
                    </a:solidFill>
                    <a:latin typeface="Cambria Math" panose="02040503050406030204" pitchFamily="18" charset="0"/>
                  </a:rPr>
                  <a:t>$\beta=\bar x+2$</a:t>
                </a:r>
                <a:r>
                  <a:rPr sz="2400" b="0">
                    <a:solidFill>
                      <a:srgbClr val="111827"/>
                    </a:solidFill>
                    <a:latin typeface="Arial"/>
                  </a:rPr>
                  <a:t>, so </a:t>
                </a:r>
                <a:r>
                  <a:rPr lang="en-IN" sz="2400">
                    <a:solidFill>
                      <a:srgbClr val="111827"/>
                    </a:solidFill>
                    <a:latin typeface="Cambria Math" panose="02040503050406030204" pitchFamily="18" charset="0"/>
                  </a:rPr>
                  <a:t>$|\alpha-\beta|=4$</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sSup>
                      <m:e>
                        <m:d>
                          <m:dPr>
                            <m:begChr m:val="("/>
                            <m:sepChr m:val=""/>
                            <m:endChr m:val=")"/>
                            <m:grow/>
                            <m:ctrlPr>
                              <a:rPr lang="en-IN" sz="2400" i="1">
                                <a:solidFill>
                                  <a:srgbClr val="78350F"/>
                                </a:solidFill>
                                <a:latin typeface="Cambria Math" panose="02040503050406030204" pitchFamily="18" charset="0"/>
                              </a:rPr>
                            </m:ctrlPr>
                          </m:dPr>
                          <m:e>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𝑥</m:t>
                                </m:r>
                              </m:e>
                              <m:sub>
                                <m:r>
                                  <a:rPr lang="en-IN" sz="2400" i="1">
                                    <a:solidFill>
                                      <a:srgbClr val="78350F"/>
                                    </a:solidFill>
                                    <a:latin typeface="Cambria Math" panose="02040503050406030204" pitchFamily="18" charset="0"/>
                                  </a:rPr>
                                  <m:t>𝑖</m:t>
                                </m:r>
                              </m:sub>
                            </m:sSub>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r>
                              <m:rPr>
                                <m:sty m:val="p"/>
                              </m:rPr>
                              <a:rPr lang="en-IN" sz="2400">
                                <a:solidFill>
                                  <a:srgbClr val="78350F"/>
                                </a:solidFill>
                                <a:latin typeface="Cambria Math" panose="02040503050406030204" pitchFamily="18" charset="0"/>
                              </a:rPr>
                              <m:t>)</m:t>
                            </m:r>
                          </m:e>
                        </m:d>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and sum, so </a:t>
                </a:r>
                <a14:m>
                  <m:oMath xmlns:m="http://schemas.openxmlformats.org/officeDocument/2006/math">
                    <m:r>
                      <a:rPr lang="en-IN" sz="2400" i="1">
                        <a:solidFill>
                          <a:srgbClr val="78350F"/>
                        </a:solidFill>
                        <a:latin typeface="Cambria Math" panose="02040503050406030204" pitchFamily="18" charset="0"/>
                      </a:rPr>
                      <m:t>α</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β</m:t>
                    </m:r>
                  </m:oMath>
                </a14:m>
                <a:r>
                  <a:rPr sz="2400" b="0">
                    <a:solidFill>
                      <a:srgbClr val="78350F"/>
                    </a:solidFill>
                    <a:latin typeface="Arial"/>
                  </a:rPr>
                  <a:t> appears directly.</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Expand </a:t>
                </a:r>
                <a:r>
                  <a:rPr lang="en-IN" sz="2400">
                    <a:solidFill>
                      <a:srgbClr val="78350F"/>
                    </a:solidFill>
                    <a:latin typeface="Cambria Math" panose="02040503050406030204" pitchFamily="18" charset="0"/>
                  </a:rPr>
                  <a:t>$(x_i-\beta)^2=\left((x_i-\alpha)+(\alpha-\beta)\right)^2$</a:t>
                </a:r>
                <a:r>
                  <a:rPr sz="2400" b="0">
                    <a:solidFill>
                      <a:srgbClr val="78350F"/>
                    </a:solidFill>
                    <a:latin typeface="Arial"/>
                  </a:rPr>
                  <a:t> and sum, so </a:t>
                </a:r>
                <a:r>
                  <a:rPr lang="en-IN" sz="2400">
                    <a:solidFill>
                      <a:srgbClr val="78350F"/>
                    </a:solidFill>
                    <a:latin typeface="Cambria Math" panose="02040503050406030204" pitchFamily="18" charset="0"/>
                  </a:rPr>
                  <a:t>$\alpha-\beta$</a:t>
                </a:r>
                <a:r>
                  <a:rPr sz="2400" b="0">
                    <a:solidFill>
                      <a:srgbClr val="78350F"/>
                    </a:solidFill>
                    <a:latin typeface="Arial"/>
                  </a:rPr>
                  <a:t> appears directly.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 (since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Substituting: </a:t>
                </a:r>
                <a14:m>
                  <m:oMath xmlns:m="http://schemas.openxmlformats.org/officeDocument/2006/math">
                    <m:r>
                      <a:rPr lang="en-IN" sz="2400" i="1">
                        <a:solidFill>
                          <a:srgbClr val="111827"/>
                        </a:solidFill>
                        <a:latin typeface="Cambria Math" panose="02040503050406030204" pitchFamily="18" charset="0"/>
                      </a:rPr>
                      <m:t>90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72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First </a:t>
                </a:r>
                <a:r>
                  <a:rPr lang="en-IN" sz="2400">
                    <a:solidFill>
                      <a:srgbClr val="111827"/>
                    </a:solidFill>
                    <a:latin typeface="Cambria Math" panose="02040503050406030204" pitchFamily="18" charset="0"/>
                  </a:rPr>
                  <a:t>$\sum(x_i-\alpha)^2=\sum(x_i-\bar x)^2+18(\bar x-\alpha)^2=18+18\cdot4=90$</a:t>
                </a:r>
                <a:r>
                  <a:rPr sz="2400" b="0">
                    <a:solidFill>
                      <a:srgbClr val="111827"/>
                    </a:solidFill>
                    <a:latin typeface="Arial"/>
                  </a:rPr>
                  <a:t> (since </a:t>
                </a:r>
                <a:r>
                  <a:rPr lang="en-IN" sz="2400">
                    <a:solidFill>
                      <a:srgbClr val="111827"/>
                    </a:solidFill>
                    <a:latin typeface="Cambria Math" panose="02040503050406030204" pitchFamily="18" charset="0"/>
                  </a:rPr>
                  <a:t>$\bar x-\alpha=2$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Now </a:t>
                </a:r>
                <a:r>
                  <a:rPr lang="en-IN" sz="2400">
                    <a:solidFill>
                      <a:srgbClr val="111827"/>
                    </a:solidFill>
                    <a:latin typeface="Cambria Math" panose="02040503050406030204" pitchFamily="18" charset="0"/>
                  </a:rPr>
                  <a:t>$\sum(x_i-\beta)^2=\sum(x_i-\alpha)^2+2(\alpha-\beta)\sum(x_i-\alpha)+18(\alpha-\beta)^2$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Substituting: </a:t>
                </a:r>
                <a:r>
                  <a:rPr lang="en-IN" sz="2400">
                    <a:solidFill>
                      <a:srgbClr val="111827"/>
                    </a:solidFill>
                    <a:latin typeface="Cambria Math" panose="02040503050406030204" pitchFamily="18" charset="0"/>
                  </a:rPr>
                  <a:t>$90=90+2(\alpha-\beta)(36)+18(\alpha-\beta)^2$</a:t>
                </a:r>
                <a:r>
                  <a:rPr sz="2400" b="0">
                    <a:solidFill>
                      <a:srgbClr val="111827"/>
                    </a:solidFill>
                    <a:latin typeface="Arial"/>
                  </a:rPr>
                  <a:t>, i.e. </a:t>
                </a:r>
                <a:r>
                  <a:rPr lang="en-IN" sz="2400">
                    <a:solidFill>
                      <a:srgbClr val="111827"/>
                    </a:solidFill>
                    <a:latin typeface="Cambria Math" panose="02040503050406030204" pitchFamily="18" charset="0"/>
                  </a:rPr>
                  <a:t>$(\alpha-\beta)\left[72+18(\alpha-\beta)\right]=0$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$\alpha\neq\beta$</a:t>
                </a:r>
                <a:r>
                  <a:rPr sz="2400" b="0">
                    <a:solidFill>
                      <a:srgbClr val="111827"/>
                    </a:solidFill>
                    <a:latin typeface="Arial"/>
                  </a:rPr>
                  <a:t>, </a:t>
                </a:r>
                <a:r>
                  <a:rPr lang="en-IN" sz="2400">
                    <a:solidFill>
                      <a:srgbClr val="111827"/>
                    </a:solidFill>
                    <a:latin typeface="Cambria Math" panose="02040503050406030204" pitchFamily="18" charset="0"/>
                  </a:rPr>
                  <a:t>$\alpha-\beta=-4$</a:t>
                </a:r>
                <a:r>
                  <a:rPr sz="2400" b="0">
                    <a:solidFill>
                      <a:srgbClr val="111827"/>
                    </a:solidFill>
                    <a:latin typeface="Arial"/>
                  </a:rPr>
                  <a:t>, so </a:t>
                </a:r>
                <a:r>
                  <a:rPr lang="en-IN" sz="2400">
                    <a:solidFill>
                      <a:srgbClr val="111827"/>
                    </a:solidFill>
                    <a:latin typeface="Cambria Math" panose="02040503050406030204" pitchFamily="18" charset="0"/>
                  </a:rPr>
                  <a:t>$|\alpha-\beta|=4$</a:t>
                </a:r>
                <a:r>
                  <a:rPr sz="2400" b="0">
                    <a:solidFill>
                      <a:srgbClr val="111827"/>
                    </a:solidFill>
                    <a:latin typeface="Arial"/>
                  </a:rPr>
                  <a:t>.</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constant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sSup>
                      <m:e>
                        <m:r>
                          <a:rPr lang="en-IN" sz="2400" i="1">
                            <a:solidFill>
                              <a:srgbClr val="111827"/>
                            </a:solidFill>
                            <a:latin typeface="Cambria Math" panose="02040503050406030204" pitchFamily="18" charset="0"/>
                          </a:rPr>
                          <m:t>σ</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mean minimises the sum of squared deviations.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condition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gives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𝑠</m:t>
                        </m:r>
                      </m:num>
                      <m:den>
                        <m:r>
                          <a:rPr lang="en-IN" sz="2400" i="1">
                            <a:solidFill>
                              <a:srgbClr val="111827"/>
                            </a:solidFill>
                            <a:latin typeface="Cambria Math" panose="02040503050406030204" pitchFamily="18" charset="0"/>
                          </a:rPr>
                          <m:t>𝑛</m:t>
                        </m:r>
                      </m:den>
                    </m:f>
                  </m:oMath>
                </a14:m>
                <a:r>
                  <a:rPr sz="2400" b="0">
                    <a:solidFill>
                      <a:srgbClr val="111827"/>
                    </a:solidFill>
                    <a:latin typeface="Arial"/>
                  </a:rPr>
                  <a:t> immediately.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𝑥</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the two reference points sit symmetrically about the mean at distance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each (checked: </a:t>
                </a:r>
                <a14:m>
                  <m:oMath xmlns:m="http://schemas.openxmlformats.org/officeDocument/2006/math">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90</m:t>
                    </m:r>
                  </m:oMath>
                </a14:m>
                <a:r>
                  <a:rPr sz="2400" b="0">
                    <a:solidFill>
                      <a:srgbClr val="111827"/>
                    </a:solidFill>
                    <a:latin typeface="Arial"/>
                  </a:rPr>
                  <a:t> for both).</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any constant </a:t>
                </a:r>
                <a:r>
                  <a:rPr lang="en-IN" sz="2400">
                    <a:solidFill>
                      <a:srgbClr val="111827"/>
                    </a:solidFill>
                    <a:latin typeface="Cambria Math" panose="02040503050406030204" pitchFamily="18" charset="0"/>
                  </a:rPr>
                  <a:t>$c$</a:t>
                </a:r>
                <a:r>
                  <a:rPr sz="2400" b="0">
                    <a:solidFill>
                      <a:srgbClr val="111827"/>
                    </a:solidFill>
                    <a:latin typeface="Arial"/>
                  </a:rPr>
                  <a:t>: </a:t>
                </a:r>
                <a:r>
                  <a:rPr lang="en-IN" sz="2400">
                    <a:solidFill>
                      <a:srgbClr val="111827"/>
                    </a:solidFill>
                    <a:latin typeface="Cambria Math" panose="02040503050406030204" pitchFamily="18" charset="0"/>
                  </a:rPr>
                  <a:t>$\sum(x_i-c)^2=n\sigma^2+n(\bar x-c)^2$</a:t>
                </a:r>
                <a:r>
                  <a:rPr sz="2400" b="0">
                    <a:solidFill>
                      <a:srgbClr val="111827"/>
                    </a:solidFill>
                    <a:latin typeface="Arial"/>
                  </a:rPr>
                  <a:t>; the mean minimises the sum of squared deviations.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condition </a:t>
                </a:r>
                <a:r>
                  <a:rPr lang="en-IN" sz="2400">
                    <a:solidFill>
                      <a:srgbClr val="111827"/>
                    </a:solidFill>
                    <a:latin typeface="Cambria Math" panose="02040503050406030204" pitchFamily="18" charset="0"/>
                  </a:rPr>
                  <a:t>$\sum(x_i-c)=s$</a:t>
                </a:r>
                <a:r>
                  <a:rPr sz="2400" b="0">
                    <a:solidFill>
                      <a:srgbClr val="111827"/>
                    </a:solidFill>
                    <a:latin typeface="Arial"/>
                  </a:rPr>
                  <a:t> gives </a:t>
                </a:r>
                <a:r>
                  <a:rPr lang="en-IN" sz="2400">
                    <a:solidFill>
                      <a:srgbClr val="111827"/>
                    </a:solidFill>
                    <a:latin typeface="Cambria Math" panose="02040503050406030204" pitchFamily="18" charset="0"/>
                  </a:rPr>
                  <a:t>$\bar x-c=\frac sn$</a:t>
                </a:r>
                <a:r>
                  <a:rPr sz="2400" b="0">
                    <a:solidFill>
                      <a:srgbClr val="111827"/>
                    </a:solidFill>
                    <a:latin typeface="Arial"/>
                  </a:rPr>
                  <a:t> immediately.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Here </a:t>
                </a:r>
                <a:r>
                  <a:rPr lang="en-IN" sz="2400">
                    <a:solidFill>
                      <a:srgbClr val="111827"/>
                    </a:solidFill>
                    <a:latin typeface="Cambria Math" panose="02040503050406030204" pitchFamily="18" charset="0"/>
                  </a:rPr>
                  <a:t>$\bar x-\alpha=2$</a:t>
                </a:r>
                <a:r>
                  <a:rPr sz="2400" b="0">
                    <a:solidFill>
                      <a:srgbClr val="111827"/>
                    </a:solidFill>
                    <a:latin typeface="Arial"/>
                  </a:rPr>
                  <a:t>, </a:t>
                </a:r>
                <a:r>
                  <a:rPr lang="en-IN" sz="2400">
                    <a:solidFill>
                      <a:srgbClr val="111827"/>
                    </a:solidFill>
                    <a:latin typeface="Cambria Math" panose="02040503050406030204" pitchFamily="18" charset="0"/>
                  </a:rPr>
                  <a:t>$\bar x-\beta=-2$</a:t>
                </a:r>
                <a:r>
                  <a:rPr sz="2400" b="0">
                    <a:solidFill>
                      <a:srgbClr val="111827"/>
                    </a:solidFill>
                    <a:latin typeface="Arial"/>
                  </a:rPr>
                  <a:t>, so the two reference points sit symmetrically about the mean at distance </a:t>
                </a:r>
                <a:r>
                  <a:rPr lang="en-IN" sz="2400">
                    <a:solidFill>
                      <a:srgbClr val="111827"/>
                    </a:solidFill>
                    <a:latin typeface="Cambria Math" panose="02040503050406030204" pitchFamily="18" charset="0"/>
                  </a:rPr>
                  <a:t>$2$</a:t>
                </a:r>
                <a:r>
                  <a:rPr sz="2400" b="0">
                    <a:solidFill>
                      <a:srgbClr val="111827"/>
                    </a:solidFill>
                    <a:latin typeface="Arial"/>
                  </a:rPr>
                  <a:t> each (checked: </a:t>
                </a:r>
                <a:r>
                  <a:rPr lang="en-IN" sz="2400">
                    <a:solidFill>
                      <a:srgbClr val="111827"/>
                    </a:solidFill>
                    <a:latin typeface="Cambria Math" panose="02040503050406030204" pitchFamily="18" charset="0"/>
                  </a:rPr>
                  <a:t>$18+18\cdot4=90$</a:t>
                </a:r>
                <a:r>
                  <a:rPr sz="2400" b="0">
                    <a:solidFill>
                      <a:srgbClr val="111827"/>
                    </a:solidFill>
                    <a:latin typeface="Arial"/>
                  </a:rPr>
                  <a:t> for both).</a:t>
                </a:r>
                <a:endParaRPr sz="2400">
                  <a:solidFill>
                    <a:srgbClr val="111827"/>
                  </a:solidFill>
                </a:endParaRPr>
              </a:p>
            </p:txBody>
          </p:sp>
        </mc:Fallback>
      </mc:AlternateContent>
    </p:spTree>
  </p:cSld>
  <p:clrMapOvr>
    <a:masterClrMapping/>
  </p:clrMapOvr>
</p:sld>
</file>

<file path=ppt/slides/slide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4470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6</m:t>
                            </m:r>
                          </m:sub>
                        </m:sSub>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6</m:t>
                            </m:r>
                          </m:sup>
                        </m:sSup>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𝑝</m:t>
                                    </m:r>
                                  </m:e>
                                </m:ra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𝑞</m:t>
                                    </m:r>
                                  </m:e>
                                </m:rad>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then find the value of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244703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$n=12m$</a:t>
                </a:r>
                <a:r>
                  <a:rPr sz="2400" b="0">
                    <a:solidFill>
                      <a:srgbClr val="111827"/>
                    </a:solidFill>
                    <a:latin typeface="Arial"/>
                  </a:rPr>
                  <a:t> (</a:t>
                </a:r>
                <a:r>
                  <a:rPr lang="en-IN" sz="2400">
                    <a:solidFill>
                      <a:srgbClr val="111827"/>
                    </a:solidFill>
                    <a:latin typeface="Cambria Math" panose="02040503050406030204" pitchFamily="18" charset="0"/>
                  </a:rPr>
                  <a:t>$m\in N$</a:t>
                </a:r>
                <a:r>
                  <a:rPr sz="2400" b="0">
                    <a:solidFill>
                      <a:srgbClr val="111827"/>
                    </a:solidFill>
                    <a:latin typeface="Arial"/>
                  </a:rPr>
                  <a:t>), </a:t>
                </a:r>
                <a:r>
                  <a:rPr lang="en-IN" sz="2400">
                    <a:solidFill>
                      <a:srgbClr val="111827"/>
                    </a:solidFill>
                    <a:latin typeface="Cambria Math" panose="02040503050406030204" pitchFamily="18" charset="0"/>
                  </a:rPr>
                  <a:t>${}^nC_0-\frac{{}^nC_2}{(2+\sqrt3)^2}+\frac{{}^nC_4}{(2+\sqrt3)^4}-\frac{{}^nC_6}{(2+\sqrt3)^6}+\dots=(-1)^m\left(\frac{p\sqrt p}{1+\sqrt q}\right)^n$</a:t>
                </a:r>
                <a:r>
                  <a:rPr sz="2400" b="0">
                    <a:solidFill>
                      <a:srgbClr val="111827"/>
                    </a:solidFill>
                    <a:latin typeface="Arial"/>
                  </a:rPr>
                  <a:t>, then find the value of </a:t>
                </a:r>
                <a:r>
                  <a:rPr lang="en-IN" sz="2400">
                    <a:solidFill>
                      <a:srgbClr val="111827"/>
                    </a:solidFill>
                    <a:latin typeface="Cambria Math" panose="02040503050406030204" pitchFamily="18" charset="0"/>
                  </a:rPr>
                  <a:t>$p+q$</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955795"/>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and De Moivre's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p:spTree>
  </p:cSld>
  <p:clrMapOvr>
    <a:masterClrMapping/>
  </p:clrMapOvr>
</p:sld>
</file>

<file path=ppt/slides/slide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series is </a:t>
                </a:r>
                <a14:m>
                  <m:oMath xmlns:m="http://schemas.openxmlformats.org/officeDocument/2006/math">
                    <m:r>
                      <m:rPr>
                        <m:sty m:val="p"/>
                      </m:rPr>
                      <a:rPr lang="en-IN" sz="2400">
                        <a:solidFill>
                          <a:srgbClr val="78350F"/>
                        </a:solidFill>
                        <a:latin typeface="Cambria Math" panose="02040503050406030204" pitchFamily="18" charset="0"/>
                      </a:rPr>
                      <m:t>R</m:t>
                    </m:r>
                    <m:r>
                      <m:rPr>
                        <m:sty m:val="p"/>
                      </m:rPr>
                      <a:rPr lang="en-IN" sz="2400">
                        <a:solidFill>
                          <a:srgbClr val="78350F"/>
                        </a:solidFill>
                        <a:latin typeface="Cambria Math" panose="02040503050406030204" pitchFamily="18" charset="0"/>
                      </a:rPr>
                      <m:t>e</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𝑖</m:t>
                    </m:r>
                    <m:r>
                      <m:rPr>
                        <m:sty m:val="p"/>
                      </m:rPr>
                      <a:rPr lang="en-IN" sz="2400">
                        <a:solidFill>
                          <a:srgbClr val="78350F"/>
                        </a:solidFill>
                        <a:latin typeface="Cambria Math" panose="02040503050406030204" pitchFamily="18" charset="0"/>
                      </a:rPr>
                      <m:t>tan</m:t>
                    </m:r>
                    <m:r>
                      <a:rPr lang="en-IN" sz="2400" i="1">
                        <a:solidFill>
                          <a:srgbClr val="78350F"/>
                        </a:solidFill>
                        <a:latin typeface="Cambria Math" panose="02040503050406030204" pitchFamily="18" charset="0"/>
                      </a:rPr>
                      <m:t>θ</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with </a:t>
                </a:r>
                <a14:m>
                  <m:oMath xmlns:m="http://schemas.openxmlformats.org/officeDocument/2006/math">
                    <m:r>
                      <m:rPr>
                        <m:sty m:val="p"/>
                      </m:rPr>
                      <a:rPr lang="en-IN" sz="2400">
                        <a:solidFill>
                          <a:srgbClr val="78350F"/>
                        </a:solidFill>
                        <a:latin typeface="Cambria Math" panose="02040503050406030204" pitchFamily="18" charset="0"/>
                      </a:rPr>
                      <m:t>tan</m:t>
                    </m:r>
                    <m:sSup>
                      <m:e>
                        <m:r>
                          <a:rPr lang="en-IN" sz="2400" i="1">
                            <a:solidFill>
                              <a:srgbClr val="78350F"/>
                            </a:solidFill>
                            <a:latin typeface="Cambria Math" panose="02040503050406030204" pitchFamily="18" charset="0"/>
                          </a:rPr>
                          <m:t>15</m:t>
                        </m:r>
                      </m:e>
                      <m:sup>
                        <m:r>
                          <m:rPr>
                            <m:sty m:val="p"/>
                          </m:rPr>
                          <a:rPr lang="en-IN" sz="2400">
                            <a:solidFill>
                              <a:srgbClr val="78350F"/>
                            </a:solidFill>
                            <a:latin typeface="Cambria Math" panose="02040503050406030204" pitchFamily="18" charset="0"/>
                          </a:rPr>
                          <m:t>∘</m:t>
                        </m:r>
                      </m:sup>
                    </m:sSup>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3</m:t>
                            </m:r>
                          </m:e>
                        </m:rad>
                      </m:den>
                    </m:f>
                  </m:oMath>
                </a14:m>
                <a:r>
                  <a:rPr sz="2400" b="0">
                    <a:solidFill>
                      <a:srgbClr val="78350F"/>
                    </a:solidFill>
                    <a:latin typeface="Arial"/>
                  </a:rPr>
                  <a:t>, evaluated with De Moivre.</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series is </a:t>
                </a:r>
                <a:r>
                  <a:rPr lang="en-IN" sz="2400">
                    <a:solidFill>
                      <a:srgbClr val="78350F"/>
                    </a:solidFill>
                    <a:latin typeface="Cambria Math" panose="02040503050406030204" pitchFamily="18" charset="0"/>
                  </a:rPr>
                  <a:t>$\mathrm{Re}\,(1+i\tan\theta)^n$</a:t>
                </a:r>
                <a:r>
                  <a:rPr sz="2400" b="0">
                    <a:solidFill>
                      <a:srgbClr val="78350F"/>
                    </a:solidFill>
                    <a:latin typeface="Arial"/>
                  </a:rPr>
                  <a:t> with </a:t>
                </a:r>
                <a:r>
                  <a:rPr lang="en-IN" sz="2400">
                    <a:solidFill>
                      <a:srgbClr val="78350F"/>
                    </a:solidFill>
                    <a:latin typeface="Cambria Math" panose="02040503050406030204" pitchFamily="18" charset="0"/>
                  </a:rPr>
                  <a:t>$\tan15^\circ=\frac{1}{2+\sqrt3}$</a:t>
                </a:r>
                <a:r>
                  <a:rPr sz="2400" b="0">
                    <a:solidFill>
                      <a:srgbClr val="78350F"/>
                    </a:solidFill>
                    <a:latin typeface="Arial"/>
                  </a:rPr>
                  <a:t>, evaluated with De Moivre.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De Moivre,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the binomial theorem the same quantity is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Equating real parts: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up>
                    </m:sSup>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sin</m:t>
                        </m:r>
                      </m:e>
                      <m:sup>
                        <m:r>
                          <a:rPr lang="en-IN" sz="2400" i="1">
                            <a:solidFill>
                              <a:srgbClr val="111827"/>
                            </a:solidFill>
                            <a:latin typeface="Cambria Math" panose="02040503050406030204" pitchFamily="18" charset="0"/>
                          </a:rPr>
                          <m:t>4</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Divide by </a:t>
                </a:r>
                <a14:m>
                  <m:oMath xmlns:m="http://schemas.openxmlformats.org/officeDocument/2006/math">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r>
                          <a:rPr lang="en-IN" sz="2400" i="1">
                            <a:solidFill>
                              <a:srgbClr val="111827"/>
                            </a:solidFill>
                            <a:latin typeface="Cambria Math" panose="02040503050406030204" pitchFamily="18" charset="0"/>
                          </a:rPr>
                          <m:t>θ</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4</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6</m:t>
                        </m:r>
                      </m:sub>
                    </m:sSub>
                    <m:sSup>
                      <m:e>
                        <m:r>
                          <m:rPr>
                            <m:sty m:val="p"/>
                          </m:rPr>
                          <a:rPr lang="en-IN" sz="2400">
                            <a:solidFill>
                              <a:srgbClr val="111827"/>
                            </a:solidFill>
                            <a:latin typeface="Cambria Math" panose="02040503050406030204" pitchFamily="18" charset="0"/>
                          </a:rPr>
                          <m:t>tan</m:t>
                        </m:r>
                      </m:e>
                      <m:sup>
                        <m:r>
                          <a:rPr lang="en-IN" sz="2400" i="1">
                            <a:solidFill>
                              <a:srgbClr val="111827"/>
                            </a:solidFill>
                            <a:latin typeface="Cambria Math" panose="02040503050406030204" pitchFamily="18" charset="0"/>
                          </a:rPr>
                          <m:t>6</m:t>
                        </m:r>
                      </m:sup>
                    </m:sSup>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De Moivre, </a:t>
                </a:r>
                <a:r>
                  <a:rPr lang="en-IN" sz="2400">
                    <a:solidFill>
                      <a:srgbClr val="111827"/>
                    </a:solidFill>
                    <a:latin typeface="Cambria Math" panose="02040503050406030204" pitchFamily="18" charset="0"/>
                  </a:rPr>
                  <a:t>$(\cos\theta+i\sin\theta)^n=\cos n\theta+i\sin 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the binomial theorem the same quantity is </a:t>
                </a:r>
                <a:r>
                  <a:rPr lang="en-IN" sz="2400">
                    <a:solidFill>
                      <a:srgbClr val="111827"/>
                    </a:solidFill>
                    <a:latin typeface="Cambria Math" panose="02040503050406030204" pitchFamily="18" charset="0"/>
                  </a:rPr>
                  <a:t>${}^nC_0\cos^n\theta+{}^nC_1\cos^{n-1}\theta(i\sin\theta)+{}^nC_2\cos^{n-2}\theta(i\sin\theta)^2+\dots$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Equating real parts: </a:t>
                </a:r>
                <a:r>
                  <a:rPr lang="en-IN" sz="2400">
                    <a:solidFill>
                      <a:srgbClr val="111827"/>
                    </a:solidFill>
                    <a:latin typeface="Cambria Math" panose="02040503050406030204" pitchFamily="18" charset="0"/>
                  </a:rPr>
                  <a:t>$\cos n\theta={}^nC_0\cos^n\theta-{}^nC_2\cos^{n-2}\theta\sin^2\theta+{}^nC_4\cos^{n-4}\theta\sin^4\theta-\dots$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Divide by </a:t>
                </a:r>
                <a:r>
                  <a:rPr lang="en-IN" sz="2400">
                    <a:solidFill>
                      <a:srgbClr val="111827"/>
                    </a:solidFill>
                    <a:latin typeface="Cambria Math" panose="02040503050406030204" pitchFamily="18" charset="0"/>
                  </a:rPr>
                  <a:t>$\cos^n\theta$</a:t>
                </a:r>
                <a:r>
                  <a:rPr sz="2400" b="0">
                    <a:solidFill>
                      <a:srgbClr val="111827"/>
                    </a:solidFill>
                    <a:latin typeface="Arial"/>
                  </a:rPr>
                  <a:t>: </a:t>
                </a:r>
                <a:r>
                  <a:rPr lang="en-IN" sz="2400">
                    <a:solidFill>
                      <a:srgbClr val="111827"/>
                    </a:solidFill>
                    <a:latin typeface="Cambria Math" panose="02040503050406030204" pitchFamily="18" charset="0"/>
                  </a:rPr>
                  <a:t>$\frac{\cos n\theta}{\cos^n\theta}={}^nC_0-{}^nC_2\tan^2\theta+{}^nC_4\tan^4\theta-{}^nC_6\tan^6\theta+\dots$</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so the right side is exactly the given series.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π</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equals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Comparing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𝑝</m:t>
                            </m:r>
                          </m:e>
                        </m:ra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𝑞</m:t>
                            </m:r>
                          </m:e>
                        </m:rad>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$\theta=15^\circ$</a:t>
                </a:r>
                <a:r>
                  <a:rPr sz="2400" b="0">
                    <a:solidFill>
                      <a:srgbClr val="111827"/>
                    </a:solidFill>
                    <a:latin typeface="Arial"/>
                  </a:rPr>
                  <a:t>: </a:t>
                </a:r>
                <a:r>
                  <a:rPr lang="en-IN" sz="2400">
                    <a:solidFill>
                      <a:srgbClr val="111827"/>
                    </a:solidFill>
                    <a:latin typeface="Cambria Math" panose="02040503050406030204" pitchFamily="18" charset="0"/>
                  </a:rPr>
                  <a:t>$\tan15^\circ=2-\sqrt3=\frac{1}{2+\sqrt3}$</a:t>
                </a:r>
                <a:r>
                  <a:rPr sz="2400" b="0">
                    <a:solidFill>
                      <a:srgbClr val="111827"/>
                    </a:solidFill>
                    <a:latin typeface="Arial"/>
                  </a:rPr>
                  <a:t>, so the right side is exactly the given series.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$n=12m$</a:t>
                </a:r>
                <a:r>
                  <a:rPr sz="2400" b="0">
                    <a:solidFill>
                      <a:srgbClr val="111827"/>
                    </a:solidFill>
                    <a:latin typeface="Arial"/>
                  </a:rPr>
                  <a:t>: </a:t>
                </a:r>
                <a:r>
                  <a:rPr lang="en-IN" sz="2400">
                    <a:solidFill>
                      <a:srgbClr val="111827"/>
                    </a:solidFill>
                    <a:latin typeface="Cambria Math" panose="02040503050406030204" pitchFamily="18" charset="0"/>
                  </a:rPr>
                  <a:t>$\cos n\theta=\cos\frac{12m\pi}{12}=\cos m\pi=(-1)^m$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$\cos15^\circ=\frac{\sqrt3+1}{2\sqrt2}$</a:t>
                </a:r>
                <a:r>
                  <a:rPr sz="2400" b="0">
                    <a:solidFill>
                      <a:srgbClr val="111827"/>
                    </a:solidFill>
                    <a:latin typeface="Arial"/>
                  </a:rPr>
                  <a:t>, so </a:t>
                </a:r>
                <a:r>
                  <a:rPr lang="en-IN" sz="2400">
                    <a:solidFill>
                      <a:srgbClr val="111827"/>
                    </a:solidFill>
                    <a:latin typeface="Cambria Math" panose="02040503050406030204" pitchFamily="18" charset="0"/>
                  </a:rPr>
                  <a:t>$\frac{1}{\cos^n15^\circ}=\left(\frac{2\sqrt2}{1+\sqrt3}\right)^n$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equals </a:t>
                </a:r>
                <a:r>
                  <a:rPr lang="en-IN" sz="2400">
                    <a:solidFill>
                      <a:srgbClr val="111827"/>
                    </a:solidFill>
                    <a:latin typeface="Cambria Math" panose="02040503050406030204" pitchFamily="18" charset="0"/>
                  </a:rPr>
                  <a:t>$(-1)^m\left(\frac{2\sqrt2}{1+\sqrt3}\right)^n$</a:t>
                </a:r>
                <a:r>
                  <a:rPr sz="2400" b="0">
                    <a:solidFill>
                      <a:srgbClr val="111827"/>
                    </a:solidFill>
                    <a:latin typeface="Arial"/>
                  </a:rPr>
                  <a:t>. Comparing with </a:t>
                </a:r>
                <a:r>
                  <a:rPr lang="en-IN" sz="2400">
                    <a:solidFill>
                      <a:srgbClr val="111827"/>
                    </a:solidFill>
                    <a:latin typeface="Cambria Math" panose="02040503050406030204" pitchFamily="18" charset="0"/>
                  </a:rPr>
                  <a:t>$\frac{p\sqrt p}{1+\sqrt q}$</a:t>
                </a:r>
                <a:r>
                  <a:rPr sz="2400" b="0">
                    <a:solidFill>
                      <a:srgbClr val="111827"/>
                    </a:solidFill>
                    <a:latin typeface="Arial"/>
                  </a:rPr>
                  <a:t>: </a:t>
                </a:r>
                <a:r>
                  <a:rPr lang="en-IN" sz="2400">
                    <a:solidFill>
                      <a:srgbClr val="111827"/>
                    </a:solidFill>
                    <a:latin typeface="Cambria Math" panose="02040503050406030204" pitchFamily="18" charset="0"/>
                  </a:rPr>
                  <a:t>$p=2$</a:t>
                </a:r>
                <a:r>
                  <a:rPr sz="2400" b="0">
                    <a:solidFill>
                      <a:srgbClr val="111827"/>
                    </a:solidFill>
                    <a:latin typeface="Arial"/>
                  </a:rPr>
                  <a:t> (as </a:t>
                </a:r>
                <a:r>
                  <a:rPr lang="en-IN" sz="2400">
                    <a:solidFill>
                      <a:srgbClr val="111827"/>
                    </a:solidFill>
                    <a:latin typeface="Cambria Math" panose="02040503050406030204" pitchFamily="18" charset="0"/>
                  </a:rPr>
                  <a:t>$2\sqrt2=2^{3/2}$</a:t>
                </a:r>
                <a:r>
                  <a:rPr sz="2400" b="0">
                    <a:solidFill>
                      <a:srgbClr val="111827"/>
                    </a:solidFill>
                    <a:latin typeface="Arial"/>
                  </a:rPr>
                  <a:t>) and </a:t>
                </a:r>
                <a:r>
                  <a:rPr lang="en-IN" sz="2400">
                    <a:solidFill>
                      <a:srgbClr val="111827"/>
                    </a:solidFill>
                    <a:latin typeface="Cambria Math" panose="02040503050406030204" pitchFamily="18" charset="0"/>
                  </a:rPr>
                  <a:t>$q=3$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$p+q=5$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4</m:t>
                        </m:r>
                      </m:sub>
                    </m:sSub>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sub>
                    </m:sSub>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sin</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θ</m:t>
                        </m:r>
                      </m:num>
                      <m:den>
                        <m:sSup>
                          <m:e>
                            <m:r>
                              <m:rPr>
                                <m:sty m:val="p"/>
                              </m:rPr>
                              <a:rPr lang="en-IN" sz="2400">
                                <a:solidFill>
                                  <a:srgbClr val="111827"/>
                                </a:solidFill>
                                <a:latin typeface="Cambria Math" panose="02040503050406030204" pitchFamily="18" charset="0"/>
                              </a:rPr>
                              <m:t>cos</m:t>
                            </m:r>
                          </m:e>
                          <m:sup>
                            <m:r>
                              <a:rPr lang="en-IN" sz="2400" i="1">
                                <a:solidFill>
                                  <a:srgbClr val="111827"/>
                                </a:solidFill>
                                <a:latin typeface="Cambria Math" panose="02040503050406030204" pitchFamily="18" charset="0"/>
                              </a:rPr>
                              <m:t>𝑛</m:t>
                            </m:r>
                          </m:sup>
                        </m:sSup>
                        <m:r>
                          <a:rPr lang="en-IN" sz="2400" i="1">
                            <a:solidFill>
                              <a:srgbClr val="111827"/>
                            </a:solidFill>
                            <a:latin typeface="Cambria Math" panose="02040503050406030204" pitchFamily="18" charset="0"/>
                          </a:rPr>
                          <m:t>θ</m:t>
                        </m:r>
                      </m:den>
                    </m:f>
                  </m:oMath>
                </a14:m>
                <a:r>
                  <a:rPr sz="2400" b="0">
                    <a:solidFill>
                      <a:srgbClr val="111827"/>
                    </a:solidFill>
                    <a:latin typeface="Arial"/>
                  </a:rPr>
                  <a:t>, valid for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Useful values: </a:t>
                </a:r>
                <a14:m>
                  <m:oMath xmlns:m="http://schemas.openxmlformats.org/officeDocument/2006/math">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cos</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6</m:t>
                            </m:r>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the series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1.51591</m:t>
                    </m:r>
                  </m:oMath>
                </a14:m>
                <a:r>
                  <a:rPr sz="2400" b="0">
                    <a:solidFill>
                      <a:srgbClr val="111827"/>
                    </a:solidFill>
                    <a:latin typeface="Arial"/>
                  </a:rPr>
                  <a:t> equals </a:t>
                </a:r>
                <a14:m>
                  <m:oMath xmlns:m="http://schemas.openxmlformats.org/officeDocument/2006/math">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m:t>
                                    </m:r>
                                  </m:e>
                                </m:rad>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e>
                        </m:d>
                      </m:e>
                      <m:sup>
                        <m:r>
                          <a:rPr lang="en-IN" sz="2400" i="1">
                            <a:solidFill>
                              <a:srgbClr val="111827"/>
                            </a:solidFill>
                            <a:latin typeface="Cambria Math" panose="02040503050406030204" pitchFamily="18" charset="0"/>
                          </a:rPr>
                          <m:t>12</m:t>
                        </m:r>
                      </m:sup>
                    </m:sSup>
                  </m:oMath>
                </a14:m>
                <a:r>
                  <a:rPr sz="2400" b="0">
                    <a:solidFill>
                      <a:srgbClr val="111827"/>
                    </a:solidFill>
                    <a:latin typeface="Arial"/>
                  </a:rPr>
                  <a:t> (checked).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$\mathrm{Re}\,(1+i t)^n={}^nC_0-{}^nC_2t^2+{}^nC_4t^4-\dots$</a:t>
                </a:r>
                <a:r>
                  <a:rPr sz="2400" b="0">
                    <a:solidFill>
                      <a:srgbClr val="111827"/>
                    </a:solidFill>
                    <a:latin typeface="Arial"/>
                  </a:rPr>
                  <a:t> and </a:t>
                </a:r>
                <a:r>
                  <a:rPr lang="en-IN" sz="2400">
                    <a:solidFill>
                      <a:srgbClr val="111827"/>
                    </a:solidFill>
                    <a:latin typeface="Cambria Math" panose="02040503050406030204" pitchFamily="18" charset="0"/>
                  </a:rPr>
                  <a:t>$\mathrm{Im}\,(1+it)^n={}^nC_1t-{}^nC_3t^3+\dots$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$t=\tan\theta$</a:t>
                </a:r>
                <a:r>
                  <a:rPr sz="2400" b="0">
                    <a:solidFill>
                      <a:srgbClr val="111827"/>
                    </a:solidFill>
                    <a:latin typeface="Arial"/>
                  </a:rPr>
                  <a:t>: </a:t>
                </a:r>
                <a:r>
                  <a:rPr lang="en-IN" sz="2400">
                    <a:solidFill>
                      <a:srgbClr val="111827"/>
                    </a:solidFill>
                    <a:latin typeface="Cambria Math" panose="02040503050406030204" pitchFamily="18" charset="0"/>
                  </a:rPr>
                  <a:t>$(1+i\tan\theta)^n=\frac{\cos n\theta+i\sin n\theta}{\cos^n\theta}$</a:t>
                </a:r>
                <a:r>
                  <a:rPr sz="2400" b="0">
                    <a:solidFill>
                      <a:srgbClr val="111827"/>
                    </a:solidFill>
                    <a:latin typeface="Arial"/>
                  </a:rPr>
                  <a:t>, valid for </a:t>
                </a:r>
                <a:r>
                  <a:rPr lang="en-IN" sz="2400">
                    <a:solidFill>
                      <a:srgbClr val="111827"/>
                    </a:solidFill>
                    <a:latin typeface="Cambria Math" panose="02040503050406030204" pitchFamily="18" charset="0"/>
                  </a:rPr>
                  <a:t>$\cos\theta\neq0$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Useful values: </a:t>
                </a:r>
                <a:r>
                  <a:rPr lang="en-IN" sz="2400">
                    <a:solidFill>
                      <a:srgbClr val="111827"/>
                    </a:solidFill>
                    <a:latin typeface="Cambria Math" panose="02040503050406030204" pitchFamily="18" charset="0"/>
                  </a:rPr>
                  <a:t>$\tan15^\circ=2-\sqrt3$</a:t>
                </a:r>
                <a:r>
                  <a:rPr sz="2400" b="0">
                    <a:solidFill>
                      <a:srgbClr val="111827"/>
                    </a:solidFill>
                    <a:latin typeface="Arial"/>
                  </a:rPr>
                  <a:t>, </a:t>
                </a:r>
                <a:r>
                  <a:rPr lang="en-IN" sz="2400">
                    <a:solidFill>
                      <a:srgbClr val="111827"/>
                    </a:solidFill>
                    <a:latin typeface="Cambria Math" panose="02040503050406030204" pitchFamily="18" charset="0"/>
                  </a:rPr>
                  <a:t>$\cos15^\circ=\frac{\sqrt6+\sqrt2}{4}=\frac{\sqrt3+1}{2\sqrt2}$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Numerical check with </a:t>
                </a:r>
                <a:r>
                  <a:rPr lang="en-IN" sz="2400">
                    <a:solidFill>
                      <a:srgbClr val="111827"/>
                    </a:solidFill>
                    <a:latin typeface="Cambria Math" panose="02040503050406030204" pitchFamily="18" charset="0"/>
                  </a:rPr>
                  <a:t>$n=12$</a:t>
                </a:r>
                <a:r>
                  <a:rPr sz="2400" b="0">
                    <a:solidFill>
                      <a:srgbClr val="111827"/>
                    </a:solidFill>
                    <a:latin typeface="Arial"/>
                  </a:rPr>
                  <a:t>: the series </a:t>
                </a:r>
                <a:r>
                  <a:rPr lang="en-IN" sz="2400">
                    <a:solidFill>
                      <a:srgbClr val="111827"/>
                    </a:solidFill>
                    <a:latin typeface="Cambria Math" panose="02040503050406030204" pitchFamily="18" charset="0"/>
                  </a:rPr>
                  <a:t>$\approx-1.51591$</a:t>
                </a:r>
                <a:r>
                  <a:rPr sz="2400" b="0">
                    <a:solidFill>
                      <a:srgbClr val="111827"/>
                    </a:solidFill>
                    <a:latin typeface="Arial"/>
                  </a:rPr>
                  <a:t> equals </a:t>
                </a:r>
                <a:r>
                  <a:rPr lang="en-IN" sz="2400">
                    <a:solidFill>
                      <a:srgbClr val="111827"/>
                    </a:solidFill>
                    <a:latin typeface="Cambria Math" panose="02040503050406030204" pitchFamily="18" charset="0"/>
                  </a:rPr>
                  <a:t>$-\left(\frac{2\sqrt2}{1+\sqrt3}\right)^{12}$</a:t>
                </a:r>
                <a:r>
                  <a:rPr sz="2400" b="0">
                    <a:solidFill>
                      <a:srgbClr val="111827"/>
                    </a:solidFill>
                    <a:latin typeface="Arial"/>
                  </a:rPr>
                  <a:t> (checked).</a:t>
                </a:r>
                <a:endParaRPr sz="2400">
                  <a:solidFill>
                    <a:srgbClr val="111827"/>
                  </a:solidFill>
                </a:endParaRPr>
              </a:p>
            </p:txBody>
          </p:sp>
        </mc:Fallback>
      </mc:AlternateContent>
    </p:spTree>
  </p:cSld>
  <p:clrMapOvr>
    <a:masterClrMapping/>
  </p:clrMapOvr>
</p:sld>
</file>

<file path=ppt/slides/slide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 tournament four players are participating. Each player plays with every other player. Each player has a </a:t>
                </a:r>
                <a14:m>
                  <m:oMath xmlns:m="http://schemas.openxmlformats.org/officeDocument/2006/math">
                    <m:r>
                      <a:rPr lang="en-IN" sz="2400" i="1">
                        <a:solidFill>
                          <a:srgbClr val="111827"/>
                        </a:solidFill>
                        <a:latin typeface="Cambria Math" panose="02040503050406030204" pitchFamily="18" charset="0"/>
                      </a:rPr>
                      <m:t>50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chance of winning any game and there are no ties. If the probability that at the end of the tournament there is neither a winless nor an undefeated player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num>
                      <m:den>
                        <m:r>
                          <a:rPr lang="en-IN" sz="2400" i="1">
                            <a:solidFill>
                              <a:srgbClr val="111827"/>
                            </a:solidFill>
                            <a:latin typeface="Cambria Math" panose="02040503050406030204" pitchFamily="18" charset="0"/>
                          </a:rPr>
                          <m:t>𝑏</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are relatively prime integers, then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equal to ________.</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In a tournament four players are participating. Each player plays with every other player. Each player has a </a:t>
                </a:r>
                <a:r>
                  <a:rPr lang="en-IN" sz="2400">
                    <a:solidFill>
                      <a:srgbClr val="111827"/>
                    </a:solidFill>
                    <a:latin typeface="Cambria Math" panose="02040503050406030204" pitchFamily="18" charset="0"/>
                  </a:rPr>
                  <a:t>$50\%$</a:t>
                </a:r>
                <a:r>
                  <a:rPr sz="2400" b="0">
                    <a:solidFill>
                      <a:srgbClr val="111827"/>
                    </a:solidFill>
                    <a:latin typeface="Arial"/>
                  </a:rPr>
                  <a:t> chance of winning any game and there are no ties. If the probability that at the end of the tournament there is neither a winless nor an undefeated player is </a:t>
                </a:r>
                <a:r>
                  <a:rPr lang="en-IN" sz="2400">
                    <a:solidFill>
                      <a:srgbClr val="111827"/>
                    </a:solidFill>
                    <a:latin typeface="Cambria Math" panose="02040503050406030204" pitchFamily="18" charset="0"/>
                  </a:rPr>
                  <a:t>$\frac ab$</a:t>
                </a:r>
                <a:r>
                  <a:rPr sz="2400" b="0">
                    <a:solidFill>
                      <a:srgbClr val="111827"/>
                    </a:solidFill>
                    <a:latin typeface="Arial"/>
                  </a:rPr>
                  <a:t>, where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are relatively prime integers, then </a:t>
                </a:r>
                <a:r>
                  <a:rPr lang="en-IN" sz="2400">
                    <a:solidFill>
                      <a:srgbClr val="111827"/>
                    </a:solidFill>
                    <a:latin typeface="Cambria Math" panose="02040503050406030204" pitchFamily="18" charset="0"/>
                  </a:rPr>
                  <a:t>$|2a-b|$</a:t>
                </a:r>
                <a:r>
                  <a:rPr sz="2400" b="0">
                    <a:solidFill>
                      <a:srgbClr val="111827"/>
                    </a:solidFill>
                    <a:latin typeface="Arial"/>
                  </a:rPr>
                  <a:t> is equal to ________.</a:t>
                </a:r>
                <a:endParaRPr sz="2400">
                  <a:solidFill>
                    <a:srgbClr val="111827"/>
                  </a:solidFill>
                </a:endParaRPr>
              </a:p>
            </p:txBody>
          </p:sp>
        </mc:Fallback>
      </mc:AlternateContent>
      <p:sp>
        <p:nvSpPr>
          <p:cNvPr id="5" name="Rectangle 4"/>
          <p:cNvSpPr/>
          <p:nvPr/>
        </p:nvSpPr>
        <p:spPr>
          <a:xfrm>
            <a:off x="731520" y="43703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independent events and inclusion-exclusion in a tournament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Use inclusion-exclusion on </a:t>
                </a:r>
                <a14:m>
                  <m:oMath xmlns:m="http://schemas.openxmlformats.org/officeDocument/2006/math">
                    <m:r>
                      <a:rPr lang="en-IN" sz="2400" i="1">
                        <a:solidFill>
                          <a:srgbClr val="78350F"/>
                        </a:solidFill>
                        <a:latin typeface="Cambria Math" panose="02040503050406030204" pitchFamily="18" charset="0"/>
                      </a:rPr>
                      <m:t>𝐴</m:t>
                    </m:r>
                  </m:oMath>
                </a14:m>
                <a:r>
                  <a:rPr sz="2400" b="0">
                    <a:solidFill>
                      <a:srgbClr val="78350F"/>
                    </a:solidFill>
                    <a:latin typeface="Arial"/>
                  </a:rPr>
                  <a:t> (some player wins all games) and </a:t>
                </a:r>
                <a14:m>
                  <m:oMath xmlns:m="http://schemas.openxmlformats.org/officeDocument/2006/math">
                    <m:r>
                      <a:rPr lang="en-IN" sz="2400" i="1">
                        <a:solidFill>
                          <a:srgbClr val="78350F"/>
                        </a:solidFill>
                        <a:latin typeface="Cambria Math" panose="02040503050406030204" pitchFamily="18" charset="0"/>
                      </a:rPr>
                      <m:t>𝐵</m:t>
                    </m:r>
                  </m:oMath>
                </a14:m>
                <a:r>
                  <a:rPr sz="2400" b="0">
                    <a:solidFill>
                      <a:srgbClr val="78350F"/>
                    </a:solidFill>
                    <a:latin typeface="Arial"/>
                  </a:rPr>
                  <a:t> (some player loses all games), with </a:t>
                </a:r>
                <a14:m>
                  <m:oMath xmlns:m="http://schemas.openxmlformats.org/officeDocument/2006/math">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𝐵</m:t>
                    </m:r>
                  </m:oMath>
                </a14:m>
                <a:r>
                  <a:rPr sz="2400" b="0">
                    <a:solidFill>
                      <a:srgbClr val="78350F"/>
                    </a:solidFill>
                    <a:latin typeface="Arial"/>
                  </a:rPr>
                  <a:t> counted by pairs of players.</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Use inclusion-exclusion on </a:t>
                </a:r>
                <a:r>
                  <a:rPr lang="en-IN" sz="2400">
                    <a:solidFill>
                      <a:srgbClr val="78350F"/>
                    </a:solidFill>
                    <a:latin typeface="Cambria Math" panose="02040503050406030204" pitchFamily="18" charset="0"/>
                  </a:rPr>
                  <a:t>$A$</a:t>
                </a:r>
                <a:r>
                  <a:rPr sz="2400" b="0">
                    <a:solidFill>
                      <a:srgbClr val="78350F"/>
                    </a:solidFill>
                    <a:latin typeface="Arial"/>
                  </a:rPr>
                  <a:t> (some player wins all games) and </a:t>
                </a:r>
                <a:r>
                  <a:rPr lang="en-IN" sz="2400">
                    <a:solidFill>
                      <a:srgbClr val="78350F"/>
                    </a:solidFill>
                    <a:latin typeface="Cambria Math" panose="02040503050406030204" pitchFamily="18" charset="0"/>
                  </a:rPr>
                  <a:t>$B$</a:t>
                </a:r>
                <a:r>
                  <a:rPr sz="2400" b="0">
                    <a:solidFill>
                      <a:srgbClr val="78350F"/>
                    </a:solidFill>
                    <a:latin typeface="Arial"/>
                  </a:rPr>
                  <a:t> (some player loses all games), with </a:t>
                </a:r>
                <a:r>
                  <a:rPr lang="en-IN" sz="2400">
                    <a:solidFill>
                      <a:srgbClr val="78350F"/>
                    </a:solidFill>
                    <a:latin typeface="Cambria Math" panose="02040503050406030204" pitchFamily="18" charset="0"/>
                  </a:rPr>
                  <a:t>$A\cap B$</a:t>
                </a:r>
                <a:r>
                  <a:rPr sz="2400" b="0">
                    <a:solidFill>
                      <a:srgbClr val="78350F"/>
                    </a:solidFill>
                    <a:latin typeface="Arial"/>
                  </a:rPr>
                  <a:t> counted by pairs of players.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 are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games, each won by either player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be the event that some player wins all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of his games,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that some player loses all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the required event. Then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 are </a:t>
                </a:r>
                <a:r>
                  <a:rPr lang="en-IN" sz="2400">
                    <a:solidFill>
                      <a:srgbClr val="111827"/>
                    </a:solidFill>
                    <a:latin typeface="Cambria Math" panose="02040503050406030204" pitchFamily="18" charset="0"/>
                  </a:rPr>
                  <a:t>$\binom42=6$</a:t>
                </a:r>
                <a:r>
                  <a:rPr sz="2400" b="0">
                    <a:solidFill>
                      <a:srgbClr val="111827"/>
                    </a:solidFill>
                    <a:latin typeface="Arial"/>
                  </a:rPr>
                  <a:t> games, each won by either player with probability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$A$</a:t>
                </a:r>
                <a:r>
                  <a:rPr sz="2400" b="0">
                    <a:solidFill>
                      <a:srgbClr val="111827"/>
                    </a:solidFill>
                    <a:latin typeface="Arial"/>
                  </a:rPr>
                  <a:t> be the event that some player wins all </a:t>
                </a:r>
                <a:r>
                  <a:rPr lang="en-IN" sz="2400">
                    <a:solidFill>
                      <a:srgbClr val="111827"/>
                    </a:solidFill>
                    <a:latin typeface="Cambria Math" panose="02040503050406030204" pitchFamily="18" charset="0"/>
                  </a:rPr>
                  <a:t>$3$</a:t>
                </a:r>
                <a:r>
                  <a:rPr sz="2400" b="0">
                    <a:solidFill>
                      <a:srgbClr val="111827"/>
                    </a:solidFill>
                    <a:latin typeface="Arial"/>
                  </a:rPr>
                  <a:t> of his games, </a:t>
                </a:r>
                <a:r>
                  <a:rPr lang="en-IN" sz="2400">
                    <a:solidFill>
                      <a:srgbClr val="111827"/>
                    </a:solidFill>
                    <a:latin typeface="Cambria Math" panose="02040503050406030204" pitchFamily="18" charset="0"/>
                  </a:rPr>
                  <a:t>$B$</a:t>
                </a:r>
                <a:r>
                  <a:rPr sz="2400" b="0">
                    <a:solidFill>
                      <a:srgbClr val="111827"/>
                    </a:solidFill>
                    <a:latin typeface="Arial"/>
                  </a:rPr>
                  <a:t> that some player loses all </a:t>
                </a:r>
                <a:r>
                  <a:rPr lang="en-IN" sz="2400">
                    <a:solidFill>
                      <a:srgbClr val="111827"/>
                    </a:solidFill>
                    <a:latin typeface="Cambria Math" panose="02040503050406030204" pitchFamily="18" charset="0"/>
                  </a:rPr>
                  <a:t>$3$</a:t>
                </a:r>
                <a:r>
                  <a:rPr sz="2400" b="0">
                    <a:solidFill>
                      <a:srgbClr val="111827"/>
                    </a:solidFill>
                    <a:latin typeface="Arial"/>
                  </a:rPr>
                  <a:t>, and </a:t>
                </a:r>
                <a:r>
                  <a:rPr lang="en-IN" sz="2400">
                    <a:solidFill>
                      <a:srgbClr val="111827"/>
                    </a:solidFill>
                    <a:latin typeface="Cambria Math" panose="02040503050406030204" pitchFamily="18" charset="0"/>
                  </a:rPr>
                  <a:t>$E$</a:t>
                </a:r>
                <a:r>
                  <a:rPr sz="2400" b="0">
                    <a:solidFill>
                      <a:srgbClr val="111827"/>
                    </a:solidFill>
                    <a:latin typeface="Arial"/>
                  </a:rPr>
                  <a:t> the required event. Then </a:t>
                </a:r>
                <a:r>
                  <a:rPr lang="en-IN" sz="2400">
                    <a:solidFill>
                      <a:srgbClr val="111827"/>
                    </a:solidFill>
                    <a:latin typeface="Cambria Math" panose="02040503050406030204" pitchFamily="18" charset="0"/>
                  </a:rPr>
                  <a:t>$P(E)=1-P(A\cup B)$</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 given player wins all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games with probability </a:t>
                </a:r>
                <a14:m>
                  <m:oMath xmlns:m="http://schemas.openxmlformats.org/officeDocument/2006/math">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3</m:t>
                        </m:r>
                      </m:sup>
                    </m:sSup>
                  </m:oMath>
                </a14:m>
                <a:r>
                  <a:rPr sz="2400" b="0">
                    <a:solidFill>
                      <a:srgbClr val="111827"/>
                    </a:solidFill>
                    <a:latin typeface="Arial"/>
                  </a:rPr>
                  <a:t>, and two players cannot both be undefeated,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(two players cannot both be winless).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choose the undefeated player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ways) and the winless player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ways); their mutual game is common, so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games are fixed: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32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a:t>
                </a:r>
                <a:r>
                  <a:rPr sz="2400" b="0">
                    <a:solidFill>
                      <a:srgbClr val="111827"/>
                    </a:solidFill>
                    <a:latin typeface="Arial"/>
                  </a:rPr>
                  <a:t>: a given player wins all </a:t>
                </a:r>
                <a:r>
                  <a:rPr lang="en-IN" sz="2400">
                    <a:solidFill>
                      <a:srgbClr val="111827"/>
                    </a:solidFill>
                    <a:latin typeface="Cambria Math" panose="02040503050406030204" pitchFamily="18" charset="0"/>
                  </a:rPr>
                  <a:t>$3$</a:t>
                </a:r>
                <a:r>
                  <a:rPr sz="2400" b="0">
                    <a:solidFill>
                      <a:srgbClr val="111827"/>
                    </a:solidFill>
                    <a:latin typeface="Arial"/>
                  </a:rPr>
                  <a:t> games with probability </a:t>
                </a:r>
                <a:r>
                  <a:rPr lang="en-IN" sz="2400">
                    <a:solidFill>
                      <a:srgbClr val="111827"/>
                    </a:solidFill>
                    <a:latin typeface="Cambria Math" panose="02040503050406030204" pitchFamily="18" charset="0"/>
                  </a:rPr>
                  <a:t>$\left(\frac12\right)^3$</a:t>
                </a:r>
                <a:r>
                  <a:rPr sz="2400" b="0">
                    <a:solidFill>
                      <a:srgbClr val="111827"/>
                    </a:solidFill>
                    <a:latin typeface="Arial"/>
                  </a:rPr>
                  <a:t>, and two players cannot both be undefeated, so </a:t>
                </a:r>
                <a:r>
                  <a:rPr lang="en-IN" sz="2400">
                    <a:solidFill>
                      <a:srgbClr val="111827"/>
                    </a:solidFill>
                    <a:latin typeface="Cambria Math" panose="02040503050406030204" pitchFamily="18" charset="0"/>
                  </a:rPr>
                  <a:t>$P(A)={}^4C_1\left(\frac12\right)^3=\frac48$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Similarly </a:t>
                </a:r>
                <a:r>
                  <a:rPr lang="en-IN" sz="2400">
                    <a:solidFill>
                      <a:srgbClr val="111827"/>
                    </a:solidFill>
                    <a:latin typeface="Cambria Math" panose="02040503050406030204" pitchFamily="18" charset="0"/>
                  </a:rPr>
                  <a:t>$P(B)={}^4C_1\left(\frac12\right)^3=\frac48$</a:t>
                </a:r>
                <a:r>
                  <a:rPr sz="2400" b="0">
                    <a:solidFill>
                      <a:srgbClr val="111827"/>
                    </a:solidFill>
                    <a:latin typeface="Arial"/>
                  </a:rPr>
                  <a:t> (two players cannot both be winless).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$P(A\cap B)$</a:t>
                </a:r>
                <a:r>
                  <a:rPr sz="2400" b="0">
                    <a:solidFill>
                      <a:srgbClr val="111827"/>
                    </a:solidFill>
                    <a:latin typeface="Arial"/>
                  </a:rPr>
                  <a:t>: choose the undefeated player (</a:t>
                </a:r>
                <a:r>
                  <a:rPr lang="en-IN" sz="2400">
                    <a:solidFill>
                      <a:srgbClr val="111827"/>
                    </a:solidFill>
                    <a:latin typeface="Cambria Math" panose="02040503050406030204" pitchFamily="18" charset="0"/>
                  </a:rPr>
                  <a:t>$4$</a:t>
                </a:r>
                <a:r>
                  <a:rPr sz="2400" b="0">
                    <a:solidFill>
                      <a:srgbClr val="111827"/>
                    </a:solidFill>
                    <a:latin typeface="Arial"/>
                  </a:rPr>
                  <a:t> ways) and the winless player (</a:t>
                </a:r>
                <a:r>
                  <a:rPr lang="en-IN" sz="2400">
                    <a:solidFill>
                      <a:srgbClr val="111827"/>
                    </a:solidFill>
                    <a:latin typeface="Cambria Math" panose="02040503050406030204" pitchFamily="18" charset="0"/>
                  </a:rPr>
                  <a:t>$3$</a:t>
                </a:r>
                <a:r>
                  <a:rPr sz="2400" b="0">
                    <a:solidFill>
                      <a:srgbClr val="111827"/>
                    </a:solidFill>
                    <a:latin typeface="Arial"/>
                  </a:rPr>
                  <a:t> ways); their mutual game is common, so </a:t>
                </a:r>
                <a:r>
                  <a:rPr lang="en-IN" sz="2400">
                    <a:solidFill>
                      <a:srgbClr val="111827"/>
                    </a:solidFill>
                    <a:latin typeface="Cambria Math" panose="02040503050406030204" pitchFamily="18" charset="0"/>
                  </a:rPr>
                  <a:t>$5$</a:t>
                </a:r>
                <a:r>
                  <a:rPr sz="2400" b="0">
                    <a:solidFill>
                      <a:srgbClr val="111827"/>
                    </a:solidFill>
                    <a:latin typeface="Arial"/>
                  </a:rPr>
                  <a:t> games are fixed: </a:t>
                </a:r>
                <a:r>
                  <a:rPr lang="en-IN" sz="2400">
                    <a:solidFill>
                      <a:srgbClr val="111827"/>
                    </a:solidFill>
                    <a:latin typeface="Cambria Math" panose="02040503050406030204" pitchFamily="18" charset="0"/>
                  </a:rPr>
                  <a:t>$\frac{4\cdot3}{2^5}=\frac{12}{32}=\frac38$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$P(A\cup B)=\frac48+\frac48-\frac38=\frac58$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$P(E)=1-\frac58=\frac38$</a:t>
                </a:r>
                <a:r>
                  <a:rPr sz="2400" b="0">
                    <a:solidFill>
                      <a:srgbClr val="111827"/>
                    </a:solidFill>
                    <a:latin typeface="Arial"/>
                  </a:rPr>
                  <a:t>, so </a:t>
                </a:r>
                <a:r>
                  <a:rPr lang="en-IN" sz="2400">
                    <a:solidFill>
                      <a:srgbClr val="111827"/>
                    </a:solidFill>
                    <a:latin typeface="Cambria Math" panose="02040503050406030204" pitchFamily="18" charset="0"/>
                  </a:rPr>
                  <a:t>$a=3$</a:t>
                </a:r>
                <a:r>
                  <a:rPr sz="2400" b="0">
                    <a:solidFill>
                      <a:srgbClr val="111827"/>
                    </a:solidFill>
                    <a:latin typeface="Arial"/>
                  </a:rPr>
                  <a:t>, </a:t>
                </a:r>
                <a:r>
                  <a:rPr lang="en-IN" sz="2400">
                    <a:solidFill>
                      <a:srgbClr val="111827"/>
                    </a:solidFill>
                    <a:latin typeface="Cambria Math" panose="02040503050406030204" pitchFamily="18" charset="0"/>
                  </a:rPr>
                  <a:t>$b=8$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$|2a-b|=|6-8|=2$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a:t>
            </a:r>
            <a:endParaRPr sz="2800">
              <a:solidFill>
                <a:srgbClr val="15803D"/>
              </a:solidFill>
            </a:endParaRPr>
          </a:p>
        </p:txBody>
      </p:sp>
    </p:spTree>
  </p:cSld>
  <p:clrMapOvr>
    <a:masterClrMapping/>
  </p:clrMapOvr>
</p:sld>
</file>

<file path=ppt/slides/slide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tournaments by score sequence: every player must score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or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which forces scores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tournaments by score sequence: every player must score </a:t>
                </a:r>
                <a:r>
                  <a:rPr lang="en-IN" sz="2400">
                    <a:solidFill>
                      <a:srgbClr val="78350F"/>
                    </a:solidFill>
                    <a:latin typeface="Cambria Math" panose="02040503050406030204" pitchFamily="18" charset="0"/>
                  </a:rPr>
                  <a:t>$1$</a:t>
                </a:r>
                <a:r>
                  <a:rPr sz="2400" b="0">
                    <a:solidFill>
                      <a:srgbClr val="78350F"/>
                    </a:solidFill>
                    <a:latin typeface="Arial"/>
                  </a:rPr>
                  <a:t> or </a:t>
                </a:r>
                <a:r>
                  <a:rPr lang="en-IN" sz="2400">
                    <a:solidFill>
                      <a:srgbClr val="78350F"/>
                    </a:solidFill>
                    <a:latin typeface="Cambria Math" panose="02040503050406030204" pitchFamily="18" charset="0"/>
                  </a:rPr>
                  <a:t>$2$</a:t>
                </a:r>
                <a:r>
                  <a:rPr sz="2400" b="0">
                    <a:solidFill>
                      <a:srgbClr val="78350F"/>
                    </a:solidFill>
                    <a:latin typeface="Arial"/>
                  </a:rPr>
                  <a:t>, which forces scores </a:t>
                </a:r>
                <a:r>
                  <a:rPr lang="en-IN" sz="2400">
                    <a:solidFill>
                      <a:srgbClr val="78350F"/>
                    </a:solidFill>
                    <a:latin typeface="Cambria Math" panose="02040503050406030204" pitchFamily="18" charset="0"/>
                  </a:rPr>
                  <a:t>$(1,1,2,2)$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 are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oMath>
                </a14:m>
                <a:r>
                  <a:rPr sz="2400" b="0">
                    <a:solidFill>
                      <a:srgbClr val="111827"/>
                    </a:solidFill>
                    <a:latin typeface="Arial"/>
                  </a:rPr>
                  <a:t> equally likely outcomes of the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games. A player's score is the number of his wins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scores add up to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(one win per game). Neither a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nor a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is allowed, so every score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Four scores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sum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must be two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's and two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There are </a:t>
                </a:r>
                <a:r>
                  <a:rPr lang="en-IN" sz="2400">
                    <a:solidFill>
                      <a:srgbClr val="111827"/>
                    </a:solidFill>
                    <a:latin typeface="Cambria Math" panose="02040503050406030204" pitchFamily="18" charset="0"/>
                  </a:rPr>
                  <a:t>$2^6=64$</a:t>
                </a:r>
                <a:r>
                  <a:rPr sz="2400" b="0">
                    <a:solidFill>
                      <a:srgbClr val="111827"/>
                    </a:solidFill>
                    <a:latin typeface="Arial"/>
                  </a:rPr>
                  <a:t> equally likely outcomes of the </a:t>
                </a:r>
                <a:r>
                  <a:rPr lang="en-IN" sz="2400">
                    <a:solidFill>
                      <a:srgbClr val="111827"/>
                    </a:solidFill>
                    <a:latin typeface="Cambria Math" panose="02040503050406030204" pitchFamily="18" charset="0"/>
                  </a:rPr>
                  <a:t>$6$</a:t>
                </a:r>
                <a:r>
                  <a:rPr sz="2400" b="0">
                    <a:solidFill>
                      <a:srgbClr val="111827"/>
                    </a:solidFill>
                    <a:latin typeface="Arial"/>
                  </a:rPr>
                  <a:t> games. A player's score is the number of his wins (</a:t>
                </a:r>
                <a:r>
                  <a:rPr lang="en-IN" sz="2400">
                    <a:solidFill>
                      <a:srgbClr val="111827"/>
                    </a:solidFill>
                    <a:latin typeface="Cambria Math" panose="02040503050406030204" pitchFamily="18" charset="0"/>
                  </a:rPr>
                  <a:t>$0$</a:t>
                </a:r>
                <a:r>
                  <a:rPr sz="2400" b="0">
                    <a:solidFill>
                      <a:srgbClr val="111827"/>
                    </a:solidFill>
                    <a:latin typeface="Arial"/>
                  </a:rPr>
                  <a:t> to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scores add up to </a:t>
                </a:r>
                <a:r>
                  <a:rPr lang="en-IN" sz="2400">
                    <a:solidFill>
                      <a:srgbClr val="111827"/>
                    </a:solidFill>
                    <a:latin typeface="Cambria Math" panose="02040503050406030204" pitchFamily="18" charset="0"/>
                  </a:rPr>
                  <a:t>$6$</a:t>
                </a:r>
                <a:r>
                  <a:rPr sz="2400" b="0">
                    <a:solidFill>
                      <a:srgbClr val="111827"/>
                    </a:solidFill>
                    <a:latin typeface="Arial"/>
                  </a:rPr>
                  <a:t> (one win per game). Neither a </a:t>
                </a:r>
                <a:r>
                  <a:rPr lang="en-IN" sz="2400">
                    <a:solidFill>
                      <a:srgbClr val="111827"/>
                    </a:solidFill>
                    <a:latin typeface="Cambria Math" panose="02040503050406030204" pitchFamily="18" charset="0"/>
                  </a:rPr>
                  <a:t>$0$</a:t>
                </a:r>
                <a:r>
                  <a:rPr sz="2400" b="0">
                    <a:solidFill>
                      <a:srgbClr val="111827"/>
                    </a:solidFill>
                    <a:latin typeface="Arial"/>
                  </a:rPr>
                  <a:t> nor a </a:t>
                </a:r>
                <a:r>
                  <a:rPr lang="en-IN" sz="2400">
                    <a:solidFill>
                      <a:srgbClr val="111827"/>
                    </a:solidFill>
                    <a:latin typeface="Cambria Math" panose="02040503050406030204" pitchFamily="18" charset="0"/>
                  </a:rPr>
                  <a:t>$3$</a:t>
                </a:r>
                <a:r>
                  <a:rPr sz="2400" b="0">
                    <a:solidFill>
                      <a:srgbClr val="111827"/>
                    </a:solidFill>
                    <a:latin typeface="Arial"/>
                  </a:rPr>
                  <a:t> is allowed, so every score is </a:t>
                </a:r>
                <a:r>
                  <a:rPr lang="en-IN" sz="2400">
                    <a:solidFill>
                      <a:srgbClr val="111827"/>
                    </a:solidFill>
                    <a:latin typeface="Cambria Math" panose="02040503050406030204" pitchFamily="18" charset="0"/>
                  </a:rPr>
                  <a:t>$1$</a:t>
                </a:r>
                <a:r>
                  <a:rPr sz="2400" b="0">
                    <a:solidFill>
                      <a:srgbClr val="111827"/>
                    </a:solidFill>
                    <a:latin typeface="Arial"/>
                  </a:rPr>
                  <a:t> or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Four scores from </a:t>
                </a:r>
                <a:r>
                  <a:rPr lang="en-IN" sz="2400">
                    <a:solidFill>
                      <a:srgbClr val="111827"/>
                    </a:solidFill>
                    <a:latin typeface="Cambria Math" panose="02040503050406030204" pitchFamily="18" charset="0"/>
                  </a:rPr>
                  <a:t>$\{1,2\}$</a:t>
                </a:r>
                <a:r>
                  <a:rPr sz="2400" b="0">
                    <a:solidFill>
                      <a:srgbClr val="111827"/>
                    </a:solidFill>
                    <a:latin typeface="Arial"/>
                  </a:rPr>
                  <a:t> with sum </a:t>
                </a:r>
                <a:r>
                  <a:rPr lang="en-IN" sz="2400">
                    <a:solidFill>
                      <a:srgbClr val="111827"/>
                    </a:solidFill>
                    <a:latin typeface="Cambria Math" panose="02040503050406030204" pitchFamily="18" charset="0"/>
                  </a:rPr>
                  <a:t>$6$</a:t>
                </a:r>
                <a:r>
                  <a:rPr sz="2400" b="0">
                    <a:solidFill>
                      <a:srgbClr val="111827"/>
                    </a:solidFill>
                    <a:latin typeface="Arial"/>
                  </a:rPr>
                  <a:t> must be two </a:t>
                </a:r>
                <a:r>
                  <a:rPr lang="en-IN" sz="2400">
                    <a:solidFill>
                      <a:srgbClr val="111827"/>
                    </a:solidFill>
                    <a:latin typeface="Cambria Math" panose="02040503050406030204" pitchFamily="18" charset="0"/>
                  </a:rPr>
                  <a:t>$1$</a:t>
                </a:r>
                <a:r>
                  <a:rPr sz="2400" b="0">
                    <a:solidFill>
                      <a:srgbClr val="111827"/>
                    </a:solidFill>
                    <a:latin typeface="Arial"/>
                  </a:rPr>
                  <a:t>'s and two </a:t>
                </a:r>
                <a:r>
                  <a:rPr lang="en-IN" sz="2400">
                    <a:solidFill>
                      <a:srgbClr val="111827"/>
                    </a:solidFill>
                    <a:latin typeface="Cambria Math" panose="02040503050406030204" pitchFamily="18" charset="0"/>
                  </a:rPr>
                  <a:t>$2$</a:t>
                </a:r>
                <a:r>
                  <a:rPr sz="2400" b="0">
                    <a:solidFill>
                      <a:srgbClr val="111827"/>
                    </a:solidFill>
                    <a:latin typeface="Arial"/>
                  </a:rPr>
                  <a:t>'s.</a:t>
                </a:r>
                <a:endParaRPr sz="2400">
                  <a:solidFill>
                    <a:srgbClr val="111827"/>
                  </a:solidFill>
                </a:endParaRPr>
              </a:p>
            </p:txBody>
          </p:sp>
        </mc:Fallback>
      </mc:AlternateContent>
    </p:spTree>
  </p:cSld>
  <p:clrMapOvr>
    <a:masterClrMapping/>
  </p:clrMapOvr>
</p:sld>
</file>

<file path=ppt/slides/slide5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Choose which two players score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ways. For each choice, the number of tournaments with that score pattern is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(exact enumeration), giving </a:t>
                </a:r>
                <a14:m>
                  <m:oMath xmlns:m="http://schemas.openxmlformats.org/officeDocument/2006/math">
                    <m:r>
                      <a:rPr lang="en-IN" sz="2400" i="1">
                        <a:solidFill>
                          <a:srgbClr val="111827"/>
                        </a:solidFill>
                        <a:latin typeface="Cambria Math" panose="02040503050406030204" pitchFamily="18" charset="0"/>
                      </a:rPr>
                      <m:t>24</m:t>
                    </m:r>
                  </m:oMath>
                </a14:m>
                <a:r>
                  <a:rPr sz="2400" b="0">
                    <a:solidFill>
                      <a:srgbClr val="111827"/>
                    </a:solidFill>
                    <a:latin typeface="Arial"/>
                  </a:rPr>
                  <a:t> outcomes.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m:t>
                        </m:r>
                      </m:num>
                      <m:den>
                        <m:r>
                          <a:rPr lang="en-IN" sz="2400" i="1">
                            <a:solidFill>
                              <a:srgbClr val="111827"/>
                            </a:solidFill>
                            <a:latin typeface="Cambria Math" panose="02040503050406030204" pitchFamily="18" charset="0"/>
                          </a:rPr>
                          <m:t>64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Choose which two players score </a:t>
                </a:r>
                <a:r>
                  <a:rPr lang="en-IN" sz="2400">
                    <a:solidFill>
                      <a:srgbClr val="111827"/>
                    </a:solidFill>
                    <a:latin typeface="Cambria Math" panose="02040503050406030204" pitchFamily="18" charset="0"/>
                  </a:rPr>
                  <a:t>$2$</a:t>
                </a:r>
                <a:r>
                  <a:rPr sz="2400" b="0">
                    <a:solidFill>
                      <a:srgbClr val="111827"/>
                    </a:solidFill>
                    <a:latin typeface="Arial"/>
                  </a:rPr>
                  <a:t>: </a:t>
                </a:r>
                <a:r>
                  <a:rPr lang="en-IN" sz="2400">
                    <a:solidFill>
                      <a:srgbClr val="111827"/>
                    </a:solidFill>
                    <a:latin typeface="Cambria Math" panose="02040503050406030204" pitchFamily="18" charset="0"/>
                  </a:rPr>
                  <a:t>$\binom42=6$</a:t>
                </a:r>
                <a:r>
                  <a:rPr sz="2400" b="0">
                    <a:solidFill>
                      <a:srgbClr val="111827"/>
                    </a:solidFill>
                    <a:latin typeface="Arial"/>
                  </a:rPr>
                  <a:t> ways. For each choice, the number of tournaments with that score pattern is </a:t>
                </a:r>
                <a:r>
                  <a:rPr lang="en-IN" sz="2400">
                    <a:solidFill>
                      <a:srgbClr val="111827"/>
                    </a:solidFill>
                    <a:latin typeface="Cambria Math" panose="02040503050406030204" pitchFamily="18" charset="0"/>
                  </a:rPr>
                  <a:t>$4$</a:t>
                </a:r>
                <a:r>
                  <a:rPr sz="2400" b="0">
                    <a:solidFill>
                      <a:srgbClr val="111827"/>
                    </a:solidFill>
                    <a:latin typeface="Arial"/>
                  </a:rPr>
                  <a:t> (exact enumeration), giving </a:t>
                </a:r>
                <a:r>
                  <a:rPr lang="en-IN" sz="2400">
                    <a:solidFill>
                      <a:srgbClr val="111827"/>
                    </a:solidFill>
                    <a:latin typeface="Cambria Math" panose="02040503050406030204" pitchFamily="18" charset="0"/>
                  </a:rPr>
                  <a:t>$24$</a:t>
                </a:r>
                <a:r>
                  <a:rPr sz="2400" b="0">
                    <a:solidFill>
                      <a:srgbClr val="111827"/>
                    </a:solidFill>
                    <a:latin typeface="Arial"/>
                  </a:rPr>
                  <a:t> outcomes.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$=\frac{24}{64}=\frac38$</a:t>
                </a:r>
                <a:r>
                  <a:rPr sz="2400" b="0">
                    <a:solidFill>
                      <a:srgbClr val="111827"/>
                    </a:solidFill>
                    <a:latin typeface="Arial"/>
                  </a:rPr>
                  <a:t>, so </a:t>
                </a:r>
                <a:r>
                  <a:rPr lang="en-IN" sz="2400">
                    <a:solidFill>
                      <a:srgbClr val="111827"/>
                    </a:solidFill>
                    <a:latin typeface="Cambria Math" panose="02040503050406030204" pitchFamily="18" charset="0"/>
                  </a:rPr>
                  <a:t>$|2a-b|=|6-8|=2$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a:t>
            </a:r>
            <a:endParaRPr sz="2800">
              <a:solidFill>
                <a:srgbClr val="15803D"/>
              </a:solidFill>
            </a:endParaRPr>
          </a:p>
        </p:txBody>
      </p:sp>
    </p:spTree>
  </p:cSld>
  <p:clrMapOvr>
    <a:masterClrMapping/>
  </p:clrMapOvr>
</p:sld>
</file>

<file path=ppt/slides/slide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round-robin among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players the score sum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the total is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most one player can be undefeated and at most one winless, which makes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simple sums.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Joint event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(an undefeated and a winless player):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this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32</m:t>
                        </m:r>
                      </m:den>
                    </m:f>
                  </m:oMath>
                </a14:m>
                <a:r>
                  <a:rPr sz="2400" b="0">
                    <a:solidFill>
                      <a:srgbClr val="111827"/>
                    </a:solidFill>
                    <a:latin typeface="Arial"/>
                  </a:rPr>
                  <a:t> (checked by enumeration).</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 round-robin among </a:t>
                </a:r>
                <a:r>
                  <a:rPr lang="en-IN" sz="2400">
                    <a:solidFill>
                      <a:srgbClr val="111827"/>
                    </a:solidFill>
                    <a:latin typeface="Cambria Math" panose="02040503050406030204" pitchFamily="18" charset="0"/>
                  </a:rPr>
                  <a:t>$n$</a:t>
                </a:r>
                <a:r>
                  <a:rPr sz="2400" b="0">
                    <a:solidFill>
                      <a:srgbClr val="111827"/>
                    </a:solidFill>
                    <a:latin typeface="Arial"/>
                  </a:rPr>
                  <a:t> players the score sum is </a:t>
                </a:r>
                <a:r>
                  <a:rPr lang="en-IN" sz="2400">
                    <a:solidFill>
                      <a:srgbClr val="111827"/>
                    </a:solidFill>
                    <a:latin typeface="Cambria Math" panose="02040503050406030204" pitchFamily="18" charset="0"/>
                  </a:rPr>
                  <a:t>$\binom n2$</a:t>
                </a:r>
                <a:r>
                  <a:rPr sz="2400" b="0">
                    <a:solidFill>
                      <a:srgbClr val="111827"/>
                    </a:solidFill>
                    <a:latin typeface="Arial"/>
                  </a:rPr>
                  <a:t>; for </a:t>
                </a:r>
                <a:r>
                  <a:rPr lang="en-IN" sz="2400">
                    <a:solidFill>
                      <a:srgbClr val="111827"/>
                    </a:solidFill>
                    <a:latin typeface="Cambria Math" panose="02040503050406030204" pitchFamily="18" charset="0"/>
                  </a:rPr>
                  <a:t>$n=4$</a:t>
                </a:r>
                <a:r>
                  <a:rPr sz="2400" b="0">
                    <a:solidFill>
                      <a:srgbClr val="111827"/>
                    </a:solidFill>
                    <a:latin typeface="Arial"/>
                  </a:rPr>
                  <a:t> the total is </a:t>
                </a:r>
                <a:r>
                  <a:rPr lang="en-IN" sz="2400">
                    <a:solidFill>
                      <a:srgbClr val="111827"/>
                    </a:solidFill>
                    <a:latin typeface="Cambria Math" panose="02040503050406030204" pitchFamily="18" charset="0"/>
                  </a:rPr>
                  <a:t>$6$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At most one player can be undefeated and at most one winless, which makes </a:t>
                </a:r>
                <a:r>
                  <a:rPr lang="en-IN" sz="2400">
                    <a:solidFill>
                      <a:srgbClr val="111827"/>
                    </a:solidFill>
                    <a:latin typeface="Cambria Math" panose="02040503050406030204" pitchFamily="18" charset="0"/>
                  </a:rPr>
                  <a:t>$P(A)$</a:t>
                </a:r>
                <a:r>
                  <a:rPr sz="2400" b="0">
                    <a:solidFill>
                      <a:srgbClr val="111827"/>
                    </a:solidFill>
                    <a:latin typeface="Arial"/>
                  </a:rPr>
                  <a:t> and </a:t>
                </a:r>
                <a:r>
                  <a:rPr lang="en-IN" sz="2400">
                    <a:solidFill>
                      <a:srgbClr val="111827"/>
                    </a:solidFill>
                    <a:latin typeface="Cambria Math" panose="02040503050406030204" pitchFamily="18" charset="0"/>
                  </a:rPr>
                  <a:t>$P(B)$</a:t>
                </a:r>
                <a:r>
                  <a:rPr sz="2400" b="0">
                    <a:solidFill>
                      <a:srgbClr val="111827"/>
                    </a:solidFill>
                    <a:latin typeface="Arial"/>
                  </a:rPr>
                  <a:t> simple sums.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Joint event </a:t>
                </a:r>
                <a:r>
                  <a:rPr lang="en-IN" sz="2400">
                    <a:solidFill>
                      <a:srgbClr val="111827"/>
                    </a:solidFill>
                    <a:latin typeface="Cambria Math" panose="02040503050406030204" pitchFamily="18" charset="0"/>
                  </a:rPr>
                  <a:t>$A\cap B$</a:t>
                </a:r>
                <a:r>
                  <a:rPr sz="2400" b="0">
                    <a:solidFill>
                      <a:srgbClr val="111827"/>
                    </a:solidFill>
                    <a:latin typeface="Arial"/>
                  </a:rPr>
                  <a:t> (an undefeated and a winless player): probability </a:t>
                </a:r>
                <a:r>
                  <a:rPr lang="en-IN" sz="2400">
                    <a:solidFill>
                      <a:srgbClr val="111827"/>
                    </a:solidFill>
                    <a:latin typeface="Cambria Math" panose="02040503050406030204" pitchFamily="18" charset="0"/>
                  </a:rPr>
                  <a:t>$\frac{n(n-1)}{2^{2n-3}}$</a:t>
                </a:r>
                <a:r>
                  <a:rPr sz="2400" b="0">
                    <a:solidFill>
                      <a:srgbClr val="111827"/>
                    </a:solidFill>
                    <a:latin typeface="Arial"/>
                  </a:rPr>
                  <a:t>; for </a:t>
                </a:r>
                <a:r>
                  <a:rPr lang="en-IN" sz="2400">
                    <a:solidFill>
                      <a:srgbClr val="111827"/>
                    </a:solidFill>
                    <a:latin typeface="Cambria Math" panose="02040503050406030204" pitchFamily="18" charset="0"/>
                  </a:rPr>
                  <a:t>$n=4$</a:t>
                </a:r>
                <a:r>
                  <a:rPr sz="2400" b="0">
                    <a:solidFill>
                      <a:srgbClr val="111827"/>
                    </a:solidFill>
                    <a:latin typeface="Arial"/>
                  </a:rPr>
                  <a:t> this is </a:t>
                </a:r>
                <a:r>
                  <a:rPr lang="en-IN" sz="2400">
                    <a:solidFill>
                      <a:srgbClr val="111827"/>
                    </a:solidFill>
                    <a:latin typeface="Cambria Math" panose="02040503050406030204" pitchFamily="18" charset="0"/>
                  </a:rPr>
                  <a:t>$\frac{12}{32}$</a:t>
                </a:r>
                <a:r>
                  <a:rPr sz="2400" b="0">
                    <a:solidFill>
                      <a:srgbClr val="111827"/>
                    </a:solidFill>
                    <a:latin typeface="Arial"/>
                  </a:rPr>
                  <a:t> (checked by enumeration).</a:t>
                </a:r>
                <a:endParaRPr sz="2400">
                  <a:solidFill>
                    <a:srgbClr val="111827"/>
                  </a:solidFill>
                </a:endParaRPr>
              </a:p>
            </p:txBody>
          </p:sp>
        </mc:Fallback>
      </mc:AlternateContent>
    </p:spTree>
  </p:cSld>
  <p:clrMapOvr>
    <a:masterClrMapping/>
  </p:clrMapOvr>
</p:sld>
</file>

<file path=ppt/slides/slide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3431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Six people play the following game. They have a cube, initially white. One by one, the players mark an X on a white face of the cube and roll it like a die. The winner is the first person to roll an X (for example, player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wins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 while if none of players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win, player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will place an X on the last white square and win for sure). The probability that the sixth player wins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 Find the value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33431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Six people play the following game. They have a cube, initially white. One by one, the players mark an X on a white face of the cube and roll it like a die. The winner is the first person to roll an X (for example, player </a:t>
                </a:r>
                <a:r>
                  <a:rPr lang="en-IN" sz="2400">
                    <a:solidFill>
                      <a:srgbClr val="111827"/>
                    </a:solidFill>
                    <a:latin typeface="Cambria Math" panose="02040503050406030204" pitchFamily="18" charset="0"/>
                  </a:rPr>
                  <a:t>$1$</a:t>
                </a:r>
                <a:r>
                  <a:rPr sz="2400" b="0">
                    <a:solidFill>
                      <a:srgbClr val="111827"/>
                    </a:solidFill>
                    <a:latin typeface="Arial"/>
                  </a:rPr>
                  <a:t> wins with probability </a:t>
                </a:r>
                <a:r>
                  <a:rPr lang="en-IN" sz="2400">
                    <a:solidFill>
                      <a:srgbClr val="111827"/>
                    </a:solidFill>
                    <a:latin typeface="Cambria Math" panose="02040503050406030204" pitchFamily="18" charset="0"/>
                  </a:rPr>
                  <a:t>$\frac16$</a:t>
                </a:r>
                <a:r>
                  <a:rPr sz="2400" b="0">
                    <a:solidFill>
                      <a:srgbClr val="111827"/>
                    </a:solidFill>
                    <a:latin typeface="Arial"/>
                  </a:rPr>
                  <a:t>, while if none of players </a:t>
                </a:r>
                <a:r>
                  <a:rPr lang="en-IN" sz="2400">
                    <a:solidFill>
                      <a:srgbClr val="111827"/>
                    </a:solidFill>
                    <a:latin typeface="Cambria Math" panose="02040503050406030204" pitchFamily="18" charset="0"/>
                  </a:rPr>
                  <a:t>$1$</a:t>
                </a:r>
                <a:r>
                  <a:rPr sz="2400" b="0">
                    <a:solidFill>
                      <a:srgbClr val="111827"/>
                    </a:solidFill>
                    <a:latin typeface="Arial"/>
                  </a:rPr>
                  <a:t> to </a:t>
                </a:r>
                <a:r>
                  <a:rPr lang="en-IN" sz="2400">
                    <a:solidFill>
                      <a:srgbClr val="111827"/>
                    </a:solidFill>
                    <a:latin typeface="Cambria Math" panose="02040503050406030204" pitchFamily="18" charset="0"/>
                  </a:rPr>
                  <a:t>$5$</a:t>
                </a:r>
                <a:r>
                  <a:rPr sz="2400" b="0">
                    <a:solidFill>
                      <a:srgbClr val="111827"/>
                    </a:solidFill>
                    <a:latin typeface="Arial"/>
                  </a:rPr>
                  <a:t> win, player </a:t>
                </a:r>
                <a:r>
                  <a:rPr lang="en-IN" sz="2400">
                    <a:solidFill>
                      <a:srgbClr val="111827"/>
                    </a:solidFill>
                    <a:latin typeface="Cambria Math" panose="02040503050406030204" pitchFamily="18" charset="0"/>
                  </a:rPr>
                  <a:t>$6$</a:t>
                </a:r>
                <a:r>
                  <a:rPr sz="2400" b="0">
                    <a:solidFill>
                      <a:srgbClr val="111827"/>
                    </a:solidFill>
                    <a:latin typeface="Arial"/>
                  </a:rPr>
                  <a:t> will place an X on the last white square and win for sure). The probability that the sixth player wins is </a:t>
                </a:r>
                <a:r>
                  <a:rPr lang="en-IN" sz="2400">
                    <a:solidFill>
                      <a:srgbClr val="111827"/>
                    </a:solidFill>
                    <a:latin typeface="Cambria Math" panose="02040503050406030204" pitchFamily="18" charset="0"/>
                  </a:rPr>
                  <a:t>$\frac{n}{324}$</a:t>
                </a:r>
                <a:r>
                  <a:rPr sz="2400" b="0">
                    <a:solidFill>
                      <a:srgbClr val="111827"/>
                    </a:solidFill>
                    <a:latin typeface="Arial"/>
                  </a:rPr>
                  <a:t>. Find the value of </a:t>
                </a:r>
                <a:r>
                  <a:rPr lang="en-IN" sz="2400">
                    <a:solidFill>
                      <a:srgbClr val="111827"/>
                    </a:solidFill>
                    <a:latin typeface="Cambria Math" panose="02040503050406030204" pitchFamily="18" charset="0"/>
                  </a:rPr>
                  <a:t>$n$</a:t>
                </a:r>
                <a:r>
                  <a:rPr sz="2400" b="0">
                    <a:solidFill>
                      <a:srgbClr val="111827"/>
                    </a:solidFill>
                    <a:latin typeface="Arial"/>
                  </a:rPr>
                  <a:t>. ________</a:t>
                </a:r>
                <a:endParaRPr sz="2400">
                  <a:solidFill>
                    <a:srgbClr val="111827"/>
                  </a:solidFill>
                </a:endParaRPr>
              </a:p>
            </p:txBody>
          </p:sp>
        </mc:Fallback>
      </mc:AlternateContent>
    </p:spTree>
  </p:cSld>
  <p:clrMapOvr>
    <a:masterClrMapping/>
  </p:clrMapOvr>
</p:sld>
</file>

<file path=ppt/slides/slide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sequential events and multiplication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Player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(given nobody has won) faces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marked faces out of </a:t>
                </a:r>
                <a14:m>
                  <m:oMath xmlns:m="http://schemas.openxmlformats.org/officeDocument/2006/math">
                    <m:r>
                      <a:rPr lang="en-IN" sz="2400" i="1">
                        <a:solidFill>
                          <a:srgbClr val="78350F"/>
                        </a:solidFill>
                        <a:latin typeface="Cambria Math" panose="02040503050406030204" pitchFamily="18" charset="0"/>
                      </a:rPr>
                      <m:t>6</m:t>
                    </m:r>
                  </m:oMath>
                </a14:m>
                <a:r>
                  <a:rPr sz="2400" b="0">
                    <a:solidFill>
                      <a:srgbClr val="78350F"/>
                    </a:solidFill>
                    <a:latin typeface="Arial"/>
                  </a:rPr>
                  <a:t>, so he fails with probability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6</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num>
                      <m:den>
                        <m:r>
                          <a:rPr lang="en-IN" sz="2400" i="1">
                            <a:solidFill>
                              <a:srgbClr val="78350F"/>
                            </a:solidFill>
                            <a:latin typeface="Cambria Math" panose="02040503050406030204" pitchFamily="18" charset="0"/>
                          </a:rPr>
                          <m:t>6</m:t>
                        </m:r>
                      </m:den>
                    </m:f>
                  </m:oMath>
                </a14:m>
                <a:r>
                  <a:rPr sz="2400" b="0">
                    <a:solidFill>
                      <a:srgbClr val="78350F"/>
                    </a:solidFill>
                    <a:latin typeface="Arial"/>
                  </a:rPr>
                  <a:t>; player </a:t>
                </a:r>
                <a14:m>
                  <m:oMath xmlns:m="http://schemas.openxmlformats.org/officeDocument/2006/math">
                    <m:r>
                      <a:rPr lang="en-IN" sz="2400" i="1">
                        <a:solidFill>
                          <a:srgbClr val="78350F"/>
                        </a:solidFill>
                        <a:latin typeface="Cambria Math" panose="02040503050406030204" pitchFamily="18" charset="0"/>
                      </a:rPr>
                      <m:t>6</m:t>
                    </m:r>
                  </m:oMath>
                </a14:m>
                <a:r>
                  <a:rPr sz="2400" b="0">
                    <a:solidFill>
                      <a:srgbClr val="78350F"/>
                    </a:solidFill>
                    <a:latin typeface="Arial"/>
                  </a:rPr>
                  <a:t> wins only if all of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 to </a:t>
                </a:r>
                <a14:m>
                  <m:oMath xmlns:m="http://schemas.openxmlformats.org/officeDocument/2006/math">
                    <m:r>
                      <a:rPr lang="en-IN" sz="2400" i="1">
                        <a:solidFill>
                          <a:srgbClr val="78350F"/>
                        </a:solidFill>
                        <a:latin typeface="Cambria Math" panose="02040503050406030204" pitchFamily="18" charset="0"/>
                      </a:rPr>
                      <m:t>5</m:t>
                    </m:r>
                  </m:oMath>
                </a14:m>
                <a:r>
                  <a:rPr sz="2400" b="0">
                    <a:solidFill>
                      <a:srgbClr val="78350F"/>
                    </a:solidFill>
                    <a:latin typeface="Arial"/>
                  </a:rPr>
                  <a:t> fail.</a:t>
                </a:r>
                <a:endParaRPr sz="2400">
                  <a:solidFill>
                    <a:srgbClr val="78350F"/>
                  </a:solidFill>
                </a:endParaRPr>
              </a:p>
            </p:txBody>
          </p:sp>
        </mc:Choice>
        <mc:Fallback>
          <p:sp>
            <p:nvSpPr>
              <p:cNvPr id="5" name="Rounded Rectangle 4"/>
              <p:cNvSpPr/>
              <p:nvPr/>
            </p:nvSpPr>
            <p:spPr>
              <a:xfrm>
                <a:off x="731520" y="3657600"/>
                <a:ext cx="10725912" cy="1591056"/>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Player </a:t>
                </a:r>
                <a:r>
                  <a:rPr lang="en-IN" sz="2400">
                    <a:solidFill>
                      <a:srgbClr val="78350F"/>
                    </a:solidFill>
                    <a:latin typeface="Cambria Math" panose="02040503050406030204" pitchFamily="18" charset="0"/>
                  </a:rPr>
                  <a:t>$k$</a:t>
                </a:r>
                <a:r>
                  <a:rPr sz="2400" b="0">
                    <a:solidFill>
                      <a:srgbClr val="78350F"/>
                    </a:solidFill>
                    <a:latin typeface="Arial"/>
                  </a:rPr>
                  <a:t> (given nobody has won) faces </a:t>
                </a:r>
                <a:r>
                  <a:rPr lang="en-IN" sz="2400">
                    <a:solidFill>
                      <a:srgbClr val="78350F"/>
                    </a:solidFill>
                    <a:latin typeface="Cambria Math" panose="02040503050406030204" pitchFamily="18" charset="0"/>
                  </a:rPr>
                  <a:t>$k$</a:t>
                </a:r>
                <a:r>
                  <a:rPr sz="2400" b="0">
                    <a:solidFill>
                      <a:srgbClr val="78350F"/>
                    </a:solidFill>
                    <a:latin typeface="Arial"/>
                  </a:rPr>
                  <a:t> marked faces out of </a:t>
                </a:r>
                <a:r>
                  <a:rPr lang="en-IN" sz="2400">
                    <a:solidFill>
                      <a:srgbClr val="78350F"/>
                    </a:solidFill>
                    <a:latin typeface="Cambria Math" panose="02040503050406030204" pitchFamily="18" charset="0"/>
                  </a:rPr>
                  <a:t>$6$</a:t>
                </a:r>
                <a:r>
                  <a:rPr sz="2400" b="0">
                    <a:solidFill>
                      <a:srgbClr val="78350F"/>
                    </a:solidFill>
                    <a:latin typeface="Arial"/>
                  </a:rPr>
                  <a:t>, so he fails with probability </a:t>
                </a:r>
                <a:r>
                  <a:rPr lang="en-IN" sz="2400">
                    <a:solidFill>
                      <a:srgbClr val="78350F"/>
                    </a:solidFill>
                    <a:latin typeface="Cambria Math" panose="02040503050406030204" pitchFamily="18" charset="0"/>
                  </a:rPr>
                  <a:t>$\frac{6-k}{6}$</a:t>
                </a:r>
                <a:r>
                  <a:rPr sz="2400" b="0">
                    <a:solidFill>
                      <a:srgbClr val="78350F"/>
                    </a:solidFill>
                    <a:latin typeface="Arial"/>
                  </a:rPr>
                  <a:t>; player </a:t>
                </a:r>
                <a:r>
                  <a:rPr lang="en-IN" sz="2400">
                    <a:solidFill>
                      <a:srgbClr val="78350F"/>
                    </a:solidFill>
                    <a:latin typeface="Cambria Math" panose="02040503050406030204" pitchFamily="18" charset="0"/>
                  </a:rPr>
                  <a:t>$6$</a:t>
                </a:r>
                <a:r>
                  <a:rPr sz="2400" b="0">
                    <a:solidFill>
                      <a:srgbClr val="78350F"/>
                    </a:solidFill>
                    <a:latin typeface="Arial"/>
                  </a:rPr>
                  <a:t> wins only if all of </a:t>
                </a:r>
                <a:r>
                  <a:rPr lang="en-IN" sz="2400">
                    <a:solidFill>
                      <a:srgbClr val="78350F"/>
                    </a:solidFill>
                    <a:latin typeface="Cambria Math" panose="02040503050406030204" pitchFamily="18" charset="0"/>
                  </a:rPr>
                  <a:t>$1$</a:t>
                </a:r>
                <a:r>
                  <a:rPr sz="2400" b="0">
                    <a:solidFill>
                      <a:srgbClr val="78350F"/>
                    </a:solidFill>
                    <a:latin typeface="Arial"/>
                  </a:rPr>
                  <a:t> to </a:t>
                </a:r>
                <a:r>
                  <a:rPr lang="en-IN" sz="2400">
                    <a:solidFill>
                      <a:srgbClr val="78350F"/>
                    </a:solidFill>
                    <a:latin typeface="Cambria Math" panose="02040503050406030204" pitchFamily="18" charset="0"/>
                  </a:rPr>
                  <a:t>$5$</a:t>
                </a:r>
                <a:r>
                  <a:rPr sz="2400" b="0">
                    <a:solidFill>
                      <a:srgbClr val="78350F"/>
                    </a:solidFill>
                    <a:latin typeface="Arial"/>
                  </a:rPr>
                  <a:t> fail.</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no one has won so far, player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has marked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faces (his own and earlier players' X's), so he wins with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5385816"/>
                <a:ext cx="10725912" cy="12893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no one has won so far, player </a:t>
                </a:r>
                <a:r>
                  <a:rPr lang="en-IN" sz="2400">
                    <a:solidFill>
                      <a:srgbClr val="111827"/>
                    </a:solidFill>
                    <a:latin typeface="Cambria Math" panose="02040503050406030204" pitchFamily="18" charset="0"/>
                  </a:rPr>
                  <a:t>$k$</a:t>
                </a:r>
                <a:r>
                  <a:rPr sz="2400" b="0">
                    <a:solidFill>
                      <a:srgbClr val="111827"/>
                    </a:solidFill>
                    <a:latin typeface="Arial"/>
                  </a:rPr>
                  <a:t> has marked </a:t>
                </a:r>
                <a:r>
                  <a:rPr lang="en-IN" sz="2400">
                    <a:solidFill>
                      <a:srgbClr val="111827"/>
                    </a:solidFill>
                    <a:latin typeface="Cambria Math" panose="02040503050406030204" pitchFamily="18" charset="0"/>
                  </a:rPr>
                  <a:t>$k$</a:t>
                </a:r>
                <a:r>
                  <a:rPr sz="2400" b="0">
                    <a:solidFill>
                      <a:srgbClr val="111827"/>
                    </a:solidFill>
                    <a:latin typeface="Arial"/>
                  </a:rPr>
                  <a:t> faces (his own and earlier players' X's), so he wins with probability </a:t>
                </a:r>
                <a:r>
                  <a:rPr lang="en-IN" sz="2400">
                    <a:solidFill>
                      <a:srgbClr val="111827"/>
                    </a:solidFill>
                    <a:latin typeface="Cambria Math" panose="02040503050406030204" pitchFamily="18" charset="0"/>
                  </a:rPr>
                  <a:t>$\frac k6$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Equivalently, the probability that player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does not win, given that no one has already won,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Player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wins for sure once players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all lose, and this is the only way he can win.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that the first five players all lose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120</m:t>
                        </m:r>
                      </m:num>
                      <m:den>
                        <m:r>
                          <a:rPr lang="en-IN" sz="2400" i="1">
                            <a:solidFill>
                              <a:srgbClr val="111827"/>
                            </a:solidFill>
                            <a:latin typeface="Cambria Math" panose="02040503050406030204" pitchFamily="18" charset="0"/>
                          </a:rPr>
                          <m:t>7776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Equivalently, the probability that player </a:t>
                </a:r>
                <a:r>
                  <a:rPr lang="en-IN" sz="2400">
                    <a:solidFill>
                      <a:srgbClr val="111827"/>
                    </a:solidFill>
                    <a:latin typeface="Cambria Math" panose="02040503050406030204" pitchFamily="18" charset="0"/>
                  </a:rPr>
                  <a:t>$k$</a:t>
                </a:r>
                <a:r>
                  <a:rPr sz="2400" b="0">
                    <a:solidFill>
                      <a:srgbClr val="111827"/>
                    </a:solidFill>
                    <a:latin typeface="Arial"/>
                  </a:rPr>
                  <a:t> does not win, given that no one has already won, is </a:t>
                </a:r>
                <a:r>
                  <a:rPr lang="en-IN" sz="2400">
                    <a:solidFill>
                      <a:srgbClr val="111827"/>
                    </a:solidFill>
                    <a:latin typeface="Cambria Math" panose="02040503050406030204" pitchFamily="18" charset="0"/>
                  </a:rPr>
                  <a:t>$\frac{6-k}{6}$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Player </a:t>
                </a:r>
                <a:r>
                  <a:rPr lang="en-IN" sz="2400">
                    <a:solidFill>
                      <a:srgbClr val="111827"/>
                    </a:solidFill>
                    <a:latin typeface="Cambria Math" panose="02040503050406030204" pitchFamily="18" charset="0"/>
                  </a:rPr>
                  <a:t>$6$</a:t>
                </a:r>
                <a:r>
                  <a:rPr sz="2400" b="0">
                    <a:solidFill>
                      <a:srgbClr val="111827"/>
                    </a:solidFill>
                    <a:latin typeface="Arial"/>
                  </a:rPr>
                  <a:t> wins for sure once players </a:t>
                </a:r>
                <a:r>
                  <a:rPr lang="en-IN" sz="2400">
                    <a:solidFill>
                      <a:srgbClr val="111827"/>
                    </a:solidFill>
                    <a:latin typeface="Cambria Math" panose="02040503050406030204" pitchFamily="18" charset="0"/>
                  </a:rPr>
                  <a:t>$1$</a:t>
                </a:r>
                <a:r>
                  <a:rPr sz="2400" b="0">
                    <a:solidFill>
                      <a:srgbClr val="111827"/>
                    </a:solidFill>
                    <a:latin typeface="Arial"/>
                  </a:rPr>
                  <a:t> to </a:t>
                </a:r>
                <a:r>
                  <a:rPr lang="en-IN" sz="2400">
                    <a:solidFill>
                      <a:srgbClr val="111827"/>
                    </a:solidFill>
                    <a:latin typeface="Cambria Math" panose="02040503050406030204" pitchFamily="18" charset="0"/>
                  </a:rPr>
                  <a:t>$5$</a:t>
                </a:r>
                <a:r>
                  <a:rPr sz="2400" b="0">
                    <a:solidFill>
                      <a:srgbClr val="111827"/>
                    </a:solidFill>
                    <a:latin typeface="Arial"/>
                  </a:rPr>
                  <a:t> all lose, and this is the only way he can win.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that the first five players all lose </a:t>
                </a:r>
                <a:r>
                  <a:rPr lang="en-IN" sz="2400">
                    <a:solidFill>
                      <a:srgbClr val="111827"/>
                    </a:solidFill>
                    <a:latin typeface="Cambria Math" panose="02040503050406030204" pitchFamily="18" charset="0"/>
                  </a:rPr>
                  <a:t>$=\frac56\cdot\frac46\cdot\frac36\cdot\frac26\cdot\frac16$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$=\frac{120}{7776}=\frac{5}{324}$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r>
                  <a:rPr lang="en-IN" sz="2400">
                    <a:solidFill>
                      <a:srgbClr val="111827"/>
                    </a:solidFill>
                    <a:latin typeface="Cambria Math" panose="02040503050406030204" pitchFamily="18" charset="0"/>
                  </a:rPr>
                  <a:t>$\frac{n}{324}$</a:t>
                </a:r>
                <a:r>
                  <a:rPr sz="2400" b="0">
                    <a:solidFill>
                      <a:srgbClr val="111827"/>
                    </a:solidFill>
                    <a:latin typeface="Arial"/>
                  </a:rPr>
                  <a:t> gives </a:t>
                </a:r>
                <a:r>
                  <a:rPr lang="en-IN" sz="2400">
                    <a:solidFill>
                      <a:srgbClr val="111827"/>
                    </a:solidFill>
                    <a:latin typeface="Cambria Math" panose="02040503050406030204" pitchFamily="18" charset="0"/>
                  </a:rPr>
                  <a:t>$n=5$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sequences: player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fails iff his roll avoids the </a:t>
                </a:r>
                <a14:m>
                  <m:oMath xmlns:m="http://schemas.openxmlformats.org/officeDocument/2006/math">
                    <m:r>
                      <a:rPr lang="en-IN" sz="2400" i="1">
                        <a:solidFill>
                          <a:srgbClr val="78350F"/>
                        </a:solidFill>
                        <a:latin typeface="Cambria Math" panose="02040503050406030204" pitchFamily="18" charset="0"/>
                      </a:rPr>
                      <m:t>𝑘</m:t>
                    </m:r>
                  </m:oMath>
                </a14:m>
                <a:r>
                  <a:rPr sz="2400" b="0">
                    <a:solidFill>
                      <a:srgbClr val="78350F"/>
                    </a:solidFill>
                    <a:latin typeface="Arial"/>
                  </a:rPr>
                  <a:t> marked faces, which gives a factorial count.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sequences: player </a:t>
                </a:r>
                <a:r>
                  <a:rPr lang="en-IN" sz="2400">
                    <a:solidFill>
                      <a:srgbClr val="78350F"/>
                    </a:solidFill>
                    <a:latin typeface="Cambria Math" panose="02040503050406030204" pitchFamily="18" charset="0"/>
                  </a:rPr>
                  <a:t>$k$</a:t>
                </a:r>
                <a:r>
                  <a:rPr sz="2400" b="0">
                    <a:solidFill>
                      <a:srgbClr val="78350F"/>
                    </a:solidFill>
                    <a:latin typeface="Arial"/>
                  </a:rPr>
                  <a:t> fails iff his roll avoids the </a:t>
                </a:r>
                <a:r>
                  <a:rPr lang="en-IN" sz="2400">
                    <a:solidFill>
                      <a:srgbClr val="78350F"/>
                    </a:solidFill>
                    <a:latin typeface="Cambria Math" panose="02040503050406030204" pitchFamily="18" charset="0"/>
                  </a:rPr>
                  <a:t>$k$</a:t>
                </a:r>
                <a:r>
                  <a:rPr sz="2400" b="0">
                    <a:solidFill>
                      <a:srgbClr val="78350F"/>
                    </a:solidFill>
                    <a:latin typeface="Arial"/>
                  </a:rPr>
                  <a:t> marked faces, which gives a factorial count.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Player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wins iff players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all fail. The marks are on distinct faces; by symmetry label them faces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in order of marking.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Player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fails iff his roll is not among faces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i.e. it lies in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exactly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of the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equally likely outcomes.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five rolls are independent, so the favourable sequences number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oMath>
                </a14:m>
                <a:r>
                  <a:rPr sz="2400" b="0">
                    <a:solidFill>
                      <a:srgbClr val="111827"/>
                    </a:solidFill>
                    <a:latin typeface="Arial"/>
                  </a:rPr>
                  <a:t> out of </a:t>
                </a:r>
                <a14:m>
                  <m:oMath xmlns:m="http://schemas.openxmlformats.org/officeDocument/2006/math">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7776</m:t>
                    </m:r>
                  </m:oMath>
                </a14:m>
                <a:r>
                  <a:rPr sz="2400" b="0">
                    <a:solidFill>
                      <a:srgbClr val="111827"/>
                    </a:solidFill>
                    <a:latin typeface="Arial"/>
                  </a:rPr>
                  <a:t> equally likely ones.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Player </a:t>
                </a:r>
                <a:r>
                  <a:rPr lang="en-IN" sz="2400">
                    <a:solidFill>
                      <a:srgbClr val="111827"/>
                    </a:solidFill>
                    <a:latin typeface="Cambria Math" panose="02040503050406030204" pitchFamily="18" charset="0"/>
                  </a:rPr>
                  <a:t>$6$</a:t>
                </a:r>
                <a:r>
                  <a:rPr sz="2400" b="0">
                    <a:solidFill>
                      <a:srgbClr val="111827"/>
                    </a:solidFill>
                    <a:latin typeface="Arial"/>
                  </a:rPr>
                  <a:t> wins iff players </a:t>
                </a:r>
                <a:r>
                  <a:rPr lang="en-IN" sz="2400">
                    <a:solidFill>
                      <a:srgbClr val="111827"/>
                    </a:solidFill>
                    <a:latin typeface="Cambria Math" panose="02040503050406030204" pitchFamily="18" charset="0"/>
                  </a:rPr>
                  <a:t>$1$</a:t>
                </a:r>
                <a:r>
                  <a:rPr sz="2400" b="0">
                    <a:solidFill>
                      <a:srgbClr val="111827"/>
                    </a:solidFill>
                    <a:latin typeface="Arial"/>
                  </a:rPr>
                  <a:t> to </a:t>
                </a:r>
                <a:r>
                  <a:rPr lang="en-IN" sz="2400">
                    <a:solidFill>
                      <a:srgbClr val="111827"/>
                    </a:solidFill>
                    <a:latin typeface="Cambria Math" panose="02040503050406030204" pitchFamily="18" charset="0"/>
                  </a:rPr>
                  <a:t>$5$</a:t>
                </a:r>
                <a:r>
                  <a:rPr sz="2400" b="0">
                    <a:solidFill>
                      <a:srgbClr val="111827"/>
                    </a:solidFill>
                    <a:latin typeface="Arial"/>
                  </a:rPr>
                  <a:t> all fail. The marks are on distinct faces; by symmetry label them faces </a:t>
                </a:r>
                <a:r>
                  <a:rPr lang="en-IN" sz="2400">
                    <a:solidFill>
                      <a:srgbClr val="111827"/>
                    </a:solidFill>
                    <a:latin typeface="Cambria Math" panose="02040503050406030204" pitchFamily="18" charset="0"/>
                  </a:rPr>
                  <a:t>$1,2,\ldots,5$</a:t>
                </a:r>
                <a:r>
                  <a:rPr sz="2400" b="0">
                    <a:solidFill>
                      <a:srgbClr val="111827"/>
                    </a:solidFill>
                    <a:latin typeface="Arial"/>
                  </a:rPr>
                  <a:t> in order of marking.</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Player </a:t>
                </a:r>
                <a:r>
                  <a:rPr lang="en-IN" sz="2400">
                    <a:solidFill>
                      <a:srgbClr val="111827"/>
                    </a:solidFill>
                    <a:latin typeface="Cambria Math" panose="02040503050406030204" pitchFamily="18" charset="0"/>
                  </a:rPr>
                  <a:t>$k$</a:t>
                </a:r>
                <a:r>
                  <a:rPr sz="2400" b="0">
                    <a:solidFill>
                      <a:srgbClr val="111827"/>
                    </a:solidFill>
                    <a:latin typeface="Arial"/>
                  </a:rPr>
                  <a:t> fails iff his roll is not among faces </a:t>
                </a:r>
                <a:r>
                  <a:rPr lang="en-IN" sz="2400">
                    <a:solidFill>
                      <a:srgbClr val="111827"/>
                    </a:solidFill>
                    <a:latin typeface="Cambria Math" panose="02040503050406030204" pitchFamily="18" charset="0"/>
                  </a:rPr>
                  <a:t>$1,\ldots,k$</a:t>
                </a:r>
                <a:r>
                  <a:rPr sz="2400" b="0">
                    <a:solidFill>
                      <a:srgbClr val="111827"/>
                    </a:solidFill>
                    <a:latin typeface="Arial"/>
                  </a:rPr>
                  <a:t>, i.e. it lies in </a:t>
                </a:r>
                <a:r>
                  <a:rPr lang="en-IN" sz="2400">
                    <a:solidFill>
                      <a:srgbClr val="111827"/>
                    </a:solidFill>
                    <a:latin typeface="Cambria Math" panose="02040503050406030204" pitchFamily="18" charset="0"/>
                  </a:rPr>
                  <a:t>$\{k+1,\ldots,6\}$</a:t>
                </a:r>
                <a:r>
                  <a:rPr sz="2400" b="0">
                    <a:solidFill>
                      <a:srgbClr val="111827"/>
                    </a:solidFill>
                    <a:latin typeface="Arial"/>
                  </a:rPr>
                  <a:t>: exactly </a:t>
                </a:r>
                <a:r>
                  <a:rPr lang="en-IN" sz="2400">
                    <a:solidFill>
                      <a:srgbClr val="111827"/>
                    </a:solidFill>
                    <a:latin typeface="Cambria Math" panose="02040503050406030204" pitchFamily="18" charset="0"/>
                  </a:rPr>
                  <a:t>$6-k$</a:t>
                </a:r>
                <a:r>
                  <a:rPr sz="2400" b="0">
                    <a:solidFill>
                      <a:srgbClr val="111827"/>
                    </a:solidFill>
                    <a:latin typeface="Arial"/>
                  </a:rPr>
                  <a:t> of the </a:t>
                </a:r>
                <a:r>
                  <a:rPr lang="en-IN" sz="2400">
                    <a:solidFill>
                      <a:srgbClr val="111827"/>
                    </a:solidFill>
                    <a:latin typeface="Cambria Math" panose="02040503050406030204" pitchFamily="18" charset="0"/>
                  </a:rPr>
                  <a:t>$6$</a:t>
                </a:r>
                <a:r>
                  <a:rPr sz="2400" b="0">
                    <a:solidFill>
                      <a:srgbClr val="111827"/>
                    </a:solidFill>
                    <a:latin typeface="Arial"/>
                  </a:rPr>
                  <a:t> equally likely outcomes.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five rolls are independent, so the favourable sequences number </a:t>
                </a:r>
                <a:r>
                  <a:rPr lang="en-IN" sz="2400">
                    <a:solidFill>
                      <a:srgbClr val="111827"/>
                    </a:solidFill>
                    <a:latin typeface="Cambria Math" panose="02040503050406030204" pitchFamily="18" charset="0"/>
                  </a:rPr>
                  <a:t>$5\cdot4\cdot3\cdot2\cdot1=5!=120$</a:t>
                </a:r>
                <a:r>
                  <a:rPr sz="2400" b="0">
                    <a:solidFill>
                      <a:srgbClr val="111827"/>
                    </a:solidFill>
                    <a:latin typeface="Arial"/>
                  </a:rPr>
                  <a:t> out of </a:t>
                </a:r>
                <a:r>
                  <a:rPr lang="en-IN" sz="2400">
                    <a:solidFill>
                      <a:srgbClr val="111827"/>
                    </a:solidFill>
                    <a:latin typeface="Cambria Math" panose="02040503050406030204" pitchFamily="18" charset="0"/>
                  </a:rPr>
                  <a:t>$6^5=7776$</a:t>
                </a:r>
                <a:r>
                  <a:rPr sz="2400" b="0">
                    <a:solidFill>
                      <a:srgbClr val="111827"/>
                    </a:solidFill>
                    <a:latin typeface="Arial"/>
                  </a:rPr>
                  <a:t> equally likely ones.</a:t>
                </a:r>
                <a:endParaRPr sz="2400">
                  <a:solidFill>
                    <a:srgbClr val="111827"/>
                  </a:solidFill>
                </a:endParaRPr>
              </a:p>
            </p:txBody>
          </p:sp>
        </mc:Fallback>
      </mc:AlternateContent>
    </p:spTree>
  </p:cSld>
  <p:clrMapOvr>
    <a:masterClrMapping/>
  </p:clrMapOvr>
</p:sld>
</file>

<file path=ppt/slides/slide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120</m:t>
                        </m:r>
                      </m:num>
                      <m:den>
                        <m:r>
                          <a:rPr lang="en-IN" sz="2400" i="1">
                            <a:solidFill>
                              <a:srgbClr val="111827"/>
                            </a:solidFill>
                            <a:latin typeface="Cambria Math" panose="02040503050406030204" pitchFamily="18" charset="0"/>
                          </a:rPr>
                          <m:t>7776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Probability </a:t>
                </a:r>
                <a:r>
                  <a:rPr lang="en-IN" sz="2400">
                    <a:solidFill>
                      <a:srgbClr val="111827"/>
                    </a:solidFill>
                    <a:latin typeface="Cambria Math" panose="02040503050406030204" pitchFamily="18" charset="0"/>
                  </a:rPr>
                  <a:t>$=\frac{5!}{6^5}=\frac{120}{7776}=\frac{5}{324}$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r>
                  <a:rPr lang="en-IN" sz="2400">
                    <a:solidFill>
                      <a:srgbClr val="111827"/>
                    </a:solidFill>
                    <a:latin typeface="Cambria Math" panose="02040503050406030204" pitchFamily="18" charset="0"/>
                  </a:rPr>
                  <a:t>$\frac{n}{324}$</a:t>
                </a:r>
                <a:r>
                  <a:rPr sz="2400" b="0">
                    <a:solidFill>
                      <a:srgbClr val="111827"/>
                    </a:solidFill>
                    <a:latin typeface="Arial"/>
                  </a:rPr>
                  <a:t> gives </a:t>
                </a:r>
                <a:r>
                  <a:rPr lang="en-IN" sz="2400">
                    <a:solidFill>
                      <a:srgbClr val="111827"/>
                    </a:solidFill>
                    <a:latin typeface="Cambria Math" panose="02040503050406030204" pitchFamily="18" charset="0"/>
                  </a:rPr>
                  <a:t>$n=5$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5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89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trials in a sequential game where trial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has failure probability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𝑚</m:t>
                        </m:r>
                      </m:den>
                    </m:f>
                  </m:oMath>
                </a14:m>
                <a:r>
                  <a:rPr sz="2400" b="0">
                    <a:solidFill>
                      <a:srgbClr val="111827"/>
                    </a:solidFill>
                    <a:latin typeface="Arial"/>
                  </a:rPr>
                  <a:t> the chance that all of the first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fail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um>
                      <m:den>
                        <m:sSup>
                          <m:e>
                            <m:r>
                              <a:rPr lang="en-IN" sz="2400" i="1">
                                <a:solidFill>
                                  <a:srgbClr val="111827"/>
                                </a:solidFill>
                                <a:latin typeface="Cambria Math" panose="02040503050406030204" pitchFamily="18" charset="0"/>
                              </a:rPr>
                              <m:t>𝑚</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den>
                    </m:f>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120</m:t>
                        </m:r>
                      </m:num>
                      <m:den>
                        <m:r>
                          <a:rPr lang="en-IN" sz="2400" i="1">
                            <a:solidFill>
                              <a:srgbClr val="111827"/>
                            </a:solidFill>
                            <a:latin typeface="Cambria Math" panose="02040503050406030204" pitchFamily="18" charset="0"/>
                          </a:rPr>
                          <m:t>7776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'win for sure' last player just inherits the probability that everyone before him fails.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by simulation-free arithmetic: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5</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324</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$m$</a:t>
                </a:r>
                <a:r>
                  <a:rPr sz="2400" b="0">
                    <a:solidFill>
                      <a:srgbClr val="111827"/>
                    </a:solidFill>
                    <a:latin typeface="Arial"/>
                  </a:rPr>
                  <a:t> trials in a sequential game where trial </a:t>
                </a:r>
                <a:r>
                  <a:rPr lang="en-IN" sz="2400">
                    <a:solidFill>
                      <a:srgbClr val="111827"/>
                    </a:solidFill>
                    <a:latin typeface="Cambria Math" panose="02040503050406030204" pitchFamily="18" charset="0"/>
                  </a:rPr>
                  <a:t>$k$</a:t>
                </a:r>
                <a:r>
                  <a:rPr sz="2400" b="0">
                    <a:solidFill>
                      <a:srgbClr val="111827"/>
                    </a:solidFill>
                    <a:latin typeface="Arial"/>
                  </a:rPr>
                  <a:t> has failure probability </a:t>
                </a:r>
                <a:r>
                  <a:rPr lang="en-IN" sz="2400">
                    <a:solidFill>
                      <a:srgbClr val="111827"/>
                    </a:solidFill>
                    <a:latin typeface="Cambria Math" panose="02040503050406030204" pitchFamily="18" charset="0"/>
                  </a:rPr>
                  <a:t>$\frac{m-k}{m}$</a:t>
                </a:r>
                <a:r>
                  <a:rPr sz="2400" b="0">
                    <a:solidFill>
                      <a:srgbClr val="111827"/>
                    </a:solidFill>
                    <a:latin typeface="Arial"/>
                  </a:rPr>
                  <a:t> the chance that all of the first </a:t>
                </a:r>
                <a:r>
                  <a:rPr lang="en-IN" sz="2400">
                    <a:solidFill>
                      <a:srgbClr val="111827"/>
                    </a:solidFill>
                    <a:latin typeface="Cambria Math" panose="02040503050406030204" pitchFamily="18" charset="0"/>
                  </a:rPr>
                  <a:t>$m-1$</a:t>
                </a:r>
                <a:r>
                  <a:rPr sz="2400" b="0">
                    <a:solidFill>
                      <a:srgbClr val="111827"/>
                    </a:solidFill>
                    <a:latin typeface="Arial"/>
                  </a:rPr>
                  <a:t> fail is </a:t>
                </a:r>
                <a:r>
                  <a:rPr lang="en-IN" sz="2400">
                    <a:solidFill>
                      <a:srgbClr val="111827"/>
                    </a:solidFill>
                    <a:latin typeface="Cambria Math" panose="02040503050406030204" pitchFamily="18" charset="0"/>
                  </a:rPr>
                  <a:t>$\frac{(m-1)!}{m^{m-1}}$</a:t>
                </a:r>
                <a:r>
                  <a:rPr sz="2400" b="0">
                    <a:solidFill>
                      <a:srgbClr val="111827"/>
                    </a:solidFill>
                    <a:latin typeface="Arial"/>
                  </a:rPr>
                  <a:t> (for </a:t>
                </a:r>
                <a:r>
                  <a:rPr lang="en-IN" sz="2400">
                    <a:solidFill>
                      <a:srgbClr val="111827"/>
                    </a:solidFill>
                    <a:latin typeface="Cambria Math" panose="02040503050406030204" pitchFamily="18" charset="0"/>
                  </a:rPr>
                  <a:t>$m=6$</a:t>
                </a:r>
                <a:r>
                  <a:rPr sz="2400" b="0">
                    <a:solidFill>
                      <a:srgbClr val="111827"/>
                    </a:solidFill>
                    <a:latin typeface="Arial"/>
                  </a:rPr>
                  <a:t>: </a:t>
                </a:r>
                <a:r>
                  <a:rPr lang="en-IN" sz="2400">
                    <a:solidFill>
                      <a:srgbClr val="111827"/>
                    </a:solidFill>
                    <a:latin typeface="Cambria Math" panose="02040503050406030204" pitchFamily="18" charset="0"/>
                  </a:rPr>
                  <a:t>$\frac{120}{7776}=\frac{5}{324}$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'win for sure' last player just inherits the probability that everyone before him fails.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Check by simulation-free arithmetic: </a:t>
                </a:r>
                <a:r>
                  <a:rPr lang="en-IN" sz="2400">
                    <a:solidFill>
                      <a:srgbClr val="111827"/>
                    </a:solidFill>
                    <a:latin typeface="Cambria Math" panose="02040503050406030204" pitchFamily="18" charset="0"/>
                  </a:rPr>
                  <a:t>$\frac{5\cdot4\cdot3\cdot2\cdot1}{6^5}=\frac{5}{324}$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fair coins are flipped once. The probability that at most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of the coins show up as heads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Find the value of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________</a:t>
                </a:r>
                <a:endParaRPr sz="2400">
                  <a:solidFill>
                    <a:srgbClr val="111827"/>
                  </a:solidFill>
                </a:endParaRPr>
              </a:p>
            </p:txBody>
          </p:sp>
        </mc:Choice>
        <mc:Fallback>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lang="en-IN" sz="2400">
                    <a:solidFill>
                      <a:srgbClr val="111827"/>
                    </a:solidFill>
                    <a:latin typeface="Cambria Math" panose="02040503050406030204" pitchFamily="18" charset="0"/>
                  </a:rPr>
                  <a:t>$N$</a:t>
                </a:r>
                <a:r>
                  <a:rPr sz="2400" b="0">
                    <a:solidFill>
                      <a:srgbClr val="111827"/>
                    </a:solidFill>
                    <a:latin typeface="Arial"/>
                  </a:rPr>
                  <a:t> fair coins are flipped once. The probability that at most </a:t>
                </a:r>
                <a:r>
                  <a:rPr lang="en-IN" sz="2400">
                    <a:solidFill>
                      <a:srgbClr val="111827"/>
                    </a:solidFill>
                    <a:latin typeface="Cambria Math" panose="02040503050406030204" pitchFamily="18" charset="0"/>
                  </a:rPr>
                  <a:t>$2$</a:t>
                </a:r>
                <a:r>
                  <a:rPr sz="2400" b="0">
                    <a:solidFill>
                      <a:srgbClr val="111827"/>
                    </a:solidFill>
                    <a:latin typeface="Arial"/>
                  </a:rPr>
                  <a:t> of the coins show up as heads is </a:t>
                </a:r>
                <a:r>
                  <a:rPr lang="en-IN" sz="2400">
                    <a:solidFill>
                      <a:srgbClr val="111827"/>
                    </a:solidFill>
                    <a:latin typeface="Cambria Math" panose="02040503050406030204" pitchFamily="18" charset="0"/>
                  </a:rPr>
                  <a:t>$\frac12$</a:t>
                </a:r>
                <a:r>
                  <a:rPr sz="2400" b="0">
                    <a:solidFill>
                      <a:srgbClr val="111827"/>
                    </a:solidFill>
                    <a:latin typeface="Arial"/>
                  </a:rPr>
                  <a:t>. Find the value of </a:t>
                </a:r>
                <a:r>
                  <a:rPr lang="en-IN" sz="2400">
                    <a:solidFill>
                      <a:srgbClr val="111827"/>
                    </a:solidFill>
                    <a:latin typeface="Cambria Math" panose="02040503050406030204" pitchFamily="18" charset="0"/>
                  </a:rPr>
                  <a:t>$N$</a:t>
                </a:r>
                <a:r>
                  <a:rPr sz="2400" b="0">
                    <a:solidFill>
                      <a:srgbClr val="111827"/>
                    </a:solidFill>
                    <a:latin typeface="Arial"/>
                  </a:rPr>
                  <a:t>. ________</a:t>
                </a:r>
                <a:endParaRPr sz="2400">
                  <a:solidFill>
                    <a:srgbClr val="111827"/>
                  </a:solidFill>
                </a:endParaRPr>
              </a:p>
            </p:txBody>
          </p:sp>
        </mc:Fallback>
      </mc:AlternateContent>
      <p:sp>
        <p:nvSpPr>
          <p:cNvPr id="5" name="Rectangle 4"/>
          <p:cNvSpPr/>
          <p:nvPr/>
        </p:nvSpPr>
        <p:spPr>
          <a:xfrm>
            <a:off x="731520" y="325475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distribution: probability of at most k heads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At most </a:t>
                </a:r>
                <a14:m>
                  <m:oMath xmlns:m="http://schemas.openxmlformats.org/officeDocument/2006/math">
                    <m:r>
                      <a:rPr lang="en-IN" sz="2400" i="1">
                        <a:solidFill>
                          <a:srgbClr val="78350F"/>
                        </a:solidFill>
                        <a:latin typeface="Cambria Math" panose="02040503050406030204" pitchFamily="18" charset="0"/>
                      </a:rPr>
                      <m:t>2</m:t>
                    </m:r>
                  </m:oMath>
                </a14:m>
                <a:r>
                  <a:rPr sz="2400" b="0">
                    <a:solidFill>
                      <a:srgbClr val="78350F"/>
                    </a:solidFill>
                    <a:latin typeface="Arial"/>
                  </a:rPr>
                  <a:t> heads gives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f>
                              <m:fPr>
                                <m:type m:val="no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𝑁</m:t>
                                </m:r>
                              </m:num>
                              <m:den>
                                <m:r>
                                  <a:rPr lang="en-IN" sz="2400" i="1">
                                    <a:solidFill>
                                      <a:srgbClr val="78350F"/>
                                    </a:solidFill>
                                    <a:latin typeface="Cambria Math" panose="02040503050406030204" pitchFamily="18" charset="0"/>
                                  </a:rPr>
                                  <m:t>2</m:t>
                                </m:r>
                              </m:den>
                            </m:f>
                          </m:e>
                        </m:d>
                      </m:num>
                      <m:den>
                        <m:sSup>
                          <m:e>
                            <m:r>
                              <a:rPr lang="en-IN" sz="2400" i="1">
                                <a:solidFill>
                                  <a:srgbClr val="78350F"/>
                                </a:solidFill>
                                <a:latin typeface="Cambria Math" panose="02040503050406030204" pitchFamily="18" charset="0"/>
                              </a:rPr>
                              <m:t>2</m:t>
                            </m:r>
                          </m:e>
                          <m:sup>
                            <m:r>
                              <a:rPr lang="en-IN" sz="2400" i="1">
                                <a:solidFill>
                                  <a:srgbClr val="78350F"/>
                                </a:solidFill>
                                <a:latin typeface="Cambria Math" panose="02040503050406030204" pitchFamily="18" charset="0"/>
                              </a:rPr>
                              <m:t>𝑁</m:t>
                            </m:r>
                          </m:sup>
                        </m:sSup>
                      </m:den>
                    </m:f>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i.e. </a:t>
                </a:r>
                <a14:m>
                  <m:oMath xmlns:m="http://schemas.openxmlformats.org/officeDocument/2006/math">
                    <m:sSup>
                      <m:e>
                        <m:r>
                          <a:rPr lang="en-IN" sz="2400" i="1">
                            <a:solidFill>
                              <a:srgbClr val="78350F"/>
                            </a:solidFill>
                            <a:latin typeface="Cambria Math" panose="02040503050406030204" pitchFamily="18" charset="0"/>
                          </a:rPr>
                          <m:t>𝑁</m:t>
                        </m:r>
                      </m:e>
                      <m:sup>
                        <m:r>
                          <a:rPr lang="en-IN" sz="2400" i="1">
                            <a:solidFill>
                              <a:srgbClr val="78350F"/>
                            </a:solidFill>
                            <a:latin typeface="Cambria Math" panose="02040503050406030204" pitchFamily="18" charset="0"/>
                          </a:rPr>
                          <m:t>2</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2</m:t>
                        </m:r>
                      </m:e>
                      <m:sup>
                        <m:r>
                          <a:rPr lang="en-IN" sz="2400" i="1">
                            <a:solidFill>
                              <a:srgbClr val="78350F"/>
                            </a:solidFill>
                            <a:latin typeface="Cambria Math" panose="02040503050406030204" pitchFamily="18" charset="0"/>
                          </a:rPr>
                          <m:t>𝑁</m:t>
                        </m:r>
                      </m:sup>
                    </m:sSup>
                  </m:oMath>
                </a14:m>
                <a:r>
                  <a:rPr sz="2400" b="0">
                    <a:solidFill>
                      <a:srgbClr val="78350F"/>
                    </a:solidFill>
                    <a:latin typeface="Arial"/>
                  </a:rPr>
                  <a:t>, which holds only at </a:t>
                </a:r>
                <a14:m>
                  <m:oMath xmlns:m="http://schemas.openxmlformats.org/officeDocument/2006/math">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At most </a:t>
                </a:r>
                <a:r>
                  <a:rPr lang="en-IN" sz="2400">
                    <a:solidFill>
                      <a:srgbClr val="78350F"/>
                    </a:solidFill>
                    <a:latin typeface="Cambria Math" panose="02040503050406030204" pitchFamily="18" charset="0"/>
                  </a:rPr>
                  <a:t>$2$</a:t>
                </a:r>
                <a:r>
                  <a:rPr sz="2400" b="0">
                    <a:solidFill>
                      <a:srgbClr val="78350F"/>
                    </a:solidFill>
                    <a:latin typeface="Arial"/>
                  </a:rPr>
                  <a:t> heads gives </a:t>
                </a:r>
                <a:r>
                  <a:rPr lang="en-IN" sz="2400">
                    <a:solidFill>
                      <a:srgbClr val="78350F"/>
                    </a:solidFill>
                    <a:latin typeface="Cambria Math" panose="02040503050406030204" pitchFamily="18" charset="0"/>
                  </a:rPr>
                  <a:t>$\frac{1+N+\binom N2}{2^N}=\frac12$</a:t>
                </a:r>
                <a:r>
                  <a:rPr sz="2400" b="0">
                    <a:solidFill>
                      <a:srgbClr val="78350F"/>
                    </a:solidFill>
                    <a:latin typeface="Arial"/>
                  </a:rPr>
                  <a:t>, i.e. </a:t>
                </a:r>
                <a:r>
                  <a:rPr lang="en-IN" sz="2400">
                    <a:solidFill>
                      <a:srgbClr val="78350F"/>
                    </a:solidFill>
                    <a:latin typeface="Cambria Math" panose="02040503050406030204" pitchFamily="18" charset="0"/>
                  </a:rPr>
                  <a:t>$N^2+N+2=2^N$</a:t>
                </a:r>
                <a:r>
                  <a:rPr sz="2400" b="0">
                    <a:solidFill>
                      <a:srgbClr val="78350F"/>
                    </a:solidFill>
                    <a:latin typeface="Arial"/>
                  </a:rPr>
                  <a:t>, which holds only at </a:t>
                </a:r>
                <a:r>
                  <a:rPr lang="en-IN" sz="2400">
                    <a:solidFill>
                      <a:srgbClr val="78350F"/>
                    </a:solidFill>
                    <a:latin typeface="Cambria Math" panose="02040503050406030204" pitchFamily="18" charset="0"/>
                  </a:rPr>
                  <a:t>$N=5$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nor/>
                      </m:rPr>
                      <a:rPr lang="en-IN" sz="2400" i="1">
                        <a:solidFill>
                          <a:srgbClr val="111827"/>
                        </a:solidFill>
                        <a:latin typeface="Cambria Math" panose="02040503050406030204" pitchFamily="18" charset="0"/>
                      </a:rPr>
                      <m:t> ℎ𝑒𝑎𝑑𝑠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nor/>
                      </m:rPr>
                      <a:rPr lang="en-IN" sz="2400" i="1">
                        <a:solidFill>
                          <a:srgbClr val="111827"/>
                        </a:solidFill>
                        <a:latin typeface="Cambria Math" panose="02040503050406030204" pitchFamily="18" charset="0"/>
                      </a:rPr>
                      <m:t> ℎ𝑒𝑎𝑑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1</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𝑁</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nor/>
                      </m:rPr>
                      <a:rPr lang="en-IN" sz="2400" i="1">
                        <a:solidFill>
                          <a:srgbClr val="111827"/>
                        </a:solidFill>
                        <a:latin typeface="Cambria Math" panose="02040503050406030204" pitchFamily="18" charset="0"/>
                      </a:rPr>
                      <m:t> ℎ𝑒𝑎𝑑𝑠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2</m:t>
                            </m:r>
                          </m:den>
                        </m:f>
                      </m:e>
                    </m:d>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𝑁</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𝑎𝑡 𝑚𝑜𝑠𝑡 </m:t>
                    </m:r>
                    <m:r>
                      <a:rPr lang="en-IN" sz="2400" i="1">
                        <a:solidFill>
                          <a:srgbClr val="111827"/>
                        </a:solidFill>
                        <a:latin typeface="Cambria Math" panose="02040503050406030204" pitchFamily="18" charset="0"/>
                      </a:rPr>
                      <m:t>2</m:t>
                    </m:r>
                    <m:r>
                      <m:rPr>
                        <m:nor/>
                      </m:rPr>
                      <a:rPr lang="en-IN" sz="2400" i="1">
                        <a:solidFill>
                          <a:srgbClr val="111827"/>
                        </a:solidFill>
                        <a:latin typeface="Cambria Math" panose="02040503050406030204" pitchFamily="18" charset="0"/>
                      </a:rPr>
                      <m:t> ℎ𝑒𝑎𝑑𝑠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e>
                      <m:sup>
                        <m:r>
                          <a:rPr lang="en-IN" sz="2400" i="1">
                            <a:solidFill>
                              <a:srgbClr val="111827"/>
                            </a:solidFill>
                            <a:latin typeface="Cambria Math" panose="02040503050406030204" pitchFamily="18" charset="0"/>
                          </a:rPr>
                          <m:t>𝑁</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$P(0\text{ heads})=\left(\frac12\right)^N$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$P(1\text{ head})=\binom N1\left(\frac12\right)^N=N\left(\frac12\right)^N$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$P(2\text{ heads})=\binom N2\left(\frac12\right)^N=\frac{N(N-1)}{2}\left(\frac12\right)^N$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$P(\text{at most }2\text{ heads})=\left(\frac12\right)^N\left[1+N+\frac{N(N-1)}{2}\right]=\frac12$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meet at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the graph shows no other positive integer solution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do not satisfy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Multiply by </a:t>
                </a:r>
                <a:r>
                  <a:rPr lang="en-IN" sz="2400">
                    <a:solidFill>
                      <a:srgbClr val="111827"/>
                    </a:solidFill>
                    <a:latin typeface="Cambria Math" panose="02040503050406030204" pitchFamily="18" charset="0"/>
                  </a:rPr>
                  <a:t>$2^{N+1}$</a:t>
                </a:r>
                <a:r>
                  <a:rPr sz="2400" b="0">
                    <a:solidFill>
                      <a:srgbClr val="111827"/>
                    </a:solidFill>
                    <a:latin typeface="Arial"/>
                  </a:rPr>
                  <a:t>: </a:t>
                </a:r>
                <a:r>
                  <a:rPr lang="en-IN" sz="2400">
                    <a:solidFill>
                      <a:srgbClr val="111827"/>
                    </a:solidFill>
                    <a:latin typeface="Cambria Math" panose="02040503050406030204" pitchFamily="18" charset="0"/>
                  </a:rPr>
                  <a:t>$2\left[1+N+\frac{N(N-1)}{2}\right]=2^N$</a:t>
                </a:r>
                <a:r>
                  <a:rPr sz="2400" b="0">
                    <a:solidFill>
                      <a:srgbClr val="111827"/>
                    </a:solidFill>
                    <a:latin typeface="Arial"/>
                  </a:rPr>
                  <a:t>, i.e. </a:t>
                </a:r>
                <a:r>
                  <a:rPr lang="en-IN" sz="2400">
                    <a:solidFill>
                      <a:srgbClr val="111827"/>
                    </a:solidFill>
                    <a:latin typeface="Cambria Math" panose="02040503050406030204" pitchFamily="18" charset="0"/>
                  </a:rPr>
                  <a:t>$N^2+N+2=2^N$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curves </a:t>
                </a:r>
                <a:r>
                  <a:rPr lang="en-IN" sz="2400">
                    <a:solidFill>
                      <a:srgbClr val="111827"/>
                    </a:solidFill>
                    <a:latin typeface="Cambria Math" panose="02040503050406030204" pitchFamily="18" charset="0"/>
                  </a:rPr>
                  <a:t>$y=2^N$</a:t>
                </a:r>
                <a:r>
                  <a:rPr sz="2400" b="0">
                    <a:solidFill>
                      <a:srgbClr val="111827"/>
                    </a:solidFill>
                    <a:latin typeface="Arial"/>
                  </a:rPr>
                  <a:t> and </a:t>
                </a:r>
                <a:r>
                  <a:rPr lang="en-IN" sz="2400">
                    <a:solidFill>
                      <a:srgbClr val="111827"/>
                    </a:solidFill>
                    <a:latin typeface="Cambria Math" panose="02040503050406030204" pitchFamily="18" charset="0"/>
                  </a:rPr>
                  <a:t>$y=N^2+N+2$</a:t>
                </a:r>
                <a:r>
                  <a:rPr sz="2400" b="0">
                    <a:solidFill>
                      <a:srgbClr val="111827"/>
                    </a:solidFill>
                    <a:latin typeface="Arial"/>
                  </a:rPr>
                  <a:t> meet at </a:t>
                </a:r>
                <a:r>
                  <a:rPr lang="en-IN" sz="2400">
                    <a:solidFill>
                      <a:srgbClr val="111827"/>
                    </a:solidFill>
                    <a:latin typeface="Cambria Math" panose="02040503050406030204" pitchFamily="18" charset="0"/>
                  </a:rPr>
                  <a:t>$N=5$</a:t>
                </a:r>
                <a:r>
                  <a:rPr sz="2400" b="0">
                    <a:solidFill>
                      <a:srgbClr val="111827"/>
                    </a:solidFill>
                    <a:latin typeface="Arial"/>
                  </a:rPr>
                  <a:t> (</a:t>
                </a:r>
                <a:r>
                  <a:rPr lang="en-IN" sz="2400">
                    <a:solidFill>
                      <a:srgbClr val="111827"/>
                    </a:solidFill>
                    <a:latin typeface="Cambria Math" panose="02040503050406030204" pitchFamily="18" charset="0"/>
                  </a:rPr>
                  <a:t>$32=25+5+2$</a:t>
                </a:r>
                <a:r>
                  <a:rPr sz="2400" b="0">
                    <a:solidFill>
                      <a:srgbClr val="111827"/>
                    </a:solidFill>
                    <a:latin typeface="Arial"/>
                  </a:rPr>
                  <a:t>); the graph shows no other positive integer solution (</a:t>
                </a:r>
                <a:r>
                  <a:rPr lang="en-IN" sz="2400">
                    <a:solidFill>
                      <a:srgbClr val="111827"/>
                    </a:solidFill>
                    <a:latin typeface="Cambria Math" panose="02040503050406030204" pitchFamily="18" charset="0"/>
                  </a:rPr>
                  <a:t>$N=1,2,3,4$</a:t>
                </a:r>
                <a:r>
                  <a:rPr sz="2400" b="0">
                    <a:solidFill>
                      <a:srgbClr val="111827"/>
                    </a:solidFill>
                    <a:latin typeface="Arial"/>
                  </a:rPr>
                  <a:t> and </a:t>
                </a:r>
                <a:r>
                  <a:rPr lang="en-IN" sz="2400">
                    <a:solidFill>
                      <a:srgbClr val="111827"/>
                    </a:solidFill>
                    <a:latin typeface="Cambria Math" panose="02040503050406030204" pitchFamily="18" charset="0"/>
                  </a:rPr>
                  <a:t>$N\ge6$</a:t>
                </a:r>
                <a:r>
                  <a:rPr sz="2400" b="0">
                    <a:solidFill>
                      <a:srgbClr val="111827"/>
                    </a:solidFill>
                    <a:latin typeface="Arial"/>
                  </a:rPr>
                  <a:t> do not satisfy it).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$N=5$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odd </a:t>
                </a:r>
                <a14:m>
                  <m:oMath xmlns:m="http://schemas.openxmlformats.org/officeDocument/2006/math">
                    <m:r>
                      <a:rPr lang="en-IN" sz="2400" i="1">
                        <a:solidFill>
                          <a:srgbClr val="78350F"/>
                        </a:solidFill>
                        <a:latin typeface="Cambria Math" panose="02040503050406030204" pitchFamily="18" charset="0"/>
                      </a:rPr>
                      <m:t>𝑁</m:t>
                    </m:r>
                  </m:oMath>
                </a14:m>
                <a:r>
                  <a:rPr sz="2400" b="0">
                    <a:solidFill>
                      <a:srgbClr val="78350F"/>
                    </a:solidFill>
                    <a:latin typeface="Arial"/>
                  </a:rPr>
                  <a:t> the distribution is symmetric, so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nor/>
                      </m:rPr>
                      <a:rPr lang="en-IN" sz="2400" i="1">
                        <a:solidFill>
                          <a:srgbClr val="78350F"/>
                        </a:solidFill>
                        <a:latin typeface="Cambria Math" panose="02040503050406030204" pitchFamily="18" charset="0"/>
                      </a:rPr>
                      <m:t>ℎ𝑒𝑎𝑑𝑠</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this forces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𝑁</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2</m:t>
                        </m:r>
                      </m:den>
                    </m:f>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odd </a:t>
                </a:r>
                <a:r>
                  <a:rPr lang="en-IN" sz="2400">
                    <a:solidFill>
                      <a:srgbClr val="78350F"/>
                    </a:solidFill>
                    <a:latin typeface="Cambria Math" panose="02040503050406030204" pitchFamily="18" charset="0"/>
                  </a:rPr>
                  <a:t>$N$</a:t>
                </a:r>
                <a:r>
                  <a:rPr sz="2400" b="0">
                    <a:solidFill>
                      <a:srgbClr val="78350F"/>
                    </a:solidFill>
                    <a:latin typeface="Arial"/>
                  </a:rPr>
                  <a:t> the distribution is symmetric, so </a:t>
                </a:r>
                <a:r>
                  <a:rPr lang="en-IN" sz="2400">
                    <a:solidFill>
                      <a:srgbClr val="78350F"/>
                    </a:solidFill>
                    <a:latin typeface="Cambria Math" panose="02040503050406030204" pitchFamily="18" charset="0"/>
                  </a:rPr>
                  <a:t>$P(\text{heads}\le\frac{N-1}{2})=\frac12$</a:t>
                </a:r>
                <a:r>
                  <a:rPr sz="2400" b="0">
                    <a:solidFill>
                      <a:srgbClr val="78350F"/>
                    </a:solidFill>
                    <a:latin typeface="Arial"/>
                  </a:rPr>
                  <a:t>; this forces </a:t>
                </a:r>
                <a:r>
                  <a:rPr lang="en-IN" sz="2400">
                    <a:solidFill>
                      <a:srgbClr val="78350F"/>
                    </a:solidFill>
                    <a:latin typeface="Cambria Math" panose="02040503050406030204" pitchFamily="18" charset="0"/>
                  </a:rPr>
                  <a:t>$\frac{N-1}{2}=2$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symmetry of fair coins, heads and tails have the same distribution: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odd, then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two are equal,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exactly.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strictly increases with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so for odd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it equals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only when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We need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symmetry of fair coins, heads and tails have the same distribution: </a:t>
                </a:r>
                <a:r>
                  <a:rPr lang="en-IN" sz="2400">
                    <a:solidFill>
                      <a:srgbClr val="111827"/>
                    </a:solidFill>
                    <a:latin typeface="Cambria Math" panose="02040503050406030204" pitchFamily="18" charset="0"/>
                  </a:rPr>
                  <a:t>$P(H\le k)=P(H\ge N-k)$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$N=2m+1$</a:t>
                </a:r>
                <a:r>
                  <a:rPr sz="2400" b="0">
                    <a:solidFill>
                      <a:srgbClr val="111827"/>
                    </a:solidFill>
                    <a:latin typeface="Arial"/>
                  </a:rPr>
                  <a:t> is odd, then </a:t>
                </a:r>
                <a:r>
                  <a:rPr lang="en-IN" sz="2400">
                    <a:solidFill>
                      <a:srgbClr val="111827"/>
                    </a:solidFill>
                    <a:latin typeface="Cambria Math" panose="02040503050406030204" pitchFamily="18" charset="0"/>
                  </a:rPr>
                  <a:t>$P(H\le m)+P(H\ge m+1)=1$</a:t>
                </a:r>
                <a:r>
                  <a:rPr sz="2400" b="0">
                    <a:solidFill>
                      <a:srgbClr val="111827"/>
                    </a:solidFill>
                    <a:latin typeface="Arial"/>
                  </a:rPr>
                  <a:t> and the two are equal, so </a:t>
                </a:r>
                <a:r>
                  <a:rPr lang="en-IN" sz="2400">
                    <a:solidFill>
                      <a:srgbClr val="111827"/>
                    </a:solidFill>
                    <a:latin typeface="Cambria Math" panose="02040503050406030204" pitchFamily="18" charset="0"/>
                  </a:rPr>
                  <a:t>$P(H\le m)=\frac12$</a:t>
                </a:r>
                <a:r>
                  <a:rPr sz="2400" b="0">
                    <a:solidFill>
                      <a:srgbClr val="111827"/>
                    </a:solidFill>
                    <a:latin typeface="Arial"/>
                  </a:rPr>
                  <a:t> exactly.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$P(H\le k)$</a:t>
                </a:r>
                <a:r>
                  <a:rPr sz="2400" b="0">
                    <a:solidFill>
                      <a:srgbClr val="111827"/>
                    </a:solidFill>
                    <a:latin typeface="Arial"/>
                  </a:rPr>
                  <a:t> strictly increases with </a:t>
                </a:r>
                <a:r>
                  <a:rPr lang="en-IN" sz="2400">
                    <a:solidFill>
                      <a:srgbClr val="111827"/>
                    </a:solidFill>
                    <a:latin typeface="Cambria Math" panose="02040503050406030204" pitchFamily="18" charset="0"/>
                  </a:rPr>
                  <a:t>$k$</a:t>
                </a:r>
                <a:r>
                  <a:rPr sz="2400" b="0">
                    <a:solidFill>
                      <a:srgbClr val="111827"/>
                    </a:solidFill>
                    <a:latin typeface="Arial"/>
                  </a:rPr>
                  <a:t>, so for odd </a:t>
                </a:r>
                <a:r>
                  <a:rPr lang="en-IN" sz="2400">
                    <a:solidFill>
                      <a:srgbClr val="111827"/>
                    </a:solidFill>
                    <a:latin typeface="Cambria Math" panose="02040503050406030204" pitchFamily="18" charset="0"/>
                  </a:rPr>
                  <a:t>$N$</a:t>
                </a:r>
                <a:r>
                  <a:rPr sz="2400" b="0">
                    <a:solidFill>
                      <a:srgbClr val="111827"/>
                    </a:solidFill>
                    <a:latin typeface="Arial"/>
                  </a:rPr>
                  <a:t> it equals </a:t>
                </a:r>
                <a:r>
                  <a:rPr lang="en-IN" sz="2400">
                    <a:solidFill>
                      <a:srgbClr val="111827"/>
                    </a:solidFill>
                    <a:latin typeface="Cambria Math" panose="02040503050406030204" pitchFamily="18" charset="0"/>
                  </a:rPr>
                  <a:t>$\frac12$</a:t>
                </a:r>
                <a:r>
                  <a:rPr sz="2400" b="0">
                    <a:solidFill>
                      <a:srgbClr val="111827"/>
                    </a:solidFill>
                    <a:latin typeface="Arial"/>
                  </a:rPr>
                  <a:t> only when </a:t>
                </a:r>
                <a:r>
                  <a:rPr lang="en-IN" sz="2400">
                    <a:solidFill>
                      <a:srgbClr val="111827"/>
                    </a:solidFill>
                    <a:latin typeface="Cambria Math" panose="02040503050406030204" pitchFamily="18" charset="0"/>
                  </a:rPr>
                  <a:t>$k=m=\frac{N-1}{2}$</a:t>
                </a:r>
                <a:r>
                  <a:rPr sz="2400" b="0">
                    <a:solidFill>
                      <a:srgbClr val="111827"/>
                    </a:solidFill>
                    <a:latin typeface="Arial"/>
                  </a:rPr>
                  <a:t>. We need </a:t>
                </a:r>
                <a:r>
                  <a:rPr lang="en-IN" sz="2400">
                    <a:solidFill>
                      <a:srgbClr val="111827"/>
                    </a:solidFill>
                    <a:latin typeface="Cambria Math" panose="02040503050406030204" pitchFamily="18" charset="0"/>
                  </a:rPr>
                  <a:t>$k=2$</a:t>
                </a:r>
                <a:r>
                  <a:rPr sz="2400" b="0">
                    <a:solidFill>
                      <a:srgbClr val="111827"/>
                    </a:solidFill>
                    <a:latin typeface="Arial"/>
                  </a:rPr>
                  <a:t>, so </a:t>
                </a:r>
                <a:r>
                  <a:rPr lang="en-IN" sz="2400">
                    <a:solidFill>
                      <a:srgbClr val="111827"/>
                    </a:solidFill>
                    <a:latin typeface="Cambria Math" panose="02040503050406030204" pitchFamily="18" charset="0"/>
                  </a:rPr>
                  <a:t>$N=5$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even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middle term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𝑚</m:t>
                            </m:r>
                          </m:den>
                        </m:f>
                      </m:e>
                    </m:d>
                    <m:sSup>
                      <m:e>
                        <m:r>
                          <a:rPr lang="en-IN" sz="2400" i="1">
                            <a:solidFill>
                              <a:srgbClr val="111827"/>
                            </a:solidFill>
                            <a:latin typeface="Cambria Math" panose="02040503050406030204" pitchFamily="18" charset="0"/>
                          </a:rPr>
                          <m:t>2</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0</m:t>
                    </m:r>
                  </m:oMath>
                </a14:m>
                <a:r>
                  <a:rPr sz="2400" b="0">
                    <a:solidFill>
                      <a:srgbClr val="111827"/>
                    </a:solidFill>
                    <a:latin typeface="Arial"/>
                  </a:rPr>
                  <a:t> is split), so no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gives exactly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which matches </a:t>
                </a:r>
                <a14:m>
                  <m:oMath xmlns:m="http://schemas.openxmlformats.org/officeDocument/2006/math">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32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even </a:t>
                </a:r>
                <a:r>
                  <a:rPr lang="en-IN" sz="2400">
                    <a:solidFill>
                      <a:srgbClr val="111827"/>
                    </a:solidFill>
                    <a:latin typeface="Cambria Math" panose="02040503050406030204" pitchFamily="18" charset="0"/>
                  </a:rPr>
                  <a:t>$N=2m$</a:t>
                </a:r>
                <a:r>
                  <a:rPr sz="2400" b="0">
                    <a:solidFill>
                      <a:srgbClr val="111827"/>
                    </a:solidFill>
                    <a:latin typeface="Arial"/>
                  </a:rPr>
                  <a:t>: </a:t>
                </a:r>
                <a:r>
                  <a:rPr lang="en-IN" sz="2400">
                    <a:solidFill>
                      <a:srgbClr val="111827"/>
                    </a:solidFill>
                    <a:latin typeface="Cambria Math" panose="02040503050406030204" pitchFamily="18" charset="0"/>
                  </a:rPr>
                  <a:t>$P(H\le m-1)&lt;\frac12&lt;P(H\le m)$</a:t>
                </a:r>
                <a:r>
                  <a:rPr sz="2400" b="0">
                    <a:solidFill>
                      <a:srgbClr val="111827"/>
                    </a:solidFill>
                    <a:latin typeface="Arial"/>
                  </a:rPr>
                  <a:t> (the middle term </a:t>
                </a:r>
                <a:r>
                  <a:rPr lang="en-IN" sz="2400">
                    <a:solidFill>
                      <a:srgbClr val="111827"/>
                    </a:solidFill>
                    <a:latin typeface="Cambria Math" panose="02040503050406030204" pitchFamily="18" charset="0"/>
                  </a:rPr>
                  <a:t>$\binom{N}{m}2^{-N}&gt;0$</a:t>
                </a:r>
                <a:r>
                  <a:rPr sz="2400" b="0">
                    <a:solidFill>
                      <a:srgbClr val="111827"/>
                    </a:solidFill>
                    <a:latin typeface="Arial"/>
                  </a:rPr>
                  <a:t> is split), so no </a:t>
                </a:r>
                <a:r>
                  <a:rPr lang="en-IN" sz="2400">
                    <a:solidFill>
                      <a:srgbClr val="111827"/>
                    </a:solidFill>
                    <a:latin typeface="Cambria Math" panose="02040503050406030204" pitchFamily="18" charset="0"/>
                  </a:rPr>
                  <a:t>$k$</a:t>
                </a:r>
                <a:r>
                  <a:rPr sz="2400" b="0">
                    <a:solidFill>
                      <a:srgbClr val="111827"/>
                    </a:solidFill>
                    <a:latin typeface="Arial"/>
                  </a:rPr>
                  <a:t> gives exactly </a:t>
                </a:r>
                <a:r>
                  <a:rPr lang="en-IN" sz="2400">
                    <a:solidFill>
                      <a:srgbClr val="111827"/>
                    </a:solidFill>
                    <a:latin typeface="Cambria Math" panose="02040503050406030204" pitchFamily="18" charset="0"/>
                  </a:rPr>
                  <a:t>$\frac12$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$N=5$</a:t>
                </a:r>
                <a:r>
                  <a:rPr sz="2400" b="0">
                    <a:solidFill>
                      <a:srgbClr val="111827"/>
                    </a:solidFill>
                    <a:latin typeface="Arial"/>
                  </a:rPr>
                  <a:t>, which matches </a:t>
                </a:r>
                <a:r>
                  <a:rPr lang="en-IN" sz="2400">
                    <a:solidFill>
                      <a:srgbClr val="111827"/>
                    </a:solidFill>
                    <a:latin typeface="Cambria Math" panose="02040503050406030204" pitchFamily="18" charset="0"/>
                  </a:rPr>
                  <a:t>$N^2+N+2=2^N$</a:t>
                </a:r>
                <a:r>
                  <a:rPr sz="2400" b="0">
                    <a:solidFill>
                      <a:srgbClr val="111827"/>
                    </a:solidFill>
                    <a:latin typeface="Arial"/>
                  </a:rPr>
                  <a:t> (</a:t>
                </a:r>
                <a:r>
                  <a:rPr lang="en-IN" sz="2400">
                    <a:solidFill>
                      <a:srgbClr val="111827"/>
                    </a:solidFill>
                    <a:latin typeface="Cambria Math" panose="02040503050406030204" pitchFamily="18" charset="0"/>
                  </a:rPr>
                  <a:t>$32=32$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fair coins,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𝑎𝑡 𝑚𝑜𝑠𝑡 </m:t>
                    </m:r>
                    <m:r>
                      <a:rPr lang="en-IN" sz="2400" i="1">
                        <a:solidFill>
                          <a:srgbClr val="111827"/>
                        </a:solidFill>
                        <a:latin typeface="Cambria Math" panose="02040503050406030204" pitchFamily="18" charset="0"/>
                      </a:rPr>
                      <m:t>𝑚</m:t>
                    </m:r>
                    <m:r>
                      <m:rPr>
                        <m:nor/>
                      </m:rPr>
                      <a:rPr lang="en-IN" sz="2400" i="1">
                        <a:solidFill>
                          <a:srgbClr val="111827"/>
                        </a:solidFill>
                        <a:latin typeface="Cambria Math" panose="02040503050406030204" pitchFamily="18" charset="0"/>
                      </a:rPr>
                      <m:t> ℎ𝑒𝑎𝑑𝑠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exactly, by symmetry.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𝑎𝑡 𝑚𝑜𝑠𝑡 </m:t>
                    </m:r>
                    <m:r>
                      <a:rPr lang="en-IN" sz="2400" i="1">
                        <a:solidFill>
                          <a:srgbClr val="111827"/>
                        </a:solidFill>
                        <a:latin typeface="Cambria Math" panose="02040503050406030204" pitchFamily="18" charset="0"/>
                      </a:rPr>
                      <m:t>𝑘</m:t>
                    </m:r>
                    <m:r>
                      <m:rPr>
                        <m:nor/>
                      </m:rPr>
                      <a:rPr lang="en-IN" sz="2400" i="1">
                        <a:solidFill>
                          <a:srgbClr val="111827"/>
                        </a:solidFill>
                        <a:latin typeface="Cambria Math" panose="02040503050406030204" pitchFamily="18" charset="0"/>
                      </a:rPr>
                      <m:t> ℎ𝑒𝑎𝑑𝑠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has a solution in </a:t>
                </a:r>
                <a14:m>
                  <m:oMath xmlns:m="http://schemas.openxmlformats.org/officeDocument/2006/math">
                    <m:r>
                      <a:rPr lang="en-IN" sz="2400" i="1">
                        <a:solidFill>
                          <a:srgbClr val="111827"/>
                        </a:solidFill>
                        <a:latin typeface="Cambria Math" panose="02040503050406030204" pitchFamily="18" charset="0"/>
                      </a:rPr>
                      <m:t>𝑁</m:t>
                    </m:r>
                  </m:oMath>
                </a14:m>
                <a:r>
                  <a:rPr sz="2400" b="0">
                    <a:solidFill>
                      <a:srgbClr val="111827"/>
                    </a:solidFill>
                    <a:latin typeface="Arial"/>
                  </a:rPr>
                  <a:t> only for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0</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equation </a:t>
                </a:r>
                <a14:m>
                  <m:oMath xmlns:m="http://schemas.openxmlformats.org/officeDocument/2006/math">
                    <m:sSup>
                      <m:e>
                        <m:r>
                          <a:rPr lang="en-IN" sz="2400" i="1">
                            <a:solidFill>
                              <a:srgbClr val="111827"/>
                            </a:solidFill>
                            <a:latin typeface="Cambria Math" panose="02040503050406030204" pitchFamily="18" charset="0"/>
                          </a:rPr>
                          <m:t>𝑁</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𝑁</m:t>
                        </m:r>
                      </m:sup>
                    </m:sSup>
                  </m:oMath>
                </a14:m>
                <a:r>
                  <a:rPr sz="2400" b="0">
                    <a:solidFill>
                      <a:srgbClr val="111827"/>
                    </a:solidFill>
                    <a:latin typeface="Arial"/>
                  </a:rPr>
                  <a:t> has the unique integer solution </a:t>
                </a:r>
                <a14:m>
                  <m:oMath xmlns:m="http://schemas.openxmlformats.org/officeDocument/2006/math">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(checked for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𝑁</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30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$N=2m+1$</a:t>
                </a:r>
                <a:r>
                  <a:rPr sz="2400" b="0">
                    <a:solidFill>
                      <a:srgbClr val="111827"/>
                    </a:solidFill>
                    <a:latin typeface="Arial"/>
                  </a:rPr>
                  <a:t> fair coins, </a:t>
                </a:r>
                <a:r>
                  <a:rPr lang="en-IN" sz="2400">
                    <a:solidFill>
                      <a:srgbClr val="111827"/>
                    </a:solidFill>
                    <a:latin typeface="Cambria Math" panose="02040503050406030204" pitchFamily="18" charset="0"/>
                  </a:rPr>
                  <a:t>$P(\text{at most }m\text{ heads})=\frac12$</a:t>
                </a:r>
                <a:r>
                  <a:rPr sz="2400" b="0">
                    <a:solidFill>
                      <a:srgbClr val="111827"/>
                    </a:solidFill>
                    <a:latin typeface="Arial"/>
                  </a:rPr>
                  <a:t> exactly, by symmetry.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$P(\text{at most }k\text{ heads})=\frac12$</a:t>
                </a:r>
                <a:r>
                  <a:rPr sz="2400" b="0">
                    <a:solidFill>
                      <a:srgbClr val="111827"/>
                    </a:solidFill>
                    <a:latin typeface="Arial"/>
                  </a:rPr>
                  <a:t> has a solution in </a:t>
                </a:r>
                <a:r>
                  <a:rPr lang="en-IN" sz="2400">
                    <a:solidFill>
                      <a:srgbClr val="111827"/>
                    </a:solidFill>
                    <a:latin typeface="Cambria Math" panose="02040503050406030204" pitchFamily="18" charset="0"/>
                  </a:rPr>
                  <a:t>$N$</a:t>
                </a:r>
                <a:r>
                  <a:rPr sz="2400" b="0">
                    <a:solidFill>
                      <a:srgbClr val="111827"/>
                    </a:solidFill>
                    <a:latin typeface="Arial"/>
                  </a:rPr>
                  <a:t> only for </a:t>
                </a:r>
                <a:r>
                  <a:rPr lang="en-IN" sz="2400">
                    <a:solidFill>
                      <a:srgbClr val="111827"/>
                    </a:solidFill>
                    <a:latin typeface="Cambria Math" panose="02040503050406030204" pitchFamily="18" charset="0"/>
                  </a:rPr>
                  <a:t>$N=2k+1$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$\binom N0+\binom N1+\binom N2=1+N+\frac{N(N-1)}{2}=\frac{N^2+N+2}{2}$</a:t>
                </a:r>
                <a:r>
                  <a:rPr sz="2400" b="0">
                    <a:solidFill>
                      <a:srgbClr val="111827"/>
                    </a:solidFill>
                    <a:latin typeface="Arial"/>
                  </a:rPr>
                  <a:t>; the equation </a:t>
                </a:r>
                <a:r>
                  <a:rPr lang="en-IN" sz="2400">
                    <a:solidFill>
                      <a:srgbClr val="111827"/>
                    </a:solidFill>
                    <a:latin typeface="Cambria Math" panose="02040503050406030204" pitchFamily="18" charset="0"/>
                  </a:rPr>
                  <a:t>$N^2+N+2=2^N$</a:t>
                </a:r>
                <a:r>
                  <a:rPr sz="2400" b="0">
                    <a:solidFill>
                      <a:srgbClr val="111827"/>
                    </a:solidFill>
                    <a:latin typeface="Arial"/>
                  </a:rPr>
                  <a:t> has the unique integer solution </a:t>
                </a:r>
                <a:r>
                  <a:rPr lang="en-IN" sz="2400">
                    <a:solidFill>
                      <a:srgbClr val="111827"/>
                    </a:solidFill>
                    <a:latin typeface="Cambria Math" panose="02040503050406030204" pitchFamily="18" charset="0"/>
                  </a:rPr>
                  <a:t>$N=5$</a:t>
                </a:r>
                <a:r>
                  <a:rPr sz="2400" b="0">
                    <a:solidFill>
                      <a:srgbClr val="111827"/>
                    </a:solidFill>
                    <a:latin typeface="Arial"/>
                  </a:rPr>
                  <a:t> (checked for </a:t>
                </a:r>
                <a:r>
                  <a:rPr lang="en-IN" sz="2400">
                    <a:solidFill>
                      <a:srgbClr val="111827"/>
                    </a:solidFill>
                    <a:latin typeface="Cambria Math" panose="02040503050406030204" pitchFamily="18" charset="0"/>
                  </a:rPr>
                  <a:t>$0\le N&lt;30$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5</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Integer Type(0 to 9)</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Q91 – Q96</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person flipped a fair coin five times. In the first three flips, the coins came up heads exactly twice and in the last three flips also, the coin came up heads exactly twice. The probability that the third flip was a heads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oMath>
                </a14:m>
                <a:r>
                  <a:rPr sz="2400" b="0">
                    <a:solidFill>
                      <a:srgbClr val="111827"/>
                    </a:solidFill>
                    <a:latin typeface="Arial"/>
                  </a:rPr>
                  <a:t> are coprime). Find the remainder when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𝑞</m:t>
                        </m:r>
                      </m:sup>
                    </m:sSup>
                  </m:oMath>
                </a14:m>
                <a:r>
                  <a:rPr sz="2400" b="0">
                    <a:solidFill>
                      <a:srgbClr val="111827"/>
                    </a:solidFill>
                    <a:latin typeface="Arial"/>
                  </a:rPr>
                  <a:t> is divided by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person flipped a fair coin five times. In the first three flips, the coins came up heads exactly twice and in the last three flips also, the coin came up heads exactly twice. The probability that the third flip was a heads is </a:t>
                </a:r>
                <a:r>
                  <a:rPr lang="en-IN" sz="2400">
                    <a:solidFill>
                      <a:srgbClr val="111827"/>
                    </a:solidFill>
                    <a:latin typeface="Cambria Math" panose="02040503050406030204" pitchFamily="18" charset="0"/>
                  </a:rPr>
                  <a:t>$\frac{p}{q}$</a:t>
                </a:r>
                <a:r>
                  <a:rPr sz="2400" b="0">
                    <a:solidFill>
                      <a:srgbClr val="111827"/>
                    </a:solidFill>
                    <a:latin typeface="Arial"/>
                  </a:rPr>
                  <a:t> (where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coprime). Find the remainder when </a:t>
                </a:r>
                <a:r>
                  <a:rPr lang="en-IN" sz="2400">
                    <a:solidFill>
                      <a:srgbClr val="111827"/>
                    </a:solidFill>
                    <a:latin typeface="Cambria Math" panose="02040503050406030204" pitchFamily="18" charset="0"/>
                  </a:rPr>
                  <a:t>$p^{3q}$</a:t>
                </a:r>
                <a:r>
                  <a:rPr sz="2400" b="0">
                    <a:solidFill>
                      <a:srgbClr val="111827"/>
                    </a:solidFill>
                    <a:latin typeface="Arial"/>
                  </a:rPr>
                  <a:t> is divided by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p:txBody>
          </p:sp>
        </mc:Fallback>
      </mc:AlternateContent>
      <p:sp>
        <p:nvSpPr>
          <p:cNvPr id="5" name="Rectangle 4"/>
          <p:cNvSpPr/>
          <p:nvPr/>
        </p:nvSpPr>
        <p:spPr>
          <a:xfrm>
            <a:off x="731520" y="4370323"/>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of events in repeated coin tosses, Remainder on division (binomial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Both windows share the third flip, so the favourable sequences can be listed or counted by the value of that flip.</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flips be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The given condition: exactly two heads among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and exactly two heads among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sequences are equally likely, so the sequences satisfying the condition are equally likely, mutually exclusive and exhaustive cases for the conditional probability.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Listing them (H = head, T = tail): HHTHH, HTHHT, HTHTH, THHHT, THHTH.</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the flips be </a:t>
                </a:r>
                <a:r>
                  <a:rPr lang="en-IN" sz="2400">
                    <a:solidFill>
                      <a:srgbClr val="111827"/>
                    </a:solidFill>
                    <a:latin typeface="Cambria Math" panose="02040503050406030204" pitchFamily="18" charset="0"/>
                  </a:rPr>
                  <a:t>$f_1,f_2,f_3,f_4,f_5$</a:t>
                </a:r>
                <a:r>
                  <a:rPr sz="2400" b="0">
                    <a:solidFill>
                      <a:srgbClr val="111827"/>
                    </a:solidFill>
                    <a:latin typeface="Arial"/>
                  </a:rPr>
                  <a:t>. The given condition: exactly two heads among </a:t>
                </a:r>
                <a:r>
                  <a:rPr lang="en-IN" sz="2400">
                    <a:solidFill>
                      <a:srgbClr val="111827"/>
                    </a:solidFill>
                    <a:latin typeface="Cambria Math" panose="02040503050406030204" pitchFamily="18" charset="0"/>
                  </a:rPr>
                  <a:t>$f_1,f_2,f_3$</a:t>
                </a:r>
                <a:r>
                  <a:rPr sz="2400" b="0">
                    <a:solidFill>
                      <a:srgbClr val="111827"/>
                    </a:solidFill>
                    <a:latin typeface="Arial"/>
                  </a:rPr>
                  <a:t> and exactly two heads among </a:t>
                </a:r>
                <a:r>
                  <a:rPr lang="en-IN" sz="2400">
                    <a:solidFill>
                      <a:srgbClr val="111827"/>
                    </a:solidFill>
                    <a:latin typeface="Cambria Math" panose="02040503050406030204" pitchFamily="18" charset="0"/>
                  </a:rPr>
                  <a:t>$f_3,f_4,f_5$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All </a:t>
                </a:r>
                <a:r>
                  <a:rPr lang="en-IN" sz="2400">
                    <a:solidFill>
                      <a:srgbClr val="111827"/>
                    </a:solidFill>
                    <a:latin typeface="Cambria Math" panose="02040503050406030204" pitchFamily="18" charset="0"/>
                  </a:rPr>
                  <a:t>$2^5$</a:t>
                </a:r>
                <a:r>
                  <a:rPr sz="2400" b="0">
                    <a:solidFill>
                      <a:srgbClr val="111827"/>
                    </a:solidFill>
                    <a:latin typeface="Arial"/>
                  </a:rPr>
                  <a:t> sequences are equally likely, so the sequences satisfying the condition are equally likely, mutually exclusive and exhaustive cases for the conditional probability.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Listing them (H = head, T = tail): HHTHH, HTHHT, HTHTH, THHHT, THHTH.</a:t>
                </a:r>
                <a:endParaRPr sz="2400">
                  <a:solidFill>
                    <a:srgbClr val="111827"/>
                  </a:solidFill>
                </a:endParaRPr>
              </a:p>
            </p:txBody>
          </p:sp>
        </mc:Fallback>
      </mc:AlternateContent>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e.g. HHTHH: first three HHT has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heads, last three THH has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heads. The other four are checked the same way, so there are exactly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such sequences.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third flip is a head in HTHHT, HTHTH, THHHT, THHTH, i.e. in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of the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sequences.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(coprime).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need the remainder when </a:t>
                </a:r>
                <a14:m>
                  <m:oMath xmlns:m="http://schemas.openxmlformats.org/officeDocument/2006/math">
                    <m:sSup>
                      <m:e>
                        <m:r>
                          <a:rPr lang="en-IN" sz="2400" i="1">
                            <a:solidFill>
                              <a:srgbClr val="111827"/>
                            </a:solidFill>
                            <a:latin typeface="Cambria Math" panose="02040503050406030204" pitchFamily="18" charset="0"/>
                          </a:rPr>
                          <m:t>𝑝</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𝑞</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15</m:t>
                        </m:r>
                      </m:sup>
                    </m:sSup>
                  </m:oMath>
                </a14:m>
                <a:r>
                  <a:rPr sz="2400" b="0">
                    <a:solidFill>
                      <a:srgbClr val="111827"/>
                    </a:solidFill>
                    <a:latin typeface="Arial"/>
                  </a:rPr>
                  <a:t> is divided by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15</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3</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remainder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e.g. HHTHH: first three HHT has </a:t>
                </a:r>
                <a:r>
                  <a:rPr lang="en-IN" sz="2400">
                    <a:solidFill>
                      <a:srgbClr val="111827"/>
                    </a:solidFill>
                    <a:latin typeface="Cambria Math" panose="02040503050406030204" pitchFamily="18" charset="0"/>
                  </a:rPr>
                  <a:t>$2$</a:t>
                </a:r>
                <a:r>
                  <a:rPr sz="2400" b="0">
                    <a:solidFill>
                      <a:srgbClr val="111827"/>
                    </a:solidFill>
                    <a:latin typeface="Arial"/>
                  </a:rPr>
                  <a:t> heads, last three THH has </a:t>
                </a:r>
                <a:r>
                  <a:rPr lang="en-IN" sz="2400">
                    <a:solidFill>
                      <a:srgbClr val="111827"/>
                    </a:solidFill>
                    <a:latin typeface="Cambria Math" panose="02040503050406030204" pitchFamily="18" charset="0"/>
                  </a:rPr>
                  <a:t>$2$</a:t>
                </a:r>
                <a:r>
                  <a:rPr sz="2400" b="0">
                    <a:solidFill>
                      <a:srgbClr val="111827"/>
                    </a:solidFill>
                    <a:latin typeface="Arial"/>
                  </a:rPr>
                  <a:t> heads. The other four are checked the same way, so there are exactly </a:t>
                </a:r>
                <a:r>
                  <a:rPr lang="en-IN" sz="2400">
                    <a:solidFill>
                      <a:srgbClr val="111827"/>
                    </a:solidFill>
                    <a:latin typeface="Cambria Math" panose="02040503050406030204" pitchFamily="18" charset="0"/>
                  </a:rPr>
                  <a:t>$5$</a:t>
                </a:r>
                <a:r>
                  <a:rPr sz="2400" b="0">
                    <a:solidFill>
                      <a:srgbClr val="111827"/>
                    </a:solidFill>
                    <a:latin typeface="Arial"/>
                  </a:rPr>
                  <a:t> such sequences.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third flip is a head in HTHHT, HTHTH, THHHT, THHTH, i.e. in </a:t>
                </a:r>
                <a:r>
                  <a:rPr lang="en-IN" sz="2400">
                    <a:solidFill>
                      <a:srgbClr val="111827"/>
                    </a:solidFill>
                    <a:latin typeface="Cambria Math" panose="02040503050406030204" pitchFamily="18" charset="0"/>
                  </a:rPr>
                  <a:t>$4$</a:t>
                </a:r>
                <a:r>
                  <a:rPr sz="2400" b="0">
                    <a:solidFill>
                      <a:srgbClr val="111827"/>
                    </a:solidFill>
                    <a:latin typeface="Arial"/>
                  </a:rPr>
                  <a:t> of the </a:t>
                </a:r>
                <a:r>
                  <a:rPr lang="en-IN" sz="2400">
                    <a:solidFill>
                      <a:srgbClr val="111827"/>
                    </a:solidFill>
                    <a:latin typeface="Cambria Math" panose="02040503050406030204" pitchFamily="18" charset="0"/>
                  </a:rPr>
                  <a:t>$5$</a:t>
                </a:r>
                <a:r>
                  <a:rPr sz="2400" b="0">
                    <a:solidFill>
                      <a:srgbClr val="111827"/>
                    </a:solidFill>
                    <a:latin typeface="Arial"/>
                  </a:rPr>
                  <a:t> sequences.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$P(E)=\frac{4}{5}$</a:t>
                </a:r>
                <a:r>
                  <a:rPr sz="2400" b="0">
                    <a:solidFill>
                      <a:srgbClr val="111827"/>
                    </a:solidFill>
                    <a:latin typeface="Arial"/>
                  </a:rPr>
                  <a:t>, so </a:t>
                </a:r>
                <a:r>
                  <a:rPr lang="en-IN" sz="2400">
                    <a:solidFill>
                      <a:srgbClr val="111827"/>
                    </a:solidFill>
                    <a:latin typeface="Cambria Math" panose="02040503050406030204" pitchFamily="18" charset="0"/>
                  </a:rPr>
                  <a:t>$p=4$</a:t>
                </a:r>
                <a:r>
                  <a:rPr sz="2400" b="0">
                    <a:solidFill>
                      <a:srgbClr val="111827"/>
                    </a:solidFill>
                    <a:latin typeface="Arial"/>
                  </a:rPr>
                  <a:t>, </a:t>
                </a:r>
                <a:r>
                  <a:rPr lang="en-IN" sz="2400">
                    <a:solidFill>
                      <a:srgbClr val="111827"/>
                    </a:solidFill>
                    <a:latin typeface="Cambria Math" panose="02040503050406030204" pitchFamily="18" charset="0"/>
                  </a:rPr>
                  <a:t>$q=5$</a:t>
                </a:r>
                <a:r>
                  <a:rPr sz="2400" b="0">
                    <a:solidFill>
                      <a:srgbClr val="111827"/>
                    </a:solidFill>
                    <a:latin typeface="Arial"/>
                  </a:rPr>
                  <a:t> (coprime).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We need the remainder when </a:t>
                </a:r>
                <a:r>
                  <a:rPr lang="en-IN" sz="2400">
                    <a:solidFill>
                      <a:srgbClr val="111827"/>
                    </a:solidFill>
                    <a:latin typeface="Cambria Math" panose="02040503050406030204" pitchFamily="18" charset="0"/>
                  </a:rPr>
                  <a:t>$p^{3q}=4^{15}$</a:t>
                </a:r>
                <a:r>
                  <a:rPr sz="2400" b="0">
                    <a:solidFill>
                      <a:srgbClr val="111827"/>
                    </a:solidFill>
                    <a:latin typeface="Arial"/>
                  </a:rPr>
                  <a:t> is divided by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$4^3=64=63+1\equiv1 \pmod 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$4^{15}=(4^3)^5\equiv1^5=1 \pmod 7$</a:t>
                </a:r>
                <a:r>
                  <a:rPr sz="2400" b="0">
                    <a:solidFill>
                      <a:srgbClr val="111827"/>
                    </a:solidFill>
                    <a:latin typeface="Arial"/>
                  </a:rPr>
                  <a:t>. The remainder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a:t>
            </a:r>
            <a:endParaRPr sz="2800">
              <a:solidFill>
                <a:srgbClr val="15803D"/>
              </a:solidFill>
            </a:endParaRPr>
          </a:p>
        </p:txBody>
      </p:sp>
    </p:spTree>
  </p:cSld>
  <p:clrMapOvr>
    <a:masterClrMapping/>
  </p:clrMapOvr>
</p:sld>
</file>

<file path=ppt/slides/slide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by the value of the shared flip </a:t>
                </a:r>
                <a14:m>
                  <m:oMath xmlns:m="http://schemas.openxmlformats.org/officeDocument/2006/math">
                    <m:sSub>
                      <m:e>
                        <m:r>
                          <a:rPr lang="en-IN" sz="2400" i="1">
                            <a:solidFill>
                              <a:srgbClr val="78350F"/>
                            </a:solidFill>
                            <a:latin typeface="Cambria Math" panose="02040503050406030204" pitchFamily="18" charset="0"/>
                          </a:rPr>
                          <m:t>𝑓</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instead of listing sequences.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Count by the value of the shared flip </a:t>
                </a:r>
                <a:r>
                  <a:rPr lang="en-IN" sz="2400">
                    <a:solidFill>
                      <a:srgbClr val="78350F"/>
                    </a:solidFill>
                    <a:latin typeface="Cambria Math" panose="02040503050406030204" pitchFamily="18" charset="0"/>
                  </a:rPr>
                  <a:t>$f_3$</a:t>
                </a:r>
                <a:r>
                  <a:rPr sz="2400" b="0">
                    <a:solidFill>
                      <a:srgbClr val="78350F"/>
                    </a:solidFill>
                    <a:latin typeface="Arial"/>
                  </a:rPr>
                  <a:t> instead of listing sequences.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oMath>
                </a14:m>
                <a:r>
                  <a:rPr sz="2400" b="0">
                    <a:solidFill>
                      <a:srgbClr val="111827"/>
                    </a:solidFill>
                    <a:latin typeface="Arial"/>
                  </a:rPr>
                  <a:t>: then exactly one more head is needed in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exactly one more in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pair has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ways (HT or TH), giving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sequences.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oMath>
                </a14:m>
                <a:r>
                  <a:rPr sz="2400" b="0">
                    <a:solidFill>
                      <a:srgbClr val="111827"/>
                    </a:solidFill>
                    <a:latin typeface="Arial"/>
                  </a:rPr>
                  <a:t>: both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must be heads and both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must be heads, giving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sequence (HHTHH).</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Case </a:t>
                </a:r>
                <a:r>
                  <a:rPr lang="en-IN" sz="2400">
                    <a:solidFill>
                      <a:srgbClr val="111827"/>
                    </a:solidFill>
                    <a:latin typeface="Cambria Math" panose="02040503050406030204" pitchFamily="18" charset="0"/>
                  </a:rPr>
                  <a:t>$f_3=H$</a:t>
                </a:r>
                <a:r>
                  <a:rPr sz="2400" b="0">
                    <a:solidFill>
                      <a:srgbClr val="111827"/>
                    </a:solidFill>
                    <a:latin typeface="Arial"/>
                  </a:rPr>
                  <a:t>: then exactly one more head is needed in </a:t>
                </a:r>
                <a:r>
                  <a:rPr lang="en-IN" sz="2400">
                    <a:solidFill>
                      <a:srgbClr val="111827"/>
                    </a:solidFill>
                    <a:latin typeface="Cambria Math" panose="02040503050406030204" pitchFamily="18" charset="0"/>
                  </a:rPr>
                  <a:t>$\{f_1,f_2\}$</a:t>
                </a:r>
                <a:r>
                  <a:rPr sz="2400" b="0">
                    <a:solidFill>
                      <a:srgbClr val="111827"/>
                    </a:solidFill>
                    <a:latin typeface="Arial"/>
                  </a:rPr>
                  <a:t> and exactly one more in </a:t>
                </a:r>
                <a:r>
                  <a:rPr lang="en-IN" sz="2400">
                    <a:solidFill>
                      <a:srgbClr val="111827"/>
                    </a:solidFill>
                    <a:latin typeface="Cambria Math" panose="02040503050406030204" pitchFamily="18" charset="0"/>
                  </a:rPr>
                  <a:t>$\{f_4,f_5\}$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pair has </a:t>
                </a:r>
                <a:r>
                  <a:rPr lang="en-IN" sz="2400">
                    <a:solidFill>
                      <a:srgbClr val="111827"/>
                    </a:solidFill>
                    <a:latin typeface="Cambria Math" panose="02040503050406030204" pitchFamily="18" charset="0"/>
                  </a:rPr>
                  <a:t>$2$</a:t>
                </a:r>
                <a:r>
                  <a:rPr sz="2400" b="0">
                    <a:solidFill>
                      <a:srgbClr val="111827"/>
                    </a:solidFill>
                    <a:latin typeface="Arial"/>
                  </a:rPr>
                  <a:t> ways (HT or TH), giving </a:t>
                </a:r>
                <a:r>
                  <a:rPr lang="en-IN" sz="2400">
                    <a:solidFill>
                      <a:srgbClr val="111827"/>
                    </a:solidFill>
                    <a:latin typeface="Cambria Math" panose="02040503050406030204" pitchFamily="18" charset="0"/>
                  </a:rPr>
                  <a:t>$2\times2=4$</a:t>
                </a:r>
                <a:r>
                  <a:rPr sz="2400" b="0">
                    <a:solidFill>
                      <a:srgbClr val="111827"/>
                    </a:solidFill>
                    <a:latin typeface="Arial"/>
                  </a:rPr>
                  <a:t> sequences.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Case </a:t>
                </a:r>
                <a:r>
                  <a:rPr lang="en-IN" sz="2400">
                    <a:solidFill>
                      <a:srgbClr val="111827"/>
                    </a:solidFill>
                    <a:latin typeface="Cambria Math" panose="02040503050406030204" pitchFamily="18" charset="0"/>
                  </a:rPr>
                  <a:t>$f_3=T$</a:t>
                </a:r>
                <a:r>
                  <a:rPr sz="2400" b="0">
                    <a:solidFill>
                      <a:srgbClr val="111827"/>
                    </a:solidFill>
                    <a:latin typeface="Arial"/>
                  </a:rPr>
                  <a:t>: both </a:t>
                </a:r>
                <a:r>
                  <a:rPr lang="en-IN" sz="2400">
                    <a:solidFill>
                      <a:srgbClr val="111827"/>
                    </a:solidFill>
                    <a:latin typeface="Cambria Math" panose="02040503050406030204" pitchFamily="18" charset="0"/>
                  </a:rPr>
                  <a:t>$f_1,f_2$</a:t>
                </a:r>
                <a:r>
                  <a:rPr sz="2400" b="0">
                    <a:solidFill>
                      <a:srgbClr val="111827"/>
                    </a:solidFill>
                    <a:latin typeface="Arial"/>
                  </a:rPr>
                  <a:t> must be heads and both </a:t>
                </a:r>
                <a:r>
                  <a:rPr lang="en-IN" sz="2400">
                    <a:solidFill>
                      <a:srgbClr val="111827"/>
                    </a:solidFill>
                    <a:latin typeface="Cambria Math" panose="02040503050406030204" pitchFamily="18" charset="0"/>
                  </a:rPr>
                  <a:t>$f_4,f_5$</a:t>
                </a:r>
                <a:r>
                  <a:rPr sz="2400" b="0">
                    <a:solidFill>
                      <a:srgbClr val="111827"/>
                    </a:solidFill>
                    <a:latin typeface="Arial"/>
                  </a:rPr>
                  <a:t> must be heads, giving </a:t>
                </a:r>
                <a:r>
                  <a:rPr lang="en-IN" sz="2400">
                    <a:solidFill>
                      <a:srgbClr val="111827"/>
                    </a:solidFill>
                    <a:latin typeface="Cambria Math" panose="02040503050406030204" pitchFamily="18" charset="0"/>
                  </a:rPr>
                  <a:t>$1$</a:t>
                </a:r>
                <a:r>
                  <a:rPr sz="2400" b="0">
                    <a:solidFill>
                      <a:srgbClr val="111827"/>
                    </a:solidFill>
                    <a:latin typeface="Arial"/>
                  </a:rPr>
                  <a:t> sequence (HHTHH).</a:t>
                </a:r>
                <a:endParaRPr sz="2400">
                  <a:solidFill>
                    <a:srgbClr val="111827"/>
                  </a:solidFill>
                </a:endParaRPr>
              </a:p>
            </p:txBody>
          </p:sp>
        </mc:Fallback>
      </mc:AlternateContent>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sequences, of which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have </a:t>
                </a:r>
                <a14:m>
                  <m:oMath xmlns:m="http://schemas.openxmlformats.org/officeDocument/2006/math">
                    <m:sSub>
                      <m:e>
                        <m:r>
                          <a:rPr lang="en-IN" sz="2400" i="1">
                            <a:solidFill>
                              <a:srgbClr val="111827"/>
                            </a:solidFill>
                            <a:latin typeface="Cambria Math" panose="02040503050406030204" pitchFamily="18" charset="0"/>
                          </a:rPr>
                          <m:t>𝑓</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oMath>
                </a14:m>
                <a:r>
                  <a:rPr sz="2400" b="0">
                    <a:solidFill>
                      <a:srgbClr val="111827"/>
                    </a:solidFill>
                    <a:latin typeface="Arial"/>
                  </a:rPr>
                  <a:t>, 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num>
                      <m:den>
                        <m:r>
                          <a:rPr lang="en-IN" sz="2400" i="1">
                            <a:solidFill>
                              <a:srgbClr val="111827"/>
                            </a:solidFill>
                            <a:latin typeface="Cambria Math" panose="02040503050406030204" pitchFamily="18" charset="0"/>
                          </a:rPr>
                          <m:t>𝑞</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5</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order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modulo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15</m:t>
                    </m:r>
                  </m:oMath>
                </a14:m>
                <a:r>
                  <a:rPr sz="2400" b="0">
                    <a:solidFill>
                      <a:srgbClr val="111827"/>
                    </a:solidFill>
                    <a:latin typeface="Arial"/>
                  </a:rPr>
                  <a:t> is a multiple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15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Total </a:t>
                </a:r>
                <a:r>
                  <a:rPr lang="en-IN" sz="2400">
                    <a:solidFill>
                      <a:srgbClr val="111827"/>
                    </a:solidFill>
                    <a:latin typeface="Cambria Math" panose="02040503050406030204" pitchFamily="18" charset="0"/>
                  </a:rPr>
                  <a:t>$5$</a:t>
                </a:r>
                <a:r>
                  <a:rPr sz="2400" b="0">
                    <a:solidFill>
                      <a:srgbClr val="111827"/>
                    </a:solidFill>
                    <a:latin typeface="Arial"/>
                  </a:rPr>
                  <a:t> sequences, of which </a:t>
                </a:r>
                <a:r>
                  <a:rPr lang="en-IN" sz="2400">
                    <a:solidFill>
                      <a:srgbClr val="111827"/>
                    </a:solidFill>
                    <a:latin typeface="Cambria Math" panose="02040503050406030204" pitchFamily="18" charset="0"/>
                  </a:rPr>
                  <a:t>$4$</a:t>
                </a:r>
                <a:r>
                  <a:rPr sz="2400" b="0">
                    <a:solidFill>
                      <a:srgbClr val="111827"/>
                    </a:solidFill>
                    <a:latin typeface="Arial"/>
                  </a:rPr>
                  <a:t> have </a:t>
                </a:r>
                <a:r>
                  <a:rPr lang="en-IN" sz="2400">
                    <a:solidFill>
                      <a:srgbClr val="111827"/>
                    </a:solidFill>
                    <a:latin typeface="Cambria Math" panose="02040503050406030204" pitchFamily="18" charset="0"/>
                  </a:rPr>
                  <a:t>$f_3=H$</a:t>
                </a:r>
                <a:r>
                  <a:rPr sz="2400" b="0">
                    <a:solidFill>
                      <a:srgbClr val="111827"/>
                    </a:solidFill>
                    <a:latin typeface="Arial"/>
                  </a:rPr>
                  <a:t>, so </a:t>
                </a:r>
                <a:r>
                  <a:rPr lang="en-IN" sz="2400">
                    <a:solidFill>
                      <a:srgbClr val="111827"/>
                    </a:solidFill>
                    <a:latin typeface="Cambria Math" panose="02040503050406030204" pitchFamily="18" charset="0"/>
                  </a:rPr>
                  <a:t>$\frac{p}{q}=\frac{4}{5}$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order of </a:t>
                </a:r>
                <a:r>
                  <a:rPr lang="en-IN" sz="2400">
                    <a:solidFill>
                      <a:srgbClr val="111827"/>
                    </a:solidFill>
                    <a:latin typeface="Cambria Math" panose="02040503050406030204" pitchFamily="18" charset="0"/>
                  </a:rPr>
                  <a:t>$4$</a:t>
                </a:r>
                <a:r>
                  <a:rPr sz="2400" b="0">
                    <a:solidFill>
                      <a:srgbClr val="111827"/>
                    </a:solidFill>
                    <a:latin typeface="Arial"/>
                  </a:rPr>
                  <a:t> modulo </a:t>
                </a:r>
                <a:r>
                  <a:rPr lang="en-IN" sz="2400">
                    <a:solidFill>
                      <a:srgbClr val="111827"/>
                    </a:solidFill>
                    <a:latin typeface="Cambria Math" panose="02040503050406030204" pitchFamily="18" charset="0"/>
                  </a:rPr>
                  <a:t>$7$</a:t>
                </a:r>
                <a:r>
                  <a:rPr sz="2400" b="0">
                    <a:solidFill>
                      <a:srgbClr val="111827"/>
                    </a:solidFill>
                    <a:latin typeface="Arial"/>
                  </a:rPr>
                  <a:t> is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$4,2,1,\ldots$</a:t>
                </a:r>
                <a:r>
                  <a:rPr sz="2400" b="0">
                    <a:solidFill>
                      <a:srgbClr val="111827"/>
                    </a:solidFill>
                    <a:latin typeface="Arial"/>
                  </a:rPr>
                  <a:t>), and </a:t>
                </a:r>
                <a:r>
                  <a:rPr lang="en-IN" sz="2400">
                    <a:solidFill>
                      <a:srgbClr val="111827"/>
                    </a:solidFill>
                    <a:latin typeface="Cambria Math" panose="02040503050406030204" pitchFamily="18" charset="0"/>
                  </a:rPr>
                  <a:t>$15$</a:t>
                </a:r>
                <a:r>
                  <a:rPr sz="2400" b="0">
                    <a:solidFill>
                      <a:srgbClr val="111827"/>
                    </a:solidFill>
                    <a:latin typeface="Arial"/>
                  </a:rPr>
                  <a:t> is a multiple of </a:t>
                </a:r>
                <a:r>
                  <a:rPr lang="en-IN" sz="2400">
                    <a:solidFill>
                      <a:srgbClr val="111827"/>
                    </a:solidFill>
                    <a:latin typeface="Cambria Math" panose="02040503050406030204" pitchFamily="18" charset="0"/>
                  </a:rPr>
                  <a:t>$3$</a:t>
                </a:r>
                <a:r>
                  <a:rPr sz="2400" b="0">
                    <a:solidFill>
                      <a:srgbClr val="111827"/>
                    </a:solidFill>
                    <a:latin typeface="Arial"/>
                  </a:rPr>
                  <a:t>, so </a:t>
                </a:r>
                <a:r>
                  <a:rPr lang="en-IN" sz="2400">
                    <a:solidFill>
                      <a:srgbClr val="111827"/>
                    </a:solidFill>
                    <a:latin typeface="Cambria Math" panose="02040503050406030204" pitchFamily="18" charset="0"/>
                  </a:rPr>
                  <a:t>$4^{15}\equiv1$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a:t>
            </a:r>
            <a:endParaRPr sz="2800">
              <a:solidFill>
                <a:srgbClr val="15803D"/>
              </a:solidFill>
            </a:endParaRPr>
          </a:p>
        </p:txBody>
      </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When two windows of trials overlap, condition on the shared trial: here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favourable sequences with the shared flip a head and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with it a tail.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Fermat: for a prime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gcd</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actual order of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can be smaller, e.g. </a:t>
                </a:r>
                <a14:m>
                  <m:oMath xmlns:m="http://schemas.openxmlformats.org/officeDocument/2006/math">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modulo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repeat with period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powers of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also have period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When two windows of trials overlap, condition on the shared trial: here </a:t>
                </a:r>
                <a:r>
                  <a:rPr lang="en-IN" sz="2400">
                    <a:solidFill>
                      <a:srgbClr val="111827"/>
                    </a:solidFill>
                    <a:latin typeface="Cambria Math" panose="02040503050406030204" pitchFamily="18" charset="0"/>
                  </a:rPr>
                  <a:t>$4$</a:t>
                </a:r>
                <a:r>
                  <a:rPr sz="2400" b="0">
                    <a:solidFill>
                      <a:srgbClr val="111827"/>
                    </a:solidFill>
                    <a:latin typeface="Arial"/>
                  </a:rPr>
                  <a:t> favourable sequences with the shared flip a head and </a:t>
                </a:r>
                <a:r>
                  <a:rPr lang="en-IN" sz="2400">
                    <a:solidFill>
                      <a:srgbClr val="111827"/>
                    </a:solidFill>
                    <a:latin typeface="Cambria Math" panose="02040503050406030204" pitchFamily="18" charset="0"/>
                  </a:rPr>
                  <a:t>$1$</a:t>
                </a:r>
                <a:r>
                  <a:rPr sz="2400" b="0">
                    <a:solidFill>
                      <a:srgbClr val="111827"/>
                    </a:solidFill>
                    <a:latin typeface="Arial"/>
                  </a:rPr>
                  <a:t> with it a tail.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Fermat: for a prime </a:t>
                </a:r>
                <a:r>
                  <a:rPr lang="en-IN" sz="2400">
                    <a:solidFill>
                      <a:srgbClr val="111827"/>
                    </a:solidFill>
                    <a:latin typeface="Cambria Math" panose="02040503050406030204" pitchFamily="18" charset="0"/>
                  </a:rPr>
                  <a:t>$m$</a:t>
                </a:r>
                <a:r>
                  <a:rPr sz="2400" b="0">
                    <a:solidFill>
                      <a:srgbClr val="111827"/>
                    </a:solidFill>
                    <a:latin typeface="Arial"/>
                  </a:rPr>
                  <a:t> and </a:t>
                </a:r>
                <a:r>
                  <a:rPr lang="en-IN" sz="2400">
                    <a:solidFill>
                      <a:srgbClr val="111827"/>
                    </a:solidFill>
                    <a:latin typeface="Cambria Math" panose="02040503050406030204" pitchFamily="18" charset="0"/>
                  </a:rPr>
                  <a:t>$\gcd(a,m)=1$</a:t>
                </a:r>
                <a:r>
                  <a:rPr sz="2400" b="0">
                    <a:solidFill>
                      <a:srgbClr val="111827"/>
                    </a:solidFill>
                    <a:latin typeface="Arial"/>
                  </a:rPr>
                  <a:t>, </a:t>
                </a:r>
                <a:r>
                  <a:rPr lang="en-IN" sz="2400">
                    <a:solidFill>
                      <a:srgbClr val="111827"/>
                    </a:solidFill>
                    <a:latin typeface="Cambria Math" panose="02040503050406030204" pitchFamily="18" charset="0"/>
                  </a:rPr>
                  <a:t>$a^{m-1}\equiv1 \pmod m$</a:t>
                </a:r>
                <a:r>
                  <a:rPr sz="2400" b="0">
                    <a:solidFill>
                      <a:srgbClr val="111827"/>
                    </a:solidFill>
                    <a:latin typeface="Arial"/>
                  </a:rPr>
                  <a:t>; the actual order of </a:t>
                </a:r>
                <a:r>
                  <a:rPr lang="en-IN" sz="2400">
                    <a:solidFill>
                      <a:srgbClr val="111827"/>
                    </a:solidFill>
                    <a:latin typeface="Cambria Math" panose="02040503050406030204" pitchFamily="18" charset="0"/>
                  </a:rPr>
                  <a:t>$a$</a:t>
                </a:r>
                <a:r>
                  <a:rPr sz="2400" b="0">
                    <a:solidFill>
                      <a:srgbClr val="111827"/>
                    </a:solidFill>
                    <a:latin typeface="Arial"/>
                  </a:rPr>
                  <a:t> can be smaller, e.g. </a:t>
                </a:r>
                <a:r>
                  <a:rPr lang="en-IN" sz="2400">
                    <a:solidFill>
                      <a:srgbClr val="111827"/>
                    </a:solidFill>
                    <a:latin typeface="Cambria Math" panose="02040503050406030204" pitchFamily="18" charset="0"/>
                  </a:rPr>
                  <a:t>$4^3\equiv1 \pmod 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Powers of </a:t>
                </a:r>
                <a:r>
                  <a:rPr lang="en-IN" sz="2400">
                    <a:solidFill>
                      <a:srgbClr val="111827"/>
                    </a:solidFill>
                    <a:latin typeface="Cambria Math" panose="02040503050406030204" pitchFamily="18" charset="0"/>
                  </a:rPr>
                  <a:t>$2$</a:t>
                </a:r>
                <a:r>
                  <a:rPr sz="2400" b="0">
                    <a:solidFill>
                      <a:srgbClr val="111827"/>
                    </a:solidFill>
                    <a:latin typeface="Arial"/>
                  </a:rPr>
                  <a:t> modulo </a:t>
                </a:r>
                <a:r>
                  <a:rPr lang="en-IN" sz="2400">
                    <a:solidFill>
                      <a:srgbClr val="111827"/>
                    </a:solidFill>
                    <a:latin typeface="Cambria Math" panose="02040503050406030204" pitchFamily="18" charset="0"/>
                  </a:rPr>
                  <a:t>$7$</a:t>
                </a:r>
                <a:r>
                  <a:rPr sz="2400" b="0">
                    <a:solidFill>
                      <a:srgbClr val="111827"/>
                    </a:solidFill>
                    <a:latin typeface="Arial"/>
                  </a:rPr>
                  <a:t> repeat with period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$2,4,1,\ldots$</a:t>
                </a:r>
                <a:r>
                  <a:rPr sz="2400" b="0">
                    <a:solidFill>
                      <a:srgbClr val="111827"/>
                    </a:solidFill>
                    <a:latin typeface="Arial"/>
                  </a:rPr>
                  <a:t>; powers of </a:t>
                </a:r>
                <a:r>
                  <a:rPr lang="en-IN" sz="2400">
                    <a:solidFill>
                      <a:srgbClr val="111827"/>
                    </a:solidFill>
                    <a:latin typeface="Cambria Math" panose="02040503050406030204" pitchFamily="18" charset="0"/>
                  </a:rPr>
                  <a:t>$4$</a:t>
                </a:r>
                <a:r>
                  <a:rPr sz="2400" b="0">
                    <a:solidFill>
                      <a:srgbClr val="111827"/>
                    </a:solidFill>
                    <a:latin typeface="Arial"/>
                  </a:rPr>
                  <a:t> also have period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ways of arranging </a:t>
                </a:r>
                <a14:m>
                  <m:oMath xmlns:m="http://schemas.openxmlformats.org/officeDocument/2006/math">
                    <m:r>
                      <a:rPr lang="en-IN" sz="2400" i="1">
                        <a:solidFill>
                          <a:srgbClr val="111827"/>
                        </a:solidFill>
                        <a:latin typeface="Cambria Math" panose="02040503050406030204" pitchFamily="18" charset="0"/>
                      </a:rPr>
                      <m:t>11</m:t>
                    </m:r>
                  </m:oMath>
                </a14:m>
                <a:r>
                  <a:rPr sz="2400" b="0">
                    <a:solidFill>
                      <a:srgbClr val="111827"/>
                    </a:solidFill>
                    <a:latin typeface="Arial"/>
                  </a:rPr>
                  <a:t> objects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𝐹</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 so that every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lies between two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(not necessarily adjacent) is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𝐾</m:t>
                    </m:r>
                  </m:oMath>
                </a14:m>
                <a:r>
                  <a:rPr sz="2400" b="0">
                    <a:solidFill>
                      <a:srgbClr val="111827"/>
                    </a:solidFill>
                    <a:latin typeface="Arial"/>
                  </a:rPr>
                  <a:t> is ______.</a:t>
                </a:r>
                <a:endParaRPr sz="2400">
                  <a:solidFill>
                    <a:srgbClr val="111827"/>
                  </a:solidFill>
                </a:endParaRPr>
              </a:p>
            </p:txBody>
          </p:sp>
        </mc:Choice>
        <mc:Fallback>
          <p:sp>
            <p:nvSpPr>
              <p:cNvPr id="4" name="Rounded Rectangle 3"/>
              <p:cNvSpPr/>
              <p:nvPr/>
            </p:nvSpPr>
            <p:spPr>
              <a:xfrm>
                <a:off x="731520" y="1280160"/>
                <a:ext cx="10725912" cy="200812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ways of arranging </a:t>
                </a:r>
                <a:r>
                  <a:rPr lang="en-IN" sz="2400">
                    <a:solidFill>
                      <a:srgbClr val="111827"/>
                    </a:solidFill>
                    <a:latin typeface="Cambria Math" panose="02040503050406030204" pitchFamily="18" charset="0"/>
                  </a:rPr>
                  <a:t>$11$</a:t>
                </a:r>
                <a:r>
                  <a:rPr sz="2400" b="0">
                    <a:solidFill>
                      <a:srgbClr val="111827"/>
                    </a:solidFill>
                    <a:latin typeface="Arial"/>
                  </a:rPr>
                  <a:t> objects </a:t>
                </a:r>
                <a:r>
                  <a:rPr lang="en-IN" sz="2400">
                    <a:solidFill>
                      <a:srgbClr val="111827"/>
                    </a:solidFill>
                    <a:latin typeface="Cambria Math" panose="02040503050406030204" pitchFamily="18" charset="0"/>
                  </a:rPr>
                  <a:t>$A,B,C,D,E,F,\alpha,\alpha,\alpha,\beta,\beta$</a:t>
                </a:r>
                <a:r>
                  <a:rPr sz="2400" b="0">
                    <a:solidFill>
                      <a:srgbClr val="111827"/>
                    </a:solidFill>
                    <a:latin typeface="Arial"/>
                  </a:rPr>
                  <a:t> so that every </a:t>
                </a:r>
                <a:r>
                  <a:rPr lang="en-IN" sz="2400">
                    <a:solidFill>
                      <a:srgbClr val="111827"/>
                    </a:solidFill>
                    <a:latin typeface="Cambria Math" panose="02040503050406030204" pitchFamily="18" charset="0"/>
                  </a:rPr>
                  <a:t>$\beta$</a:t>
                </a:r>
                <a:r>
                  <a:rPr sz="2400" b="0">
                    <a:solidFill>
                      <a:srgbClr val="111827"/>
                    </a:solidFill>
                    <a:latin typeface="Arial"/>
                  </a:rPr>
                  <a:t> lies between two </a:t>
                </a:r>
                <a:r>
                  <a:rPr lang="en-IN" sz="2400">
                    <a:solidFill>
                      <a:srgbClr val="111827"/>
                    </a:solidFill>
                    <a:latin typeface="Cambria Math" panose="02040503050406030204" pitchFamily="18" charset="0"/>
                  </a:rPr>
                  <a:t>$\alpha$</a:t>
                </a:r>
                <a:r>
                  <a:rPr sz="2400" b="0">
                    <a:solidFill>
                      <a:srgbClr val="111827"/>
                    </a:solidFill>
                    <a:latin typeface="Arial"/>
                  </a:rPr>
                  <a:t> (not necessarily adjacent) is </a:t>
                </a:r>
                <a:r>
                  <a:rPr lang="en-IN" sz="2400">
                    <a:solidFill>
                      <a:srgbClr val="111827"/>
                    </a:solidFill>
                    <a:latin typeface="Cambria Math" panose="02040503050406030204" pitchFamily="18" charset="0"/>
                  </a:rPr>
                  <a:t>$K\times 6!\times {}^{11}C_5$</a:t>
                </a:r>
                <a:r>
                  <a:rPr sz="2400" b="0">
                    <a:solidFill>
                      <a:srgbClr val="111827"/>
                    </a:solidFill>
                    <a:latin typeface="Arial"/>
                  </a:rPr>
                  <a:t>. Then </a:t>
                </a:r>
                <a:r>
                  <a:rPr lang="en-IN" sz="2400">
                    <a:solidFill>
                      <a:srgbClr val="111827"/>
                    </a:solidFill>
                    <a:latin typeface="Cambria Math" panose="02040503050406030204" pitchFamily="18" charset="0"/>
                  </a:rPr>
                  <a:t>$K$</a:t>
                </a:r>
                <a:r>
                  <a:rPr sz="2400" b="0">
                    <a:solidFill>
                      <a:srgbClr val="111827"/>
                    </a:solidFill>
                    <a:latin typeface="Arial"/>
                  </a:rPr>
                  <a:t> is ______.</a:t>
                </a:r>
                <a:endParaRPr sz="2400">
                  <a:solidFill>
                    <a:srgbClr val="111827"/>
                  </a:solidFill>
                </a:endParaRPr>
              </a:p>
            </p:txBody>
          </p:sp>
        </mc:Fallback>
      </mc:AlternateContent>
      <p:sp>
        <p:nvSpPr>
          <p:cNvPr id="5" name="Rectangle 4"/>
          <p:cNvSpPr/>
          <p:nvPr/>
        </p:nvSpPr>
        <p:spPr>
          <a:xfrm>
            <a:off x="731520" y="3516884"/>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Arrangements with restrictions and identical objects, Non-negative integral solutions (stars and bars)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Fix the pattern of the five Greek letters first, then drop the six distinct letters into the six gaps it creates.</a:t>
            </a:r>
            <a:endParaRPr sz="24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objects are six distinct letters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𝐹</m:t>
                    </m:r>
                  </m:oMath>
                </a14:m>
                <a:r>
                  <a:rPr sz="2400" b="0">
                    <a:solidFill>
                      <a:srgbClr val="111827"/>
                    </a:solidFill>
                    <a:latin typeface="Arial"/>
                  </a:rPr>
                  <a:t> and the Greek letters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β</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must lie between two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so in the order of the Greek letters the first and the last are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three major ways (patterns of the Greek letters) are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α</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α</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β</m:t>
                    </m:r>
                    <m:r>
                      <a:rPr lang="en-IN" sz="2400" i="1">
                        <a:solidFill>
                          <a:srgbClr val="111827"/>
                        </a:solidFill>
                        <a:latin typeface="Cambria Math" panose="02040503050406030204" pitchFamily="18" charset="0"/>
                      </a:rPr>
                      <m:t>α</m:t>
                    </m:r>
                  </m:oMath>
                </a14:m>
                <a:r>
                  <a:rPr sz="2400" b="0">
                    <a:solidFill>
                      <a:srgbClr val="111827"/>
                    </a:solidFill>
                    <a:latin typeface="Arial"/>
                  </a:rPr>
                  <a:t>: the middle three places hold one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and two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in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ways.</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objects are six distinct letters </a:t>
                </a:r>
                <a:r>
                  <a:rPr lang="en-IN" sz="2400">
                    <a:solidFill>
                      <a:srgbClr val="111827"/>
                    </a:solidFill>
                    <a:latin typeface="Cambria Math" panose="02040503050406030204" pitchFamily="18" charset="0"/>
                  </a:rPr>
                  <a:t>$A,\ldots,F$</a:t>
                </a:r>
                <a:r>
                  <a:rPr sz="2400" b="0">
                    <a:solidFill>
                      <a:srgbClr val="111827"/>
                    </a:solidFill>
                    <a:latin typeface="Arial"/>
                  </a:rPr>
                  <a:t> and the Greek letters </a:t>
                </a:r>
                <a:r>
                  <a:rPr lang="en-IN" sz="2400">
                    <a:solidFill>
                      <a:srgbClr val="111827"/>
                    </a:solidFill>
                    <a:latin typeface="Cambria Math" panose="02040503050406030204" pitchFamily="18" charset="0"/>
                  </a:rPr>
                  <a:t>$\alpha,\alpha,\alpha,\beta,\beta$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a:t>
                </a:r>
                <a:r>
                  <a:rPr lang="en-IN" sz="2400">
                    <a:solidFill>
                      <a:srgbClr val="111827"/>
                    </a:solidFill>
                    <a:latin typeface="Cambria Math" panose="02040503050406030204" pitchFamily="18" charset="0"/>
                  </a:rPr>
                  <a:t>$\beta$</a:t>
                </a:r>
                <a:r>
                  <a:rPr sz="2400" b="0">
                    <a:solidFill>
                      <a:srgbClr val="111827"/>
                    </a:solidFill>
                    <a:latin typeface="Arial"/>
                  </a:rPr>
                  <a:t> must lie between two </a:t>
                </a:r>
                <a:r>
                  <a:rPr lang="en-IN" sz="2400">
                    <a:solidFill>
                      <a:srgbClr val="111827"/>
                    </a:solidFill>
                    <a:latin typeface="Cambria Math" panose="02040503050406030204" pitchFamily="18" charset="0"/>
                  </a:rPr>
                  <a:t>$\alpha$</a:t>
                </a:r>
                <a:r>
                  <a:rPr sz="2400" b="0">
                    <a:solidFill>
                      <a:srgbClr val="111827"/>
                    </a:solidFill>
                    <a:latin typeface="Arial"/>
                  </a:rPr>
                  <a:t>, so in the order of the Greek letters the first and the last are </a:t>
                </a:r>
                <a:r>
                  <a:rPr lang="en-IN" sz="2400">
                    <a:solidFill>
                      <a:srgbClr val="111827"/>
                    </a:solidFill>
                    <a:latin typeface="Cambria Math" panose="02040503050406030204" pitchFamily="18" charset="0"/>
                  </a:rPr>
                  <a:t>$\alpha$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three major ways (patterns of the Greek letters) are </a:t>
                </a:r>
                <a:r>
                  <a:rPr lang="en-IN" sz="2400">
                    <a:solidFill>
                      <a:srgbClr val="111827"/>
                    </a:solidFill>
                    <a:latin typeface="Cambria Math" panose="02040503050406030204" pitchFamily="18" charset="0"/>
                  </a:rPr>
                  <a:t>$\alpha\alpha\beta\beta\alpha$</a:t>
                </a:r>
                <a:r>
                  <a:rPr sz="2400" b="0">
                    <a:solidFill>
                      <a:srgbClr val="111827"/>
                    </a:solidFill>
                    <a:latin typeface="Arial"/>
                  </a:rPr>
                  <a:t>, </a:t>
                </a:r>
                <a:r>
                  <a:rPr lang="en-IN" sz="2400">
                    <a:solidFill>
                      <a:srgbClr val="111827"/>
                    </a:solidFill>
                    <a:latin typeface="Cambria Math" panose="02040503050406030204" pitchFamily="18" charset="0"/>
                  </a:rPr>
                  <a:t>$\alpha\beta\beta\alpha\alpha$</a:t>
                </a:r>
                <a:r>
                  <a:rPr sz="2400" b="0">
                    <a:solidFill>
                      <a:srgbClr val="111827"/>
                    </a:solidFill>
                    <a:latin typeface="Arial"/>
                  </a:rPr>
                  <a:t> and </a:t>
                </a:r>
                <a:r>
                  <a:rPr lang="en-IN" sz="2400">
                    <a:solidFill>
                      <a:srgbClr val="111827"/>
                    </a:solidFill>
                    <a:latin typeface="Cambria Math" panose="02040503050406030204" pitchFamily="18" charset="0"/>
                  </a:rPr>
                  <a:t>$\alpha\beta\alpha\beta\alpha$</a:t>
                </a:r>
                <a:r>
                  <a:rPr sz="2400" b="0">
                    <a:solidFill>
                      <a:srgbClr val="111827"/>
                    </a:solidFill>
                    <a:latin typeface="Arial"/>
                  </a:rPr>
                  <a:t>: the middle three places hold one </a:t>
                </a:r>
                <a:r>
                  <a:rPr lang="en-IN" sz="2400">
                    <a:solidFill>
                      <a:srgbClr val="111827"/>
                    </a:solidFill>
                    <a:latin typeface="Cambria Math" panose="02040503050406030204" pitchFamily="18" charset="0"/>
                  </a:rPr>
                  <a:t>$\alpha$</a:t>
                </a:r>
                <a:r>
                  <a:rPr sz="2400" b="0">
                    <a:solidFill>
                      <a:srgbClr val="111827"/>
                    </a:solidFill>
                    <a:latin typeface="Arial"/>
                  </a:rPr>
                  <a:t> and two </a:t>
                </a:r>
                <a:r>
                  <a:rPr lang="en-IN" sz="2400">
                    <a:solidFill>
                      <a:srgbClr val="111827"/>
                    </a:solidFill>
                    <a:latin typeface="Cambria Math" panose="02040503050406030204" pitchFamily="18" charset="0"/>
                  </a:rPr>
                  <a:t>$\beta$</a:t>
                </a:r>
                <a:r>
                  <a:rPr sz="2400" b="0">
                    <a:solidFill>
                      <a:srgbClr val="111827"/>
                    </a:solidFill>
                    <a:latin typeface="Arial"/>
                  </a:rPr>
                  <a:t>, in </a:t>
                </a:r>
                <a:r>
                  <a:rPr lang="en-IN" sz="2400">
                    <a:solidFill>
                      <a:srgbClr val="111827"/>
                    </a:solidFill>
                    <a:latin typeface="Cambria Math" panose="02040503050406030204" pitchFamily="18" charset="0"/>
                  </a:rPr>
                  <a:t>$3$</a:t>
                </a:r>
                <a:r>
                  <a:rPr sz="2400" b="0">
                    <a:solidFill>
                      <a:srgbClr val="111827"/>
                    </a:solidFill>
                    <a:latin typeface="Arial"/>
                  </a:rPr>
                  <a:t> ways.</a:t>
                </a:r>
                <a:endParaRPr sz="2400">
                  <a:solidFill>
                    <a:srgbClr val="111827"/>
                  </a:solidFill>
                </a:endParaRPr>
              </a:p>
            </p:txBody>
          </p:sp>
        </mc:Fallback>
      </mc:AlternateContent>
    </p:spTree>
  </p:cSld>
  <p:clrMapOvr>
    <a:masterClrMapping/>
  </p:clrMapOvr>
</p:sld>
</file>

<file path=ppt/slides/slide5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Fix one pattern. Its five letters create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empty spaces (one before, four between, one after), where the six distinct letters are to be put.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letters go into space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with each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non-negative integer solutions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Fix one pattern. Its five letters create </a:t>
                </a:r>
                <a:r>
                  <a:rPr lang="en-IN" sz="2400">
                    <a:solidFill>
                      <a:srgbClr val="111827"/>
                    </a:solidFill>
                    <a:latin typeface="Cambria Math" panose="02040503050406030204" pitchFamily="18" charset="0"/>
                  </a:rPr>
                  <a:t>$6$</a:t>
                </a:r>
                <a:r>
                  <a:rPr sz="2400" b="0">
                    <a:solidFill>
                      <a:srgbClr val="111827"/>
                    </a:solidFill>
                    <a:latin typeface="Arial"/>
                  </a:rPr>
                  <a:t> empty spaces (one before, four between, one after), where the six distinct letters are to be put.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$x_i$</a:t>
                </a:r>
                <a:r>
                  <a:rPr sz="2400" b="0">
                    <a:solidFill>
                      <a:srgbClr val="111827"/>
                    </a:solidFill>
                    <a:latin typeface="Arial"/>
                  </a:rPr>
                  <a:t> letters go into space </a:t>
                </a:r>
                <a:r>
                  <a:rPr lang="en-IN" sz="2400">
                    <a:solidFill>
                      <a:srgbClr val="111827"/>
                    </a:solidFill>
                    <a:latin typeface="Cambria Math" panose="02040503050406030204" pitchFamily="18" charset="0"/>
                  </a:rPr>
                  <a:t>$i$</a:t>
                </a:r>
                <a:r>
                  <a:rPr sz="2400" b="0">
                    <a:solidFill>
                      <a:srgbClr val="111827"/>
                    </a:solidFill>
                    <a:latin typeface="Arial"/>
                  </a:rPr>
                  <a:t>, then </a:t>
                </a:r>
                <a:r>
                  <a:rPr lang="en-IN" sz="2400">
                    <a:solidFill>
                      <a:srgbClr val="111827"/>
                    </a:solidFill>
                    <a:latin typeface="Cambria Math" panose="02040503050406030204" pitchFamily="18" charset="0"/>
                  </a:rPr>
                  <a:t>$x_1+x_2+\cdots+x_6=6$</a:t>
                </a:r>
                <a:r>
                  <a:rPr sz="2400" b="0">
                    <a:solidFill>
                      <a:srgbClr val="111827"/>
                    </a:solidFill>
                    <a:latin typeface="Arial"/>
                  </a:rPr>
                  <a:t> with each </a:t>
                </a:r>
                <a:r>
                  <a:rPr lang="en-IN" sz="2400">
                    <a:solidFill>
                      <a:srgbClr val="111827"/>
                    </a:solidFill>
                    <a:latin typeface="Cambria Math" panose="02040503050406030204" pitchFamily="18" charset="0"/>
                  </a:rPr>
                  <a:t>$x_i\ge0$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non-negative integer solutions is </a:t>
                </a:r>
                <a:r>
                  <a:rPr lang="en-IN" sz="2400">
                    <a:solidFill>
                      <a:srgbClr val="111827"/>
                    </a:solidFill>
                    <a:latin typeface="Cambria Math" panose="02040503050406030204" pitchFamily="18" charset="0"/>
                  </a:rPr>
                  <a:t>$\binom{6+6-1}{6-1}=\binom{11}{5}$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each such distribution the six distinct letters can be ordered in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arrangements is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5</m:t>
                        </m:r>
                      </m:sub>
                    </m:sSub>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each such distribution the six distinct letters can be ordered in </a:t>
                </a:r>
                <a:r>
                  <a:rPr lang="en-IN" sz="2400">
                    <a:solidFill>
                      <a:srgbClr val="111827"/>
                    </a:solidFill>
                    <a:latin typeface="Cambria Math" panose="02040503050406030204" pitchFamily="18" charset="0"/>
                  </a:rPr>
                  <a:t>$6!$</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number of arrangements is </a:t>
                </a:r>
                <a:r>
                  <a:rPr lang="en-IN" sz="2400">
                    <a:solidFill>
                      <a:srgbClr val="111827"/>
                    </a:solidFill>
                    <a:latin typeface="Cambria Math" panose="02040503050406030204" pitchFamily="18" charset="0"/>
                  </a:rPr>
                  <a:t>$3\times{}^{11}C_5\times6!$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r>
                  <a:rPr lang="en-IN" sz="2400">
                    <a:solidFill>
                      <a:srgbClr val="111827"/>
                    </a:solidFill>
                    <a:latin typeface="Cambria Math" panose="02040503050406030204" pitchFamily="18" charset="0"/>
                  </a:rPr>
                  <a:t>$K\times6!\times{}^{11}C_5$</a:t>
                </a:r>
                <a:r>
                  <a:rPr sz="2400" b="0">
                    <a:solidFill>
                      <a:srgbClr val="111827"/>
                    </a:solidFill>
                    <a:latin typeface="Arial"/>
                  </a:rPr>
                  <a:t> gives </a:t>
                </a:r>
                <a:r>
                  <a:rPr lang="en-IN" sz="2400">
                    <a:solidFill>
                      <a:srgbClr val="111827"/>
                    </a:solidFill>
                    <a:latin typeface="Cambria Math" panose="02040503050406030204" pitchFamily="18" charset="0"/>
                  </a:rPr>
                  <a:t>$K=3$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a:t>
            </a:r>
            <a:endParaRPr sz="2800">
              <a:solidFill>
                <a:srgbClr val="15803D"/>
              </a:solidFill>
            </a:endParaRPr>
          </a:p>
        </p:txBody>
      </p:sp>
    </p:spTree>
  </p:cSld>
  <p:clrMapOvr>
    <a:masterClrMapping/>
  </p:clrMapOvr>
</p:sld>
</file>

<file path=ppt/slides/slide5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Place the </a:t>
                </a:r>
                <a14:m>
                  <m:oMath xmlns:m="http://schemas.openxmlformats.org/officeDocument/2006/math">
                    <m:r>
                      <a:rPr lang="en-IN" sz="2400" i="1">
                        <a:solidFill>
                          <a:srgbClr val="78350F"/>
                        </a:solidFill>
                        <a:latin typeface="Cambria Math" panose="02040503050406030204" pitchFamily="18" charset="0"/>
                      </a:rPr>
                      <m:t>β</m:t>
                    </m:r>
                  </m:oMath>
                </a14:m>
                <a:r>
                  <a:rPr sz="2400" b="0">
                    <a:solidFill>
                      <a:srgbClr val="78350F"/>
                    </a:solidFill>
                    <a:latin typeface="Arial"/>
                  </a:rPr>
                  <a:t>'s in the gaps between the </a:t>
                </a:r>
                <a14:m>
                  <m:oMath xmlns:m="http://schemas.openxmlformats.org/officeDocument/2006/math">
                    <m:r>
                      <a:rPr lang="en-IN" sz="2400" i="1">
                        <a:solidFill>
                          <a:srgbClr val="78350F"/>
                        </a:solidFill>
                        <a:latin typeface="Cambria Math" panose="02040503050406030204" pitchFamily="18" charset="0"/>
                      </a:rPr>
                      <m:t>α</m:t>
                    </m:r>
                  </m:oMath>
                </a14:m>
                <a:r>
                  <a:rPr sz="2400" b="0">
                    <a:solidFill>
                      <a:srgbClr val="78350F"/>
                    </a:solidFill>
                    <a:latin typeface="Arial"/>
                  </a:rPr>
                  <a:t>'s, instead of listing patterns.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Place the </a:t>
                </a:r>
                <a:r>
                  <a:rPr lang="en-IN" sz="2400">
                    <a:solidFill>
                      <a:srgbClr val="78350F"/>
                    </a:solidFill>
                    <a:latin typeface="Cambria Math" panose="02040503050406030204" pitchFamily="18" charset="0"/>
                  </a:rPr>
                  <a:t>$\beta$</a:t>
                </a:r>
                <a:r>
                  <a:rPr sz="2400" b="0">
                    <a:solidFill>
                      <a:srgbClr val="78350F"/>
                    </a:solidFill>
                    <a:latin typeface="Arial"/>
                  </a:rPr>
                  <a:t>'s in the gaps between the </a:t>
                </a:r>
                <a:r>
                  <a:rPr lang="en-IN" sz="2400">
                    <a:solidFill>
                      <a:srgbClr val="78350F"/>
                    </a:solidFill>
                    <a:latin typeface="Cambria Math" panose="02040503050406030204" pitchFamily="18" charset="0"/>
                  </a:rPr>
                  <a:t>$\alpha$</a:t>
                </a:r>
                <a:r>
                  <a:rPr sz="2400" b="0">
                    <a:solidFill>
                      <a:srgbClr val="78350F"/>
                    </a:solidFill>
                    <a:latin typeface="Arial"/>
                  </a:rPr>
                  <a:t>'s, instead of listing patterns.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three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create exactly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inner gaps (between 1st-2nd and 2nd-3rd); each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must go in one of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identical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are distributed into the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gaps with repetition allowed: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ways (both in gap 1, both in gap 2, one in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gives the same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patterns of Greek letters.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three </a:t>
                </a:r>
                <a:r>
                  <a:rPr lang="en-IN" sz="2400">
                    <a:solidFill>
                      <a:srgbClr val="111827"/>
                    </a:solidFill>
                    <a:latin typeface="Cambria Math" panose="02040503050406030204" pitchFamily="18" charset="0"/>
                  </a:rPr>
                  <a:t>$\alpha$</a:t>
                </a:r>
                <a:r>
                  <a:rPr sz="2400" b="0">
                    <a:solidFill>
                      <a:srgbClr val="111827"/>
                    </a:solidFill>
                    <a:latin typeface="Arial"/>
                  </a:rPr>
                  <a:t> create exactly </a:t>
                </a:r>
                <a:r>
                  <a:rPr lang="en-IN" sz="2400">
                    <a:solidFill>
                      <a:srgbClr val="111827"/>
                    </a:solidFill>
                    <a:latin typeface="Cambria Math" panose="02040503050406030204" pitchFamily="18" charset="0"/>
                  </a:rPr>
                  <a:t>$2$</a:t>
                </a:r>
                <a:r>
                  <a:rPr sz="2400" b="0">
                    <a:solidFill>
                      <a:srgbClr val="111827"/>
                    </a:solidFill>
                    <a:latin typeface="Arial"/>
                  </a:rPr>
                  <a:t> inner gaps (between 1st-2nd and 2nd-3rd); each </a:t>
                </a:r>
                <a:r>
                  <a:rPr lang="en-IN" sz="2400">
                    <a:solidFill>
                      <a:srgbClr val="111827"/>
                    </a:solidFill>
                    <a:latin typeface="Cambria Math" panose="02040503050406030204" pitchFamily="18" charset="0"/>
                  </a:rPr>
                  <a:t>$\beta$</a:t>
                </a:r>
                <a:r>
                  <a:rPr sz="2400" b="0">
                    <a:solidFill>
                      <a:srgbClr val="111827"/>
                    </a:solidFill>
                    <a:latin typeface="Arial"/>
                  </a:rPr>
                  <a:t> must go in one of them.</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identical </a:t>
                </a:r>
                <a:r>
                  <a:rPr lang="en-IN" sz="2400">
                    <a:solidFill>
                      <a:srgbClr val="111827"/>
                    </a:solidFill>
                    <a:latin typeface="Cambria Math" panose="02040503050406030204" pitchFamily="18" charset="0"/>
                  </a:rPr>
                  <a:t>$\beta$</a:t>
                </a:r>
                <a:r>
                  <a:rPr sz="2400" b="0">
                    <a:solidFill>
                      <a:srgbClr val="111827"/>
                    </a:solidFill>
                    <a:latin typeface="Arial"/>
                  </a:rPr>
                  <a:t> are distributed into the </a:t>
                </a:r>
                <a:r>
                  <a:rPr lang="en-IN" sz="2400">
                    <a:solidFill>
                      <a:srgbClr val="111827"/>
                    </a:solidFill>
                    <a:latin typeface="Cambria Math" panose="02040503050406030204" pitchFamily="18" charset="0"/>
                  </a:rPr>
                  <a:t>$2$</a:t>
                </a:r>
                <a:r>
                  <a:rPr sz="2400" b="0">
                    <a:solidFill>
                      <a:srgbClr val="111827"/>
                    </a:solidFill>
                    <a:latin typeface="Arial"/>
                  </a:rPr>
                  <a:t> gaps with repetition allowed: </a:t>
                </a:r>
                <a:r>
                  <a:rPr lang="en-IN" sz="2400">
                    <a:solidFill>
                      <a:srgbClr val="111827"/>
                    </a:solidFill>
                    <a:latin typeface="Cambria Math" panose="02040503050406030204" pitchFamily="18" charset="0"/>
                  </a:rPr>
                  <a:t>$\binom{2+2-1}{2}=3$</a:t>
                </a:r>
                <a:r>
                  <a:rPr sz="2400" b="0">
                    <a:solidFill>
                      <a:srgbClr val="111827"/>
                    </a:solidFill>
                    <a:latin typeface="Arial"/>
                  </a:rPr>
                  <a:t> ways (both in gap 1, both in gap 2, one in each).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gives the same </a:t>
                </a:r>
                <a:r>
                  <a:rPr lang="en-IN" sz="2400">
                    <a:solidFill>
                      <a:srgbClr val="111827"/>
                    </a:solidFill>
                    <a:latin typeface="Cambria Math" panose="02040503050406030204" pitchFamily="18" charset="0"/>
                  </a:rPr>
                  <a:t>$3$</a:t>
                </a:r>
                <a:r>
                  <a:rPr sz="2400" b="0">
                    <a:solidFill>
                      <a:srgbClr val="111827"/>
                    </a:solidFill>
                    <a:latin typeface="Arial"/>
                  </a:rPr>
                  <a:t> patterns of Greek letters.</a:t>
                </a:r>
                <a:endParaRPr sz="2400">
                  <a:solidFill>
                    <a:srgbClr val="111827"/>
                  </a:solidFill>
                </a:endParaRPr>
              </a:p>
            </p:txBody>
          </p:sp>
        </mc:Fallback>
      </mc:AlternateContent>
    </p:spTree>
  </p:cSld>
  <p:clrMapOvr>
    <a:masterClrMapping/>
  </p:clrMapOvr>
</p:sld>
</file>

<file path=ppt/slides/slide5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Choosing the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places for the Greek letters among </a:t>
                </a:r>
                <a14:m>
                  <m:oMath xmlns:m="http://schemas.openxmlformats.org/officeDocument/2006/math">
                    <m:r>
                      <a:rPr lang="en-IN" sz="2400" i="1">
                        <a:solidFill>
                          <a:srgbClr val="111827"/>
                        </a:solidFill>
                        <a:latin typeface="Cambria Math" panose="02040503050406030204" pitchFamily="18" charset="0"/>
                      </a:rPr>
                      <m:t>11</m:t>
                    </m:r>
                  </m:oMath>
                </a14:m>
                <a:r>
                  <a:rPr sz="2400" b="0">
                    <a:solidFill>
                      <a:srgbClr val="111827"/>
                    </a:solidFill>
                    <a:latin typeface="Arial"/>
                  </a:rPr>
                  <a:t> places: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5</m:t>
                            </m:r>
                          </m:den>
                        </m:f>
                      </m:e>
                    </m:d>
                  </m:oMath>
                </a14:m>
                <a:r>
                  <a:rPr sz="2400" b="0">
                    <a:solidFill>
                      <a:srgbClr val="111827"/>
                    </a:solidFill>
                    <a:latin typeface="Arial"/>
                  </a:rPr>
                  <a:t> ways; the pattern is then one of the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six distinct letters fill the other </a:t>
                </a:r>
                <a14:m>
                  <m:oMath xmlns:m="http://schemas.openxmlformats.org/officeDocument/2006/math">
                    <m:r>
                      <a:rPr lang="en-IN" sz="2400" i="1">
                        <a:solidFill>
                          <a:srgbClr val="111827"/>
                        </a:solidFill>
                        <a:latin typeface="Cambria Math" panose="02040503050406030204" pitchFamily="18" charset="0"/>
                      </a:rPr>
                      <m:t>6</m:t>
                    </m:r>
                  </m:oMath>
                </a14:m>
                <a:r>
                  <a:rPr sz="2400" b="0">
                    <a:solidFill>
                      <a:srgbClr val="111827"/>
                    </a:solidFill>
                    <a:latin typeface="Arial"/>
                  </a:rPr>
                  <a:t> places in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ways, so the total is </a:t>
                </a:r>
                <a14:m>
                  <m:oMath xmlns:m="http://schemas.openxmlformats.org/officeDocument/2006/math">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5</m:t>
                            </m:r>
                          </m:den>
                        </m:f>
                      </m:e>
                    </m:d>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𝐾</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Choosing the </a:t>
                </a:r>
                <a:r>
                  <a:rPr lang="en-IN" sz="2400">
                    <a:solidFill>
                      <a:srgbClr val="111827"/>
                    </a:solidFill>
                    <a:latin typeface="Cambria Math" panose="02040503050406030204" pitchFamily="18" charset="0"/>
                  </a:rPr>
                  <a:t>$5$</a:t>
                </a:r>
                <a:r>
                  <a:rPr sz="2400" b="0">
                    <a:solidFill>
                      <a:srgbClr val="111827"/>
                    </a:solidFill>
                    <a:latin typeface="Arial"/>
                  </a:rPr>
                  <a:t> places for the Greek letters among </a:t>
                </a:r>
                <a:r>
                  <a:rPr lang="en-IN" sz="2400">
                    <a:solidFill>
                      <a:srgbClr val="111827"/>
                    </a:solidFill>
                    <a:latin typeface="Cambria Math" panose="02040503050406030204" pitchFamily="18" charset="0"/>
                  </a:rPr>
                  <a:t>$11$</a:t>
                </a:r>
                <a:r>
                  <a:rPr sz="2400" b="0">
                    <a:solidFill>
                      <a:srgbClr val="111827"/>
                    </a:solidFill>
                    <a:latin typeface="Arial"/>
                  </a:rPr>
                  <a:t> places: </a:t>
                </a:r>
                <a:r>
                  <a:rPr lang="en-IN" sz="2400">
                    <a:solidFill>
                      <a:srgbClr val="111827"/>
                    </a:solidFill>
                    <a:latin typeface="Cambria Math" panose="02040503050406030204" pitchFamily="18" charset="0"/>
                  </a:rPr>
                  <a:t>$\binom{11}{5}$</a:t>
                </a:r>
                <a:r>
                  <a:rPr sz="2400" b="0">
                    <a:solidFill>
                      <a:srgbClr val="111827"/>
                    </a:solidFill>
                    <a:latin typeface="Arial"/>
                  </a:rPr>
                  <a:t> ways; the pattern is then one of the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six distinct letters fill the other </a:t>
                </a:r>
                <a:r>
                  <a:rPr lang="en-IN" sz="2400">
                    <a:solidFill>
                      <a:srgbClr val="111827"/>
                    </a:solidFill>
                    <a:latin typeface="Cambria Math" panose="02040503050406030204" pitchFamily="18" charset="0"/>
                  </a:rPr>
                  <a:t>$6$</a:t>
                </a:r>
                <a:r>
                  <a:rPr sz="2400" b="0">
                    <a:solidFill>
                      <a:srgbClr val="111827"/>
                    </a:solidFill>
                    <a:latin typeface="Arial"/>
                  </a:rPr>
                  <a:t> places in </a:t>
                </a:r>
                <a:r>
                  <a:rPr lang="en-IN" sz="2400">
                    <a:solidFill>
                      <a:srgbClr val="111827"/>
                    </a:solidFill>
                    <a:latin typeface="Cambria Math" panose="02040503050406030204" pitchFamily="18" charset="0"/>
                  </a:rPr>
                  <a:t>$6!$</a:t>
                </a:r>
                <a:r>
                  <a:rPr sz="2400" b="0">
                    <a:solidFill>
                      <a:srgbClr val="111827"/>
                    </a:solidFill>
                    <a:latin typeface="Arial"/>
                  </a:rPr>
                  <a:t> ways, so the total is </a:t>
                </a:r>
                <a:r>
                  <a:rPr lang="en-IN" sz="2400">
                    <a:solidFill>
                      <a:srgbClr val="111827"/>
                    </a:solidFill>
                    <a:latin typeface="Cambria Math" panose="02040503050406030204" pitchFamily="18" charset="0"/>
                  </a:rPr>
                  <a:t>$3\binom{11}{5}6!$</a:t>
                </a:r>
                <a:r>
                  <a:rPr sz="2400" b="0">
                    <a:solidFill>
                      <a:srgbClr val="111827"/>
                    </a:solidFill>
                    <a:latin typeface="Arial"/>
                  </a:rPr>
                  <a:t> and </a:t>
                </a:r>
                <a:r>
                  <a:rPr lang="en-IN" sz="2400">
                    <a:solidFill>
                      <a:srgbClr val="111827"/>
                    </a:solidFill>
                    <a:latin typeface="Cambria Math" panose="02040503050406030204" pitchFamily="18" charset="0"/>
                  </a:rPr>
                  <a:t>$K=3$</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a:t>
            </a:r>
            <a:endParaRPr sz="2800">
              <a:solidFill>
                <a:srgbClr val="15803D"/>
              </a:solidFill>
            </a:endParaRPr>
          </a:p>
        </p:txBody>
      </p:sp>
    </p:spTree>
  </p:cSld>
  <p:clrMapOvr>
    <a:masterClrMapping/>
  </p:clrMapOvr>
</p:sld>
</file>

<file path=ppt/slides/slide5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Putting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distinct objects into the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gaps made by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fixed objects: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𝑘</m:t>
                            </m:r>
                          </m:den>
                        </m:f>
                      </m:e>
                    </m:d>
                  </m:oMath>
                </a14:m>
                <a:r>
                  <a:rPr sz="2400" b="0">
                    <a:solidFill>
                      <a:srgbClr val="111827"/>
                    </a:solidFill>
                    <a:latin typeface="Arial"/>
                  </a:rPr>
                  <a:t> gap-distributions, times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orders.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identical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identical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'every </a:t>
                </a:r>
                <a14:m>
                  <m:oMath xmlns:m="http://schemas.openxmlformats.org/officeDocument/2006/math">
                    <m:r>
                      <a:rPr lang="en-IN" sz="2400" i="1">
                        <a:solidFill>
                          <a:srgbClr val="111827"/>
                        </a:solidFill>
                        <a:latin typeface="Cambria Math" panose="02040503050406030204" pitchFamily="18" charset="0"/>
                      </a:rPr>
                      <m:t>β</m:t>
                    </m:r>
                  </m:oMath>
                </a14:m>
                <a:r>
                  <a:rPr sz="2400" b="0">
                    <a:solidFill>
                      <a:srgbClr val="111827"/>
                    </a:solidFill>
                    <a:latin typeface="Arial"/>
                  </a:rPr>
                  <a:t> between two </a:t>
                </a:r>
                <a14:m>
                  <m:oMath xmlns:m="http://schemas.openxmlformats.org/officeDocument/2006/math">
                    <m:r>
                      <a:rPr lang="en-IN" sz="2400" i="1">
                        <a:solidFill>
                          <a:srgbClr val="111827"/>
                        </a:solidFill>
                        <a:latin typeface="Cambria Math" panose="02040503050406030204" pitchFamily="18" charset="0"/>
                      </a:rPr>
                      <m:t>α</m:t>
                    </m:r>
                  </m:oMath>
                </a14:m>
                <a:r>
                  <a:rPr sz="2400" b="0">
                    <a:solidFill>
                      <a:srgbClr val="111827"/>
                    </a:solidFill>
                    <a:latin typeface="Arial"/>
                  </a:rPr>
                  <a:t>' leaves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𝑏</m:t>
                            </m:r>
                          </m:den>
                        </m:f>
                      </m:e>
                    </m:d>
                  </m:oMath>
                </a14:m>
                <a:r>
                  <a:rPr sz="2400" b="0">
                    <a:solidFill>
                      <a:srgbClr val="111827"/>
                    </a:solidFill>
                    <a:latin typeface="Arial"/>
                  </a:rPr>
                  <a:t> patterns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the positions of the constrained group first and fill the free objects afterwards; this avoids dividing by factorials of identical objects.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Putting </a:t>
                </a:r>
                <a:r>
                  <a:rPr lang="en-IN" sz="2400">
                    <a:solidFill>
                      <a:srgbClr val="111827"/>
                    </a:solidFill>
                    <a:latin typeface="Cambria Math" panose="02040503050406030204" pitchFamily="18" charset="0"/>
                  </a:rPr>
                  <a:t>$m$</a:t>
                </a:r>
                <a:r>
                  <a:rPr sz="2400" b="0">
                    <a:solidFill>
                      <a:srgbClr val="111827"/>
                    </a:solidFill>
                    <a:latin typeface="Arial"/>
                  </a:rPr>
                  <a:t> distinct objects into the </a:t>
                </a:r>
                <a:r>
                  <a:rPr lang="en-IN" sz="2400">
                    <a:solidFill>
                      <a:srgbClr val="111827"/>
                    </a:solidFill>
                    <a:latin typeface="Cambria Math" panose="02040503050406030204" pitchFamily="18" charset="0"/>
                  </a:rPr>
                  <a:t>$k+1$</a:t>
                </a:r>
                <a:r>
                  <a:rPr sz="2400" b="0">
                    <a:solidFill>
                      <a:srgbClr val="111827"/>
                    </a:solidFill>
                    <a:latin typeface="Arial"/>
                  </a:rPr>
                  <a:t> gaps made by </a:t>
                </a:r>
                <a:r>
                  <a:rPr lang="en-IN" sz="2400">
                    <a:solidFill>
                      <a:srgbClr val="111827"/>
                    </a:solidFill>
                    <a:latin typeface="Cambria Math" panose="02040503050406030204" pitchFamily="18" charset="0"/>
                  </a:rPr>
                  <a:t>$k$</a:t>
                </a:r>
                <a:r>
                  <a:rPr sz="2400" b="0">
                    <a:solidFill>
                      <a:srgbClr val="111827"/>
                    </a:solidFill>
                    <a:latin typeface="Arial"/>
                  </a:rPr>
                  <a:t> fixed objects: </a:t>
                </a:r>
                <a:r>
                  <a:rPr lang="en-IN" sz="2400">
                    <a:solidFill>
                      <a:srgbClr val="111827"/>
                    </a:solidFill>
                    <a:latin typeface="Cambria Math" panose="02040503050406030204" pitchFamily="18" charset="0"/>
                  </a:rPr>
                  <a:t>$\binom{m+k}{k}$</a:t>
                </a:r>
                <a:r>
                  <a:rPr sz="2400" b="0">
                    <a:solidFill>
                      <a:srgbClr val="111827"/>
                    </a:solidFill>
                    <a:latin typeface="Arial"/>
                  </a:rPr>
                  <a:t> gap-distributions, times </a:t>
                </a:r>
                <a:r>
                  <a:rPr lang="en-IN" sz="2400">
                    <a:solidFill>
                      <a:srgbClr val="111827"/>
                    </a:solidFill>
                    <a:latin typeface="Cambria Math" panose="02040503050406030204" pitchFamily="18" charset="0"/>
                  </a:rPr>
                  <a:t>$m!$</a:t>
                </a:r>
                <a:r>
                  <a:rPr sz="2400" b="0">
                    <a:solidFill>
                      <a:srgbClr val="111827"/>
                    </a:solidFill>
                    <a:latin typeface="Arial"/>
                  </a:rPr>
                  <a:t> orders.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$a$</a:t>
                </a:r>
                <a:r>
                  <a:rPr sz="2400" b="0">
                    <a:solidFill>
                      <a:srgbClr val="111827"/>
                    </a:solidFill>
                    <a:latin typeface="Arial"/>
                  </a:rPr>
                  <a:t> identical </a:t>
                </a:r>
                <a:r>
                  <a:rPr lang="en-IN" sz="2400">
                    <a:solidFill>
                      <a:srgbClr val="111827"/>
                    </a:solidFill>
                    <a:latin typeface="Cambria Math" panose="02040503050406030204" pitchFamily="18" charset="0"/>
                  </a:rPr>
                  <a:t>$\alpha$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identical </a:t>
                </a:r>
                <a:r>
                  <a:rPr lang="en-IN" sz="2400">
                    <a:solidFill>
                      <a:srgbClr val="111827"/>
                    </a:solidFill>
                    <a:latin typeface="Cambria Math" panose="02040503050406030204" pitchFamily="18" charset="0"/>
                  </a:rPr>
                  <a:t>$\beta$</a:t>
                </a:r>
                <a:r>
                  <a:rPr sz="2400" b="0">
                    <a:solidFill>
                      <a:srgbClr val="111827"/>
                    </a:solidFill>
                    <a:latin typeface="Arial"/>
                  </a:rPr>
                  <a:t>, 'every </a:t>
                </a:r>
                <a:r>
                  <a:rPr lang="en-IN" sz="2400">
                    <a:solidFill>
                      <a:srgbClr val="111827"/>
                    </a:solidFill>
                    <a:latin typeface="Cambria Math" panose="02040503050406030204" pitchFamily="18" charset="0"/>
                  </a:rPr>
                  <a:t>$\beta$</a:t>
                </a:r>
                <a:r>
                  <a:rPr sz="2400" b="0">
                    <a:solidFill>
                      <a:srgbClr val="111827"/>
                    </a:solidFill>
                    <a:latin typeface="Arial"/>
                  </a:rPr>
                  <a:t> between two </a:t>
                </a:r>
                <a:r>
                  <a:rPr lang="en-IN" sz="2400">
                    <a:solidFill>
                      <a:srgbClr val="111827"/>
                    </a:solidFill>
                    <a:latin typeface="Cambria Math" panose="02040503050406030204" pitchFamily="18" charset="0"/>
                  </a:rPr>
                  <a:t>$\alpha$</a:t>
                </a:r>
                <a:r>
                  <a:rPr sz="2400" b="0">
                    <a:solidFill>
                      <a:srgbClr val="111827"/>
                    </a:solidFill>
                    <a:latin typeface="Arial"/>
                  </a:rPr>
                  <a:t>' leaves </a:t>
                </a:r>
                <a:r>
                  <a:rPr lang="en-IN" sz="2400">
                    <a:solidFill>
                      <a:srgbClr val="111827"/>
                    </a:solidFill>
                    <a:latin typeface="Cambria Math" panose="02040503050406030204" pitchFamily="18" charset="0"/>
                  </a:rPr>
                  <a:t>$\binom{a-2+b}{b}$</a:t>
                </a:r>
                <a:r>
                  <a:rPr sz="2400" b="0">
                    <a:solidFill>
                      <a:srgbClr val="111827"/>
                    </a:solidFill>
                    <a:latin typeface="Arial"/>
                  </a:rPr>
                  <a:t> patterns (</a:t>
                </a:r>
                <a:r>
                  <a:rPr lang="en-IN" sz="2400">
                    <a:solidFill>
                      <a:srgbClr val="111827"/>
                    </a:solidFill>
                    <a:latin typeface="Cambria Math" panose="02040503050406030204" pitchFamily="18" charset="0"/>
                  </a:rPr>
                  <a:t>$a=3,b=2$</a:t>
                </a:r>
                <a:r>
                  <a:rPr sz="2400" b="0">
                    <a:solidFill>
                      <a:srgbClr val="111827"/>
                    </a:solidFill>
                    <a:latin typeface="Arial"/>
                  </a:rPr>
                  <a:t> gives </a:t>
                </a:r>
                <a:r>
                  <a:rPr lang="en-IN" sz="2400">
                    <a:solidFill>
                      <a:srgbClr val="111827"/>
                    </a:solidFill>
                    <a:latin typeface="Cambria Math" panose="02040503050406030204" pitchFamily="18" charset="0"/>
                  </a:rPr>
                  <a:t>$3$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Choose the positions of the constrained group first and fill the free objects afterwards; this avoids dividing by factorials of identical objects.</a:t>
                </a:r>
                <a:endParaRPr sz="2400">
                  <a:solidFill>
                    <a:srgbClr val="111827"/>
                  </a:solidFill>
                </a:endParaRPr>
              </a:p>
            </p:txBody>
          </p:sp>
        </mc:Fallback>
      </mc:AlternateContent>
    </p:spTree>
  </p:cSld>
  <p:clrMapOvr>
    <a:masterClrMapping/>
  </p:clrMapOvr>
</p:sld>
</file>

<file path=ppt/slides/slide5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complex number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satisfies the system of equations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 complex number </a:t>
                </a:r>
                <a:r>
                  <a:rPr lang="en-IN" sz="2400">
                    <a:solidFill>
                      <a:srgbClr val="111827"/>
                    </a:solidFill>
                    <a:latin typeface="Cambria Math" panose="02040503050406030204" pitchFamily="18" charset="0"/>
                  </a:rPr>
                  <a:t>$z$</a:t>
                </a:r>
                <a:r>
                  <a:rPr sz="2400" b="0">
                    <a:solidFill>
                      <a:srgbClr val="111827"/>
                    </a:solidFill>
                    <a:latin typeface="Arial"/>
                  </a:rPr>
                  <a:t> satisfies the system of equations </a:t>
                </a:r>
                <a:r>
                  <a:rPr lang="en-IN" sz="2400">
                    <a:solidFill>
                      <a:srgbClr val="111827"/>
                    </a:solidFill>
                    <a:latin typeface="Cambria Math" panose="02040503050406030204" pitchFamily="18" charset="0"/>
                  </a:rPr>
                  <a:t>$|z-4|=|z-4-3i|$</a:t>
                </a:r>
                <a:r>
                  <a:rPr sz="2400" b="0">
                    <a:solidFill>
                      <a:srgbClr val="111827"/>
                    </a:solidFill>
                    <a:latin typeface="Arial"/>
                  </a:rPr>
                  <a:t>, </a:t>
                </a:r>
                <a:r>
                  <a:rPr lang="en-IN" sz="2400">
                    <a:solidFill>
                      <a:srgbClr val="111827"/>
                    </a:solidFill>
                    <a:latin typeface="Cambria Math" panose="02040503050406030204" pitchFamily="18" charset="0"/>
                  </a:rPr>
                  <a:t>$|z-2+3i|=|z-5i|$</a:t>
                </a:r>
                <a:r>
                  <a:rPr sz="2400" b="0">
                    <a:solidFill>
                      <a:srgbClr val="111827"/>
                    </a:solidFill>
                    <a:latin typeface="Arial"/>
                  </a:rPr>
                  <a:t>. Then </a:t>
                </a:r>
                <a:r>
                  <a:rPr lang="en-IN" sz="2400">
                    <a:solidFill>
                      <a:srgbClr val="111827"/>
                    </a:solidFill>
                    <a:latin typeface="Cambria Math" panose="02040503050406030204" pitchFamily="18" charset="0"/>
                  </a:rPr>
                  <a:t>$2\,\mathrm{Re}(z)=$</a:t>
                </a:r>
                <a:r>
                  <a:rPr sz="2400" b="0">
                    <a:solidFill>
                      <a:srgbClr val="111827"/>
                    </a:solidFill>
                    <a:latin typeface="Arial"/>
                  </a:rPr>
                  <a:t> ______.</a:t>
                </a:r>
                <a:endParaRPr sz="2400">
                  <a:solidFill>
                    <a:srgbClr val="111827"/>
                  </a:solidFill>
                </a:endParaRPr>
              </a:p>
            </p:txBody>
          </p:sp>
        </mc:Fallback>
      </mc:AlternateContent>
      <p:sp>
        <p:nvSpPr>
          <p:cNvPr id="5" name="Rectangle 4"/>
          <p:cNvSpPr/>
          <p:nvPr/>
        </p:nvSpPr>
        <p:spPr>
          <a:xfrm>
            <a:off x="731520" y="324612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modulus and locus (perpendicular bisector)</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5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says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lies on the perpendicular bisector of the points </a:t>
                </a:r>
                <a14:m>
                  <m:oMath xmlns:m="http://schemas.openxmlformats.org/officeDocument/2006/math">
                    <m:r>
                      <a:rPr lang="en-IN" sz="2400" i="1">
                        <a:solidFill>
                          <a:srgbClr val="78350F"/>
                        </a:solidFill>
                        <a:latin typeface="Cambria Math" panose="02040503050406030204" pitchFamily="18" charset="0"/>
                      </a:rPr>
                      <m:t>𝑎</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𝑏</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$|z-a|=|z-b|$</a:t>
                </a:r>
                <a:r>
                  <a:rPr sz="2400" b="0">
                    <a:solidFill>
                      <a:srgbClr val="78350F"/>
                    </a:solidFill>
                    <a:latin typeface="Arial"/>
                  </a:rPr>
                  <a:t> says </a:t>
                </a:r>
                <a:r>
                  <a:rPr lang="en-IN" sz="2400">
                    <a:solidFill>
                      <a:srgbClr val="78350F"/>
                    </a:solidFill>
                    <a:latin typeface="Cambria Math" panose="02040503050406030204" pitchFamily="18" charset="0"/>
                  </a:rPr>
                  <a:t>$z$</a:t>
                </a:r>
                <a:r>
                  <a:rPr sz="2400" b="0">
                    <a:solidFill>
                      <a:srgbClr val="78350F"/>
                    </a:solidFill>
                    <a:latin typeface="Arial"/>
                  </a:rPr>
                  <a:t> lies on the perpendicular bisector of the points </a:t>
                </a:r>
                <a:r>
                  <a:rPr lang="en-IN" sz="2400">
                    <a:solidFill>
                      <a:srgbClr val="78350F"/>
                    </a:solidFill>
                    <a:latin typeface="Cambria Math" panose="02040503050406030204" pitchFamily="18" charset="0"/>
                  </a:rPr>
                  <a:t>$a$</a:t>
                </a:r>
                <a:r>
                  <a:rPr sz="2400" b="0">
                    <a:solidFill>
                      <a:srgbClr val="78350F"/>
                    </a:solidFill>
                    <a:latin typeface="Arial"/>
                  </a:rPr>
                  <a:t> and </a:t>
                </a:r>
                <a:r>
                  <a:rPr lang="en-IN" sz="2400">
                    <a:solidFill>
                      <a:srgbClr val="78350F"/>
                    </a:solidFill>
                    <a:latin typeface="Cambria Math" panose="02040503050406030204" pitchFamily="18" charset="0"/>
                  </a:rPr>
                  <a:t>$b$</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equidistant from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lies on the perpendicular bisector of that segment.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means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equidistant from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𝑖</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lies on the perpendicular bisector of that segment.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$z=x+iy$</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$|z-4|=|z-4-3i|$</a:t>
                </a:r>
                <a:r>
                  <a:rPr sz="2400" b="0">
                    <a:solidFill>
                      <a:srgbClr val="111827"/>
                    </a:solidFill>
                    <a:latin typeface="Arial"/>
                  </a:rPr>
                  <a:t> means </a:t>
                </a:r>
                <a:r>
                  <a:rPr lang="en-IN" sz="2400">
                    <a:solidFill>
                      <a:srgbClr val="111827"/>
                    </a:solidFill>
                    <a:latin typeface="Cambria Math" panose="02040503050406030204" pitchFamily="18" charset="0"/>
                  </a:rPr>
                  <a:t>$z$</a:t>
                </a:r>
                <a:r>
                  <a:rPr sz="2400" b="0">
                    <a:solidFill>
                      <a:srgbClr val="111827"/>
                    </a:solidFill>
                    <a:latin typeface="Arial"/>
                  </a:rPr>
                  <a:t> is equidistant from </a:t>
                </a:r>
                <a:r>
                  <a:rPr lang="en-IN" sz="2400">
                    <a:solidFill>
                      <a:srgbClr val="111827"/>
                    </a:solidFill>
                    <a:latin typeface="Cambria Math" panose="02040503050406030204" pitchFamily="18" charset="0"/>
                  </a:rPr>
                  <a:t>$4$</a:t>
                </a:r>
                <a:r>
                  <a:rPr sz="2400" b="0">
                    <a:solidFill>
                      <a:srgbClr val="111827"/>
                    </a:solidFill>
                    <a:latin typeface="Arial"/>
                  </a:rPr>
                  <a:t> and </a:t>
                </a:r>
                <a:r>
                  <a:rPr lang="en-IN" sz="2400">
                    <a:solidFill>
                      <a:srgbClr val="111827"/>
                    </a:solidFill>
                    <a:latin typeface="Cambria Math" panose="02040503050406030204" pitchFamily="18" charset="0"/>
                  </a:rPr>
                  <a:t>$4+3i$</a:t>
                </a:r>
                <a:r>
                  <a:rPr sz="2400" b="0">
                    <a:solidFill>
                      <a:srgbClr val="111827"/>
                    </a:solidFill>
                    <a:latin typeface="Arial"/>
                  </a:rPr>
                  <a:t>, so </a:t>
                </a:r>
                <a:r>
                  <a:rPr lang="en-IN" sz="2400">
                    <a:solidFill>
                      <a:srgbClr val="111827"/>
                    </a:solidFill>
                    <a:latin typeface="Cambria Math" panose="02040503050406030204" pitchFamily="18" charset="0"/>
                  </a:rPr>
                  <a:t>$z$</a:t>
                </a:r>
                <a:r>
                  <a:rPr sz="2400" b="0">
                    <a:solidFill>
                      <a:srgbClr val="111827"/>
                    </a:solidFill>
                    <a:latin typeface="Arial"/>
                  </a:rPr>
                  <a:t> lies on the perpendicular bisector of that segment.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r>
                  <a:rPr lang="en-IN" sz="2400">
                    <a:solidFill>
                      <a:srgbClr val="111827"/>
                    </a:solidFill>
                    <a:latin typeface="Cambria Math" panose="02040503050406030204" pitchFamily="18" charset="0"/>
                  </a:rPr>
                  <a:t>$(x-4)^2+y^2=(x-4)^2+(y-3)^2\Rightarrow 6y=9$</a:t>
                </a:r>
                <a:r>
                  <a:rPr sz="2400" b="0">
                    <a:solidFill>
                      <a:srgbClr val="111827"/>
                    </a:solidFill>
                    <a:latin typeface="Arial"/>
                  </a:rPr>
                  <a:t>, i.e. </a:t>
                </a:r>
                <a:r>
                  <a:rPr lang="en-IN" sz="2400">
                    <a:solidFill>
                      <a:srgbClr val="111827"/>
                    </a:solidFill>
                    <a:latin typeface="Cambria Math" panose="02040503050406030204" pitchFamily="18" charset="0"/>
                  </a:rPr>
                  <a:t>$y=\frac{3}{2}$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$|z-2+3i|=|z-5i|$</a:t>
                </a:r>
                <a:r>
                  <a:rPr sz="2400" b="0">
                    <a:solidFill>
                      <a:srgbClr val="111827"/>
                    </a:solidFill>
                    <a:latin typeface="Arial"/>
                  </a:rPr>
                  <a:t> means </a:t>
                </a:r>
                <a:r>
                  <a:rPr lang="en-IN" sz="2400">
                    <a:solidFill>
                      <a:srgbClr val="111827"/>
                    </a:solidFill>
                    <a:latin typeface="Cambria Math" panose="02040503050406030204" pitchFamily="18" charset="0"/>
                  </a:rPr>
                  <a:t>$z$</a:t>
                </a:r>
                <a:r>
                  <a:rPr sz="2400" b="0">
                    <a:solidFill>
                      <a:srgbClr val="111827"/>
                    </a:solidFill>
                    <a:latin typeface="Arial"/>
                  </a:rPr>
                  <a:t> is equidistant from </a:t>
                </a:r>
                <a:r>
                  <a:rPr lang="en-IN" sz="2400">
                    <a:solidFill>
                      <a:srgbClr val="111827"/>
                    </a:solidFill>
                    <a:latin typeface="Cambria Math" panose="02040503050406030204" pitchFamily="18" charset="0"/>
                  </a:rPr>
                  <a:t>$2-3i$</a:t>
                </a:r>
                <a:r>
                  <a:rPr sz="2400" b="0">
                    <a:solidFill>
                      <a:srgbClr val="111827"/>
                    </a:solidFill>
                    <a:latin typeface="Arial"/>
                  </a:rPr>
                  <a:t> and </a:t>
                </a:r>
                <a:r>
                  <a:rPr lang="en-IN" sz="2400">
                    <a:solidFill>
                      <a:srgbClr val="111827"/>
                    </a:solidFill>
                    <a:latin typeface="Cambria Math" panose="02040503050406030204" pitchFamily="18" charset="0"/>
                  </a:rPr>
                  <a:t>$5i$</a:t>
                </a:r>
                <a:r>
                  <a:rPr sz="2400" b="0">
                    <a:solidFill>
                      <a:srgbClr val="111827"/>
                    </a:solidFill>
                    <a:latin typeface="Arial"/>
                  </a:rPr>
                  <a:t>, so </a:t>
                </a:r>
                <a:r>
                  <a:rPr lang="en-IN" sz="2400">
                    <a:solidFill>
                      <a:srgbClr val="111827"/>
                    </a:solidFill>
                    <a:latin typeface="Cambria Math" panose="02040503050406030204" pitchFamily="18" charset="0"/>
                  </a:rPr>
                  <a:t>$z$</a:t>
                </a:r>
                <a:r>
                  <a:rPr sz="2400" b="0">
                    <a:solidFill>
                      <a:srgbClr val="111827"/>
                    </a:solidFill>
                    <a:latin typeface="Arial"/>
                  </a:rPr>
                  <a:t> lies on the perpendicular bisector of that segment.</a:t>
                </a:r>
                <a:endParaRPr sz="2400">
                  <a:solidFill>
                    <a:srgbClr val="111827"/>
                  </a:solidFill>
                </a:endParaRPr>
              </a:p>
            </p:txBody>
          </p:sp>
        </mc:Fallback>
      </mc:AlternateContent>
    </p:spTree>
  </p:cSld>
  <p:clrMapOvr>
    <a:masterClrMapping/>
  </p:clrMapOvr>
</p:sld>
</file>

<file path=ppt/slides/slide5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Squaring: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Squaring: </a:t>
                </a:r>
                <a:r>
                  <a:rPr lang="en-IN" sz="2400">
                    <a:solidFill>
                      <a:srgbClr val="111827"/>
                    </a:solidFill>
                    <a:latin typeface="Cambria Math" panose="02040503050406030204" pitchFamily="18" charset="0"/>
                  </a:rPr>
                  <a:t>$(x-2)^2+(y+3)^2=x^2+(y-5)^2\Rightarrow -4x+6y+13=-10y+25\Rightarrow 4y=x+3$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$y=\frac{3}{2}$</a:t>
                </a:r>
                <a:r>
                  <a:rPr sz="2400" b="0">
                    <a:solidFill>
                      <a:srgbClr val="111827"/>
                    </a:solidFill>
                    <a:latin typeface="Arial"/>
                  </a:rPr>
                  <a:t>: </a:t>
                </a:r>
                <a:r>
                  <a:rPr lang="en-IN" sz="2400">
                    <a:solidFill>
                      <a:srgbClr val="111827"/>
                    </a:solidFill>
                    <a:latin typeface="Cambria Math" panose="02040503050406030204" pitchFamily="18" charset="0"/>
                  </a:rPr>
                  <a:t>$6=x+3$</a:t>
                </a:r>
                <a:r>
                  <a:rPr sz="2400" b="0">
                    <a:solidFill>
                      <a:srgbClr val="111827"/>
                    </a:solidFill>
                    <a:latin typeface="Arial"/>
                  </a:rPr>
                  <a:t>, so </a:t>
                </a:r>
                <a:r>
                  <a:rPr lang="en-IN" sz="2400">
                    <a:solidFill>
                      <a:srgbClr val="111827"/>
                    </a:solidFill>
                    <a:latin typeface="Cambria Math" panose="02040503050406030204" pitchFamily="18" charset="0"/>
                  </a:rPr>
                  <a:t>$x=3$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$z=3+\frac{3}{2}i$</a:t>
                </a:r>
                <a:r>
                  <a:rPr sz="2400" b="0">
                    <a:solidFill>
                      <a:srgbClr val="111827"/>
                    </a:solidFill>
                    <a:latin typeface="Arial"/>
                  </a:rPr>
                  <a:t> and </a:t>
                </a:r>
                <a:r>
                  <a:rPr lang="en-IN" sz="2400">
                    <a:solidFill>
                      <a:srgbClr val="111827"/>
                    </a:solidFill>
                    <a:latin typeface="Cambria Math" panose="02040503050406030204" pitchFamily="18" charset="0"/>
                  </a:rPr>
                  <a:t>$2\,\mathrm{Re}(z)=6$</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6</a:t>
            </a:r>
            <a:endParaRPr sz="2800">
              <a:solidFill>
                <a:srgbClr val="15803D"/>
              </a:solidFill>
            </a:endParaRPr>
          </a:p>
        </p:txBody>
      </p:sp>
    </p:spTree>
  </p:cSld>
  <p:clrMapOvr>
    <a:masterClrMapping/>
  </p:clrMapOvr>
</p:sld>
</file>

<file path=ppt/slides/slide5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Write each bisector from the midpoint and a normal vector (the difference of the two points), with no squaring.</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points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differ only in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so the bisector is the horizontal line through the midpoint: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points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midpoint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difference vector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is normal to the bisector.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Bisector: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$|z-4|=|z-(4+3i)|$</a:t>
                </a:r>
                <a:r>
                  <a:rPr sz="2400" b="0">
                    <a:solidFill>
                      <a:srgbClr val="111827"/>
                    </a:solidFill>
                    <a:latin typeface="Arial"/>
                  </a:rPr>
                  <a:t>: the points </a:t>
                </a:r>
                <a:r>
                  <a:rPr lang="en-IN" sz="2400">
                    <a:solidFill>
                      <a:srgbClr val="111827"/>
                    </a:solidFill>
                    <a:latin typeface="Cambria Math" panose="02040503050406030204" pitchFamily="18" charset="0"/>
                  </a:rPr>
                  <a:t>$(4,0)$</a:t>
                </a:r>
                <a:r>
                  <a:rPr sz="2400" b="0">
                    <a:solidFill>
                      <a:srgbClr val="111827"/>
                    </a:solidFill>
                    <a:latin typeface="Arial"/>
                  </a:rPr>
                  <a:t> and </a:t>
                </a:r>
                <a:r>
                  <a:rPr lang="en-IN" sz="2400">
                    <a:solidFill>
                      <a:srgbClr val="111827"/>
                    </a:solidFill>
                    <a:latin typeface="Cambria Math" panose="02040503050406030204" pitchFamily="18" charset="0"/>
                  </a:rPr>
                  <a:t>$(4,3)$</a:t>
                </a:r>
                <a:r>
                  <a:rPr sz="2400" b="0">
                    <a:solidFill>
                      <a:srgbClr val="111827"/>
                    </a:solidFill>
                    <a:latin typeface="Arial"/>
                  </a:rPr>
                  <a:t> differ only in </a:t>
                </a:r>
                <a:r>
                  <a:rPr lang="en-IN" sz="2400">
                    <a:solidFill>
                      <a:srgbClr val="111827"/>
                    </a:solidFill>
                    <a:latin typeface="Cambria Math" panose="02040503050406030204" pitchFamily="18" charset="0"/>
                  </a:rPr>
                  <a:t>$y$</a:t>
                </a:r>
                <a:r>
                  <a:rPr sz="2400" b="0">
                    <a:solidFill>
                      <a:srgbClr val="111827"/>
                    </a:solidFill>
                    <a:latin typeface="Arial"/>
                  </a:rPr>
                  <a:t>, so the bisector is the horizontal line through the midpoint: </a:t>
                </a:r>
                <a:r>
                  <a:rPr lang="en-IN" sz="2400">
                    <a:solidFill>
                      <a:srgbClr val="111827"/>
                    </a:solidFill>
                    <a:latin typeface="Cambria Math" panose="02040503050406030204" pitchFamily="18" charset="0"/>
                  </a:rPr>
                  <a:t>$y=\frac32$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$|z-(2-3i)|=|z-5i|$</a:t>
                </a:r>
                <a:r>
                  <a:rPr sz="2400" b="0">
                    <a:solidFill>
                      <a:srgbClr val="111827"/>
                    </a:solidFill>
                    <a:latin typeface="Arial"/>
                  </a:rPr>
                  <a:t>: the points are </a:t>
                </a:r>
                <a:r>
                  <a:rPr lang="en-IN" sz="2400">
                    <a:solidFill>
                      <a:srgbClr val="111827"/>
                    </a:solidFill>
                    <a:latin typeface="Cambria Math" panose="02040503050406030204" pitchFamily="18" charset="0"/>
                  </a:rPr>
                  <a:t>$(2,-3)$</a:t>
                </a:r>
                <a:r>
                  <a:rPr sz="2400" b="0">
                    <a:solidFill>
                      <a:srgbClr val="111827"/>
                    </a:solidFill>
                    <a:latin typeface="Arial"/>
                  </a:rPr>
                  <a:t> and </a:t>
                </a:r>
                <a:r>
                  <a:rPr lang="en-IN" sz="2400">
                    <a:solidFill>
                      <a:srgbClr val="111827"/>
                    </a:solidFill>
                    <a:latin typeface="Cambria Math" panose="02040503050406030204" pitchFamily="18" charset="0"/>
                  </a:rPr>
                  <a:t>$(0,5)$</a:t>
                </a:r>
                <a:r>
                  <a:rPr sz="2400" b="0">
                    <a:solidFill>
                      <a:srgbClr val="111827"/>
                    </a:solidFill>
                    <a:latin typeface="Arial"/>
                  </a:rPr>
                  <a:t>, with midpoint </a:t>
                </a:r>
                <a:r>
                  <a:rPr lang="en-IN" sz="2400">
                    <a:solidFill>
                      <a:srgbClr val="111827"/>
                    </a:solidFill>
                    <a:latin typeface="Cambria Math" panose="02040503050406030204" pitchFamily="18" charset="0"/>
                  </a:rPr>
                  <a:t>$(1,1)$</a:t>
                </a:r>
                <a:r>
                  <a:rPr sz="2400" b="0">
                    <a:solidFill>
                      <a:srgbClr val="111827"/>
                    </a:solidFill>
                    <a:latin typeface="Arial"/>
                  </a:rPr>
                  <a:t> and difference vector </a:t>
                </a:r>
                <a:r>
                  <a:rPr lang="en-IN" sz="2400">
                    <a:solidFill>
                      <a:srgbClr val="111827"/>
                    </a:solidFill>
                    <a:latin typeface="Cambria Math" panose="02040503050406030204" pitchFamily="18" charset="0"/>
                  </a:rPr>
                  <a:t>$(2,-8)$</a:t>
                </a:r>
                <a:r>
                  <a:rPr sz="2400" b="0">
                    <a:solidFill>
                      <a:srgbClr val="111827"/>
                    </a:solidFill>
                    <a:latin typeface="Arial"/>
                  </a:rPr>
                  <a:t>, which is normal to the bisector.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Bisector: </a:t>
                </a:r>
                <a:r>
                  <a:rPr lang="en-IN" sz="2400">
                    <a:solidFill>
                      <a:srgbClr val="111827"/>
                    </a:solidFill>
                    <a:latin typeface="Cambria Math" panose="02040503050406030204" pitchFamily="18" charset="0"/>
                  </a:rPr>
                  <a:t>$2(x-1)-8(y-1)=0$</a:t>
                </a:r>
                <a:r>
                  <a:rPr sz="2400" b="0">
                    <a:solidFill>
                      <a:srgbClr val="111827"/>
                    </a:solidFill>
                    <a:latin typeface="Arial"/>
                  </a:rPr>
                  <a:t>, i.e. </a:t>
                </a:r>
                <a:r>
                  <a:rPr lang="en-IN" sz="2400">
                    <a:solidFill>
                      <a:srgbClr val="111827"/>
                    </a:solidFill>
                    <a:latin typeface="Cambria Math" panose="02040503050406030204" pitchFamily="18" charset="0"/>
                  </a:rPr>
                  <a:t>$x=4y-3$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lines are not parallel, so this is the only solution,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R</m:t>
                    </m:r>
                    <m:r>
                      <m:rPr>
                        <m:sty m:val="p"/>
                      </m:rPr>
                      <a:rPr lang="en-IN" sz="2400">
                        <a:solidFill>
                          <a:srgbClr val="111827"/>
                        </a:solidFill>
                        <a:latin typeface="Cambria Math" panose="02040503050406030204" pitchFamily="18" charset="0"/>
                      </a:rPr>
                      <m:t>e</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Put </a:t>
                </a:r>
                <a:r>
                  <a:rPr lang="en-IN" sz="2400">
                    <a:solidFill>
                      <a:srgbClr val="111827"/>
                    </a:solidFill>
                    <a:latin typeface="Cambria Math" panose="02040503050406030204" pitchFamily="18" charset="0"/>
                  </a:rPr>
                  <a:t>$y=\frac32$</a:t>
                </a:r>
                <a:r>
                  <a:rPr sz="2400" b="0">
                    <a:solidFill>
                      <a:srgbClr val="111827"/>
                    </a:solidFill>
                    <a:latin typeface="Arial"/>
                  </a:rPr>
                  <a:t>: </a:t>
                </a:r>
                <a:r>
                  <a:rPr lang="en-IN" sz="2400">
                    <a:solidFill>
                      <a:srgbClr val="111827"/>
                    </a:solidFill>
                    <a:latin typeface="Cambria Math" panose="02040503050406030204" pitchFamily="18" charset="0"/>
                  </a:rPr>
                  <a:t>$x=6-3=3$</a:t>
                </a:r>
                <a:r>
                  <a:rPr sz="2400" b="0">
                    <a:solidFill>
                      <a:srgbClr val="111827"/>
                    </a:solidFill>
                    <a:latin typeface="Arial"/>
                  </a:rPr>
                  <a:t>, so </a:t>
                </a:r>
                <a:r>
                  <a:rPr lang="en-IN" sz="2400">
                    <a:solidFill>
                      <a:srgbClr val="111827"/>
                    </a:solidFill>
                    <a:latin typeface="Cambria Math" panose="02040503050406030204" pitchFamily="18" charset="0"/>
                  </a:rPr>
                  <a:t>$z=3+\frac32 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two lines are not parallel, so this is the only solution, and </a:t>
                </a:r>
                <a:r>
                  <a:rPr lang="en-IN" sz="2400">
                    <a:solidFill>
                      <a:srgbClr val="111827"/>
                    </a:solidFill>
                    <a:latin typeface="Cambria Math" panose="02040503050406030204" pitchFamily="18" charset="0"/>
                  </a:rPr>
                  <a:t>$2\,\mathrm{Re}(z)=6$</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6</a:t>
            </a:r>
            <a:endParaRPr sz="2800">
              <a:solidFill>
                <a:srgbClr val="15803D"/>
              </a:solidFill>
            </a:endParaRPr>
          </a:p>
        </p:txBody>
      </p:sp>
    </p:spTree>
  </p:cSld>
  <p:clrMapOvr>
    <a:masterClrMapping/>
  </p:clrMapOvr>
</p:sld>
</file>

<file path=ppt/slides/slide5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perpendicular bisector of the segment from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the line through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normal to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such conditions with disjoint pairs of points give one point: the intersection of two perpendicular bisectors (if the pairs share a vertex it is a circumcentre).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𝑖</m:t>
                    </m:r>
                  </m:oMath>
                </a14:m>
                <a:r>
                  <a:rPr sz="2400" b="0">
                    <a:solidFill>
                      <a:srgbClr val="111827"/>
                    </a:solidFill>
                    <a:latin typeface="Arial"/>
                  </a:rPr>
                  <a:t>: midpoint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normal direction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line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(checked against the squared form).</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$|z-a|=|z-b|$</a:t>
                </a:r>
                <a:r>
                  <a:rPr sz="2400" b="0">
                    <a:solidFill>
                      <a:srgbClr val="111827"/>
                    </a:solidFill>
                    <a:latin typeface="Arial"/>
                  </a:rPr>
                  <a:t> is the perpendicular bisector of the segment from </a:t>
                </a:r>
                <a:r>
                  <a:rPr lang="en-IN" sz="2400">
                    <a:solidFill>
                      <a:srgbClr val="111827"/>
                    </a:solidFill>
                    <a:latin typeface="Cambria Math" panose="02040503050406030204" pitchFamily="18" charset="0"/>
                  </a:rPr>
                  <a:t>$a$</a:t>
                </a:r>
                <a:r>
                  <a:rPr sz="2400" b="0">
                    <a:solidFill>
                      <a:srgbClr val="111827"/>
                    </a:solidFill>
                    <a:latin typeface="Arial"/>
                  </a:rPr>
                  <a:t> to </a:t>
                </a:r>
                <a:r>
                  <a:rPr lang="en-IN" sz="2400">
                    <a:solidFill>
                      <a:srgbClr val="111827"/>
                    </a:solidFill>
                    <a:latin typeface="Cambria Math" panose="02040503050406030204" pitchFamily="18" charset="0"/>
                  </a:rPr>
                  <a:t>$b$</a:t>
                </a:r>
                <a:r>
                  <a:rPr sz="2400" b="0">
                    <a:solidFill>
                      <a:srgbClr val="111827"/>
                    </a:solidFill>
                    <a:latin typeface="Arial"/>
                  </a:rPr>
                  <a:t>: the line through </a:t>
                </a:r>
                <a:r>
                  <a:rPr lang="en-IN" sz="2400">
                    <a:solidFill>
                      <a:srgbClr val="111827"/>
                    </a:solidFill>
                    <a:latin typeface="Cambria Math" panose="02040503050406030204" pitchFamily="18" charset="0"/>
                  </a:rPr>
                  <a:t>$\frac{a+b}{2}$</a:t>
                </a:r>
                <a:r>
                  <a:rPr sz="2400" b="0">
                    <a:solidFill>
                      <a:srgbClr val="111827"/>
                    </a:solidFill>
                    <a:latin typeface="Arial"/>
                  </a:rPr>
                  <a:t> normal to </a:t>
                </a:r>
                <a:r>
                  <a:rPr lang="en-IN" sz="2400">
                    <a:solidFill>
                      <a:srgbClr val="111827"/>
                    </a:solidFill>
                    <a:latin typeface="Cambria Math" panose="02040503050406030204" pitchFamily="18" charset="0"/>
                  </a:rPr>
                  <a:t>$b-a$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such conditions with disjoint pairs of points give one point: the intersection of two perpendicular bisectors (if the pairs share a vertex it is a circumcentre).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$2-3i$</a:t>
                </a:r>
                <a:r>
                  <a:rPr sz="2400" b="0">
                    <a:solidFill>
                      <a:srgbClr val="111827"/>
                    </a:solidFill>
                    <a:latin typeface="Arial"/>
                  </a:rPr>
                  <a:t> and </a:t>
                </a:r>
                <a:r>
                  <a:rPr lang="en-IN" sz="2400">
                    <a:solidFill>
                      <a:srgbClr val="111827"/>
                    </a:solidFill>
                    <a:latin typeface="Cambria Math" panose="02040503050406030204" pitchFamily="18" charset="0"/>
                  </a:rPr>
                  <a:t>$5i$</a:t>
                </a:r>
                <a:r>
                  <a:rPr sz="2400" b="0">
                    <a:solidFill>
                      <a:srgbClr val="111827"/>
                    </a:solidFill>
                    <a:latin typeface="Arial"/>
                  </a:rPr>
                  <a:t>: midpoint </a:t>
                </a:r>
                <a:r>
                  <a:rPr lang="en-IN" sz="2400">
                    <a:solidFill>
                      <a:srgbClr val="111827"/>
                    </a:solidFill>
                    <a:latin typeface="Cambria Math" panose="02040503050406030204" pitchFamily="18" charset="0"/>
                  </a:rPr>
                  <a:t>$1+i$</a:t>
                </a:r>
                <a:r>
                  <a:rPr sz="2400" b="0">
                    <a:solidFill>
                      <a:srgbClr val="111827"/>
                    </a:solidFill>
                    <a:latin typeface="Arial"/>
                  </a:rPr>
                  <a:t>, normal direction </a:t>
                </a:r>
                <a:r>
                  <a:rPr lang="en-IN" sz="2400">
                    <a:solidFill>
                      <a:srgbClr val="111827"/>
                    </a:solidFill>
                    <a:latin typeface="Cambria Math" panose="02040503050406030204" pitchFamily="18" charset="0"/>
                  </a:rPr>
                  <a:t>$(-2,8)$</a:t>
                </a:r>
                <a:r>
                  <a:rPr sz="2400" b="0">
                    <a:solidFill>
                      <a:srgbClr val="111827"/>
                    </a:solidFill>
                    <a:latin typeface="Arial"/>
                  </a:rPr>
                  <a:t>, line </a:t>
                </a:r>
                <a:r>
                  <a:rPr lang="en-IN" sz="2400">
                    <a:solidFill>
                      <a:srgbClr val="111827"/>
                    </a:solidFill>
                    <a:latin typeface="Cambria Math" panose="02040503050406030204" pitchFamily="18" charset="0"/>
                  </a:rPr>
                  <a:t>$x-4y+3=0$</a:t>
                </a:r>
                <a:r>
                  <a:rPr sz="2400" b="0">
                    <a:solidFill>
                      <a:srgbClr val="111827"/>
                    </a:solidFill>
                    <a:latin typeface="Arial"/>
                  </a:rPr>
                  <a:t> (checked against the squared form).</a:t>
                </a:r>
                <a:endParaRPr sz="2400">
                  <a:solidFill>
                    <a:srgbClr val="111827"/>
                  </a:solidFill>
                </a:endParaRPr>
              </a:p>
            </p:txBody>
          </p:sp>
        </mc:Fallback>
      </mc:AlternateContent>
    </p:spTree>
  </p:cSld>
  <p:clrMapOvr>
    <a:masterClrMapping/>
  </p:clrMapOvr>
</p:sld>
</file>

<file path=ppt/slides/slide5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are the vertices of an equilateral triangle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If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arg</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num>
                              <m:den>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en>
                            </m:f>
                          </m:e>
                        </m:d>
                      </m:e>
                    </m:d>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𝑄</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are in their lowest form), then find the value of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oMath>
                </a14:m>
                <a:r>
                  <a:rPr sz="2400" b="0">
                    <a:solidFill>
                      <a:srgbClr val="111827"/>
                    </a:solidFill>
                    <a:latin typeface="Arial"/>
                  </a:rPr>
                  <a:t> = ______.</a:t>
                </a:r>
                <a:endParaRPr sz="2400">
                  <a:solidFill>
                    <a:srgbClr val="111827"/>
                  </a:solidFill>
                </a:endParaRPr>
              </a:p>
            </p:txBody>
          </p:sp>
        </mc:Choice>
        <mc:Fallback>
          <p:sp>
            <p:nvSpPr>
              <p:cNvPr id="4" name="Rounded Rectangle 3"/>
              <p:cNvSpPr/>
              <p:nvPr/>
            </p:nvSpPr>
            <p:spPr>
              <a:xfrm>
                <a:off x="731520" y="1280160"/>
                <a:ext cx="10725912" cy="259943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$A(z_1)$</a:t>
                </a:r>
                <a:r>
                  <a:rPr sz="2400" b="0">
                    <a:solidFill>
                      <a:srgbClr val="111827"/>
                    </a:solidFill>
                    <a:latin typeface="Arial"/>
                  </a:rPr>
                  <a:t>, </a:t>
                </a:r>
                <a:r>
                  <a:rPr lang="en-IN" sz="2400">
                    <a:solidFill>
                      <a:srgbClr val="111827"/>
                    </a:solidFill>
                    <a:latin typeface="Cambria Math" panose="02040503050406030204" pitchFamily="18" charset="0"/>
                  </a:rPr>
                  <a:t>$B(z_2)$</a:t>
                </a:r>
                <a:r>
                  <a:rPr sz="2400" b="0">
                    <a:solidFill>
                      <a:srgbClr val="111827"/>
                    </a:solidFill>
                    <a:latin typeface="Arial"/>
                  </a:rPr>
                  <a:t>, </a:t>
                </a:r>
                <a:r>
                  <a:rPr lang="en-IN" sz="2400">
                    <a:solidFill>
                      <a:srgbClr val="111827"/>
                    </a:solidFill>
                    <a:latin typeface="Cambria Math" panose="02040503050406030204" pitchFamily="18" charset="0"/>
                  </a:rPr>
                  <a:t>$C(z_3)$</a:t>
                </a:r>
                <a:r>
                  <a:rPr sz="2400" b="0">
                    <a:solidFill>
                      <a:srgbClr val="111827"/>
                    </a:solidFill>
                    <a:latin typeface="Arial"/>
                  </a:rPr>
                  <a:t> are the vertices of an equilateral triangle </a:t>
                </a:r>
                <a:r>
                  <a:rPr lang="en-IN" sz="2400">
                    <a:solidFill>
                      <a:srgbClr val="111827"/>
                    </a:solidFill>
                    <a:latin typeface="Cambria Math" panose="02040503050406030204" pitchFamily="18" charset="0"/>
                  </a:rPr>
                  <a:t>$ABC$</a:t>
                </a:r>
                <a:r>
                  <a:rPr sz="2400" b="0">
                    <a:solidFill>
                      <a:srgbClr val="111827"/>
                    </a:solidFill>
                    <a:latin typeface="Arial"/>
                  </a:rPr>
                  <a:t>. If the value of </a:t>
                </a:r>
                <a:r>
                  <a:rPr lang="en-IN" sz="2400">
                    <a:solidFill>
                      <a:srgbClr val="111827"/>
                    </a:solidFill>
                    <a:latin typeface="Cambria Math" panose="02040503050406030204" pitchFamily="18" charset="0"/>
                  </a:rPr>
                  <a:t>$\left|\arg\left(\frac{z_2+z_3-2z_1}{2z_1-4z_2+2z_3}\right)\right|$</a:t>
                </a:r>
                <a:r>
                  <a:rPr sz="2400" b="0">
                    <a:solidFill>
                      <a:srgbClr val="111827"/>
                    </a:solidFill>
                    <a:latin typeface="Arial"/>
                  </a:rPr>
                  <a:t> is </a:t>
                </a:r>
                <a:r>
                  <a:rPr lang="en-IN" sz="2400">
                    <a:solidFill>
                      <a:srgbClr val="111827"/>
                    </a:solidFill>
                    <a:latin typeface="Cambria Math" panose="02040503050406030204" pitchFamily="18" charset="0"/>
                  </a:rPr>
                  <a:t>$\frac{P\pi}{Q}$</a:t>
                </a:r>
                <a:r>
                  <a:rPr sz="2400" b="0">
                    <a:solidFill>
                      <a:srgbClr val="111827"/>
                    </a:solidFill>
                    <a:latin typeface="Arial"/>
                  </a:rPr>
                  <a:t> (</a:t>
                </a:r>
                <a:r>
                  <a:rPr lang="en-IN" sz="2400">
                    <a:solidFill>
                      <a:srgbClr val="111827"/>
                    </a:solidFill>
                    <a:latin typeface="Cambria Math" panose="02040503050406030204" pitchFamily="18" charset="0"/>
                  </a:rPr>
                  <a:t>$P$</a:t>
                </a:r>
                <a:r>
                  <a:rPr sz="2400" b="0">
                    <a:solidFill>
                      <a:srgbClr val="111827"/>
                    </a:solidFill>
                    <a:latin typeface="Arial"/>
                  </a:rPr>
                  <a:t> and </a:t>
                </a:r>
                <a:r>
                  <a:rPr lang="en-IN" sz="2400">
                    <a:solidFill>
                      <a:srgbClr val="111827"/>
                    </a:solidFill>
                    <a:latin typeface="Cambria Math" panose="02040503050406030204" pitchFamily="18" charset="0"/>
                  </a:rPr>
                  <a:t>$Q$</a:t>
                </a:r>
                <a:r>
                  <a:rPr sz="2400" b="0">
                    <a:solidFill>
                      <a:srgbClr val="111827"/>
                    </a:solidFill>
                    <a:latin typeface="Arial"/>
                  </a:rPr>
                  <a:t> are in their lowest form), then find the value of </a:t>
                </a:r>
                <a:r>
                  <a:rPr lang="en-IN" sz="2400">
                    <a:solidFill>
                      <a:srgbClr val="111827"/>
                    </a:solidFill>
                    <a:latin typeface="Cambria Math" panose="02040503050406030204" pitchFamily="18" charset="0"/>
                  </a:rPr>
                  <a:t>$P+Q$</a:t>
                </a:r>
                <a:r>
                  <a:rPr sz="2400" b="0">
                    <a:solidFill>
                      <a:srgbClr val="111827"/>
                    </a:solidFill>
                    <a:latin typeface="Arial"/>
                  </a:rPr>
                  <a:t> = ______.</a:t>
                </a:r>
                <a:endParaRPr sz="2400">
                  <a:solidFill>
                    <a:srgbClr val="111827"/>
                  </a:solidFill>
                </a:endParaRPr>
              </a:p>
            </p:txBody>
          </p:sp>
        </mc:Fallback>
      </mc:AlternateContent>
      <p:sp>
        <p:nvSpPr>
          <p:cNvPr id="5" name="Rectangle 4"/>
          <p:cNvSpPr/>
          <p:nvPr/>
        </p:nvSpPr>
        <p:spPr>
          <a:xfrm>
            <a:off x="731520" y="4108196"/>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arguments and geometry of an equilateral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numerator and denominator are (multiples of) vectors along two medians, which meet at </a:t>
                </a:r>
                <a14:m>
                  <m:oMath xmlns:m="http://schemas.openxmlformats.org/officeDocument/2006/math">
                    <m:sSup>
                      <m:e>
                        <m:r>
                          <a:rPr lang="en-IN" sz="2400" i="1">
                            <a:solidFill>
                              <a:srgbClr val="78350F"/>
                            </a:solidFill>
                            <a:latin typeface="Cambria Math" panose="02040503050406030204" pitchFamily="18" charset="0"/>
                          </a:rPr>
                          <m:t>120</m:t>
                        </m:r>
                      </m:e>
                      <m:sup>
                        <m:r>
                          <m:rPr>
                            <m:sty m:val="p"/>
                          </m:rPr>
                          <a:rPr lang="en-IN" sz="2400">
                            <a:solidFill>
                              <a:srgbClr val="78350F"/>
                            </a:solidFill>
                            <a:latin typeface="Cambria Math" panose="02040503050406030204" pitchFamily="18" charset="0"/>
                          </a:rPr>
                          <m:t>∘</m:t>
                        </m:r>
                      </m:sup>
                    </m:sSup>
                  </m:oMath>
                </a14:m>
                <a:r>
                  <a:rPr sz="2400" b="0">
                    <a:solidFill>
                      <a:srgbClr val="78350F"/>
                    </a:solidFill>
                    <a:latin typeface="Arial"/>
                  </a:rPr>
                  <a:t> in an equilateral triangle.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The numerator and denominator are (multiples of) vectors along two medians, which meet at </a:t>
                </a:r>
                <a:r>
                  <a:rPr lang="en-IN" sz="2400">
                    <a:solidFill>
                      <a:srgbClr val="78350F"/>
                    </a:solidFill>
                    <a:latin typeface="Cambria Math" panose="02040503050406030204" pitchFamily="18" charset="0"/>
                  </a:rPr>
                  <a:t>$120^\circ$</a:t>
                </a:r>
                <a:r>
                  <a:rPr sz="2400" b="0">
                    <a:solidFill>
                      <a:srgbClr val="78350F"/>
                    </a:solidFill>
                    <a:latin typeface="Arial"/>
                  </a:rPr>
                  <a:t> in an equilateral triangle.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the numerator as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the denominator as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expression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num>
                      <m:den>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the positive real factor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does not change the argument (the printed working drops it).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the numerator as </a:t>
                </a:r>
                <a:r>
                  <a:rPr lang="en-IN" sz="2400">
                    <a:solidFill>
                      <a:srgbClr val="111827"/>
                    </a:solidFill>
                    <a:latin typeface="Cambria Math" panose="02040503050406030204" pitchFamily="18" charset="0"/>
                  </a:rPr>
                  <a:t>$z_2+z_3-2z_1=2\left(\frac{z_2+z_3}{2}-z_1\right)$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Write the denominator as </a:t>
                </a:r>
                <a:r>
                  <a:rPr lang="en-IN" sz="2400">
                    <a:solidFill>
                      <a:srgbClr val="111827"/>
                    </a:solidFill>
                    <a:latin typeface="Cambria Math" panose="02040503050406030204" pitchFamily="18" charset="0"/>
                  </a:rPr>
                  <a:t>$2z_1-4z_2+2z_3=4\left(\frac{z_1+z_3}{2}-z_2\right)$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expression is </a:t>
                </a:r>
                <a:r>
                  <a:rPr lang="en-IN" sz="2400">
                    <a:solidFill>
                      <a:srgbClr val="111827"/>
                    </a:solidFill>
                    <a:latin typeface="Cambria Math" panose="02040503050406030204" pitchFamily="18" charset="0"/>
                  </a:rPr>
                  <a:t>$\frac{1}{2}\cdot\frac{\frac{z_2+z_3}{2}-z_1}{\frac{z_1+z_3}{2}-z_2}$</a:t>
                </a:r>
                <a:r>
                  <a:rPr sz="2400" b="0">
                    <a:solidFill>
                      <a:srgbClr val="111827"/>
                    </a:solidFill>
                    <a:latin typeface="Arial"/>
                  </a:rPr>
                  <a:t>; the positive real factor </a:t>
                </a:r>
                <a:r>
                  <a:rPr lang="en-IN" sz="2400">
                    <a:solidFill>
                      <a:srgbClr val="111827"/>
                    </a:solidFill>
                    <a:latin typeface="Cambria Math" panose="02040503050406030204" pitchFamily="18" charset="0"/>
                  </a:rPr>
                  <a:t>$\frac{1}{2}$</a:t>
                </a:r>
                <a:r>
                  <a:rPr sz="2400" b="0">
                    <a:solidFill>
                      <a:srgbClr val="111827"/>
                    </a:solidFill>
                    <a:latin typeface="Arial"/>
                  </a:rPr>
                  <a:t> does not change the argument (the printed working drops it).</a:t>
                </a:r>
                <a:endParaRPr sz="2400">
                  <a:solidFill>
                    <a:srgbClr val="111827"/>
                  </a:solidFill>
                </a:endParaRPr>
              </a:p>
            </p:txBody>
          </p:sp>
        </mc:Fallback>
      </mc:AlternateContent>
    </p:spTree>
  </p:cSld>
  <p:clrMapOvr>
    <a:masterClrMapping/>
  </p:clrMapOvr>
</p:sld>
</file>

<file path=ppt/slides/slide5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is the vector from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to the midpoint of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𝐶</m:t>
                    </m:r>
                  </m:oMath>
                </a14:m>
                <a:r>
                  <a:rPr sz="2400" b="0">
                    <a:solidFill>
                      <a:srgbClr val="111827"/>
                    </a:solidFill>
                    <a:latin typeface="Arial"/>
                  </a:rPr>
                  <a:t> (median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the vector from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to the midpoint of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𝐶</m:t>
                    </m:r>
                  </m:oMath>
                </a14:m>
                <a:r>
                  <a:rPr sz="2400" b="0">
                    <a:solidFill>
                      <a:srgbClr val="111827"/>
                    </a:solidFill>
                    <a:latin typeface="Arial"/>
                  </a:rPr>
                  <a:t> (median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argument of the ratio is the angle between these two vectors, i.e. the angle between the medians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r>
                      <a:rPr lang="en-IN" sz="2400" i="1">
                        <a:solidFill>
                          <a:srgbClr val="111827"/>
                        </a:solidFill>
                        <a:latin typeface="Cambria Math" panose="02040503050406030204" pitchFamily="18" charset="0"/>
                      </a:rPr>
                      <m:t>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an equilateral triangle the medians meet at the centroid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which is the centre,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𝐺</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360</m:t>
                            </m:r>
                          </m:e>
                          <m:sup>
                            <m:r>
                              <m:rPr>
                                <m:sty m:val="p"/>
                              </m:rPr>
                              <a:rPr lang="en-IN" sz="2400">
                                <a:solidFill>
                                  <a:srgbClr val="111827"/>
                                </a:solidFill>
                                <a:latin typeface="Cambria Math" panose="02040503050406030204" pitchFamily="18" charset="0"/>
                              </a:rPr>
                              <m:t>∘</m:t>
                            </m:r>
                          </m:sup>
                        </m:sSup>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$\frac{z_2+z_3}{2}-z_1$</a:t>
                </a:r>
                <a:r>
                  <a:rPr sz="2400" b="0">
                    <a:solidFill>
                      <a:srgbClr val="111827"/>
                    </a:solidFill>
                    <a:latin typeface="Arial"/>
                  </a:rPr>
                  <a:t> is the vector from </a:t>
                </a:r>
                <a:r>
                  <a:rPr lang="en-IN" sz="2400">
                    <a:solidFill>
                      <a:srgbClr val="111827"/>
                    </a:solidFill>
                    <a:latin typeface="Cambria Math" panose="02040503050406030204" pitchFamily="18" charset="0"/>
                  </a:rPr>
                  <a:t>$A$</a:t>
                </a:r>
                <a:r>
                  <a:rPr sz="2400" b="0">
                    <a:solidFill>
                      <a:srgbClr val="111827"/>
                    </a:solidFill>
                    <a:latin typeface="Arial"/>
                  </a:rPr>
                  <a:t> to the midpoint of </a:t>
                </a:r>
                <a:r>
                  <a:rPr lang="en-IN" sz="2400">
                    <a:solidFill>
                      <a:srgbClr val="111827"/>
                    </a:solidFill>
                    <a:latin typeface="Cambria Math" panose="02040503050406030204" pitchFamily="18" charset="0"/>
                  </a:rPr>
                  <a:t>$BC$</a:t>
                </a:r>
                <a:r>
                  <a:rPr sz="2400" b="0">
                    <a:solidFill>
                      <a:srgbClr val="111827"/>
                    </a:solidFill>
                    <a:latin typeface="Arial"/>
                  </a:rPr>
                  <a:t> (median </a:t>
                </a:r>
                <a:r>
                  <a:rPr lang="en-IN" sz="2400">
                    <a:solidFill>
                      <a:srgbClr val="111827"/>
                    </a:solidFill>
                    <a:latin typeface="Cambria Math" panose="02040503050406030204" pitchFamily="18" charset="0"/>
                  </a:rPr>
                  <a:t>$AD$</a:t>
                </a:r>
                <a:r>
                  <a:rPr sz="2400" b="0">
                    <a:solidFill>
                      <a:srgbClr val="111827"/>
                    </a:solidFill>
                    <a:latin typeface="Arial"/>
                  </a:rPr>
                  <a:t>); </a:t>
                </a:r>
                <a:r>
                  <a:rPr lang="en-IN" sz="2400">
                    <a:solidFill>
                      <a:srgbClr val="111827"/>
                    </a:solidFill>
                    <a:latin typeface="Cambria Math" panose="02040503050406030204" pitchFamily="18" charset="0"/>
                  </a:rPr>
                  <a:t>$\frac{z_1+z_3}{2}-z_2$</a:t>
                </a:r>
                <a:r>
                  <a:rPr sz="2400" b="0">
                    <a:solidFill>
                      <a:srgbClr val="111827"/>
                    </a:solidFill>
                    <a:latin typeface="Arial"/>
                  </a:rPr>
                  <a:t> is the vector from </a:t>
                </a:r>
                <a:r>
                  <a:rPr lang="en-IN" sz="2400">
                    <a:solidFill>
                      <a:srgbClr val="111827"/>
                    </a:solidFill>
                    <a:latin typeface="Cambria Math" panose="02040503050406030204" pitchFamily="18" charset="0"/>
                  </a:rPr>
                  <a:t>$B$</a:t>
                </a:r>
                <a:r>
                  <a:rPr sz="2400" b="0">
                    <a:solidFill>
                      <a:srgbClr val="111827"/>
                    </a:solidFill>
                    <a:latin typeface="Arial"/>
                  </a:rPr>
                  <a:t> to the midpoint of </a:t>
                </a:r>
                <a:r>
                  <a:rPr lang="en-IN" sz="2400">
                    <a:solidFill>
                      <a:srgbClr val="111827"/>
                    </a:solidFill>
                    <a:latin typeface="Cambria Math" panose="02040503050406030204" pitchFamily="18" charset="0"/>
                  </a:rPr>
                  <a:t>$AC$</a:t>
                </a:r>
                <a:r>
                  <a:rPr sz="2400" b="0">
                    <a:solidFill>
                      <a:srgbClr val="111827"/>
                    </a:solidFill>
                    <a:latin typeface="Arial"/>
                  </a:rPr>
                  <a:t> (median </a:t>
                </a:r>
                <a:r>
                  <a:rPr lang="en-IN" sz="2400">
                    <a:solidFill>
                      <a:srgbClr val="111827"/>
                    </a:solidFill>
                    <a:latin typeface="Cambria Math" panose="02040503050406030204" pitchFamily="18" charset="0"/>
                  </a:rPr>
                  <a:t>$BE$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argument of the ratio is the angle between these two vectors, i.e. the angle between the medians </a:t>
                </a:r>
                <a:r>
                  <a:rPr lang="en-IN" sz="2400">
                    <a:solidFill>
                      <a:srgbClr val="111827"/>
                    </a:solidFill>
                    <a:latin typeface="Cambria Math" panose="02040503050406030204" pitchFamily="18" charset="0"/>
                  </a:rPr>
                  <a:t>$AD$</a:t>
                </a:r>
                <a:r>
                  <a:rPr sz="2400" b="0">
                    <a:solidFill>
                      <a:srgbClr val="111827"/>
                    </a:solidFill>
                    <a:latin typeface="Arial"/>
                  </a:rPr>
                  <a:t> and </a:t>
                </a:r>
                <a:r>
                  <a:rPr lang="en-IN" sz="2400">
                    <a:solidFill>
                      <a:srgbClr val="111827"/>
                    </a:solidFill>
                    <a:latin typeface="Cambria Math" panose="02040503050406030204" pitchFamily="18" charset="0"/>
                  </a:rPr>
                  <a:t>$BE$</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an equilateral triangle the medians meet at the centroid </a:t>
                </a:r>
                <a:r>
                  <a:rPr lang="en-IN" sz="2400">
                    <a:solidFill>
                      <a:srgbClr val="111827"/>
                    </a:solidFill>
                    <a:latin typeface="Cambria Math" panose="02040503050406030204" pitchFamily="18" charset="0"/>
                  </a:rPr>
                  <a:t>$G$</a:t>
                </a:r>
                <a:r>
                  <a:rPr sz="2400" b="0">
                    <a:solidFill>
                      <a:srgbClr val="111827"/>
                    </a:solidFill>
                    <a:latin typeface="Arial"/>
                  </a:rPr>
                  <a:t>, which is the centre, so </a:t>
                </a:r>
                <a:r>
                  <a:rPr lang="en-IN" sz="2400">
                    <a:solidFill>
                      <a:srgbClr val="111827"/>
                    </a:solidFill>
                    <a:latin typeface="Cambria Math" panose="02040503050406030204" pitchFamily="18" charset="0"/>
                  </a:rPr>
                  <a:t>$\angle AGB=\frac{360^\circ}{3}=120^\circ$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arg</m:t>
                        </m:r>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𝑄</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$\left|\arg\right|=\frac{2\pi}{3}$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$\frac{P\pi}{Q}=\frac{2\pi}{3}$</a:t>
                </a:r>
                <a:r>
                  <a:rPr sz="2400" b="0">
                    <a:solidFill>
                      <a:srgbClr val="111827"/>
                    </a:solidFill>
                    <a:latin typeface="Arial"/>
                  </a:rPr>
                  <a:t> gives </a:t>
                </a:r>
                <a:r>
                  <a:rPr lang="en-IN" sz="2400">
                    <a:solidFill>
                      <a:srgbClr val="111827"/>
                    </a:solidFill>
                    <a:latin typeface="Cambria Math" panose="02040503050406030204" pitchFamily="18" charset="0"/>
                  </a:rPr>
                  <a:t>$P=2$</a:t>
                </a:r>
                <a:r>
                  <a:rPr sz="2400" b="0">
                    <a:solidFill>
                      <a:srgbClr val="111827"/>
                    </a:solidFill>
                    <a:latin typeface="Arial"/>
                  </a:rPr>
                  <a:t>, </a:t>
                </a:r>
                <a:r>
                  <a:rPr lang="en-IN" sz="2400">
                    <a:solidFill>
                      <a:srgbClr val="111827"/>
                    </a:solidFill>
                    <a:latin typeface="Cambria Math" panose="02040503050406030204" pitchFamily="18" charset="0"/>
                  </a:rPr>
                  <a:t>$Q=3$</a:t>
                </a:r>
                <a:r>
                  <a:rPr sz="2400" b="0">
                    <a:solidFill>
                      <a:srgbClr val="111827"/>
                    </a:solidFill>
                    <a:latin typeface="Arial"/>
                  </a:rPr>
                  <a:t>, so </a:t>
                </a:r>
                <a:r>
                  <a:rPr lang="en-IN" sz="2400">
                    <a:solidFill>
                      <a:srgbClr val="111827"/>
                    </a:solidFill>
                    <a:latin typeface="Cambria Math" panose="02040503050406030204" pitchFamily="18" charset="0"/>
                  </a:rPr>
                  <a:t>$P+Q=5$</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5</a:t>
            </a:r>
            <a:endParaRPr sz="2800">
              <a:solidFill>
                <a:srgbClr val="15803D"/>
              </a:solidFill>
            </a:endParaRPr>
          </a:p>
        </p:txBody>
      </p:sp>
    </p:spTree>
  </p:cSld>
  <p:clrMapOvr>
    <a:masterClrMapping/>
  </p:clrMapOvr>
</p:sld>
</file>

<file path=ppt/slides/slide5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Argument of a ratio of differences is unchanged by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oMath>
                </a14:m>
                <a:r>
                  <a:rPr sz="2400" b="0">
                    <a:solidFill>
                      <a:srgbClr val="78350F"/>
                    </a:solidFill>
                    <a:latin typeface="Arial"/>
                  </a:rPr>
                  <a:t>, so take the equilateral triangle with vertices </a:t>
                </a:r>
                <a14:m>
                  <m:oMath xmlns:m="http://schemas.openxmlformats.org/officeDocument/2006/math">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ω</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ω</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Argument of a ratio of differences is unchanged by </a:t>
                </a:r>
                <a:r>
                  <a:rPr lang="en-IN" sz="2400">
                    <a:solidFill>
                      <a:srgbClr val="78350F"/>
                    </a:solidFill>
                    <a:latin typeface="Cambria Math" panose="02040503050406030204" pitchFamily="18" charset="0"/>
                  </a:rPr>
                  <a:t>$z\to az+b$</a:t>
                </a:r>
                <a:r>
                  <a:rPr sz="2400" b="0">
                    <a:solidFill>
                      <a:srgbClr val="78350F"/>
                    </a:solidFill>
                    <a:latin typeface="Arial"/>
                  </a:rPr>
                  <a:t>, so take the equilateral triangle with vertices </a:t>
                </a:r>
                <a:r>
                  <a:rPr lang="en-IN" sz="2400">
                    <a:solidFill>
                      <a:srgbClr val="78350F"/>
                    </a:solidFill>
                    <a:latin typeface="Cambria Math" panose="02040503050406030204" pitchFamily="18" charset="0"/>
                  </a:rPr>
                  <a:t>$1,\omega,\omega^2$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similarity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maps an equilateral triangle to an equilateral triangle and leaves the argument of the given expression unchanged (numerator and denominator both scale by </a:t>
                </a:r>
                <a14:m>
                  <m:oMath xmlns:m="http://schemas.openxmlformats.org/officeDocument/2006/math">
                    <m:r>
                      <a:rPr lang="en-IN" sz="2400" i="1">
                        <a:solidFill>
                          <a:srgbClr val="111827"/>
                        </a:solidFill>
                        <a:latin typeface="Cambria Math" panose="02040503050406030204" pitchFamily="18" charset="0"/>
                      </a:rPr>
                      <m:t>𝑎</m:t>
                    </m:r>
                  </m:oMath>
                </a14:m>
                <a:r>
                  <a:rPr sz="2400" b="0">
                    <a:solidFill>
                      <a:srgbClr val="111827"/>
                    </a:solidFill>
                    <a:latin typeface="Arial"/>
                  </a:rPr>
                  <a:t>, the constant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cancels).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take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up>
                    </m:sSup>
                  </m:oMath>
                </a14:m>
                <a:r>
                  <a:rPr sz="2400" b="0">
                    <a:solidFill>
                      <a:srgbClr val="111827"/>
                    </a:solidFill>
                    <a:latin typeface="Arial"/>
                  </a:rPr>
                  <a:t> (the other orientation just conjugates the result).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Numerator: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similarity </a:t>
                </a:r>
                <a:r>
                  <a:rPr lang="en-IN" sz="2400">
                    <a:solidFill>
                      <a:srgbClr val="111827"/>
                    </a:solidFill>
                    <a:latin typeface="Cambria Math" panose="02040503050406030204" pitchFamily="18" charset="0"/>
                  </a:rPr>
                  <a:t>$z\mapsto az+b$</a:t>
                </a:r>
                <a:r>
                  <a:rPr sz="2400" b="0">
                    <a:solidFill>
                      <a:srgbClr val="111827"/>
                    </a:solidFill>
                    <a:latin typeface="Arial"/>
                  </a:rPr>
                  <a:t> (</a:t>
                </a:r>
                <a:r>
                  <a:rPr lang="en-IN" sz="2400">
                    <a:solidFill>
                      <a:srgbClr val="111827"/>
                    </a:solidFill>
                    <a:latin typeface="Cambria Math" panose="02040503050406030204" pitchFamily="18" charset="0"/>
                  </a:rPr>
                  <a:t>$a\ne0$</a:t>
                </a:r>
                <a:r>
                  <a:rPr sz="2400" b="0">
                    <a:solidFill>
                      <a:srgbClr val="111827"/>
                    </a:solidFill>
                    <a:latin typeface="Arial"/>
                  </a:rPr>
                  <a:t>) maps an equilateral triangle to an equilateral triangle and leaves the argument of the given expression unchanged (numerator and denominator both scale by </a:t>
                </a:r>
                <a:r>
                  <a:rPr lang="en-IN" sz="2400">
                    <a:solidFill>
                      <a:srgbClr val="111827"/>
                    </a:solidFill>
                    <a:latin typeface="Cambria Math" panose="02040503050406030204" pitchFamily="18" charset="0"/>
                  </a:rPr>
                  <a:t>$a$</a:t>
                </a:r>
                <a:r>
                  <a:rPr sz="2400" b="0">
                    <a:solidFill>
                      <a:srgbClr val="111827"/>
                    </a:solidFill>
                    <a:latin typeface="Arial"/>
                  </a:rPr>
                  <a:t>, the constant </a:t>
                </a:r>
                <a:r>
                  <a:rPr lang="en-IN" sz="2400">
                    <a:solidFill>
                      <a:srgbClr val="111827"/>
                    </a:solidFill>
                    <a:latin typeface="Cambria Math" panose="02040503050406030204" pitchFamily="18" charset="0"/>
                  </a:rPr>
                  <a:t>$b$</a:t>
                </a:r>
                <a:r>
                  <a:rPr sz="2400" b="0">
                    <a:solidFill>
                      <a:srgbClr val="111827"/>
                    </a:solidFill>
                    <a:latin typeface="Arial"/>
                  </a:rPr>
                  <a:t> cancels).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take </a:t>
                </a:r>
                <a:r>
                  <a:rPr lang="en-IN" sz="2400">
                    <a:solidFill>
                      <a:srgbClr val="111827"/>
                    </a:solidFill>
                    <a:latin typeface="Cambria Math" panose="02040503050406030204" pitchFamily="18" charset="0"/>
                  </a:rPr>
                  <a:t>$z_1=1$</a:t>
                </a:r>
                <a:r>
                  <a:rPr sz="2400" b="0">
                    <a:solidFill>
                      <a:srgbClr val="111827"/>
                    </a:solidFill>
                    <a:latin typeface="Arial"/>
                  </a:rPr>
                  <a:t>, </a:t>
                </a:r>
                <a:r>
                  <a:rPr lang="en-IN" sz="2400">
                    <a:solidFill>
                      <a:srgbClr val="111827"/>
                    </a:solidFill>
                    <a:latin typeface="Cambria Math" panose="02040503050406030204" pitchFamily="18" charset="0"/>
                  </a:rPr>
                  <a:t>$z_2=\omega$</a:t>
                </a:r>
                <a:r>
                  <a:rPr sz="2400" b="0">
                    <a:solidFill>
                      <a:srgbClr val="111827"/>
                    </a:solidFill>
                    <a:latin typeface="Arial"/>
                  </a:rPr>
                  <a:t>, </a:t>
                </a:r>
                <a:r>
                  <a:rPr lang="en-IN" sz="2400">
                    <a:solidFill>
                      <a:srgbClr val="111827"/>
                    </a:solidFill>
                    <a:latin typeface="Cambria Math" panose="02040503050406030204" pitchFamily="18" charset="0"/>
                  </a:rPr>
                  <a:t>$z_3=\omega^2$</a:t>
                </a:r>
                <a:r>
                  <a:rPr sz="2400" b="0">
                    <a:solidFill>
                      <a:srgbClr val="111827"/>
                    </a:solidFill>
                    <a:latin typeface="Arial"/>
                  </a:rPr>
                  <a:t> with </a:t>
                </a:r>
                <a:r>
                  <a:rPr lang="en-IN" sz="2400">
                    <a:solidFill>
                      <a:srgbClr val="111827"/>
                    </a:solidFill>
                    <a:latin typeface="Cambria Math" panose="02040503050406030204" pitchFamily="18" charset="0"/>
                  </a:rPr>
                  <a:t>$\omega=e^{2\pi i/3}$</a:t>
                </a:r>
                <a:r>
                  <a:rPr sz="2400" b="0">
                    <a:solidFill>
                      <a:srgbClr val="111827"/>
                    </a:solidFill>
                    <a:latin typeface="Arial"/>
                  </a:rPr>
                  <a:t> (the other orientation just conjugates the result).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Numerator: </a:t>
                </a:r>
                <a:r>
                  <a:rPr lang="en-IN" sz="2400">
                    <a:solidFill>
                      <a:srgbClr val="111827"/>
                    </a:solidFill>
                    <a:latin typeface="Cambria Math" panose="02040503050406030204" pitchFamily="18" charset="0"/>
                  </a:rPr>
                  <a:t>$\omega+\omega^2-2=-1-2=-3$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Denominator: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ω</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ratio is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ω</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ω</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den>
                    </m:f>
                  </m:oMath>
                </a14:m>
                <a:r>
                  <a:rPr sz="2400" b="0">
                    <a:solidFill>
                      <a:srgbClr val="111827"/>
                    </a:solidFill>
                    <a:latin typeface="Arial"/>
                  </a:rPr>
                  <a:t>, with argument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Denominator: </a:t>
                </a:r>
                <a:r>
                  <a:rPr lang="en-IN" sz="2400">
                    <a:solidFill>
                      <a:srgbClr val="111827"/>
                    </a:solidFill>
                    <a:latin typeface="Cambria Math" panose="02040503050406030204" pitchFamily="18" charset="0"/>
                  </a:rPr>
                  <a:t>$2-4\omega+2\omega^2=2(1+\omega^2)-4\omega=-2\omega-4\omega=-6\omega$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ratio is </a:t>
                </a:r>
                <a:r>
                  <a:rPr lang="en-IN" sz="2400">
                    <a:solidFill>
                      <a:srgbClr val="111827"/>
                    </a:solidFill>
                    <a:latin typeface="Cambria Math" panose="02040503050406030204" pitchFamily="18" charset="0"/>
                  </a:rPr>
                  <a:t>$\frac{-3}{-6\omega}=\frac{1}{2\omega}=\frac{\omega^2}{2}$</a:t>
                </a:r>
                <a:r>
                  <a:rPr sz="2400" b="0">
                    <a:solidFill>
                      <a:srgbClr val="111827"/>
                    </a:solidFill>
                    <a:latin typeface="Arial"/>
                  </a:rPr>
                  <a:t>, with argument </a:t>
                </a:r>
                <a:r>
                  <a:rPr lang="en-IN" sz="2400">
                    <a:solidFill>
                      <a:srgbClr val="111827"/>
                    </a:solidFill>
                    <a:latin typeface="Cambria Math" panose="02040503050406030204" pitchFamily="18" charset="0"/>
                  </a:rPr>
                  <a:t>$\frac{4\pi}{3}\equiv-\frac{2\pi}{3}$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$|\arg|=\frac{2\pi}{3}$</a:t>
                </a:r>
                <a:r>
                  <a:rPr sz="2400" b="0">
                    <a:solidFill>
                      <a:srgbClr val="111827"/>
                    </a:solidFill>
                    <a:latin typeface="Arial"/>
                  </a:rPr>
                  <a:t>, </a:t>
                </a:r>
                <a:r>
                  <a:rPr lang="en-IN" sz="2400">
                    <a:solidFill>
                      <a:srgbClr val="111827"/>
                    </a:solidFill>
                    <a:latin typeface="Cambria Math" panose="02040503050406030204" pitchFamily="18" charset="0"/>
                  </a:rPr>
                  <a:t>$P+Q=2+3=5$</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5</a:t>
            </a:r>
            <a:endParaRPr sz="2800">
              <a:solidFill>
                <a:srgbClr val="15803D"/>
              </a:solidFill>
            </a:endParaRPr>
          </a:p>
        </p:txBody>
      </p:sp>
    </p:spTree>
  </p:cSld>
  <p:clrMapOvr>
    <a:masterClrMapping/>
  </p:clrMapOvr>
</p:sld>
</file>

<file path=ppt/slides/slide5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arg</m:t>
                    </m:r>
                    <m:f>
                      <m:fPr>
                        <m:type m:val="bar"/>
                        <m:ctrlPr>
                          <a:rPr lang="en-IN" sz="2400" i="1">
                            <a:solidFill>
                              <a:srgbClr val="111827"/>
                            </a:solidFill>
                            <a:latin typeface="Cambria Math" panose="02040503050406030204" pitchFamily="18" charset="0"/>
                          </a:rPr>
                        </m:ctrlPr>
                      </m:fPr>
                      <m:num>
                        <m:sSub>
                          <m:e>
                            <m:r>
                              <a:rPr lang="en-IN" sz="2400" i="1">
                                <a:solidFill>
                                  <a:srgbClr val="111827"/>
                                </a:solidFill>
                                <a:latin typeface="Cambria Math" panose="02040503050406030204" pitchFamily="18" charset="0"/>
                              </a:rPr>
                              <m:t>𝑤</m:t>
                            </m:r>
                          </m:e>
                          <m:sub>
                            <m:r>
                              <a:rPr lang="en-IN" sz="2400" i="1">
                                <a:solidFill>
                                  <a:srgbClr val="111827"/>
                                </a:solidFill>
                                <a:latin typeface="Cambria Math" panose="02040503050406030204" pitchFamily="18" charset="0"/>
                              </a:rPr>
                              <m:t>1</m:t>
                            </m:r>
                          </m:sub>
                        </m:sSub>
                      </m:num>
                      <m:den>
                        <m:sSub>
                          <m:e>
                            <m:r>
                              <a:rPr lang="en-IN" sz="2400" i="1">
                                <a:solidFill>
                                  <a:srgbClr val="111827"/>
                                </a:solidFill>
                                <a:latin typeface="Cambria Math" panose="02040503050406030204" pitchFamily="18" charset="0"/>
                              </a:rPr>
                              <m:t>𝑤</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is the angle from vector </a:t>
                </a:r>
                <a14:m>
                  <m:oMath xmlns:m="http://schemas.openxmlformats.org/officeDocument/2006/math">
                    <m:sSub>
                      <m:e>
                        <m:r>
                          <a:rPr lang="en-IN" sz="2400" i="1">
                            <a:solidFill>
                              <a:srgbClr val="111827"/>
                            </a:solidFill>
                            <a:latin typeface="Cambria Math" panose="02040503050406030204" pitchFamily="18" charset="0"/>
                          </a:rPr>
                          <m:t>𝑤</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to vector </a:t>
                </a:r>
                <a14:m>
                  <m:oMath xmlns:m="http://schemas.openxmlformats.org/officeDocument/2006/math">
                    <m:sSub>
                      <m:e>
                        <m:r>
                          <a:rPr lang="en-IN" sz="2400" i="1">
                            <a:solidFill>
                              <a:srgbClr val="111827"/>
                            </a:solidFill>
                            <a:latin typeface="Cambria Math" panose="02040503050406030204" pitchFamily="18" charset="0"/>
                          </a:rPr>
                          <m:t>𝑤</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positive real factors drop out.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Triangle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is equilateral iff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iff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Any two medians of an equilateral triangle make </a:t>
                </a:r>
                <a14:m>
                  <m:oMath xmlns:m="http://schemas.openxmlformats.org/officeDocument/2006/math">
                    <m:sSup>
                      <m:e>
                        <m:r>
                          <a:rPr lang="en-IN" sz="2400" i="1">
                            <a:solidFill>
                              <a:srgbClr val="111827"/>
                            </a:solidFill>
                            <a:latin typeface="Cambria Math" panose="02040503050406030204" pitchFamily="18" charset="0"/>
                          </a:rPr>
                          <m:t>120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at the centroid; with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 median vectors are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2</m:t>
                        </m:r>
                      </m:den>
                    </m:f>
                    <m:r>
                      <a:rPr lang="en-IN" sz="2400" i="1">
                        <a:solidFill>
                          <a:srgbClr val="111827"/>
                        </a:solidFill>
                        <a:latin typeface="Cambria Math" panose="02040503050406030204" pitchFamily="18" charset="0"/>
                      </a:rPr>
                      <m:t>ω</m:t>
                    </m:r>
                  </m:oMath>
                </a14:m>
                <a:r>
                  <a:rPr sz="2400" b="0">
                    <a:solidFill>
                      <a:srgbClr val="111827"/>
                    </a:solidFill>
                    <a:latin typeface="Arial"/>
                  </a:rPr>
                  <a:t>, with ratio </a:t>
                </a:r>
                <a14:m>
                  <m:oMath xmlns:m="http://schemas.openxmlformats.org/officeDocument/2006/math">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of argument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Ratios of differences of vertices are invariant under similarity maps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oMath>
                </a14:m>
                <a:r>
                  <a:rPr sz="2400" b="0">
                    <a:solidFill>
                      <a:srgbClr val="111827"/>
                    </a:solidFill>
                    <a:latin typeface="Arial"/>
                  </a:rPr>
                  <a:t>, so the figure can be normalised.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$\arg\frac{w_1}{w_2}$</a:t>
                </a:r>
                <a:r>
                  <a:rPr sz="2400" b="0">
                    <a:solidFill>
                      <a:srgbClr val="111827"/>
                    </a:solidFill>
                    <a:latin typeface="Arial"/>
                  </a:rPr>
                  <a:t> is the angle from vector </a:t>
                </a:r>
                <a:r>
                  <a:rPr lang="en-IN" sz="2400">
                    <a:solidFill>
                      <a:srgbClr val="111827"/>
                    </a:solidFill>
                    <a:latin typeface="Cambria Math" panose="02040503050406030204" pitchFamily="18" charset="0"/>
                  </a:rPr>
                  <a:t>$w_2$</a:t>
                </a:r>
                <a:r>
                  <a:rPr sz="2400" b="0">
                    <a:solidFill>
                      <a:srgbClr val="111827"/>
                    </a:solidFill>
                    <a:latin typeface="Arial"/>
                  </a:rPr>
                  <a:t> to vector </a:t>
                </a:r>
                <a:r>
                  <a:rPr lang="en-IN" sz="2400">
                    <a:solidFill>
                      <a:srgbClr val="111827"/>
                    </a:solidFill>
                    <a:latin typeface="Cambria Math" panose="02040503050406030204" pitchFamily="18" charset="0"/>
                  </a:rPr>
                  <a:t>$w_1$</a:t>
                </a:r>
                <a:r>
                  <a:rPr sz="2400" b="0">
                    <a:solidFill>
                      <a:srgbClr val="111827"/>
                    </a:solidFill>
                    <a:latin typeface="Arial"/>
                  </a:rPr>
                  <a:t>; positive real factors drop out.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Triangle </a:t>
                </a:r>
                <a:r>
                  <a:rPr lang="en-IN" sz="2400">
                    <a:solidFill>
                      <a:srgbClr val="111827"/>
                    </a:solidFill>
                    <a:latin typeface="Cambria Math" panose="02040503050406030204" pitchFamily="18" charset="0"/>
                  </a:rPr>
                  <a:t>$z_1z_2z_3$</a:t>
                </a:r>
                <a:r>
                  <a:rPr sz="2400" b="0">
                    <a:solidFill>
                      <a:srgbClr val="111827"/>
                    </a:solidFill>
                    <a:latin typeface="Arial"/>
                  </a:rPr>
                  <a:t> is equilateral iff </a:t>
                </a:r>
                <a:r>
                  <a:rPr lang="en-IN" sz="2400">
                    <a:solidFill>
                      <a:srgbClr val="111827"/>
                    </a:solidFill>
                    <a:latin typeface="Cambria Math" panose="02040503050406030204" pitchFamily="18" charset="0"/>
                  </a:rPr>
                  <a:t>$z_1^2+z_2^2+z_3^2=z_1z_2+z_2z_3+z_3z_1$</a:t>
                </a:r>
                <a:r>
                  <a:rPr sz="2400" b="0">
                    <a:solidFill>
                      <a:srgbClr val="111827"/>
                    </a:solidFill>
                    <a:latin typeface="Arial"/>
                  </a:rPr>
                  <a:t>, iff </a:t>
                </a:r>
                <a:r>
                  <a:rPr lang="en-IN" sz="2400">
                    <a:solidFill>
                      <a:srgbClr val="111827"/>
                    </a:solidFill>
                    <a:latin typeface="Cambria Math" panose="02040503050406030204" pitchFamily="18" charset="0"/>
                  </a:rPr>
                  <a:t>$z_1+\omega z_2+\omega^2z_3=0$</a:t>
                </a:r>
                <a:r>
                  <a:rPr sz="2400" b="0">
                    <a:solidFill>
                      <a:srgbClr val="111827"/>
                    </a:solidFill>
                    <a:latin typeface="Arial"/>
                  </a:rPr>
                  <a:t> or </a:t>
                </a:r>
                <a:r>
                  <a:rPr lang="en-IN" sz="2400">
                    <a:solidFill>
                      <a:srgbClr val="111827"/>
                    </a:solidFill>
                    <a:latin typeface="Cambria Math" panose="02040503050406030204" pitchFamily="18" charset="0"/>
                  </a:rPr>
                  <a:t>$z_1+\omega^2z_2+\omega z_3=0$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Any two medians of an equilateral triangle make </a:t>
                </a:r>
                <a:r>
                  <a:rPr lang="en-IN" sz="2400">
                    <a:solidFill>
                      <a:srgbClr val="111827"/>
                    </a:solidFill>
                    <a:latin typeface="Cambria Math" panose="02040503050406030204" pitchFamily="18" charset="0"/>
                  </a:rPr>
                  <a:t>$120^\circ$</a:t>
                </a:r>
                <a:r>
                  <a:rPr sz="2400" b="0">
                    <a:solidFill>
                      <a:srgbClr val="111827"/>
                    </a:solidFill>
                    <a:latin typeface="Arial"/>
                  </a:rPr>
                  <a:t> at the centroid; with </a:t>
                </a:r>
                <a:r>
                  <a:rPr lang="en-IN" sz="2400">
                    <a:solidFill>
                      <a:srgbClr val="111827"/>
                    </a:solidFill>
                    <a:latin typeface="Cambria Math" panose="02040503050406030204" pitchFamily="18" charset="0"/>
                  </a:rPr>
                  <a:t>$z_1,z_2,z_3=1,\omega,\omega^2$</a:t>
                </a:r>
                <a:r>
                  <a:rPr sz="2400" b="0">
                    <a:solidFill>
                      <a:srgbClr val="111827"/>
                    </a:solidFill>
                    <a:latin typeface="Arial"/>
                  </a:rPr>
                  <a:t> the median vectors are </a:t>
                </a:r>
                <a:r>
                  <a:rPr lang="en-IN" sz="2400">
                    <a:solidFill>
                      <a:srgbClr val="111827"/>
                    </a:solidFill>
                    <a:latin typeface="Cambria Math" panose="02040503050406030204" pitchFamily="18" charset="0"/>
                  </a:rPr>
                  <a:t>$-\frac{3}{2}$</a:t>
                </a:r>
                <a:r>
                  <a:rPr sz="2400" b="0">
                    <a:solidFill>
                      <a:srgbClr val="111827"/>
                    </a:solidFill>
                    <a:latin typeface="Arial"/>
                  </a:rPr>
                  <a:t> and </a:t>
                </a:r>
                <a:r>
                  <a:rPr lang="en-IN" sz="2400">
                    <a:solidFill>
                      <a:srgbClr val="111827"/>
                    </a:solidFill>
                    <a:latin typeface="Cambria Math" panose="02040503050406030204" pitchFamily="18" charset="0"/>
                  </a:rPr>
                  <a:t>$-\frac{3}{2}\omega$</a:t>
                </a:r>
                <a:r>
                  <a:rPr sz="2400" b="0">
                    <a:solidFill>
                      <a:srgbClr val="111827"/>
                    </a:solidFill>
                    <a:latin typeface="Arial"/>
                  </a:rPr>
                  <a:t>, with ratio </a:t>
                </a:r>
                <a:r>
                  <a:rPr lang="en-IN" sz="2400">
                    <a:solidFill>
                      <a:srgbClr val="111827"/>
                    </a:solidFill>
                    <a:latin typeface="Cambria Math" panose="02040503050406030204" pitchFamily="18" charset="0"/>
                  </a:rPr>
                  <a:t>$\omega^2$</a:t>
                </a:r>
                <a:r>
                  <a:rPr sz="2400" b="0">
                    <a:solidFill>
                      <a:srgbClr val="111827"/>
                    </a:solidFill>
                    <a:latin typeface="Arial"/>
                  </a:rPr>
                  <a:t> of argument </a:t>
                </a:r>
                <a:r>
                  <a:rPr lang="en-IN" sz="2400">
                    <a:solidFill>
                      <a:srgbClr val="111827"/>
                    </a:solidFill>
                    <a:latin typeface="Cambria Math" panose="02040503050406030204" pitchFamily="18" charset="0"/>
                  </a:rPr>
                  <a:t>$-\frac{2\pi}{3}$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Ratios of differences of vertices are invariant under similarity maps </a:t>
                </a:r>
                <a:r>
                  <a:rPr lang="en-IN" sz="2400">
                    <a:solidFill>
                      <a:srgbClr val="111827"/>
                    </a:solidFill>
                    <a:latin typeface="Cambria Math" panose="02040503050406030204" pitchFamily="18" charset="0"/>
                  </a:rPr>
                  <a:t>$z\mapsto az+b$</a:t>
                </a:r>
                <a:r>
                  <a:rPr sz="2400" b="0">
                    <a:solidFill>
                      <a:srgbClr val="111827"/>
                    </a:solidFill>
                    <a:latin typeface="Arial"/>
                  </a:rPr>
                  <a:t>, so the figure can be normalised.</a:t>
                </a:r>
                <a:endParaRPr sz="2400">
                  <a:solidFill>
                    <a:srgbClr val="111827"/>
                  </a:solidFill>
                </a:endParaRPr>
              </a:p>
            </p:txBody>
          </p:sp>
        </mc:Fallback>
      </mc:AlternateContent>
    </p:spTree>
  </p:cSld>
  <p:clrMapOvr>
    <a:masterClrMapping/>
  </p:clrMapOvr>
</p:sld>
</file>

<file path=ppt/slides/slide5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6</m:t>
                        </m:r>
                      </m:sub>
                    </m:sSub>
                  </m:oMath>
                </a14:m>
                <a:r>
                  <a:rPr sz="2400" b="0">
                    <a:solidFill>
                      <a:srgbClr val="111827"/>
                    </a:solidFill>
                    <a:latin typeface="Arial"/>
                  </a:rPr>
                  <a:t> are the roots of the equation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the value of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6</m:t>
                        </m:r>
                      </m:sup>
                      <m:e>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5</m:t>
                            </m:r>
                          </m:sup>
                        </m:sSubSup>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6</m:t>
                        </m:r>
                      </m:sup>
                      <m:e>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14</m:t>
                            </m:r>
                          </m:sup>
                        </m:sSubSup>
                      </m:e>
                    </m:nary>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6</m:t>
                        </m:r>
                      </m:sup>
                      <m:e>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e>
                    </m:nary>
                  </m:oMath>
                </a14:m>
                <a:r>
                  <a:rPr sz="2400" b="0">
                    <a:solidFill>
                      <a:srgbClr val="111827"/>
                    </a:solidFill>
                    <a:latin typeface="Arial"/>
                  </a:rPr>
                  <a:t> is equal to 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$z_1,z_2,z_3,z_4,z_5,z_6$</a:t>
                </a:r>
                <a:r>
                  <a:rPr sz="2400" b="0">
                    <a:solidFill>
                      <a:srgbClr val="111827"/>
                    </a:solidFill>
                    <a:latin typeface="Arial"/>
                  </a:rPr>
                  <a:t> are the roots of the equation </a:t>
                </a:r>
                <a:r>
                  <a:rPr lang="en-IN" sz="2400">
                    <a:solidFill>
                      <a:srgbClr val="111827"/>
                    </a:solidFill>
                    <a:latin typeface="Cambria Math" panose="02040503050406030204" pitchFamily="18" charset="0"/>
                  </a:rPr>
                  <a:t>$z^6+z^5+z^4+z^3+z^2+z+1=0$</a:t>
                </a:r>
                <a:r>
                  <a:rPr sz="2400" b="0">
                    <a:solidFill>
                      <a:srgbClr val="111827"/>
                    </a:solidFill>
                    <a:latin typeface="Arial"/>
                  </a:rPr>
                  <a:t>, then the value of </a:t>
                </a:r>
                <a:r>
                  <a:rPr lang="en-IN" sz="2400">
                    <a:solidFill>
                      <a:srgbClr val="111827"/>
                    </a:solidFill>
                    <a:latin typeface="Cambria Math" panose="02040503050406030204" pitchFamily="18" charset="0"/>
                  </a:rPr>
                  <a:t>$\sum_{i=1}^{6}z_i^5+\sum_{i=1}^{6}z_i^{14}-\prod_{i=1}^{6}z_i$</a:t>
                </a:r>
                <a:r>
                  <a:rPr sz="2400" b="0">
                    <a:solidFill>
                      <a:srgbClr val="111827"/>
                    </a:solidFill>
                    <a:latin typeface="Arial"/>
                  </a:rPr>
                  <a:t> is equal to ______.</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unity and sums of powers of roots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1(JEE Main Level)</a:t>
            </a:r>
            <a:endParaRPr sz="2400">
              <a:solidFill>
                <a:srgbClr val="111827"/>
              </a:solidFill>
            </a:endParaRPr>
          </a:p>
        </p:txBody>
      </p:sp>
    </p:spTree>
  </p:cSld>
  <p:clrMapOvr>
    <a:masterClrMapping/>
  </p:clrMapOvr>
</p:sld>
</file>

<file path=ppt/slides/slide5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Multiplying by </a:t>
                </a:r>
                <a14:m>
                  <m:oMath xmlns:m="http://schemas.openxmlformats.org/officeDocument/2006/math">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shows the roots are the seventh roots of unity other than </a:t>
                </a:r>
                <a14:m>
                  <m:oMath xmlns:m="http://schemas.openxmlformats.org/officeDocument/2006/math">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Multiplying by </a:t>
                </a:r>
                <a:r>
                  <a:rPr lang="en-IN" sz="2400">
                    <a:solidFill>
                      <a:srgbClr val="78350F"/>
                    </a:solidFill>
                    <a:latin typeface="Cambria Math" panose="02040503050406030204" pitchFamily="18" charset="0"/>
                  </a:rPr>
                  <a:t>$z-1$</a:t>
                </a:r>
                <a:r>
                  <a:rPr sz="2400" b="0">
                    <a:solidFill>
                      <a:srgbClr val="78350F"/>
                    </a:solidFill>
                    <a:latin typeface="Arial"/>
                  </a:rPr>
                  <a:t> shows the roots are the seventh roots of unity other than </a:t>
                </a:r>
                <a:r>
                  <a:rPr lang="en-IN" sz="2400">
                    <a:solidFill>
                      <a:srgbClr val="78350F"/>
                    </a:solidFill>
                    <a:latin typeface="Cambria Math" panose="02040503050406030204" pitchFamily="18" charset="0"/>
                  </a:rPr>
                  <a:t>$1$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equation is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of the roots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6</m:t>
                        </m:r>
                      </m:sup>
                      <m:e>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(i) by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...(ii), the seventh roots of unity.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roots of (i) are the roots of (ii) except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equation is </a:t>
                </a:r>
                <a:r>
                  <a:rPr lang="en-IN" sz="2400">
                    <a:solidFill>
                      <a:srgbClr val="111827"/>
                    </a:solidFill>
                    <a:latin typeface="Cambria Math" panose="02040503050406030204" pitchFamily="18" charset="0"/>
                  </a:rPr>
                  <a:t>$z^6+z^5+z^4+z^3+z^2+z+1=0$</a:t>
                </a:r>
                <a:r>
                  <a:rPr sz="2400" b="0">
                    <a:solidFill>
                      <a:srgbClr val="111827"/>
                    </a:solidFill>
                    <a:latin typeface="Arial"/>
                  </a:rPr>
                  <a:t> ...(i).</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of the roots </a:t>
                </a:r>
                <a:r>
                  <a:rPr lang="en-IN" sz="2400">
                    <a:solidFill>
                      <a:srgbClr val="111827"/>
                    </a:solidFill>
                    <a:latin typeface="Cambria Math" panose="02040503050406030204" pitchFamily="18" charset="0"/>
                  </a:rPr>
                  <a:t>$=(-1)^6\cdot\frac{1}{1}=1$</a:t>
                </a:r>
                <a:r>
                  <a:rPr sz="2400" b="0">
                    <a:solidFill>
                      <a:srgbClr val="111827"/>
                    </a:solidFill>
                    <a:latin typeface="Arial"/>
                  </a:rPr>
                  <a:t>, so </a:t>
                </a:r>
                <a:r>
                  <a:rPr lang="en-IN" sz="2400">
                    <a:solidFill>
                      <a:srgbClr val="111827"/>
                    </a:solidFill>
                    <a:latin typeface="Cambria Math" panose="02040503050406030204" pitchFamily="18" charset="0"/>
                  </a:rPr>
                  <a:t>$\prod_{i=1}^{6}z_i=1$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Multiply (i) by </a:t>
                </a:r>
                <a:r>
                  <a:rPr lang="en-IN" sz="2400">
                    <a:solidFill>
                      <a:srgbClr val="111827"/>
                    </a:solidFill>
                    <a:latin typeface="Cambria Math" panose="02040503050406030204" pitchFamily="18" charset="0"/>
                  </a:rPr>
                  <a:t>$(z-1)$</a:t>
                </a:r>
                <a:r>
                  <a:rPr sz="2400" b="0">
                    <a:solidFill>
                      <a:srgbClr val="111827"/>
                    </a:solidFill>
                    <a:latin typeface="Arial"/>
                  </a:rPr>
                  <a:t>: </a:t>
                </a:r>
                <a:r>
                  <a:rPr lang="en-IN" sz="2400">
                    <a:solidFill>
                      <a:srgbClr val="111827"/>
                    </a:solidFill>
                    <a:latin typeface="Cambria Math" panose="02040503050406030204" pitchFamily="18" charset="0"/>
                  </a:rPr>
                  <a:t>$z^7-1=0$</a:t>
                </a:r>
                <a:r>
                  <a:rPr sz="2400" b="0">
                    <a:solidFill>
                      <a:srgbClr val="111827"/>
                    </a:solidFill>
                    <a:latin typeface="Arial"/>
                  </a:rPr>
                  <a:t>, i.e. </a:t>
                </a:r>
                <a:r>
                  <a:rPr lang="en-IN" sz="2400">
                    <a:solidFill>
                      <a:srgbClr val="111827"/>
                    </a:solidFill>
                    <a:latin typeface="Cambria Math" panose="02040503050406030204" pitchFamily="18" charset="0"/>
                  </a:rPr>
                  <a:t>$z^7=1$</a:t>
                </a:r>
                <a:r>
                  <a:rPr sz="2400" b="0">
                    <a:solidFill>
                      <a:srgbClr val="111827"/>
                    </a:solidFill>
                    <a:latin typeface="Arial"/>
                  </a:rPr>
                  <a:t> ...(ii), the seventh roots of unity.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the roots of (i) are the roots of (ii) except </a:t>
                </a:r>
                <a:r>
                  <a:rPr lang="en-IN" sz="2400">
                    <a:solidFill>
                      <a:srgbClr val="111827"/>
                    </a:solidFill>
                    <a:latin typeface="Cambria Math" panose="02040503050406030204" pitchFamily="18" charset="0"/>
                  </a:rPr>
                  <a:t>$z=1$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of all seven roots of (ii) of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removing </a:t>
                </a:r>
                <a14:m>
                  <m:oMath xmlns:m="http://schemas.openxmlformats.org/officeDocument/2006/math">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5</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14</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7</m:t>
                        </m:r>
                      </m:sup>
                    </m:sSub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each root,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14</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sum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of all seven roots of (ii) of </a:t>
                </a:r>
                <a:r>
                  <a:rPr lang="en-IN" sz="2400">
                    <a:solidFill>
                      <a:srgbClr val="111827"/>
                    </a:solidFill>
                    <a:latin typeface="Cambria Math" panose="02040503050406030204" pitchFamily="18" charset="0"/>
                  </a:rPr>
                  <a:t>$z^5$</a:t>
                </a:r>
                <a:r>
                  <a:rPr sz="2400" b="0">
                    <a:solidFill>
                      <a:srgbClr val="111827"/>
                    </a:solidFill>
                    <a:latin typeface="Arial"/>
                  </a:rPr>
                  <a:t> is </a:t>
                </a:r>
                <a:r>
                  <a:rPr lang="en-IN" sz="2400">
                    <a:solidFill>
                      <a:srgbClr val="111827"/>
                    </a:solidFill>
                    <a:latin typeface="Cambria Math" panose="02040503050406030204" pitchFamily="18" charset="0"/>
                  </a:rPr>
                  <a:t>$0$</a:t>
                </a:r>
                <a:r>
                  <a:rPr sz="2400" b="0">
                    <a:solidFill>
                      <a:srgbClr val="111827"/>
                    </a:solidFill>
                    <a:latin typeface="Arial"/>
                  </a:rPr>
                  <a:t> (as </a:t>
                </a:r>
                <a:r>
                  <a:rPr lang="en-IN" sz="2400">
                    <a:solidFill>
                      <a:srgbClr val="111827"/>
                    </a:solidFill>
                    <a:latin typeface="Cambria Math" panose="02040503050406030204" pitchFamily="18" charset="0"/>
                  </a:rPr>
                  <a:t>$7\nmid5$</a:t>
                </a:r>
                <a:r>
                  <a:rPr sz="2400" b="0">
                    <a:solidFill>
                      <a:srgbClr val="111827"/>
                    </a:solidFill>
                    <a:latin typeface="Arial"/>
                  </a:rPr>
                  <a:t>); removing </a:t>
                </a:r>
                <a:r>
                  <a:rPr lang="en-IN" sz="2400">
                    <a:solidFill>
                      <a:srgbClr val="111827"/>
                    </a:solidFill>
                    <a:latin typeface="Cambria Math" panose="02040503050406030204" pitchFamily="18" charset="0"/>
                  </a:rPr>
                  <a:t>$1^5=1$</a:t>
                </a:r>
                <a:r>
                  <a:rPr sz="2400" b="0">
                    <a:solidFill>
                      <a:srgbClr val="111827"/>
                    </a:solidFill>
                    <a:latin typeface="Arial"/>
                  </a:rPr>
                  <a:t> gives </a:t>
                </a:r>
                <a:r>
                  <a:rPr lang="en-IN" sz="2400">
                    <a:solidFill>
                      <a:srgbClr val="111827"/>
                    </a:solidFill>
                    <a:latin typeface="Cambria Math" panose="02040503050406030204" pitchFamily="18" charset="0"/>
                  </a:rPr>
                  <a:t>$\sum z_i^5=-1$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$z_i^{14}=(z_i^7)^2=1$</a:t>
                </a:r>
                <a:r>
                  <a:rPr sz="2400" b="0">
                    <a:solidFill>
                      <a:srgbClr val="111827"/>
                    </a:solidFill>
                    <a:latin typeface="Arial"/>
                  </a:rPr>
                  <a:t> for each root, </a:t>
                </a:r>
                <a:r>
                  <a:rPr lang="en-IN" sz="2400">
                    <a:solidFill>
                      <a:srgbClr val="111827"/>
                    </a:solidFill>
                    <a:latin typeface="Cambria Math" panose="02040503050406030204" pitchFamily="18" charset="0"/>
                  </a:rPr>
                  <a:t>$\sum z_i^{14}=6$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Required sum </a:t>
                </a:r>
                <a:r>
                  <a:rPr lang="en-IN" sz="2400">
                    <a:solidFill>
                      <a:srgbClr val="111827"/>
                    </a:solidFill>
                    <a:latin typeface="Cambria Math" panose="02040503050406030204" pitchFamily="18" charset="0"/>
                  </a:rPr>
                  <a:t>$=-1+6-1=4$</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5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Newton's identities with all elementary symmetric functions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to get </a:t>
                </a:r>
                <a14:m>
                  <m:oMath xmlns:m="http://schemas.openxmlformats.org/officeDocument/2006/math">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5</m:t>
                        </m:r>
                      </m:sup>
                    </m:sSubSup>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Newton's identities with all elementary symmetric functions </a:t>
                </a:r>
                <a:r>
                  <a:rPr lang="en-IN" sz="2400">
                    <a:solidFill>
                      <a:srgbClr val="78350F"/>
                    </a:solidFill>
                    <a:latin typeface="Cambria Math" panose="02040503050406030204" pitchFamily="18" charset="0"/>
                  </a:rPr>
                  <a:t>$\pm1$</a:t>
                </a:r>
                <a:r>
                  <a:rPr sz="2400" b="0">
                    <a:solidFill>
                      <a:srgbClr val="78350F"/>
                    </a:solidFill>
                    <a:latin typeface="Arial"/>
                  </a:rPr>
                  <a:t> to get </a:t>
                </a:r>
                <a:r>
                  <a:rPr lang="en-IN" sz="2400">
                    <a:solidFill>
                      <a:srgbClr val="78350F"/>
                    </a:solidFill>
                    <a:latin typeface="Cambria Math" panose="02040503050406030204" pitchFamily="18" charset="0"/>
                  </a:rPr>
                  <a:t>$\sum z_i^5$</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(signs alternate),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6</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Newton: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$z^6+z^5+\cdots+1$</a:t>
                </a:r>
                <a:r>
                  <a:rPr sz="2400" b="0">
                    <a:solidFill>
                      <a:srgbClr val="111827"/>
                    </a:solidFill>
                    <a:latin typeface="Arial"/>
                  </a:rPr>
                  <a:t>: </a:t>
                </a:r>
                <a:r>
                  <a:rPr lang="en-IN" sz="2400">
                    <a:solidFill>
                      <a:srgbClr val="111827"/>
                    </a:solidFill>
                    <a:latin typeface="Cambria Math" panose="02040503050406030204" pitchFamily="18" charset="0"/>
                  </a:rPr>
                  <a:t>$e_1=-1,\ e_2=1,\ e_3=-1,\ e_4=1,\ e_5=-1,\ e_6=1$</a:t>
                </a:r>
                <a:r>
                  <a:rPr sz="2400" b="0">
                    <a:solidFill>
                      <a:srgbClr val="111827"/>
                    </a:solidFill>
                    <a:latin typeface="Arial"/>
                  </a:rPr>
                  <a:t> (signs alternate), and </a:t>
                </a:r>
                <a:r>
                  <a:rPr lang="en-IN" sz="2400">
                    <a:solidFill>
                      <a:srgbClr val="111827"/>
                    </a:solidFill>
                    <a:latin typeface="Cambria Math" panose="02040503050406030204" pitchFamily="18" charset="0"/>
                  </a:rPr>
                  <a:t>$\prod z_i=e_6=1$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Newton: </a:t>
                </a:r>
                <a:r>
                  <a:rPr lang="en-IN" sz="2400">
                    <a:solidFill>
                      <a:srgbClr val="111827"/>
                    </a:solidFill>
                    <a:latin typeface="Cambria Math" panose="02040503050406030204" pitchFamily="18" charset="0"/>
                  </a:rPr>
                  <a:t>$p_1=e_1=-1$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$p_2=e_1p_1-2e_2=1-2=-1$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$p_3=e_1p_2-e_2p_1+3e_3=1+1-3=-1$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4</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4</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5</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root satisfies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(multiply the equation by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14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14</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Result: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$p_4=e_1p_3-e_2p_2+e_3p_1-4e_4=1+1+1-4=-1$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$p_5=e_1p_4-e_2p_3+e_3p_2-e_4p_1+5e_5=1+1+1+1-5=-1$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root satisfies </a:t>
                </a:r>
                <a:r>
                  <a:rPr lang="en-IN" sz="2400">
                    <a:solidFill>
                      <a:srgbClr val="111827"/>
                    </a:solidFill>
                    <a:latin typeface="Cambria Math" panose="02040503050406030204" pitchFamily="18" charset="0"/>
                  </a:rPr>
                  <a:t>$z^7=1$</a:t>
                </a:r>
                <a:r>
                  <a:rPr sz="2400" b="0">
                    <a:solidFill>
                      <a:srgbClr val="111827"/>
                    </a:solidFill>
                    <a:latin typeface="Arial"/>
                  </a:rPr>
                  <a:t> (multiply the equation by </a:t>
                </a:r>
                <a:r>
                  <a:rPr lang="en-IN" sz="2400">
                    <a:solidFill>
                      <a:srgbClr val="111827"/>
                    </a:solidFill>
                    <a:latin typeface="Cambria Math" panose="02040503050406030204" pitchFamily="18" charset="0"/>
                  </a:rPr>
                  <a:t>$z-1$</a:t>
                </a:r>
                <a:r>
                  <a:rPr sz="2400" b="0">
                    <a:solidFill>
                      <a:srgbClr val="111827"/>
                    </a:solidFill>
                    <a:latin typeface="Arial"/>
                  </a:rPr>
                  <a:t>), so </a:t>
                </a:r>
                <a:r>
                  <a:rPr lang="en-IN" sz="2400">
                    <a:solidFill>
                      <a:srgbClr val="111827"/>
                    </a:solidFill>
                    <a:latin typeface="Cambria Math" panose="02040503050406030204" pitchFamily="18" charset="0"/>
                  </a:rPr>
                  <a:t>$z^{14}=1$</a:t>
                </a:r>
                <a:r>
                  <a:rPr sz="2400" b="0">
                    <a:solidFill>
                      <a:srgbClr val="111827"/>
                    </a:solidFill>
                    <a:latin typeface="Arial"/>
                  </a:rPr>
                  <a:t> and </a:t>
                </a:r>
                <a:r>
                  <a:rPr lang="en-IN" sz="2400">
                    <a:solidFill>
                      <a:srgbClr val="111827"/>
                    </a:solidFill>
                    <a:latin typeface="Cambria Math" panose="02040503050406030204" pitchFamily="18" charset="0"/>
                  </a:rPr>
                  <a:t>$\sum z_i^{14}=6$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Result: </a:t>
                </a:r>
                <a:r>
                  <a:rPr lang="en-IN" sz="2400">
                    <a:solidFill>
                      <a:srgbClr val="111827"/>
                    </a:solidFill>
                    <a:latin typeface="Cambria Math" panose="02040503050406030204" pitchFamily="18" charset="0"/>
                  </a:rPr>
                  <a:t>$-1+6-1=4$</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5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B6D7A8"/>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1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th roots of unity,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m:rPr>
                            <m:nor/>
                          </m:rPr>
                          <a:rPr lang="en-IN" sz="2400" i="1">
                            <a:solidFill>
                              <a:srgbClr val="111827"/>
                            </a:solidFill>
                            <a:latin typeface="Cambria Math" panose="02040503050406030204" pitchFamily="18" charset="0"/>
                          </a:rPr>
                          <m:t>𝑎𝑙𝑙</m:t>
                        </m:r>
                      </m:sub>
                      <m:sup>
                        <m:r>
                          <a:rPr lang="en-IN" sz="2400" i="1">
                            <a:solidFill>
                              <a:srgbClr val="111827"/>
                            </a:solidFill>
                            <a:latin typeface="Cambria Math" panose="02040503050406030204" pitchFamily="18" charset="0"/>
                          </a:rPr>
                          <m:t>​</m:t>
                        </m:r>
                      </m:sup>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𝑘</m:t>
                            </m:r>
                          </m:sup>
                        </m:s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otherwise; over the roots other than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it is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respectively.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the power sums are </a:t>
                </a:r>
                <a14:m>
                  <m:oMath xmlns:m="http://schemas.openxmlformats.org/officeDocument/2006/math">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of the non-identity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th roots of unity is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$n$</a:t>
                </a:r>
                <a:r>
                  <a:rPr sz="2400" b="0">
                    <a:solidFill>
                      <a:srgbClr val="111827"/>
                    </a:solidFill>
                    <a:latin typeface="Arial"/>
                  </a:rPr>
                  <a:t>th roots of unity, </a:t>
                </a:r>
                <a:r>
                  <a:rPr lang="en-IN" sz="2400">
                    <a:solidFill>
                      <a:srgbClr val="111827"/>
                    </a:solidFill>
                    <a:latin typeface="Cambria Math" panose="02040503050406030204" pitchFamily="18" charset="0"/>
                  </a:rPr>
                  <a:t>$\sum_{\text{all}}z^k=n$</a:t>
                </a:r>
                <a:r>
                  <a:rPr sz="2400" b="0">
                    <a:solidFill>
                      <a:srgbClr val="111827"/>
                    </a:solidFill>
                    <a:latin typeface="Arial"/>
                  </a:rPr>
                  <a:t> if </a:t>
                </a:r>
                <a:r>
                  <a:rPr lang="en-IN" sz="2400">
                    <a:solidFill>
                      <a:srgbClr val="111827"/>
                    </a:solidFill>
                    <a:latin typeface="Cambria Math" panose="02040503050406030204" pitchFamily="18" charset="0"/>
                  </a:rPr>
                  <a:t>$n\mid k$</a:t>
                </a:r>
                <a:r>
                  <a:rPr sz="2400" b="0">
                    <a:solidFill>
                      <a:srgbClr val="111827"/>
                    </a:solidFill>
                    <a:latin typeface="Arial"/>
                  </a:rPr>
                  <a:t> and </a:t>
                </a:r>
                <a:r>
                  <a:rPr lang="en-IN" sz="2400">
                    <a:solidFill>
                      <a:srgbClr val="111827"/>
                    </a:solidFill>
                    <a:latin typeface="Cambria Math" panose="02040503050406030204" pitchFamily="18" charset="0"/>
                  </a:rPr>
                  <a:t>$0$</a:t>
                </a:r>
                <a:r>
                  <a:rPr sz="2400" b="0">
                    <a:solidFill>
                      <a:srgbClr val="111827"/>
                    </a:solidFill>
                    <a:latin typeface="Arial"/>
                  </a:rPr>
                  <a:t> otherwise; over the roots other than </a:t>
                </a:r>
                <a:r>
                  <a:rPr lang="en-IN" sz="2400">
                    <a:solidFill>
                      <a:srgbClr val="111827"/>
                    </a:solidFill>
                    <a:latin typeface="Cambria Math" panose="02040503050406030204" pitchFamily="18" charset="0"/>
                  </a:rPr>
                  <a:t>$1$</a:t>
                </a:r>
                <a:r>
                  <a:rPr sz="2400" b="0">
                    <a:solidFill>
                      <a:srgbClr val="111827"/>
                    </a:solidFill>
                    <a:latin typeface="Arial"/>
                  </a:rPr>
                  <a:t> it is </a:t>
                </a:r>
                <a:r>
                  <a:rPr lang="en-IN" sz="2400">
                    <a:solidFill>
                      <a:srgbClr val="111827"/>
                    </a:solidFill>
                    <a:latin typeface="Cambria Math" panose="02040503050406030204" pitchFamily="18" charset="0"/>
                  </a:rPr>
                  <a:t>$n-1$</a:t>
                </a:r>
                <a:r>
                  <a:rPr sz="2400" b="0">
                    <a:solidFill>
                      <a:srgbClr val="111827"/>
                    </a:solidFill>
                    <a:latin typeface="Arial"/>
                  </a:rPr>
                  <a:t> or </a:t>
                </a:r>
                <a:r>
                  <a:rPr lang="en-IN" sz="2400">
                    <a:solidFill>
                      <a:srgbClr val="111827"/>
                    </a:solidFill>
                    <a:latin typeface="Cambria Math" panose="02040503050406030204" pitchFamily="18" charset="0"/>
                  </a:rPr>
                  <a:t>$-1$</a:t>
                </a:r>
                <a:r>
                  <a:rPr sz="2400" b="0">
                    <a:solidFill>
                      <a:srgbClr val="111827"/>
                    </a:solidFill>
                    <a:latin typeface="Arial"/>
                  </a:rPr>
                  <a:t> respectively.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$1+z+\cdots+z^{n-1}$</a:t>
                </a:r>
                <a:r>
                  <a:rPr sz="2400" b="0">
                    <a:solidFill>
                      <a:srgbClr val="111827"/>
                    </a:solidFill>
                    <a:latin typeface="Arial"/>
                  </a:rPr>
                  <a:t> the power sums are </a:t>
                </a:r>
                <a:r>
                  <a:rPr lang="en-IN" sz="2400">
                    <a:solidFill>
                      <a:srgbClr val="111827"/>
                    </a:solidFill>
                    <a:latin typeface="Cambria Math" panose="02040503050406030204" pitchFamily="18" charset="0"/>
                  </a:rPr>
                  <a:t>$p_k=-1$</a:t>
                </a:r>
                <a:r>
                  <a:rPr sz="2400" b="0">
                    <a:solidFill>
                      <a:srgbClr val="111827"/>
                    </a:solidFill>
                    <a:latin typeface="Arial"/>
                  </a:rPr>
                  <a:t> for </a:t>
                </a:r>
                <a:r>
                  <a:rPr lang="en-IN" sz="2400">
                    <a:solidFill>
                      <a:srgbClr val="111827"/>
                    </a:solidFill>
                    <a:latin typeface="Cambria Math" panose="02040503050406030204" pitchFamily="18" charset="0"/>
                  </a:rPr>
                  <a:t>$1\le k\le n-1$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Product of the non-identity </a:t>
                </a:r>
                <a:r>
                  <a:rPr lang="en-IN" sz="2400">
                    <a:solidFill>
                      <a:srgbClr val="111827"/>
                    </a:solidFill>
                    <a:latin typeface="Cambria Math" panose="02040503050406030204" pitchFamily="18" charset="0"/>
                  </a:rPr>
                  <a:t>$n$</a:t>
                </a:r>
                <a:r>
                  <a:rPr sz="2400" b="0">
                    <a:solidFill>
                      <a:srgbClr val="111827"/>
                    </a:solidFill>
                    <a:latin typeface="Arial"/>
                  </a:rPr>
                  <a:t>th roots of unity is </a:t>
                </a:r>
                <a:r>
                  <a:rPr lang="en-IN" sz="2400">
                    <a:solidFill>
                      <a:srgbClr val="111827"/>
                    </a:solidFill>
                    <a:latin typeface="Cambria Math" panose="02040503050406030204" pitchFamily="18" charset="0"/>
                  </a:rPr>
                  <a:t>$(-1)^{n-1}$</a:t>
                </a:r>
                <a:r>
                  <a:rPr sz="2400" b="0">
                    <a:solidFill>
                      <a:srgbClr val="111827"/>
                    </a:solidFill>
                    <a:latin typeface="Arial"/>
                  </a:rPr>
                  <a:t> (</a:t>
                </a:r>
                <a:r>
                  <a:rPr lang="en-IN" sz="2400">
                    <a:solidFill>
                      <a:srgbClr val="111827"/>
                    </a:solidFill>
                    <a:latin typeface="Cambria Math" panose="02040503050406030204" pitchFamily="18" charset="0"/>
                  </a:rPr>
                  <a:t>$n=7$</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$n=4$</a:t>
                </a:r>
                <a:r>
                  <a:rPr sz="2400" b="0">
                    <a:solidFill>
                      <a:srgbClr val="111827"/>
                    </a:solidFill>
                    <a:latin typeface="Arial"/>
                  </a:rPr>
                  <a:t>: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971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lines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Let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be the angle between them such that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There is another line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which intersects the previous lines in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such that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a</m:t>
                    </m:r>
                    <m:r>
                      <m:rPr>
                        <m:sty m:val="p"/>
                      </m:rPr>
                      <a:rPr lang="en-IN" sz="2400">
                        <a:solidFill>
                          <a:srgbClr val="111827"/>
                        </a:solidFill>
                        <a:latin typeface="Cambria Math" panose="02040503050406030204" pitchFamily="18" charset="0"/>
                      </a:rPr>
                      <m:t>x</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𝑘</m:t>
                        </m:r>
                      </m:den>
                    </m:f>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is ______. (Wording as printed in the paper.)</a:t>
                </a:r>
                <a:endParaRPr sz="2400">
                  <a:solidFill>
                    <a:srgbClr val="111827"/>
                  </a:solidFill>
                </a:endParaRPr>
              </a:p>
            </p:txBody>
          </p:sp>
        </mc:Choice>
        <mc:Fallback>
          <p:sp>
            <p:nvSpPr>
              <p:cNvPr id="4" name="Rounded Rectangle 3"/>
              <p:cNvSpPr/>
              <p:nvPr/>
            </p:nvSpPr>
            <p:spPr>
              <a:xfrm>
                <a:off x="731520" y="1280160"/>
                <a:ext cx="10725912" cy="29712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Consider lines </a:t>
                </a:r>
                <a:r>
                  <a:rPr lang="en-IN" sz="2400">
                    <a:solidFill>
                      <a:srgbClr val="111827"/>
                    </a:solidFill>
                    <a:latin typeface="Cambria Math" panose="02040503050406030204" pitchFamily="18" charset="0"/>
                  </a:rPr>
                  <a:t>$z(1-mi)-\bar{z}(1+mi)=0$</a:t>
                </a:r>
                <a:r>
                  <a:rPr sz="2400" b="0">
                    <a:solidFill>
                      <a:srgbClr val="111827"/>
                    </a:solidFill>
                    <a:latin typeface="Arial"/>
                  </a:rPr>
                  <a:t> and </a:t>
                </a:r>
                <a:r>
                  <a:rPr lang="en-IN" sz="2400">
                    <a:solidFill>
                      <a:srgbClr val="111827"/>
                    </a:solidFill>
                    <a:latin typeface="Cambria Math" panose="02040503050406030204" pitchFamily="18" charset="0"/>
                  </a:rPr>
                  <a:t>$z(1-ni)-\bar{z}(1+ni)=0$</a:t>
                </a:r>
                <a:r>
                  <a:rPr sz="2400" b="0">
                    <a:solidFill>
                      <a:srgbClr val="111827"/>
                    </a:solidFill>
                    <a:latin typeface="Arial"/>
                  </a:rPr>
                  <a:t>. Let </a:t>
                </a:r>
                <a:r>
                  <a:rPr lang="en-IN" sz="2400">
                    <a:solidFill>
                      <a:srgbClr val="111827"/>
                    </a:solidFill>
                    <a:latin typeface="Cambria Math" panose="02040503050406030204" pitchFamily="18" charset="0"/>
                  </a:rPr>
                  <a:t>$\arg(z')$</a:t>
                </a:r>
                <a:r>
                  <a:rPr sz="2400" b="0">
                    <a:solidFill>
                      <a:srgbClr val="111827"/>
                    </a:solidFill>
                    <a:latin typeface="Arial"/>
                  </a:rPr>
                  <a:t> be the angle between them such that </a:t>
                </a:r>
                <a:r>
                  <a:rPr lang="en-IN" sz="2400">
                    <a:solidFill>
                      <a:srgbClr val="111827"/>
                    </a:solidFill>
                    <a:latin typeface="Cambria Math" panose="02040503050406030204" pitchFamily="18" charset="0"/>
                  </a:rPr>
                  <a:t>$\arg(z')\in\left[0,\frac{\pi}{2}\right]$</a:t>
                </a:r>
                <a:r>
                  <a:rPr sz="2400" b="0">
                    <a:solidFill>
                      <a:srgbClr val="111827"/>
                    </a:solidFill>
                    <a:latin typeface="Arial"/>
                  </a:rPr>
                  <a:t>. There is another line </a:t>
                </a:r>
                <a:r>
                  <a:rPr lang="en-IN" sz="2400">
                    <a:solidFill>
                      <a:srgbClr val="111827"/>
                    </a:solidFill>
                    <a:latin typeface="Cambria Math" panose="02040503050406030204" pitchFamily="18" charset="0"/>
                  </a:rPr>
                  <a:t>$z(1+i)-\bar{z}(-1+i)+2i=0$</a:t>
                </a:r>
                <a:r>
                  <a:rPr sz="2400" b="0">
                    <a:solidFill>
                      <a:srgbClr val="111827"/>
                    </a:solidFill>
                    <a:latin typeface="Arial"/>
                  </a:rPr>
                  <a:t> which intersects the previous lines in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such that </a:t>
                </a:r>
                <a:r>
                  <a:rPr lang="en-IN" sz="2400">
                    <a:solidFill>
                      <a:srgbClr val="111827"/>
                    </a:solidFill>
                    <a:latin typeface="Cambria Math" panose="02040503050406030204" pitchFamily="18" charset="0"/>
                  </a:rPr>
                  <a:t>$AB=OA=OB=AB$</a:t>
                </a:r>
                <a:r>
                  <a:rPr sz="2400" b="0">
                    <a:solidFill>
                      <a:srgbClr val="111827"/>
                    </a:solidFill>
                    <a:latin typeface="Arial"/>
                  </a:rPr>
                  <a:t>. Then </a:t>
                </a:r>
                <a:r>
                  <a:rPr lang="en-IN" sz="2400">
                    <a:solidFill>
                      <a:srgbClr val="111827"/>
                    </a:solidFill>
                    <a:latin typeface="Cambria Math" panose="02040503050406030204" pitchFamily="18" charset="0"/>
                  </a:rPr>
                  <a:t>$\mathrm{Max}(\arg(z'))$</a:t>
                </a:r>
                <a:r>
                  <a:rPr sz="2400" b="0">
                    <a:solidFill>
                      <a:srgbClr val="111827"/>
                    </a:solidFill>
                    <a:latin typeface="Arial"/>
                  </a:rPr>
                  <a:t> is </a:t>
                </a:r>
                <a:r>
                  <a:rPr lang="en-IN" sz="2400">
                    <a:solidFill>
                      <a:srgbClr val="111827"/>
                    </a:solidFill>
                    <a:latin typeface="Cambria Math" panose="02040503050406030204" pitchFamily="18" charset="0"/>
                  </a:rPr>
                  <a:t>$\frac{\pi}{k}$</a:t>
                </a:r>
                <a:r>
                  <a:rPr sz="2400" b="0">
                    <a:solidFill>
                      <a:srgbClr val="111827"/>
                    </a:solidFill>
                    <a:latin typeface="Arial"/>
                  </a:rPr>
                  <a:t>, where </a:t>
                </a:r>
                <a:r>
                  <a:rPr lang="en-IN" sz="2400">
                    <a:solidFill>
                      <a:srgbClr val="111827"/>
                    </a:solidFill>
                    <a:latin typeface="Cambria Math" panose="02040503050406030204" pitchFamily="18" charset="0"/>
                  </a:rPr>
                  <a:t>$k$</a:t>
                </a:r>
                <a:r>
                  <a:rPr sz="2400" b="0">
                    <a:solidFill>
                      <a:srgbClr val="111827"/>
                    </a:solidFill>
                    <a:latin typeface="Arial"/>
                  </a:rPr>
                  <a:t> is ______. (Wording as printed in the paper.)</a:t>
                </a:r>
                <a:endParaRPr sz="2400">
                  <a:solidFill>
                    <a:srgbClr val="111827"/>
                  </a:solidFill>
                </a:endParaRPr>
              </a:p>
            </p:txBody>
          </p:sp>
        </mc:Fallback>
      </mc:AlternateContent>
      <p:sp>
        <p:nvSpPr>
          <p:cNvPr id="5" name="Rectangle 4"/>
          <p:cNvSpPr/>
          <p:nvPr/>
        </p:nvSpPr>
        <p:spPr>
          <a:xfrm>
            <a:off x="731520" y="448005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lines through the origin and geometry of a triangle</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the length condition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𝐵</m:t>
                        </m:r>
                      </m:num>
                      <m:den>
                        <m:r>
                          <a:rPr lang="en-IN" sz="2400" i="1">
                            <a:solidFill>
                              <a:srgbClr val="78350F"/>
                            </a:solidFill>
                            <a:latin typeface="Cambria Math" panose="02040503050406030204" pitchFamily="18" charset="0"/>
                          </a:rPr>
                          <m:t>2</m:t>
                        </m:r>
                      </m:den>
                    </m:f>
                  </m:oMath>
                </a14:m>
                <a:r>
                  <a:rPr sz="2400" b="0">
                    <a:solidFill>
                      <a:srgbClr val="78350F"/>
                    </a:solidFill>
                    <a:latin typeface="Arial"/>
                  </a:rPr>
                  <a:t> the cosine rule plus AM-GM bounds the angle at </a:t>
                </a:r>
                <a14:m>
                  <m:oMath xmlns:m="http://schemas.openxmlformats.org/officeDocument/2006/math">
                    <m:r>
                      <a:rPr lang="en-IN" sz="2400" i="1">
                        <a:solidFill>
                          <a:srgbClr val="78350F"/>
                        </a:solidFill>
                        <a:latin typeface="Cambria Math" panose="02040503050406030204" pitchFamily="18" charset="0"/>
                      </a:rPr>
                      <m:t>𝑂</m:t>
                    </m:r>
                  </m:oMath>
                </a14:m>
                <a:r>
                  <a:rPr sz="2400" b="0">
                    <a:solidFill>
                      <a:srgbClr val="78350F"/>
                    </a:solidFill>
                    <a:latin typeface="Arial"/>
                  </a:rPr>
                  <a:t> by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3289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With the length condition </a:t>
                </a:r>
                <a:r>
                  <a:rPr lang="en-IN" sz="2400">
                    <a:solidFill>
                      <a:srgbClr val="78350F"/>
                    </a:solidFill>
                    <a:latin typeface="Cambria Math" panose="02040503050406030204" pitchFamily="18" charset="0"/>
                  </a:rPr>
                  <a:t>$AB=\frac{OA+OB}{2}$</a:t>
                </a:r>
                <a:r>
                  <a:rPr sz="2400" b="0">
                    <a:solidFill>
                      <a:srgbClr val="78350F"/>
                    </a:solidFill>
                    <a:latin typeface="Arial"/>
                  </a:rPr>
                  <a:t> the cosine rule plus AM-GM bounds the angle at </a:t>
                </a:r>
                <a:r>
                  <a:rPr lang="en-IN" sz="2400">
                    <a:solidFill>
                      <a:srgbClr val="78350F"/>
                    </a:solidFill>
                    <a:latin typeface="Cambria Math" panose="02040503050406030204" pitchFamily="18" charset="0"/>
                  </a:rPr>
                  <a:t>$O$</a:t>
                </a:r>
                <a:r>
                  <a:rPr sz="2400" b="0">
                    <a:solidFill>
                      <a:srgbClr val="78350F"/>
                    </a:solidFill>
                    <a:latin typeface="Arial"/>
                  </a:rPr>
                  <a:t> by </a:t>
                </a:r>
                <a:r>
                  <a:rPr lang="en-IN" sz="2400">
                    <a:solidFill>
                      <a:srgbClr val="78350F"/>
                    </a:solidFill>
                    <a:latin typeface="Cambria Math" panose="02040503050406030204" pitchFamily="18" charset="0"/>
                  </a:rPr>
                  <a:t>$\frac{\pi}{3}$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the first line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 similarly the second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oMath>
                </a14:m>
                <a:r>
                  <a:rPr sz="2400" b="0">
                    <a:solidFill>
                      <a:srgbClr val="111827"/>
                    </a:solidFill>
                    <a:latin typeface="Arial"/>
                  </a:rPr>
                  <a:t>. Both pass through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the angle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of triangle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oMath>
                </a14:m>
                <a:r>
                  <a:rPr sz="2400" b="0">
                    <a:solidFill>
                      <a:srgbClr val="111827"/>
                    </a:solidFill>
                    <a:latin typeface="Arial"/>
                  </a:rPr>
                  <a:t> are the points where the third line meets the two lines.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Cosine rule: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printed working uses the length condition as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stem as printed is garbled), so </a:t>
                </a:r>
                <a14:m>
                  <m:oMath xmlns:m="http://schemas.openxmlformats.org/officeDocument/2006/math">
                    <m:r>
                      <a:rPr lang="en-IN" sz="2400" i="1">
                        <a:solidFill>
                          <a:srgbClr val="111827"/>
                        </a:solidFill>
                        <a:latin typeface="Cambria Math" panose="02040503050406030204" pitchFamily="18" charset="0"/>
                      </a:rPr>
                      <m:t>𝐴</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746248"/>
                <a:ext cx="10725912" cy="39288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$z=x+iy$</a:t>
                </a:r>
                <a:r>
                  <a:rPr sz="2400" b="0">
                    <a:solidFill>
                      <a:srgbClr val="111827"/>
                    </a:solidFill>
                    <a:latin typeface="Arial"/>
                  </a:rPr>
                  <a:t>: </a:t>
                </a:r>
                <a:r>
                  <a:rPr lang="en-IN" sz="2400">
                    <a:solidFill>
                      <a:srgbClr val="111827"/>
                    </a:solidFill>
                    <a:latin typeface="Cambria Math" panose="02040503050406030204" pitchFamily="18" charset="0"/>
                  </a:rPr>
                  <a:t>$z(1-mi)-\bar z(1+mi)=2i\,\mathrm{Im}\big(z(1-mi)\big)=2i(y-mx)$</a:t>
                </a:r>
                <a:r>
                  <a:rPr sz="2400" b="0">
                    <a:solidFill>
                      <a:srgbClr val="111827"/>
                    </a:solidFill>
                    <a:latin typeface="Arial"/>
                  </a:rPr>
                  <a:t>, so the first line is </a:t>
                </a:r>
                <a:r>
                  <a:rPr lang="en-IN" sz="2400">
                    <a:solidFill>
                      <a:srgbClr val="111827"/>
                    </a:solidFill>
                    <a:latin typeface="Cambria Math" panose="02040503050406030204" pitchFamily="18" charset="0"/>
                  </a:rPr>
                  <a:t>$y=mx$</a:t>
                </a:r>
                <a:r>
                  <a:rPr sz="2400" b="0">
                    <a:solidFill>
                      <a:srgbClr val="111827"/>
                    </a:solidFill>
                    <a:latin typeface="Arial"/>
                  </a:rPr>
                  <a:t>; similarly the second is </a:t>
                </a:r>
                <a:r>
                  <a:rPr lang="en-IN" sz="2400">
                    <a:solidFill>
                      <a:srgbClr val="111827"/>
                    </a:solidFill>
                    <a:latin typeface="Cambria Math" panose="02040503050406030204" pitchFamily="18" charset="0"/>
                  </a:rPr>
                  <a:t>$y=nx$</a:t>
                </a:r>
                <a:r>
                  <a:rPr sz="2400" b="0">
                    <a:solidFill>
                      <a:srgbClr val="111827"/>
                    </a:solidFill>
                    <a:latin typeface="Arial"/>
                  </a:rPr>
                  <a:t>. Both pass through </a:t>
                </a:r>
                <a:r>
                  <a:rPr lang="en-IN" sz="2400">
                    <a:solidFill>
                      <a:srgbClr val="111827"/>
                    </a:solidFill>
                    <a:latin typeface="Cambria Math" panose="02040503050406030204" pitchFamily="18" charset="0"/>
                  </a:rPr>
                  <a:t>$O$</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$\theta=\arg(z')$</a:t>
                </a:r>
                <a:r>
                  <a:rPr sz="2400" b="0">
                    <a:solidFill>
                      <a:srgbClr val="111827"/>
                    </a:solidFill>
                    <a:latin typeface="Arial"/>
                  </a:rPr>
                  <a:t> is the angle </a:t>
                </a:r>
                <a:r>
                  <a:rPr lang="en-IN" sz="2400">
                    <a:solidFill>
                      <a:srgbClr val="111827"/>
                    </a:solidFill>
                    <a:latin typeface="Cambria Math" panose="02040503050406030204" pitchFamily="18" charset="0"/>
                  </a:rPr>
                  <a:t>$\angle AOB$</a:t>
                </a:r>
                <a:r>
                  <a:rPr sz="2400" b="0">
                    <a:solidFill>
                      <a:srgbClr val="111827"/>
                    </a:solidFill>
                    <a:latin typeface="Arial"/>
                  </a:rPr>
                  <a:t> of triangle </a:t>
                </a:r>
                <a:r>
                  <a:rPr lang="en-IN" sz="2400">
                    <a:solidFill>
                      <a:srgbClr val="111827"/>
                    </a:solidFill>
                    <a:latin typeface="Cambria Math" panose="02040503050406030204" pitchFamily="18" charset="0"/>
                  </a:rPr>
                  <a:t>$OAB$</a:t>
                </a:r>
                <a:r>
                  <a:rPr sz="2400" b="0">
                    <a:solidFill>
                      <a:srgbClr val="111827"/>
                    </a:solidFill>
                    <a:latin typeface="Arial"/>
                  </a:rPr>
                  <a:t>, where </a:t>
                </a:r>
                <a:r>
                  <a:rPr lang="en-IN" sz="2400">
                    <a:solidFill>
                      <a:srgbClr val="111827"/>
                    </a:solidFill>
                    <a:latin typeface="Cambria Math" panose="02040503050406030204" pitchFamily="18" charset="0"/>
                  </a:rPr>
                  <a:t>$A,B$</a:t>
                </a:r>
                <a:r>
                  <a:rPr sz="2400" b="0">
                    <a:solidFill>
                      <a:srgbClr val="111827"/>
                    </a:solidFill>
                    <a:latin typeface="Arial"/>
                  </a:rPr>
                  <a:t> are the points where the third line meets the two lines.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Cosine rule: </a:t>
                </a:r>
                <a:r>
                  <a:rPr lang="en-IN" sz="2400">
                    <a:solidFill>
                      <a:srgbClr val="111827"/>
                    </a:solidFill>
                    <a:latin typeface="Cambria Math" panose="02040503050406030204" pitchFamily="18" charset="0"/>
                  </a:rPr>
                  <a:t>$\cos\theta=\frac{OA^2+OB^2-AB^2}{2\cdot OA\cdot OB}$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printed working uses the length condition as </a:t>
                </a:r>
                <a:r>
                  <a:rPr lang="en-IN" sz="2400">
                    <a:solidFill>
                      <a:srgbClr val="111827"/>
                    </a:solidFill>
                    <a:latin typeface="Cambria Math" panose="02040503050406030204" pitchFamily="18" charset="0"/>
                  </a:rPr>
                  <a:t>$AB=\frac{OA+OB}{2}$</a:t>
                </a:r>
                <a:r>
                  <a:rPr sz="2400" b="0">
                    <a:solidFill>
                      <a:srgbClr val="111827"/>
                    </a:solidFill>
                    <a:latin typeface="Arial"/>
                  </a:rPr>
                  <a:t> (the stem as printed is garbled), so </a:t>
                </a:r>
                <a:r>
                  <a:rPr lang="en-IN" sz="2400">
                    <a:solidFill>
                      <a:srgbClr val="111827"/>
                    </a:solidFill>
                    <a:latin typeface="Cambria Math" panose="02040503050406030204" pitchFamily="18" charset="0"/>
                  </a:rPr>
                  <a:t>$AB^2=\frac{1}{4}(OA+OB)^2$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sSup>
                          <m:e>
                            <m:r>
                              <a:rPr lang="en-IN" sz="2400" i="1">
                                <a:solidFill>
                                  <a:srgbClr val="111827"/>
                                </a:solidFill>
                                <a:latin typeface="Cambria Math" panose="02040503050406030204" pitchFamily="18" charset="0"/>
                              </a:rPr>
                              <m:t>𝐵</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den>
                        </m:f>
                      </m:e>
                    </m:d>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(the PDF prints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it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8</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num>
                      <m:den>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is largest when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oMath>
                </a14:m>
                <a:r>
                  <a:rPr sz="2400" b="0">
                    <a:solidFill>
                      <a:srgbClr val="111827"/>
                    </a:solidFill>
                    <a:latin typeface="Arial"/>
                  </a:rPr>
                  <a:t> is smallest, i.e. </a:t>
                </a:r>
                <a14:m>
                  <m:oMath xmlns:m="http://schemas.openxmlformats.org/officeDocument/2006/math">
                    <m:r>
                      <m:rPr>
                        <m:sty m:val="p"/>
                      </m:rPr>
                      <a:rPr lang="en-IN" sz="2400">
                        <a:solidFill>
                          <a:srgbClr val="111827"/>
                        </a:solidFill>
                        <a:latin typeface="Cambria Math" panose="02040503050406030204" pitchFamily="18" charset="0"/>
                      </a:rPr>
                      <m:t>cos</m:t>
                    </m:r>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attained when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(then also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a</m:t>
                    </m:r>
                    <m:r>
                      <m:rPr>
                        <m:sty m:val="p"/>
                      </m:rPr>
                      <a:rPr lang="en-IN" sz="2400">
                        <a:solidFill>
                          <a:srgbClr val="111827"/>
                        </a:solidFill>
                        <a:latin typeface="Cambria Math" panose="02040503050406030204" pitchFamily="18" charset="0"/>
                      </a:rPr>
                      <m:t>x</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arg</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$\cos\theta=\frac{OA^2+OB^2-\frac{1}{4}(OA+OB)^2}{2\cdot OA\cdot OB}=\frac{3}{8}\left(\frac{OA}{OB}+\frac{OB}{OA}\right)-\frac{1}{4}$</a:t>
                </a:r>
                <a:r>
                  <a:rPr sz="2400" b="0">
                    <a:solidFill>
                      <a:srgbClr val="111827"/>
                    </a:solidFill>
                    <a:latin typeface="Arial"/>
                  </a:rPr>
                  <a:t> (the PDF prints </a:t>
                </a:r>
                <a:r>
                  <a:rPr lang="en-IN" sz="2400">
                    <a:solidFill>
                      <a:srgbClr val="111827"/>
                    </a:solidFill>
                    <a:latin typeface="Cambria Math" panose="02040503050406030204" pitchFamily="18" charset="0"/>
                  </a:rPr>
                  <a:t>$\frac{8}{3}$</a:t>
                </a:r>
                <a:r>
                  <a:rPr sz="2400" b="0">
                    <a:solidFill>
                      <a:srgbClr val="111827"/>
                    </a:solidFill>
                    <a:latin typeface="Arial"/>
                  </a:rPr>
                  <a:t>; it is </a:t>
                </a:r>
                <a:r>
                  <a:rPr lang="en-IN" sz="2400">
                    <a:solidFill>
                      <a:srgbClr val="111827"/>
                    </a:solidFill>
                    <a:latin typeface="Cambria Math" panose="02040503050406030204" pitchFamily="18" charset="0"/>
                  </a:rPr>
                  <a:t>$\frac{3}{8}$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By AM-GM, </a:t>
                </a:r>
                <a:r>
                  <a:rPr lang="en-IN" sz="2400">
                    <a:solidFill>
                      <a:srgbClr val="111827"/>
                    </a:solidFill>
                    <a:latin typeface="Cambria Math" panose="02040503050406030204" pitchFamily="18" charset="0"/>
                  </a:rPr>
                  <a:t>$\frac{OA}{OB}+\frac{OB}{OA}\ge2$</a:t>
                </a:r>
                <a:r>
                  <a:rPr sz="2400" b="0">
                    <a:solidFill>
                      <a:srgbClr val="111827"/>
                    </a:solidFill>
                    <a:latin typeface="Arial"/>
                  </a:rPr>
                  <a:t>, so </a:t>
                </a:r>
                <a:r>
                  <a:rPr lang="en-IN" sz="2400">
                    <a:solidFill>
                      <a:srgbClr val="111827"/>
                    </a:solidFill>
                    <a:latin typeface="Cambria Math" panose="02040503050406030204" pitchFamily="18" charset="0"/>
                  </a:rPr>
                  <a:t>$\cos\theta\ge\frac{3}{4}-\frac{1}{4}=\frac{1}{2}$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$\theta$</a:t>
                </a:r>
                <a:r>
                  <a:rPr sz="2400" b="0">
                    <a:solidFill>
                      <a:srgbClr val="111827"/>
                    </a:solidFill>
                    <a:latin typeface="Arial"/>
                  </a:rPr>
                  <a:t> is largest when </a:t>
                </a:r>
                <a:r>
                  <a:rPr lang="en-IN" sz="2400">
                    <a:solidFill>
                      <a:srgbClr val="111827"/>
                    </a:solidFill>
                    <a:latin typeface="Cambria Math" panose="02040503050406030204" pitchFamily="18" charset="0"/>
                  </a:rPr>
                  <a:t>$\cos\theta$</a:t>
                </a:r>
                <a:r>
                  <a:rPr sz="2400" b="0">
                    <a:solidFill>
                      <a:srgbClr val="111827"/>
                    </a:solidFill>
                    <a:latin typeface="Arial"/>
                  </a:rPr>
                  <a:t> is smallest, i.e. </a:t>
                </a:r>
                <a:r>
                  <a:rPr lang="en-IN" sz="2400">
                    <a:solidFill>
                      <a:srgbClr val="111827"/>
                    </a:solidFill>
                    <a:latin typeface="Cambria Math" panose="02040503050406030204" pitchFamily="18" charset="0"/>
                  </a:rPr>
                  <a:t>$\cos\theta=\frac{1}{2}$</a:t>
                </a:r>
                <a:r>
                  <a:rPr sz="2400" b="0">
                    <a:solidFill>
                      <a:srgbClr val="111827"/>
                    </a:solidFill>
                    <a:latin typeface="Arial"/>
                  </a:rPr>
                  <a:t>, attained when </a:t>
                </a:r>
                <a:r>
                  <a:rPr lang="en-IN" sz="2400">
                    <a:solidFill>
                      <a:srgbClr val="111827"/>
                    </a:solidFill>
                    <a:latin typeface="Cambria Math" panose="02040503050406030204" pitchFamily="18" charset="0"/>
                  </a:rPr>
                  <a:t>$OA=OB$</a:t>
                </a:r>
                <a:r>
                  <a:rPr sz="2400" b="0">
                    <a:solidFill>
                      <a:srgbClr val="111827"/>
                    </a:solidFill>
                    <a:latin typeface="Arial"/>
                  </a:rPr>
                  <a:t> (then also </a:t>
                </a:r>
                <a:r>
                  <a:rPr lang="en-IN" sz="2400">
                    <a:solidFill>
                      <a:srgbClr val="111827"/>
                    </a:solidFill>
                    <a:latin typeface="Cambria Math" panose="02040503050406030204" pitchFamily="18" charset="0"/>
                  </a:rPr>
                  <a:t>$AB=OA=OB$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$\mathrm{Max}(\arg z')=\frac{\pi}{3}$</a:t>
                </a:r>
                <a:r>
                  <a:rPr sz="2400" b="0">
                    <a:solidFill>
                      <a:srgbClr val="111827"/>
                    </a:solidFill>
                    <a:latin typeface="Arial"/>
                  </a:rPr>
                  <a:t> and </a:t>
                </a:r>
                <a:r>
                  <a:rPr lang="en-IN" sz="2400">
                    <a:solidFill>
                      <a:srgbClr val="111827"/>
                    </a:solidFill>
                    <a:latin typeface="Cambria Math" panose="02040503050406030204" pitchFamily="18" charset="0"/>
                  </a:rPr>
                  <a:t>$k=3$</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3</a:t>
            </a:r>
            <a:endParaRPr sz="2800">
              <a:solidFill>
                <a:srgbClr val="15803D"/>
              </a:solidFill>
            </a:endParaRPr>
          </a:p>
        </p:txBody>
      </p:sp>
    </p:spTree>
  </p:cSld>
  <p:clrMapOvr>
    <a:masterClrMapping/>
  </p:clrMapOvr>
</p:sld>
</file>

<file path=ppt/slides/slide5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Read the stem literally: </a:t>
                </a:r>
                <a14:m>
                  <m:oMath xmlns:m="http://schemas.openxmlformats.org/officeDocument/2006/math">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𝐵</m:t>
                    </m:r>
                  </m:oMath>
                </a14:m>
                <a:r>
                  <a:rPr sz="2400" b="0">
                    <a:solidFill>
                      <a:srgbClr val="78350F"/>
                    </a:solidFill>
                    <a:latin typeface="Arial"/>
                  </a:rPr>
                  <a:t> makes </a:t>
                </a:r>
                <a14:m>
                  <m:oMath xmlns:m="http://schemas.openxmlformats.org/officeDocument/2006/math">
                    <m:r>
                      <a:rPr lang="en-IN" sz="2400" i="1">
                        <a:solidFill>
                          <a:srgbClr val="78350F"/>
                        </a:solidFill>
                        <a:latin typeface="Cambria Math" panose="02040503050406030204" pitchFamily="18" charset="0"/>
                      </a:rPr>
                      <m:t>𝑂</m:t>
                    </m:r>
                    <m:r>
                      <a:rPr lang="en-IN" sz="2400" i="1">
                        <a:solidFill>
                          <a:srgbClr val="78350F"/>
                        </a:solidFill>
                        <a:latin typeface="Cambria Math" panose="02040503050406030204" pitchFamily="18" charset="0"/>
                      </a:rPr>
                      <m:t>𝐴</m:t>
                    </m:r>
                    <m:r>
                      <a:rPr lang="en-IN" sz="2400" i="1">
                        <a:solidFill>
                          <a:srgbClr val="78350F"/>
                        </a:solidFill>
                        <a:latin typeface="Cambria Math" panose="02040503050406030204" pitchFamily="18" charset="0"/>
                      </a:rPr>
                      <m:t>𝐵</m:t>
                    </m:r>
                  </m:oMath>
                </a14:m>
                <a:r>
                  <a:rPr sz="2400" b="0">
                    <a:solidFill>
                      <a:srgbClr val="78350F"/>
                    </a:solidFill>
                    <a:latin typeface="Arial"/>
                  </a:rPr>
                  <a:t> equilateral, so the angle at </a:t>
                </a:r>
                <a14:m>
                  <m:oMath xmlns:m="http://schemas.openxmlformats.org/officeDocument/2006/math">
                    <m:r>
                      <a:rPr lang="en-IN" sz="2400" i="1">
                        <a:solidFill>
                          <a:srgbClr val="78350F"/>
                        </a:solidFill>
                        <a:latin typeface="Cambria Math" panose="02040503050406030204" pitchFamily="18" charset="0"/>
                      </a:rPr>
                      <m:t>𝑂</m:t>
                    </m:r>
                  </m:oMath>
                </a14:m>
                <a:r>
                  <a:rPr sz="2400" b="0">
                    <a:solidFill>
                      <a:srgbClr val="78350F"/>
                    </a:solidFill>
                    <a:latin typeface="Arial"/>
                  </a:rPr>
                  <a:t> is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π</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at once.</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Read the stem literally: </a:t>
                </a:r>
                <a:r>
                  <a:rPr lang="en-IN" sz="2400">
                    <a:solidFill>
                      <a:srgbClr val="78350F"/>
                    </a:solidFill>
                    <a:latin typeface="Cambria Math" panose="02040503050406030204" pitchFamily="18" charset="0"/>
                  </a:rPr>
                  <a:t>$AB=OA=OB$</a:t>
                </a:r>
                <a:r>
                  <a:rPr sz="2400" b="0">
                    <a:solidFill>
                      <a:srgbClr val="78350F"/>
                    </a:solidFill>
                    <a:latin typeface="Arial"/>
                  </a:rPr>
                  <a:t> makes </a:t>
                </a:r>
                <a:r>
                  <a:rPr lang="en-IN" sz="2400">
                    <a:solidFill>
                      <a:srgbClr val="78350F"/>
                    </a:solidFill>
                    <a:latin typeface="Cambria Math" panose="02040503050406030204" pitchFamily="18" charset="0"/>
                  </a:rPr>
                  <a:t>$OAB$</a:t>
                </a:r>
                <a:r>
                  <a:rPr sz="2400" b="0">
                    <a:solidFill>
                      <a:srgbClr val="78350F"/>
                    </a:solidFill>
                    <a:latin typeface="Arial"/>
                  </a:rPr>
                  <a:t> equilateral, so the angle at </a:t>
                </a:r>
                <a:r>
                  <a:rPr lang="en-IN" sz="2400">
                    <a:solidFill>
                      <a:srgbClr val="78350F"/>
                    </a:solidFill>
                    <a:latin typeface="Cambria Math" panose="02040503050406030204" pitchFamily="18" charset="0"/>
                  </a:rPr>
                  <a:t>$O$</a:t>
                </a:r>
                <a:r>
                  <a:rPr sz="2400" b="0">
                    <a:solidFill>
                      <a:srgbClr val="78350F"/>
                    </a:solidFill>
                    <a:latin typeface="Arial"/>
                  </a:rPr>
                  <a:t> is </a:t>
                </a:r>
                <a:r>
                  <a:rPr lang="en-IN" sz="2400">
                    <a:solidFill>
                      <a:srgbClr val="78350F"/>
                    </a:solidFill>
                    <a:latin typeface="Cambria Math" panose="02040503050406030204" pitchFamily="18" charset="0"/>
                  </a:rPr>
                  <a:t>$\frac{\pi}{3}$</a:t>
                </a:r>
                <a:r>
                  <a:rPr sz="2400" b="0">
                    <a:solidFill>
                      <a:srgbClr val="78350F"/>
                    </a:solidFill>
                    <a:latin typeface="Arial"/>
                  </a:rPr>
                  <a:t> at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𝑥</m:t>
                    </m:r>
                  </m:oMath>
                </a14:m>
                <a:r>
                  <a:rPr sz="2400" b="0">
                    <a:solidFill>
                      <a:srgbClr val="111827"/>
                    </a:solidFill>
                    <a:latin typeface="Arial"/>
                  </a:rPr>
                  <a:t> pass through </a:t>
                </a:r>
                <a14:m>
                  <m:oMath xmlns:m="http://schemas.openxmlformats.org/officeDocument/2006/math">
                    <m:r>
                      <a:rPr lang="en-IN" sz="2400" i="1">
                        <a:solidFill>
                          <a:srgbClr val="111827"/>
                        </a:solidFill>
                        <a:latin typeface="Cambria Math" panose="02040503050406030204" pitchFamily="18" charset="0"/>
                      </a:rPr>
                      <m:t>𝑂</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𝐴</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𝐵</m:t>
                    </m:r>
                  </m:oMath>
                </a14:m>
                <a:r>
                  <a:rPr sz="2400" b="0">
                    <a:solidFill>
                      <a:srgbClr val="111827"/>
                    </a:solidFill>
                    <a:latin typeface="Arial"/>
                  </a:rPr>
                  <a:t> lie on them and </a:t>
                </a:r>
                <a14:m>
                  <m:oMath xmlns:m="http://schemas.openxmlformats.org/officeDocument/2006/math">
                    <m:r>
                      <a:rPr lang="en-IN" sz="2400" i="1">
                        <a:solidFill>
                          <a:srgbClr val="111827"/>
                        </a:solidFill>
                        <a:latin typeface="Cambria Math" panose="02040503050406030204" pitchFamily="18" charset="0"/>
                      </a:rPr>
                      <m:t>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triangle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oMath>
                </a14:m>
                <a:r>
                  <a:rPr sz="2400" b="0">
                    <a:solidFill>
                      <a:srgbClr val="111827"/>
                    </a:solidFill>
                    <a:latin typeface="Arial"/>
                  </a:rPr>
                  <a:t> is equilateral,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lines </a:t>
                </a:r>
                <a:r>
                  <a:rPr lang="en-IN" sz="2400">
                    <a:solidFill>
                      <a:srgbClr val="111827"/>
                    </a:solidFill>
                    <a:latin typeface="Cambria Math" panose="02040503050406030204" pitchFamily="18" charset="0"/>
                  </a:rPr>
                  <a:t>$y=mx$</a:t>
                </a:r>
                <a:r>
                  <a:rPr sz="2400" b="0">
                    <a:solidFill>
                      <a:srgbClr val="111827"/>
                    </a:solidFill>
                    <a:latin typeface="Arial"/>
                  </a:rPr>
                  <a:t> and </a:t>
                </a:r>
                <a:r>
                  <a:rPr lang="en-IN" sz="2400">
                    <a:solidFill>
                      <a:srgbClr val="111827"/>
                    </a:solidFill>
                    <a:latin typeface="Cambria Math" panose="02040503050406030204" pitchFamily="18" charset="0"/>
                  </a:rPr>
                  <a:t>$y=nx$</a:t>
                </a:r>
                <a:r>
                  <a:rPr sz="2400" b="0">
                    <a:solidFill>
                      <a:srgbClr val="111827"/>
                    </a:solidFill>
                    <a:latin typeface="Arial"/>
                  </a:rPr>
                  <a:t> pass through </a:t>
                </a:r>
                <a:r>
                  <a:rPr lang="en-IN" sz="2400">
                    <a:solidFill>
                      <a:srgbClr val="111827"/>
                    </a:solidFill>
                    <a:latin typeface="Cambria Math" panose="02040503050406030204" pitchFamily="18" charset="0"/>
                  </a:rPr>
                  <a:t>$O$</a:t>
                </a:r>
                <a:r>
                  <a:rPr sz="2400" b="0">
                    <a:solidFill>
                      <a:srgbClr val="111827"/>
                    </a:solidFill>
                    <a:latin typeface="Arial"/>
                  </a:rPr>
                  <a:t>, so </a:t>
                </a:r>
                <a:r>
                  <a:rPr lang="en-IN" sz="2400">
                    <a:solidFill>
                      <a:srgbClr val="111827"/>
                    </a:solidFill>
                    <a:latin typeface="Cambria Math" panose="02040503050406030204" pitchFamily="18" charset="0"/>
                  </a:rPr>
                  <a:t>$A$</a:t>
                </a:r>
                <a:r>
                  <a:rPr sz="2400" b="0">
                    <a:solidFill>
                      <a:srgbClr val="111827"/>
                    </a:solidFill>
                    <a:latin typeface="Arial"/>
                  </a:rPr>
                  <a:t> and </a:t>
                </a:r>
                <a:r>
                  <a:rPr lang="en-IN" sz="2400">
                    <a:solidFill>
                      <a:srgbClr val="111827"/>
                    </a:solidFill>
                    <a:latin typeface="Cambria Math" panose="02040503050406030204" pitchFamily="18" charset="0"/>
                  </a:rPr>
                  <a:t>$B$</a:t>
                </a:r>
                <a:r>
                  <a:rPr sz="2400" b="0">
                    <a:solidFill>
                      <a:srgbClr val="111827"/>
                    </a:solidFill>
                    <a:latin typeface="Arial"/>
                  </a:rPr>
                  <a:t> lie on them and </a:t>
                </a:r>
                <a:r>
                  <a:rPr lang="en-IN" sz="2400">
                    <a:solidFill>
                      <a:srgbClr val="111827"/>
                    </a:solidFill>
                    <a:latin typeface="Cambria Math" panose="02040503050406030204" pitchFamily="18" charset="0"/>
                  </a:rPr>
                  <a:t>$\theta=\angle AOB$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$AB=OA=OB$</a:t>
                </a:r>
                <a:r>
                  <a:rPr sz="2400" b="0">
                    <a:solidFill>
                      <a:srgbClr val="111827"/>
                    </a:solidFill>
                    <a:latin typeface="Arial"/>
                  </a:rPr>
                  <a:t>, triangle </a:t>
                </a:r>
                <a:r>
                  <a:rPr lang="en-IN" sz="2400">
                    <a:solidFill>
                      <a:srgbClr val="111827"/>
                    </a:solidFill>
                    <a:latin typeface="Cambria Math" panose="02040503050406030204" pitchFamily="18" charset="0"/>
                  </a:rPr>
                  <a:t>$OAB$</a:t>
                </a:r>
                <a:r>
                  <a:rPr sz="2400" b="0">
                    <a:solidFill>
                      <a:srgbClr val="111827"/>
                    </a:solidFill>
                    <a:latin typeface="Arial"/>
                  </a:rPr>
                  <a:t> is equilateral, so </a:t>
                </a:r>
                <a:r>
                  <a:rPr lang="en-IN" sz="2400">
                    <a:solidFill>
                      <a:srgbClr val="111827"/>
                    </a:solidFill>
                    <a:latin typeface="Cambria Math" panose="02040503050406030204" pitchFamily="18" charset="0"/>
                  </a:rPr>
                  <a:t>$\angle AOB=\frac{\pi}{3}$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angle between two lines is taken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2</m:t>
                            </m:r>
                          </m:den>
                        </m:f>
                      </m:e>
                    </m:d>
                  </m:oMath>
                </a14:m>
                <a:r>
                  <a:rPr sz="2400" b="0">
                    <a:solidFill>
                      <a:srgbClr val="111827"/>
                    </a:solidFill>
                    <a:latin typeface="Arial"/>
                  </a:rPr>
                  <a:t>, and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already lies there, so </a:t>
                </a:r>
                <a14:m>
                  <m:oMath xmlns:m="http://schemas.openxmlformats.org/officeDocument/2006/math">
                    <m:r>
                      <m:rPr>
                        <m:sty m:val="p"/>
                      </m:rPr>
                      <a:rPr lang="en-IN" sz="2400">
                        <a:solidFill>
                          <a:srgbClr val="111827"/>
                        </a:solidFill>
                        <a:latin typeface="Cambria Math" panose="02040503050406030204" pitchFamily="18" charset="0"/>
                      </a:rPr>
                      <m:t>arg</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(the maximum is the same value).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π</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angle between two lines is taken in </a:t>
                </a:r>
                <a:r>
                  <a:rPr lang="en-IN" sz="2400">
                    <a:solidFill>
                      <a:srgbClr val="111827"/>
                    </a:solidFill>
                    <a:latin typeface="Cambria Math" panose="02040503050406030204" pitchFamily="18" charset="0"/>
                  </a:rPr>
                  <a:t>$\left[0,\frac{\pi}{2}\right]$</a:t>
                </a:r>
                <a:r>
                  <a:rPr sz="2400" b="0">
                    <a:solidFill>
                      <a:srgbClr val="111827"/>
                    </a:solidFill>
                    <a:latin typeface="Arial"/>
                  </a:rPr>
                  <a:t>, and </a:t>
                </a:r>
                <a:r>
                  <a:rPr lang="en-IN" sz="2400">
                    <a:solidFill>
                      <a:srgbClr val="111827"/>
                    </a:solidFill>
                    <a:latin typeface="Cambria Math" panose="02040503050406030204" pitchFamily="18" charset="0"/>
                  </a:rPr>
                  <a:t>$\frac{\pi}{3}$</a:t>
                </a:r>
                <a:r>
                  <a:rPr sz="2400" b="0">
                    <a:solidFill>
                      <a:srgbClr val="111827"/>
                    </a:solidFill>
                    <a:latin typeface="Arial"/>
                  </a:rPr>
                  <a:t> already lies there, so </a:t>
                </a:r>
                <a:r>
                  <a:rPr lang="en-IN" sz="2400">
                    <a:solidFill>
                      <a:srgbClr val="111827"/>
                    </a:solidFill>
                    <a:latin typeface="Cambria Math" panose="02040503050406030204" pitchFamily="18" charset="0"/>
                  </a:rPr>
                  <a:t>$\arg(z')=\frac{\pi}{3}$</a:t>
                </a:r>
                <a:r>
                  <a:rPr sz="2400" b="0">
                    <a:solidFill>
                      <a:srgbClr val="111827"/>
                    </a:solidFill>
                    <a:latin typeface="Arial"/>
                  </a:rPr>
                  <a:t> (the maximum is the same value).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Thus </a:t>
                </a:r>
                <a:r>
                  <a:rPr lang="en-IN" sz="2400">
                    <a:solidFill>
                      <a:srgbClr val="111827"/>
                    </a:solidFill>
                    <a:latin typeface="Cambria Math" panose="02040503050406030204" pitchFamily="18" charset="0"/>
                  </a:rPr>
                  <a:t>$\frac{\pi}{k}=\frac{\pi}{3}$</a:t>
                </a:r>
                <a:r>
                  <a:rPr sz="2400" b="0">
                    <a:solidFill>
                      <a:srgbClr val="111827"/>
                    </a:solidFill>
                    <a:latin typeface="Arial"/>
                  </a:rPr>
                  <a:t> and </a:t>
                </a:r>
                <a:r>
                  <a:rPr lang="en-IN" sz="2400">
                    <a:solidFill>
                      <a:srgbClr val="111827"/>
                    </a:solidFill>
                    <a:latin typeface="Cambria Math" panose="02040503050406030204" pitchFamily="18" charset="0"/>
                  </a:rPr>
                  <a:t>$k=3$</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3</a:t>
            </a:r>
            <a:endParaRPr sz="2800">
              <a:solidFill>
                <a:srgbClr val="15803D"/>
              </a:solidFill>
            </a:endParaRPr>
          </a:p>
        </p:txBody>
      </p:sp>
    </p:spTree>
  </p:cSld>
  <p:clrMapOvr>
    <a:masterClrMapping/>
  </p:clrMapOvr>
</p:sld>
</file>

<file path=ppt/slides/slide5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𝑥</m:t>
                    </m:r>
                  </m:oMath>
                </a14:m>
                <a:r>
                  <a:rPr sz="2400" b="0">
                    <a:solidFill>
                      <a:srgbClr val="111827"/>
                    </a:solidFill>
                    <a:latin typeface="Arial"/>
                  </a:rPr>
                  <a:t>: it says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real, i.e.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real multiple of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r>
                      <m:rPr>
                        <m:sty m:val="p"/>
                      </m:rPr>
                      <a:rPr lang="en-IN" sz="2400">
                        <a:solidFill>
                          <a:srgbClr val="111827"/>
                        </a:solidFill>
                        <a:latin typeface="Cambria Math" panose="02040503050406030204" pitchFamily="18" charset="0"/>
                      </a:rPr>
                      <m:t>cos</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λ</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(AM-GM), equality at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the angle is at most </a:t>
                </a:r>
                <a14:m>
                  <m:oMath xmlns:m="http://schemas.openxmlformats.org/officeDocument/2006/math">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Triangle with </a:t>
                </a:r>
                <a14:m>
                  <m:oMath xmlns:m="http://schemas.openxmlformats.org/officeDocument/2006/math">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𝑂</m:t>
                    </m:r>
                    <m:r>
                      <a:rPr lang="en-IN" sz="2400" i="1">
                        <a:solidFill>
                          <a:srgbClr val="111827"/>
                        </a:solidFill>
                        <a:latin typeface="Cambria Math" panose="02040503050406030204" pitchFamily="18" charset="0"/>
                      </a:rPr>
                      <m:t>𝐵</m:t>
                    </m:r>
                  </m:oMath>
                </a14:m>
                <a:r>
                  <a:rPr sz="2400" b="0">
                    <a:solidFill>
                      <a:srgbClr val="111827"/>
                    </a:solidFill>
                    <a:latin typeface="Arial"/>
                  </a:rPr>
                  <a:t> is equilateral.</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line </a:t>
                </a:r>
                <a:r>
                  <a:rPr lang="en-IN" sz="2400">
                    <a:solidFill>
                      <a:srgbClr val="111827"/>
                    </a:solidFill>
                    <a:latin typeface="Cambria Math" panose="02040503050406030204" pitchFamily="18" charset="0"/>
                  </a:rPr>
                  <a:t>$z(1-mi)-\bar z(1+mi)=0$</a:t>
                </a:r>
                <a:r>
                  <a:rPr sz="2400" b="0">
                    <a:solidFill>
                      <a:srgbClr val="111827"/>
                    </a:solidFill>
                    <a:latin typeface="Arial"/>
                  </a:rPr>
                  <a:t> is </a:t>
                </a:r>
                <a:r>
                  <a:rPr lang="en-IN" sz="2400">
                    <a:solidFill>
                      <a:srgbClr val="111827"/>
                    </a:solidFill>
                    <a:latin typeface="Cambria Math" panose="02040503050406030204" pitchFamily="18" charset="0"/>
                  </a:rPr>
                  <a:t>$y=mx$</a:t>
                </a:r>
                <a:r>
                  <a:rPr sz="2400" b="0">
                    <a:solidFill>
                      <a:srgbClr val="111827"/>
                    </a:solidFill>
                    <a:latin typeface="Arial"/>
                  </a:rPr>
                  <a:t>: it says </a:t>
                </a:r>
                <a:r>
                  <a:rPr lang="en-IN" sz="2400">
                    <a:solidFill>
                      <a:srgbClr val="111827"/>
                    </a:solidFill>
                    <a:latin typeface="Cambria Math" panose="02040503050406030204" pitchFamily="18" charset="0"/>
                  </a:rPr>
                  <a:t>$z(1-mi)$</a:t>
                </a:r>
                <a:r>
                  <a:rPr sz="2400" b="0">
                    <a:solidFill>
                      <a:srgbClr val="111827"/>
                    </a:solidFill>
                    <a:latin typeface="Arial"/>
                  </a:rPr>
                  <a:t> is real, i.e. </a:t>
                </a:r>
                <a:r>
                  <a:rPr lang="en-IN" sz="2400">
                    <a:solidFill>
                      <a:srgbClr val="111827"/>
                    </a:solidFill>
                    <a:latin typeface="Cambria Math" panose="02040503050406030204" pitchFamily="18" charset="0"/>
                  </a:rPr>
                  <a:t>$z$</a:t>
                </a:r>
                <a:r>
                  <a:rPr sz="2400" b="0">
                    <a:solidFill>
                      <a:srgbClr val="111827"/>
                    </a:solidFill>
                    <a:latin typeface="Arial"/>
                  </a:rPr>
                  <a:t> is a real multiple of </a:t>
                </a:r>
                <a:r>
                  <a:rPr lang="en-IN" sz="2400">
                    <a:solidFill>
                      <a:srgbClr val="111827"/>
                    </a:solidFill>
                    <a:latin typeface="Cambria Math" panose="02040503050406030204" pitchFamily="18" charset="0"/>
                  </a:rPr>
                  <a:t>$1+mi$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$AB=\lambda(OA+OB)$</a:t>
                </a:r>
                <a:r>
                  <a:rPr sz="2400" b="0">
                    <a:solidFill>
                      <a:srgbClr val="111827"/>
                    </a:solidFill>
                    <a:latin typeface="Arial"/>
                  </a:rPr>
                  <a:t> with </a:t>
                </a:r>
                <a:r>
                  <a:rPr lang="en-IN" sz="2400">
                    <a:solidFill>
                      <a:srgbClr val="111827"/>
                    </a:solidFill>
                    <a:latin typeface="Cambria Math" panose="02040503050406030204" pitchFamily="18" charset="0"/>
                  </a:rPr>
                  <a:t>$0&lt;\lambda&lt;1$</a:t>
                </a:r>
                <a:r>
                  <a:rPr sz="2400" b="0">
                    <a:solidFill>
                      <a:srgbClr val="111827"/>
                    </a:solidFill>
                    <a:latin typeface="Arial"/>
                  </a:rPr>
                  <a:t> then </a:t>
                </a:r>
                <a:r>
                  <a:rPr lang="en-IN" sz="2400">
                    <a:solidFill>
                      <a:srgbClr val="111827"/>
                    </a:solidFill>
                    <a:latin typeface="Cambria Math" panose="02040503050406030204" pitchFamily="18" charset="0"/>
                  </a:rPr>
                  <a:t>$\cos\angle AOB\ge1-2\lambda^2$</a:t>
                </a:r>
                <a:r>
                  <a:rPr sz="2400" b="0">
                    <a:solidFill>
                      <a:srgbClr val="111827"/>
                    </a:solidFill>
                    <a:latin typeface="Arial"/>
                  </a:rPr>
                  <a:t> (AM-GM), equality at </a:t>
                </a:r>
                <a:r>
                  <a:rPr lang="en-IN" sz="2400">
                    <a:solidFill>
                      <a:srgbClr val="111827"/>
                    </a:solidFill>
                    <a:latin typeface="Cambria Math" panose="02040503050406030204" pitchFamily="18" charset="0"/>
                  </a:rPr>
                  <a:t>$OA=OB$</a:t>
                </a:r>
                <a:r>
                  <a:rPr sz="2400" b="0">
                    <a:solidFill>
                      <a:srgbClr val="111827"/>
                    </a:solidFill>
                    <a:latin typeface="Arial"/>
                  </a:rPr>
                  <a:t>; for </a:t>
                </a:r>
                <a:r>
                  <a:rPr lang="en-IN" sz="2400">
                    <a:solidFill>
                      <a:srgbClr val="111827"/>
                    </a:solidFill>
                    <a:latin typeface="Cambria Math" panose="02040503050406030204" pitchFamily="18" charset="0"/>
                  </a:rPr>
                  <a:t>$\lambda=\frac{1}{2}$</a:t>
                </a:r>
                <a:r>
                  <a:rPr sz="2400" b="0">
                    <a:solidFill>
                      <a:srgbClr val="111827"/>
                    </a:solidFill>
                    <a:latin typeface="Arial"/>
                  </a:rPr>
                  <a:t> the angle is at most </a:t>
                </a:r>
                <a:r>
                  <a:rPr lang="en-IN" sz="2400">
                    <a:solidFill>
                      <a:srgbClr val="111827"/>
                    </a:solidFill>
                    <a:latin typeface="Cambria Math" panose="02040503050406030204" pitchFamily="18" charset="0"/>
                  </a:rPr>
                  <a:t>$60^\circ$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Triangle with </a:t>
                </a:r>
                <a:r>
                  <a:rPr lang="en-IN" sz="2400">
                    <a:solidFill>
                      <a:srgbClr val="111827"/>
                    </a:solidFill>
                    <a:latin typeface="Cambria Math" panose="02040503050406030204" pitchFamily="18" charset="0"/>
                  </a:rPr>
                  <a:t>$AB=\frac{OA+OB}{2}$</a:t>
                </a:r>
                <a:r>
                  <a:rPr sz="2400" b="0">
                    <a:solidFill>
                      <a:srgbClr val="111827"/>
                    </a:solidFill>
                    <a:latin typeface="Arial"/>
                  </a:rPr>
                  <a:t> and </a:t>
                </a:r>
                <a:r>
                  <a:rPr lang="en-IN" sz="2400">
                    <a:solidFill>
                      <a:srgbClr val="111827"/>
                    </a:solidFill>
                    <a:latin typeface="Cambria Math" panose="02040503050406030204" pitchFamily="18" charset="0"/>
                  </a:rPr>
                  <a:t>$OA=OB$</a:t>
                </a:r>
                <a:r>
                  <a:rPr sz="2400" b="0">
                    <a:solidFill>
                      <a:srgbClr val="111827"/>
                    </a:solidFill>
                    <a:latin typeface="Arial"/>
                  </a:rPr>
                  <a:t> is equilateral.</a:t>
                </a:r>
                <a:endParaRPr sz="2400">
                  <a:solidFill>
                    <a:srgbClr val="111827"/>
                  </a:solidFill>
                </a:endParaRPr>
              </a:p>
            </p:txBody>
          </p:sp>
        </mc:Fallback>
      </mc:AlternateContent>
    </p:spTree>
  </p:cSld>
  <p:clrMapOvr>
    <a:masterClrMapping/>
  </p:clrMapOvr>
</p:sld>
</file>

<file path=ppt/slides/slide5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6</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Numerical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Q97</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5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There exists a polynomial </a:t>
                </a:r>
                <a14:m>
                  <m:oMath xmlns:m="http://schemas.openxmlformats.org/officeDocument/2006/math">
                    <m:r>
                      <a:rPr lang="en-IN" sz="2400" i="1">
                        <a:solidFill>
                          <a:srgbClr val="111827"/>
                        </a:solidFill>
                        <a:latin typeface="Cambria Math" panose="02040503050406030204" pitchFamily="18" charset="0"/>
                      </a:rPr>
                      <m:t>𝑃</m:t>
                    </m:r>
                  </m:oMath>
                </a14:m>
                <a:r>
                  <a:rPr sz="2400" b="0">
                    <a:solidFill>
                      <a:srgbClr val="111827"/>
                    </a:solidFill>
                    <a:latin typeface="Arial"/>
                  </a:rPr>
                  <a:t> of degree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with the property that if </a:t>
                </a:r>
                <a14:m>
                  <m:oMath xmlns:m="http://schemas.openxmlformats.org/officeDocument/2006/math">
                    <m:r>
                      <a:rPr lang="en-IN" sz="2400" i="1">
                        <a:solidFill>
                          <a:srgbClr val="111827"/>
                        </a:solidFill>
                        <a:latin typeface="Cambria Math" panose="02040503050406030204" pitchFamily="18" charset="0"/>
                      </a:rPr>
                      <m:t>𝑧</m:t>
                    </m:r>
                  </m:oMath>
                </a14:m>
                <a:r>
                  <a:rPr sz="2400" b="0">
                    <a:solidFill>
                      <a:srgbClr val="111827"/>
                    </a:solidFill>
                    <a:latin typeface="Arial"/>
                  </a:rPr>
                  <a:t> is a complex number such that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Find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e>
                    </m:d>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denotes the greatest integer function).</a:t>
                </a:r>
                <a:endParaRPr sz="2400">
                  <a:solidFill>
                    <a:srgbClr val="111827"/>
                  </a:solidFill>
                </a:endParaRPr>
              </a:p>
            </p:txBody>
          </p:sp>
        </mc:Choice>
        <mc:Fallback>
          <p:sp>
            <p:nvSpPr>
              <p:cNvPr id="4" name="Rounded Rectangle 3"/>
              <p:cNvSpPr/>
              <p:nvPr/>
            </p:nvSpPr>
            <p:spPr>
              <a:xfrm>
                <a:off x="731520" y="1280160"/>
                <a:ext cx="10725912" cy="211785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There exists a polynomial </a:t>
                </a:r>
                <a:r>
                  <a:rPr lang="en-IN" sz="2400">
                    <a:solidFill>
                      <a:srgbClr val="111827"/>
                    </a:solidFill>
                    <a:latin typeface="Cambria Math" panose="02040503050406030204" pitchFamily="18" charset="0"/>
                  </a:rPr>
                  <a:t>$P$</a:t>
                </a:r>
                <a:r>
                  <a:rPr sz="2400" b="0">
                    <a:solidFill>
                      <a:srgbClr val="111827"/>
                    </a:solidFill>
                    <a:latin typeface="Arial"/>
                  </a:rPr>
                  <a:t> of degree </a:t>
                </a:r>
                <a:r>
                  <a:rPr lang="en-IN" sz="2400">
                    <a:solidFill>
                      <a:srgbClr val="111827"/>
                    </a:solidFill>
                    <a:latin typeface="Cambria Math" panose="02040503050406030204" pitchFamily="18" charset="0"/>
                  </a:rPr>
                  <a:t>$5$</a:t>
                </a:r>
                <a:r>
                  <a:rPr sz="2400" b="0">
                    <a:solidFill>
                      <a:srgbClr val="111827"/>
                    </a:solidFill>
                    <a:latin typeface="Arial"/>
                  </a:rPr>
                  <a:t> with the property that if </a:t>
                </a:r>
                <a:r>
                  <a:rPr lang="en-IN" sz="2400">
                    <a:solidFill>
                      <a:srgbClr val="111827"/>
                    </a:solidFill>
                    <a:latin typeface="Cambria Math" panose="02040503050406030204" pitchFamily="18" charset="0"/>
                  </a:rPr>
                  <a:t>$z$</a:t>
                </a:r>
                <a:r>
                  <a:rPr sz="2400" b="0">
                    <a:solidFill>
                      <a:srgbClr val="111827"/>
                    </a:solidFill>
                    <a:latin typeface="Arial"/>
                  </a:rPr>
                  <a:t> is a complex number such that </a:t>
                </a:r>
                <a:r>
                  <a:rPr lang="en-IN" sz="2400">
                    <a:solidFill>
                      <a:srgbClr val="111827"/>
                    </a:solidFill>
                    <a:latin typeface="Cambria Math" panose="02040503050406030204" pitchFamily="18" charset="0"/>
                  </a:rPr>
                  <a:t>$z^5+2004z=1$</a:t>
                </a:r>
                <a:r>
                  <a:rPr sz="2400" b="0">
                    <a:solidFill>
                      <a:srgbClr val="111827"/>
                    </a:solidFill>
                    <a:latin typeface="Arial"/>
                  </a:rPr>
                  <a:t> then </a:t>
                </a:r>
                <a:r>
                  <a:rPr lang="en-IN" sz="2400">
                    <a:solidFill>
                      <a:srgbClr val="111827"/>
                    </a:solidFill>
                    <a:latin typeface="Cambria Math" panose="02040503050406030204" pitchFamily="18" charset="0"/>
                  </a:rPr>
                  <a:t>$P(z^2)=0$</a:t>
                </a:r>
                <a:r>
                  <a:rPr sz="2400" b="0">
                    <a:solidFill>
                      <a:srgbClr val="111827"/>
                    </a:solidFill>
                    <a:latin typeface="Arial"/>
                  </a:rPr>
                  <a:t>. Find the value of </a:t>
                </a:r>
                <a:r>
                  <a:rPr lang="en-IN" sz="2400">
                    <a:solidFill>
                      <a:srgbClr val="111827"/>
                    </a:solidFill>
                    <a:latin typeface="Cambria Math" panose="02040503050406030204" pitchFamily="18" charset="0"/>
                  </a:rPr>
                  <a:t>$\left\lfloor\frac{P(1)}{P(-1)}\right\rfloor$</a:t>
                </a:r>
                <a:r>
                  <a:rPr sz="2400" b="0">
                    <a:solidFill>
                      <a:srgbClr val="111827"/>
                    </a:solidFill>
                    <a:latin typeface="Arial"/>
                  </a:rPr>
                  <a:t> (where </a:t>
                </a:r>
                <a:r>
                  <a:rPr lang="en-IN" sz="2400">
                    <a:solidFill>
                      <a:srgbClr val="111827"/>
                    </a:solidFill>
                    <a:latin typeface="Cambria Math" panose="02040503050406030204" pitchFamily="18" charset="0"/>
                  </a:rPr>
                  <a:t>$[\cdot]$</a:t>
                </a:r>
                <a:r>
                  <a:rPr sz="2400" b="0">
                    <a:solidFill>
                      <a:srgbClr val="111827"/>
                    </a:solidFill>
                    <a:latin typeface="Arial"/>
                  </a:rPr>
                  <a:t> denotes the greatest integer function).</a:t>
                </a:r>
                <a:endParaRPr sz="2400">
                  <a:solidFill>
                    <a:srgbClr val="111827"/>
                  </a:solidFill>
                </a:endParaRPr>
              </a:p>
            </p:txBody>
          </p:sp>
        </mc:Fallback>
      </mc:AlternateContent>
      <p:sp>
        <p:nvSpPr>
          <p:cNvPr id="5" name="Rectangle 4"/>
          <p:cNvSpPr/>
          <p:nvPr/>
        </p:nvSpPr>
        <p:spPr>
          <a:xfrm>
            <a:off x="731520" y="3626611"/>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Polynomials and equations: elimination and relation between roots, Greatest integer function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5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Eliminate </a:t>
                </a:r>
                <a14:m>
                  <m:oMath xmlns:m="http://schemas.openxmlformats.org/officeDocument/2006/math">
                    <m:r>
                      <a:rPr lang="en-IN" sz="2400" i="1">
                        <a:solidFill>
                          <a:srgbClr val="78350F"/>
                        </a:solidFill>
                        <a:latin typeface="Cambria Math" panose="02040503050406030204" pitchFamily="18" charset="0"/>
                      </a:rPr>
                      <m:t>𝑧</m:t>
                    </m:r>
                  </m:oMath>
                </a14:m>
                <a:r>
                  <a:rPr sz="2400" b="0">
                    <a:solidFill>
                      <a:srgbClr val="78350F"/>
                    </a:solidFill>
                    <a:latin typeface="Arial"/>
                  </a:rPr>
                  <a:t> by writing </a:t>
                </a:r>
                <a14:m>
                  <m:oMath xmlns:m="http://schemas.openxmlformats.org/officeDocument/2006/math">
                    <m:r>
                      <a:rPr lang="en-IN" sz="2400" i="1">
                        <a:solidFill>
                          <a:srgbClr val="78350F"/>
                        </a:solidFill>
                        <a:latin typeface="Cambria Math" panose="02040503050406030204" pitchFamily="18" charset="0"/>
                      </a:rPr>
                      <m:t>𝑧</m:t>
                    </m:r>
                    <m:d>
                      <m:dPr>
                        <m:begChr m:val="("/>
                        <m:sepChr m:val=""/>
                        <m:endChr m:val=")"/>
                        <m:grow/>
                        <m:ctrlPr>
                          <a:rPr lang="en-IN" sz="2400" i="1">
                            <a:solidFill>
                              <a:srgbClr val="78350F"/>
                            </a:solidFill>
                            <a:latin typeface="Cambria Math" panose="02040503050406030204" pitchFamily="18" charset="0"/>
                          </a:rPr>
                        </m:ctrlPr>
                      </m:dPr>
                      <m:e>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4</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2004</m:t>
                        </m:r>
                      </m:e>
                    </m:d>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squaring, to get a degree 5 equation in </a:t>
                </a:r>
                <a14:m>
                  <m:oMath xmlns:m="http://schemas.openxmlformats.org/officeDocument/2006/math">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2</m:t>
                        </m:r>
                      </m:sup>
                    </m:sSup>
                  </m:oMath>
                </a14:m>
                <a:r>
                  <a:rPr sz="2400" b="0">
                    <a:solidFill>
                      <a:srgbClr val="78350F"/>
                    </a:solidFill>
                    <a:latin typeface="Arial"/>
                  </a:rPr>
                  <a:t>; then mind the sign of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Eliminate </a:t>
                </a:r>
                <a:r>
                  <a:rPr lang="en-IN" sz="2400">
                    <a:solidFill>
                      <a:srgbClr val="78350F"/>
                    </a:solidFill>
                    <a:latin typeface="Cambria Math" panose="02040503050406030204" pitchFamily="18" charset="0"/>
                  </a:rPr>
                  <a:t>$z$</a:t>
                </a:r>
                <a:r>
                  <a:rPr sz="2400" b="0">
                    <a:solidFill>
                      <a:srgbClr val="78350F"/>
                    </a:solidFill>
                    <a:latin typeface="Arial"/>
                  </a:rPr>
                  <a:t> by writing </a:t>
                </a:r>
                <a:r>
                  <a:rPr lang="en-IN" sz="2400">
                    <a:solidFill>
                      <a:srgbClr val="78350F"/>
                    </a:solidFill>
                    <a:latin typeface="Cambria Math" panose="02040503050406030204" pitchFamily="18" charset="0"/>
                  </a:rPr>
                  <a:t>$z\left(z^4+2004\right)=1$</a:t>
                </a:r>
                <a:r>
                  <a:rPr sz="2400" b="0">
                    <a:solidFill>
                      <a:srgbClr val="78350F"/>
                    </a:solidFill>
                    <a:latin typeface="Arial"/>
                  </a:rPr>
                  <a:t> and squaring, to get a degree 5 equation in </a:t>
                </a:r>
                <a:r>
                  <a:rPr lang="en-IN" sz="2400">
                    <a:solidFill>
                      <a:srgbClr val="78350F"/>
                    </a:solidFill>
                    <a:latin typeface="Cambria Math" panose="02040503050406030204" pitchFamily="18" charset="0"/>
                  </a:rPr>
                  <a:t>$t=z^2$</a:t>
                </a:r>
                <a:r>
                  <a:rPr sz="2400" b="0">
                    <a:solidFill>
                      <a:srgbClr val="78350F"/>
                    </a:solidFill>
                    <a:latin typeface="Arial"/>
                  </a:rPr>
                  <a:t>; then mind the sign of </a:t>
                </a:r>
                <a:r>
                  <a:rPr lang="en-IN" sz="2400">
                    <a:solidFill>
                      <a:srgbClr val="78350F"/>
                    </a:solidFill>
                    <a:latin typeface="Cambria Math" panose="02040503050406030204" pitchFamily="18" charset="0"/>
                  </a:rPr>
                  <a:t>$P(-1)$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whenever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𝑡</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 PDF drops the factor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here).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equation in </a:t>
                </a:r>
                <a14:m>
                  <m:oMath xmlns:m="http://schemas.openxmlformats.org/officeDocument/2006/math">
                    <m:r>
                      <a:rPr lang="en-IN" sz="2400" i="1">
                        <a:solidFill>
                          <a:srgbClr val="111827"/>
                        </a:solidFill>
                        <a:latin typeface="Cambria Math" panose="02040503050406030204" pitchFamily="18" charset="0"/>
                      </a:rPr>
                      <m:t>𝑡</m:t>
                    </m:r>
                  </m:oMath>
                </a14:m>
                <a:r>
                  <a:rPr sz="2400" b="0">
                    <a:solidFill>
                      <a:srgbClr val="111827"/>
                    </a:solidFill>
                    <a:latin typeface="Arial"/>
                  </a:rPr>
                  <a:t> has degree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and is satisfied by all five values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$t=z^2$</a:t>
                </a:r>
                <a:r>
                  <a:rPr sz="2400" b="0">
                    <a:solidFill>
                      <a:srgbClr val="111827"/>
                    </a:solidFill>
                    <a:latin typeface="Arial"/>
                  </a:rPr>
                  <a:t>. Then </a:t>
                </a:r>
                <a:r>
                  <a:rPr lang="en-IN" sz="2400">
                    <a:solidFill>
                      <a:srgbClr val="111827"/>
                    </a:solidFill>
                    <a:latin typeface="Cambria Math" panose="02040503050406030204" pitchFamily="18" charset="0"/>
                  </a:rPr>
                  <a:t>$P(t)=0$</a:t>
                </a:r>
                <a:r>
                  <a:rPr sz="2400" b="0">
                    <a:solidFill>
                      <a:srgbClr val="111827"/>
                    </a:solidFill>
                    <a:latin typeface="Arial"/>
                  </a:rPr>
                  <a:t> whenever </a:t>
                </a:r>
                <a:r>
                  <a:rPr lang="en-IN" sz="2400">
                    <a:solidFill>
                      <a:srgbClr val="111827"/>
                    </a:solidFill>
                    <a:latin typeface="Cambria Math" panose="02040503050406030204" pitchFamily="18" charset="0"/>
                  </a:rPr>
                  <a:t>$z^5+2004z=1$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$z^5+2004z=1\Rightarrow z\left(z^4+2004\right)=1\Rightarrow z\left(t^2+2004\right)=1$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Squaring: </a:t>
                </a:r>
                <a:r>
                  <a:rPr lang="en-IN" sz="2400">
                    <a:solidFill>
                      <a:srgbClr val="111827"/>
                    </a:solidFill>
                    <a:latin typeface="Cambria Math" panose="02040503050406030204" pitchFamily="18" charset="0"/>
                  </a:rPr>
                  <a:t>$z^2\left(t^2+2004\right)^2=1$</a:t>
                </a:r>
                <a:r>
                  <a:rPr sz="2400" b="0">
                    <a:solidFill>
                      <a:srgbClr val="111827"/>
                    </a:solidFill>
                    <a:latin typeface="Arial"/>
                  </a:rPr>
                  <a:t>, i.e. </a:t>
                </a:r>
                <a:r>
                  <a:rPr lang="en-IN" sz="2400">
                    <a:solidFill>
                      <a:srgbClr val="111827"/>
                    </a:solidFill>
                    <a:latin typeface="Cambria Math" panose="02040503050406030204" pitchFamily="18" charset="0"/>
                  </a:rPr>
                  <a:t>$t\left(t^2+2004\right)^2-1=0$</a:t>
                </a:r>
                <a:r>
                  <a:rPr sz="2400" b="0">
                    <a:solidFill>
                      <a:srgbClr val="111827"/>
                    </a:solidFill>
                    <a:latin typeface="Arial"/>
                  </a:rPr>
                  <a:t> (the PDF drops the factor </a:t>
                </a:r>
                <a:r>
                  <a:rPr lang="en-IN" sz="2400">
                    <a:solidFill>
                      <a:srgbClr val="111827"/>
                    </a:solidFill>
                    <a:latin typeface="Cambria Math" panose="02040503050406030204" pitchFamily="18" charset="0"/>
                  </a:rPr>
                  <a:t>$t$</a:t>
                </a:r>
                <a:r>
                  <a:rPr sz="2400" b="0">
                    <a:solidFill>
                      <a:srgbClr val="111827"/>
                    </a:solidFill>
                    <a:latin typeface="Arial"/>
                  </a:rPr>
                  <a:t> here).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equation in </a:t>
                </a:r>
                <a:r>
                  <a:rPr lang="en-IN" sz="2400">
                    <a:solidFill>
                      <a:srgbClr val="111827"/>
                    </a:solidFill>
                    <a:latin typeface="Cambria Math" panose="02040503050406030204" pitchFamily="18" charset="0"/>
                  </a:rPr>
                  <a:t>$t$</a:t>
                </a:r>
                <a:r>
                  <a:rPr sz="2400" b="0">
                    <a:solidFill>
                      <a:srgbClr val="111827"/>
                    </a:solidFill>
                    <a:latin typeface="Arial"/>
                  </a:rPr>
                  <a:t> has degree </a:t>
                </a:r>
                <a:r>
                  <a:rPr lang="en-IN" sz="2400">
                    <a:solidFill>
                      <a:srgbClr val="111827"/>
                    </a:solidFill>
                    <a:latin typeface="Cambria Math" panose="02040503050406030204" pitchFamily="18" charset="0"/>
                  </a:rPr>
                  <a:t>$5$</a:t>
                </a:r>
                <a:r>
                  <a:rPr sz="2400" b="0">
                    <a:solidFill>
                      <a:srgbClr val="111827"/>
                    </a:solidFill>
                    <a:latin typeface="Arial"/>
                  </a:rPr>
                  <a:t> and is satisfied by all five values </a:t>
                </a:r>
                <a:r>
                  <a:rPr lang="en-IN" sz="2400">
                    <a:solidFill>
                      <a:srgbClr val="111827"/>
                    </a:solidFill>
                    <a:latin typeface="Cambria Math" panose="02040503050406030204" pitchFamily="18" charset="0"/>
                  </a:rPr>
                  <a:t>$z_i^2$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These five values are distinct: if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adding the two equations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would give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𝑡</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e>
                            </m:d>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 for a non-zero constant </a:t>
                </a:r>
                <a14:m>
                  <m:oMath xmlns:m="http://schemas.openxmlformats.org/officeDocument/2006/math">
                    <m:r>
                      <a:rPr lang="en-IN" sz="2400" i="1">
                        <a:solidFill>
                          <a:srgbClr val="111827"/>
                        </a:solidFill>
                        <a:latin typeface="Cambria Math" panose="02040503050406030204" pitchFamily="18" charset="0"/>
                      </a:rPr>
                      <m:t>𝑐</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These five values are distinct: if </a:t>
                </a:r>
                <a:r>
                  <a:rPr lang="en-IN" sz="2400">
                    <a:solidFill>
                      <a:srgbClr val="111827"/>
                    </a:solidFill>
                    <a:latin typeface="Cambria Math" panose="02040503050406030204" pitchFamily="18" charset="0"/>
                  </a:rPr>
                  <a:t>$z_j^2=z_i^2$</a:t>
                </a:r>
                <a:r>
                  <a:rPr sz="2400" b="0">
                    <a:solidFill>
                      <a:srgbClr val="111827"/>
                    </a:solidFill>
                    <a:latin typeface="Arial"/>
                  </a:rPr>
                  <a:t> with </a:t>
                </a:r>
                <a:r>
                  <a:rPr lang="en-IN" sz="2400">
                    <a:solidFill>
                      <a:srgbClr val="111827"/>
                    </a:solidFill>
                    <a:latin typeface="Cambria Math" panose="02040503050406030204" pitchFamily="18" charset="0"/>
                  </a:rPr>
                  <a:t>$z_j=-z_i$</a:t>
                </a:r>
                <a:r>
                  <a:rPr sz="2400" b="0">
                    <a:solidFill>
                      <a:srgbClr val="111827"/>
                    </a:solidFill>
                    <a:latin typeface="Arial"/>
                  </a:rPr>
                  <a:t>, adding the two equations </a:t>
                </a:r>
                <a:r>
                  <a:rPr lang="en-IN" sz="2400">
                    <a:solidFill>
                      <a:srgbClr val="111827"/>
                    </a:solidFill>
                    <a:latin typeface="Cambria Math" panose="02040503050406030204" pitchFamily="18" charset="0"/>
                  </a:rPr>
                  <a:t>$z^5+2004z=1$</a:t>
                </a:r>
                <a:r>
                  <a:rPr sz="2400" b="0">
                    <a:solidFill>
                      <a:srgbClr val="111827"/>
                    </a:solidFill>
                    <a:latin typeface="Arial"/>
                  </a:rPr>
                  <a:t> and </a:t>
                </a:r>
                <a:r>
                  <a:rPr lang="en-IN" sz="2400">
                    <a:solidFill>
                      <a:srgbClr val="111827"/>
                    </a:solidFill>
                    <a:latin typeface="Cambria Math" panose="02040503050406030204" pitchFamily="18" charset="0"/>
                  </a:rPr>
                  <a:t>$-z^5-2004z=1$</a:t>
                </a:r>
                <a:r>
                  <a:rPr sz="2400" b="0">
                    <a:solidFill>
                      <a:srgbClr val="111827"/>
                    </a:solidFill>
                    <a:latin typeface="Arial"/>
                  </a:rPr>
                  <a:t> would give </a:t>
                </a:r>
                <a:r>
                  <a:rPr lang="en-IN" sz="2400">
                    <a:solidFill>
                      <a:srgbClr val="111827"/>
                    </a:solidFill>
                    <a:latin typeface="Cambria Math" panose="02040503050406030204" pitchFamily="18" charset="0"/>
                  </a:rPr>
                  <a:t>$0=2$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$P(t)=c\left[t\left(t^2+2004\right)^2-1\right]$</a:t>
                </a:r>
                <a:r>
                  <a:rPr sz="2400" b="0">
                    <a:solidFill>
                      <a:srgbClr val="111827"/>
                    </a:solidFill>
                    <a:latin typeface="Arial"/>
                  </a:rPr>
                  <a:t> for a non-zero constant </a:t>
                </a:r>
                <a:r>
                  <a:rPr lang="en-IN" sz="2400">
                    <a:solidFill>
                      <a:srgbClr val="111827"/>
                    </a:solidFill>
                    <a:latin typeface="Cambria Math" panose="02040503050406030204" pitchFamily="18" charset="0"/>
                  </a:rPr>
                  <a:t>$c$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$P(1)=c\left(2005^2-1\right)$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which lies strictly between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den>
                        </m:f>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printed answer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is wrong).</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$P(-1)=c\left[-2005^2-1\right]=-c\left(2005^2+1\right)$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$\frac{P(1)}{P(-1)}=-\frac{2005^2-1}{2005^2+1}=-1+\frac{2}{2005^2+1}$</a:t>
                </a:r>
                <a:r>
                  <a:rPr sz="2400" b="0">
                    <a:solidFill>
                      <a:srgbClr val="111827"/>
                    </a:solidFill>
                    <a:latin typeface="Arial"/>
                  </a:rPr>
                  <a:t>, which lies strictly between </a:t>
                </a:r>
                <a:r>
                  <a:rPr lang="en-IN" sz="2400">
                    <a:solidFill>
                      <a:srgbClr val="111827"/>
                    </a:solidFill>
                    <a:latin typeface="Cambria Math" panose="02040503050406030204" pitchFamily="18" charset="0"/>
                  </a:rPr>
                  <a:t>$-1$</a:t>
                </a:r>
                <a:r>
                  <a:rPr sz="2400" b="0">
                    <a:solidFill>
                      <a:srgbClr val="111827"/>
                    </a:solidFill>
                    <a:latin typeface="Arial"/>
                  </a:rPr>
                  <a:t> and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$\left\lfloor\frac{P(1)}{P(-1)}\right\rfloor=-1$</a:t>
                </a:r>
                <a:r>
                  <a:rPr sz="2400" b="0">
                    <a:solidFill>
                      <a:srgbClr val="111827"/>
                    </a:solidFill>
                    <a:latin typeface="Arial"/>
                  </a:rPr>
                  <a:t> (the printed answer </a:t>
                </a:r>
                <a:r>
                  <a:rPr lang="en-IN" sz="2400">
                    <a:solidFill>
                      <a:srgbClr val="111827"/>
                    </a:solidFill>
                    <a:latin typeface="Cambria Math" panose="02040503050406030204" pitchFamily="18" charset="0"/>
                  </a:rPr>
                  <a:t>$0$</a:t>
                </a:r>
                <a:r>
                  <a:rPr sz="2400" b="0">
                    <a:solidFill>
                      <a:srgbClr val="111827"/>
                    </a:solidFill>
                    <a:latin typeface="Arial"/>
                  </a:rPr>
                  <a:t> is wrong).</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-1</a:t>
            </a:r>
            <a:endParaRPr sz="2800">
              <a:solidFill>
                <a:srgbClr val="15803D"/>
              </a:solidFill>
            </a:endParaRPr>
          </a:p>
        </p:txBody>
      </p:sp>
    </p:spTree>
  </p:cSld>
  <p:clrMapOvr>
    <a:masterClrMapping/>
  </p:clrMapOvr>
</p:sld>
</file>

<file path=ppt/slides/slide5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monic odd-degree </a:t>
                </a:r>
                <a14:m>
                  <m:oMath xmlns:m="http://schemas.openxmlformats.org/officeDocument/2006/math">
                    <m:r>
                      <a:rPr lang="en-IN" sz="2400" i="1">
                        <a:solidFill>
                          <a:srgbClr val="78350F"/>
                        </a:solidFill>
                        <a:latin typeface="Cambria Math" panose="02040503050406030204" pitchFamily="18" charset="0"/>
                      </a:rPr>
                      <m:t>𝑄</m:t>
                    </m:r>
                  </m:oMath>
                </a14:m>
                <a:r>
                  <a:rPr sz="2400" b="0">
                    <a:solidFill>
                      <a:srgbClr val="78350F"/>
                    </a:solidFill>
                    <a:latin typeface="Arial"/>
                  </a:rPr>
                  <a:t> with roots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𝑖</m:t>
                        </m:r>
                      </m:sub>
                    </m:sSub>
                  </m:oMath>
                </a14:m>
                <a:r>
                  <a:rPr sz="2400" b="0">
                    <a:solidFill>
                      <a:srgbClr val="78350F"/>
                    </a:solidFill>
                    <a:latin typeface="Arial"/>
                  </a:rPr>
                  <a:t>: </a:t>
                </a:r>
                <a14:m>
                  <m:oMath xmlns:m="http://schemas.openxmlformats.org/officeDocument/2006/math">
                    <m:r>
                      <m:rPr>
                        <m:sty m:val="p"/>
                      </m:rPr>
                      <a:rPr lang="en-IN" sz="2400">
                        <a:solidFill>
                          <a:srgbClr val="78350F"/>
                        </a:solidFill>
                        <a:latin typeface="Cambria Math" panose="02040503050406030204" pitchFamily="18" charset="0"/>
                      </a:rPr>
                      <m:t>∏</m:t>
                    </m:r>
                    <m:d>
                      <m:dPr>
                        <m:begChr m:val="("/>
                        <m:sepChr m:val=""/>
                        <m:endChr m:val=")"/>
                        <m:grow/>
                        <m:ctrlPr>
                          <a:rPr lang="en-IN" sz="2400" i="1">
                            <a:solidFill>
                              <a:srgbClr val="78350F"/>
                            </a:solidFill>
                            <a:latin typeface="Cambria Math" panose="02040503050406030204" pitchFamily="18" charset="0"/>
                          </a:rPr>
                        </m:ctrlPr>
                      </m:dPr>
                      <m:e>
                        <m:r>
                          <a:rPr lang="en-IN" sz="2400" i="1">
                            <a:solidFill>
                              <a:srgbClr val="78350F"/>
                            </a:solidFill>
                            <a:latin typeface="Cambria Math" panose="02040503050406030204" pitchFamily="18" charset="0"/>
                          </a:rPr>
                          <m:t>𝑡</m:t>
                        </m:r>
                        <m:r>
                          <m:rPr>
                            <m:sty m:val="p"/>
                          </m:rPr>
                          <a:rPr lang="en-IN" sz="2400">
                            <a:solidFill>
                              <a:srgbClr val="78350F"/>
                            </a:solidFill>
                            <a:latin typeface="Cambria Math" panose="02040503050406030204" pitchFamily="18" charset="0"/>
                          </a:rPr>
                          <m:t>−</m:t>
                        </m:r>
                        <m:sSubSup>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𝑖</m:t>
                            </m:r>
                          </m:sub>
                          <m:sup>
                            <m:r>
                              <a:rPr lang="en-IN" sz="2400" i="1">
                                <a:solidFill>
                                  <a:srgbClr val="78350F"/>
                                </a:solidFill>
                                <a:latin typeface="Cambria Math" panose="02040503050406030204" pitchFamily="18" charset="0"/>
                              </a:rPr>
                              <m:t>2</m:t>
                            </m:r>
                          </m:sup>
                        </m:sSubSup>
                      </m:e>
                    </m:d>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𝑄</m:t>
                    </m:r>
                    <m:d>
                      <m:dPr>
                        <m:begChr m:val="("/>
                        <m:sepChr m:val=""/>
                        <m:endChr m:val=")"/>
                        <m:grow/>
                        <m:ctrlPr>
                          <a:rPr lang="en-IN" sz="2400" i="1">
                            <a:solidFill>
                              <a:srgbClr val="78350F"/>
                            </a:solidFill>
                            <a:latin typeface="Cambria Math" panose="02040503050406030204" pitchFamily="18" charset="0"/>
                          </a:rPr>
                        </m:ctrlPr>
                      </m:dPr>
                      <m:e>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𝑡</m:t>
                            </m:r>
                          </m:e>
                        </m:rad>
                      </m:e>
                    </m:d>
                    <m:r>
                      <a:rPr lang="en-IN" sz="2400" i="1">
                        <a:solidFill>
                          <a:srgbClr val="78350F"/>
                        </a:solidFill>
                        <a:latin typeface="Cambria Math" panose="02040503050406030204" pitchFamily="18" charset="0"/>
                      </a:rPr>
                      <m:t>𝑄</m:t>
                    </m:r>
                    <m:d>
                      <m:dPr>
                        <m:begChr m:val="("/>
                        <m:sepChr m:val=""/>
                        <m:endChr m:val=")"/>
                        <m:grow/>
                        <m:ctrlPr>
                          <a:rPr lang="en-IN" sz="2400" i="1">
                            <a:solidFill>
                              <a:srgbClr val="78350F"/>
                            </a:solidFill>
                            <a:latin typeface="Cambria Math" panose="02040503050406030204" pitchFamily="18" charset="0"/>
                          </a:rPr>
                        </m:ctrlPr>
                      </m:dPr>
                      <m:e>
                        <m:r>
                          <m:rPr>
                            <m:sty m:val="p"/>
                          </m:rPr>
                          <a:rPr lang="en-IN" sz="2400">
                            <a:solidFill>
                              <a:srgbClr val="78350F"/>
                            </a:solidFill>
                            <a:latin typeface="Cambria Math" panose="02040503050406030204" pitchFamily="18" charset="0"/>
                          </a:rPr>
                          <m:t>−</m:t>
                        </m:r>
                        <m:rad>
                          <m:radPr>
                            <m:degHide m:val="on"/>
                            <m:ctrlPr>
                              <a:rPr lang="en-IN" sz="2400" i="1">
                                <a:solidFill>
                                  <a:srgbClr val="78350F"/>
                                </a:solidFill>
                                <a:latin typeface="Cambria Math" panose="02040503050406030204" pitchFamily="18" charset="0"/>
                              </a:rPr>
                            </m:ctrlPr>
                          </m:radPr>
                          <m:deg/>
                          <m:e>
                            <m:r>
                              <a:rPr lang="en-IN" sz="2400" i="1">
                                <a:solidFill>
                                  <a:srgbClr val="78350F"/>
                                </a:solidFill>
                                <a:latin typeface="Cambria Math" panose="02040503050406030204" pitchFamily="18" charset="0"/>
                              </a:rPr>
                              <m:t>𝑡</m:t>
                            </m:r>
                          </m:e>
                        </m:rad>
                      </m:e>
                    </m:d>
                  </m:oMath>
                </a14:m>
                <a:r>
                  <a:rPr sz="2400" b="0">
                    <a:solidFill>
                      <a:srgbClr val="78350F"/>
                    </a:solidFill>
                    <a:latin typeface="Arial"/>
                  </a:rPr>
                  <a:t>, so </a:t>
                </a:r>
                <a14:m>
                  <m:oMath xmlns:m="http://schemas.openxmlformats.org/officeDocument/2006/math">
                    <m:r>
                      <a:rPr lang="en-IN" sz="2400" i="1">
                        <a:solidFill>
                          <a:srgbClr val="78350F"/>
                        </a:solidFill>
                        <a:latin typeface="Cambria Math" panose="02040503050406030204" pitchFamily="18" charset="0"/>
                      </a:rPr>
                      <m:t>𝑃</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come straight from </a:t>
                </a:r>
                <a14:m>
                  <m:oMath xmlns:m="http://schemas.openxmlformats.org/officeDocument/2006/math">
                    <m:r>
                      <a:rPr lang="en-IN" sz="2400" i="1">
                        <a:solidFill>
                          <a:srgbClr val="78350F"/>
                        </a:solidFill>
                        <a:latin typeface="Cambria Math" panose="02040503050406030204" pitchFamily="18" charset="0"/>
                      </a:rPr>
                      <m:t>𝑄</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𝑧</m:t>
                        </m:r>
                      </m:e>
                      <m:sup>
                        <m:r>
                          <a:rPr lang="en-IN" sz="2400" i="1">
                            <a:solidFill>
                              <a:srgbClr val="78350F"/>
                            </a:solidFill>
                            <a:latin typeface="Cambria Math" panose="02040503050406030204" pitchFamily="18" charset="0"/>
                          </a:rPr>
                          <m:t>5</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2004</m:t>
                    </m:r>
                    <m:r>
                      <a:rPr lang="en-IN" sz="2400" i="1">
                        <a:solidFill>
                          <a:srgbClr val="78350F"/>
                        </a:solidFill>
                        <a:latin typeface="Cambria Math" panose="02040503050406030204" pitchFamily="18" charset="0"/>
                      </a:rPr>
                      <m:t>𝑧</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monic odd-degree </a:t>
                </a:r>
                <a:r>
                  <a:rPr lang="en-IN" sz="2400">
                    <a:solidFill>
                      <a:srgbClr val="78350F"/>
                    </a:solidFill>
                    <a:latin typeface="Cambria Math" panose="02040503050406030204" pitchFamily="18" charset="0"/>
                  </a:rPr>
                  <a:t>$Q$</a:t>
                </a:r>
                <a:r>
                  <a:rPr sz="2400" b="0">
                    <a:solidFill>
                      <a:srgbClr val="78350F"/>
                    </a:solidFill>
                    <a:latin typeface="Arial"/>
                  </a:rPr>
                  <a:t> with roots </a:t>
                </a:r>
                <a:r>
                  <a:rPr lang="en-IN" sz="2400">
                    <a:solidFill>
                      <a:srgbClr val="78350F"/>
                    </a:solidFill>
                    <a:latin typeface="Cambria Math" panose="02040503050406030204" pitchFamily="18" charset="0"/>
                  </a:rPr>
                  <a:t>$z_i$</a:t>
                </a:r>
                <a:r>
                  <a:rPr sz="2400" b="0">
                    <a:solidFill>
                      <a:srgbClr val="78350F"/>
                    </a:solidFill>
                    <a:latin typeface="Arial"/>
                  </a:rPr>
                  <a:t>: </a:t>
                </a:r>
                <a:r>
                  <a:rPr lang="en-IN" sz="2400">
                    <a:solidFill>
                      <a:srgbClr val="78350F"/>
                    </a:solidFill>
                    <a:latin typeface="Cambria Math" panose="02040503050406030204" pitchFamily="18" charset="0"/>
                  </a:rPr>
                  <a:t>$\prod\left(t-z_i^2\right)=-Q\left(\sqrt t\right)Q\left(-\sqrt t\right)$</a:t>
                </a:r>
                <a:r>
                  <a:rPr sz="2400" b="0">
                    <a:solidFill>
                      <a:srgbClr val="78350F"/>
                    </a:solidFill>
                    <a:latin typeface="Arial"/>
                  </a:rPr>
                  <a:t>, so </a:t>
                </a:r>
                <a:r>
                  <a:rPr lang="en-IN" sz="2400">
                    <a:solidFill>
                      <a:srgbClr val="78350F"/>
                    </a:solidFill>
                    <a:latin typeface="Cambria Math" panose="02040503050406030204" pitchFamily="18" charset="0"/>
                  </a:rPr>
                  <a:t>$P(\pm1)$</a:t>
                </a:r>
                <a:r>
                  <a:rPr sz="2400" b="0">
                    <a:solidFill>
                      <a:srgbClr val="78350F"/>
                    </a:solidFill>
                    <a:latin typeface="Arial"/>
                  </a:rPr>
                  <a:t> come straight from </a:t>
                </a:r>
                <a:r>
                  <a:rPr lang="en-IN" sz="2400">
                    <a:solidFill>
                      <a:srgbClr val="78350F"/>
                    </a:solidFill>
                    <a:latin typeface="Cambria Math" panose="02040503050406030204" pitchFamily="18" charset="0"/>
                  </a:rPr>
                  <a:t>$Q(z)=z^5+2004z-1$</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5</m:t>
                        </m:r>
                      </m:sup>
                      <m:e>
                        <m:r>
                          <m:rPr>
                            <m:sty m:val="p"/>
                          </m:rPr>
                          <a:rPr lang="en-IN" sz="2400">
                            <a:solidFill>
                              <a:srgbClr val="111827"/>
                            </a:solidFill>
                            <a:latin typeface="Cambria Math" panose="02040503050406030204" pitchFamily="18" charset="0"/>
                          </a:rPr>
                          <m:t>(</m:t>
                        </m:r>
                      </m:e>
                    </m:nary>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2006</m:t>
                    </m:r>
                  </m:oMath>
                </a14:m>
                <a:r>
                  <a:rPr sz="2400" b="0">
                    <a:solidFill>
                      <a:srgbClr val="111827"/>
                    </a:solidFill>
                    <a:latin typeface="Arial"/>
                  </a:rPr>
                  <a:t> (as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$Q(z)=z^5+2004z-1=\prod_{i=1}^{5}(z-z_i)$</a:t>
                </a:r>
                <a:r>
                  <a:rPr sz="2400" b="0">
                    <a:solidFill>
                      <a:srgbClr val="111827"/>
                    </a:solidFill>
                    <a:latin typeface="Arial"/>
                  </a:rPr>
                  <a:t>; then </a:t>
                </a:r>
                <a:r>
                  <a:rPr lang="en-IN" sz="2400">
                    <a:solidFill>
                      <a:srgbClr val="111827"/>
                    </a:solidFill>
                    <a:latin typeface="Cambria Math" panose="02040503050406030204" pitchFamily="18" charset="0"/>
                  </a:rPr>
                  <a:t>$P(t)=c\prod\left(t-z_i^2\right)$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$\prod(1-z_i^2)=\prod(1-z_i)\prod(1+z_i)$</a:t>
                </a:r>
                <a:r>
                  <a:rPr sz="2400" b="0">
                    <a:solidFill>
                      <a:srgbClr val="111827"/>
                    </a:solidFill>
                    <a:latin typeface="Arial"/>
                  </a:rPr>
                  <a:t>. Here </a:t>
                </a:r>
                <a:r>
                  <a:rPr lang="en-IN" sz="2400">
                    <a:solidFill>
                      <a:srgbClr val="111827"/>
                    </a:solidFill>
                    <a:latin typeface="Cambria Math" panose="02040503050406030204" pitchFamily="18" charset="0"/>
                  </a:rPr>
                  <a:t>$\prod(1-z_i)=Q(1)=2004$</a:t>
                </a:r>
                <a:r>
                  <a:rPr sz="2400" b="0">
                    <a:solidFill>
                      <a:srgbClr val="111827"/>
                    </a:solidFill>
                    <a:latin typeface="Arial"/>
                  </a:rPr>
                  <a:t> and </a:t>
                </a:r>
                <a:r>
                  <a:rPr lang="en-IN" sz="2400">
                    <a:solidFill>
                      <a:srgbClr val="111827"/>
                    </a:solidFill>
                    <a:latin typeface="Cambria Math" panose="02040503050406030204" pitchFamily="18" charset="0"/>
                  </a:rPr>
                  <a:t>$\prod(1+z_i)=-Q(-1)=2006$</a:t>
                </a:r>
                <a:r>
                  <a:rPr sz="2400" b="0">
                    <a:solidFill>
                      <a:srgbClr val="111827"/>
                    </a:solidFill>
                    <a:latin typeface="Arial"/>
                  </a:rPr>
                  <a:t> (as </a:t>
                </a:r>
                <a:r>
                  <a:rPr lang="en-IN" sz="2400">
                    <a:solidFill>
                      <a:srgbClr val="111827"/>
                    </a:solidFill>
                    <a:latin typeface="Cambria Math" panose="02040503050406030204" pitchFamily="18" charset="0"/>
                  </a:rPr>
                  <a:t>$Q(-1)=-2006$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$P(1)=c\cdot2004\cdot2006=c\left(2005^2-1\right)$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(odd degree signs cancel in pairs).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2004</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2005</m:t>
                    </m:r>
                    <m:r>
                      <a:rPr lang="en-IN" sz="2400" i="1">
                        <a:solidFill>
                          <a:srgbClr val="111827"/>
                        </a:solidFill>
                        <a:latin typeface="Cambria Math" panose="02040503050406030204" pitchFamily="18" charset="0"/>
                      </a:rPr>
                      <m:t>𝑖</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ratio is again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sSup>
                          <m:e>
                            <m:r>
                              <a:rPr lang="en-IN" sz="2400" i="1">
                                <a:solidFill>
                                  <a:srgbClr val="111827"/>
                                </a:solidFill>
                                <a:latin typeface="Cambria Math" panose="02040503050406030204" pitchFamily="18" charset="0"/>
                              </a:rPr>
                              <m:t>2005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the floor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$\prod\left(-1-z_i^2\right)=-\prod\left(1+z_i^2\right)=-\prod(z_i-i)(z_i+i)=-Q(i)Q(-i)$</a:t>
                </a:r>
                <a:r>
                  <a:rPr sz="2400" b="0">
                    <a:solidFill>
                      <a:srgbClr val="111827"/>
                    </a:solidFill>
                    <a:latin typeface="Arial"/>
                  </a:rPr>
                  <a:t> (odd degree signs cancel in pairs).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$Q(i)=i+2004i-1=-1+2005i$</a:t>
                </a:r>
                <a:r>
                  <a:rPr sz="2400" b="0">
                    <a:solidFill>
                      <a:srgbClr val="111827"/>
                    </a:solidFill>
                    <a:latin typeface="Arial"/>
                  </a:rPr>
                  <a:t>, so </a:t>
                </a:r>
                <a:r>
                  <a:rPr lang="en-IN" sz="2400">
                    <a:solidFill>
                      <a:srgbClr val="111827"/>
                    </a:solidFill>
                    <a:latin typeface="Cambria Math" panose="02040503050406030204" pitchFamily="18" charset="0"/>
                  </a:rPr>
                  <a:t>$Q(i)Q(-i)=|Q(i)|^2=1+2005^2$</a:t>
                </a:r>
                <a:r>
                  <a:rPr sz="2400" b="0">
                    <a:solidFill>
                      <a:srgbClr val="111827"/>
                    </a:solidFill>
                    <a:latin typeface="Arial"/>
                  </a:rPr>
                  <a:t> and </a:t>
                </a:r>
                <a:r>
                  <a:rPr lang="en-IN" sz="2400">
                    <a:solidFill>
                      <a:srgbClr val="111827"/>
                    </a:solidFill>
                    <a:latin typeface="Cambria Math" panose="02040503050406030204" pitchFamily="18" charset="0"/>
                  </a:rPr>
                  <a:t>$P(-1)=-c\left(2005^2+1\right)$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ratio is again </a:t>
                </a:r>
                <a:r>
                  <a:rPr lang="en-IN" sz="2400">
                    <a:solidFill>
                      <a:srgbClr val="111827"/>
                    </a:solidFill>
                    <a:latin typeface="Cambria Math" panose="02040503050406030204" pitchFamily="18" charset="0"/>
                  </a:rPr>
                  <a:t>$-\frac{2005^2-1}{2005^2+1}\in(-1,0)$</a:t>
                </a:r>
                <a:r>
                  <a:rPr sz="2400" b="0">
                    <a:solidFill>
                      <a:srgbClr val="111827"/>
                    </a:solidFill>
                    <a:latin typeface="Arial"/>
                  </a:rPr>
                  <a:t> and the floor is </a:t>
                </a:r>
                <a:r>
                  <a:rPr lang="en-IN" sz="2400">
                    <a:solidFill>
                      <a:srgbClr val="111827"/>
                    </a:solidFill>
                    <a:latin typeface="Cambria Math" panose="02040503050406030204" pitchFamily="18" charset="0"/>
                  </a:rPr>
                  <a:t>$-1$</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-1</a:t>
            </a:r>
            <a:endParaRPr sz="2800">
              <a:solidFill>
                <a:srgbClr val="15803D"/>
              </a:solidFill>
            </a:endParaRPr>
          </a:p>
        </p:txBody>
      </p:sp>
    </p:spTree>
  </p:cSld>
  <p:clrMapOvr>
    <a:masterClrMapping/>
  </p:clrMapOvr>
</p:sld>
</file>

<file path=ppt/slides/slide5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𝑧</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𝑔</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(odd and even parts separated), then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oMath>
                </a14:m>
                <a:r>
                  <a:rPr sz="2400" b="0">
                    <a:solidFill>
                      <a:srgbClr val="111827"/>
                    </a:solidFill>
                    <a:latin typeface="Arial"/>
                  </a:rPr>
                  <a:t> satisfies </a:t>
                </a:r>
                <a14:m>
                  <m:oMath xmlns:m="http://schemas.openxmlformats.org/officeDocument/2006/math">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𝑡</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degree rises only by squaring, so no new roots appear when the degrees match.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monic </a:t>
                </a:r>
                <a14:m>
                  <m:oMath xmlns:m="http://schemas.openxmlformats.org/officeDocument/2006/math">
                    <m:r>
                      <a:rPr lang="en-IN" sz="2400" i="1">
                        <a:solidFill>
                          <a:srgbClr val="111827"/>
                        </a:solidFill>
                        <a:latin typeface="Cambria Math" panose="02040503050406030204" pitchFamily="18" charset="0"/>
                      </a:rPr>
                      <m:t>𝑄</m:t>
                    </m:r>
                  </m:oMath>
                </a14:m>
                <a:r>
                  <a:rPr sz="2400" b="0">
                    <a:solidFill>
                      <a:srgbClr val="111827"/>
                    </a:solidFill>
                    <a:latin typeface="Arial"/>
                  </a:rPr>
                  <a:t> of odd degree, </a:t>
                </a:r>
                <a14:m>
                  <m:oMath xmlns:m="http://schemas.openxmlformats.org/officeDocument/2006/math">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up>
                            <m:r>
                              <a:rPr lang="en-IN" sz="2400" i="1">
                                <a:solidFill>
                                  <a:srgbClr val="111827"/>
                                </a:solidFill>
                                <a:latin typeface="Cambria Math" panose="02040503050406030204" pitchFamily="18" charset="0"/>
                              </a:rPr>
                              <m:t>2</m:t>
                            </m:r>
                          </m:sup>
                        </m:sSubSup>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𝑄</m:t>
                    </m:r>
                    <m:d>
                      <m:dPr>
                        <m:begChr m:val="("/>
                        <m:sepChr m:val=""/>
                        <m:endChr m:val=")"/>
                        <m:grow/>
                        <m:ctrlPr>
                          <a:rPr lang="en-IN" sz="2400" i="1">
                            <a:solidFill>
                              <a:srgbClr val="111827"/>
                            </a:solidFill>
                            <a:latin typeface="Cambria Math" panose="02040503050406030204" pitchFamily="18" charset="0"/>
                          </a:rPr>
                        </m:ctrlPr>
                      </m:dPr>
                      <m:e>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𝑡</m:t>
                            </m:r>
                          </m:e>
                        </m:rad>
                      </m:e>
                    </m:d>
                    <m:r>
                      <a:rPr lang="en-IN" sz="2400" i="1">
                        <a:solidFill>
                          <a:srgbClr val="111827"/>
                        </a:solidFill>
                        <a:latin typeface="Cambria Math" panose="02040503050406030204" pitchFamily="18" charset="0"/>
                      </a:rPr>
                      <m:t>𝑄</m:t>
                    </m:r>
                    <m:d>
                      <m:dPr>
                        <m:begChr m:val="("/>
                        <m:sepChr m:val=""/>
                        <m:endChr m:val=")"/>
                        <m:grow/>
                        <m:ctrlPr>
                          <a:rPr lang="en-IN" sz="2400" i="1">
                            <a:solidFill>
                              <a:srgbClr val="111827"/>
                            </a:solidFill>
                            <a:latin typeface="Cambria Math" panose="02040503050406030204" pitchFamily="18" charset="0"/>
                          </a:rPr>
                        </m:ctrlPr>
                      </m:dPr>
                      <m:e>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𝑡</m:t>
                            </m:r>
                          </m:e>
                        </m:rad>
                      </m:e>
                    </m:d>
                  </m:oMath>
                </a14:m>
                <a:r>
                  <a:rPr sz="2400" b="0">
                    <a:solidFill>
                      <a:srgbClr val="111827"/>
                    </a:solidFill>
                    <a:latin typeface="Arial"/>
                  </a:rPr>
                  <a:t> (checked: </a:t>
                </a:r>
                <a14:m>
                  <m:oMath xmlns:m="http://schemas.openxmlformats.org/officeDocument/2006/math">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2004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2006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check the sign of numerator and denominator before taking a floor: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ε</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ε</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m:t>
                    </m:r>
                  </m:oMath>
                </a14:m>
                <a:r>
                  <a:rPr sz="2400" b="0">
                    <a:solidFill>
                      <a:srgbClr val="111827"/>
                    </a:solidFill>
                    <a:latin typeface="Arial"/>
                  </a:rPr>
                  <a:t>, not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$z\,g\left(z^2\right)=1$</a:t>
                </a:r>
                <a:r>
                  <a:rPr sz="2400" b="0">
                    <a:solidFill>
                      <a:srgbClr val="111827"/>
                    </a:solidFill>
                    <a:latin typeface="Arial"/>
                  </a:rPr>
                  <a:t> (odd and even parts separated), then </a:t>
                </a:r>
                <a:r>
                  <a:rPr lang="en-IN" sz="2400">
                    <a:solidFill>
                      <a:srgbClr val="111827"/>
                    </a:solidFill>
                    <a:latin typeface="Cambria Math" panose="02040503050406030204" pitchFamily="18" charset="0"/>
                  </a:rPr>
                  <a:t>$t=z^2$</a:t>
                </a:r>
                <a:r>
                  <a:rPr sz="2400" b="0">
                    <a:solidFill>
                      <a:srgbClr val="111827"/>
                    </a:solidFill>
                    <a:latin typeface="Arial"/>
                  </a:rPr>
                  <a:t> satisfies </a:t>
                </a:r>
                <a:r>
                  <a:rPr lang="en-IN" sz="2400">
                    <a:solidFill>
                      <a:srgbClr val="111827"/>
                    </a:solidFill>
                    <a:latin typeface="Cambria Math" panose="02040503050406030204" pitchFamily="18" charset="0"/>
                  </a:rPr>
                  <a:t>$t\,g(t)^2=1$</a:t>
                </a:r>
                <a:r>
                  <a:rPr sz="2400" b="0">
                    <a:solidFill>
                      <a:srgbClr val="111827"/>
                    </a:solidFill>
                    <a:latin typeface="Arial"/>
                  </a:rPr>
                  <a:t>; the degree rises only by squaring, so no new roots appear when the degrees match.</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monic </a:t>
                </a:r>
                <a:r>
                  <a:rPr lang="en-IN" sz="2400">
                    <a:solidFill>
                      <a:srgbClr val="111827"/>
                    </a:solidFill>
                    <a:latin typeface="Cambria Math" panose="02040503050406030204" pitchFamily="18" charset="0"/>
                  </a:rPr>
                  <a:t>$Q$</a:t>
                </a:r>
                <a:r>
                  <a:rPr sz="2400" b="0">
                    <a:solidFill>
                      <a:srgbClr val="111827"/>
                    </a:solidFill>
                    <a:latin typeface="Arial"/>
                  </a:rPr>
                  <a:t> of odd degree, </a:t>
                </a:r>
                <a:r>
                  <a:rPr lang="en-IN" sz="2400">
                    <a:solidFill>
                      <a:srgbClr val="111827"/>
                    </a:solidFill>
                    <a:latin typeface="Cambria Math" panose="02040503050406030204" pitchFamily="18" charset="0"/>
                  </a:rPr>
                  <a:t>$\prod\left(t-z_i^2\right)=-Q\left(\sqrt t\right)Q\left(-\sqrt t\right)$</a:t>
                </a:r>
                <a:r>
                  <a:rPr sz="2400" b="0">
                    <a:solidFill>
                      <a:srgbClr val="111827"/>
                    </a:solidFill>
                    <a:latin typeface="Arial"/>
                  </a:rPr>
                  <a:t> (checked: </a:t>
                </a:r>
                <a:r>
                  <a:rPr lang="en-IN" sz="2400">
                    <a:solidFill>
                      <a:srgbClr val="111827"/>
                    </a:solidFill>
                    <a:latin typeface="Cambria Math" panose="02040503050406030204" pitchFamily="18" charset="0"/>
                  </a:rPr>
                  <a:t>$t=1$</a:t>
                </a:r>
                <a:r>
                  <a:rPr sz="2400" b="0">
                    <a:solidFill>
                      <a:srgbClr val="111827"/>
                    </a:solidFill>
                    <a:latin typeface="Arial"/>
                  </a:rPr>
                  <a:t> gives </a:t>
                </a:r>
                <a:r>
                  <a:rPr lang="en-IN" sz="2400">
                    <a:solidFill>
                      <a:srgbClr val="111827"/>
                    </a:solidFill>
                    <a:latin typeface="Cambria Math" panose="02040503050406030204" pitchFamily="18" charset="0"/>
                  </a:rPr>
                  <a:t>$2004\cdot2006$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Always check the sign of numerator and denominator before taking a floor: </a:t>
                </a:r>
                <a:r>
                  <a:rPr lang="en-IN" sz="2400">
                    <a:solidFill>
                      <a:srgbClr val="111827"/>
                    </a:solidFill>
                    <a:latin typeface="Cambria Math" panose="02040503050406030204" pitchFamily="18" charset="0"/>
                  </a:rPr>
                  <a:t>$\lfloor-1+\varepsilon\rfloor=-1$</a:t>
                </a:r>
                <a:r>
                  <a:rPr sz="2400" b="0">
                    <a:solidFill>
                      <a:srgbClr val="111827"/>
                    </a:solidFill>
                    <a:latin typeface="Arial"/>
                  </a:rPr>
                  <a:t> for </a:t>
                </a:r>
                <a:r>
                  <a:rPr lang="en-IN" sz="2400">
                    <a:solidFill>
                      <a:srgbClr val="111827"/>
                    </a:solidFill>
                    <a:latin typeface="Cambria Math" panose="02040503050406030204" pitchFamily="18" charset="0"/>
                  </a:rPr>
                  <a:t>$0&lt;\varepsilon&lt;1$</a:t>
                </a:r>
                <a:r>
                  <a:rPr sz="2400" b="0">
                    <a:solidFill>
                      <a:srgbClr val="111827"/>
                    </a:solidFill>
                    <a:latin typeface="Arial"/>
                  </a:rPr>
                  <a:t>, not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7</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Integer Type(0 to 9)</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Q98 – Q100</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5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oMath>
                </a14:m>
                <a:r>
                  <a:rPr sz="2400" b="0">
                    <a:solidFill>
                      <a:srgbClr val="111827"/>
                    </a:solidFill>
                    <a:latin typeface="Arial"/>
                  </a:rPr>
                  <a:t> satisfying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Also </a:t>
                </a:r>
                <a14:m>
                  <m:oMath xmlns:m="http://schemas.openxmlformats.org/officeDocument/2006/math">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find the value of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e>
                        </m:d>
                      </m:e>
                    </m:d>
                  </m:oMath>
                </a14:m>
                <a:r>
                  <a:rPr sz="2400" b="0">
                    <a:solidFill>
                      <a:srgbClr val="111827"/>
                    </a:solidFill>
                    <a:latin typeface="Arial"/>
                  </a:rPr>
                  <a:t>, where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denotes the greatest integer function ______.</a:t>
                </a:r>
                <a:endParaRPr sz="2400">
                  <a:solidFill>
                    <a:srgbClr val="111827"/>
                  </a:solidFill>
                </a:endParaRPr>
              </a:p>
            </p:txBody>
          </p:sp>
        </mc:Choice>
        <mc:Fallback>
          <p:sp>
            <p:nvSpPr>
              <p:cNvPr id="4" name="Rounded Rectangle 3"/>
              <p:cNvSpPr/>
              <p:nvPr/>
            </p:nvSpPr>
            <p:spPr>
              <a:xfrm>
                <a:off x="731520" y="1280160"/>
                <a:ext cx="10725912" cy="237997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$z_1,z_2,z_3\in C$</a:t>
                </a:r>
                <a:r>
                  <a:rPr sz="2400" b="0">
                    <a:solidFill>
                      <a:srgbClr val="111827"/>
                    </a:solidFill>
                    <a:latin typeface="Arial"/>
                  </a:rPr>
                  <a:t> satisfying </a:t>
                </a:r>
                <a:r>
                  <a:rPr lang="en-IN" sz="2400">
                    <a:solidFill>
                      <a:srgbClr val="111827"/>
                    </a:solidFill>
                    <a:latin typeface="Cambria Math" panose="02040503050406030204" pitchFamily="18" charset="0"/>
                  </a:rPr>
                  <a:t>$|z_1|=|z_2|=|z_3|=1$</a:t>
                </a:r>
                <a:r>
                  <a:rPr sz="2400" b="0">
                    <a:solidFill>
                      <a:srgbClr val="111827"/>
                    </a:solidFill>
                    <a:latin typeface="Arial"/>
                  </a:rPr>
                  <a:t>, </a:t>
                </a:r>
                <a:r>
                  <a:rPr lang="en-IN" sz="2400">
                    <a:solidFill>
                      <a:srgbClr val="111827"/>
                    </a:solidFill>
                    <a:latin typeface="Cambria Math" panose="02040503050406030204" pitchFamily="18" charset="0"/>
                  </a:rPr>
                  <a:t>$z_1+z_2+z_3=1$</a:t>
                </a:r>
                <a:r>
                  <a:rPr sz="2400" b="0">
                    <a:solidFill>
                      <a:srgbClr val="111827"/>
                    </a:solidFill>
                    <a:latin typeface="Arial"/>
                  </a:rPr>
                  <a:t> and </a:t>
                </a:r>
                <a:r>
                  <a:rPr lang="en-IN" sz="2400">
                    <a:solidFill>
                      <a:srgbClr val="111827"/>
                    </a:solidFill>
                    <a:latin typeface="Cambria Math" panose="02040503050406030204" pitchFamily="18" charset="0"/>
                  </a:rPr>
                  <a:t>$z_1z_2z_3=1$</a:t>
                </a:r>
                <a:r>
                  <a:rPr sz="2400" b="0">
                    <a:solidFill>
                      <a:srgbClr val="111827"/>
                    </a:solidFill>
                    <a:latin typeface="Arial"/>
                  </a:rPr>
                  <a:t>. Also </a:t>
                </a:r>
                <a:r>
                  <a:rPr lang="en-IN" sz="2400">
                    <a:solidFill>
                      <a:srgbClr val="111827"/>
                    </a:solidFill>
                    <a:latin typeface="Cambria Math" panose="02040503050406030204" pitchFamily="18" charset="0"/>
                  </a:rPr>
                  <a:t>$\mathrm{Im}(z_1)&lt;\mathrm{Im}(z_2)&lt;\mathrm{Im}(z_3)$</a:t>
                </a:r>
                <a:r>
                  <a:rPr sz="2400" b="0">
                    <a:solidFill>
                      <a:srgbClr val="111827"/>
                    </a:solidFill>
                    <a:latin typeface="Arial"/>
                  </a:rPr>
                  <a:t>. Then find the value of </a:t>
                </a:r>
                <a:r>
                  <a:rPr lang="en-IN" sz="2400">
                    <a:solidFill>
                      <a:srgbClr val="111827"/>
                    </a:solidFill>
                    <a:latin typeface="Cambria Math" panose="02040503050406030204" pitchFamily="18" charset="0"/>
                  </a:rPr>
                  <a:t>$\left\lfloor\left|z_1+z_2^2+z_3^3\right|\right\rfloor$</a:t>
                </a:r>
                <a:r>
                  <a:rPr sz="2400" b="0">
                    <a:solidFill>
                      <a:srgbClr val="111827"/>
                    </a:solidFill>
                    <a:latin typeface="Arial"/>
                  </a:rPr>
                  <a:t>, where </a:t>
                </a:r>
                <a:r>
                  <a:rPr lang="en-IN" sz="2400">
                    <a:solidFill>
                      <a:srgbClr val="111827"/>
                    </a:solidFill>
                    <a:latin typeface="Cambria Math" panose="02040503050406030204" pitchFamily="18" charset="0"/>
                  </a:rPr>
                  <a:t>$[\cdot]$</a:t>
                </a:r>
                <a:r>
                  <a:rPr sz="2400" b="0">
                    <a:solidFill>
                      <a:srgbClr val="111827"/>
                    </a:solidFill>
                    <a:latin typeface="Arial"/>
                  </a:rPr>
                  <a:t> denotes the greatest integer function ______.</a:t>
                </a:r>
                <a:endParaRPr sz="2400">
                  <a:solidFill>
                    <a:srgbClr val="111827"/>
                  </a:solidFill>
                </a:endParaRPr>
              </a:p>
            </p:txBody>
          </p:sp>
        </mc:Fallback>
      </mc:AlternateContent>
      <p:sp>
        <p:nvSpPr>
          <p:cNvPr id="5" name="Rectangle 4"/>
          <p:cNvSpPr/>
          <p:nvPr/>
        </p:nvSpPr>
        <p:spPr>
          <a:xfrm>
            <a:off x="731520" y="3888739"/>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Complex numbers: unimodular numbers and symmetric functions of roots, Greatest integer function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unimodular numbers </a:t>
                </a:r>
                <a14:m>
                  <m:oMath xmlns:m="http://schemas.openxmlformats.org/officeDocument/2006/math">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r>
                      <m:rPr>
                        <m:sty m:val="p"/>
                      </m:rPr>
                      <a:rPr lang="en-IN" sz="2400">
                        <a:solidFill>
                          <a:srgbClr val="78350F"/>
                        </a:solidFill>
                        <a:latin typeface="Cambria Math" panose="02040503050406030204" pitchFamily="18" charset="0"/>
                      </a:rPr>
                      <m:t>=</m:t>
                    </m:r>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𝑧</m:t>
                        </m:r>
                      </m:den>
                    </m:f>
                  </m:oMath>
                </a14:m>
                <a:r>
                  <a:rPr sz="2400" b="0">
                    <a:solidFill>
                      <a:srgbClr val="78350F"/>
                    </a:solidFill>
                    <a:latin typeface="Arial"/>
                  </a:rPr>
                  <a:t>, so </a:t>
                </a:r>
                <a14:m>
                  <m:oMath xmlns:m="http://schemas.openxmlformats.org/officeDocument/2006/math">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d>
                      <m:dPr>
                        <m:begChr m:val="("/>
                        <m:sepChr m:val=""/>
                        <m:endChr m:val=")"/>
                        <m:grow/>
                        <m:ctrlPr>
                          <a:rPr lang="en-IN" sz="2400" i="1">
                            <a:solidFill>
                              <a:srgbClr val="78350F"/>
                            </a:solidFill>
                            <a:latin typeface="Cambria Math" panose="02040503050406030204" pitchFamily="18" charset="0"/>
                          </a:rPr>
                        </m:ctrlPr>
                      </m:dPr>
                      <m:e>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acc>
                              <m:accPr>
                                <m:chr m:val="‾"/>
                                <m:ctrlPr>
                                  <a:rPr lang="en-IN" sz="2400" i="1">
                                    <a:solidFill>
                                      <a:srgbClr val="78350F"/>
                                    </a:solidFill>
                                    <a:latin typeface="Cambria Math" panose="02040503050406030204" pitchFamily="18" charset="0"/>
                                  </a:rPr>
                                </m:ctrlPr>
                              </m:accPr>
                              <m:e>
                                <m:r>
                                  <a:rPr lang="en-IN" sz="2400" i="1">
                                    <a:solidFill>
                                      <a:srgbClr val="78350F"/>
                                    </a:solidFill>
                                    <a:latin typeface="Cambria Math" panose="02040503050406030204" pitchFamily="18" charset="0"/>
                                  </a:rPr>
                                  <m:t>𝑧</m:t>
                                </m:r>
                              </m:e>
                            </m:acc>
                          </m:e>
                          <m:sub>
                            <m:r>
                              <a:rPr lang="en-IN" sz="2400" i="1">
                                <a:solidFill>
                                  <a:srgbClr val="78350F"/>
                                </a:solidFill>
                                <a:latin typeface="Cambria Math" panose="02040503050406030204" pitchFamily="18" charset="0"/>
                              </a:rPr>
                              <m:t>3</m:t>
                            </m:r>
                          </m:sub>
                        </m:sSub>
                      </m:e>
                    </m:d>
                  </m:oMath>
                </a14:m>
                <a:r>
                  <a:rPr sz="2400" b="0">
                    <a:solidFill>
                      <a:srgbClr val="78350F"/>
                    </a:solidFill>
                    <a:latin typeface="Arial"/>
                  </a:rPr>
                  <a:t> is known.</a:t>
                </a:r>
                <a:endParaRPr sz="2400">
                  <a:solidFill>
                    <a:srgbClr val="78350F"/>
                  </a:solidFill>
                </a:endParaRPr>
              </a:p>
            </p:txBody>
          </p:sp>
        </mc:Choice>
        <mc:Fallback>
          <p:sp>
            <p:nvSpPr>
              <p:cNvPr id="4" name="Rounded Rectangle 3"/>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For unimodular numbers </a:t>
                </a:r>
                <a:r>
                  <a:rPr lang="en-IN" sz="2400">
                    <a:solidFill>
                      <a:srgbClr val="78350F"/>
                    </a:solidFill>
                    <a:latin typeface="Cambria Math" panose="02040503050406030204" pitchFamily="18" charset="0"/>
                  </a:rPr>
                  <a:t>$\bar z=\frac{1}{z}$</a:t>
                </a:r>
                <a:r>
                  <a:rPr sz="2400" b="0">
                    <a:solidFill>
                      <a:srgbClr val="78350F"/>
                    </a:solidFill>
                    <a:latin typeface="Arial"/>
                  </a:rPr>
                  <a:t>, so </a:t>
                </a:r>
                <a:r>
                  <a:rPr lang="en-IN" sz="2400">
                    <a:solidFill>
                      <a:srgbClr val="78350F"/>
                    </a:solidFill>
                    <a:latin typeface="Cambria Math" panose="02040503050406030204" pitchFamily="18" charset="0"/>
                  </a:rPr>
                  <a:t>$z_1z_2+z_2z_3+z_3z_1=z_1z_2z_3\left(\bar z_1+\bar z_2+\bar z_3\right)$</a:t>
                </a:r>
                <a:r>
                  <a:rPr sz="2400" b="0">
                    <a:solidFill>
                      <a:srgbClr val="78350F"/>
                    </a:solidFill>
                    <a:latin typeface="Arial"/>
                  </a:rPr>
                  <a:t> is known.</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den>
                        </m:f>
                      </m:e>
                    </m:d>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d>
                      <m:dPr>
                        <m:begChr m:val="("/>
                        <m:sepChr m:val=""/>
                        <m:endChr m:val=")"/>
                        <m:grow/>
                        <m:ctrlPr>
                          <a:rPr lang="en-IN" sz="2400" i="1">
                            <a:solidFill>
                              <a:srgbClr val="111827"/>
                            </a:solidFill>
                            <a:latin typeface="Cambria Math" panose="02040503050406030204" pitchFamily="18" charset="0"/>
                          </a:rPr>
                        </m:ctrlPr>
                      </m:dPr>
                      <m:e>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3</m:t>
                            </m:r>
                          </m:sub>
                        </m:sSub>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𝑧</m:t>
                            </m:r>
                          </m:e>
                        </m:acc>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bar>
                      <m:barPr>
                        <m:pos m:val="top"/>
                        <m:ctrlPr>
                          <a:rPr lang="en-IN" sz="2400" i="1">
                            <a:solidFill>
                              <a:srgbClr val="111827"/>
                            </a:solidFill>
                            <a:latin typeface="Cambria Math" panose="02040503050406030204" pitchFamily="18" charset="0"/>
                          </a:rPr>
                        </m:ctrlPr>
                      </m:barPr>
                      <m:e>
                        <m:r>
                          <a:rPr lang="en-IN" sz="2400" i="1">
                            <a:solidFill>
                              <a:srgbClr val="111827"/>
                            </a:solidFill>
                            <a:latin typeface="Cambria Math" panose="02040503050406030204" pitchFamily="18" charset="0"/>
                          </a:rPr>
                          <m:t>1</m:t>
                        </m:r>
                      </m:e>
                    </m:ba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the roots of </a:t>
                </a:r>
                <a14:m>
                  <m:oMath xmlns:m="http://schemas.openxmlformats.org/officeDocument/2006/math">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$|z_i|=1$</a:t>
                </a:r>
                <a:r>
                  <a:rPr sz="2400" b="0">
                    <a:solidFill>
                      <a:srgbClr val="111827"/>
                    </a:solidFill>
                    <a:latin typeface="Arial"/>
                  </a:rPr>
                  <a:t>, </a:t>
                </a:r>
                <a:r>
                  <a:rPr lang="en-IN" sz="2400">
                    <a:solidFill>
                      <a:srgbClr val="111827"/>
                    </a:solidFill>
                    <a:latin typeface="Cambria Math" panose="02040503050406030204" pitchFamily="18" charset="0"/>
                  </a:rPr>
                  <a:t>$\bar z_i=\frac{1}{z_i}$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$z_1z_2+z_2z_3+z_3z_1=z_1z_2z_3\left(\frac{1}{z_3}+\frac{1}{z_1}+\frac{1}{z_2}\right)=z_1z_2z_3\left(\bar z_1+\bar z_2+\bar z_3\right)$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Using </a:t>
                </a:r>
                <a:r>
                  <a:rPr lang="en-IN" sz="2400">
                    <a:solidFill>
                      <a:srgbClr val="111827"/>
                    </a:solidFill>
                    <a:latin typeface="Cambria Math" panose="02040503050406030204" pitchFamily="18" charset="0"/>
                  </a:rPr>
                  <a:t>$z_1z_2z_3=1$</a:t>
                </a:r>
                <a:r>
                  <a:rPr sz="2400" b="0">
                    <a:solidFill>
                      <a:srgbClr val="111827"/>
                    </a:solidFill>
                    <a:latin typeface="Arial"/>
                  </a:rPr>
                  <a:t> and </a:t>
                </a:r>
                <a:r>
                  <a:rPr lang="en-IN" sz="2400">
                    <a:solidFill>
                      <a:srgbClr val="111827"/>
                    </a:solidFill>
                    <a:latin typeface="Cambria Math" panose="02040503050406030204" pitchFamily="18" charset="0"/>
                  </a:rPr>
                  <a:t>$\bar z_1+\bar z_2+\bar z_3=\overline{1}=1$</a:t>
                </a:r>
                <a:r>
                  <a:rPr sz="2400" b="0">
                    <a:solidFill>
                      <a:srgbClr val="111827"/>
                    </a:solidFill>
                    <a:latin typeface="Arial"/>
                  </a:rPr>
                  <a:t>: </a:t>
                </a:r>
                <a:r>
                  <a:rPr lang="en-IN" sz="2400">
                    <a:solidFill>
                      <a:srgbClr val="111827"/>
                    </a:solidFill>
                    <a:latin typeface="Cambria Math" panose="02040503050406030204" pitchFamily="18" charset="0"/>
                  </a:rPr>
                  <a:t>$z_1z_2+z_2z_3+z_3z_1=1$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$z_1,z_2,z_3$</a:t>
                </a:r>
                <a:r>
                  <a:rPr sz="2400" b="0">
                    <a:solidFill>
                      <a:srgbClr val="111827"/>
                    </a:solidFill>
                    <a:latin typeface="Arial"/>
                  </a:rPr>
                  <a:t> are the roots of </a:t>
                </a:r>
                <a:r>
                  <a:rPr lang="en-IN" sz="2400">
                    <a:solidFill>
                      <a:srgbClr val="111827"/>
                    </a:solidFill>
                    <a:latin typeface="Cambria Math" panose="02040503050406030204" pitchFamily="18" charset="0"/>
                  </a:rPr>
                  <a:t>$z^3-(z_1+z_2+z_3)z^2+(z_1z_2+z_2z_3+z_3z_1)z-z_1z_2z_3=z^3-z^2+z-1=0$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Factorising,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the roots are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14:m>
                  <m:oMath xmlns:m="http://schemas.openxmlformats.org/officeDocument/2006/math">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I</m:t>
                    </m:r>
                    <m:r>
                      <m:rPr>
                        <m:sty m:val="p"/>
                      </m:rPr>
                      <a:rPr lang="en-IN" sz="2400">
                        <a:solidFill>
                          <a:srgbClr val="111827"/>
                        </a:solidFill>
                        <a:latin typeface="Cambria Math" panose="02040503050406030204" pitchFamily="18" charset="0"/>
                      </a:rPr>
                      <m:t>m</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up>
                        <m:r>
                          <a:rPr lang="en-IN" sz="2400" i="1">
                            <a:solidFill>
                              <a:srgbClr val="111827"/>
                            </a:solidFill>
                            <a:latin typeface="Cambria Math" panose="02040503050406030204" pitchFamily="18" charset="0"/>
                          </a:rPr>
                          <m:t>3</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𝑖</m:t>
                        </m:r>
                      </m:e>
                    </m: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2.236</m:t>
                    </m:r>
                  </m:oMath>
                </a14:m>
                <a:r>
                  <a:rPr sz="2400" b="0">
                    <a:solidFill>
                      <a:srgbClr val="111827"/>
                    </a:solidFill>
                    <a:latin typeface="Arial"/>
                  </a:rPr>
                  <a:t>, so the greatest integer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Factorising, </a:t>
                </a:r>
                <a:r>
                  <a:rPr lang="en-IN" sz="2400">
                    <a:solidFill>
                      <a:srgbClr val="111827"/>
                    </a:solidFill>
                    <a:latin typeface="Cambria Math" panose="02040503050406030204" pitchFamily="18" charset="0"/>
                  </a:rPr>
                  <a:t>$(z-1)(z^2+1)=0$</a:t>
                </a:r>
                <a:r>
                  <a:rPr sz="2400" b="0">
                    <a:solidFill>
                      <a:srgbClr val="111827"/>
                    </a:solidFill>
                    <a:latin typeface="Arial"/>
                  </a:rPr>
                  <a:t>, so the roots are </a:t>
                </a:r>
                <a:r>
                  <a:rPr lang="en-IN" sz="2400">
                    <a:solidFill>
                      <a:srgbClr val="111827"/>
                    </a:solidFill>
                    <a:latin typeface="Cambria Math" panose="02040503050406030204" pitchFamily="18" charset="0"/>
                  </a:rPr>
                  <a:t>$1,\ i,\ -i$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From </a:t>
                </a:r>
                <a:r>
                  <a:rPr lang="en-IN" sz="2400">
                    <a:solidFill>
                      <a:srgbClr val="111827"/>
                    </a:solidFill>
                    <a:latin typeface="Cambria Math" panose="02040503050406030204" pitchFamily="18" charset="0"/>
                  </a:rPr>
                  <a:t>$\mathrm{Im}(z_1)&lt;\mathrm{Im}(z_2)&lt;\mathrm{Im}(z_3)$</a:t>
                </a:r>
                <a:r>
                  <a:rPr sz="2400" b="0">
                    <a:solidFill>
                      <a:srgbClr val="111827"/>
                    </a:solidFill>
                    <a:latin typeface="Arial"/>
                  </a:rPr>
                  <a:t>: </a:t>
                </a:r>
                <a:r>
                  <a:rPr lang="en-IN" sz="2400">
                    <a:solidFill>
                      <a:srgbClr val="111827"/>
                    </a:solidFill>
                    <a:latin typeface="Cambria Math" panose="02040503050406030204" pitchFamily="18" charset="0"/>
                  </a:rPr>
                  <a:t>$z_1=-i$</a:t>
                </a:r>
                <a:r>
                  <a:rPr sz="2400" b="0">
                    <a:solidFill>
                      <a:srgbClr val="111827"/>
                    </a:solidFill>
                    <a:latin typeface="Arial"/>
                  </a:rPr>
                  <a:t>, </a:t>
                </a:r>
                <a:r>
                  <a:rPr lang="en-IN" sz="2400">
                    <a:solidFill>
                      <a:srgbClr val="111827"/>
                    </a:solidFill>
                    <a:latin typeface="Cambria Math" panose="02040503050406030204" pitchFamily="18" charset="0"/>
                  </a:rPr>
                  <a:t>$z_2=1$</a:t>
                </a:r>
                <a:r>
                  <a:rPr sz="2400" b="0">
                    <a:solidFill>
                      <a:srgbClr val="111827"/>
                    </a:solidFill>
                    <a:latin typeface="Arial"/>
                  </a:rPr>
                  <a:t>, </a:t>
                </a:r>
                <a:r>
                  <a:rPr lang="en-IN" sz="2400">
                    <a:solidFill>
                      <a:srgbClr val="111827"/>
                    </a:solidFill>
                    <a:latin typeface="Cambria Math" panose="02040503050406030204" pitchFamily="18" charset="0"/>
                  </a:rPr>
                  <a:t>$z_3=i$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$z_1+z_2^2+z_3^3=-i+1+i^3=-i+1-i=1-2i$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$\left|1-2i\right|=\sqrt5\approx2.236$</a:t>
                </a:r>
                <a:r>
                  <a:rPr sz="2400" b="0">
                    <a:solidFill>
                      <a:srgbClr val="111827"/>
                    </a:solidFill>
                    <a:latin typeface="Arial"/>
                  </a:rPr>
                  <a:t>, so the greatest integer is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2</a:t>
            </a:r>
            <a:endParaRPr sz="2800">
              <a:solidFill>
                <a:srgbClr val="15803D"/>
              </a:solidFill>
            </a:endParaRPr>
          </a:p>
        </p:txBody>
      </p:sp>
    </p:spTree>
  </p:cSld>
  <p:clrMapOvr>
    <a:masterClrMapping/>
  </p:clrMapOvr>
</p:sld>
</file>

<file path=ppt/slides/slide5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3</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𝑧</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𝑒</m:t>
                        </m:r>
                      </m:e>
                      <m:sub>
                        <m:r>
                          <a:rPr lang="en-IN" sz="2400" i="1">
                            <a:solidFill>
                              <a:srgbClr val="78350F"/>
                            </a:solidFill>
                            <a:latin typeface="Cambria Math" panose="02040503050406030204" pitchFamily="18" charset="0"/>
                          </a:rPr>
                          <m:t>1</m:t>
                        </m:r>
                      </m:sub>
                    </m:sSub>
                    <m:sSub>
                      <m:e>
                        <m:r>
                          <a:rPr lang="en-IN" sz="2400" i="1">
                            <a:solidFill>
                              <a:srgbClr val="78350F"/>
                            </a:solidFill>
                            <a:latin typeface="Cambria Math" panose="02040503050406030204" pitchFamily="18" charset="0"/>
                          </a:rPr>
                          <m:t>𝑒</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𝑒</m:t>
                        </m:r>
                      </m:e>
                      <m:sub>
                        <m:r>
                          <a:rPr lang="en-IN" sz="2400" i="1">
                            <a:solidFill>
                              <a:srgbClr val="78350F"/>
                            </a:solidFill>
                            <a:latin typeface="Cambria Math" panose="02040503050406030204" pitchFamily="18" charset="0"/>
                          </a:rPr>
                          <m:t>3</m:t>
                        </m:r>
                      </m:sub>
                    </m:sSub>
                  </m:oMath>
                </a14:m>
                <a:r>
                  <a:rPr sz="2400" b="0">
                    <a:solidFill>
                      <a:srgbClr val="78350F"/>
                    </a:solidFill>
                    <a:latin typeface="Arial"/>
                  </a:rPr>
                  <a:t> to show one pair sums to zero.</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t>
                </a:r>
                <a:r>
                  <a:rPr lang="en-IN" sz="2400">
                    <a:solidFill>
                      <a:srgbClr val="78350F"/>
                    </a:solidFill>
                    <a:latin typeface="Cambria Math" panose="02040503050406030204" pitchFamily="18" charset="0"/>
                  </a:rPr>
                  <a:t>$(z_1+z_2)(z_2+z_3)(z_3+z_1)=e_1e_2-e_3$</a:t>
                </a:r>
                <a:r>
                  <a:rPr sz="2400" b="0">
                    <a:solidFill>
                      <a:srgbClr val="78350F"/>
                    </a:solidFill>
                    <a:latin typeface="Arial"/>
                  </a:rPr>
                  <a:t> to show one pair sums to zero.</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(as above), so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two of the numbers are negatives of each other, say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𝑎</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𝑏</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the third is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𝑎</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𝑏</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$|z_i|=1$</a:t>
                </a:r>
                <a:r>
                  <a:rPr sz="2400" b="0">
                    <a:solidFill>
                      <a:srgbClr val="111827"/>
                    </a:solidFill>
                    <a:latin typeface="Arial"/>
                  </a:rPr>
                  <a:t>, </a:t>
                </a:r>
                <a:r>
                  <a:rPr lang="en-IN" sz="2400">
                    <a:solidFill>
                      <a:srgbClr val="111827"/>
                    </a:solidFill>
                    <a:latin typeface="Cambria Math" panose="02040503050406030204" pitchFamily="18" charset="0"/>
                  </a:rPr>
                  <a:t>$e_2=e_3\bar e_1=1$</a:t>
                </a:r>
                <a:r>
                  <a:rPr sz="2400" b="0">
                    <a:solidFill>
                      <a:srgbClr val="111827"/>
                    </a:solidFill>
                    <a:latin typeface="Arial"/>
                  </a:rPr>
                  <a:t> (as above), so </a:t>
                </a:r>
                <a:r>
                  <a:rPr lang="en-IN" sz="2400">
                    <a:solidFill>
                      <a:srgbClr val="111827"/>
                    </a:solidFill>
                    <a:latin typeface="Cambria Math" panose="02040503050406030204" pitchFamily="18" charset="0"/>
                  </a:rPr>
                  <a:t>$e_1=1$</a:t>
                </a:r>
                <a:r>
                  <a:rPr sz="2400" b="0">
                    <a:solidFill>
                      <a:srgbClr val="111827"/>
                    </a:solidFill>
                    <a:latin typeface="Arial"/>
                  </a:rPr>
                  <a:t>, </a:t>
                </a:r>
                <a:r>
                  <a:rPr lang="en-IN" sz="2400">
                    <a:solidFill>
                      <a:srgbClr val="111827"/>
                    </a:solidFill>
                    <a:latin typeface="Cambria Math" panose="02040503050406030204" pitchFamily="18" charset="0"/>
                  </a:rPr>
                  <a:t>$e_2=1$</a:t>
                </a:r>
                <a:r>
                  <a:rPr sz="2400" b="0">
                    <a:solidFill>
                      <a:srgbClr val="111827"/>
                    </a:solidFill>
                    <a:latin typeface="Arial"/>
                  </a:rPr>
                  <a:t>, </a:t>
                </a:r>
                <a:r>
                  <a:rPr lang="en-IN" sz="2400">
                    <a:solidFill>
                      <a:srgbClr val="111827"/>
                    </a:solidFill>
                    <a:latin typeface="Cambria Math" panose="02040503050406030204" pitchFamily="18" charset="0"/>
                  </a:rPr>
                  <a:t>$e_3=1$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$(z_1+z_2)(z_2+z_3)(z_3+z_1)=e_1e_2-e_3=1-1=0$</a:t>
                </a:r>
                <a:r>
                  <a:rPr sz="2400" b="0">
                    <a:solidFill>
                      <a:srgbClr val="111827"/>
                    </a:solidFill>
                    <a:latin typeface="Arial"/>
                  </a:rPr>
                  <a:t>, so two of the numbers are negatives of each other, say </a:t>
                </a:r>
                <a:r>
                  <a:rPr lang="en-IN" sz="2400">
                    <a:solidFill>
                      <a:srgbClr val="111827"/>
                    </a:solidFill>
                    <a:latin typeface="Cambria Math" panose="02040503050406030204" pitchFamily="18" charset="0"/>
                  </a:rPr>
                  <a:t>$z_a=-z_b$</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the third is </a:t>
                </a:r>
                <a:r>
                  <a:rPr lang="en-IN" sz="2400">
                    <a:solidFill>
                      <a:srgbClr val="111827"/>
                    </a:solidFill>
                    <a:latin typeface="Cambria Math" panose="02040503050406030204" pitchFamily="18" charset="0"/>
                  </a:rPr>
                  <a:t>$e_1-(z_a+z_b)=1$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gives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𝑎</m:t>
                        </m:r>
                      </m:sub>
                    </m:sSub>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𝑏</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𝑏</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bSup>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𝑏</m:t>
                        </m:r>
                      </m:sub>
                      <m:sup>
                        <m:r>
                          <a:rPr lang="en-IN" sz="2400" i="1">
                            <a:solidFill>
                              <a:srgbClr val="111827"/>
                            </a:solidFill>
                            <a:latin typeface="Cambria Math" panose="02040503050406030204" pitchFamily="18" charset="0"/>
                          </a:rPr>
                          <m:t>2</m:t>
                        </m:r>
                      </m:sup>
                    </m:sSub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𝑎</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𝑏</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Ordering by imaginary part: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𝑧</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and the value is </a:t>
                </a: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oMath>
                </a14:m>
                <a:r>
                  <a:rPr sz="2400" b="0">
                    <a:solidFill>
                      <a:srgbClr val="111827"/>
                    </a:solidFill>
                    <a:latin typeface="Arial"/>
                  </a:rPr>
                  <a:t>, with floor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product gives </a:t>
                </a:r>
                <a:r>
                  <a:rPr lang="en-IN" sz="2400">
                    <a:solidFill>
                      <a:srgbClr val="111827"/>
                    </a:solidFill>
                    <a:latin typeface="Cambria Math" panose="02040503050406030204" pitchFamily="18" charset="0"/>
                  </a:rPr>
                  <a:t>$1\cdot z_az_b=-z_b^2=1$</a:t>
                </a:r>
                <a:r>
                  <a:rPr sz="2400" b="0">
                    <a:solidFill>
                      <a:srgbClr val="111827"/>
                    </a:solidFill>
                    <a:latin typeface="Arial"/>
                  </a:rPr>
                  <a:t>, so </a:t>
                </a:r>
                <a:r>
                  <a:rPr lang="en-IN" sz="2400">
                    <a:solidFill>
                      <a:srgbClr val="111827"/>
                    </a:solidFill>
                    <a:latin typeface="Cambria Math" panose="02040503050406030204" pitchFamily="18" charset="0"/>
                  </a:rPr>
                  <a:t>$z_b^2=-1$</a:t>
                </a:r>
                <a:r>
                  <a:rPr sz="2400" b="0">
                    <a:solidFill>
                      <a:srgbClr val="111827"/>
                    </a:solidFill>
                    <a:latin typeface="Arial"/>
                  </a:rPr>
                  <a:t> and </a:t>
                </a:r>
                <a:r>
                  <a:rPr lang="en-IN" sz="2400">
                    <a:solidFill>
                      <a:srgbClr val="111827"/>
                    </a:solidFill>
                    <a:latin typeface="Cambria Math" panose="02040503050406030204" pitchFamily="18" charset="0"/>
                  </a:rPr>
                  <a:t>$\{z_a,z_b\}=\{i,-i\}$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Ordering by imaginary part: </a:t>
                </a:r>
                <a:r>
                  <a:rPr lang="en-IN" sz="2400">
                    <a:solidFill>
                      <a:srgbClr val="111827"/>
                    </a:solidFill>
                    <a:latin typeface="Cambria Math" panose="02040503050406030204" pitchFamily="18" charset="0"/>
                  </a:rPr>
                  <a:t>$z_1=-i$</a:t>
                </a:r>
                <a:r>
                  <a:rPr sz="2400" b="0">
                    <a:solidFill>
                      <a:srgbClr val="111827"/>
                    </a:solidFill>
                    <a:latin typeface="Arial"/>
                  </a:rPr>
                  <a:t>, </a:t>
                </a:r>
                <a:r>
                  <a:rPr lang="en-IN" sz="2400">
                    <a:solidFill>
                      <a:srgbClr val="111827"/>
                    </a:solidFill>
                    <a:latin typeface="Cambria Math" panose="02040503050406030204" pitchFamily="18" charset="0"/>
                  </a:rPr>
                  <a:t>$z_2=1$</a:t>
                </a:r>
                <a:r>
                  <a:rPr sz="2400" b="0">
                    <a:solidFill>
                      <a:srgbClr val="111827"/>
                    </a:solidFill>
                    <a:latin typeface="Arial"/>
                  </a:rPr>
                  <a:t>, </a:t>
                </a:r>
                <a:r>
                  <a:rPr lang="en-IN" sz="2400">
                    <a:solidFill>
                      <a:srgbClr val="111827"/>
                    </a:solidFill>
                    <a:latin typeface="Cambria Math" panose="02040503050406030204" pitchFamily="18" charset="0"/>
                  </a:rPr>
                  <a:t>$z_3=i$</a:t>
                </a:r>
                <a:r>
                  <a:rPr sz="2400" b="0">
                    <a:solidFill>
                      <a:srgbClr val="111827"/>
                    </a:solidFill>
                    <a:latin typeface="Arial"/>
                  </a:rPr>
                  <a:t>, and the value is </a:t>
                </a:r>
                <a:r>
                  <a:rPr lang="en-IN" sz="2400">
                    <a:solidFill>
                      <a:srgbClr val="111827"/>
                    </a:solidFill>
                    <a:latin typeface="Cambria Math" panose="02040503050406030204" pitchFamily="18" charset="0"/>
                  </a:rPr>
                  <a:t>$\sqrt5$</a:t>
                </a:r>
                <a:r>
                  <a:rPr sz="2400" b="0">
                    <a:solidFill>
                      <a:srgbClr val="111827"/>
                    </a:solidFill>
                    <a:latin typeface="Arial"/>
                  </a:rPr>
                  <a:t>, with floor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2</a:t>
            </a:r>
            <a:endParaRPr sz="2800">
              <a:solidFill>
                <a:srgbClr val="15803D"/>
              </a:solidFill>
            </a:endParaRPr>
          </a:p>
        </p:txBody>
      </p:sp>
    </p:spTree>
  </p:cSld>
  <p:clrMapOvr>
    <a:masterClrMapping/>
  </p:clrMapOvr>
</p:sld>
</file>

<file path=ppt/slides/slide5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three complex numbers of modulus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bar>
                      <m:barPr>
                        <m:pos m:val="top"/>
                        <m:ctrlPr>
                          <a:rPr lang="en-IN" sz="2400" i="1">
                            <a:solidFill>
                              <a:srgbClr val="111827"/>
                            </a:solidFill>
                            <a:latin typeface="Cambria Math" panose="02040503050406030204" pitchFamily="18" charset="0"/>
                          </a:rPr>
                        </m:ctrlPr>
                      </m:barPr>
                      <m:e>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e>
                    </m:ba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𝑒</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determine the cubic they satisfy.</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oMath>
                </a14:m>
                <a:r>
                  <a:rPr sz="2400" b="0">
                    <a:solidFill>
                      <a:srgbClr val="111827"/>
                    </a:solidFill>
                    <a:latin typeface="Arial"/>
                  </a:rPr>
                  <a:t>; if it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two of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negatives of each other.</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2.236</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5</m:t>
                        </m:r>
                      </m:e>
                    </m:ra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(verified numerically with the roots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three complex numbers of modulus </a:t>
                </a:r>
                <a:r>
                  <a:rPr lang="en-IN" sz="2400">
                    <a:solidFill>
                      <a:srgbClr val="111827"/>
                    </a:solidFill>
                    <a:latin typeface="Cambria Math" panose="02040503050406030204" pitchFamily="18" charset="0"/>
                  </a:rPr>
                  <a:t>$1$</a:t>
                </a:r>
                <a:r>
                  <a:rPr sz="2400" b="0">
                    <a:solidFill>
                      <a:srgbClr val="111827"/>
                    </a:solidFill>
                    <a:latin typeface="Arial"/>
                  </a:rPr>
                  <a:t>: </a:t>
                </a:r>
                <a:r>
                  <a:rPr lang="en-IN" sz="2400">
                    <a:solidFill>
                      <a:srgbClr val="111827"/>
                    </a:solidFill>
                    <a:latin typeface="Cambria Math" panose="02040503050406030204" pitchFamily="18" charset="0"/>
                  </a:rPr>
                  <a:t>$e_2=e_3\overline{e_1}$</a:t>
                </a:r>
                <a:r>
                  <a:rPr sz="2400" b="0">
                    <a:solidFill>
                      <a:srgbClr val="111827"/>
                    </a:solidFill>
                    <a:latin typeface="Arial"/>
                  </a:rPr>
                  <a:t>. So </a:t>
                </a:r>
                <a:r>
                  <a:rPr lang="en-IN" sz="2400">
                    <a:solidFill>
                      <a:srgbClr val="111827"/>
                    </a:solidFill>
                    <a:latin typeface="Cambria Math" panose="02040503050406030204" pitchFamily="18" charset="0"/>
                  </a:rPr>
                  <a:t>$e_1$</a:t>
                </a:r>
                <a:r>
                  <a:rPr sz="2400" b="0">
                    <a:solidFill>
                      <a:srgbClr val="111827"/>
                    </a:solidFill>
                    <a:latin typeface="Arial"/>
                  </a:rPr>
                  <a:t> and </a:t>
                </a:r>
                <a:r>
                  <a:rPr lang="en-IN" sz="2400">
                    <a:solidFill>
                      <a:srgbClr val="111827"/>
                    </a:solidFill>
                    <a:latin typeface="Cambria Math" panose="02040503050406030204" pitchFamily="18" charset="0"/>
                  </a:rPr>
                  <a:t>$e_3$</a:t>
                </a:r>
                <a:r>
                  <a:rPr sz="2400" b="0">
                    <a:solidFill>
                      <a:srgbClr val="111827"/>
                    </a:solidFill>
                    <a:latin typeface="Arial"/>
                  </a:rPr>
                  <a:t> determine the cubic they satisfy.</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$(a+b)(b+c)(c+a)=(a+b+c)(ab+bc+ca)-abc$</a:t>
                </a:r>
                <a:r>
                  <a:rPr sz="2400" b="0">
                    <a:solidFill>
                      <a:srgbClr val="111827"/>
                    </a:solidFill>
                    <a:latin typeface="Arial"/>
                  </a:rPr>
                  <a:t>; if it is </a:t>
                </a:r>
                <a:r>
                  <a:rPr lang="en-IN" sz="2400">
                    <a:solidFill>
                      <a:srgbClr val="111827"/>
                    </a:solidFill>
                    <a:latin typeface="Cambria Math" panose="02040503050406030204" pitchFamily="18" charset="0"/>
                  </a:rPr>
                  <a:t>$0$</a:t>
                </a:r>
                <a:r>
                  <a:rPr sz="2400" b="0">
                    <a:solidFill>
                      <a:srgbClr val="111827"/>
                    </a:solidFill>
                    <a:latin typeface="Arial"/>
                  </a:rPr>
                  <a:t>, two of </a:t>
                </a:r>
                <a:r>
                  <a:rPr lang="en-IN" sz="2400">
                    <a:solidFill>
                      <a:srgbClr val="111827"/>
                    </a:solidFill>
                    <a:latin typeface="Cambria Math" panose="02040503050406030204" pitchFamily="18" charset="0"/>
                  </a:rPr>
                  <a:t>$a,b,c$</a:t>
                </a:r>
                <a:r>
                  <a:rPr sz="2400" b="0">
                    <a:solidFill>
                      <a:srgbClr val="111827"/>
                    </a:solidFill>
                    <a:latin typeface="Arial"/>
                  </a:rPr>
                  <a:t> are negatives of each other.</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$\sqrt5\approx2.236$</a:t>
                </a:r>
                <a:r>
                  <a:rPr sz="2400" b="0">
                    <a:solidFill>
                      <a:srgbClr val="111827"/>
                    </a:solidFill>
                    <a:latin typeface="Arial"/>
                  </a:rPr>
                  <a:t>, so </a:t>
                </a:r>
                <a:r>
                  <a:rPr lang="en-IN" sz="2400">
                    <a:solidFill>
                      <a:srgbClr val="111827"/>
                    </a:solidFill>
                    <a:latin typeface="Cambria Math" panose="02040503050406030204" pitchFamily="18" charset="0"/>
                  </a:rPr>
                  <a:t>$\lfloor\sqrt5\rfloor=2$</a:t>
                </a:r>
                <a:r>
                  <a:rPr sz="2400" b="0">
                    <a:solidFill>
                      <a:srgbClr val="111827"/>
                    </a:solidFill>
                    <a:latin typeface="Arial"/>
                  </a:rPr>
                  <a:t> (verified numerically with the roots </a:t>
                </a:r>
                <a:r>
                  <a:rPr lang="en-IN" sz="2400">
                    <a:solidFill>
                      <a:srgbClr val="111827"/>
                    </a:solidFill>
                    <a:latin typeface="Cambria Math" panose="02040503050406030204" pitchFamily="18" charset="0"/>
                  </a:rPr>
                  <a:t>$-i,1,i$</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α</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num>
                          <m:den>
                            <m:r>
                              <a:rPr lang="en-IN" sz="2400" i="1">
                                <a:solidFill>
                                  <a:srgbClr val="111827"/>
                                </a:solidFill>
                                <a:latin typeface="Cambria Math" panose="02040503050406030204" pitchFamily="18" charset="0"/>
                              </a:rPr>
                              <m:t>7</m:t>
                            </m:r>
                          </m:den>
                        </m:f>
                      </m:sup>
                    </m:sSup>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20</m:t>
                        </m:r>
                      </m:sup>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e>
                    </m:nary>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 such that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6</m:t>
                        </m:r>
                      </m:sup>
                      <m:e>
                        <m:r>
                          <a:rPr lang="en-IN" sz="2400" i="1">
                            <a:solidFill>
                              <a:srgbClr val="111827"/>
                            </a:solidFill>
                            <a:latin typeface="Cambria Math" panose="02040503050406030204" pitchFamily="18" charset="0"/>
                          </a:rPr>
                          <m:t>𝑓</m:t>
                        </m:r>
                      </m:e>
                    </m:nary>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𝑟</m:t>
                            </m:r>
                          </m:sup>
                        </m:sSup>
                        <m:r>
                          <a:rPr lang="en-IN" sz="2400" i="1">
                            <a:solidFill>
                              <a:srgbClr val="111827"/>
                            </a:solidFill>
                            <a:latin typeface="Cambria Math" panose="02040503050406030204" pitchFamily="18" charset="0"/>
                          </a:rPr>
                          <m:t>𝑥</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e>
                    </m:d>
                  </m:oMath>
                </a14:m>
                <a:r>
                  <a:rPr sz="2400" b="0">
                    <a:solidFill>
                      <a:srgbClr val="111827"/>
                    </a:solidFill>
                    <a:latin typeface="Arial"/>
                  </a:rPr>
                  <a:t>, then the value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is ______.</a:t>
                </a:r>
                <a:endParaRPr sz="2400">
                  <a:solidFill>
                    <a:srgbClr val="111827"/>
                  </a:solidFill>
                </a:endParaRPr>
              </a:p>
            </p:txBody>
          </p:sp>
        </mc:Choice>
        <mc:Fallback>
          <p:sp>
            <p:nvSpPr>
              <p:cNvPr id="4" name="Rounded Rectangle 3"/>
              <p:cNvSpPr/>
              <p:nvPr/>
            </p:nvSpPr>
            <p:spPr>
              <a:xfrm>
                <a:off x="731520" y="1280160"/>
                <a:ext cx="10725912" cy="1745995"/>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$\alpha=e^{\frac{2\pi i}{7}}$</a:t>
                </a:r>
                <a:r>
                  <a:rPr sz="2400" b="0">
                    <a:solidFill>
                      <a:srgbClr val="111827"/>
                    </a:solidFill>
                    <a:latin typeface="Arial"/>
                  </a:rPr>
                  <a:t> and </a:t>
                </a:r>
                <a:r>
                  <a:rPr lang="en-IN" sz="2400">
                    <a:solidFill>
                      <a:srgbClr val="111827"/>
                    </a:solidFill>
                    <a:latin typeface="Cambria Math" panose="02040503050406030204" pitchFamily="18" charset="0"/>
                  </a:rPr>
                  <a:t>$f(x)=A_0+\sum_{k=1}^{20}A_kx^k$</a:t>
                </a:r>
                <a:r>
                  <a:rPr sz="2400" b="0">
                    <a:solidFill>
                      <a:srgbClr val="111827"/>
                    </a:solidFill>
                    <a:latin typeface="Arial"/>
                  </a:rPr>
                  <a:t>, such that </a:t>
                </a:r>
                <a:r>
                  <a:rPr lang="en-IN" sz="2400">
                    <a:solidFill>
                      <a:srgbClr val="111827"/>
                    </a:solidFill>
                    <a:latin typeface="Cambria Math" panose="02040503050406030204" pitchFamily="18" charset="0"/>
                  </a:rPr>
                  <a:t>$\sum_{r=0}^{6}f\left(\alpha^rx\right)=n\left(A_0+A_nx^n+A_{2n}x^{2n}\right)$</a:t>
                </a:r>
                <a:r>
                  <a:rPr sz="2400" b="0">
                    <a:solidFill>
                      <a:srgbClr val="111827"/>
                    </a:solidFill>
                    <a:latin typeface="Arial"/>
                  </a:rPr>
                  <a:t>, then the value of </a:t>
                </a:r>
                <a:r>
                  <a:rPr lang="en-IN" sz="2400">
                    <a:solidFill>
                      <a:srgbClr val="111827"/>
                    </a:solidFill>
                    <a:latin typeface="Cambria Math" panose="02040503050406030204" pitchFamily="18" charset="0"/>
                  </a:rPr>
                  <a:t>$n$</a:t>
                </a:r>
                <a:r>
                  <a:rPr sz="2400" b="0">
                    <a:solidFill>
                      <a:srgbClr val="111827"/>
                    </a:solidFill>
                    <a:latin typeface="Arial"/>
                  </a:rPr>
                  <a:t> is ______.</a:t>
                </a:r>
                <a:endParaRPr sz="2400">
                  <a:solidFill>
                    <a:srgbClr val="111827"/>
                  </a:solidFill>
                </a:endParaRPr>
              </a:p>
            </p:txBody>
          </p:sp>
        </mc:Fallback>
      </mc:AlternateContent>
      <p:sp>
        <p:nvSpPr>
          <p:cNvPr id="5" name="Rectangle 4"/>
          <p:cNvSpPr/>
          <p:nvPr/>
        </p:nvSpPr>
        <p:spPr>
          <a:xfrm>
            <a:off x="731520" y="3254755"/>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Roots of unity filter (sums of powers of seventh roots of unity)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5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nary>
                      <m:naryPr>
                        <m:chr m:val="∑"/>
                        <m:limLoc m:val="undOvr"/>
                        <m:subHide m:val="off"/>
                        <m:supHide m:val="off"/>
                        <m:ctrlPr>
                          <a:rPr lang="en-IN" sz="2400" i="1">
                            <a:solidFill>
                              <a:srgbClr val="78350F"/>
                            </a:solidFill>
                            <a:latin typeface="Cambria Math" panose="02040503050406030204" pitchFamily="18" charset="0"/>
                          </a:rPr>
                        </m:ctrlPr>
                      </m:naryPr>
                      <m:sub>
                        <m:r>
                          <a:rPr lang="en-IN" sz="2400" i="1">
                            <a:solidFill>
                              <a:srgbClr val="78350F"/>
                            </a:solidFill>
                            <a:latin typeface="Cambria Math" panose="02040503050406030204" pitchFamily="18" charset="0"/>
                          </a:rPr>
                          <m:t>𝑟</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sub>
                      <m:sup>
                        <m:r>
                          <a:rPr lang="en-IN" sz="2400" i="1">
                            <a:solidFill>
                              <a:srgbClr val="78350F"/>
                            </a:solidFill>
                            <a:latin typeface="Cambria Math" panose="02040503050406030204" pitchFamily="18" charset="0"/>
                          </a:rPr>
                          <m:t>6</m:t>
                        </m:r>
                      </m:sup>
                      <m:e>
                        <m:sSup>
                          <m:e>
                            <m:r>
                              <a:rPr lang="en-IN" sz="2400" i="1">
                                <a:solidFill>
                                  <a:srgbClr val="78350F"/>
                                </a:solidFill>
                                <a:latin typeface="Cambria Math" panose="02040503050406030204" pitchFamily="18" charset="0"/>
                              </a:rPr>
                              <m:t>α</m:t>
                            </m:r>
                          </m:e>
                          <m:sup>
                            <m:r>
                              <a:rPr lang="en-IN" sz="2400" i="1">
                                <a:solidFill>
                                  <a:srgbClr val="78350F"/>
                                </a:solidFill>
                                <a:latin typeface="Cambria Math" panose="02040503050406030204" pitchFamily="18" charset="0"/>
                              </a:rPr>
                              <m:t>𝑟</m:t>
                            </m:r>
                            <m:r>
                              <a:rPr lang="en-IN" sz="2400" i="1">
                                <a:solidFill>
                                  <a:srgbClr val="78350F"/>
                                </a:solidFill>
                                <a:latin typeface="Cambria Math" panose="02040503050406030204" pitchFamily="18" charset="0"/>
                              </a:rPr>
                              <m:t>𝑘</m:t>
                            </m:r>
                          </m:sup>
                        </m:sSup>
                      </m:e>
                    </m:nary>
                  </m:oMath>
                </a14:m>
                <a:r>
                  <a:rPr sz="2400" b="0">
                    <a:solidFill>
                      <a:srgbClr val="78350F"/>
                    </a:solidFill>
                    <a:latin typeface="Arial"/>
                  </a:rPr>
                  <a:t> is </a:t>
                </a:r>
                <a14:m>
                  <m:oMath xmlns:m="http://schemas.openxmlformats.org/officeDocument/2006/math">
                    <m:r>
                      <a:rPr lang="en-IN" sz="2400" i="1">
                        <a:solidFill>
                          <a:srgbClr val="78350F"/>
                        </a:solidFill>
                        <a:latin typeface="Cambria Math" panose="02040503050406030204" pitchFamily="18" charset="0"/>
                      </a:rPr>
                      <m:t>7</m:t>
                    </m:r>
                  </m:oMath>
                </a14:m>
                <a:r>
                  <a:rPr sz="2400" b="0">
                    <a:solidFill>
                      <a:srgbClr val="78350F"/>
                    </a:solidFill>
                    <a:latin typeface="Arial"/>
                  </a:rPr>
                  <a:t> when </a:t>
                </a:r>
                <a14:m>
                  <m:oMath xmlns:m="http://schemas.openxmlformats.org/officeDocument/2006/math">
                    <m:r>
                      <a:rPr lang="en-IN" sz="2400" i="1">
                        <a:solidFill>
                          <a:srgbClr val="78350F"/>
                        </a:solidFill>
                        <a:latin typeface="Cambria Math" panose="02040503050406030204" pitchFamily="18" charset="0"/>
                      </a:rPr>
                      <m:t>7</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𝑘</m:t>
                    </m:r>
                  </m:oMath>
                </a14:m>
                <a:r>
                  <a:rPr sz="2400" b="0">
                    <a:solidFill>
                      <a:srgbClr val="78350F"/>
                    </a:solidFill>
                    <a:latin typeface="Arial"/>
                  </a:rPr>
                  <a:t> and </a:t>
                </a:r>
                <a14:m>
                  <m:oMath xmlns:m="http://schemas.openxmlformats.org/officeDocument/2006/math">
                    <m:r>
                      <a:rPr lang="en-IN" sz="2400" i="1">
                        <a:solidFill>
                          <a:srgbClr val="78350F"/>
                        </a:solidFill>
                        <a:latin typeface="Cambria Math" panose="02040503050406030204" pitchFamily="18" charset="0"/>
                      </a:rPr>
                      <m:t>0</m:t>
                    </m:r>
                  </m:oMath>
                </a14:m>
                <a:r>
                  <a:rPr sz="2400" b="0">
                    <a:solidFill>
                      <a:srgbClr val="78350F"/>
                    </a:solidFill>
                    <a:latin typeface="Arial"/>
                  </a:rPr>
                  <a:t> otherwise, so only the exponents </a:t>
                </a:r>
                <a14:m>
                  <m:oMath xmlns:m="http://schemas.openxmlformats.org/officeDocument/2006/math">
                    <m:r>
                      <a:rPr lang="en-IN" sz="2400" i="1">
                        <a:solidFill>
                          <a:srgbClr val="78350F"/>
                        </a:solidFill>
                        <a:latin typeface="Cambria Math" panose="02040503050406030204" pitchFamily="18" charset="0"/>
                      </a:rPr>
                      <m:t>0</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7</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14</m:t>
                    </m:r>
                  </m:oMath>
                </a14:m>
                <a:r>
                  <a:rPr sz="2400" b="0">
                    <a:solidFill>
                      <a:srgbClr val="78350F"/>
                    </a:solidFill>
                    <a:latin typeface="Arial"/>
                  </a:rPr>
                  <a:t> survive.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$\sum_{r=0}^{6}\alpha^{rk}$</a:t>
                </a:r>
                <a:r>
                  <a:rPr sz="2400" b="0">
                    <a:solidFill>
                      <a:srgbClr val="78350F"/>
                    </a:solidFill>
                    <a:latin typeface="Arial"/>
                  </a:rPr>
                  <a:t> is </a:t>
                </a:r>
                <a:r>
                  <a:rPr lang="en-IN" sz="2400">
                    <a:solidFill>
                      <a:srgbClr val="78350F"/>
                    </a:solidFill>
                    <a:latin typeface="Cambria Math" panose="02040503050406030204" pitchFamily="18" charset="0"/>
                  </a:rPr>
                  <a:t>$7$</a:t>
                </a:r>
                <a:r>
                  <a:rPr sz="2400" b="0">
                    <a:solidFill>
                      <a:srgbClr val="78350F"/>
                    </a:solidFill>
                    <a:latin typeface="Arial"/>
                  </a:rPr>
                  <a:t> when </a:t>
                </a:r>
                <a:r>
                  <a:rPr lang="en-IN" sz="2400">
                    <a:solidFill>
                      <a:srgbClr val="78350F"/>
                    </a:solidFill>
                    <a:latin typeface="Cambria Math" panose="02040503050406030204" pitchFamily="18" charset="0"/>
                  </a:rPr>
                  <a:t>$7\mid k$</a:t>
                </a:r>
                <a:r>
                  <a:rPr sz="2400" b="0">
                    <a:solidFill>
                      <a:srgbClr val="78350F"/>
                    </a:solidFill>
                    <a:latin typeface="Arial"/>
                  </a:rPr>
                  <a:t> and </a:t>
                </a:r>
                <a:r>
                  <a:rPr lang="en-IN" sz="2400">
                    <a:solidFill>
                      <a:srgbClr val="78350F"/>
                    </a:solidFill>
                    <a:latin typeface="Cambria Math" panose="02040503050406030204" pitchFamily="18" charset="0"/>
                  </a:rPr>
                  <a:t>$0$</a:t>
                </a:r>
                <a:r>
                  <a:rPr sz="2400" b="0">
                    <a:solidFill>
                      <a:srgbClr val="78350F"/>
                    </a:solidFill>
                    <a:latin typeface="Arial"/>
                  </a:rPr>
                  <a:t> otherwise, so only the exponents </a:t>
                </a:r>
                <a:r>
                  <a:rPr lang="en-IN" sz="2400">
                    <a:solidFill>
                      <a:srgbClr val="78350F"/>
                    </a:solidFill>
                    <a:latin typeface="Cambria Math" panose="02040503050406030204" pitchFamily="18" charset="0"/>
                  </a:rPr>
                  <a:t>$0,7,14$</a:t>
                </a:r>
                <a:r>
                  <a:rPr sz="2400" b="0">
                    <a:solidFill>
                      <a:srgbClr val="78350F"/>
                    </a:solidFill>
                    <a:latin typeface="Arial"/>
                  </a:rPr>
                  <a:t> survive.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20</m:t>
                        </m:r>
                      </m:sup>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e>
                    </m:nary>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20</m:t>
                        </m:r>
                      </m:sup>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e>
                    </m:nary>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𝑘</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6</m:t>
                        </m:r>
                      </m:sup>
                      <m:e>
                        <m:r>
                          <a:rPr lang="en-IN" sz="2400" i="1">
                            <a:solidFill>
                              <a:srgbClr val="111827"/>
                            </a:solidFill>
                            <a:latin typeface="Cambria Math" panose="02040503050406030204" pitchFamily="18" charset="0"/>
                          </a:rPr>
                          <m:t>𝑓</m:t>
                        </m:r>
                      </m:e>
                    </m:nary>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𝑟</m:t>
                            </m:r>
                          </m:sup>
                        </m:sSup>
                        <m:r>
                          <a:rPr lang="en-IN" sz="2400" i="1">
                            <a:solidFill>
                              <a:srgbClr val="111827"/>
                            </a:solidFill>
                            <a:latin typeface="Cambria Math" panose="02040503050406030204" pitchFamily="18" charset="0"/>
                          </a:rPr>
                          <m:t>𝑥</m:t>
                        </m:r>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e>
                    </m:d>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6</m:t>
                            </m:r>
                          </m:sup>
                        </m:sSup>
                        <m:r>
                          <a:rPr lang="en-IN" sz="2400" i="1">
                            <a:solidFill>
                              <a:srgbClr val="111827"/>
                            </a:solidFill>
                            <a:latin typeface="Cambria Math" panose="02040503050406030204" pitchFamily="18" charset="0"/>
                          </a:rPr>
                          <m:t>𝑥</m:t>
                        </m:r>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each term: </a:t>
                </a: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20</m:t>
                        </m:r>
                      </m:sup>
                      <m:e>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r>
                                      <a:rPr lang="en-IN" sz="2400" i="1">
                                        <a:solidFill>
                                          <a:srgbClr val="111827"/>
                                        </a:solidFill>
                                        <a:latin typeface="Cambria Math" panose="02040503050406030204" pitchFamily="18" charset="0"/>
                                      </a:rPr>
                                      <m:t>𝑥</m:t>
                                    </m:r>
                                  </m:e>
                                </m:d>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6</m:t>
                                        </m:r>
                                      </m:sup>
                                    </m:sSup>
                                    <m:r>
                                      <a:rPr lang="en-IN" sz="2400" i="1">
                                        <a:solidFill>
                                          <a:srgbClr val="111827"/>
                                        </a:solidFill>
                                        <a:latin typeface="Cambria Math" panose="02040503050406030204" pitchFamily="18" charset="0"/>
                                      </a:rPr>
                                      <m:t>𝑥</m:t>
                                    </m:r>
                                  </m:e>
                                </m:d>
                              </m:e>
                              <m:sup>
                                <m:r>
                                  <a:rPr lang="en-IN" sz="2400" i="1">
                                    <a:solidFill>
                                      <a:srgbClr val="111827"/>
                                    </a:solidFill>
                                    <a:latin typeface="Cambria Math" panose="02040503050406030204" pitchFamily="18" charset="0"/>
                                  </a:rPr>
                                  <m:t>𝑘</m:t>
                                </m:r>
                              </m:sup>
                            </m:sSup>
                          </m:e>
                        </m:d>
                      </m:e>
                    </m:nary>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20</m:t>
                        </m:r>
                      </m:sup>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𝑘</m:t>
                            </m:r>
                          </m:sub>
                        </m:sSub>
                      </m:e>
                    </m:nary>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𝑘</m:t>
                        </m:r>
                      </m:sup>
                    </m:sSup>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2</m:t>
                                    </m:r>
                                  </m:sup>
                                </m:sSup>
                              </m:e>
                            </m:d>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6</m:t>
                                    </m:r>
                                  </m:sup>
                                </m:sSup>
                              </m:e>
                            </m:d>
                          </m:e>
                          <m:sup>
                            <m:r>
                              <a:rPr lang="en-IN" sz="2400" i="1">
                                <a:solidFill>
                                  <a:srgbClr val="111827"/>
                                </a:solidFill>
                                <a:latin typeface="Cambria Math" panose="02040503050406030204" pitchFamily="18" charset="0"/>
                              </a:rPr>
                              <m:t>𝑘</m:t>
                            </m:r>
                          </m:sup>
                        </m:sSup>
                      </m:e>
                    </m:d>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$f(x)=A_0+\sum_{k=1}^{20}A_kx^k=\sum_{k=0}^{20}A_kx^k$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$\sum_{r=0}^{6}f\left(\alpha^rx\right)=f(x)+f(\alpha x)+f\left(\alpha^2x\right)+\cdots+f\left(\alpha^6x\right)$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Expanding each term: </a:t>
                </a:r>
                <a:r>
                  <a:rPr lang="en-IN" sz="2400">
                    <a:solidFill>
                      <a:srgbClr val="111827"/>
                    </a:solidFill>
                    <a:latin typeface="Cambria Math" panose="02040503050406030204" pitchFamily="18" charset="0"/>
                  </a:rPr>
                  <a:t>$=\sum_{k=0}^{20}\left(A_kx^k+A_k(\alpha x)^k+A_k\left(\alpha^2x\right)^k+\cdots+A_k\left(\alpha^6x\right)^k\right)$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$=\sum_{k=0}^{20}A_kx^k\left(1+\alpha^k+\left(\alpha^2\right)^k+\cdots+\left(\alpha^6\right)^k\right)$</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𝑘</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bracket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𝑘</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𝑘</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every term is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and the bracket is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the multiples of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is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7</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14</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14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7</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14</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14</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14:m>
                  <m:oMath xmlns:m="http://schemas.openxmlformats.org/officeDocument/2006/math">
                    <m:r>
                      <a:rPr lang="en-IN" sz="2400" i="1">
                        <a:solidFill>
                          <a:srgbClr val="111827"/>
                        </a:solidFill>
                        <a:latin typeface="Cambria Math" panose="02040503050406030204" pitchFamily="18" charset="0"/>
                      </a:rPr>
                      <m:t>𝑛</m:t>
                    </m:r>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e>
                    </m:d>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7</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14</m:t>
                        </m:r>
                      </m:sub>
                    </m:sSub>
                  </m:oMath>
                </a14:m>
                <a:r>
                  <a:rPr sz="2400" b="0">
                    <a:solidFill>
                      <a:srgbClr val="111827"/>
                    </a:solidFill>
                    <a:latin typeface="Arial"/>
                  </a:rPr>
                  <a:t> match).</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$7\nmid k$</a:t>
                </a:r>
                <a:r>
                  <a:rPr sz="2400" b="0">
                    <a:solidFill>
                      <a:srgbClr val="111827"/>
                    </a:solidFill>
                    <a:latin typeface="Arial"/>
                  </a:rPr>
                  <a:t>, then </a:t>
                </a:r>
                <a:r>
                  <a:rPr lang="en-IN" sz="2400">
                    <a:solidFill>
                      <a:srgbClr val="111827"/>
                    </a:solidFill>
                    <a:latin typeface="Cambria Math" panose="02040503050406030204" pitchFamily="18" charset="0"/>
                  </a:rPr>
                  <a:t>$\alpha^k\ne1$</a:t>
                </a:r>
                <a:r>
                  <a:rPr sz="2400" b="0">
                    <a:solidFill>
                      <a:srgbClr val="111827"/>
                    </a:solidFill>
                    <a:latin typeface="Arial"/>
                  </a:rPr>
                  <a:t> and </a:t>
                </a:r>
                <a:r>
                  <a:rPr lang="en-IN" sz="2400">
                    <a:solidFill>
                      <a:srgbClr val="111827"/>
                    </a:solidFill>
                    <a:latin typeface="Cambria Math" panose="02040503050406030204" pitchFamily="18" charset="0"/>
                  </a:rPr>
                  <a:t>$\alpha^{7k}=1$</a:t>
                </a:r>
                <a:r>
                  <a:rPr sz="2400" b="0">
                    <a:solidFill>
                      <a:srgbClr val="111827"/>
                    </a:solidFill>
                    <a:latin typeface="Arial"/>
                  </a:rPr>
                  <a:t>, so the bracket is </a:t>
                </a:r>
                <a:r>
                  <a:rPr lang="en-IN" sz="2400">
                    <a:solidFill>
                      <a:srgbClr val="111827"/>
                    </a:solidFill>
                    <a:latin typeface="Cambria Math" panose="02040503050406030204" pitchFamily="18" charset="0"/>
                  </a:rPr>
                  <a:t>$\frac{1-\alpha^{7k}}{1-\alpha^k}=0$</a:t>
                </a:r>
                <a:r>
                  <a:rPr sz="2400" b="0">
                    <a:solidFill>
                      <a:srgbClr val="111827"/>
                    </a:solidFill>
                    <a:latin typeface="Arial"/>
                  </a:rPr>
                  <a:t>. If </a:t>
                </a:r>
                <a:r>
                  <a:rPr lang="en-IN" sz="2400">
                    <a:solidFill>
                      <a:srgbClr val="111827"/>
                    </a:solidFill>
                    <a:latin typeface="Cambria Math" panose="02040503050406030204" pitchFamily="18" charset="0"/>
                  </a:rPr>
                  <a:t>$7\mid k$</a:t>
                </a:r>
                <a:r>
                  <a:rPr sz="2400" b="0">
                    <a:solidFill>
                      <a:srgbClr val="111827"/>
                    </a:solidFill>
                    <a:latin typeface="Arial"/>
                  </a:rPr>
                  <a:t>, every term is </a:t>
                </a:r>
                <a:r>
                  <a:rPr lang="en-IN" sz="2400">
                    <a:solidFill>
                      <a:srgbClr val="111827"/>
                    </a:solidFill>
                    <a:latin typeface="Cambria Math" panose="02040503050406030204" pitchFamily="18" charset="0"/>
                  </a:rPr>
                  <a:t>$1$</a:t>
                </a:r>
                <a:r>
                  <a:rPr sz="2400" b="0">
                    <a:solidFill>
                      <a:srgbClr val="111827"/>
                    </a:solidFill>
                    <a:latin typeface="Arial"/>
                  </a:rPr>
                  <a:t> and the bracket is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 </a:t>
                </a:r>
                <a:r>
                  <a:rPr lang="en-IN" sz="2400">
                    <a:solidFill>
                      <a:srgbClr val="111827"/>
                    </a:solidFill>
                    <a:latin typeface="Cambria Math" panose="02040503050406030204" pitchFamily="18" charset="0"/>
                  </a:rPr>
                  <a:t>$0\le k\le20$</a:t>
                </a:r>
                <a:r>
                  <a:rPr sz="2400" b="0">
                    <a:solidFill>
                      <a:srgbClr val="111827"/>
                    </a:solidFill>
                    <a:latin typeface="Arial"/>
                  </a:rPr>
                  <a:t> the multiples of </a:t>
                </a:r>
                <a:r>
                  <a:rPr lang="en-IN" sz="2400">
                    <a:solidFill>
                      <a:srgbClr val="111827"/>
                    </a:solidFill>
                    <a:latin typeface="Cambria Math" panose="02040503050406030204" pitchFamily="18" charset="0"/>
                  </a:rPr>
                  <a:t>$7$</a:t>
                </a:r>
                <a:r>
                  <a:rPr sz="2400" b="0">
                    <a:solidFill>
                      <a:srgbClr val="111827"/>
                    </a:solidFill>
                    <a:latin typeface="Arial"/>
                  </a:rPr>
                  <a:t> are </a:t>
                </a:r>
                <a:r>
                  <a:rPr lang="en-IN" sz="2400">
                    <a:solidFill>
                      <a:srgbClr val="111827"/>
                    </a:solidFill>
                    <a:latin typeface="Cambria Math" panose="02040503050406030204" pitchFamily="18" charset="0"/>
                  </a:rPr>
                  <a:t>$0,7,14$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sum is </a:t>
                </a:r>
                <a:r>
                  <a:rPr lang="en-IN" sz="2400">
                    <a:solidFill>
                      <a:srgbClr val="111827"/>
                    </a:solidFill>
                    <a:latin typeface="Cambria Math" panose="02040503050406030204" pitchFamily="18" charset="0"/>
                  </a:rPr>
                  <a:t>$A_0x^0(7)+A_7x^7(7)+A_{14}x^{14}(7)=7\left[A_0+A_7x^7+A_{14}x^{14}\right]$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Comparing with </a:t>
                </a:r>
                <a:r>
                  <a:rPr lang="en-IN" sz="2400">
                    <a:solidFill>
                      <a:srgbClr val="111827"/>
                    </a:solidFill>
                    <a:latin typeface="Cambria Math" panose="02040503050406030204" pitchFamily="18" charset="0"/>
                  </a:rPr>
                  <a:t>$n\left(A_0+A_nx^n+A_{2n}x^{2n}\right)$</a:t>
                </a:r>
                <a:r>
                  <a:rPr sz="2400" b="0">
                    <a:solidFill>
                      <a:srgbClr val="111827"/>
                    </a:solidFill>
                    <a:latin typeface="Arial"/>
                  </a:rPr>
                  <a:t> gives </a:t>
                </a:r>
                <a:r>
                  <a:rPr lang="en-IN" sz="2400">
                    <a:solidFill>
                      <a:srgbClr val="111827"/>
                    </a:solidFill>
                    <a:latin typeface="Cambria Math" panose="02040503050406030204" pitchFamily="18" charset="0"/>
                  </a:rPr>
                  <a:t>$n=7$</a:t>
                </a:r>
                <a:r>
                  <a:rPr sz="2400" b="0">
                    <a:solidFill>
                      <a:srgbClr val="111827"/>
                    </a:solidFill>
                    <a:latin typeface="Arial"/>
                  </a:rPr>
                  <a:t> (and </a:t>
                </a:r>
                <a:r>
                  <a:rPr lang="en-IN" sz="2400">
                    <a:solidFill>
                      <a:srgbClr val="111827"/>
                    </a:solidFill>
                    <a:latin typeface="Cambria Math" panose="02040503050406030204" pitchFamily="18" charset="0"/>
                  </a:rPr>
                  <a:t>$A_n=A_7$</a:t>
                </a:r>
                <a:r>
                  <a:rPr sz="2400" b="0">
                    <a:solidFill>
                      <a:srgbClr val="111827"/>
                    </a:solidFill>
                    <a:latin typeface="Arial"/>
                  </a:rPr>
                  <a:t>, </a:t>
                </a:r>
                <a:r>
                  <a:rPr lang="en-IN" sz="2400">
                    <a:solidFill>
                      <a:srgbClr val="111827"/>
                    </a:solidFill>
                    <a:latin typeface="Cambria Math" panose="02040503050406030204" pitchFamily="18" charset="0"/>
                  </a:rPr>
                  <a:t>$A_{2n}=A_{14}$</a:t>
                </a:r>
                <a:r>
                  <a:rPr sz="2400" b="0">
                    <a:solidFill>
                      <a:srgbClr val="111827"/>
                    </a:solidFill>
                    <a:latin typeface="Arial"/>
                  </a:rPr>
                  <a:t> match).</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7</a:t>
            </a:r>
            <a:endParaRPr sz="2800">
              <a:solidFill>
                <a:srgbClr val="15803D"/>
              </a:solidFill>
            </a:endParaRPr>
          </a:p>
        </p:txBody>
      </p:sp>
    </p:spTree>
  </p:cSld>
  <p:clrMapOvr>
    <a:masterClrMapping/>
  </p:clrMapOvr>
</p:sld>
</file>

<file path=ppt/slides/slide5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sum is unchanged when </a:t>
                </a:r>
                <a14:m>
                  <m:oMath xmlns:m="http://schemas.openxmlformats.org/officeDocument/2006/math">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α</m:t>
                    </m:r>
                    <m:r>
                      <a:rPr lang="en-IN" sz="2400" i="1">
                        <a:solidFill>
                          <a:srgbClr val="78350F"/>
                        </a:solidFill>
                        <a:latin typeface="Cambria Math" panose="02040503050406030204" pitchFamily="18" charset="0"/>
                      </a:rPr>
                      <m:t>𝑥</m:t>
                    </m:r>
                  </m:oMath>
                </a14:m>
                <a:r>
                  <a:rPr sz="2400" b="0">
                    <a:solidFill>
                      <a:srgbClr val="78350F"/>
                    </a:solidFill>
                    <a:latin typeface="Arial"/>
                  </a:rPr>
                  <a:t>, so each surviving power </a:t>
                </a:r>
                <a14:m>
                  <m:oMath xmlns:m="http://schemas.openxmlformats.org/officeDocument/2006/math">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must satisfy </a:t>
                </a:r>
                <a14:m>
                  <m:oMath xmlns:m="http://schemas.openxmlformats.org/officeDocument/2006/math">
                    <m:sSup>
                      <m:e>
                        <m:r>
                          <a:rPr lang="en-IN" sz="2400" i="1">
                            <a:solidFill>
                              <a:srgbClr val="78350F"/>
                            </a:solidFill>
                            <a:latin typeface="Cambria Math" panose="02040503050406030204" pitchFamily="18" charset="0"/>
                          </a:rPr>
                          <m:t>α</m:t>
                        </m:r>
                      </m:e>
                      <m:sup>
                        <m:r>
                          <a:rPr lang="en-IN" sz="2400" i="1">
                            <a:solidFill>
                              <a:srgbClr val="78350F"/>
                            </a:solidFill>
                            <a:latin typeface="Cambria Math" panose="02040503050406030204" pitchFamily="18" charset="0"/>
                          </a:rPr>
                          <m:t>𝑛</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and the degree bound fixes </a:t>
                </a:r>
                <a14:m>
                  <m:oMath xmlns:m="http://schemas.openxmlformats.org/officeDocument/2006/math">
                    <m:r>
                      <a:rPr lang="en-IN" sz="2400" i="1">
                        <a:solidFill>
                          <a:srgbClr val="78350F"/>
                        </a:solidFill>
                        <a:latin typeface="Cambria Math" panose="02040503050406030204" pitchFamily="18" charset="0"/>
                      </a:rPr>
                      <m:t>𝑛</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sum is unchanged when </a:t>
                </a:r>
                <a:r>
                  <a:rPr lang="en-IN" sz="2400">
                    <a:solidFill>
                      <a:srgbClr val="78350F"/>
                    </a:solidFill>
                    <a:latin typeface="Cambria Math" panose="02040503050406030204" pitchFamily="18" charset="0"/>
                  </a:rPr>
                  <a:t>$x\to\alpha x$</a:t>
                </a:r>
                <a:r>
                  <a:rPr sz="2400" b="0">
                    <a:solidFill>
                      <a:srgbClr val="78350F"/>
                    </a:solidFill>
                    <a:latin typeface="Arial"/>
                  </a:rPr>
                  <a:t>, so each surviving power </a:t>
                </a:r>
                <a:r>
                  <a:rPr lang="en-IN" sz="2400">
                    <a:solidFill>
                      <a:srgbClr val="78350F"/>
                    </a:solidFill>
                    <a:latin typeface="Cambria Math" panose="02040503050406030204" pitchFamily="18" charset="0"/>
                  </a:rPr>
                  <a:t>$x^n$</a:t>
                </a:r>
                <a:r>
                  <a:rPr sz="2400" b="0">
                    <a:solidFill>
                      <a:srgbClr val="78350F"/>
                    </a:solidFill>
                    <a:latin typeface="Arial"/>
                  </a:rPr>
                  <a:t> must satisfy </a:t>
                </a:r>
                <a:r>
                  <a:rPr lang="en-IN" sz="2400">
                    <a:solidFill>
                      <a:srgbClr val="78350F"/>
                    </a:solidFill>
                    <a:latin typeface="Cambria Math" panose="02040503050406030204" pitchFamily="18" charset="0"/>
                  </a:rPr>
                  <a:t>$\alpha^n=1$</a:t>
                </a:r>
                <a:r>
                  <a:rPr sz="2400" b="0">
                    <a:solidFill>
                      <a:srgbClr val="78350F"/>
                    </a:solidFill>
                    <a:latin typeface="Arial"/>
                  </a:rPr>
                  <a:t>, and the degree bound fixes </a:t>
                </a:r>
                <a:r>
                  <a:rPr lang="en-IN" sz="2400">
                    <a:solidFill>
                      <a:srgbClr val="78350F"/>
                    </a:solidFill>
                    <a:latin typeface="Cambria Math" panose="02040503050406030204" pitchFamily="18" charset="0"/>
                  </a:rPr>
                  <a:t>$n$</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6</m:t>
                        </m:r>
                      </m:sup>
                      <m:e>
                        <m:r>
                          <a:rPr lang="en-IN" sz="2400" i="1">
                            <a:solidFill>
                              <a:srgbClr val="111827"/>
                            </a:solidFill>
                            <a:latin typeface="Cambria Math" panose="02040503050406030204" pitchFamily="18" charset="0"/>
                          </a:rPr>
                          <m:t>𝑓</m:t>
                        </m:r>
                      </m:e>
                    </m:nary>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𝑟</m:t>
                        </m:r>
                      </m:sup>
                    </m:sSup>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Replacing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by </a:t>
                </a:r>
                <a14:m>
                  <m:oMath xmlns:m="http://schemas.openxmlformats.org/officeDocument/2006/math">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oMath>
                </a14:m>
                <a:r>
                  <a:rPr sz="2400" b="0">
                    <a:solidFill>
                      <a:srgbClr val="111827"/>
                    </a:solidFill>
                    <a:latin typeface="Arial"/>
                  </a:rPr>
                  <a:t> only shifts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(as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d>
                      <m:dPr>
                        <m:begChr m:val="("/>
                        <m:sepChr m:val=""/>
                        <m:endChr m:val=")"/>
                        <m:grow/>
                        <m:ctrlPr>
                          <a:rPr lang="en-IN" sz="2400" i="1">
                            <a:solidFill>
                              <a:srgbClr val="111827"/>
                            </a:solidFill>
                            <a:latin typeface="Cambria Math" panose="02040503050406030204" pitchFamily="18" charset="0"/>
                          </a:rPr>
                        </m:ctrlPr>
                      </m:dPr>
                      <m:e>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b>
                        </m:sSub>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p>
                        </m:sSup>
                      </m:e>
                    </m:d>
                  </m:oMath>
                </a14:m>
                <a:r>
                  <a:rPr sz="2400" b="0">
                    <a:solidFill>
                      <a:srgbClr val="111827"/>
                    </a:solidFill>
                    <a:latin typeface="Arial"/>
                  </a:rPr>
                  <a:t> with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α</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𝐺</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forces </a:t>
                </a:r>
                <a14:m>
                  <m:oMath xmlns:m="http://schemas.openxmlformats.org/officeDocument/2006/math">
                    <m:sSup>
                      <m:e>
                        <m:r>
                          <a:rPr lang="en-IN" sz="2400" i="1">
                            <a:solidFill>
                              <a:srgbClr val="111827"/>
                            </a:solidFill>
                            <a:latin typeface="Cambria Math" panose="02040503050406030204" pitchFamily="18" charset="0"/>
                          </a:rPr>
                          <m:t>α</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coefficient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b>
                    </m:sSub>
                  </m:oMath>
                </a14:m>
                <a:r>
                  <a:rPr sz="2400" b="0">
                    <a:solidFill>
                      <a:srgbClr val="111827"/>
                    </a:solidFill>
                    <a:latin typeface="Arial"/>
                  </a:rPr>
                  <a:t> exists only for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$G(x)=\sum_{r=0}^{6}f(\alpha^r x)$</a:t>
                </a:r>
                <a:r>
                  <a:rPr sz="2400" b="0">
                    <a:solidFill>
                      <a:srgbClr val="111827"/>
                    </a:solidFill>
                    <a:latin typeface="Arial"/>
                  </a:rPr>
                  <a:t>. Replacing </a:t>
                </a:r>
                <a:r>
                  <a:rPr lang="en-IN" sz="2400">
                    <a:solidFill>
                      <a:srgbClr val="111827"/>
                    </a:solidFill>
                    <a:latin typeface="Cambria Math" panose="02040503050406030204" pitchFamily="18" charset="0"/>
                  </a:rPr>
                  <a:t>$x$</a:t>
                </a:r>
                <a:r>
                  <a:rPr sz="2400" b="0">
                    <a:solidFill>
                      <a:srgbClr val="111827"/>
                    </a:solidFill>
                    <a:latin typeface="Arial"/>
                  </a:rPr>
                  <a:t> by </a:t>
                </a:r>
                <a:r>
                  <a:rPr lang="en-IN" sz="2400">
                    <a:solidFill>
                      <a:srgbClr val="111827"/>
                    </a:solidFill>
                    <a:latin typeface="Cambria Math" panose="02040503050406030204" pitchFamily="18" charset="0"/>
                  </a:rPr>
                  <a:t>$\alpha x$</a:t>
                </a:r>
                <a:r>
                  <a:rPr sz="2400" b="0">
                    <a:solidFill>
                      <a:srgbClr val="111827"/>
                    </a:solidFill>
                    <a:latin typeface="Arial"/>
                  </a:rPr>
                  <a:t> only shifts </a:t>
                </a:r>
                <a:r>
                  <a:rPr lang="en-IN" sz="2400">
                    <a:solidFill>
                      <a:srgbClr val="111827"/>
                    </a:solidFill>
                    <a:latin typeface="Cambria Math" panose="02040503050406030204" pitchFamily="18" charset="0"/>
                  </a:rPr>
                  <a:t>$r\to r+1$</a:t>
                </a:r>
                <a:r>
                  <a:rPr sz="2400" b="0">
                    <a:solidFill>
                      <a:srgbClr val="111827"/>
                    </a:solidFill>
                    <a:latin typeface="Arial"/>
                  </a:rPr>
                  <a:t> (as </a:t>
                </a:r>
                <a:r>
                  <a:rPr lang="en-IN" sz="2400">
                    <a:solidFill>
                      <a:srgbClr val="111827"/>
                    </a:solidFill>
                    <a:latin typeface="Cambria Math" panose="02040503050406030204" pitchFamily="18" charset="0"/>
                  </a:rPr>
                  <a:t>$\alpha^7=1$</a:t>
                </a:r>
                <a:r>
                  <a:rPr sz="2400" b="0">
                    <a:solidFill>
                      <a:srgbClr val="111827"/>
                    </a:solidFill>
                    <a:latin typeface="Arial"/>
                  </a:rPr>
                  <a:t>), so </a:t>
                </a:r>
                <a:r>
                  <a:rPr lang="en-IN" sz="2400">
                    <a:solidFill>
                      <a:srgbClr val="111827"/>
                    </a:solidFill>
                    <a:latin typeface="Cambria Math" panose="02040503050406030204" pitchFamily="18" charset="0"/>
                  </a:rPr>
                  <a:t>$G(\alpha x)=G(x)$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$G(x)=n\left(A_0+A_nx^n+A_{2n}x^{2n}\right)$</a:t>
                </a:r>
                <a:r>
                  <a:rPr sz="2400" b="0">
                    <a:solidFill>
                      <a:srgbClr val="111827"/>
                    </a:solidFill>
                    <a:latin typeface="Arial"/>
                  </a:rPr>
                  <a:t> with </a:t>
                </a:r>
                <a:r>
                  <a:rPr lang="en-IN" sz="2400">
                    <a:solidFill>
                      <a:srgbClr val="111827"/>
                    </a:solidFill>
                    <a:latin typeface="Cambria Math" panose="02040503050406030204" pitchFamily="18" charset="0"/>
                  </a:rPr>
                  <a:t>$A_n\neq0$</a:t>
                </a:r>
                <a:r>
                  <a:rPr sz="2400" b="0">
                    <a:solidFill>
                      <a:srgbClr val="111827"/>
                    </a:solidFill>
                    <a:latin typeface="Arial"/>
                  </a:rPr>
                  <a:t>, then </a:t>
                </a:r>
                <a:r>
                  <a:rPr lang="en-IN" sz="2400">
                    <a:solidFill>
                      <a:srgbClr val="111827"/>
                    </a:solidFill>
                    <a:latin typeface="Cambria Math" panose="02040503050406030204" pitchFamily="18" charset="0"/>
                  </a:rPr>
                  <a:t>$G(\alpha x)=G(x)$</a:t>
                </a:r>
                <a:r>
                  <a:rPr sz="2400" b="0">
                    <a:solidFill>
                      <a:srgbClr val="111827"/>
                    </a:solidFill>
                    <a:latin typeface="Arial"/>
                  </a:rPr>
                  <a:t> forces </a:t>
                </a:r>
                <a:r>
                  <a:rPr lang="en-IN" sz="2400">
                    <a:solidFill>
                      <a:srgbClr val="111827"/>
                    </a:solidFill>
                    <a:latin typeface="Cambria Math" panose="02040503050406030204" pitchFamily="18" charset="0"/>
                  </a:rPr>
                  <a:t>$\alpha^n=1$</a:t>
                </a:r>
                <a:r>
                  <a:rPr sz="2400" b="0">
                    <a:solidFill>
                      <a:srgbClr val="111827"/>
                    </a:solidFill>
                    <a:latin typeface="Arial"/>
                  </a:rPr>
                  <a:t>, so </a:t>
                </a:r>
                <a:r>
                  <a:rPr lang="en-IN" sz="2400">
                    <a:solidFill>
                      <a:srgbClr val="111827"/>
                    </a:solidFill>
                    <a:latin typeface="Cambria Math" panose="02040503050406030204" pitchFamily="18" charset="0"/>
                  </a:rPr>
                  <a:t>$7\mid n$</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coefficient </a:t>
                </a:r>
                <a:r>
                  <a:rPr lang="en-IN" sz="2400">
                    <a:solidFill>
                      <a:srgbClr val="111827"/>
                    </a:solidFill>
                    <a:latin typeface="Cambria Math" panose="02040503050406030204" pitchFamily="18" charset="0"/>
                  </a:rPr>
                  <a:t>$A_{2n}$</a:t>
                </a:r>
                <a:r>
                  <a:rPr sz="2400" b="0">
                    <a:solidFill>
                      <a:srgbClr val="111827"/>
                    </a:solidFill>
                    <a:latin typeface="Arial"/>
                  </a:rPr>
                  <a:t> exists only for </a:t>
                </a:r>
                <a:r>
                  <a:rPr lang="en-IN" sz="2400">
                    <a:solidFill>
                      <a:srgbClr val="111827"/>
                    </a:solidFill>
                    <a:latin typeface="Cambria Math" panose="02040503050406030204" pitchFamily="18" charset="0"/>
                  </a:rPr>
                  <a:t>$2n\le20$</a:t>
                </a:r>
                <a:r>
                  <a:rPr sz="2400" b="0">
                    <a:solidFill>
                      <a:srgbClr val="111827"/>
                    </a:solidFill>
                    <a:latin typeface="Arial"/>
                  </a:rPr>
                  <a:t>, so </a:t>
                </a:r>
                <a:r>
                  <a:rPr lang="en-IN" sz="2400">
                    <a:solidFill>
                      <a:srgbClr val="111827"/>
                    </a:solidFill>
                    <a:latin typeface="Cambria Math" panose="02040503050406030204" pitchFamily="18" charset="0"/>
                  </a:rPr>
                  <a:t>$n\le10$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5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only positive multiple of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up to </a:t>
                </a:r>
                <a14:m>
                  <m:oMath xmlns:m="http://schemas.openxmlformats.org/officeDocument/2006/math">
                    <m:r>
                      <a:rPr lang="en-IN" sz="2400" i="1">
                        <a:solidFill>
                          <a:srgbClr val="111827"/>
                        </a:solidFill>
                        <a:latin typeface="Cambria Math" panose="02040503050406030204" pitchFamily="18" charset="0"/>
                      </a:rPr>
                      <m:t>10</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7</m:t>
                        </m:r>
                      </m:sub>
                    </m:sSub>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𝑛</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14</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Consistency: the constant term of </a:t>
                </a:r>
                <a14:m>
                  <m:oMath xmlns:m="http://schemas.openxmlformats.org/officeDocument/2006/math">
                    <m:r>
                      <a:rPr lang="en-IN" sz="2400" i="1">
                        <a:solidFill>
                          <a:srgbClr val="111827"/>
                        </a:solidFill>
                        <a:latin typeface="Cambria Math" panose="02040503050406030204" pitchFamily="18" charset="0"/>
                      </a:rPr>
                      <m:t>𝐺</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7</m:t>
                    </m:r>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(each of the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terms contributes </a:t>
                </a:r>
                <a14:m>
                  <m:oMath xmlns:m="http://schemas.openxmlformats.org/officeDocument/2006/math">
                    <m:sSub>
                      <m:e>
                        <m:r>
                          <a:rPr lang="en-IN" sz="2400" i="1">
                            <a:solidFill>
                              <a:srgbClr val="111827"/>
                            </a:solidFill>
                            <a:latin typeface="Cambria Math" panose="02040503050406030204" pitchFamily="18" charset="0"/>
                          </a:rPr>
                          <m:t>𝐴</m:t>
                        </m:r>
                      </m:e>
                      <m:sub>
                        <m:r>
                          <a:rPr lang="en-IN" sz="2400" i="1">
                            <a:solidFill>
                              <a:srgbClr val="111827"/>
                            </a:solidFill>
                            <a:latin typeface="Cambria Math" panose="02040503050406030204" pitchFamily="18" charset="0"/>
                          </a:rPr>
                          <m:t>0</m:t>
                        </m:r>
                      </m:sub>
                    </m:sSub>
                  </m:oMath>
                </a14:m>
                <a:r>
                  <a:rPr sz="2400" b="0">
                    <a:solidFill>
                      <a:srgbClr val="111827"/>
                    </a:solidFill>
                    <a:latin typeface="Arial"/>
                  </a:rPr>
                  <a:t>), so the prefactor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as well.</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only positive multiple of </a:t>
                </a:r>
                <a:r>
                  <a:rPr lang="en-IN" sz="2400">
                    <a:solidFill>
                      <a:srgbClr val="111827"/>
                    </a:solidFill>
                    <a:latin typeface="Cambria Math" panose="02040503050406030204" pitchFamily="18" charset="0"/>
                  </a:rPr>
                  <a:t>$7$</a:t>
                </a:r>
                <a:r>
                  <a:rPr sz="2400" b="0">
                    <a:solidFill>
                      <a:srgbClr val="111827"/>
                    </a:solidFill>
                    <a:latin typeface="Arial"/>
                  </a:rPr>
                  <a:t> up to </a:t>
                </a:r>
                <a:r>
                  <a:rPr lang="en-IN" sz="2400">
                    <a:solidFill>
                      <a:srgbClr val="111827"/>
                    </a:solidFill>
                    <a:latin typeface="Cambria Math" panose="02040503050406030204" pitchFamily="18" charset="0"/>
                  </a:rPr>
                  <a:t>$10$</a:t>
                </a:r>
                <a:r>
                  <a:rPr sz="2400" b="0">
                    <a:solidFill>
                      <a:srgbClr val="111827"/>
                    </a:solidFill>
                    <a:latin typeface="Arial"/>
                  </a:rPr>
                  <a:t> is </a:t>
                </a:r>
                <a:r>
                  <a:rPr lang="en-IN" sz="2400">
                    <a:solidFill>
                      <a:srgbClr val="111827"/>
                    </a:solidFill>
                    <a:latin typeface="Cambria Math" panose="02040503050406030204" pitchFamily="18" charset="0"/>
                  </a:rPr>
                  <a:t>$7$</a:t>
                </a:r>
                <a:r>
                  <a:rPr sz="2400" b="0">
                    <a:solidFill>
                      <a:srgbClr val="111827"/>
                    </a:solidFill>
                    <a:latin typeface="Arial"/>
                  </a:rPr>
                  <a:t>, so </a:t>
                </a:r>
                <a:r>
                  <a:rPr lang="en-IN" sz="2400">
                    <a:solidFill>
                      <a:srgbClr val="111827"/>
                    </a:solidFill>
                    <a:latin typeface="Cambria Math" panose="02040503050406030204" pitchFamily="18" charset="0"/>
                  </a:rPr>
                  <a:t>$n=7$</a:t>
                </a:r>
                <a:r>
                  <a:rPr sz="2400" b="0">
                    <a:solidFill>
                      <a:srgbClr val="111827"/>
                    </a:solidFill>
                    <a:latin typeface="Arial"/>
                  </a:rPr>
                  <a:t> (then </a:t>
                </a:r>
                <a:r>
                  <a:rPr lang="en-IN" sz="2400">
                    <a:solidFill>
                      <a:srgbClr val="111827"/>
                    </a:solidFill>
                    <a:latin typeface="Cambria Math" panose="02040503050406030204" pitchFamily="18" charset="0"/>
                  </a:rPr>
                  <a:t>$A_n=A_7$</a:t>
                </a:r>
                <a:r>
                  <a:rPr sz="2400" b="0">
                    <a:solidFill>
                      <a:srgbClr val="111827"/>
                    </a:solidFill>
                    <a:latin typeface="Arial"/>
                  </a:rPr>
                  <a:t>, </a:t>
                </a:r>
                <a:r>
                  <a:rPr lang="en-IN" sz="2400">
                    <a:solidFill>
                      <a:srgbClr val="111827"/>
                    </a:solidFill>
                    <a:latin typeface="Cambria Math" panose="02040503050406030204" pitchFamily="18" charset="0"/>
                  </a:rPr>
                  <a:t>$A_{2n}=A_{14}$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Consistency: the constant term of </a:t>
                </a:r>
                <a:r>
                  <a:rPr lang="en-IN" sz="2400">
                    <a:solidFill>
                      <a:srgbClr val="111827"/>
                    </a:solidFill>
                    <a:latin typeface="Cambria Math" panose="02040503050406030204" pitchFamily="18" charset="0"/>
                  </a:rPr>
                  <a:t>$G$</a:t>
                </a:r>
                <a:r>
                  <a:rPr sz="2400" b="0">
                    <a:solidFill>
                      <a:srgbClr val="111827"/>
                    </a:solidFill>
                    <a:latin typeface="Arial"/>
                  </a:rPr>
                  <a:t> is </a:t>
                </a:r>
                <a:r>
                  <a:rPr lang="en-IN" sz="2400">
                    <a:solidFill>
                      <a:srgbClr val="111827"/>
                    </a:solidFill>
                    <a:latin typeface="Cambria Math" panose="02040503050406030204" pitchFamily="18" charset="0"/>
                  </a:rPr>
                  <a:t>$7A_0$</a:t>
                </a:r>
                <a:r>
                  <a:rPr sz="2400" b="0">
                    <a:solidFill>
                      <a:srgbClr val="111827"/>
                    </a:solidFill>
                    <a:latin typeface="Arial"/>
                  </a:rPr>
                  <a:t> (each of the </a:t>
                </a:r>
                <a:r>
                  <a:rPr lang="en-IN" sz="2400">
                    <a:solidFill>
                      <a:srgbClr val="111827"/>
                    </a:solidFill>
                    <a:latin typeface="Cambria Math" panose="02040503050406030204" pitchFamily="18" charset="0"/>
                  </a:rPr>
                  <a:t>$7$</a:t>
                </a:r>
                <a:r>
                  <a:rPr sz="2400" b="0">
                    <a:solidFill>
                      <a:srgbClr val="111827"/>
                    </a:solidFill>
                    <a:latin typeface="Arial"/>
                  </a:rPr>
                  <a:t> terms contributes </a:t>
                </a:r>
                <a:r>
                  <a:rPr lang="en-IN" sz="2400">
                    <a:solidFill>
                      <a:srgbClr val="111827"/>
                    </a:solidFill>
                    <a:latin typeface="Cambria Math" panose="02040503050406030204" pitchFamily="18" charset="0"/>
                  </a:rPr>
                  <a:t>$A_0$</a:t>
                </a:r>
                <a:r>
                  <a:rPr sz="2400" b="0">
                    <a:solidFill>
                      <a:srgbClr val="111827"/>
                    </a:solidFill>
                    <a:latin typeface="Arial"/>
                  </a:rPr>
                  <a:t>), so the prefactor </a:t>
                </a:r>
                <a:r>
                  <a:rPr lang="en-IN" sz="2400">
                    <a:solidFill>
                      <a:srgbClr val="111827"/>
                    </a:solidFill>
                    <a:latin typeface="Cambria Math" panose="02040503050406030204" pitchFamily="18" charset="0"/>
                  </a:rPr>
                  <a:t>$n=7$</a:t>
                </a:r>
                <a:r>
                  <a:rPr sz="2400" b="0">
                    <a:solidFill>
                      <a:srgbClr val="111827"/>
                    </a:solidFill>
                    <a:latin typeface="Arial"/>
                  </a:rPr>
                  <a:t> as well.</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7</a:t>
            </a:r>
            <a:endParaRPr sz="2800">
              <a:solidFill>
                <a:srgbClr val="15803D"/>
              </a:solidFill>
            </a:endParaRPr>
          </a:p>
        </p:txBody>
      </p:sp>
    </p:spTree>
  </p:cSld>
  <p:clrMapOvr>
    <a:masterClrMapping/>
  </p:clrMapOvr>
</p:sld>
</file>

<file path=ppt/slides/slide6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99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Roots-of-unity filter: with </a:t>
                </a:r>
                <a14:m>
                  <m:oMath xmlns:m="http://schemas.openxmlformats.org/officeDocument/2006/math">
                    <m:r>
                      <a:rPr lang="en-IN" sz="2400" i="1">
                        <a:solidFill>
                          <a:srgbClr val="111827"/>
                        </a:solidFill>
                        <a:latin typeface="Cambria Math" panose="02040503050406030204" pitchFamily="18" charset="0"/>
                      </a:rPr>
                      <m:t>ω</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π</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sup>
                    </m:sSup>
                  </m:oMath>
                </a14:m>
                <a:r>
                  <a:rPr sz="2400" b="0">
                    <a:solidFill>
                      <a:srgbClr val="111827"/>
                    </a:solidFill>
                    <a:latin typeface="Arial"/>
                  </a:rPr>
                  <a: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𝑟</m:t>
                            </m:r>
                            <m:r>
                              <a:rPr lang="en-IN" sz="2400" i="1">
                                <a:solidFill>
                                  <a:srgbClr val="111827"/>
                                </a:solidFill>
                                <a:latin typeface="Cambria Math" panose="02040503050406030204" pitchFamily="18" charset="0"/>
                              </a:rPr>
                              <m:t>𝑘</m:t>
                            </m:r>
                          </m:sup>
                        </m:sSup>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𝑚</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otherwise (checked for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𝑚</m:t>
                        </m:r>
                      </m:den>
                    </m:f>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r>
                          <a:rPr lang="en-IN" sz="2400" i="1">
                            <a:solidFill>
                              <a:srgbClr val="111827"/>
                            </a:solidFill>
                            <a:latin typeface="Cambria Math" panose="02040503050406030204" pitchFamily="18" charset="0"/>
                          </a:rPr>
                          <m:t>𝑓</m:t>
                        </m:r>
                      </m:e>
                    </m:nary>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ω</m:t>
                            </m:r>
                          </m:e>
                          <m:sup>
                            <m:r>
                              <a:rPr lang="en-IN" sz="2400" i="1">
                                <a:solidFill>
                                  <a:srgbClr val="111827"/>
                                </a:solidFill>
                                <a:latin typeface="Cambria Math" panose="02040503050406030204" pitchFamily="18" charset="0"/>
                              </a:rPr>
                              <m:t>𝑟</m:t>
                            </m:r>
                          </m:sup>
                        </m:sSup>
                        <m:r>
                          <a:rPr lang="en-IN" sz="2400" i="1">
                            <a:solidFill>
                              <a:srgbClr val="111827"/>
                            </a:solidFill>
                            <a:latin typeface="Cambria Math" panose="02040503050406030204" pitchFamily="18" charset="0"/>
                          </a:rPr>
                          <m:t>𝑥</m:t>
                        </m:r>
                      </m:e>
                    </m:d>
                  </m:oMath>
                </a14:m>
                <a:r>
                  <a:rPr sz="2400" b="0">
                    <a:solidFill>
                      <a:srgbClr val="111827"/>
                    </a:solidFill>
                    <a:latin typeface="Arial"/>
                  </a:rPr>
                  <a:t> keeps exactly the terms of </a:t>
                </a:r>
                <a14:m>
                  <m:oMath xmlns:m="http://schemas.openxmlformats.org/officeDocument/2006/math">
                    <m:r>
                      <a:rPr lang="en-IN" sz="2400" i="1">
                        <a:solidFill>
                          <a:srgbClr val="111827"/>
                        </a:solidFill>
                        <a:latin typeface="Cambria Math" panose="02040503050406030204" pitchFamily="18" charset="0"/>
                      </a:rPr>
                      <m:t>𝑓</m:t>
                    </m:r>
                  </m:oMath>
                </a14:m>
                <a:r>
                  <a:rPr sz="2400" b="0">
                    <a:solidFill>
                      <a:srgbClr val="111827"/>
                    </a:solidFill>
                    <a:latin typeface="Arial"/>
                  </a:rPr>
                  <a:t> whose exponent is a multiple of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polynomial of degree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the surviving exponents are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(that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20</m:t>
                            </m:r>
                          </m:num>
                          <m:den>
                            <m:r>
                              <a:rPr lang="en-IN" sz="2400" i="1">
                                <a:solidFill>
                                  <a:srgbClr val="111827"/>
                                </a:solidFill>
                                <a:latin typeface="Cambria Math" panose="02040503050406030204" pitchFamily="18" charset="0"/>
                              </a:rPr>
                              <m:t>7</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terms).</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Roots-of-unity filter: with </a:t>
                </a:r>
                <a:r>
                  <a:rPr lang="en-IN" sz="2400">
                    <a:solidFill>
                      <a:srgbClr val="111827"/>
                    </a:solidFill>
                    <a:latin typeface="Cambria Math" panose="02040503050406030204" pitchFamily="18" charset="0"/>
                  </a:rPr>
                  <a:t>$\omega=e^{2\pi i/m}$</a:t>
                </a:r>
                <a:r>
                  <a:rPr sz="2400" b="0">
                    <a:solidFill>
                      <a:srgbClr val="111827"/>
                    </a:solidFill>
                    <a:latin typeface="Arial"/>
                  </a:rPr>
                  <a:t>, </a:t>
                </a:r>
                <a:r>
                  <a:rPr lang="en-IN" sz="2400">
                    <a:solidFill>
                      <a:srgbClr val="111827"/>
                    </a:solidFill>
                    <a:latin typeface="Cambria Math" panose="02040503050406030204" pitchFamily="18" charset="0"/>
                  </a:rPr>
                  <a:t>$\sum_{r=0}^{m-1}\omega^{rk}=m$</a:t>
                </a:r>
                <a:r>
                  <a:rPr sz="2400" b="0">
                    <a:solidFill>
                      <a:srgbClr val="111827"/>
                    </a:solidFill>
                    <a:latin typeface="Arial"/>
                  </a:rPr>
                  <a:t> if </a:t>
                </a:r>
                <a:r>
                  <a:rPr lang="en-IN" sz="2400">
                    <a:solidFill>
                      <a:srgbClr val="111827"/>
                    </a:solidFill>
                    <a:latin typeface="Cambria Math" panose="02040503050406030204" pitchFamily="18" charset="0"/>
                  </a:rPr>
                  <a:t>$m\mid k$</a:t>
                </a:r>
                <a:r>
                  <a:rPr sz="2400" b="0">
                    <a:solidFill>
                      <a:srgbClr val="111827"/>
                    </a:solidFill>
                    <a:latin typeface="Arial"/>
                  </a:rPr>
                  <a:t> and </a:t>
                </a:r>
                <a:r>
                  <a:rPr lang="en-IN" sz="2400">
                    <a:solidFill>
                      <a:srgbClr val="111827"/>
                    </a:solidFill>
                    <a:latin typeface="Cambria Math" panose="02040503050406030204" pitchFamily="18" charset="0"/>
                  </a:rPr>
                  <a:t>$0$</a:t>
                </a:r>
                <a:r>
                  <a:rPr sz="2400" b="0">
                    <a:solidFill>
                      <a:srgbClr val="111827"/>
                    </a:solidFill>
                    <a:latin typeface="Arial"/>
                  </a:rPr>
                  <a:t> otherwise (checked for </a:t>
                </a:r>
                <a:r>
                  <a:rPr lang="en-IN" sz="2400">
                    <a:solidFill>
                      <a:srgbClr val="111827"/>
                    </a:solidFill>
                    <a:latin typeface="Cambria Math" panose="02040503050406030204" pitchFamily="18" charset="0"/>
                  </a:rPr>
                  <a:t>$m=7$</a:t>
                </a:r>
                <a:r>
                  <a:rPr sz="2400" b="0">
                    <a:solidFill>
                      <a:srgbClr val="111827"/>
                    </a:solidFill>
                    <a:latin typeface="Arial"/>
                  </a:rPr>
                  <a:t>, </a:t>
                </a:r>
                <a:r>
                  <a:rPr lang="en-IN" sz="2400">
                    <a:solidFill>
                      <a:srgbClr val="111827"/>
                    </a:solidFill>
                    <a:latin typeface="Cambria Math" panose="02040503050406030204" pitchFamily="18" charset="0"/>
                  </a:rPr>
                  <a:t>$k=0..14$</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$\frac1m\sum_{r=0}^{m-1}f\left(\omega^rx\right)$</a:t>
                </a:r>
                <a:r>
                  <a:rPr sz="2400" b="0">
                    <a:solidFill>
                      <a:srgbClr val="111827"/>
                    </a:solidFill>
                    <a:latin typeface="Arial"/>
                  </a:rPr>
                  <a:t> keeps exactly the terms of </a:t>
                </a:r>
                <a:r>
                  <a:rPr lang="en-IN" sz="2400">
                    <a:solidFill>
                      <a:srgbClr val="111827"/>
                    </a:solidFill>
                    <a:latin typeface="Cambria Math" panose="02040503050406030204" pitchFamily="18" charset="0"/>
                  </a:rPr>
                  <a:t>$f$</a:t>
                </a:r>
                <a:r>
                  <a:rPr sz="2400" b="0">
                    <a:solidFill>
                      <a:srgbClr val="111827"/>
                    </a:solidFill>
                    <a:latin typeface="Arial"/>
                  </a:rPr>
                  <a:t> whose exponent is a multiple of </a:t>
                </a:r>
                <a:r>
                  <a:rPr lang="en-IN" sz="2400">
                    <a:solidFill>
                      <a:srgbClr val="111827"/>
                    </a:solidFill>
                    <a:latin typeface="Cambria Math" panose="02040503050406030204" pitchFamily="18" charset="0"/>
                  </a:rPr>
                  <a:t>$m$</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 polynomial of degree </a:t>
                </a:r>
                <a:r>
                  <a:rPr lang="en-IN" sz="2400">
                    <a:solidFill>
                      <a:srgbClr val="111827"/>
                    </a:solidFill>
                    <a:latin typeface="Cambria Math" panose="02040503050406030204" pitchFamily="18" charset="0"/>
                  </a:rPr>
                  <a:t>$20$</a:t>
                </a:r>
                <a:r>
                  <a:rPr sz="2400" b="0">
                    <a:solidFill>
                      <a:srgbClr val="111827"/>
                    </a:solidFill>
                    <a:latin typeface="Arial"/>
                  </a:rPr>
                  <a:t> and </a:t>
                </a:r>
                <a:r>
                  <a:rPr lang="en-IN" sz="2400">
                    <a:solidFill>
                      <a:srgbClr val="111827"/>
                    </a:solidFill>
                    <a:latin typeface="Cambria Math" panose="02040503050406030204" pitchFamily="18" charset="0"/>
                  </a:rPr>
                  <a:t>$m=7$</a:t>
                </a:r>
                <a:r>
                  <a:rPr sz="2400" b="0">
                    <a:solidFill>
                      <a:srgbClr val="111827"/>
                    </a:solidFill>
                    <a:latin typeface="Arial"/>
                  </a:rPr>
                  <a:t> the surviving exponents are </a:t>
                </a:r>
                <a:r>
                  <a:rPr lang="en-IN" sz="2400">
                    <a:solidFill>
                      <a:srgbClr val="111827"/>
                    </a:solidFill>
                    <a:latin typeface="Cambria Math" panose="02040503050406030204" pitchFamily="18" charset="0"/>
                  </a:rPr>
                  <a:t>$0,7,14$</a:t>
                </a:r>
                <a:r>
                  <a:rPr sz="2400" b="0">
                    <a:solidFill>
                      <a:srgbClr val="111827"/>
                    </a:solidFill>
                    <a:latin typeface="Arial"/>
                  </a:rPr>
                  <a:t> (that is </a:t>
                </a:r>
                <a:r>
                  <a:rPr lang="en-IN" sz="2400">
                    <a:solidFill>
                      <a:srgbClr val="111827"/>
                    </a:solidFill>
                    <a:latin typeface="Cambria Math" panose="02040503050406030204" pitchFamily="18" charset="0"/>
                  </a:rPr>
                  <a:t>$\left\lfloor\frac{20}{7}\right\rfloor+1=3$</a:t>
                </a:r>
                <a:r>
                  <a:rPr sz="2400" b="0">
                    <a:solidFill>
                      <a:srgbClr val="111827"/>
                    </a:solidFill>
                    <a:latin typeface="Arial"/>
                  </a:rPr>
                  <a:t> terms).</a:t>
                </a:r>
                <a:endParaRPr sz="2400">
                  <a:solidFill>
                    <a:srgbClr val="111827"/>
                  </a:solidFill>
                </a:endParaRPr>
              </a:p>
            </p:txBody>
          </p:sp>
        </mc:Fallback>
      </mc:AlternateContent>
    </p:spTree>
  </p:cSld>
  <p:clrMapOvr>
    <a:masterClrMapping/>
  </p:clrMapOvr>
</p:sld>
</file>

<file path=ppt/slides/slide6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All the face cards from a pack of </a:t>
                </a:r>
                <a14:m>
                  <m:oMath xmlns:m="http://schemas.openxmlformats.org/officeDocument/2006/math">
                    <m:r>
                      <a:rPr lang="en-IN" sz="2400" i="1">
                        <a:solidFill>
                          <a:srgbClr val="111827"/>
                        </a:solidFill>
                        <a:latin typeface="Cambria Math" panose="02040503050406030204" pitchFamily="18" charset="0"/>
                      </a:rPr>
                      <m:t>52</m:t>
                    </m:r>
                  </m:oMath>
                </a14:m>
                <a:r>
                  <a:rPr sz="2400" b="0">
                    <a:solidFill>
                      <a:srgbClr val="111827"/>
                    </a:solidFill>
                    <a:latin typeface="Arial"/>
                  </a:rPr>
                  <a:t> playing cards are removed. From the remaining pack half of the cards are randomly removed without looking at them and then randomly drawn two cards simultaneously from the remaining. If the probability that two cards drawn are both aces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38</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e>
                        </m:d>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find </a:t>
                </a:r>
                <a14:m>
                  <m:oMath xmlns:m="http://schemas.openxmlformats.org/officeDocument/2006/math">
                    <m:r>
                      <a:rPr lang="en-IN" sz="2400" i="1">
                        <a:solidFill>
                          <a:srgbClr val="111827"/>
                        </a:solidFill>
                        <a:latin typeface="Cambria Math" panose="02040503050406030204" pitchFamily="18" charset="0"/>
                      </a:rPr>
                      <m:t>𝑝</m:t>
                    </m:r>
                  </m:oMath>
                </a14:m>
                <a:r>
                  <a:rPr sz="2400" b="0">
                    <a:solidFill>
                      <a:srgbClr val="111827"/>
                    </a:solidFill>
                    <a:latin typeface="Arial"/>
                  </a:rPr>
                  <a:t> ______.</a:t>
                </a:r>
                <a:endParaRPr sz="2400">
                  <a:solidFill>
                    <a:srgbClr val="111827"/>
                  </a:solidFill>
                </a:endParaRPr>
              </a:p>
            </p:txBody>
          </p:sp>
        </mc:Choice>
        <mc:Fallback>
          <p:sp>
            <p:nvSpPr>
              <p:cNvPr id="4" name="Rounded Rectangle 3"/>
              <p:cNvSpPr/>
              <p:nvPr/>
            </p:nvSpPr>
            <p:spPr>
              <a:xfrm>
                <a:off x="731520" y="1280160"/>
                <a:ext cx="10725912" cy="2861564"/>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All the face cards from a pack of </a:t>
                </a:r>
                <a:r>
                  <a:rPr lang="en-IN" sz="2400">
                    <a:solidFill>
                      <a:srgbClr val="111827"/>
                    </a:solidFill>
                    <a:latin typeface="Cambria Math" panose="02040503050406030204" pitchFamily="18" charset="0"/>
                  </a:rPr>
                  <a:t>$52$</a:t>
                </a:r>
                <a:r>
                  <a:rPr sz="2400" b="0">
                    <a:solidFill>
                      <a:srgbClr val="111827"/>
                    </a:solidFill>
                    <a:latin typeface="Arial"/>
                  </a:rPr>
                  <a:t> playing cards are removed. From the remaining pack half of the cards are randomly removed without looking at them and then randomly drawn two cards simultaneously from the remaining. If the probability that two cards drawn are both aces is </a:t>
                </a:r>
                <a:r>
                  <a:rPr lang="en-IN" sz="2400">
                    <a:solidFill>
                      <a:srgbClr val="111827"/>
                    </a:solidFill>
                    <a:latin typeface="Cambria Math" panose="02040503050406030204" pitchFamily="18" charset="0"/>
                  </a:rPr>
                  <a:t>$\frac{p\left({}^{38}C_{20}\right)}{{}^{40}C_{20}\cdot{}^{20}C_2}$</a:t>
                </a:r>
                <a:r>
                  <a:rPr sz="2400" b="0">
                    <a:solidFill>
                      <a:srgbClr val="111827"/>
                    </a:solidFill>
                    <a:latin typeface="Arial"/>
                  </a:rPr>
                  <a:t>, find </a:t>
                </a:r>
                <a:r>
                  <a:rPr lang="en-IN" sz="2400">
                    <a:solidFill>
                      <a:srgbClr val="111827"/>
                    </a:solidFill>
                    <a:latin typeface="Cambria Math" panose="02040503050406030204" pitchFamily="18" charset="0"/>
                  </a:rPr>
                  <a:t>$p$</a:t>
                </a:r>
                <a:r>
                  <a:rPr sz="2400" b="0">
                    <a:solidFill>
                      <a:srgbClr val="111827"/>
                    </a:solidFill>
                    <a:latin typeface="Arial"/>
                  </a:rPr>
                  <a:t> ______.</a:t>
                </a:r>
                <a:endParaRPr sz="2400">
                  <a:solidFill>
                    <a:srgbClr val="111827"/>
                  </a:solidFill>
                </a:endParaRPr>
              </a:p>
            </p:txBody>
          </p:sp>
        </mc:Fallback>
      </mc:AlternateContent>
      <p:sp>
        <p:nvSpPr>
          <p:cNvPr id="5" name="Rectangle 4"/>
          <p:cNvSpPr/>
          <p:nvPr/>
        </p:nvSpPr>
        <p:spPr>
          <a:xfrm>
            <a:off x="731520" y="4370323"/>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total probability and conditional probability, Combinations (Pascal identity)</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6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Condition on the number of aces among the </a:t>
                </a:r>
                <a14:m>
                  <m:oMath xmlns:m="http://schemas.openxmlformats.org/officeDocument/2006/math">
                    <m:r>
                      <a:rPr lang="en-IN" sz="2400" i="1">
                        <a:solidFill>
                          <a:srgbClr val="78350F"/>
                        </a:solidFill>
                        <a:latin typeface="Cambria Math" panose="02040503050406030204" pitchFamily="18" charset="0"/>
                      </a:rPr>
                      <m:t>20</m:t>
                    </m:r>
                  </m:oMath>
                </a14:m>
                <a:r>
                  <a:rPr sz="2400" b="0">
                    <a:solidFill>
                      <a:srgbClr val="78350F"/>
                    </a:solidFill>
                    <a:latin typeface="Arial"/>
                  </a:rPr>
                  <a:t> removed cards (total probability), then collapse the sum with Pascal's rule.</a:t>
                </a:r>
                <a:endParaRPr sz="2400">
                  <a:solidFill>
                    <a:srgbClr val="78350F"/>
                  </a:solidFill>
                </a:endParaRPr>
              </a:p>
            </p:txBody>
          </p:sp>
        </mc:Choice>
        <mc:Fallback>
          <p:sp>
            <p:nvSpPr>
              <p:cNvPr id="4" name="Rounded Rectangle 3"/>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Condition on the number of aces among the </a:t>
                </a:r>
                <a:r>
                  <a:rPr lang="en-IN" sz="2400">
                    <a:solidFill>
                      <a:srgbClr val="78350F"/>
                    </a:solidFill>
                    <a:latin typeface="Cambria Math" panose="02040503050406030204" pitchFamily="18" charset="0"/>
                  </a:rPr>
                  <a:t>$20$</a:t>
                </a:r>
                <a:r>
                  <a:rPr sz="2400" b="0">
                    <a:solidFill>
                      <a:srgbClr val="78350F"/>
                    </a:solidFill>
                    <a:latin typeface="Arial"/>
                  </a:rPr>
                  <a:t> removed cards (total probability), then collapse the sum with Pascal's rule.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After removing the </a:t>
                </a:r>
                <a14:m>
                  <m:oMath xmlns:m="http://schemas.openxmlformats.org/officeDocument/2006/math">
                    <m:r>
                      <a:rPr lang="en-IN" sz="2400" i="1">
                        <a:solidFill>
                          <a:srgbClr val="111827"/>
                        </a:solidFill>
                        <a:latin typeface="Cambria Math" panose="02040503050406030204" pitchFamily="18" charset="0"/>
                      </a:rPr>
                      <m:t>12</m:t>
                    </m:r>
                  </m:oMath>
                </a14:m>
                <a:r>
                  <a:rPr sz="2400" b="0">
                    <a:solidFill>
                      <a:srgbClr val="111827"/>
                    </a:solidFill>
                    <a:latin typeface="Arial"/>
                  </a:rPr>
                  <a:t> face cards,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cards remain: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aces and </a:t>
                </a:r>
                <a14:m>
                  <m:oMath xmlns:m="http://schemas.openxmlformats.org/officeDocument/2006/math">
                    <m:r>
                      <a:rPr lang="en-IN" sz="2400" i="1">
                        <a:solidFill>
                          <a:srgbClr val="111827"/>
                        </a:solidFill>
                        <a:latin typeface="Cambria Math" panose="02040503050406030204" pitchFamily="18" charset="0"/>
                      </a:rPr>
                      <m:t>36</m:t>
                    </m:r>
                  </m:oMath>
                </a14:m>
                <a:r>
                  <a:rPr sz="2400" b="0">
                    <a:solidFill>
                      <a:srgbClr val="111827"/>
                    </a:solidFill>
                    <a:latin typeface="Arial"/>
                  </a:rPr>
                  <a:t> others.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Twenty of these are removed at random. Let </a:t>
                </a:r>
                <a14:m>
                  <m:oMath xmlns:m="http://schemas.openxmlformats.org/officeDocument/2006/math">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oMath>
                </a14:m>
                <a:r>
                  <a:rPr sz="2400" b="0">
                    <a:solidFill>
                      <a:srgbClr val="111827"/>
                    </a:solidFill>
                    <a:latin typeface="Arial"/>
                  </a:rPr>
                  <a:t> be the event that exactly </a:t>
                </a:r>
                <a14:m>
                  <m:oMath xmlns:m="http://schemas.openxmlformats.org/officeDocument/2006/math">
                    <m:r>
                      <a:rPr lang="en-IN" sz="2400" i="1">
                        <a:solidFill>
                          <a:srgbClr val="111827"/>
                        </a:solidFill>
                        <a:latin typeface="Cambria Math" panose="02040503050406030204" pitchFamily="18" charset="0"/>
                      </a:rPr>
                      <m:t>𝑗</m:t>
                    </m:r>
                  </m:oMath>
                </a14:m>
                <a:r>
                  <a:rPr sz="2400" b="0">
                    <a:solidFill>
                      <a:srgbClr val="111827"/>
                    </a:solidFill>
                    <a:latin typeface="Arial"/>
                  </a:rPr>
                  <a:t> aces are among the removed cards (</a:t>
                </a:r>
                <a14:m>
                  <m:oMath xmlns:m="http://schemas.openxmlformats.org/officeDocument/2006/math">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aces are removed fewer than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remain, so those cases contribute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𝐸</m:t>
                    </m:r>
                  </m:oMath>
                </a14:m>
                <a:r>
                  <a:rPr sz="2400" b="0">
                    <a:solidFill>
                      <a:srgbClr val="111827"/>
                    </a:solidFill>
                    <a:latin typeface="Arial"/>
                  </a:rPr>
                  <a:t> be the event that the two cards drawn from the remaining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are both aces;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sub>
                      <m:sup>
                        <m:r>
                          <a:rPr lang="en-IN" sz="2400" i="1">
                            <a:solidFill>
                              <a:srgbClr val="111827"/>
                            </a:solidFill>
                            <a:latin typeface="Cambria Math" panose="02040503050406030204" pitchFamily="18" charset="0"/>
                          </a:rPr>
                          <m:t>​</m:t>
                        </m:r>
                      </m:sup>
                      <m:e>
                        <m:r>
                          <a:rPr lang="en-IN" sz="2400" i="1">
                            <a:solidFill>
                              <a:srgbClr val="111827"/>
                            </a:solidFill>
                            <a:latin typeface="Cambria Math" panose="02040503050406030204" pitchFamily="18" charset="0"/>
                          </a:rPr>
                          <m:t>𝑃</m:t>
                        </m:r>
                      </m:e>
                    </m:nary>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𝑗</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After removing the </a:t>
                </a:r>
                <a:r>
                  <a:rPr lang="en-IN" sz="2400">
                    <a:solidFill>
                      <a:srgbClr val="111827"/>
                    </a:solidFill>
                    <a:latin typeface="Cambria Math" panose="02040503050406030204" pitchFamily="18" charset="0"/>
                  </a:rPr>
                  <a:t>$12$</a:t>
                </a:r>
                <a:r>
                  <a:rPr sz="2400" b="0">
                    <a:solidFill>
                      <a:srgbClr val="111827"/>
                    </a:solidFill>
                    <a:latin typeface="Arial"/>
                  </a:rPr>
                  <a:t> face cards, </a:t>
                </a:r>
                <a:r>
                  <a:rPr lang="en-IN" sz="2400">
                    <a:solidFill>
                      <a:srgbClr val="111827"/>
                    </a:solidFill>
                    <a:latin typeface="Cambria Math" panose="02040503050406030204" pitchFamily="18" charset="0"/>
                  </a:rPr>
                  <a:t>$40$</a:t>
                </a:r>
                <a:r>
                  <a:rPr sz="2400" b="0">
                    <a:solidFill>
                      <a:srgbClr val="111827"/>
                    </a:solidFill>
                    <a:latin typeface="Arial"/>
                  </a:rPr>
                  <a:t> cards remain: </a:t>
                </a:r>
                <a:r>
                  <a:rPr lang="en-IN" sz="2400">
                    <a:solidFill>
                      <a:srgbClr val="111827"/>
                    </a:solidFill>
                    <a:latin typeface="Cambria Math" panose="02040503050406030204" pitchFamily="18" charset="0"/>
                  </a:rPr>
                  <a:t>$4$</a:t>
                </a:r>
                <a:r>
                  <a:rPr sz="2400" b="0">
                    <a:solidFill>
                      <a:srgbClr val="111827"/>
                    </a:solidFill>
                    <a:latin typeface="Arial"/>
                  </a:rPr>
                  <a:t> aces and </a:t>
                </a:r>
                <a:r>
                  <a:rPr lang="en-IN" sz="2400">
                    <a:solidFill>
                      <a:srgbClr val="111827"/>
                    </a:solidFill>
                    <a:latin typeface="Cambria Math" panose="02040503050406030204" pitchFamily="18" charset="0"/>
                  </a:rPr>
                  <a:t>$36$</a:t>
                </a:r>
                <a:r>
                  <a:rPr sz="2400" b="0">
                    <a:solidFill>
                      <a:srgbClr val="111827"/>
                    </a:solidFill>
                    <a:latin typeface="Arial"/>
                  </a:rPr>
                  <a:t> others.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Twenty of these are removed at random. Let </a:t>
                </a:r>
                <a:r>
                  <a:rPr lang="en-IN" sz="2400">
                    <a:solidFill>
                      <a:srgbClr val="111827"/>
                    </a:solidFill>
                    <a:latin typeface="Cambria Math" panose="02040503050406030204" pitchFamily="18" charset="0"/>
                  </a:rPr>
                  <a:t>$E_j$</a:t>
                </a:r>
                <a:r>
                  <a:rPr sz="2400" b="0">
                    <a:solidFill>
                      <a:srgbClr val="111827"/>
                    </a:solidFill>
                    <a:latin typeface="Arial"/>
                  </a:rPr>
                  <a:t> be the event that exactly </a:t>
                </a:r>
                <a:r>
                  <a:rPr lang="en-IN" sz="2400">
                    <a:solidFill>
                      <a:srgbClr val="111827"/>
                    </a:solidFill>
                    <a:latin typeface="Cambria Math" panose="02040503050406030204" pitchFamily="18" charset="0"/>
                  </a:rPr>
                  <a:t>$j$</a:t>
                </a:r>
                <a:r>
                  <a:rPr sz="2400" b="0">
                    <a:solidFill>
                      <a:srgbClr val="111827"/>
                    </a:solidFill>
                    <a:latin typeface="Arial"/>
                  </a:rPr>
                  <a:t> aces are among the removed cards (</a:t>
                </a:r>
                <a:r>
                  <a:rPr lang="en-IN" sz="2400">
                    <a:solidFill>
                      <a:srgbClr val="111827"/>
                    </a:solidFill>
                    <a:latin typeface="Cambria Math" panose="02040503050406030204" pitchFamily="18" charset="0"/>
                  </a:rPr>
                  <a:t>$j=0,1,2$</a:t>
                </a:r>
                <a:r>
                  <a:rPr sz="2400" b="0">
                    <a:solidFill>
                      <a:srgbClr val="111827"/>
                    </a:solidFill>
                    <a:latin typeface="Arial"/>
                  </a:rPr>
                  <a:t>; if </a:t>
                </a:r>
                <a:r>
                  <a:rPr lang="en-IN" sz="2400">
                    <a:solidFill>
                      <a:srgbClr val="111827"/>
                    </a:solidFill>
                    <a:latin typeface="Cambria Math" panose="02040503050406030204" pitchFamily="18" charset="0"/>
                  </a:rPr>
                  <a:t>$3$</a:t>
                </a:r>
                <a:r>
                  <a:rPr sz="2400" b="0">
                    <a:solidFill>
                      <a:srgbClr val="111827"/>
                    </a:solidFill>
                    <a:latin typeface="Arial"/>
                  </a:rPr>
                  <a:t> or </a:t>
                </a:r>
                <a:r>
                  <a:rPr lang="en-IN" sz="2400">
                    <a:solidFill>
                      <a:srgbClr val="111827"/>
                    </a:solidFill>
                    <a:latin typeface="Cambria Math" panose="02040503050406030204" pitchFamily="18" charset="0"/>
                  </a:rPr>
                  <a:t>$4$</a:t>
                </a:r>
                <a:r>
                  <a:rPr sz="2400" b="0">
                    <a:solidFill>
                      <a:srgbClr val="111827"/>
                    </a:solidFill>
                    <a:latin typeface="Arial"/>
                  </a:rPr>
                  <a:t> aces are removed fewer than </a:t>
                </a:r>
                <a:r>
                  <a:rPr lang="en-IN" sz="2400">
                    <a:solidFill>
                      <a:srgbClr val="111827"/>
                    </a:solidFill>
                    <a:latin typeface="Cambria Math" panose="02040503050406030204" pitchFamily="18" charset="0"/>
                  </a:rPr>
                  <a:t>$2$</a:t>
                </a:r>
                <a:r>
                  <a:rPr sz="2400" b="0">
                    <a:solidFill>
                      <a:srgbClr val="111827"/>
                    </a:solidFill>
                    <a:latin typeface="Arial"/>
                  </a:rPr>
                  <a:t> remain, so those cases contribute </a:t>
                </a:r>
                <a:r>
                  <a:rPr lang="en-IN" sz="2400">
                    <a:solidFill>
                      <a:srgbClr val="111827"/>
                    </a:solidFill>
                    <a:latin typeface="Cambria Math" panose="02040503050406030204" pitchFamily="18" charset="0"/>
                  </a:rPr>
                  <a:t>$0$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$E$</a:t>
                </a:r>
                <a:r>
                  <a:rPr sz="2400" b="0">
                    <a:solidFill>
                      <a:srgbClr val="111827"/>
                    </a:solidFill>
                    <a:latin typeface="Arial"/>
                  </a:rPr>
                  <a:t> be the event that the two cards drawn from the remaining </a:t>
                </a:r>
                <a:r>
                  <a:rPr lang="en-IN" sz="2400">
                    <a:solidFill>
                      <a:srgbClr val="111827"/>
                    </a:solidFill>
                    <a:latin typeface="Cambria Math" panose="02040503050406030204" pitchFamily="18" charset="0"/>
                  </a:rPr>
                  <a:t>$20$</a:t>
                </a:r>
                <a:r>
                  <a:rPr sz="2400" b="0">
                    <a:solidFill>
                      <a:srgbClr val="111827"/>
                    </a:solidFill>
                    <a:latin typeface="Arial"/>
                  </a:rPr>
                  <a:t> are both aces; </a:t>
                </a:r>
                <a:r>
                  <a:rPr lang="en-IN" sz="2400">
                    <a:solidFill>
                      <a:srgbClr val="111827"/>
                    </a:solidFill>
                    <a:latin typeface="Cambria Math" panose="02040503050406030204" pitchFamily="18" charset="0"/>
                  </a:rPr>
                  <a:t>$P(E)=\sum_jP(E_j)P(E\mid E_j)$</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den>
                    </m:f>
                  </m:oMath>
                </a14:m>
                <a:r>
                  <a:rPr sz="2400" b="0">
                    <a:solidFill>
                      <a:srgbClr val="111827"/>
                    </a:solidFill>
                    <a:latin typeface="Arial"/>
                  </a:rPr>
                  <a:t> and then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aces remain: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0</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(the PDF's first line shows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 typo for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aces remain: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18</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aces remain: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𝐸</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18</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$P(E_0)=\frac{{}^4C_0\cdot{}^{36}C_{20}}{{}^{40}C_{20}}$</a:t>
                </a:r>
                <a:r>
                  <a:rPr sz="2400" b="0">
                    <a:solidFill>
                      <a:srgbClr val="111827"/>
                    </a:solidFill>
                    <a:latin typeface="Arial"/>
                  </a:rPr>
                  <a:t> and then </a:t>
                </a:r>
                <a:r>
                  <a:rPr lang="en-IN" sz="2400">
                    <a:solidFill>
                      <a:srgbClr val="111827"/>
                    </a:solidFill>
                    <a:latin typeface="Cambria Math" panose="02040503050406030204" pitchFamily="18" charset="0"/>
                  </a:rPr>
                  <a:t>$4$</a:t>
                </a:r>
                <a:r>
                  <a:rPr sz="2400" b="0">
                    <a:solidFill>
                      <a:srgbClr val="111827"/>
                    </a:solidFill>
                    <a:latin typeface="Arial"/>
                  </a:rPr>
                  <a:t> aces remain: </a:t>
                </a:r>
                <a:r>
                  <a:rPr lang="en-IN" sz="2400">
                    <a:solidFill>
                      <a:srgbClr val="111827"/>
                    </a:solidFill>
                    <a:latin typeface="Cambria Math" panose="02040503050406030204" pitchFamily="18" charset="0"/>
                  </a:rPr>
                  <a:t>$P(E\mid E_0)=\frac{{}^4C_2}{{}^{20}C_2}$</a:t>
                </a:r>
                <a:r>
                  <a:rPr sz="2400" b="0">
                    <a:solidFill>
                      <a:srgbClr val="111827"/>
                    </a:solidFill>
                    <a:latin typeface="Arial"/>
                  </a:rPr>
                  <a:t> (the PDF's first line shows </a:t>
                </a:r>
                <a:r>
                  <a:rPr lang="en-IN" sz="2400">
                    <a:solidFill>
                      <a:srgbClr val="111827"/>
                    </a:solidFill>
                    <a:latin typeface="Cambria Math" panose="02040503050406030204" pitchFamily="18" charset="0"/>
                  </a:rPr>
                  <a:t>${}^2C_2$</a:t>
                </a:r>
                <a:r>
                  <a:rPr sz="2400" b="0">
                    <a:solidFill>
                      <a:srgbClr val="111827"/>
                    </a:solidFill>
                    <a:latin typeface="Arial"/>
                  </a:rPr>
                  <a:t>, a typo for </a:t>
                </a:r>
                <a:r>
                  <a:rPr lang="en-IN" sz="2400">
                    <a:solidFill>
                      <a:srgbClr val="111827"/>
                    </a:solidFill>
                    <a:latin typeface="Cambria Math" panose="02040503050406030204" pitchFamily="18" charset="0"/>
                  </a:rPr>
                  <a:t>${}^4C_2$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$P(E_1)=\frac{{}^4C_1\cdot{}^{36}C_{19}}{{}^{40}C_{20}}$</a:t>
                </a:r>
                <a:r>
                  <a:rPr sz="2400" b="0">
                    <a:solidFill>
                      <a:srgbClr val="111827"/>
                    </a:solidFill>
                    <a:latin typeface="Arial"/>
                  </a:rPr>
                  <a:t> and </a:t>
                </a:r>
                <a:r>
                  <a:rPr lang="en-IN" sz="2400">
                    <a:solidFill>
                      <a:srgbClr val="111827"/>
                    </a:solidFill>
                    <a:latin typeface="Cambria Math" panose="02040503050406030204" pitchFamily="18" charset="0"/>
                  </a:rPr>
                  <a:t>$3$</a:t>
                </a:r>
                <a:r>
                  <a:rPr sz="2400" b="0">
                    <a:solidFill>
                      <a:srgbClr val="111827"/>
                    </a:solidFill>
                    <a:latin typeface="Arial"/>
                  </a:rPr>
                  <a:t> aces remain: </a:t>
                </a:r>
                <a:r>
                  <a:rPr lang="en-IN" sz="2400">
                    <a:solidFill>
                      <a:srgbClr val="111827"/>
                    </a:solidFill>
                    <a:latin typeface="Cambria Math" panose="02040503050406030204" pitchFamily="18" charset="0"/>
                  </a:rPr>
                  <a:t>$P(E\mid E_1)=\frac{{}^3C_2}{{}^{20}C_2}$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$P(E_2)=\frac{{}^4C_2\cdot{}^{36}C_{18}}{{}^{40}C_{20}}$</a:t>
                </a:r>
                <a:r>
                  <a:rPr sz="2400" b="0">
                    <a:solidFill>
                      <a:srgbClr val="111827"/>
                    </a:solidFill>
                    <a:latin typeface="Arial"/>
                  </a:rPr>
                  <a:t> and </a:t>
                </a:r>
                <a:r>
                  <a:rPr lang="en-IN" sz="2400">
                    <a:solidFill>
                      <a:srgbClr val="111827"/>
                    </a:solidFill>
                    <a:latin typeface="Cambria Math" panose="02040503050406030204" pitchFamily="18" charset="0"/>
                  </a:rPr>
                  <a:t>$2$</a:t>
                </a:r>
                <a:r>
                  <a:rPr sz="2400" b="0">
                    <a:solidFill>
                      <a:srgbClr val="111827"/>
                    </a:solidFill>
                    <a:latin typeface="Arial"/>
                  </a:rPr>
                  <a:t> aces remain: </a:t>
                </a:r>
                <a:r>
                  <a:rPr lang="en-IN" sz="2400">
                    <a:solidFill>
                      <a:srgbClr val="111827"/>
                    </a:solidFill>
                    <a:latin typeface="Cambria Math" panose="02040503050406030204" pitchFamily="18" charset="0"/>
                  </a:rPr>
                  <a:t>$P(E\mid E_2)=\frac{{}^2C_2}{{}^{20}C_2}$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Adding: </a:t>
                </a:r>
                <a:r>
                  <a:rPr lang="en-IN" sz="2400">
                    <a:solidFill>
                      <a:srgbClr val="111827"/>
                    </a:solidFill>
                    <a:latin typeface="Cambria Math" panose="02040503050406030204" pitchFamily="18" charset="0"/>
                  </a:rPr>
                  <a:t>$P(E)=\frac{{}^{36}C_{20}\cdot{}^4C_2+{}^4C_1\cdot{}^{36}C_{19}\cdot{}^3C_2+{}^4C_2\cdot{}^{36}C_{18}\cdot{}^2C_2}{{}^{40}C_{20}\cdot{}^{20}C_2}$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Numerically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the numerator is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18</m:t>
                        </m:r>
                      </m:sub>
                    </m:sSub>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18</m:t>
                            </m:r>
                          </m:sub>
                        </m:sSub>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37</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37</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19</m:t>
                            </m:r>
                          </m:sub>
                        </m:sSub>
                      </m:e>
                    </m:d>
                  </m:oMath>
                </a14:m>
                <a:r>
                  <a:rPr sz="2400" b="0">
                    <a:solidFill>
                      <a:srgbClr val="111827"/>
                    </a:solidFill>
                    <a:latin typeface="Arial"/>
                  </a:rPr>
                  <a:t> by Pascal's rule.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38</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oMath>
                </a14:m>
                <a:r>
                  <a:rPr sz="2400" b="0">
                    <a:solidFill>
                      <a:srgbClr val="111827"/>
                    </a:solidFill>
                    <a:latin typeface="Arial"/>
                  </a:rPr>
                  <a:t>, again by Pascal's rule.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38</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e>
                        </m:d>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Numerically </a:t>
                </a:r>
                <a:r>
                  <a:rPr lang="en-IN" sz="2400">
                    <a:solidFill>
                      <a:srgbClr val="111827"/>
                    </a:solidFill>
                    <a:latin typeface="Cambria Math" panose="02040503050406030204" pitchFamily="18" charset="0"/>
                  </a:rPr>
                  <a:t>${}^4C_2=6$</a:t>
                </a:r>
                <a:r>
                  <a:rPr sz="2400" b="0">
                    <a:solidFill>
                      <a:srgbClr val="111827"/>
                    </a:solidFill>
                    <a:latin typeface="Arial"/>
                  </a:rPr>
                  <a:t>, </a:t>
                </a:r>
                <a:r>
                  <a:rPr lang="en-IN" sz="2400">
                    <a:solidFill>
                      <a:srgbClr val="111827"/>
                    </a:solidFill>
                    <a:latin typeface="Cambria Math" panose="02040503050406030204" pitchFamily="18" charset="0"/>
                  </a:rPr>
                  <a:t>${}^4C_1\cdot{}^3C_2=12$</a:t>
                </a:r>
                <a:r>
                  <a:rPr sz="2400" b="0">
                    <a:solidFill>
                      <a:srgbClr val="111827"/>
                    </a:solidFill>
                    <a:latin typeface="Arial"/>
                  </a:rPr>
                  <a:t>, </a:t>
                </a:r>
                <a:r>
                  <a:rPr lang="en-IN" sz="2400">
                    <a:solidFill>
                      <a:srgbClr val="111827"/>
                    </a:solidFill>
                    <a:latin typeface="Cambria Math" panose="02040503050406030204" pitchFamily="18" charset="0"/>
                  </a:rPr>
                  <a:t>${}^4C_2\cdot{}^2C_2=6$</a:t>
                </a:r>
                <a:r>
                  <a:rPr sz="2400" b="0">
                    <a:solidFill>
                      <a:srgbClr val="111827"/>
                    </a:solidFill>
                    <a:latin typeface="Arial"/>
                  </a:rPr>
                  <a:t>, so the numerator is </a:t>
                </a:r>
                <a:r>
                  <a:rPr lang="en-IN" sz="2400">
                    <a:solidFill>
                      <a:srgbClr val="111827"/>
                    </a:solidFill>
                    <a:latin typeface="Cambria Math" panose="02040503050406030204" pitchFamily="18" charset="0"/>
                  </a:rPr>
                  <a:t>$6\cdot{}^{36}C_{20}+12\cdot{}^{36}C_{19}+6\cdot{}^{36}C_{18}$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$=6\left[{}^{36}C_{20}+{}^{36}C_{19}+{}^{36}C_{19}+{}^{36}C_{18}\right]=6\left[{}^{37}C_{20}+{}^{37}C_{19}\right]$</a:t>
                </a:r>
                <a:r>
                  <a:rPr sz="2400" b="0">
                    <a:solidFill>
                      <a:srgbClr val="111827"/>
                    </a:solidFill>
                    <a:latin typeface="Arial"/>
                  </a:rPr>
                  <a:t> by Pascal's rule.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$=6\cdot{}^{38}C_{20}$</a:t>
                </a:r>
                <a:r>
                  <a:rPr sz="2400" b="0">
                    <a:solidFill>
                      <a:srgbClr val="111827"/>
                    </a:solidFill>
                    <a:latin typeface="Arial"/>
                  </a:rPr>
                  <a:t>, again by Pascal's rule.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$P(E)=\frac{6\left({}^{38}C_{20}\right)}{{}^{40}C_{20}\cdot{}^{20}C_2}$</a:t>
                </a:r>
                <a:r>
                  <a:rPr sz="2400" b="0">
                    <a:solidFill>
                      <a:srgbClr val="111827"/>
                    </a:solidFill>
                    <a:latin typeface="Arial"/>
                  </a:rPr>
                  <a:t> and </a:t>
                </a:r>
                <a:r>
                  <a:rPr lang="en-IN" sz="2400">
                    <a:solidFill>
                      <a:srgbClr val="111827"/>
                    </a:solidFill>
                    <a:latin typeface="Cambria Math" panose="02040503050406030204" pitchFamily="18" charset="0"/>
                  </a:rPr>
                  <a:t>$p=6$</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6</a:t>
            </a:r>
            <a:endParaRPr sz="2800">
              <a:solidFill>
                <a:srgbClr val="15803D"/>
              </a:solidFill>
            </a:endParaRPr>
          </a:p>
        </p:txBody>
      </p:sp>
    </p:spTree>
  </p:cSld>
  <p:clrMapOvr>
    <a:masterClrMapping/>
  </p:clrMapOvr>
</p:sld>
</file>

<file path=ppt/slides/slide6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Symmetry: a random removal does not change the distribution, so the two cards drawn are a uniformly random pair from the </a:t>
                </a:r>
                <a14:m>
                  <m:oMath xmlns:m="http://schemas.openxmlformats.org/officeDocument/2006/math">
                    <m:r>
                      <a:rPr lang="en-IN" sz="2400" i="1">
                        <a:solidFill>
                          <a:srgbClr val="78350F"/>
                        </a:solidFill>
                        <a:latin typeface="Cambria Math" panose="02040503050406030204" pitchFamily="18" charset="0"/>
                      </a:rPr>
                      <m:t>40</m:t>
                    </m:r>
                  </m:oMath>
                </a14:m>
                <a:r>
                  <a:rPr sz="2400" b="0">
                    <a:solidFill>
                      <a:srgbClr val="78350F"/>
                    </a:solidFill>
                    <a:latin typeface="Arial"/>
                  </a:rPr>
                  <a:t> cards.</a:t>
                </a:r>
                <a:endParaRPr sz="2400">
                  <a:solidFill>
                    <a:srgbClr val="78350F"/>
                  </a:solidFill>
                </a:endParaRPr>
              </a:p>
            </p:txBody>
          </p:sp>
        </mc:Choice>
        <mc:Fallback>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Symmetry: a random removal does not change the distribution, so the two cards drawn are a uniformly random pair from the </a:t>
                </a:r>
                <a:r>
                  <a:rPr lang="en-IN" sz="2400">
                    <a:solidFill>
                      <a:srgbClr val="78350F"/>
                    </a:solidFill>
                    <a:latin typeface="Cambria Math" panose="02040503050406030204" pitchFamily="18" charset="0"/>
                  </a:rPr>
                  <a:t>$40$</a:t>
                </a:r>
                <a:r>
                  <a:rPr sz="2400" b="0">
                    <a:solidFill>
                      <a:srgbClr val="78350F"/>
                    </a:solidFill>
                    <a:latin typeface="Arial"/>
                  </a:rPr>
                  <a:t> cards.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t>
                </a:r>
                <a14:m>
                  <m:oMath xmlns:m="http://schemas.openxmlformats.org/officeDocument/2006/math">
                    <m:r>
                      <a:rPr lang="en-IN" sz="2400" i="1">
                        <a:solidFill>
                          <a:srgbClr val="111827"/>
                        </a:solidFill>
                        <a:latin typeface="Cambria Math" panose="02040503050406030204" pitchFamily="18" charset="0"/>
                      </a:rPr>
                      <m:t>20</m:t>
                    </m:r>
                  </m:oMath>
                </a14:m>
                <a:r>
                  <a:rPr sz="2400" b="0">
                    <a:solidFill>
                      <a:srgbClr val="111827"/>
                    </a:solidFill>
                    <a:latin typeface="Arial"/>
                  </a:rPr>
                  <a:t> cards removed unseen and the two cards then drawn are all random, so the pair finally drawn is equally likely to be any pair of the </a:t>
                </a:r>
                <a14:m>
                  <m:oMath xmlns:m="http://schemas.openxmlformats.org/officeDocument/2006/math">
                    <m:r>
                      <a:rPr lang="en-IN" sz="2400" i="1">
                        <a:solidFill>
                          <a:srgbClr val="111827"/>
                        </a:solidFill>
                        <a:latin typeface="Cambria Math" panose="02040503050406030204" pitchFamily="18" charset="0"/>
                      </a:rPr>
                      <m:t>40</m:t>
                    </m:r>
                  </m:oMath>
                </a14:m>
                <a:r>
                  <a:rPr sz="2400" b="0">
                    <a:solidFill>
                      <a:srgbClr val="111827"/>
                    </a:solidFill>
                    <a:latin typeface="Arial"/>
                  </a:rPr>
                  <a:t> cards.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m:rPr>
                        <m:nor/>
                      </m:rPr>
                      <a:rPr lang="en-IN" sz="2400" i="1">
                        <a:solidFill>
                          <a:srgbClr val="111827"/>
                        </a:solidFill>
                        <a:latin typeface="Cambria Math" panose="02040503050406030204" pitchFamily="18" charset="0"/>
                      </a:rPr>
                      <m:t>𝑏𝑜𝑡ℎ 𝑎𝑐𝑒𝑠</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780</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130</m:t>
                        </m:r>
                      </m:den>
                    </m:f>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a:t>
                </a:r>
                <a:r>
                  <a:rPr lang="en-IN" sz="2400">
                    <a:solidFill>
                      <a:srgbClr val="111827"/>
                    </a:solidFill>
                    <a:latin typeface="Cambria Math" panose="02040503050406030204" pitchFamily="18" charset="0"/>
                  </a:rPr>
                  <a:t>$20$</a:t>
                </a:r>
                <a:r>
                  <a:rPr sz="2400" b="0">
                    <a:solidFill>
                      <a:srgbClr val="111827"/>
                    </a:solidFill>
                    <a:latin typeface="Arial"/>
                  </a:rPr>
                  <a:t> cards removed unseen and the two cards then drawn are all random, so the pair finally drawn is equally likely to be any pair of the </a:t>
                </a:r>
                <a:r>
                  <a:rPr lang="en-IN" sz="2400">
                    <a:solidFill>
                      <a:srgbClr val="111827"/>
                    </a:solidFill>
                    <a:latin typeface="Cambria Math" panose="02040503050406030204" pitchFamily="18" charset="0"/>
                  </a:rPr>
                  <a:t>$40$</a:t>
                </a:r>
                <a:r>
                  <a:rPr sz="2400" b="0">
                    <a:solidFill>
                      <a:srgbClr val="111827"/>
                    </a:solidFill>
                    <a:latin typeface="Arial"/>
                  </a:rPr>
                  <a:t> cards.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$P(\text{both aces})=\frac{{}^4C_2}{{}^{40}C_2}=\frac{6}{780}=\frac{1}{130}$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Set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𝑝</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38</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130</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190</m:t>
                        </m:r>
                      </m:num>
                      <m:den>
                        <m:r>
                          <a:rPr lang="en-IN" sz="2400" i="1">
                            <a:solidFill>
                              <a:srgbClr val="111827"/>
                            </a:solidFill>
                            <a:latin typeface="Cambria Math" panose="02040503050406030204" pitchFamily="18" charset="0"/>
                          </a:rPr>
                          <m:t>130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38</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38</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20</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m:t>
                        </m:r>
                      </m:num>
                      <m:den>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den>
                    </m:f>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39</m:t>
                        </m:r>
                      </m:num>
                      <m:den>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190</m:t>
                        </m:r>
                      </m:num>
                      <m:den>
                        <m:r>
                          <a:rPr lang="en-IN" sz="2400" i="1">
                            <a:solidFill>
                              <a:srgbClr val="111827"/>
                            </a:solidFill>
                            <a:latin typeface="Cambria Math" panose="02040503050406030204" pitchFamily="18" charset="0"/>
                          </a:rPr>
                          <m:t>130</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Set </a:t>
                </a:r>
                <a:r>
                  <a:rPr lang="en-IN" sz="2400">
                    <a:solidFill>
                      <a:srgbClr val="111827"/>
                    </a:solidFill>
                    <a:latin typeface="Cambria Math" panose="02040503050406030204" pitchFamily="18" charset="0"/>
                  </a:rPr>
                  <a:t>$\frac{p\,{}^{38}C_{20}}{{}^{40}C_{20}\,{}^{20}C_2}=\frac{1}{130}$</a:t>
                </a:r>
                <a:r>
                  <a:rPr sz="2400" b="0">
                    <a:solidFill>
                      <a:srgbClr val="111827"/>
                    </a:solidFill>
                    <a:latin typeface="Arial"/>
                  </a:rPr>
                  <a:t>, so </a:t>
                </a:r>
                <a:r>
                  <a:rPr lang="en-IN" sz="2400">
                    <a:solidFill>
                      <a:srgbClr val="111827"/>
                    </a:solidFill>
                    <a:latin typeface="Cambria Math" panose="02040503050406030204" pitchFamily="18" charset="0"/>
                  </a:rPr>
                  <a:t>$p=\frac{{}^{40}C_{20}\cdot190}{130\cdot{}^{38}C_{20}}$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${}^{40}C_{20}/{}^{38}C_{20}=\frac{40\cdot39}{20\cdot19}$</a:t>
                </a:r>
                <a:r>
                  <a:rPr sz="2400" b="0">
                    <a:solidFill>
                      <a:srgbClr val="111827"/>
                    </a:solidFill>
                    <a:latin typeface="Arial"/>
                  </a:rPr>
                  <a:t>, so </a:t>
                </a:r>
                <a:r>
                  <a:rPr lang="en-IN" sz="2400">
                    <a:solidFill>
                      <a:srgbClr val="111827"/>
                    </a:solidFill>
                    <a:latin typeface="Cambria Math" panose="02040503050406030204" pitchFamily="18" charset="0"/>
                  </a:rPr>
                  <a:t>$p=\frac{40\cdot39}{20\cdot19}\cdot\frac{190}{130}=6$</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6</a:t>
            </a:r>
            <a:endParaRPr sz="2800">
              <a:solidFill>
                <a:srgbClr val="15803D"/>
              </a:solidFill>
            </a:endParaRPr>
          </a:p>
        </p:txBody>
      </p:sp>
    </p:spTree>
  </p:cSld>
  <p:clrMapOvr>
    <a:masterClrMapping/>
  </p:clrMapOvr>
</p:sld>
</file>

<file path=ppt/slides/slide6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100</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Unseen random removal does not change the distribution of later draws: the draw is a uniformly random sample of the original pack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P(both aces)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40</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130</m:t>
                        </m:r>
                      </m:den>
                    </m:f>
                  </m:oMath>
                </a14:m>
                <a:r>
                  <a:rPr sz="2400" b="0">
                    <a:solidFill>
                      <a:srgbClr val="111827"/>
                    </a:solidFill>
                    <a:latin typeface="Arial"/>
                  </a:rPr>
                  <a:t> here; the same shortcut works for any number of removed cards and any number drawn.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Pascal's rule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compresses the sums (used twice above); checked: the case sum equals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130</m:t>
                        </m:r>
                      </m:den>
                    </m:f>
                  </m:oMath>
                </a14:m>
                <a:r>
                  <a:rPr sz="2400" b="0">
                    <a:solidFill>
                      <a:srgbClr val="111827"/>
                    </a:solidFill>
                    <a:latin typeface="Arial"/>
                  </a:rPr>
                  <a:t> numerically.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Unseen random removal does not change the distribution of later draws: the draw is a uniformly random sample of the original pack (symmetry).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P(both aces) </a:t>
                </a:r>
                <a:r>
                  <a:rPr lang="en-IN" sz="2400">
                    <a:solidFill>
                      <a:srgbClr val="111827"/>
                    </a:solidFill>
                    <a:latin typeface="Cambria Math" panose="02040503050406030204" pitchFamily="18" charset="0"/>
                  </a:rPr>
                  <a:t>$=\frac{{}^4C_2}{{}^{40}C_2}=\frac{1}{130}$</a:t>
                </a:r>
                <a:r>
                  <a:rPr sz="2400" b="0">
                    <a:solidFill>
                      <a:srgbClr val="111827"/>
                    </a:solidFill>
                    <a:latin typeface="Arial"/>
                  </a:rPr>
                  <a:t> here; the same shortcut works for any number of removed cards and any number drawn.</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Pascal's rule </a:t>
                </a:r>
                <a:r>
                  <a:rPr lang="en-IN" sz="2400">
                    <a:solidFill>
                      <a:srgbClr val="111827"/>
                    </a:solidFill>
                    <a:latin typeface="Cambria Math" panose="02040503050406030204" pitchFamily="18" charset="0"/>
                  </a:rPr>
                  <a:t>${}^nC_k+{}^nC_{k+1}={}^{n+1}C_{k+1}$</a:t>
                </a:r>
                <a:r>
                  <a:rPr sz="2400" b="0">
                    <a:solidFill>
                      <a:srgbClr val="111827"/>
                    </a:solidFill>
                    <a:latin typeface="Arial"/>
                  </a:rPr>
                  <a:t> compresses the sums (used twice above); checked: the case sum equals </a:t>
                </a:r>
                <a:r>
                  <a:rPr lang="en-IN" sz="2400">
                    <a:solidFill>
                      <a:srgbClr val="111827"/>
                    </a:solidFill>
                    <a:latin typeface="Cambria Math" panose="02040503050406030204" pitchFamily="18" charset="0"/>
                  </a:rPr>
                  <a:t>$\frac{1}{130}$</a:t>
                </a:r>
                <a:r>
                  <a:rPr sz="2400" b="0">
                    <a:solidFill>
                      <a:srgbClr val="111827"/>
                    </a:solidFill>
                    <a:latin typeface="Arial"/>
                  </a:rPr>
                  <a:t> numerically.</a:t>
                </a:r>
                <a:endParaRPr sz="2400">
                  <a:solidFill>
                    <a:srgbClr val="111827"/>
                  </a:solidFill>
                </a:endParaRPr>
              </a:p>
            </p:txBody>
          </p:sp>
        </mc:Fallback>
      </mc:AlternateContent>
    </p:spTree>
  </p:cSld>
  <p:clrMapOvr>
    <a:masterClrMapping/>
  </p:clrMapOvr>
</p:sld>
</file>

<file path=ppt/slides/slide6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8</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Single Correct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Q101</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6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We say that a subset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of a finite set </a:t>
                </a:r>
                <a14:m>
                  <m:oMath xmlns:m="http://schemas.openxmlformats.org/officeDocument/2006/math">
                    <m:r>
                      <a:rPr lang="en-IN" sz="2400" i="1">
                        <a:solidFill>
                          <a:srgbClr val="111827"/>
                        </a:solidFill>
                        <a:latin typeface="Cambria Math" panose="02040503050406030204" pitchFamily="18" charset="0"/>
                      </a:rPr>
                      <m:t>𝑈</m:t>
                    </m:r>
                  </m:oMath>
                </a14:m>
                <a:r>
                  <a:rPr sz="2400" b="0">
                    <a:solidFill>
                      <a:srgbClr val="111827"/>
                    </a:solidFill>
                    <a:latin typeface="Arial"/>
                  </a:rPr>
                  <a:t> is large if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denotes the elements of </a:t>
                </a:r>
                <a14:m>
                  <m:oMath xmlns:m="http://schemas.openxmlformats.org/officeDocument/2006/math">
                    <m:r>
                      <a:rPr lang="en-IN" sz="2400" i="1">
                        <a:solidFill>
                          <a:srgbClr val="111827"/>
                        </a:solidFill>
                        <a:latin typeface="Cambria Math" panose="02040503050406030204" pitchFamily="18" charset="0"/>
                      </a:rPr>
                      <m:t>𝑈</m:t>
                    </m:r>
                  </m:oMath>
                </a14:m>
                <a:r>
                  <a:rPr sz="2400" b="0">
                    <a:solidFill>
                      <a:srgbClr val="111827"/>
                    </a:solidFill>
                    <a:latin typeface="Arial"/>
                  </a:rPr>
                  <a:t> which are not in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denotes the number of elements in a set </a:t>
                </a:r>
                <a14:m>
                  <m:oMath xmlns:m="http://schemas.openxmlformats.org/officeDocument/2006/math">
                    <m:r>
                      <a:rPr lang="en-IN" sz="2400" i="1">
                        <a:solidFill>
                          <a:srgbClr val="111827"/>
                        </a:solidFill>
                        <a:latin typeface="Cambria Math" panose="02040503050406030204" pitchFamily="18" charset="0"/>
                      </a:rPr>
                      <m:t>𝑇</m:t>
                    </m:r>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be the number of large subsets of </a:t>
                </a:r>
                <a14:m>
                  <m:oMath xmlns:m="http://schemas.openxmlformats.org/officeDocument/2006/math">
                    <m:r>
                      <a:rPr lang="en-IN" sz="2400" i="1">
                        <a:solidFill>
                          <a:srgbClr val="111827"/>
                        </a:solidFill>
                        <a:latin typeface="Cambria Math" panose="02040503050406030204" pitchFamily="18" charset="0"/>
                      </a:rPr>
                      <m:t>𝑋</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the number of large subsets of </a:t>
                </a:r>
                <a14:m>
                  <m:oMath xmlns:m="http://schemas.openxmlformats.org/officeDocument/2006/math">
                    <m:r>
                      <a:rPr lang="en-IN" sz="2400" i="1">
                        <a:solidFill>
                          <a:srgbClr val="111827"/>
                        </a:solidFill>
                        <a:latin typeface="Cambria Math" panose="02040503050406030204" pitchFamily="18" charset="0"/>
                      </a:rPr>
                      <m:t>𝑌</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of the following is true? (The options are missing in the PDF.)</a:t>
                </a:r>
                <a:endParaRPr sz="2400">
                  <a:solidFill>
                    <a:srgbClr val="111827"/>
                  </a:solidFill>
                </a:endParaRPr>
              </a:p>
            </p:txBody>
          </p:sp>
        </mc:Choice>
        <mc:Fallback>
          <p:sp>
            <p:nvSpPr>
              <p:cNvPr id="4" name="Rounded Rectangle 3"/>
              <p:cNvSpPr/>
              <p:nvPr/>
            </p:nvSpPr>
            <p:spPr>
              <a:xfrm>
                <a:off x="731520" y="1280160"/>
                <a:ext cx="10725912" cy="3123692"/>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We say that a subset </a:t>
                </a:r>
                <a:r>
                  <a:rPr lang="en-IN" sz="2400">
                    <a:solidFill>
                      <a:srgbClr val="111827"/>
                    </a:solidFill>
                    <a:latin typeface="Cambria Math" panose="02040503050406030204" pitchFamily="18" charset="0"/>
                  </a:rPr>
                  <a:t>$S$</a:t>
                </a:r>
                <a:r>
                  <a:rPr sz="2400" b="0">
                    <a:solidFill>
                      <a:srgbClr val="111827"/>
                    </a:solidFill>
                    <a:latin typeface="Arial"/>
                  </a:rPr>
                  <a:t> of a finite set </a:t>
                </a:r>
                <a:r>
                  <a:rPr lang="en-IN" sz="2400">
                    <a:solidFill>
                      <a:srgbClr val="111827"/>
                    </a:solidFill>
                    <a:latin typeface="Cambria Math" panose="02040503050406030204" pitchFamily="18" charset="0"/>
                  </a:rPr>
                  <a:t>$U$</a:t>
                </a:r>
                <a:r>
                  <a:rPr sz="2400" b="0">
                    <a:solidFill>
                      <a:srgbClr val="111827"/>
                    </a:solidFill>
                    <a:latin typeface="Arial"/>
                  </a:rPr>
                  <a:t> is large if </a:t>
                </a:r>
                <a:r>
                  <a:rPr lang="en-IN" sz="2400">
                    <a:solidFill>
                      <a:srgbClr val="111827"/>
                    </a:solidFill>
                    <a:latin typeface="Cambria Math" panose="02040503050406030204" pitchFamily="18" charset="0"/>
                  </a:rPr>
                  <a:t>$|S|&gt;|U\setminus S|$</a:t>
                </a:r>
                <a:r>
                  <a:rPr sz="2400" b="0">
                    <a:solidFill>
                      <a:srgbClr val="111827"/>
                    </a:solidFill>
                    <a:latin typeface="Arial"/>
                  </a:rPr>
                  <a:t>. Here </a:t>
                </a:r>
                <a:r>
                  <a:rPr lang="en-IN" sz="2400">
                    <a:solidFill>
                      <a:srgbClr val="111827"/>
                    </a:solidFill>
                    <a:latin typeface="Cambria Math" panose="02040503050406030204" pitchFamily="18" charset="0"/>
                  </a:rPr>
                  <a:t>$U\setminus S$</a:t>
                </a:r>
                <a:r>
                  <a:rPr sz="2400" b="0">
                    <a:solidFill>
                      <a:srgbClr val="111827"/>
                    </a:solidFill>
                    <a:latin typeface="Arial"/>
                  </a:rPr>
                  <a:t> denotes the elements of </a:t>
                </a:r>
                <a:r>
                  <a:rPr lang="en-IN" sz="2400">
                    <a:solidFill>
                      <a:srgbClr val="111827"/>
                    </a:solidFill>
                    <a:latin typeface="Cambria Math" panose="02040503050406030204" pitchFamily="18" charset="0"/>
                  </a:rPr>
                  <a:t>$U$</a:t>
                </a:r>
                <a:r>
                  <a:rPr sz="2400" b="0">
                    <a:solidFill>
                      <a:srgbClr val="111827"/>
                    </a:solidFill>
                    <a:latin typeface="Arial"/>
                  </a:rPr>
                  <a:t> which are not in </a:t>
                </a:r>
                <a:r>
                  <a:rPr lang="en-IN" sz="2400">
                    <a:solidFill>
                      <a:srgbClr val="111827"/>
                    </a:solidFill>
                    <a:latin typeface="Cambria Math" panose="02040503050406030204" pitchFamily="18" charset="0"/>
                  </a:rPr>
                  <a:t>$S$</a:t>
                </a:r>
                <a:r>
                  <a:rPr sz="2400" b="0">
                    <a:solidFill>
                      <a:srgbClr val="111827"/>
                    </a:solidFill>
                    <a:latin typeface="Arial"/>
                  </a:rPr>
                  <a:t> and </a:t>
                </a:r>
                <a:r>
                  <a:rPr lang="en-IN" sz="2400">
                    <a:solidFill>
                      <a:srgbClr val="111827"/>
                    </a:solidFill>
                    <a:latin typeface="Cambria Math" panose="02040503050406030204" pitchFamily="18" charset="0"/>
                  </a:rPr>
                  <a:t>$|T|$</a:t>
                </a:r>
                <a:r>
                  <a:rPr sz="2400" b="0">
                    <a:solidFill>
                      <a:srgbClr val="111827"/>
                    </a:solidFill>
                    <a:latin typeface="Arial"/>
                  </a:rPr>
                  <a:t> denotes the number of elements in a set </a:t>
                </a:r>
                <a:r>
                  <a:rPr lang="en-IN" sz="2400">
                    <a:solidFill>
                      <a:srgbClr val="111827"/>
                    </a:solidFill>
                    <a:latin typeface="Cambria Math" panose="02040503050406030204" pitchFamily="18" charset="0"/>
                  </a:rPr>
                  <a:t>$T$</a:t>
                </a:r>
                <a:r>
                  <a:rPr sz="2400" b="0">
                    <a:solidFill>
                      <a:srgbClr val="111827"/>
                    </a:solidFill>
                    <a:latin typeface="Arial"/>
                  </a:rPr>
                  <a:t>. Let </a:t>
                </a:r>
                <a:r>
                  <a:rPr lang="en-IN" sz="2400">
                    <a:solidFill>
                      <a:srgbClr val="111827"/>
                    </a:solidFill>
                    <a:latin typeface="Cambria Math" panose="02040503050406030204" pitchFamily="18" charset="0"/>
                  </a:rPr>
                  <a:t>$x$</a:t>
                </a:r>
                <a:r>
                  <a:rPr sz="2400" b="0">
                    <a:solidFill>
                      <a:srgbClr val="111827"/>
                    </a:solidFill>
                    <a:latin typeface="Arial"/>
                  </a:rPr>
                  <a:t> be the number of large subsets of </a:t>
                </a:r>
                <a:r>
                  <a:rPr lang="en-IN" sz="2400">
                    <a:solidFill>
                      <a:srgbClr val="111827"/>
                    </a:solidFill>
                    <a:latin typeface="Cambria Math" panose="02040503050406030204" pitchFamily="18" charset="0"/>
                  </a:rPr>
                  <a:t>$X=\{1,2,\ldots,10\}$</a:t>
                </a:r>
                <a:r>
                  <a:rPr sz="2400" b="0">
                    <a:solidFill>
                      <a:srgbClr val="111827"/>
                    </a:solidFill>
                    <a:latin typeface="Arial"/>
                  </a:rPr>
                  <a:t> and </a:t>
                </a:r>
                <a:r>
                  <a:rPr lang="en-IN" sz="2400">
                    <a:solidFill>
                      <a:srgbClr val="111827"/>
                    </a:solidFill>
                    <a:latin typeface="Cambria Math" panose="02040503050406030204" pitchFamily="18" charset="0"/>
                  </a:rPr>
                  <a:t>$y$</a:t>
                </a:r>
                <a:r>
                  <a:rPr sz="2400" b="0">
                    <a:solidFill>
                      <a:srgbClr val="111827"/>
                    </a:solidFill>
                    <a:latin typeface="Arial"/>
                  </a:rPr>
                  <a:t> the number of large subsets of </a:t>
                </a:r>
                <a:r>
                  <a:rPr lang="en-IN" sz="2400">
                    <a:solidFill>
                      <a:srgbClr val="111827"/>
                    </a:solidFill>
                    <a:latin typeface="Cambria Math" panose="02040503050406030204" pitchFamily="18" charset="0"/>
                  </a:rPr>
                  <a:t>$Y=\{1,2,\ldots,9\}$</a:t>
                </a:r>
                <a:r>
                  <a:rPr sz="2400" b="0">
                    <a:solidFill>
                      <a:srgbClr val="111827"/>
                    </a:solidFill>
                    <a:latin typeface="Arial"/>
                  </a:rPr>
                  <a:t>. Which of the following is true? (The options are missing in the PDF.)</a:t>
                </a:r>
                <a:endParaRPr sz="2400">
                  <a:solidFill>
                    <a:srgbClr val="111827"/>
                  </a:solidFill>
                </a:endParaRPr>
              </a:p>
            </p:txBody>
          </p:sp>
        </mc:Fallback>
      </mc:AlternateContent>
      <p:sp>
        <p:nvSpPr>
          <p:cNvPr id="5" name="Rectangle 4"/>
          <p:cNvSpPr/>
          <p:nvPr/>
        </p:nvSpPr>
        <p:spPr>
          <a:xfrm>
            <a:off x="731520" y="4632452"/>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Single Correct Type(4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Combinations: counting subsets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Tree>
  </p:cSld>
  <p:clrMapOvr>
    <a:masterClrMapping/>
  </p:clrMapOvr>
</p:sld>
</file>

<file path=ppt/slides/slide6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Complementing a subset swaps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and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𝑈</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so large and small subsets pair off (ties aside).</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Complementing a subset swaps </a:t>
                </a:r>
                <a:r>
                  <a:rPr lang="en-IN" sz="2400">
                    <a:solidFill>
                      <a:srgbClr val="78350F"/>
                    </a:solidFill>
                    <a:latin typeface="Cambria Math" panose="02040503050406030204" pitchFamily="18" charset="0"/>
                  </a:rPr>
                  <a:t>$|S|$</a:t>
                </a:r>
                <a:r>
                  <a:rPr sz="2400" b="0">
                    <a:solidFill>
                      <a:srgbClr val="78350F"/>
                    </a:solidFill>
                    <a:latin typeface="Arial"/>
                  </a:rPr>
                  <a:t> and </a:t>
                </a:r>
                <a:r>
                  <a:rPr lang="en-IN" sz="2400">
                    <a:solidFill>
                      <a:srgbClr val="78350F"/>
                    </a:solidFill>
                    <a:latin typeface="Cambria Math" panose="02040503050406030204" pitchFamily="18" charset="0"/>
                  </a:rPr>
                  <a:t>$|U\setminus S|$</a:t>
                </a:r>
                <a:r>
                  <a:rPr sz="2400" b="0">
                    <a:solidFill>
                      <a:srgbClr val="78350F"/>
                    </a:solidFill>
                    <a:latin typeface="Arial"/>
                  </a:rPr>
                  <a:t>, so large and small subsets pair off (ties aside).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subset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of </a:t>
                </a:r>
                <a14:m>
                  <m:oMath xmlns:m="http://schemas.openxmlformats.org/officeDocument/2006/math">
                    <m:r>
                      <a:rPr lang="en-IN" sz="2400" i="1">
                        <a:solidFill>
                          <a:srgbClr val="111827"/>
                        </a:solidFill>
                        <a:latin typeface="Cambria Math" panose="02040503050406030204" pitchFamily="18" charset="0"/>
                      </a:rPr>
                      <m:t>𝑈</m:t>
                    </m:r>
                  </m:oMath>
                </a14:m>
                <a:r>
                  <a:rPr sz="2400" b="0">
                    <a:solidFill>
                      <a:srgbClr val="111827"/>
                    </a:solidFill>
                    <a:latin typeface="Arial"/>
                  </a:rPr>
                  <a:t>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is large when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large means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6</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7</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8</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9</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10</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subset </a:t>
                </a:r>
                <a:r>
                  <a:rPr lang="en-IN" sz="2400">
                    <a:solidFill>
                      <a:srgbClr val="111827"/>
                    </a:solidFill>
                    <a:latin typeface="Cambria Math" panose="02040503050406030204" pitchFamily="18" charset="0"/>
                  </a:rPr>
                  <a:t>$S$</a:t>
                </a:r>
                <a:r>
                  <a:rPr sz="2400" b="0">
                    <a:solidFill>
                      <a:srgbClr val="111827"/>
                    </a:solidFill>
                    <a:latin typeface="Arial"/>
                  </a:rPr>
                  <a:t> of </a:t>
                </a:r>
                <a:r>
                  <a:rPr lang="en-IN" sz="2400">
                    <a:solidFill>
                      <a:srgbClr val="111827"/>
                    </a:solidFill>
                    <a:latin typeface="Cambria Math" panose="02040503050406030204" pitchFamily="18" charset="0"/>
                  </a:rPr>
                  <a:t>$U$</a:t>
                </a:r>
                <a:r>
                  <a:rPr sz="2400" b="0">
                    <a:solidFill>
                      <a:srgbClr val="111827"/>
                    </a:solidFill>
                    <a:latin typeface="Arial"/>
                  </a:rPr>
                  <a:t> with </a:t>
                </a:r>
                <a:r>
                  <a:rPr lang="en-IN" sz="2400">
                    <a:solidFill>
                      <a:srgbClr val="111827"/>
                    </a:solidFill>
                    <a:latin typeface="Cambria Math" panose="02040503050406030204" pitchFamily="18" charset="0"/>
                  </a:rPr>
                  <a:t>$|U|=n$</a:t>
                </a:r>
                <a:r>
                  <a:rPr sz="2400" b="0">
                    <a:solidFill>
                      <a:srgbClr val="111827"/>
                    </a:solidFill>
                    <a:latin typeface="Arial"/>
                  </a:rPr>
                  <a:t> is large when </a:t>
                </a:r>
                <a:r>
                  <a:rPr lang="en-IN" sz="2400">
                    <a:solidFill>
                      <a:srgbClr val="111827"/>
                    </a:solidFill>
                    <a:latin typeface="Cambria Math" panose="02040503050406030204" pitchFamily="18" charset="0"/>
                  </a:rPr>
                  <a:t>$|S|&gt;n-|S|$</a:t>
                </a:r>
                <a:r>
                  <a:rPr sz="2400" b="0">
                    <a:solidFill>
                      <a:srgbClr val="111827"/>
                    </a:solidFill>
                    <a:latin typeface="Arial"/>
                  </a:rPr>
                  <a:t>, i.e. </a:t>
                </a:r>
                <a:r>
                  <a:rPr lang="en-IN" sz="2400">
                    <a:solidFill>
                      <a:srgbClr val="111827"/>
                    </a:solidFill>
                    <a:latin typeface="Cambria Math" panose="02040503050406030204" pitchFamily="18" charset="0"/>
                  </a:rPr>
                  <a:t>$|S|&gt;\frac{n}{2}$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$X$</a:t>
                </a:r>
                <a:r>
                  <a:rPr sz="2400" b="0">
                    <a:solidFill>
                      <a:srgbClr val="111827"/>
                    </a:solidFill>
                    <a:latin typeface="Arial"/>
                  </a:rPr>
                  <a:t>, </a:t>
                </a:r>
                <a:r>
                  <a:rPr lang="en-IN" sz="2400">
                    <a:solidFill>
                      <a:srgbClr val="111827"/>
                    </a:solidFill>
                    <a:latin typeface="Cambria Math" panose="02040503050406030204" pitchFamily="18" charset="0"/>
                  </a:rPr>
                  <a:t>$n=10$</a:t>
                </a:r>
                <a:r>
                  <a:rPr sz="2400" b="0">
                    <a:solidFill>
                      <a:srgbClr val="111827"/>
                    </a:solidFill>
                    <a:latin typeface="Arial"/>
                  </a:rPr>
                  <a:t>: large means </a:t>
                </a:r>
                <a:r>
                  <a:rPr lang="en-IN" sz="2400">
                    <a:solidFill>
                      <a:srgbClr val="111827"/>
                    </a:solidFill>
                    <a:latin typeface="Cambria Math" panose="02040503050406030204" pitchFamily="18" charset="0"/>
                  </a:rPr>
                  <a:t>$|S|\ge 6$</a:t>
                </a:r>
                <a:r>
                  <a:rPr sz="2400" b="0">
                    <a:solidFill>
                      <a:srgbClr val="111827"/>
                    </a:solidFill>
                    <a:latin typeface="Arial"/>
                  </a:rPr>
                  <a:t>. So </a:t>
                </a:r>
                <a:r>
                  <a:rPr lang="en-IN" sz="2400">
                    <a:solidFill>
                      <a:srgbClr val="111827"/>
                    </a:solidFill>
                    <a:latin typeface="Cambria Math" panose="02040503050406030204" pitchFamily="18" charset="0"/>
                  </a:rPr>
                  <a:t>$x=\binom{10}{6}+\binom{10}{7}+\binom{10}{8}+\binom{10}{9}+\binom{10}{10}$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$x=210+120+45+10+1=386$</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a:rPr lang="en-IN" sz="2400" i="1">
                        <a:solidFill>
                          <a:srgbClr val="111827"/>
                        </a:solidFill>
                        <a:latin typeface="Cambria Math" panose="02040503050406030204" pitchFamily="18" charset="0"/>
                      </a:rPr>
                      <m:t>𝑌</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large means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4.5</m:t>
                    </m:r>
                  </m:oMath>
                </a14:m>
                <a:r>
                  <a:rPr sz="2400" b="0">
                    <a:solidFill>
                      <a:srgbClr val="111827"/>
                    </a:solidFill>
                    <a:latin typeface="Arial"/>
                  </a:rPr>
                  <a:t>, i.e.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5</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6</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7</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8</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9</m:t>
                            </m:r>
                          </m:num>
                          <m:den>
                            <m:r>
                              <a:rPr lang="en-IN" sz="2400" i="1">
                                <a:solidFill>
                                  <a:srgbClr val="111827"/>
                                </a:solidFill>
                                <a:latin typeface="Cambria Math" panose="02040503050406030204" pitchFamily="18" charset="0"/>
                              </a:rPr>
                              <m:t>9</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8</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𝑦</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130</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8</m:t>
                        </m:r>
                      </m:sup>
                    </m:sSup>
                  </m:oMath>
                </a14:m>
                <a:r>
                  <a:rPr sz="2400" b="0">
                    <a:solidFill>
                      <a:srgbClr val="111827"/>
                    </a:solidFill>
                    <a:latin typeface="Arial"/>
                  </a:rPr>
                  <a:t> is exactly half of all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9</m:t>
                        </m:r>
                      </m:sup>
                    </m:sSup>
                  </m:oMath>
                </a14:m>
                <a:r>
                  <a:rPr sz="2400" b="0">
                    <a:solidFill>
                      <a:srgbClr val="111827"/>
                    </a:solidFill>
                    <a:latin typeface="Arial"/>
                  </a:rPr>
                  <a:t> subsets of </a:t>
                </a:r>
                <a14:m>
                  <m:oMath xmlns:m="http://schemas.openxmlformats.org/officeDocument/2006/math">
                    <m:r>
                      <a:rPr lang="en-IN" sz="2400" i="1">
                        <a:solidFill>
                          <a:srgbClr val="111827"/>
                        </a:solidFill>
                        <a:latin typeface="Cambria Math" panose="02040503050406030204" pitchFamily="18" charset="0"/>
                      </a:rPr>
                      <m:t>𝑌</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$Y$</a:t>
                </a:r>
                <a:r>
                  <a:rPr sz="2400" b="0">
                    <a:solidFill>
                      <a:srgbClr val="111827"/>
                    </a:solidFill>
                    <a:latin typeface="Arial"/>
                  </a:rPr>
                  <a:t>, </a:t>
                </a:r>
                <a:r>
                  <a:rPr lang="en-IN" sz="2400">
                    <a:solidFill>
                      <a:srgbClr val="111827"/>
                    </a:solidFill>
                    <a:latin typeface="Cambria Math" panose="02040503050406030204" pitchFamily="18" charset="0"/>
                  </a:rPr>
                  <a:t>$n=9$</a:t>
                </a:r>
                <a:r>
                  <a:rPr sz="2400" b="0">
                    <a:solidFill>
                      <a:srgbClr val="111827"/>
                    </a:solidFill>
                    <a:latin typeface="Arial"/>
                  </a:rPr>
                  <a:t>: large means </a:t>
                </a:r>
                <a:r>
                  <a:rPr lang="en-IN" sz="2400">
                    <a:solidFill>
                      <a:srgbClr val="111827"/>
                    </a:solidFill>
                    <a:latin typeface="Cambria Math" panose="02040503050406030204" pitchFamily="18" charset="0"/>
                  </a:rPr>
                  <a:t>$|S|&gt;4.5$</a:t>
                </a:r>
                <a:r>
                  <a:rPr sz="2400" b="0">
                    <a:solidFill>
                      <a:srgbClr val="111827"/>
                    </a:solidFill>
                    <a:latin typeface="Arial"/>
                  </a:rPr>
                  <a:t>, i.e. </a:t>
                </a:r>
                <a:r>
                  <a:rPr lang="en-IN" sz="2400">
                    <a:solidFill>
                      <a:srgbClr val="111827"/>
                    </a:solidFill>
                    <a:latin typeface="Cambria Math" panose="02040503050406030204" pitchFamily="18" charset="0"/>
                  </a:rPr>
                  <a:t>$|S|\ge 5$</a:t>
                </a:r>
                <a:r>
                  <a:rPr sz="2400" b="0">
                    <a:solidFill>
                      <a:srgbClr val="111827"/>
                    </a:solidFill>
                    <a:latin typeface="Arial"/>
                  </a:rPr>
                  <a:t>. So </a:t>
                </a:r>
                <a:r>
                  <a:rPr lang="en-IN" sz="2400">
                    <a:solidFill>
                      <a:srgbClr val="111827"/>
                    </a:solidFill>
                    <a:latin typeface="Cambria Math" panose="02040503050406030204" pitchFamily="18" charset="0"/>
                  </a:rPr>
                  <a:t>$y=\binom{9}{5}+\binom{9}{6}+\binom{9}{7}+\binom{9}{8}+\binom{9}{9}$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$y=126+84+36+9+1=256=2^8$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t>
                </a:r>
                <a:r>
                  <a:rPr lang="en-IN" sz="2400">
                    <a:solidFill>
                      <a:srgbClr val="111827"/>
                    </a:solidFill>
                    <a:latin typeface="Cambria Math" panose="02040503050406030204" pitchFamily="18" charset="0"/>
                  </a:rPr>
                  <a:t>$x=386$</a:t>
                </a:r>
                <a:r>
                  <a:rPr sz="2400" b="0">
                    <a:solidFill>
                      <a:srgbClr val="111827"/>
                    </a:solidFill>
                    <a:latin typeface="Arial"/>
                  </a:rPr>
                  <a:t>, </a:t>
                </a:r>
                <a:r>
                  <a:rPr lang="en-IN" sz="2400">
                    <a:solidFill>
                      <a:srgbClr val="111827"/>
                    </a:solidFill>
                    <a:latin typeface="Cambria Math" panose="02040503050406030204" pitchFamily="18" charset="0"/>
                  </a:rPr>
                  <a:t>$y=256$</a:t>
                </a:r>
                <a:r>
                  <a:rPr sz="2400" b="0">
                    <a:solidFill>
                      <a:srgbClr val="111827"/>
                    </a:solidFill>
                    <a:latin typeface="Arial"/>
                  </a:rPr>
                  <a:t>, so </a:t>
                </a:r>
                <a:r>
                  <a:rPr lang="en-IN" sz="2400">
                    <a:solidFill>
                      <a:srgbClr val="111827"/>
                    </a:solidFill>
                    <a:latin typeface="Cambria Math" panose="02040503050406030204" pitchFamily="18" charset="0"/>
                  </a:rPr>
                  <a:t>$x&gt;y$</a:t>
                </a:r>
                <a:r>
                  <a:rPr sz="2400" b="0">
                    <a:solidFill>
                      <a:srgbClr val="111827"/>
                    </a:solidFill>
                    <a:latin typeface="Arial"/>
                  </a:rPr>
                  <a:t>, </a:t>
                </a:r>
                <a:r>
                  <a:rPr lang="en-IN" sz="2400">
                    <a:solidFill>
                      <a:srgbClr val="111827"/>
                    </a:solidFill>
                    <a:latin typeface="Cambria Math" panose="02040503050406030204" pitchFamily="18" charset="0"/>
                  </a:rPr>
                  <a:t>$x-y=130$</a:t>
                </a:r>
                <a:r>
                  <a:rPr sz="2400" b="0">
                    <a:solidFill>
                      <a:srgbClr val="111827"/>
                    </a:solidFill>
                    <a:latin typeface="Arial"/>
                  </a:rPr>
                  <a:t>, and </a:t>
                </a:r>
                <a:r>
                  <a:rPr lang="en-IN" sz="2400">
                    <a:solidFill>
                      <a:srgbClr val="111827"/>
                    </a:solidFill>
                    <a:latin typeface="Cambria Math" panose="02040503050406030204" pitchFamily="18" charset="0"/>
                  </a:rPr>
                  <a:t>$y=2^{8}$</a:t>
                </a:r>
                <a:r>
                  <a:rPr sz="2400" b="0">
                    <a:solidFill>
                      <a:srgbClr val="111827"/>
                    </a:solidFill>
                    <a:latin typeface="Arial"/>
                  </a:rPr>
                  <a:t> is exactly half of all </a:t>
                </a:r>
                <a:r>
                  <a:rPr lang="en-IN" sz="2400">
                    <a:solidFill>
                      <a:srgbClr val="111827"/>
                    </a:solidFill>
                    <a:latin typeface="Cambria Math" panose="02040503050406030204" pitchFamily="18" charset="0"/>
                  </a:rPr>
                  <a:t>$2^9$</a:t>
                </a:r>
                <a:r>
                  <a:rPr sz="2400" b="0">
                    <a:solidFill>
                      <a:srgbClr val="111827"/>
                    </a:solidFill>
                    <a:latin typeface="Arial"/>
                  </a:rPr>
                  <a:t> subsets of </a:t>
                </a:r>
                <a:r>
                  <a:rPr lang="en-IN" sz="2400">
                    <a:solidFill>
                      <a:srgbClr val="111827"/>
                    </a:solidFill>
                    <a:latin typeface="Cambria Math" panose="02040503050406030204" pitchFamily="18" charset="0"/>
                  </a:rPr>
                  <a:t>$Y$</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386</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 </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256</m:t>
                    </m:r>
                  </m:oMath>
                </a14:m>
                <a:r>
                  <a:rPr sz="2800" b="1">
                    <a:solidFill>
                      <a:srgbClr val="15803D"/>
                    </a:solidFill>
                    <a:latin typeface="Arial"/>
                  </a:rPr>
                  <a:t> (so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&gt;</m:t>
                    </m:r>
                    <m:r>
                      <a:rPr lang="en-IN" sz="2800" i="1">
                        <a:solidFill>
                          <a:srgbClr val="15803D"/>
                        </a:solidFill>
                        <a:latin typeface="Cambria Math" panose="02040503050406030204" pitchFamily="18" charset="0"/>
                      </a:rPr>
                      <m:t>𝑦</m:t>
                    </m:r>
                  </m:oMath>
                </a14:m>
                <a:r>
                  <a:rPr sz="2800" b="1">
                    <a:solidFill>
                      <a:srgbClr val="15803D"/>
                    </a:solidFill>
                    <a:latin typeface="Arial"/>
                  </a:rPr>
                  <a:t> and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130</m:t>
                    </m:r>
                  </m:oMath>
                </a14:m>
                <a:r>
                  <a:rPr sz="2800" b="1">
                    <a:solidFill>
                      <a:srgbClr val="15803D"/>
                    </a:solidFill>
                    <a:latin typeface="Arial"/>
                  </a:rPr>
                  <a:t>)</a:t>
                </a:r>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$x=386,\ y=256$</a:t>
                </a:r>
                <a:r>
                  <a:rPr sz="2800" b="1">
                    <a:solidFill>
                      <a:srgbClr val="15803D"/>
                    </a:solidFill>
                    <a:latin typeface="Arial"/>
                  </a:rPr>
                  <a:t> (so </a:t>
                </a:r>
                <a:r>
                  <a:rPr lang="en-IN" sz="2800">
                    <a:solidFill>
                      <a:srgbClr val="15803D"/>
                    </a:solidFill>
                    <a:latin typeface="Cambria Math" panose="02040503050406030204" pitchFamily="18" charset="0"/>
                  </a:rPr>
                  <a:t>$x&gt;y$</a:t>
                </a:r>
                <a:r>
                  <a:rPr sz="2800" b="1">
                    <a:solidFill>
                      <a:srgbClr val="15803D"/>
                    </a:solidFill>
                    <a:latin typeface="Arial"/>
                  </a:rPr>
                  <a:t> and </a:t>
                </a:r>
                <a:r>
                  <a:rPr lang="en-IN" sz="2800">
                    <a:solidFill>
                      <a:srgbClr val="15803D"/>
                    </a:solidFill>
                    <a:latin typeface="Cambria Math" panose="02040503050406030204" pitchFamily="18" charset="0"/>
                  </a:rPr>
                  <a:t>$x-y=130$</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6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Complement symmetry: </a:t>
                </a:r>
                <a14:m>
                  <m:oMath xmlns:m="http://schemas.openxmlformats.org/officeDocument/2006/math">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𝑈</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𝑆</m:t>
                    </m:r>
                  </m:oMath>
                </a14:m>
                <a:r>
                  <a:rPr sz="2400" b="0">
                    <a:solidFill>
                      <a:srgbClr val="78350F"/>
                    </a:solidFill>
                    <a:latin typeface="Arial"/>
                  </a:rPr>
                  <a:t> swaps large and small subsets, so only the middle size needs care.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Complement symmetry: </a:t>
                </a:r>
                <a:r>
                  <a:rPr lang="en-IN" sz="2400">
                    <a:solidFill>
                      <a:srgbClr val="78350F"/>
                    </a:solidFill>
                    <a:latin typeface="Cambria Math" panose="02040503050406030204" pitchFamily="18" charset="0"/>
                  </a:rPr>
                  <a:t>$S\mapsto U\setminus S$</a:t>
                </a:r>
                <a:r>
                  <a:rPr sz="2400" b="0">
                    <a:solidFill>
                      <a:srgbClr val="78350F"/>
                    </a:solidFill>
                    <a:latin typeface="Arial"/>
                  </a:rPr>
                  <a:t> swaps large and small subsets, so only the middle size needs care.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is a bijection from large subsets to subsets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(small subsets).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is odd, no subset has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large and small subsets are equinumerous and each is half of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9</m:t>
                        </m:r>
                      </m:sup>
                    </m:sSup>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is even, subsets with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are neither large nor small; there are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m:t>
                            </m:r>
                          </m:num>
                          <m:den>
                            <m:r>
                              <a:rPr lang="en-IN" sz="2400" i="1">
                                <a:solidFill>
                                  <a:srgbClr val="111827"/>
                                </a:solidFill>
                                <a:latin typeface="Cambria Math" panose="02040503050406030204" pitchFamily="18" charset="0"/>
                              </a:rPr>
                              <m:t>5</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252</m:t>
                    </m:r>
                  </m:oMath>
                </a14:m>
                <a:r>
                  <a:rPr sz="2400" b="0">
                    <a:solidFill>
                      <a:srgbClr val="111827"/>
                    </a:solidFill>
                    <a:latin typeface="Arial"/>
                  </a:rPr>
                  <a:t> of them.</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map </a:t>
                </a:r>
                <a:r>
                  <a:rPr lang="en-IN" sz="2400">
                    <a:solidFill>
                      <a:srgbClr val="111827"/>
                    </a:solidFill>
                    <a:latin typeface="Cambria Math" panose="02040503050406030204" pitchFamily="18" charset="0"/>
                  </a:rPr>
                  <a:t>$S\mapsto U\setminus S$</a:t>
                </a:r>
                <a:r>
                  <a:rPr sz="2400" b="0">
                    <a:solidFill>
                      <a:srgbClr val="111827"/>
                    </a:solidFill>
                    <a:latin typeface="Arial"/>
                  </a:rPr>
                  <a:t> is a bijection from large subsets to subsets with </a:t>
                </a:r>
                <a:r>
                  <a:rPr lang="en-IN" sz="2400">
                    <a:solidFill>
                      <a:srgbClr val="111827"/>
                    </a:solidFill>
                    <a:latin typeface="Cambria Math" panose="02040503050406030204" pitchFamily="18" charset="0"/>
                  </a:rPr>
                  <a:t>$|S|&lt;|U\setminus S|$</a:t>
                </a:r>
                <a:r>
                  <a:rPr sz="2400" b="0">
                    <a:solidFill>
                      <a:srgbClr val="111827"/>
                    </a:solidFill>
                    <a:latin typeface="Arial"/>
                  </a:rPr>
                  <a:t> (small subsets).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$n=9$</a:t>
                </a:r>
                <a:r>
                  <a:rPr sz="2400" b="0">
                    <a:solidFill>
                      <a:srgbClr val="111827"/>
                    </a:solidFill>
                    <a:latin typeface="Arial"/>
                  </a:rPr>
                  <a:t> is odd, no subset has </a:t>
                </a:r>
                <a:r>
                  <a:rPr lang="en-IN" sz="2400">
                    <a:solidFill>
                      <a:srgbClr val="111827"/>
                    </a:solidFill>
                    <a:latin typeface="Cambria Math" panose="02040503050406030204" pitchFamily="18" charset="0"/>
                  </a:rPr>
                  <a:t>$|S|=|U\setminus S|$</a:t>
                </a:r>
                <a:r>
                  <a:rPr sz="2400" b="0">
                    <a:solidFill>
                      <a:srgbClr val="111827"/>
                    </a:solidFill>
                    <a:latin typeface="Arial"/>
                  </a:rPr>
                  <a:t>, so large and small subsets are equinumerous and each is half of </a:t>
                </a:r>
                <a:r>
                  <a:rPr lang="en-IN" sz="2400">
                    <a:solidFill>
                      <a:srgbClr val="111827"/>
                    </a:solidFill>
                    <a:latin typeface="Cambria Math" panose="02040503050406030204" pitchFamily="18" charset="0"/>
                  </a:rPr>
                  <a:t>$2^9$</a:t>
                </a:r>
                <a:r>
                  <a:rPr sz="2400" b="0">
                    <a:solidFill>
                      <a:srgbClr val="111827"/>
                    </a:solidFill>
                    <a:latin typeface="Arial"/>
                  </a:rPr>
                  <a:t>: </a:t>
                </a:r>
                <a:r>
                  <a:rPr lang="en-IN" sz="2400">
                    <a:solidFill>
                      <a:srgbClr val="111827"/>
                    </a:solidFill>
                    <a:latin typeface="Cambria Math" panose="02040503050406030204" pitchFamily="18" charset="0"/>
                  </a:rPr>
                  <a:t>$y=2^8=256$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$n=10$</a:t>
                </a:r>
                <a:r>
                  <a:rPr sz="2400" b="0">
                    <a:solidFill>
                      <a:srgbClr val="111827"/>
                    </a:solidFill>
                    <a:latin typeface="Arial"/>
                  </a:rPr>
                  <a:t> is even, subsets with </a:t>
                </a:r>
                <a:r>
                  <a:rPr lang="en-IN" sz="2400">
                    <a:solidFill>
                      <a:srgbClr val="111827"/>
                    </a:solidFill>
                    <a:latin typeface="Cambria Math" panose="02040503050406030204" pitchFamily="18" charset="0"/>
                  </a:rPr>
                  <a:t>$|S|=5$</a:t>
                </a:r>
                <a:r>
                  <a:rPr sz="2400" b="0">
                    <a:solidFill>
                      <a:srgbClr val="111827"/>
                    </a:solidFill>
                    <a:latin typeface="Arial"/>
                  </a:rPr>
                  <a:t> are neither large nor small; there are </a:t>
                </a:r>
                <a:r>
                  <a:rPr lang="en-IN" sz="2400">
                    <a:solidFill>
                      <a:srgbClr val="111827"/>
                    </a:solidFill>
                    <a:latin typeface="Cambria Math" panose="02040503050406030204" pitchFamily="18" charset="0"/>
                  </a:rPr>
                  <a:t>$\binom{10}{5}=252$</a:t>
                </a:r>
                <a:r>
                  <a:rPr sz="2400" b="0">
                    <a:solidFill>
                      <a:srgbClr val="111827"/>
                    </a:solidFill>
                    <a:latin typeface="Arial"/>
                  </a:rPr>
                  <a:t> of them.</a:t>
                </a:r>
                <a:endParaRPr sz="2400">
                  <a:solidFill>
                    <a:srgbClr val="111827"/>
                  </a:solidFill>
                </a:endParaRPr>
              </a:p>
            </p:txBody>
          </p:sp>
        </mc:Fallback>
      </mc:AlternateContent>
    </p:spTree>
  </p:cSld>
  <p:clrMapOvr>
    <a:masterClrMapping/>
  </p:clrMapOvr>
</p:sld>
</file>

<file path=ppt/slides/slide6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10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1024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252</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386</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256</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$x=\frac{2^{10}-252}{2}=\frac{1024-252}{2}=386$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Therefore </a:t>
                </a:r>
                <a:r>
                  <a:rPr lang="en-IN" sz="2400">
                    <a:solidFill>
                      <a:srgbClr val="111827"/>
                    </a:solidFill>
                    <a:latin typeface="Cambria Math" panose="02040503050406030204" pitchFamily="18" charset="0"/>
                  </a:rPr>
                  <a:t>$x=386&gt;y=256$</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386</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 </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256</m:t>
                    </m:r>
                  </m:oMath>
                </a14:m>
                <a:r>
                  <a:rPr sz="2800" b="1">
                    <a:solidFill>
                      <a:srgbClr val="15803D"/>
                    </a:solidFill>
                    <a:latin typeface="Arial"/>
                  </a:rPr>
                  <a:t> (so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&gt;</m:t>
                    </m:r>
                    <m:r>
                      <a:rPr lang="en-IN" sz="2800" i="1">
                        <a:solidFill>
                          <a:srgbClr val="15803D"/>
                        </a:solidFill>
                        <a:latin typeface="Cambria Math" panose="02040503050406030204" pitchFamily="18" charset="0"/>
                      </a:rPr>
                      <m:t>𝑦</m:t>
                    </m:r>
                  </m:oMath>
                </a14:m>
                <a:r>
                  <a:rPr sz="2800" b="1">
                    <a:solidFill>
                      <a:srgbClr val="15803D"/>
                    </a:solidFill>
                    <a:latin typeface="Arial"/>
                  </a:rPr>
                  <a:t> and </a:t>
                </a:r>
                <a14:m>
                  <m:oMath xmlns:m="http://schemas.openxmlformats.org/officeDocument/2006/math">
                    <m:r>
                      <a:rPr lang="en-IN" sz="2800" i="1">
                        <a:solidFill>
                          <a:srgbClr val="15803D"/>
                        </a:solidFill>
                        <a:latin typeface="Cambria Math" panose="02040503050406030204" pitchFamily="18" charset="0"/>
                      </a:rPr>
                      <m:t>𝑥</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𝑦</m:t>
                    </m:r>
                    <m:r>
                      <m:rPr>
                        <m:sty m:val="p"/>
                      </m:rPr>
                      <a:rPr lang="en-IN" sz="2800">
                        <a:solidFill>
                          <a:srgbClr val="15803D"/>
                        </a:solidFill>
                        <a:latin typeface="Cambria Math" panose="02040503050406030204" pitchFamily="18" charset="0"/>
                      </a:rPr>
                      <m:t>=</m:t>
                    </m:r>
                    <m:r>
                      <a:rPr lang="en-IN" sz="2800" i="1">
                        <a:solidFill>
                          <a:srgbClr val="15803D"/>
                        </a:solidFill>
                        <a:latin typeface="Cambria Math" panose="02040503050406030204" pitchFamily="18" charset="0"/>
                      </a:rPr>
                      <m:t>130</m:t>
                    </m:r>
                  </m:oMath>
                </a14:m>
                <a:r>
                  <a:rPr sz="2800" b="1">
                    <a:solidFill>
                      <a:srgbClr val="15803D"/>
                    </a:solidFill>
                    <a:latin typeface="Arial"/>
                  </a:rPr>
                  <a:t>)</a:t>
                </a:r>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$x=386,\ y=256$</a:t>
                </a:r>
                <a:r>
                  <a:rPr sz="2800" b="1">
                    <a:solidFill>
                      <a:srgbClr val="15803D"/>
                    </a:solidFill>
                    <a:latin typeface="Arial"/>
                  </a:rPr>
                  <a:t> (so </a:t>
                </a:r>
                <a:r>
                  <a:rPr lang="en-IN" sz="2800">
                    <a:solidFill>
                      <a:srgbClr val="15803D"/>
                    </a:solidFill>
                    <a:latin typeface="Cambria Math" panose="02040503050406030204" pitchFamily="18" charset="0"/>
                  </a:rPr>
                  <a:t>$x&gt;y$</a:t>
                </a:r>
                <a:r>
                  <a:rPr sz="2800" b="1">
                    <a:solidFill>
                      <a:srgbClr val="15803D"/>
                    </a:solidFill>
                    <a:latin typeface="Arial"/>
                  </a:rPr>
                  <a:t> and </a:t>
                </a:r>
                <a:r>
                  <a:rPr lang="en-IN" sz="2800">
                    <a:solidFill>
                      <a:srgbClr val="15803D"/>
                    </a:solidFill>
                    <a:latin typeface="Cambria Math" panose="02040503050406030204" pitchFamily="18" charset="0"/>
                  </a:rPr>
                  <a:t>$x-y=130$</a:t>
                </a:r>
                <a:r>
                  <a:rPr sz="2800" b="1">
                    <a:solidFill>
                      <a:srgbClr val="15803D"/>
                    </a:solidFill>
                    <a:latin typeface="Arial"/>
                  </a:rPr>
                  <a:t>)</a:t>
                </a:r>
                <a:endParaRPr sz="2800">
                  <a:solidFill>
                    <a:srgbClr val="15803D"/>
                  </a:solidFill>
                </a:endParaRPr>
              </a:p>
            </p:txBody>
          </p:sp>
        </mc:Fallback>
      </mc:AlternateContent>
    </p:spTree>
  </p:cSld>
  <p:clrMapOvr>
    <a:masterClrMapping/>
  </p:clrMapOvr>
</p:sld>
</file>

<file path=ppt/slides/slide6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101</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odd, exactly half of all subsets, </a:t>
                </a:r>
                <a14:m>
                  <m:oMath xmlns:m="http://schemas.openxmlformats.org/officeDocument/2006/math">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oMath>
                </a14:m>
                <a:r>
                  <a:rPr sz="2400" b="0">
                    <a:solidFill>
                      <a:srgbClr val="111827"/>
                    </a:solidFill>
                    <a:latin typeface="Arial"/>
                  </a:rPr>
                  <a:t>, are large.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𝑈</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oMath>
                </a14:m>
                <a:r>
                  <a:rPr sz="2400" b="0">
                    <a:solidFill>
                      <a:srgbClr val="111827"/>
                    </a:solidFill>
                    <a:latin typeface="Arial"/>
                  </a:rPr>
                  <a:t> even, the number of large subsets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e>
                    </m:nary>
                  </m:oMath>
                </a14:m>
                <a:r>
                  <a:rPr sz="2400" b="0">
                    <a:solidFill>
                      <a:srgbClr val="111827"/>
                    </a:solidFill>
                    <a:latin typeface="Arial"/>
                  </a:rPr>
                  <a:t> is computed by the complement symmetry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den>
                        </m:f>
                      </m:e>
                    </m:d>
                  </m:oMath>
                </a14:m>
                <a:r>
                  <a:rPr sz="2400" b="0">
                    <a:solidFill>
                      <a:srgbClr val="111827"/>
                    </a:solidFill>
                    <a:latin typeface="Arial"/>
                  </a:rPr>
                  <a:t>; no summation is needed.</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$|U|=n$</a:t>
                </a:r>
                <a:r>
                  <a:rPr sz="2400" b="0">
                    <a:solidFill>
                      <a:srgbClr val="111827"/>
                    </a:solidFill>
                    <a:latin typeface="Arial"/>
                  </a:rPr>
                  <a:t> odd, exactly half of all subsets, </a:t>
                </a:r>
                <a:r>
                  <a:rPr lang="en-IN" sz="2400">
                    <a:solidFill>
                      <a:srgbClr val="111827"/>
                    </a:solidFill>
                    <a:latin typeface="Cambria Math" panose="02040503050406030204" pitchFamily="18" charset="0"/>
                  </a:rPr>
                  <a:t>$2^{n-1}$</a:t>
                </a:r>
                <a:r>
                  <a:rPr sz="2400" b="0">
                    <a:solidFill>
                      <a:srgbClr val="111827"/>
                    </a:solidFill>
                    <a:latin typeface="Arial"/>
                  </a:rPr>
                  <a:t>, are large.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 </a:t>
                </a:r>
                <a:r>
                  <a:rPr lang="en-IN" sz="2400">
                    <a:solidFill>
                      <a:srgbClr val="111827"/>
                    </a:solidFill>
                    <a:latin typeface="Cambria Math" panose="02040503050406030204" pitchFamily="18" charset="0"/>
                  </a:rPr>
                  <a:t>$|U|=n$</a:t>
                </a:r>
                <a:r>
                  <a:rPr sz="2400" b="0">
                    <a:solidFill>
                      <a:srgbClr val="111827"/>
                    </a:solidFill>
                    <a:latin typeface="Arial"/>
                  </a:rPr>
                  <a:t> even, the number of large subsets is </a:t>
                </a:r>
                <a:r>
                  <a:rPr lang="en-IN" sz="2400">
                    <a:solidFill>
                      <a:srgbClr val="111827"/>
                    </a:solidFill>
                    <a:latin typeface="Cambria Math" panose="02040503050406030204" pitchFamily="18" charset="0"/>
                  </a:rPr>
                  <a:t>$\frac{2^n-\binom{n}{n/2}}{2}=2^{n-1}-\frac12\binom{n}{n/2}$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$\sum_{k&gt;n/2}\binom{n}{k}$</a:t>
                </a:r>
                <a:r>
                  <a:rPr sz="2400" b="0">
                    <a:solidFill>
                      <a:srgbClr val="111827"/>
                    </a:solidFill>
                    <a:latin typeface="Arial"/>
                  </a:rPr>
                  <a:t> is computed by the complement symmetry </a:t>
                </a:r>
                <a:r>
                  <a:rPr lang="en-IN" sz="2400">
                    <a:solidFill>
                      <a:srgbClr val="111827"/>
                    </a:solidFill>
                    <a:latin typeface="Cambria Math" panose="02040503050406030204" pitchFamily="18" charset="0"/>
                  </a:rPr>
                  <a:t>$\binom{n}{k}=\binom{n}{n-k}$</a:t>
                </a:r>
                <a:r>
                  <a:rPr sz="2400" b="0">
                    <a:solidFill>
                      <a:srgbClr val="111827"/>
                    </a:solidFill>
                    <a:latin typeface="Arial"/>
                  </a:rPr>
                  <a:t>; no summation is needed.</a:t>
                </a:r>
                <a:endParaRPr sz="2400">
                  <a:solidFill>
                    <a:srgbClr val="111827"/>
                  </a:solidFill>
                </a:endParaRPr>
              </a:p>
            </p:txBody>
          </p:sp>
        </mc:Fallback>
      </mc:AlternateContent>
    </p:spTree>
  </p:cSld>
  <p:clrMapOvr>
    <a:masterClrMapping/>
  </p:clrMapOvr>
</p:sld>
</file>

<file path=ppt/slides/slide6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9</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Numerical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Q102 – Q103</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6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495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possible integral values of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such that the two circles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have exactly two common tangents is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A biased coin which comes up heads three times as often as tails is tossed. If it shows heads, a chip is drawn from urn-I which contains 2 white chips and 5 red chips. If the coin comes up tails, a chip is drawn from urn-II which contains </a:t>
                </a:r>
                <a14:m>
                  <m:oMath xmlns:m="http://schemas.openxmlformats.org/officeDocument/2006/math">
                    <m:r>
                      <a:rPr lang="en-IN" sz="2400" i="1">
                        <a:solidFill>
                          <a:srgbClr val="111827"/>
                        </a:solidFill>
                        <a:latin typeface="Cambria Math" panose="02040503050406030204" pitchFamily="18" charset="0"/>
                      </a:rPr>
                      <m:t>λ</m:t>
                    </m:r>
                  </m:oMath>
                </a14:m>
                <a:r>
                  <a:rPr sz="2400" b="0">
                    <a:solidFill>
                      <a:srgbClr val="111827"/>
                    </a:solidFill>
                    <a:latin typeface="Arial"/>
                  </a:rPr>
                  <a:t> white and 4 red chips. Given that a red chip was drawn, what is the probability that the coin came up heads?</a:t>
                </a:r>
                <a:endParaRPr sz="2400">
                  <a:solidFill>
                    <a:srgbClr val="111827"/>
                  </a:solidFill>
                </a:endParaRPr>
              </a:p>
            </p:txBody>
          </p:sp>
        </mc:Choice>
        <mc:Fallback>
          <p:sp>
            <p:nvSpPr>
              <p:cNvPr id="4" name="Rounded Rectangle 3"/>
              <p:cNvSpPr/>
              <p:nvPr/>
            </p:nvSpPr>
            <p:spPr>
              <a:xfrm>
                <a:off x="731520" y="1280160"/>
                <a:ext cx="10725912" cy="3495548"/>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number of possible integral values of </a:t>
                </a:r>
                <a:r>
                  <a:rPr lang="en-IN" sz="2400">
                    <a:solidFill>
                      <a:srgbClr val="111827"/>
                    </a:solidFill>
                    <a:latin typeface="Cambria Math" panose="02040503050406030204" pitchFamily="18" charset="0"/>
                  </a:rPr>
                  <a:t>$k$</a:t>
                </a:r>
                <a:r>
                  <a:rPr sz="2400" b="0">
                    <a:solidFill>
                      <a:srgbClr val="111827"/>
                    </a:solidFill>
                    <a:latin typeface="Arial"/>
                  </a:rPr>
                  <a:t> such that the two circles </a:t>
                </a:r>
                <a:r>
                  <a:rPr lang="en-IN" sz="2400">
                    <a:solidFill>
                      <a:srgbClr val="111827"/>
                    </a:solidFill>
                    <a:latin typeface="Cambria Math" panose="02040503050406030204" pitchFamily="18" charset="0"/>
                  </a:rPr>
                  <a:t>$x^2+y^2=4$</a:t>
                </a:r>
                <a:r>
                  <a:rPr sz="2400" b="0">
                    <a:solidFill>
                      <a:srgbClr val="111827"/>
                    </a:solidFill>
                    <a:latin typeface="Arial"/>
                  </a:rPr>
                  <a:t> and </a:t>
                </a:r>
                <a:r>
                  <a:rPr lang="en-IN" sz="2400">
                    <a:solidFill>
                      <a:srgbClr val="111827"/>
                    </a:solidFill>
                    <a:latin typeface="Cambria Math" panose="02040503050406030204" pitchFamily="18" charset="0"/>
                  </a:rPr>
                  <a:t>$x^2+y^2-6x-8y+k^2=0$</a:t>
                </a:r>
                <a:r>
                  <a:rPr sz="2400" b="0">
                    <a:solidFill>
                      <a:srgbClr val="111827"/>
                    </a:solidFill>
                    <a:latin typeface="Arial"/>
                  </a:rPr>
                  <a:t> have exactly two common tangents is </a:t>
                </a:r>
                <a:r>
                  <a:rPr lang="en-IN" sz="2400">
                    <a:solidFill>
                      <a:srgbClr val="111827"/>
                    </a:solidFill>
                    <a:latin typeface="Cambria Math" panose="02040503050406030204" pitchFamily="18" charset="0"/>
                  </a:rPr>
                  <a:t>$\lambda$</a:t>
                </a:r>
                <a:r>
                  <a:rPr sz="2400" b="0">
                    <a:solidFill>
                      <a:srgbClr val="111827"/>
                    </a:solidFill>
                    <a:latin typeface="Arial"/>
                  </a:rPr>
                  <a:t>. A biased coin which comes up heads three times as often as tails is tossed. If it shows heads, a chip is drawn from urn-I which contains 2 white chips and 5 red chips. If the coin comes up tails, a chip is drawn from urn-II which contains </a:t>
                </a:r>
                <a:r>
                  <a:rPr lang="en-IN" sz="2400">
                    <a:solidFill>
                      <a:srgbClr val="111827"/>
                    </a:solidFill>
                    <a:latin typeface="Cambria Math" panose="02040503050406030204" pitchFamily="18" charset="0"/>
                  </a:rPr>
                  <a:t>$\lambda$</a:t>
                </a:r>
                <a:r>
                  <a:rPr sz="2400" b="0">
                    <a:solidFill>
                      <a:srgbClr val="111827"/>
                    </a:solidFill>
                    <a:latin typeface="Arial"/>
                  </a:rPr>
                  <a:t> white and 4 red chips. Given that a red chip was drawn, what is the probability that the coin came up heads?</a:t>
                </a:r>
                <a:endParaRPr sz="2400">
                  <a:solidFill>
                    <a:srgbClr val="111827"/>
                  </a:solidFill>
                </a:endParaRPr>
              </a:p>
            </p:txBody>
          </p:sp>
        </mc:Fallback>
      </mc:AlternateContent>
    </p:spTree>
  </p:cSld>
  <p:clrMapOvr>
    <a:masterClrMapping/>
  </p:clrMapOvr>
</p:sld>
</file>

<file path=ppt/slides/slide6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Common tangents of two circles, Conditional probability (Bayes' theorem)</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Exactly two common tangents means the circles intersect in two points: </a:t>
                </a:r>
                <a14:m>
                  <m:oMath xmlns:m="http://schemas.openxmlformats.org/officeDocument/2006/math">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2</m:t>
                        </m:r>
                      </m:sub>
                    </m:sSub>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&lt;</m:t>
                    </m:r>
                    <m:r>
                      <a:rPr lang="en-IN" sz="2400" i="1">
                        <a:solidFill>
                          <a:srgbClr val="78350F"/>
                        </a:solidFill>
                        <a:latin typeface="Cambria Math" panose="02040503050406030204" pitchFamily="18" charset="0"/>
                      </a:rPr>
                      <m:t>𝑑</m:t>
                    </m:r>
                    <m:r>
                      <m:rPr>
                        <m:sty m:val="p"/>
                      </m:rPr>
                      <a:rPr lang="en-IN" sz="2400">
                        <a:solidFill>
                          <a:srgbClr val="78350F"/>
                        </a:solidFill>
                        <a:latin typeface="Cambria Math" panose="02040503050406030204" pitchFamily="18" charset="0"/>
                      </a:rPr>
                      <m:t>&lt;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𝑟</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Exactly two common tangents means the circles intersect in two points: </a:t>
                </a:r>
                <a:r>
                  <a:rPr lang="en-IN" sz="2400">
                    <a:solidFill>
                      <a:srgbClr val="78350F"/>
                    </a:solidFill>
                    <a:latin typeface="Cambria Math" panose="02040503050406030204" pitchFamily="18" charset="0"/>
                  </a:rPr>
                  <a:t>$|r_1-r_2|&lt;d&lt;r_1+r_2$</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1: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radius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Circle 2: centre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radius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real only if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25</m:t>
                    </m:r>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is a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centres is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e>
                    </m:ra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Circle 1: centre </a:t>
                </a:r>
                <a:r>
                  <a:rPr lang="en-IN" sz="2400">
                    <a:solidFill>
                      <a:srgbClr val="111827"/>
                    </a:solidFill>
                    <a:latin typeface="Cambria Math" panose="02040503050406030204" pitchFamily="18" charset="0"/>
                  </a:rPr>
                  <a:t>$(0,0)$</a:t>
                </a:r>
                <a:r>
                  <a:rPr sz="2400" b="0">
                    <a:solidFill>
                      <a:srgbClr val="111827"/>
                    </a:solidFill>
                    <a:latin typeface="Arial"/>
                  </a:rPr>
                  <a:t>, radius </a:t>
                </a:r>
                <a:r>
                  <a:rPr lang="en-IN" sz="2400">
                    <a:solidFill>
                      <a:srgbClr val="111827"/>
                    </a:solidFill>
                    <a:latin typeface="Cambria Math" panose="02040503050406030204" pitchFamily="18" charset="0"/>
                  </a:rPr>
                  <a:t>$r_1=2$</a:t>
                </a:r>
                <a:r>
                  <a:rPr sz="2400" b="0">
                    <a:solidFill>
                      <a:srgbClr val="111827"/>
                    </a:solidFill>
                    <a:latin typeface="Arial"/>
                  </a:rPr>
                  <a:t>. Circle 2: centre </a:t>
                </a:r>
                <a:r>
                  <a:rPr lang="en-IN" sz="2400">
                    <a:solidFill>
                      <a:srgbClr val="111827"/>
                    </a:solidFill>
                    <a:latin typeface="Cambria Math" panose="02040503050406030204" pitchFamily="18" charset="0"/>
                  </a:rPr>
                  <a:t>$(3,4)$</a:t>
                </a:r>
                <a:r>
                  <a:rPr sz="2400" b="0">
                    <a:solidFill>
                      <a:srgbClr val="111827"/>
                    </a:solidFill>
                    <a:latin typeface="Arial"/>
                  </a:rPr>
                  <a:t>, radius </a:t>
                </a:r>
                <a:r>
                  <a:rPr lang="en-IN" sz="2400">
                    <a:solidFill>
                      <a:srgbClr val="111827"/>
                    </a:solidFill>
                    <a:latin typeface="Cambria Math" panose="02040503050406030204" pitchFamily="18" charset="0"/>
                  </a:rPr>
                  <a:t>$r_2=\sqrt{9+16-k^2}=\sqrt{25-k^2}$</a:t>
                </a:r>
                <a:r>
                  <a:rPr sz="2400" b="0">
                    <a:solidFill>
                      <a:srgbClr val="111827"/>
                    </a:solidFill>
                    <a:latin typeface="Arial"/>
                  </a:rPr>
                  <a:t>, real only if </a:t>
                </a:r>
                <a:r>
                  <a:rPr lang="en-IN" sz="2400">
                    <a:solidFill>
                      <a:srgbClr val="111827"/>
                    </a:solidFill>
                    <a:latin typeface="Cambria Math" panose="02040503050406030204" pitchFamily="18" charset="0"/>
                  </a:rPr>
                  <a:t>$k^2&lt;25$</a:t>
                </a:r>
                <a:r>
                  <a:rPr sz="2400" b="0">
                    <a:solidFill>
                      <a:srgbClr val="111827"/>
                    </a:solidFill>
                    <a:latin typeface="Arial"/>
                  </a:rPr>
                  <a:t> (and </a:t>
                </a:r>
                <a:r>
                  <a:rPr lang="en-IN" sz="2400">
                    <a:solidFill>
                      <a:srgbClr val="111827"/>
                    </a:solidFill>
                    <a:latin typeface="Cambria Math" panose="02040503050406030204" pitchFamily="18" charset="0"/>
                  </a:rPr>
                  <a:t>$k^2=25$</a:t>
                </a:r>
                <a:r>
                  <a:rPr sz="2400" b="0">
                    <a:solidFill>
                      <a:srgbClr val="111827"/>
                    </a:solidFill>
                    <a:latin typeface="Arial"/>
                  </a:rPr>
                  <a:t> is a point).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distance between the centres is </a:t>
                </a:r>
                <a:r>
                  <a:rPr lang="en-IN" sz="2400">
                    <a:solidFill>
                      <a:srgbClr val="111827"/>
                    </a:solidFill>
                    <a:latin typeface="Cambria Math" panose="02040503050406030204" pitchFamily="18" charset="0"/>
                  </a:rPr>
                  <a:t>$d=\sqrt{3^2+4^2}=5$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common tangents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circles intersect at two points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&gt;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16</m:t>
                    </m:r>
                  </m:oMath>
                </a14:m>
                <a:r>
                  <a:rPr sz="2400" b="0">
                    <a:solidFill>
                      <a:srgbClr val="111827"/>
                    </a:solidFill>
                    <a:latin typeface="Arial"/>
                  </a:rPr>
                  <a:t>. The other inequality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5</m:t>
                    </m:r>
                  </m:oMath>
                </a14:m>
                <a:r>
                  <a:rPr sz="2400" b="0">
                    <a:solidFill>
                      <a:srgbClr val="111827"/>
                    </a:solidFill>
                    <a:latin typeface="Arial"/>
                  </a:rPr>
                  <a:t> holds automatically as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Integers with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oMath>
                </a14:m>
                <a:r>
                  <a:rPr sz="2400" b="0">
                    <a:solidFill>
                      <a:srgbClr val="111827"/>
                    </a:solidFill>
                    <a:latin typeface="Arial"/>
                  </a:rPr>
                  <a:t>. Urn-I: 2 white, 5 red,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oMath>
                </a14:m>
                <a:r>
                  <a:rPr sz="2400" b="0">
                    <a:solidFill>
                      <a:srgbClr val="111827"/>
                    </a:solidFill>
                    <a:latin typeface="Arial"/>
                  </a:rPr>
                  <a:t>. Urn-II: 7 white, 4 red, 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11</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28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11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num>
                      <m:den>
                        <m:r>
                          <a:rPr lang="en-IN" sz="2400" i="1">
                            <a:solidFill>
                              <a:srgbClr val="111827"/>
                            </a:solidFill>
                            <a:latin typeface="Cambria Math" panose="02040503050406030204" pitchFamily="18" charset="0"/>
                          </a:rPr>
                          <m:t>308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193</m:t>
                        </m:r>
                      </m:num>
                      <m:den>
                        <m:r>
                          <a:rPr lang="en-IN" sz="2400" i="1">
                            <a:solidFill>
                              <a:srgbClr val="111827"/>
                            </a:solidFill>
                            <a:latin typeface="Cambria Math" panose="02040503050406030204" pitchFamily="18" charset="0"/>
                          </a:rPr>
                          <m:t>308</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common tangents </a:t>
                </a:r>
                <a:r>
                  <a:rPr lang="en-IN" sz="2400">
                    <a:solidFill>
                      <a:srgbClr val="111827"/>
                    </a:solidFill>
                    <a:latin typeface="Cambria Math" panose="02040503050406030204" pitchFamily="18" charset="0"/>
                  </a:rPr>
                  <a:t>$\iff$</a:t>
                </a:r>
                <a:r>
                  <a:rPr sz="2400" b="0">
                    <a:solidFill>
                      <a:srgbClr val="111827"/>
                    </a:solidFill>
                    <a:latin typeface="Arial"/>
                  </a:rPr>
                  <a:t> the circles intersect at two points </a:t>
                </a:r>
                <a:r>
                  <a:rPr lang="en-IN" sz="2400">
                    <a:solidFill>
                      <a:srgbClr val="111827"/>
                    </a:solidFill>
                    <a:latin typeface="Cambria Math" panose="02040503050406030204" pitchFamily="18" charset="0"/>
                  </a:rPr>
                  <a:t>$\iff |r_2-2|&lt;5&lt;r_2+2$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$5&lt;r_2+2\Rightarrow r_2&gt;3\Rightarrow 25-k^2&gt;9\Rightarrow k^2&lt;16$</a:t>
                </a:r>
                <a:r>
                  <a:rPr sz="2400" b="0">
                    <a:solidFill>
                      <a:srgbClr val="111827"/>
                    </a:solidFill>
                    <a:latin typeface="Arial"/>
                  </a:rPr>
                  <a:t>. The other inequality </a:t>
                </a:r>
                <a:r>
                  <a:rPr lang="en-IN" sz="2400">
                    <a:solidFill>
                      <a:srgbClr val="111827"/>
                    </a:solidFill>
                    <a:latin typeface="Cambria Math" panose="02040503050406030204" pitchFamily="18" charset="0"/>
                  </a:rPr>
                  <a:t>$r_2-2&lt;5$</a:t>
                </a:r>
                <a:r>
                  <a:rPr sz="2400" b="0">
                    <a:solidFill>
                      <a:srgbClr val="111827"/>
                    </a:solidFill>
                    <a:latin typeface="Arial"/>
                  </a:rPr>
                  <a:t> holds automatically as </a:t>
                </a:r>
                <a:r>
                  <a:rPr lang="en-IN" sz="2400">
                    <a:solidFill>
                      <a:srgbClr val="111827"/>
                    </a:solidFill>
                    <a:latin typeface="Cambria Math" panose="02040503050406030204" pitchFamily="18" charset="0"/>
                  </a:rPr>
                  <a:t>$r_2\le5$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Integers with </a:t>
                </a:r>
                <a:r>
                  <a:rPr lang="en-IN" sz="2400">
                    <a:solidFill>
                      <a:srgbClr val="111827"/>
                    </a:solidFill>
                    <a:latin typeface="Cambria Math" panose="02040503050406030204" pitchFamily="18" charset="0"/>
                  </a:rPr>
                  <a:t>$k^2&lt;16$</a:t>
                </a:r>
                <a:r>
                  <a:rPr sz="2400" b="0">
                    <a:solidFill>
                      <a:srgbClr val="111827"/>
                    </a:solidFill>
                    <a:latin typeface="Arial"/>
                  </a:rPr>
                  <a:t>: </a:t>
                </a:r>
                <a:r>
                  <a:rPr lang="en-IN" sz="2400">
                    <a:solidFill>
                      <a:srgbClr val="111827"/>
                    </a:solidFill>
                    <a:latin typeface="Cambria Math" panose="02040503050406030204" pitchFamily="18" charset="0"/>
                  </a:rPr>
                  <a:t>$k=-3,-2,\ldots,3$</a:t>
                </a:r>
                <a:r>
                  <a:rPr sz="2400" b="0">
                    <a:solidFill>
                      <a:srgbClr val="111827"/>
                    </a:solidFill>
                    <a:latin typeface="Arial"/>
                  </a:rPr>
                  <a:t>, so </a:t>
                </a:r>
                <a:r>
                  <a:rPr lang="en-IN" sz="2400">
                    <a:solidFill>
                      <a:srgbClr val="111827"/>
                    </a:solidFill>
                    <a:latin typeface="Cambria Math" panose="02040503050406030204" pitchFamily="18" charset="0"/>
                  </a:rPr>
                  <a:t>$\lambda=7$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$P(H)=\frac34$</a:t>
                </a:r>
                <a:r>
                  <a:rPr sz="2400" b="0">
                    <a:solidFill>
                      <a:srgbClr val="111827"/>
                    </a:solidFill>
                    <a:latin typeface="Arial"/>
                  </a:rPr>
                  <a:t>, </a:t>
                </a:r>
                <a:r>
                  <a:rPr lang="en-IN" sz="2400">
                    <a:solidFill>
                      <a:srgbClr val="111827"/>
                    </a:solidFill>
                    <a:latin typeface="Cambria Math" panose="02040503050406030204" pitchFamily="18" charset="0"/>
                  </a:rPr>
                  <a:t>$P(T)=\frac14$</a:t>
                </a:r>
                <a:r>
                  <a:rPr sz="2400" b="0">
                    <a:solidFill>
                      <a:srgbClr val="111827"/>
                    </a:solidFill>
                    <a:latin typeface="Arial"/>
                  </a:rPr>
                  <a:t>. Urn-I: 2 white, 5 red, so </a:t>
                </a:r>
                <a:r>
                  <a:rPr lang="en-IN" sz="2400">
                    <a:solidFill>
                      <a:srgbClr val="111827"/>
                    </a:solidFill>
                    <a:latin typeface="Cambria Math" panose="02040503050406030204" pitchFamily="18" charset="0"/>
                  </a:rPr>
                  <a:t>$P(R|H)=\frac57$</a:t>
                </a:r>
                <a:r>
                  <a:rPr sz="2400" b="0">
                    <a:solidFill>
                      <a:srgbClr val="111827"/>
                    </a:solidFill>
                    <a:latin typeface="Arial"/>
                  </a:rPr>
                  <a:t>. Urn-II: 7 white, 4 red, so </a:t>
                </a:r>
                <a:r>
                  <a:rPr lang="en-IN" sz="2400">
                    <a:solidFill>
                      <a:srgbClr val="111827"/>
                    </a:solidFill>
                    <a:latin typeface="Cambria Math" panose="02040503050406030204" pitchFamily="18" charset="0"/>
                  </a:rPr>
                  <a:t>$P(R|T)=\frac{4}{11}$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$P(R)=\frac34\cdot\frac57+\frac14\cdot\frac{4}{11}=\frac{15}{28}+\frac{1}{11}=\frac{165+28}{308}=\frac{193}{308}$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Bayes' theorem,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num>
                          <m:den>
                            <m:r>
                              <a:rPr lang="en-IN" sz="2400" i="1">
                                <a:solidFill>
                                  <a:srgbClr val="111827"/>
                                </a:solidFill>
                                <a:latin typeface="Cambria Math" panose="02040503050406030204" pitchFamily="18" charset="0"/>
                              </a:rPr>
                              <m:t>28</m:t>
                            </m:r>
                          </m:den>
                        </m:f>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193</m:t>
                            </m:r>
                          </m:num>
                          <m:den>
                            <m:r>
                              <a:rPr lang="en-IN" sz="2400" i="1">
                                <a:solidFill>
                                  <a:srgbClr val="111827"/>
                                </a:solidFill>
                                <a:latin typeface="Cambria Math" panose="02040503050406030204" pitchFamily="18" charset="0"/>
                              </a:rPr>
                              <m:t>308</m:t>
                            </m:r>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num>
                      <m:den>
                        <m:r>
                          <a:rPr lang="en-IN" sz="2400" i="1">
                            <a:solidFill>
                              <a:srgbClr val="111827"/>
                            </a:solidFill>
                            <a:latin typeface="Cambria Math" panose="02040503050406030204" pitchFamily="18" charset="0"/>
                          </a:rPr>
                          <m:t>193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165</m:t>
                        </m:r>
                      </m:num>
                      <m:den>
                        <m:r>
                          <a:rPr lang="en-IN" sz="2400" i="1">
                            <a:solidFill>
                              <a:srgbClr val="111827"/>
                            </a:solidFill>
                            <a:latin typeface="Cambria Math" panose="02040503050406030204" pitchFamily="18" charset="0"/>
                          </a:rPr>
                          <m:t>193</m:t>
                        </m:r>
                      </m:den>
                    </m:f>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By Bayes' theorem, </a:t>
                </a:r>
                <a:r>
                  <a:rPr lang="en-IN" sz="2400">
                    <a:solidFill>
                      <a:srgbClr val="111827"/>
                    </a:solidFill>
                    <a:latin typeface="Cambria Math" panose="02040503050406030204" pitchFamily="18" charset="0"/>
                  </a:rPr>
                  <a:t>$P(H|R)=\frac{\frac{15}{28}}{\frac{193}{308}}=\frac{15\cdot 11}{193}=\frac{165}{193}$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165</m:t>
                        </m:r>
                      </m:num>
                      <m:den>
                        <m:r>
                          <a:rPr lang="en-IN" sz="2800" i="1">
                            <a:solidFill>
                              <a:srgbClr val="15803D"/>
                            </a:solidFill>
                            <a:latin typeface="Cambria Math" panose="02040503050406030204" pitchFamily="18" charset="0"/>
                          </a:rPr>
                          <m:t>193</m:t>
                        </m:r>
                      </m:den>
                    </m:f>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t>
                </a:r>
                <a:r>
                  <a:rPr lang="en-IN" sz="2800">
                    <a:solidFill>
                      <a:srgbClr val="15803D"/>
                    </a:solidFill>
                    <a:latin typeface="Cambria Math" panose="02040503050406030204" pitchFamily="18" charset="0"/>
                  </a:rPr>
                  <a:t>$\frac{165}{193}$</a:t>
                </a:r>
                <a:endParaRPr sz="2800">
                  <a:solidFill>
                    <a:srgbClr val="15803D"/>
                  </a:solidFill>
                </a:endParaRPr>
              </a:p>
            </p:txBody>
          </p:sp>
        </mc:Fallback>
      </mc:AlternateContent>
    </p:spTree>
  </p:cSld>
  <p:clrMapOvr>
    <a:masterClrMapping/>
  </p:clrMapOvr>
</p:sld>
</file>

<file path=ppt/slides/slide6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the radical axis (common chord) for the tangent count, and the odds form of Bayes' theorem for the probability.</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common tangents iff the circles meet in two points, i.e. the common chord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cuts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in two points.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Its distance from the origin is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10</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points on circle 1 need </a:t>
                </a:r>
                <a14:m>
                  <m:oMath xmlns:m="http://schemas.openxmlformats.org/officeDocument/2006/math">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10</m:t>
                        </m:r>
                      </m:den>
                    </m:f>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m:t>
                    </m:r>
                  </m:oMath>
                </a14:m>
                <a:r>
                  <a:rPr sz="2400" b="0">
                    <a:solidFill>
                      <a:srgbClr val="111827"/>
                    </a:solidFill>
                    <a:latin typeface="Arial"/>
                  </a:rPr>
                  <a:t>, i.e.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16</m:t>
                    </m:r>
                  </m:oMath>
                </a14:m>
                <a:r>
                  <a:rPr sz="2400" b="0">
                    <a:solidFill>
                      <a:srgbClr val="111827"/>
                    </a:solidFill>
                    <a:latin typeface="Arial"/>
                  </a:rPr>
                  <a:t>. Circle 2 is real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25</m:t>
                    </m:r>
                  </m:oMath>
                </a14:m>
                <a:r>
                  <a:rPr sz="2400" b="0">
                    <a:solidFill>
                      <a:srgbClr val="111827"/>
                    </a:solidFill>
                    <a:latin typeface="Arial"/>
                  </a:rPr>
                  <a:t>) automatically,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Two common tangents iff the circles meet in two points, i.e. the common chord </a:t>
                </a:r>
                <a:r>
                  <a:rPr lang="en-IN" sz="2400">
                    <a:solidFill>
                      <a:srgbClr val="111827"/>
                    </a:solidFill>
                    <a:latin typeface="Cambria Math" panose="02040503050406030204" pitchFamily="18" charset="0"/>
                  </a:rPr>
                  <a:t>$S_1-S_2=0$</a:t>
                </a:r>
                <a:r>
                  <a:rPr sz="2400" b="0">
                    <a:solidFill>
                      <a:srgbClr val="111827"/>
                    </a:solidFill>
                    <a:latin typeface="Arial"/>
                  </a:rPr>
                  <a:t> cuts </a:t>
                </a:r>
                <a:r>
                  <a:rPr lang="en-IN" sz="2400">
                    <a:solidFill>
                      <a:srgbClr val="111827"/>
                    </a:solidFill>
                    <a:latin typeface="Cambria Math" panose="02040503050406030204" pitchFamily="18" charset="0"/>
                  </a:rPr>
                  <a:t>$x^2+y^2=4$</a:t>
                </a:r>
                <a:r>
                  <a:rPr sz="2400" b="0">
                    <a:solidFill>
                      <a:srgbClr val="111827"/>
                    </a:solidFill>
                    <a:latin typeface="Arial"/>
                  </a:rPr>
                  <a:t> in two points.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$S_1-S_2=0$</a:t>
                </a:r>
                <a:r>
                  <a:rPr sz="2400" b="0">
                    <a:solidFill>
                      <a:srgbClr val="111827"/>
                    </a:solidFill>
                    <a:latin typeface="Arial"/>
                  </a:rPr>
                  <a:t> gives </a:t>
                </a:r>
                <a:r>
                  <a:rPr lang="en-IN" sz="2400">
                    <a:solidFill>
                      <a:srgbClr val="111827"/>
                    </a:solidFill>
                    <a:latin typeface="Cambria Math" panose="02040503050406030204" pitchFamily="18" charset="0"/>
                  </a:rPr>
                  <a:t>$6x+8y-k^2-4=0$</a:t>
                </a:r>
                <a:r>
                  <a:rPr sz="2400" b="0">
                    <a:solidFill>
                      <a:srgbClr val="111827"/>
                    </a:solidFill>
                    <a:latin typeface="Arial"/>
                  </a:rPr>
                  <a:t>. Its distance from the origin is </a:t>
                </a:r>
                <a:r>
                  <a:rPr lang="en-IN" sz="2400">
                    <a:solidFill>
                      <a:srgbClr val="111827"/>
                    </a:solidFill>
                    <a:latin typeface="Cambria Math" panose="02040503050406030204" pitchFamily="18" charset="0"/>
                  </a:rPr>
                  <a:t>$\frac{k^2+4}{10}$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Two points on circle 1 need </a:t>
                </a:r>
                <a:r>
                  <a:rPr lang="en-IN" sz="2400">
                    <a:solidFill>
                      <a:srgbClr val="111827"/>
                    </a:solidFill>
                    <a:latin typeface="Cambria Math" panose="02040503050406030204" pitchFamily="18" charset="0"/>
                  </a:rPr>
                  <a:t>$\frac{k^2+4}{10}&lt;2$</a:t>
                </a:r>
                <a:r>
                  <a:rPr sz="2400" b="0">
                    <a:solidFill>
                      <a:srgbClr val="111827"/>
                    </a:solidFill>
                    <a:latin typeface="Arial"/>
                  </a:rPr>
                  <a:t>, i.e. </a:t>
                </a:r>
                <a:r>
                  <a:rPr lang="en-IN" sz="2400">
                    <a:solidFill>
                      <a:srgbClr val="111827"/>
                    </a:solidFill>
                    <a:latin typeface="Cambria Math" panose="02040503050406030204" pitchFamily="18" charset="0"/>
                  </a:rPr>
                  <a:t>$k^2&lt;16$</a:t>
                </a:r>
                <a:r>
                  <a:rPr sz="2400" b="0">
                    <a:solidFill>
                      <a:srgbClr val="111827"/>
                    </a:solidFill>
                    <a:latin typeface="Arial"/>
                  </a:rPr>
                  <a:t>. Circle 2 is real (</a:t>
                </a:r>
                <a:r>
                  <a:rPr lang="en-IN" sz="2400">
                    <a:solidFill>
                      <a:srgbClr val="111827"/>
                    </a:solidFill>
                    <a:latin typeface="Cambria Math" panose="02040503050406030204" pitchFamily="18" charset="0"/>
                  </a:rPr>
                  <a:t>$k^2&lt;25$</a:t>
                </a:r>
                <a:r>
                  <a:rPr sz="2400" b="0">
                    <a:solidFill>
                      <a:srgbClr val="111827"/>
                    </a:solidFill>
                    <a:latin typeface="Arial"/>
                  </a:rPr>
                  <a:t>) automatically, so </a:t>
                </a:r>
                <a:r>
                  <a:rPr lang="en-IN" sz="2400">
                    <a:solidFill>
                      <a:srgbClr val="111827"/>
                    </a:solidFill>
                    <a:latin typeface="Cambria Math" panose="02040503050406030204" pitchFamily="18" charset="0"/>
                  </a:rPr>
                  <a:t>$k=-3,\ldots,3$</a:t>
                </a:r>
                <a:r>
                  <a:rPr sz="2400" b="0">
                    <a:solidFill>
                      <a:srgbClr val="111827"/>
                    </a:solidFill>
                    <a:latin typeface="Arial"/>
                  </a:rPr>
                  <a:t> and </a:t>
                </a:r>
                <a:r>
                  <a:rPr lang="en-IN" sz="2400">
                    <a:solidFill>
                      <a:srgbClr val="111827"/>
                    </a:solidFill>
                    <a:latin typeface="Cambria Math" panose="02040503050406030204" pitchFamily="18" charset="0"/>
                  </a:rPr>
                  <a:t>$\lambda=7$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Odds of heads given red: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𝑇</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3</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7</m:t>
                            </m:r>
                          </m:den>
                        </m:f>
                      </m:num>
                      <m:den>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4</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11</m:t>
                            </m:r>
                          </m:den>
                        </m:f>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11</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165</m:t>
                        </m:r>
                      </m:num>
                      <m:den>
                        <m:r>
                          <a:rPr lang="en-IN" sz="2400" i="1">
                            <a:solidFill>
                              <a:srgbClr val="111827"/>
                            </a:solidFill>
                            <a:latin typeface="Cambria Math" panose="02040503050406030204" pitchFamily="18" charset="0"/>
                          </a:rPr>
                          <m:t>28</m:t>
                        </m:r>
                      </m:den>
                    </m:f>
                  </m:oMath>
                </a14:m>
                <a:r>
                  <a:rPr sz="2400" b="0">
                    <a:solidFill>
                      <a:srgbClr val="111827"/>
                    </a:solidFill>
                    <a:latin typeface="Arial"/>
                  </a:rPr>
                  <a:t> (urn-II has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 white,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red).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𝐻</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165</m:t>
                        </m:r>
                      </m:num>
                      <m:den>
                        <m:r>
                          <a:rPr lang="en-IN" sz="2400" i="1">
                            <a:solidFill>
                              <a:srgbClr val="111827"/>
                            </a:solidFill>
                            <a:latin typeface="Cambria Math" panose="02040503050406030204" pitchFamily="18" charset="0"/>
                          </a:rPr>
                          <m:t>165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165</m:t>
                        </m:r>
                      </m:num>
                      <m:den>
                        <m:r>
                          <a:rPr lang="en-IN" sz="2400" i="1">
                            <a:solidFill>
                              <a:srgbClr val="111827"/>
                            </a:solidFill>
                            <a:latin typeface="Cambria Math" panose="02040503050406030204" pitchFamily="18" charset="0"/>
                          </a:rPr>
                          <m:t>193</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Odds of heads given red: </a:t>
                </a:r>
                <a:r>
                  <a:rPr lang="en-IN" sz="2400">
                    <a:solidFill>
                      <a:srgbClr val="111827"/>
                    </a:solidFill>
                    <a:latin typeface="Cambria Math" panose="02040503050406030204" pitchFamily="18" charset="0"/>
                  </a:rPr>
                  <a:t>$\frac{P(H)P(R|H)}{P(T)P(R|T)}=\frac{\frac34\cdot\frac57}{\frac14\cdot\frac4{11}}=\frac{15/7}{4/11}=\frac{165}{28}$</a:t>
                </a:r>
                <a:r>
                  <a:rPr sz="2400" b="0">
                    <a:solidFill>
                      <a:srgbClr val="111827"/>
                    </a:solidFill>
                    <a:latin typeface="Arial"/>
                  </a:rPr>
                  <a:t> (urn-II has </a:t>
                </a:r>
                <a:r>
                  <a:rPr lang="en-IN" sz="2400">
                    <a:solidFill>
                      <a:srgbClr val="111827"/>
                    </a:solidFill>
                    <a:latin typeface="Cambria Math" panose="02040503050406030204" pitchFamily="18" charset="0"/>
                  </a:rPr>
                  <a:t>$7$</a:t>
                </a:r>
                <a:r>
                  <a:rPr sz="2400" b="0">
                    <a:solidFill>
                      <a:srgbClr val="111827"/>
                    </a:solidFill>
                    <a:latin typeface="Arial"/>
                  </a:rPr>
                  <a:t> white, </a:t>
                </a:r>
                <a:r>
                  <a:rPr lang="en-IN" sz="2400">
                    <a:solidFill>
                      <a:srgbClr val="111827"/>
                    </a:solidFill>
                    <a:latin typeface="Cambria Math" panose="02040503050406030204" pitchFamily="18" charset="0"/>
                  </a:rPr>
                  <a:t>$4$</a:t>
                </a:r>
                <a:r>
                  <a:rPr sz="2400" b="0">
                    <a:solidFill>
                      <a:srgbClr val="111827"/>
                    </a:solidFill>
                    <a:latin typeface="Arial"/>
                  </a:rPr>
                  <a:t> red).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$P(H|R)=\frac{165}{165+28}=\frac{165}{193}$</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14:m>
                  <m:oMath xmlns:m="http://schemas.openxmlformats.org/officeDocument/2006/math">
                    <m:f>
                      <m:fPr>
                        <m:type m:val="bar"/>
                        <m:ctrlPr>
                          <a:rPr lang="en-IN" sz="2800" i="1">
                            <a:solidFill>
                              <a:srgbClr val="15803D"/>
                            </a:solidFill>
                            <a:latin typeface="Cambria Math" panose="02040503050406030204" pitchFamily="18" charset="0"/>
                          </a:rPr>
                        </m:ctrlPr>
                      </m:fPr>
                      <m:num>
                        <m:r>
                          <a:rPr lang="en-IN" sz="2800" i="1">
                            <a:solidFill>
                              <a:srgbClr val="15803D"/>
                            </a:solidFill>
                            <a:latin typeface="Cambria Math" panose="02040503050406030204" pitchFamily="18" charset="0"/>
                          </a:rPr>
                          <m:t>165</m:t>
                        </m:r>
                      </m:num>
                      <m:den>
                        <m:r>
                          <a:rPr lang="en-IN" sz="2800" i="1">
                            <a:solidFill>
                              <a:srgbClr val="15803D"/>
                            </a:solidFill>
                            <a:latin typeface="Cambria Math" panose="02040503050406030204" pitchFamily="18" charset="0"/>
                          </a:rPr>
                          <m:t>193</m:t>
                        </m:r>
                      </m:den>
                    </m:f>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t>
                </a:r>
                <a:r>
                  <a:rPr lang="en-IN" sz="2800">
                    <a:solidFill>
                      <a:srgbClr val="15803D"/>
                    </a:solidFill>
                    <a:latin typeface="Cambria Math" panose="02040503050406030204" pitchFamily="18" charset="0"/>
                  </a:rPr>
                  <a:t>$\frac{165}{193}$</a:t>
                </a:r>
                <a:endParaRPr sz="2800">
                  <a:solidFill>
                    <a:srgbClr val="15803D"/>
                  </a:solidFill>
                </a:endParaRPr>
              </a:p>
            </p:txBody>
          </p:sp>
        </mc:Fallback>
      </mc:AlternateContent>
    </p:spTree>
  </p:cSld>
  <p:clrMapOvr>
    <a:masterClrMapping/>
  </p:clrMapOvr>
</p:sld>
</file>

<file path=ppt/slides/slide6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102</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common tangents of circles with radii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and centre distance </a:t>
                </a:r>
                <a14:m>
                  <m:oMath xmlns:m="http://schemas.openxmlformats.org/officeDocument/2006/math">
                    <m:r>
                      <a:rPr lang="en-IN" sz="2400" i="1">
                        <a:solidFill>
                          <a:srgbClr val="111827"/>
                        </a:solidFill>
                        <a:latin typeface="Cambria Math" panose="02040503050406030204" pitchFamily="18" charset="0"/>
                      </a:rPr>
                      <m:t>𝑑</m:t>
                    </m:r>
                  </m:oMath>
                </a14:m>
                <a:r>
                  <a:rPr sz="2400" b="0">
                    <a:solidFill>
                      <a:srgbClr val="111827"/>
                    </a:solidFill>
                    <a:latin typeface="Arial"/>
                  </a:rPr>
                  <a:t>: 4 if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&gt;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3 if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2 if </a:t>
                </a:r>
                <a14:m>
                  <m:oMath xmlns:m="http://schemas.openxmlformats.org/officeDocument/2006/math">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&lt;</m:t>
                    </m:r>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&lt;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1 if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 0 if </a:t>
                </a:r>
                <a14:m>
                  <m:oMath xmlns:m="http://schemas.openxmlformats.org/officeDocument/2006/math">
                    <m:r>
                      <a:rPr lang="en-IN" sz="2400" i="1">
                        <a:solidFill>
                          <a:srgbClr val="111827"/>
                        </a:solidFill>
                        <a:latin typeface="Cambria Math" panose="02040503050406030204" pitchFamily="18" charset="0"/>
                      </a:rPr>
                      <m:t>𝑑</m:t>
                    </m:r>
                    <m:r>
                      <m:rPr>
                        <m:sty m:val="p"/>
                      </m:rPr>
                      <a:rPr lang="en-IN" sz="2400">
                        <a:solidFill>
                          <a:srgbClr val="111827"/>
                        </a:solidFill>
                        <a:latin typeface="Cambria Math" panose="02040503050406030204" pitchFamily="18" charset="0"/>
                      </a:rPr>
                      <m:t>&lt;</m:t>
                    </m:r>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𝑔</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𝑓</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is real only if </a:t>
                </a:r>
                <a14:m>
                  <m:oMath xmlns:m="http://schemas.openxmlformats.org/officeDocument/2006/math">
                    <m:sSup>
                      <m:e>
                        <m:r>
                          <a:rPr lang="en-IN" sz="2400" i="1">
                            <a:solidFill>
                              <a:srgbClr val="111827"/>
                            </a:solidFill>
                            <a:latin typeface="Cambria Math" panose="02040503050406030204" pitchFamily="18" charset="0"/>
                          </a:rPr>
                          <m:t>𝑔</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𝑓</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 point circle if equal): here </a:t>
                </a:r>
                <a14:m>
                  <m:oMath xmlns:m="http://schemas.openxmlformats.org/officeDocument/2006/math">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Bayes with two causes: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𝐴</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Number of common tangents of circles with radii </a:t>
                </a:r>
                <a:r>
                  <a:rPr lang="en-IN" sz="2400">
                    <a:solidFill>
                      <a:srgbClr val="111827"/>
                    </a:solidFill>
                    <a:latin typeface="Cambria Math" panose="02040503050406030204" pitchFamily="18" charset="0"/>
                  </a:rPr>
                  <a:t>$r_1,r_2$</a:t>
                </a:r>
                <a:r>
                  <a:rPr sz="2400" b="0">
                    <a:solidFill>
                      <a:srgbClr val="111827"/>
                    </a:solidFill>
                    <a:latin typeface="Arial"/>
                  </a:rPr>
                  <a:t> and centre distance </a:t>
                </a:r>
                <a:r>
                  <a:rPr lang="en-IN" sz="2400">
                    <a:solidFill>
                      <a:srgbClr val="111827"/>
                    </a:solidFill>
                    <a:latin typeface="Cambria Math" panose="02040503050406030204" pitchFamily="18" charset="0"/>
                  </a:rPr>
                  <a:t>$d$</a:t>
                </a:r>
                <a:r>
                  <a:rPr sz="2400" b="0">
                    <a:solidFill>
                      <a:srgbClr val="111827"/>
                    </a:solidFill>
                    <a:latin typeface="Arial"/>
                  </a:rPr>
                  <a:t>: 4 if </a:t>
                </a:r>
                <a:r>
                  <a:rPr lang="en-IN" sz="2400">
                    <a:solidFill>
                      <a:srgbClr val="111827"/>
                    </a:solidFill>
                    <a:latin typeface="Cambria Math" panose="02040503050406030204" pitchFamily="18" charset="0"/>
                  </a:rPr>
                  <a:t>$d&gt;r_1+r_2$</a:t>
                </a:r>
                <a:r>
                  <a:rPr sz="2400" b="0">
                    <a:solidFill>
                      <a:srgbClr val="111827"/>
                    </a:solidFill>
                    <a:latin typeface="Arial"/>
                  </a:rPr>
                  <a:t>, 3 if </a:t>
                </a:r>
                <a:r>
                  <a:rPr lang="en-IN" sz="2400">
                    <a:solidFill>
                      <a:srgbClr val="111827"/>
                    </a:solidFill>
                    <a:latin typeface="Cambria Math" panose="02040503050406030204" pitchFamily="18" charset="0"/>
                  </a:rPr>
                  <a:t>$d=r_1+r_2$</a:t>
                </a:r>
                <a:r>
                  <a:rPr sz="2400" b="0">
                    <a:solidFill>
                      <a:srgbClr val="111827"/>
                    </a:solidFill>
                    <a:latin typeface="Arial"/>
                  </a:rPr>
                  <a:t>, 2 if </a:t>
                </a:r>
                <a:r>
                  <a:rPr lang="en-IN" sz="2400">
                    <a:solidFill>
                      <a:srgbClr val="111827"/>
                    </a:solidFill>
                    <a:latin typeface="Cambria Math" panose="02040503050406030204" pitchFamily="18" charset="0"/>
                  </a:rPr>
                  <a:t>$|r_1-r_2|&lt;d&lt;r_1+r_2$</a:t>
                </a:r>
                <a:r>
                  <a:rPr sz="2400" b="0">
                    <a:solidFill>
                      <a:srgbClr val="111827"/>
                    </a:solidFill>
                    <a:latin typeface="Arial"/>
                  </a:rPr>
                  <a:t>, 1 if </a:t>
                </a:r>
                <a:r>
                  <a:rPr lang="en-IN" sz="2400">
                    <a:solidFill>
                      <a:srgbClr val="111827"/>
                    </a:solidFill>
                    <a:latin typeface="Cambria Math" panose="02040503050406030204" pitchFamily="18" charset="0"/>
                  </a:rPr>
                  <a:t>$d=|r_1-r_2|$</a:t>
                </a:r>
                <a:r>
                  <a:rPr sz="2400" b="0">
                    <a:solidFill>
                      <a:srgbClr val="111827"/>
                    </a:solidFill>
                    <a:latin typeface="Arial"/>
                  </a:rPr>
                  <a:t>, 0 if </a:t>
                </a:r>
                <a:r>
                  <a:rPr lang="en-IN" sz="2400">
                    <a:solidFill>
                      <a:srgbClr val="111827"/>
                    </a:solidFill>
                    <a:latin typeface="Cambria Math" panose="02040503050406030204" pitchFamily="18" charset="0"/>
                  </a:rPr>
                  <a:t>$d&lt;|r_1-r_2|$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Circle </a:t>
                </a:r>
                <a:r>
                  <a:rPr lang="en-IN" sz="2400">
                    <a:solidFill>
                      <a:srgbClr val="111827"/>
                    </a:solidFill>
                    <a:latin typeface="Cambria Math" panose="02040503050406030204" pitchFamily="18" charset="0"/>
                  </a:rPr>
                  <a:t>$x^2+y^2+2gx+2fy+c=0$</a:t>
                </a:r>
                <a:r>
                  <a:rPr sz="2400" b="0">
                    <a:solidFill>
                      <a:srgbClr val="111827"/>
                    </a:solidFill>
                    <a:latin typeface="Arial"/>
                  </a:rPr>
                  <a:t> is real only if </a:t>
                </a:r>
                <a:r>
                  <a:rPr lang="en-IN" sz="2400">
                    <a:solidFill>
                      <a:srgbClr val="111827"/>
                    </a:solidFill>
                    <a:latin typeface="Cambria Math" panose="02040503050406030204" pitchFamily="18" charset="0"/>
                  </a:rPr>
                  <a:t>$g^2+f^2-c\ge0$</a:t>
                </a:r>
                <a:r>
                  <a:rPr sz="2400" b="0">
                    <a:solidFill>
                      <a:srgbClr val="111827"/>
                    </a:solidFill>
                    <a:latin typeface="Arial"/>
                  </a:rPr>
                  <a:t> (a point circle if equal): here </a:t>
                </a:r>
                <a:r>
                  <a:rPr lang="en-IN" sz="2400">
                    <a:solidFill>
                      <a:srgbClr val="111827"/>
                    </a:solidFill>
                    <a:latin typeface="Cambria Math" panose="02040503050406030204" pitchFamily="18" charset="0"/>
                  </a:rPr>
                  <a:t>$k^2\le25$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Bayes with two causes: </a:t>
                </a:r>
                <a:r>
                  <a:rPr lang="en-IN" sz="2400">
                    <a:solidFill>
                      <a:srgbClr val="111827"/>
                    </a:solidFill>
                    <a:latin typeface="Cambria Math" panose="02040503050406030204" pitchFamily="18" charset="0"/>
                  </a:rPr>
                  <a:t>$P(A|E)=\frac{P(A)P(E|A)}{P(A)P(E|A)+P(A^c)P(E|A^c)}$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250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Recall that if </a:t>
                </a:r>
                <a14:m>
                  <m:oMath xmlns:m="http://schemas.openxmlformats.org/officeDocument/2006/math">
                    <m:r>
                      <a:rPr lang="en-IN" sz="2400" i="1">
                        <a:solidFill>
                          <a:srgbClr val="111827"/>
                        </a:solidFill>
                        <a:latin typeface="Cambria Math" panose="02040503050406030204" pitchFamily="18" charset="0"/>
                      </a:rPr>
                      <m:t>ℎ</m:t>
                    </m:r>
                  </m:oMath>
                </a14:m>
                <a:r>
                  <a:rPr sz="2400" b="0">
                    <a:solidFill>
                      <a:srgbClr val="111827"/>
                    </a:solidFill>
                    <a:latin typeface="Arial"/>
                  </a:rPr>
                  <a:t> is a function from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𝑌</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𝑔</m:t>
                    </m:r>
                  </m:oMath>
                </a14:m>
                <a:r>
                  <a:rPr sz="2400" b="0">
                    <a:solidFill>
                      <a:srgbClr val="111827"/>
                    </a:solidFill>
                    <a:latin typeface="Arial"/>
                  </a:rPr>
                  <a:t> is a function from </a:t>
                </a:r>
                <a14:m>
                  <m:oMath xmlns:m="http://schemas.openxmlformats.org/officeDocument/2006/math">
                    <m:r>
                      <a:rPr lang="en-IN" sz="2400" i="1">
                        <a:solidFill>
                          <a:srgbClr val="111827"/>
                        </a:solidFill>
                        <a:latin typeface="Cambria Math" panose="02040503050406030204" pitchFamily="18" charset="0"/>
                      </a:rPr>
                      <m:t>𝑌</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𝑍</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oMath>
                </a14:m>
                <a:r>
                  <a:rPr sz="2400" b="0">
                    <a:solidFill>
                      <a:srgbClr val="111827"/>
                    </a:solidFill>
                    <a:latin typeface="Arial"/>
                  </a:rPr>
                  <a:t> is the function from </a:t>
                </a:r>
                <a14:m>
                  <m:oMath xmlns:m="http://schemas.openxmlformats.org/officeDocument/2006/math">
                    <m:r>
                      <a:rPr lang="en-IN" sz="2400" i="1">
                        <a:solidFill>
                          <a:srgbClr val="111827"/>
                        </a:solidFill>
                        <a:latin typeface="Cambria Math" panose="02040503050406030204" pitchFamily="18" charset="0"/>
                      </a:rPr>
                      <m:t>𝑋</m:t>
                    </m:r>
                  </m:oMath>
                </a14:m>
                <a:r>
                  <a:rPr sz="2400" b="0">
                    <a:solidFill>
                      <a:srgbClr val="111827"/>
                    </a:solidFill>
                    <a:latin typeface="Arial"/>
                  </a:rPr>
                  <a:t> to </a:t>
                </a:r>
                <a14:m>
                  <m:oMath xmlns:m="http://schemas.openxmlformats.org/officeDocument/2006/math">
                    <m:r>
                      <a:rPr lang="en-IN" sz="2400" i="1">
                        <a:solidFill>
                          <a:srgbClr val="111827"/>
                        </a:solidFill>
                        <a:latin typeface="Cambria Math" panose="02040503050406030204" pitchFamily="18" charset="0"/>
                      </a:rPr>
                      <m:t>𝑍</m:t>
                    </m:r>
                  </m:oMath>
                </a14:m>
                <a:r>
                  <a:rPr sz="2400" b="0">
                    <a:solidFill>
                      <a:srgbClr val="111827"/>
                    </a:solidFill>
                    <a:latin typeface="Arial"/>
                  </a:rPr>
                  <a:t> such that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𝑔</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𝑋</m:t>
                    </m:r>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 be the set of all functions </a:t>
                </a:r>
                <a14:m>
                  <m:oMath xmlns:m="http://schemas.openxmlformats.org/officeDocument/2006/math">
                    <m:r>
                      <a:rPr lang="en-IN" sz="2400" i="1">
                        <a:solidFill>
                          <a:srgbClr val="111827"/>
                        </a:solidFill>
                        <a:latin typeface="Cambria Math" panose="02040503050406030204" pitchFamily="18" charset="0"/>
                      </a:rPr>
                      <m:t>𝑓</m:t>
                    </m:r>
                  </m:oMath>
                </a14:m>
                <a:r>
                  <a:rPr sz="2400" b="0">
                    <a:solidFill>
                      <a:srgbClr val="111827"/>
                    </a:solidFill>
                    <a:latin typeface="Arial"/>
                  </a:rPr>
                  <a:t> from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such that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oMath>
                </a14:m>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Compute the number of functions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 whose range has three elements.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What is the cardinality of </a:t>
                </a:r>
                <a14:m>
                  <m:oMath xmlns:m="http://schemas.openxmlformats.org/officeDocument/2006/math">
                    <m:r>
                      <a:rPr lang="en-IN" sz="2400" i="1">
                        <a:solidFill>
                          <a:srgbClr val="111827"/>
                        </a:solidFill>
                        <a:latin typeface="Cambria Math" panose="02040503050406030204" pitchFamily="18" charset="0"/>
                      </a:rPr>
                      <m:t>𝑆</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250691"/>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Recall that if </a:t>
                </a:r>
                <a:r>
                  <a:rPr lang="en-IN" sz="2400">
                    <a:solidFill>
                      <a:srgbClr val="111827"/>
                    </a:solidFill>
                    <a:latin typeface="Cambria Math" panose="02040503050406030204" pitchFamily="18" charset="0"/>
                  </a:rPr>
                  <a:t>$h$</a:t>
                </a:r>
                <a:r>
                  <a:rPr sz="2400" b="0">
                    <a:solidFill>
                      <a:srgbClr val="111827"/>
                    </a:solidFill>
                    <a:latin typeface="Arial"/>
                  </a:rPr>
                  <a:t> is a function from </a:t>
                </a:r>
                <a:r>
                  <a:rPr lang="en-IN" sz="2400">
                    <a:solidFill>
                      <a:srgbClr val="111827"/>
                    </a:solidFill>
                    <a:latin typeface="Cambria Math" panose="02040503050406030204" pitchFamily="18" charset="0"/>
                  </a:rPr>
                  <a:t>$X$</a:t>
                </a:r>
                <a:r>
                  <a:rPr sz="2400" b="0">
                    <a:solidFill>
                      <a:srgbClr val="111827"/>
                    </a:solidFill>
                    <a:latin typeface="Arial"/>
                  </a:rPr>
                  <a:t> to </a:t>
                </a:r>
                <a:r>
                  <a:rPr lang="en-IN" sz="2400">
                    <a:solidFill>
                      <a:srgbClr val="111827"/>
                    </a:solidFill>
                    <a:latin typeface="Cambria Math" panose="02040503050406030204" pitchFamily="18" charset="0"/>
                  </a:rPr>
                  <a:t>$Y$</a:t>
                </a:r>
                <a:r>
                  <a:rPr sz="2400" b="0">
                    <a:solidFill>
                      <a:srgbClr val="111827"/>
                    </a:solidFill>
                    <a:latin typeface="Arial"/>
                  </a:rPr>
                  <a:t> and </a:t>
                </a:r>
                <a:r>
                  <a:rPr lang="en-IN" sz="2400">
                    <a:solidFill>
                      <a:srgbClr val="111827"/>
                    </a:solidFill>
                    <a:latin typeface="Cambria Math" panose="02040503050406030204" pitchFamily="18" charset="0"/>
                  </a:rPr>
                  <a:t>$g$</a:t>
                </a:r>
                <a:r>
                  <a:rPr sz="2400" b="0">
                    <a:solidFill>
                      <a:srgbClr val="111827"/>
                    </a:solidFill>
                    <a:latin typeface="Arial"/>
                  </a:rPr>
                  <a:t> is a function from </a:t>
                </a:r>
                <a:r>
                  <a:rPr lang="en-IN" sz="2400">
                    <a:solidFill>
                      <a:srgbClr val="111827"/>
                    </a:solidFill>
                    <a:latin typeface="Cambria Math" panose="02040503050406030204" pitchFamily="18" charset="0"/>
                  </a:rPr>
                  <a:t>$Y$</a:t>
                </a:r>
                <a:r>
                  <a:rPr sz="2400" b="0">
                    <a:solidFill>
                      <a:srgbClr val="111827"/>
                    </a:solidFill>
                    <a:latin typeface="Arial"/>
                  </a:rPr>
                  <a:t> to </a:t>
                </a:r>
                <a:r>
                  <a:rPr lang="en-IN" sz="2400">
                    <a:solidFill>
                      <a:srgbClr val="111827"/>
                    </a:solidFill>
                    <a:latin typeface="Cambria Math" panose="02040503050406030204" pitchFamily="18" charset="0"/>
                  </a:rPr>
                  <a:t>$Z$</a:t>
                </a:r>
                <a:r>
                  <a:rPr sz="2400" b="0">
                    <a:solidFill>
                      <a:srgbClr val="111827"/>
                    </a:solidFill>
                    <a:latin typeface="Arial"/>
                  </a:rPr>
                  <a:t> then </a:t>
                </a:r>
                <a:r>
                  <a:rPr lang="en-IN" sz="2400">
                    <a:solidFill>
                      <a:srgbClr val="111827"/>
                    </a:solidFill>
                    <a:latin typeface="Cambria Math" panose="02040503050406030204" pitchFamily="18" charset="0"/>
                  </a:rPr>
                  <a:t>$g\circ h$</a:t>
                </a:r>
                <a:r>
                  <a:rPr sz="2400" b="0">
                    <a:solidFill>
                      <a:srgbClr val="111827"/>
                    </a:solidFill>
                    <a:latin typeface="Arial"/>
                  </a:rPr>
                  <a:t> is the function from </a:t>
                </a:r>
                <a:r>
                  <a:rPr lang="en-IN" sz="2400">
                    <a:solidFill>
                      <a:srgbClr val="111827"/>
                    </a:solidFill>
                    <a:latin typeface="Cambria Math" panose="02040503050406030204" pitchFamily="18" charset="0"/>
                  </a:rPr>
                  <a:t>$X$</a:t>
                </a:r>
                <a:r>
                  <a:rPr sz="2400" b="0">
                    <a:solidFill>
                      <a:srgbClr val="111827"/>
                    </a:solidFill>
                    <a:latin typeface="Arial"/>
                  </a:rPr>
                  <a:t> to </a:t>
                </a:r>
                <a:r>
                  <a:rPr lang="en-IN" sz="2400">
                    <a:solidFill>
                      <a:srgbClr val="111827"/>
                    </a:solidFill>
                    <a:latin typeface="Cambria Math" panose="02040503050406030204" pitchFamily="18" charset="0"/>
                  </a:rPr>
                  <a:t>$Z$</a:t>
                </a:r>
                <a:r>
                  <a:rPr sz="2400" b="0">
                    <a:solidFill>
                      <a:srgbClr val="111827"/>
                    </a:solidFill>
                    <a:latin typeface="Arial"/>
                  </a:rPr>
                  <a:t> such that </a:t>
                </a:r>
                <a:r>
                  <a:rPr lang="en-IN" sz="2400">
                    <a:solidFill>
                      <a:srgbClr val="111827"/>
                    </a:solidFill>
                    <a:latin typeface="Cambria Math" panose="02040503050406030204" pitchFamily="18" charset="0"/>
                  </a:rPr>
                  <a:t>$(g\circ h)(x)=g(h(x))$</a:t>
                </a:r>
                <a:r>
                  <a:rPr sz="2400" b="0">
                    <a:solidFill>
                      <a:srgbClr val="111827"/>
                    </a:solidFill>
                    <a:latin typeface="Arial"/>
                  </a:rPr>
                  <a:t> for all </a:t>
                </a:r>
                <a:r>
                  <a:rPr lang="en-IN" sz="2400">
                    <a:solidFill>
                      <a:srgbClr val="111827"/>
                    </a:solidFill>
                    <a:latin typeface="Cambria Math" panose="02040503050406030204" pitchFamily="18" charset="0"/>
                  </a:rPr>
                  <a:t>$x\in X$</a:t>
                </a:r>
                <a:r>
                  <a:rPr sz="2400" b="0">
                    <a:solidFill>
                      <a:srgbClr val="111827"/>
                    </a:solidFill>
                    <a:latin typeface="Arial"/>
                  </a:rPr>
                  <a:t>. Let </a:t>
                </a:r>
                <a:r>
                  <a:rPr lang="en-IN" sz="2400">
                    <a:solidFill>
                      <a:srgbClr val="111827"/>
                    </a:solidFill>
                    <a:latin typeface="Cambria Math" panose="02040503050406030204" pitchFamily="18" charset="0"/>
                  </a:rPr>
                  <a:t>$S$</a:t>
                </a:r>
                <a:r>
                  <a:rPr sz="2400" b="0">
                    <a:solidFill>
                      <a:srgbClr val="111827"/>
                    </a:solidFill>
                    <a:latin typeface="Arial"/>
                  </a:rPr>
                  <a:t> be the set of all functions </a:t>
                </a:r>
                <a:r>
                  <a:rPr lang="en-IN" sz="2400">
                    <a:solidFill>
                      <a:srgbClr val="111827"/>
                    </a:solidFill>
                    <a:latin typeface="Cambria Math" panose="02040503050406030204" pitchFamily="18" charset="0"/>
                  </a:rPr>
                  <a:t>$f$</a:t>
                </a:r>
                <a:r>
                  <a:rPr sz="2400" b="0">
                    <a:solidFill>
                      <a:srgbClr val="111827"/>
                    </a:solidFill>
                    <a:latin typeface="Arial"/>
                  </a:rPr>
                  <a:t> from </a:t>
                </a:r>
                <a:r>
                  <a:rPr lang="en-IN" sz="2400">
                    <a:solidFill>
                      <a:srgbClr val="111827"/>
                    </a:solidFill>
                    <a:latin typeface="Cambria Math" panose="02040503050406030204" pitchFamily="18" charset="0"/>
                  </a:rPr>
                  <a:t>$\{1,2,3,4,5,6\}$</a:t>
                </a:r>
                <a:r>
                  <a:rPr sz="2400" b="0">
                    <a:solidFill>
                      <a:srgbClr val="111827"/>
                    </a:solidFill>
                    <a:latin typeface="Arial"/>
                  </a:rPr>
                  <a:t> to </a:t>
                </a:r>
                <a:r>
                  <a:rPr lang="en-IN" sz="2400">
                    <a:solidFill>
                      <a:srgbClr val="111827"/>
                    </a:solidFill>
                    <a:latin typeface="Cambria Math" panose="02040503050406030204" pitchFamily="18" charset="0"/>
                  </a:rPr>
                  <a:t>$\{1,2,3,4,5,6\}$</a:t>
                </a:r>
                <a:r>
                  <a:rPr sz="2400" b="0">
                    <a:solidFill>
                      <a:srgbClr val="111827"/>
                    </a:solidFill>
                    <a:latin typeface="Arial"/>
                  </a:rPr>
                  <a:t> such that </a:t>
                </a:r>
                <a:r>
                  <a:rPr lang="en-IN" sz="2400">
                    <a:solidFill>
                      <a:srgbClr val="111827"/>
                    </a:solidFill>
                    <a:latin typeface="Cambria Math" panose="02040503050406030204" pitchFamily="18" charset="0"/>
                  </a:rPr>
                  <a:t>$f\circ f=f$</a:t>
                </a:r>
                <a:r>
                  <a:rPr sz="2400" b="0">
                    <a:solidFill>
                      <a:srgbClr val="111827"/>
                    </a:solidFill>
                    <a:latin typeface="Arial"/>
                  </a:rPr>
                  <a:t>.</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(a) Compute the number of functions </a:t>
                </a:r>
                <a:r>
                  <a:rPr lang="en-IN" sz="2400">
                    <a:solidFill>
                      <a:srgbClr val="111827"/>
                    </a:solidFill>
                    <a:latin typeface="Cambria Math" panose="02040503050406030204" pitchFamily="18" charset="0"/>
                  </a:rPr>
                  <a:t>$f\in S$</a:t>
                </a:r>
                <a:r>
                  <a:rPr sz="2400" b="0">
                    <a:solidFill>
                      <a:srgbClr val="111827"/>
                    </a:solidFill>
                    <a:latin typeface="Arial"/>
                  </a:rPr>
                  <a:t> whose range has three elements.</a:t>
                </a:r>
                <a:endParaRPr sz="2400">
                  <a:solidFill>
                    <a:srgbClr val="111827"/>
                  </a:solidFill>
                </a:endParaRPr>
              </a:p>
              <a:p>
                <a:pPr algn="l">
                  <a:spcAft>
                    <a:spcPts val="500"/>
                  </a:spcAft>
                  <a:defRPr sz="2400">
                    <a:solidFill>
                      <a:srgbClr val="111827"/>
                    </a:solidFill>
                  </a:defRPr>
                </a:pPr>
                <a:r>
                  <a:rPr sz="2400" b="0">
                    <a:solidFill>
                      <a:srgbClr val="111827"/>
                    </a:solidFill>
                    <a:latin typeface="Arial"/>
                  </a:rPr>
                  <a:t>(b) What is the cardinality of </a:t>
                </a:r>
                <a:r>
                  <a:rPr lang="en-IN" sz="2400">
                    <a:solidFill>
                      <a:srgbClr val="111827"/>
                    </a:solidFill>
                    <a:latin typeface="Cambria Math" panose="02040503050406030204" pitchFamily="18" charset="0"/>
                  </a:rPr>
                  <a:t>$S$</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Types of functions and composition, Counting functions (permutation and combination)</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4(A level above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𝑓</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𝑓</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𝑓</m:t>
                    </m:r>
                  </m:oMath>
                </a14:m>
                <a:r>
                  <a:rPr sz="2400" b="0">
                    <a:solidFill>
                      <a:srgbClr val="78350F"/>
                    </a:solidFill>
                    <a:latin typeface="Arial"/>
                  </a:rPr>
                  <a:t> forces every element of the range to be a fixed point; the rest map into the range freely.</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$f\circ f=f$</a:t>
                </a:r>
                <a:r>
                  <a:rPr sz="2400" b="0">
                    <a:solidFill>
                      <a:srgbClr val="78350F"/>
                    </a:solidFill>
                    <a:latin typeface="Arial"/>
                  </a:rPr>
                  <a:t> forces every element of the range to be a fixed point; the rest map into the range freely.</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be in the range of </a:t>
                </a:r>
                <a14:m>
                  <m:oMath xmlns:m="http://schemas.openxmlformats.org/officeDocument/2006/math">
                    <m:r>
                      <a:rPr lang="en-IN" sz="2400" i="1">
                        <a:solidFill>
                          <a:srgbClr val="111827"/>
                        </a:solidFill>
                        <a:latin typeface="Cambria Math" panose="02040503050406030204" pitchFamily="18" charset="0"/>
                      </a:rPr>
                      <m:t>𝑓</m:t>
                    </m:r>
                  </m:oMath>
                </a14:m>
                <a:r>
                  <a:rPr sz="2400" b="0">
                    <a:solidFill>
                      <a:srgbClr val="111827"/>
                    </a:solidFill>
                    <a:latin typeface="Arial"/>
                  </a:rPr>
                  <a:t>, say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so every element of the range is mapped to itself.</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Let </a:t>
                </a:r>
                <a:r>
                  <a:rPr lang="en-IN" sz="2400">
                    <a:solidFill>
                      <a:srgbClr val="111827"/>
                    </a:solidFill>
                    <a:latin typeface="Cambria Math" panose="02040503050406030204" pitchFamily="18" charset="0"/>
                  </a:rPr>
                  <a:t>$y$</a:t>
                </a:r>
                <a:r>
                  <a:rPr sz="2400" b="0">
                    <a:solidFill>
                      <a:srgbClr val="111827"/>
                    </a:solidFill>
                    <a:latin typeface="Arial"/>
                  </a:rPr>
                  <a:t> be in the range of </a:t>
                </a:r>
                <a:r>
                  <a:rPr lang="en-IN" sz="2400">
                    <a:solidFill>
                      <a:srgbClr val="111827"/>
                    </a:solidFill>
                    <a:latin typeface="Cambria Math" panose="02040503050406030204" pitchFamily="18" charset="0"/>
                  </a:rPr>
                  <a:t>$f$</a:t>
                </a:r>
                <a:r>
                  <a:rPr sz="2400" b="0">
                    <a:solidFill>
                      <a:srgbClr val="111827"/>
                    </a:solidFill>
                    <a:latin typeface="Arial"/>
                  </a:rPr>
                  <a:t>, say </a:t>
                </a:r>
                <a:r>
                  <a:rPr lang="en-IN" sz="2400">
                    <a:solidFill>
                      <a:srgbClr val="111827"/>
                    </a:solidFill>
                    <a:latin typeface="Cambria Math" panose="02040503050406030204" pitchFamily="18" charset="0"/>
                  </a:rPr>
                  <a:t>$y=f(z)$</a:t>
                </a:r>
                <a:r>
                  <a:rPr sz="2400" b="0">
                    <a:solidFill>
                      <a:srgbClr val="111827"/>
                    </a:solidFill>
                    <a:latin typeface="Arial"/>
                  </a:rPr>
                  <a:t>. Then </a:t>
                </a:r>
                <a:r>
                  <a:rPr lang="en-IN" sz="2400">
                    <a:solidFill>
                      <a:srgbClr val="111827"/>
                    </a:solidFill>
                    <a:latin typeface="Cambria Math" panose="02040503050406030204" pitchFamily="18" charset="0"/>
                  </a:rPr>
                  <a:t>$f(y)=f(f(z))=(f\circ f)(z)=f(z)=y$</a:t>
                </a:r>
                <a:r>
                  <a:rPr sz="2400" b="0">
                    <a:solidFill>
                      <a:srgbClr val="111827"/>
                    </a:solidFill>
                    <a:latin typeface="Arial"/>
                  </a:rPr>
                  <a:t>, so every element of the range is mapped to itself.</a:t>
                </a:r>
                <a:endParaRPr sz="2400">
                  <a:solidFill>
                    <a:srgbClr val="111827"/>
                  </a:solidFill>
                </a:endParaRPr>
              </a:p>
            </p:txBody>
          </p:sp>
        </mc:Fallback>
      </mc:AlternateContent>
    </p:spTree>
  </p:cSld>
  <p:clrMapOvr>
    <a:masterClrMapping/>
  </p:clrMapOvr>
</p:sld>
</file>

<file path=ppt/slides/slide6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Conversely, if all range elements are fixed points then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 all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Choose the 3 range elements in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oMath>
                </a14:m>
                <a:r>
                  <a:rPr sz="2400" b="0">
                    <a:solidFill>
                      <a:srgbClr val="111827"/>
                    </a:solidFill>
                    <a:latin typeface="Arial"/>
                  </a:rPr>
                  <a:t> ways. They must map to themselves.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of the remaining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elements may map to any one of the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range elements: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oMath>
                </a14:m>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functions with range of size 3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3</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[Not in the PDF] Generalise: for range size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the count is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𝑘</m:t>
                            </m:r>
                          </m:den>
                        </m:f>
                      </m:e>
                    </m:d>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oMath>
                </a14:m>
                <a:r>
                  <a:rPr sz="2400" b="0">
                    <a:solidFill>
                      <a:srgbClr val="111827"/>
                    </a:solidFill>
                    <a:latin typeface="Arial"/>
                  </a:rPr>
                  <a:t> (range elements fixed, other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oMath>
                </a14:m>
                <a:r>
                  <a:rPr sz="2400" b="0">
                    <a:solidFill>
                      <a:srgbClr val="111827"/>
                    </a:solidFill>
                    <a:latin typeface="Arial"/>
                  </a:rPr>
                  <a:t> elements map anywhere in the range).</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Conversely, if all range elements are fixed points then </a:t>
                </a:r>
                <a:r>
                  <a:rPr lang="en-IN" sz="2400">
                    <a:solidFill>
                      <a:srgbClr val="111827"/>
                    </a:solidFill>
                    <a:latin typeface="Cambria Math" panose="02040503050406030204" pitchFamily="18" charset="0"/>
                  </a:rPr>
                  <a:t>$f(f(x))=f(x)$</a:t>
                </a:r>
                <a:r>
                  <a:rPr sz="2400" b="0">
                    <a:solidFill>
                      <a:srgbClr val="111827"/>
                    </a:solidFill>
                    <a:latin typeface="Arial"/>
                  </a:rPr>
                  <a:t> for all </a:t>
                </a:r>
                <a:r>
                  <a:rPr lang="en-IN" sz="2400">
                    <a:solidFill>
                      <a:srgbClr val="111827"/>
                    </a:solidFill>
                    <a:latin typeface="Cambria Math" panose="02040503050406030204" pitchFamily="18" charset="0"/>
                  </a:rPr>
                  <a:t>$x$</a:t>
                </a:r>
                <a:r>
                  <a:rPr sz="2400" b="0">
                    <a:solidFill>
                      <a:srgbClr val="111827"/>
                    </a:solidFill>
                    <a:latin typeface="Arial"/>
                  </a:rPr>
                  <a:t>, so </a:t>
                </a:r>
                <a:r>
                  <a:rPr lang="en-IN" sz="2400">
                    <a:solidFill>
                      <a:srgbClr val="111827"/>
                    </a:solidFill>
                    <a:latin typeface="Cambria Math" panose="02040503050406030204" pitchFamily="18" charset="0"/>
                  </a:rPr>
                  <a:t>$f\in S$</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Choose the 3 range elements in </a:t>
                </a:r>
                <a:r>
                  <a:rPr lang="en-IN" sz="2400">
                    <a:solidFill>
                      <a:srgbClr val="111827"/>
                    </a:solidFill>
                    <a:latin typeface="Cambria Math" panose="02040503050406030204" pitchFamily="18" charset="0"/>
                  </a:rPr>
                  <a:t>$\binom{6}{3}=20$</a:t>
                </a:r>
                <a:r>
                  <a:rPr sz="2400" b="0">
                    <a:solidFill>
                      <a:srgbClr val="111827"/>
                    </a:solidFill>
                    <a:latin typeface="Arial"/>
                  </a:rPr>
                  <a:t> ways. They must map to themselves.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Each of the remaining </a:t>
                </a:r>
                <a:r>
                  <a:rPr lang="en-IN" sz="2400">
                    <a:solidFill>
                      <a:srgbClr val="111827"/>
                    </a:solidFill>
                    <a:latin typeface="Cambria Math" panose="02040503050406030204" pitchFamily="18" charset="0"/>
                  </a:rPr>
                  <a:t>$3$</a:t>
                </a:r>
                <a:r>
                  <a:rPr sz="2400" b="0">
                    <a:solidFill>
                      <a:srgbClr val="111827"/>
                    </a:solidFill>
                    <a:latin typeface="Arial"/>
                  </a:rPr>
                  <a:t> elements may map to any one of the </a:t>
                </a:r>
                <a:r>
                  <a:rPr lang="en-IN" sz="2400">
                    <a:solidFill>
                      <a:srgbClr val="111827"/>
                    </a:solidFill>
                    <a:latin typeface="Cambria Math" panose="02040503050406030204" pitchFamily="18" charset="0"/>
                  </a:rPr>
                  <a:t>$3$</a:t>
                </a:r>
                <a:r>
                  <a:rPr sz="2400" b="0">
                    <a:solidFill>
                      <a:srgbClr val="111827"/>
                    </a:solidFill>
                    <a:latin typeface="Arial"/>
                  </a:rPr>
                  <a:t> range elements: </a:t>
                </a:r>
                <a:r>
                  <a:rPr lang="en-IN" sz="2400">
                    <a:solidFill>
                      <a:srgbClr val="111827"/>
                    </a:solidFill>
                    <a:latin typeface="Cambria Math" panose="02040503050406030204" pitchFamily="18" charset="0"/>
                  </a:rPr>
                  <a:t>$3\times3\times3=27$</a:t>
                </a:r>
                <a:r>
                  <a:rPr sz="2400" b="0">
                    <a:solidFill>
                      <a:srgbClr val="111827"/>
                    </a:solidFill>
                    <a:latin typeface="Arial"/>
                  </a:rPr>
                  <a:t> ways.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functions with range of size 3 is </a:t>
                </a:r>
                <a:r>
                  <a:rPr lang="en-IN" sz="2400">
                    <a:solidFill>
                      <a:srgbClr val="111827"/>
                    </a:solidFill>
                    <a:latin typeface="Cambria Math" panose="02040503050406030204" pitchFamily="18" charset="0"/>
                  </a:rPr>
                  <a:t>$\binom63\cdot27=20\cdot27=540$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[Not in the PDF] Generalise: for range size </a:t>
                </a:r>
                <a:r>
                  <a:rPr lang="en-IN" sz="2400">
                    <a:solidFill>
                      <a:srgbClr val="111827"/>
                    </a:solidFill>
                    <a:latin typeface="Cambria Math" panose="02040503050406030204" pitchFamily="18" charset="0"/>
                  </a:rPr>
                  <a:t>$k$</a:t>
                </a:r>
                <a:r>
                  <a:rPr sz="2400" b="0">
                    <a:solidFill>
                      <a:srgbClr val="111827"/>
                    </a:solidFill>
                    <a:latin typeface="Arial"/>
                  </a:rPr>
                  <a:t>, the count is </a:t>
                </a:r>
                <a:r>
                  <a:rPr lang="en-IN" sz="2400">
                    <a:solidFill>
                      <a:srgbClr val="111827"/>
                    </a:solidFill>
                    <a:latin typeface="Cambria Math" panose="02040503050406030204" pitchFamily="18" charset="0"/>
                  </a:rPr>
                  <a:t>$\binom6k\,k^{6-k}$</a:t>
                </a:r>
                <a:r>
                  <a:rPr sz="2400" b="0">
                    <a:solidFill>
                      <a:srgbClr val="111827"/>
                    </a:solidFill>
                    <a:latin typeface="Arial"/>
                  </a:rPr>
                  <a:t> (range elements fixed, other </a:t>
                </a:r>
                <a:r>
                  <a:rPr lang="en-IN" sz="2400">
                    <a:solidFill>
                      <a:srgbClr val="111827"/>
                    </a:solidFill>
                    <a:latin typeface="Cambria Math" panose="02040503050406030204" pitchFamily="18" charset="0"/>
                  </a:rPr>
                  <a:t>$6-k$</a:t>
                </a:r>
                <a:r>
                  <a:rPr sz="2400" b="0">
                    <a:solidFill>
                      <a:srgbClr val="111827"/>
                    </a:solidFill>
                    <a:latin typeface="Arial"/>
                  </a:rPr>
                  <a:t> elements map anywhere in the range).</a:t>
                </a:r>
                <a:endParaRPr sz="2400">
                  <a:solidFill>
                    <a:srgbClr val="111827"/>
                  </a:solidFill>
                </a:endParaRPr>
              </a:p>
            </p:txBody>
          </p:sp>
        </mc:Fallback>
      </mc:AlternateContent>
    </p:spTree>
  </p:cSld>
  <p:clrMapOvr>
    <a:masterClrMapping/>
  </p:clrMapOvr>
</p:sld>
</file>

<file path=ppt/slides/slide6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Range size cannot be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6</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𝑘</m:t>
                                </m:r>
                              </m:den>
                            </m:f>
                          </m:e>
                        </m:d>
                      </m:e>
                    </m:nary>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oMath>
                </a14:m>
                <a:r>
                  <a:rPr sz="2400" b="0">
                    <a:solidFill>
                      <a:srgbClr val="111827"/>
                    </a:solidFill>
                    <a:latin typeface="Arial"/>
                  </a:rPr>
                  <a:t>, evaluated term by term below.</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20</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4</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1057</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Range size cannot be </a:t>
                </a:r>
                <a:r>
                  <a:rPr lang="en-IN" sz="2400">
                    <a:solidFill>
                      <a:srgbClr val="111827"/>
                    </a:solidFill>
                    <a:latin typeface="Cambria Math" panose="02040503050406030204" pitchFamily="18" charset="0"/>
                  </a:rPr>
                  <a:t>$0$</a:t>
                </a:r>
                <a:r>
                  <a:rPr sz="2400" b="0">
                    <a:solidFill>
                      <a:srgbClr val="111827"/>
                    </a:solidFill>
                    <a:latin typeface="Arial"/>
                  </a:rPr>
                  <a:t>, so </a:t>
                </a:r>
                <a:r>
                  <a:rPr lang="en-IN" sz="2400">
                    <a:solidFill>
                      <a:srgbClr val="111827"/>
                    </a:solidFill>
                    <a:latin typeface="Cambria Math" panose="02040503050406030204" pitchFamily="18" charset="0"/>
                  </a:rPr>
                  <a:t>$|S|=\sum_{k=1}^{6}\binom6k k^{6-k}$</a:t>
                </a:r>
                <a:r>
                  <a:rPr sz="2400" b="0">
                    <a:solidFill>
                      <a:srgbClr val="111827"/>
                    </a:solidFill>
                    <a:latin typeface="Arial"/>
                  </a:rPr>
                  <a:t>, evaluated term by term below.</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$k=1$</a:t>
                </a:r>
                <a:r>
                  <a:rPr sz="2400" b="0">
                    <a:solidFill>
                      <a:srgbClr val="111827"/>
                    </a:solidFill>
                    <a:latin typeface="Arial"/>
                  </a:rPr>
                  <a:t>: </a:t>
                </a:r>
                <a:r>
                  <a:rPr lang="en-IN" sz="2400">
                    <a:solidFill>
                      <a:srgbClr val="111827"/>
                    </a:solidFill>
                    <a:latin typeface="Cambria Math" panose="02040503050406030204" pitchFamily="18" charset="0"/>
                  </a:rPr>
                  <a:t>$6\cdot1^5=6$</a:t>
                </a:r>
                <a:r>
                  <a:rPr sz="2400" b="0">
                    <a:solidFill>
                      <a:srgbClr val="111827"/>
                    </a:solidFill>
                    <a:latin typeface="Arial"/>
                  </a:rPr>
                  <a:t>; </a:t>
                </a:r>
                <a:r>
                  <a:rPr lang="en-IN" sz="2400">
                    <a:solidFill>
                      <a:srgbClr val="111827"/>
                    </a:solidFill>
                    <a:latin typeface="Cambria Math" panose="02040503050406030204" pitchFamily="18" charset="0"/>
                  </a:rPr>
                  <a:t>$k=2$</a:t>
                </a:r>
                <a:r>
                  <a:rPr sz="2400" b="0">
                    <a:solidFill>
                      <a:srgbClr val="111827"/>
                    </a:solidFill>
                    <a:latin typeface="Arial"/>
                  </a:rPr>
                  <a:t>: </a:t>
                </a:r>
                <a:r>
                  <a:rPr lang="en-IN" sz="2400">
                    <a:solidFill>
                      <a:srgbClr val="111827"/>
                    </a:solidFill>
                    <a:latin typeface="Cambria Math" panose="02040503050406030204" pitchFamily="18" charset="0"/>
                  </a:rPr>
                  <a:t>$15\cdot2^4=240$</a:t>
                </a:r>
                <a:r>
                  <a:rPr sz="2400" b="0">
                    <a:solidFill>
                      <a:srgbClr val="111827"/>
                    </a:solidFill>
                    <a:latin typeface="Arial"/>
                  </a:rPr>
                  <a:t>; </a:t>
                </a:r>
                <a:r>
                  <a:rPr lang="en-IN" sz="2400">
                    <a:solidFill>
                      <a:srgbClr val="111827"/>
                    </a:solidFill>
                    <a:latin typeface="Cambria Math" panose="02040503050406030204" pitchFamily="18" charset="0"/>
                  </a:rPr>
                  <a:t>$k=3$</a:t>
                </a:r>
                <a:r>
                  <a:rPr sz="2400" b="0">
                    <a:solidFill>
                      <a:srgbClr val="111827"/>
                    </a:solidFill>
                    <a:latin typeface="Arial"/>
                  </a:rPr>
                  <a:t>: </a:t>
                </a:r>
                <a:r>
                  <a:rPr lang="en-IN" sz="2400">
                    <a:solidFill>
                      <a:srgbClr val="111827"/>
                    </a:solidFill>
                    <a:latin typeface="Cambria Math" panose="02040503050406030204" pitchFamily="18" charset="0"/>
                  </a:rPr>
                  <a:t>$20\cdot3^3=540$</a:t>
                </a:r>
                <a:r>
                  <a:rPr sz="2400" b="0">
                    <a:solidFill>
                      <a:srgbClr val="111827"/>
                    </a:solidFill>
                    <a:latin typeface="Arial"/>
                  </a:rPr>
                  <a:t>; </a:t>
                </a:r>
                <a:r>
                  <a:rPr lang="en-IN" sz="2400">
                    <a:solidFill>
                      <a:srgbClr val="111827"/>
                    </a:solidFill>
                    <a:latin typeface="Cambria Math" panose="02040503050406030204" pitchFamily="18" charset="0"/>
                  </a:rPr>
                  <a:t>$k=4$</a:t>
                </a:r>
                <a:r>
                  <a:rPr sz="2400" b="0">
                    <a:solidFill>
                      <a:srgbClr val="111827"/>
                    </a:solidFill>
                    <a:latin typeface="Arial"/>
                  </a:rPr>
                  <a:t>: </a:t>
                </a:r>
                <a:r>
                  <a:rPr lang="en-IN" sz="2400">
                    <a:solidFill>
                      <a:srgbClr val="111827"/>
                    </a:solidFill>
                    <a:latin typeface="Cambria Math" panose="02040503050406030204" pitchFamily="18" charset="0"/>
                  </a:rPr>
                  <a:t>$15\cdot4^2=240$</a:t>
                </a:r>
                <a:r>
                  <a:rPr sz="2400" b="0">
                    <a:solidFill>
                      <a:srgbClr val="111827"/>
                    </a:solidFill>
                    <a:latin typeface="Arial"/>
                  </a:rPr>
                  <a:t>; </a:t>
                </a:r>
                <a:r>
                  <a:rPr lang="en-IN" sz="2400">
                    <a:solidFill>
                      <a:srgbClr val="111827"/>
                    </a:solidFill>
                    <a:latin typeface="Cambria Math" panose="02040503050406030204" pitchFamily="18" charset="0"/>
                  </a:rPr>
                  <a:t>$k=5$</a:t>
                </a:r>
                <a:r>
                  <a:rPr sz="2400" b="0">
                    <a:solidFill>
                      <a:srgbClr val="111827"/>
                    </a:solidFill>
                    <a:latin typeface="Arial"/>
                  </a:rPr>
                  <a:t>: </a:t>
                </a:r>
                <a:r>
                  <a:rPr lang="en-IN" sz="2400">
                    <a:solidFill>
                      <a:srgbClr val="111827"/>
                    </a:solidFill>
                    <a:latin typeface="Cambria Math" panose="02040503050406030204" pitchFamily="18" charset="0"/>
                  </a:rPr>
                  <a:t>$6\cdot5=30$</a:t>
                </a:r>
                <a:r>
                  <a:rPr sz="2400" b="0">
                    <a:solidFill>
                      <a:srgbClr val="111827"/>
                    </a:solidFill>
                    <a:latin typeface="Arial"/>
                  </a:rPr>
                  <a:t>; </a:t>
                </a:r>
                <a:r>
                  <a:rPr lang="en-IN" sz="2400">
                    <a:solidFill>
                      <a:srgbClr val="111827"/>
                    </a:solidFill>
                    <a:latin typeface="Cambria Math" panose="02040503050406030204" pitchFamily="18" charset="0"/>
                  </a:rPr>
                  <a:t>$k=6$</a:t>
                </a:r>
                <a:r>
                  <a:rPr sz="2400" b="0">
                    <a:solidFill>
                      <a:srgbClr val="111827"/>
                    </a:solidFill>
                    <a:latin typeface="Arial"/>
                  </a:rPr>
                  <a:t>: </a:t>
                </a:r>
                <a:r>
                  <a:rPr lang="en-IN" sz="2400">
                    <a:solidFill>
                      <a:srgbClr val="111827"/>
                    </a:solidFill>
                    <a:latin typeface="Cambria Math" panose="02040503050406030204" pitchFamily="18" charset="0"/>
                  </a:rPr>
                  <a:t>$1\cdot6^0=1$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$|S|=6+240+540+240+30+1=1057$</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14:m>
                  <m:oMath xmlns:m="http://schemas.openxmlformats.org/officeDocument/2006/math">
                    <m:r>
                      <a:rPr lang="en-IN" sz="2800" i="1">
                        <a:solidFill>
                          <a:srgbClr val="15803D"/>
                        </a:solidFill>
                        <a:latin typeface="Cambria Math" panose="02040503050406030204" pitchFamily="18" charset="0"/>
                      </a:rPr>
                      <m:t>540</m:t>
                    </m:r>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1057</m:t>
                    </m:r>
                  </m:oMath>
                </a14:m>
                <a:endParaRPr sz="2800">
                  <a:solidFill>
                    <a:srgbClr val="15803D"/>
                  </a:solidFill>
                </a:endParaRPr>
              </a:p>
            </p:txBody>
          </p:sp>
        </mc:Choice>
        <mc:Fallback>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(a) </a:t>
                </a:r>
                <a:r>
                  <a:rPr lang="en-IN" sz="2800">
                    <a:solidFill>
                      <a:srgbClr val="15803D"/>
                    </a:solidFill>
                    <a:latin typeface="Cambria Math" panose="02040503050406030204" pitchFamily="18" charset="0"/>
                  </a:rPr>
                  <a:t>$540$</a:t>
                </a:r>
                <a:r>
                  <a:rPr sz="2800" b="1">
                    <a:solidFill>
                      <a:srgbClr val="15803D"/>
                    </a:solidFill>
                    <a:latin typeface="Arial"/>
                  </a:rPr>
                  <a:t>, (b) </a:t>
                </a:r>
                <a:r>
                  <a:rPr lang="en-IN" sz="2800">
                    <a:solidFill>
                      <a:srgbClr val="15803D"/>
                    </a:solidFill>
                    <a:latin typeface="Cambria Math" panose="02040503050406030204" pitchFamily="18" charset="0"/>
                  </a:rPr>
                  <a:t>$1057$</a:t>
                </a:r>
                <a:endParaRPr sz="2800">
                  <a:solidFill>
                    <a:srgbClr val="15803D"/>
                  </a:solidFill>
                </a:endParaRPr>
              </a:p>
            </p:txBody>
          </p:sp>
        </mc:Fallback>
      </mc:AlternateContent>
    </p:spTree>
  </p:cSld>
  <p:clrMapOvr>
    <a:masterClrMapping/>
  </p:clrMapOvr>
</p:sld>
</file>

<file path=ppt/slides/slide6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481328"/>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Exponential generating function: an idempotent map is a set of fixed points, each carrying a set of elements pointing directly to it.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Every range element is a fixed point, and every other element points directly to one fixed point. So a block is one fixed point plus a set of its pre-images.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EGF of one block: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oMath>
                </a14:m>
                <a:r>
                  <a:rPr sz="2400" b="0">
                    <a:solidFill>
                      <a:srgbClr val="111827"/>
                    </a:solidFill>
                    <a:latin typeface="Arial"/>
                  </a:rPr>
                  <a:t> (the fixed point, and a set of pre-images). A map is a set of blocks, so the EGF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exp</m:t>
                    </m:r>
                    <m:d>
                      <m:dPr>
                        <m:begChr m:val="("/>
                        <m:sepChr m:val=""/>
                        <m:endChr m:val=")"/>
                        <m:grow/>
                        <m:ctrlPr>
                          <a:rPr lang="en-IN" sz="2400" i="1">
                            <a:solidFill>
                              <a:srgbClr val="111827"/>
                            </a:solidFill>
                            <a:latin typeface="Cambria Math" panose="02040503050406030204" pitchFamily="18" charset="0"/>
                          </a:rPr>
                        </m:ctrlPr>
                      </m:dPr>
                      <m:e>
                        <m:r>
                          <a:rPr lang="en-IN" sz="2400" i="1">
                            <a:solidFill>
                              <a:srgbClr val="111827"/>
                            </a:solidFill>
                            <a:latin typeface="Cambria Math" panose="02040503050406030204" pitchFamily="18" charset="0"/>
                          </a:rPr>
                          <m:t>𝑥</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Exactly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blocks: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3</m:t>
                            </m:r>
                          </m:sup>
                        </m:sSup>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sup>
                        </m:sSup>
                      </m:num>
                      <m:den>
                        <m:r>
                          <a:rPr lang="en-IN" sz="2400" i="1">
                            <a:solidFill>
                              <a:srgbClr val="111827"/>
                            </a:solidFill>
                            <a:latin typeface="Cambria Math" panose="02040503050406030204" pitchFamily="18" charset="0"/>
                          </a:rPr>
                          <m:t>6</m:t>
                        </m:r>
                      </m:den>
                    </m:f>
                  </m:oMath>
                </a14:m>
                <a:r>
                  <a:rPr sz="2400" b="0">
                    <a:solidFill>
                      <a:srgbClr val="111827"/>
                    </a:solidFill>
                    <a:latin typeface="Arial"/>
                  </a:rPr>
                  <a:t>.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m:t>
                            </m:r>
                          </m:sup>
                        </m:sSup>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 so the count is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27</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540</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898648"/>
                <a:ext cx="10725912" cy="3776472"/>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Every range element is a fixed point, and every other element points directly to one fixed point. So a block is one fixed point plus a set of its pre-images.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EGF of one block: </a:t>
                </a:r>
                <a:r>
                  <a:rPr lang="en-IN" sz="2400">
                    <a:solidFill>
                      <a:srgbClr val="111827"/>
                    </a:solidFill>
                    <a:latin typeface="Cambria Math" panose="02040503050406030204" pitchFamily="18" charset="0"/>
                  </a:rPr>
                  <a:t>$x\cdot e^{x}$</a:t>
                </a:r>
                <a:r>
                  <a:rPr sz="2400" b="0">
                    <a:solidFill>
                      <a:srgbClr val="111827"/>
                    </a:solidFill>
                    <a:latin typeface="Arial"/>
                  </a:rPr>
                  <a:t> (the fixed point, and a set of pre-images). A map is a set of blocks, so the EGF of </a:t>
                </a:r>
                <a:r>
                  <a:rPr lang="en-IN" sz="2400">
                    <a:solidFill>
                      <a:srgbClr val="111827"/>
                    </a:solidFill>
                    <a:latin typeface="Cambria Math" panose="02040503050406030204" pitchFamily="18" charset="0"/>
                  </a:rPr>
                  <a:t>$|S|$</a:t>
                </a:r>
                <a:r>
                  <a:rPr sz="2400" b="0">
                    <a:solidFill>
                      <a:srgbClr val="111827"/>
                    </a:solidFill>
                    <a:latin typeface="Arial"/>
                  </a:rPr>
                  <a:t> is </a:t>
                </a:r>
                <a:r>
                  <a:rPr lang="en-IN" sz="2400">
                    <a:solidFill>
                      <a:srgbClr val="111827"/>
                    </a:solidFill>
                    <a:latin typeface="Cambria Math" panose="02040503050406030204" pitchFamily="18" charset="0"/>
                  </a:rPr>
                  <a:t>$\exp\left(xe^{x}\right)$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Exactly </a:t>
                </a:r>
                <a:r>
                  <a:rPr lang="en-IN" sz="2400">
                    <a:solidFill>
                      <a:srgbClr val="111827"/>
                    </a:solidFill>
                    <a:latin typeface="Cambria Math" panose="02040503050406030204" pitchFamily="18" charset="0"/>
                  </a:rPr>
                  <a:t>$3$</a:t>
                </a:r>
                <a:r>
                  <a:rPr sz="2400" b="0">
                    <a:solidFill>
                      <a:srgbClr val="111827"/>
                    </a:solidFill>
                    <a:latin typeface="Arial"/>
                  </a:rPr>
                  <a:t> blocks: </a:t>
                </a:r>
                <a:r>
                  <a:rPr lang="en-IN" sz="2400">
                    <a:solidFill>
                      <a:srgbClr val="111827"/>
                    </a:solidFill>
                    <a:latin typeface="Cambria Math" panose="02040503050406030204" pitchFamily="18" charset="0"/>
                  </a:rPr>
                  <a:t>$\frac{(xe^x)^3}{3!}=\frac{x^3e^{3x}}{6}$</a:t>
                </a:r>
                <a:r>
                  <a:rPr sz="2400" b="0">
                    <a:solidFill>
                      <a:srgbClr val="111827"/>
                    </a:solidFill>
                    <a:latin typeface="Arial"/>
                  </a:rPr>
                  <a:t>. The coefficient of </a:t>
                </a:r>
                <a:r>
                  <a:rPr lang="en-IN" sz="2400">
                    <a:solidFill>
                      <a:srgbClr val="111827"/>
                    </a:solidFill>
                    <a:latin typeface="Cambria Math" panose="02040503050406030204" pitchFamily="18" charset="0"/>
                  </a:rPr>
                  <a:t>$x^6$</a:t>
                </a:r>
                <a:r>
                  <a:rPr sz="2400" b="0">
                    <a:solidFill>
                      <a:srgbClr val="111827"/>
                    </a:solidFill>
                    <a:latin typeface="Arial"/>
                  </a:rPr>
                  <a:t> is </a:t>
                </a:r>
                <a:r>
                  <a:rPr lang="en-IN" sz="2400">
                    <a:solidFill>
                      <a:srgbClr val="111827"/>
                    </a:solidFill>
                    <a:latin typeface="Cambria Math" panose="02040503050406030204" pitchFamily="18" charset="0"/>
                  </a:rPr>
                  <a:t>$\frac{1}{6}\cdot\frac{3^3}{3!}$</a:t>
                </a:r>
                <a:r>
                  <a:rPr sz="2400" b="0">
                    <a:solidFill>
                      <a:srgbClr val="111827"/>
                    </a:solidFill>
                    <a:latin typeface="Arial"/>
                  </a:rPr>
                  <a:t>, so the count is </a:t>
                </a:r>
                <a:r>
                  <a:rPr lang="en-IN" sz="2400">
                    <a:solidFill>
                      <a:srgbClr val="111827"/>
                    </a:solidFill>
                    <a:latin typeface="Cambria Math" panose="02040503050406030204" pitchFamily="18" charset="0"/>
                  </a:rPr>
                  <a:t>$6!\cdot\frac{27}{36}=540$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Read the coefficient of </a:t>
                </a:r>
                <a14:m>
                  <m:oMath xmlns:m="http://schemas.openxmlformats.org/officeDocument/2006/math">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oMath>
                </a14:m>
                <a:r>
                  <a:rPr sz="2400" b="0">
                    <a:solidFill>
                      <a:srgbClr val="111827"/>
                    </a:solidFill>
                    <a:latin typeface="Arial"/>
                  </a:rPr>
                  <a:t> in </a:t>
                </a:r>
                <a14:m>
                  <m:oMath xmlns:m="http://schemas.openxmlformats.org/officeDocument/2006/math">
                    <m:r>
                      <m:rPr>
                        <m:sty m:val="p"/>
                      </m:rPr>
                      <a:rPr lang="en-IN" sz="2400">
                        <a:solidFill>
                          <a:srgbClr val="111827"/>
                        </a:solidFill>
                        <a:latin typeface="Cambria Math" panose="02040503050406030204" pitchFamily="18" charset="0"/>
                      </a:rPr>
                      <m:t>exp</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6</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exp</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6</m:t>
                                </m:r>
                              </m:num>
                              <m:den>
                                <m:r>
                                  <a:rPr lang="en-IN" sz="2400" i="1">
                                    <a:solidFill>
                                      <a:srgbClr val="111827"/>
                                    </a:solidFill>
                                    <a:latin typeface="Cambria Math" panose="02040503050406030204" pitchFamily="18" charset="0"/>
                                  </a:rPr>
                                  <m:t>𝑘</m:t>
                                </m:r>
                              </m:den>
                            </m:f>
                          </m:e>
                        </m:d>
                      </m:e>
                    </m:nary>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Term by term this gives </a:t>
                </a:r>
                <a14:m>
                  <m:oMath xmlns:m="http://schemas.openxmlformats.org/officeDocument/2006/math">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1057</m:t>
                    </m:r>
                  </m:oMath>
                </a14:m>
                <a:r>
                  <a:rPr sz="2400" b="0">
                    <a:solidFill>
                      <a:srgbClr val="111827"/>
                    </a:solidFill>
                    <a:latin typeface="Arial"/>
                  </a:rPr>
                  <a:t> (the known sequence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1057</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Read the coefficient of </a:t>
                </a:r>
                <a:r>
                  <a:rPr lang="en-IN" sz="2400">
                    <a:solidFill>
                      <a:srgbClr val="111827"/>
                    </a:solidFill>
                    <a:latin typeface="Cambria Math" panose="02040503050406030204" pitchFamily="18" charset="0"/>
                  </a:rPr>
                  <a:t>$x^6$</a:t>
                </a:r>
                <a:r>
                  <a:rPr sz="2400" b="0">
                    <a:solidFill>
                      <a:srgbClr val="111827"/>
                    </a:solidFill>
                    <a:latin typeface="Arial"/>
                  </a:rPr>
                  <a:t> in </a:t>
                </a:r>
                <a:r>
                  <a:rPr lang="en-IN" sz="2400">
                    <a:solidFill>
                      <a:srgbClr val="111827"/>
                    </a:solidFill>
                    <a:latin typeface="Cambria Math" panose="02040503050406030204" pitchFamily="18" charset="0"/>
                  </a:rPr>
                  <a:t>$\exp(xe^x)$</a:t>
                </a:r>
                <a:r>
                  <a:rPr sz="2400" b="0">
                    <a:solidFill>
                      <a:srgbClr val="111827"/>
                    </a:solidFill>
                    <a:latin typeface="Arial"/>
                  </a:rPr>
                  <a:t>: </a:t>
                </a:r>
                <a:r>
                  <a:rPr lang="en-IN" sz="2400">
                    <a:solidFill>
                      <a:srgbClr val="111827"/>
                    </a:solidFill>
                    <a:latin typeface="Cambria Math" panose="02040503050406030204" pitchFamily="18" charset="0"/>
                  </a:rPr>
                  <a:t>$6![x^6]\exp(xe^x)=\sum_{k}\binom6k k^{6-k}$</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Term by term this gives </a:t>
                </a:r>
                <a:r>
                  <a:rPr lang="en-IN" sz="2400">
                    <a:solidFill>
                      <a:srgbClr val="111827"/>
                    </a:solidFill>
                    <a:latin typeface="Cambria Math" panose="02040503050406030204" pitchFamily="18" charset="0"/>
                  </a:rPr>
                  <a:t>$6+240+540+240+30+1=1057$</a:t>
                </a:r>
                <a:r>
                  <a:rPr sz="2400" b="0">
                    <a:solidFill>
                      <a:srgbClr val="111827"/>
                    </a:solidFill>
                    <a:latin typeface="Arial"/>
                  </a:rPr>
                  <a:t> (the known sequence </a:t>
                </a:r>
                <a:r>
                  <a:rPr lang="en-IN" sz="2400">
                    <a:solidFill>
                      <a:srgbClr val="111827"/>
                    </a:solidFill>
                    <a:latin typeface="Cambria Math" panose="02040503050406030204" pitchFamily="18" charset="0"/>
                  </a:rPr>
                  <a:t>$1,3,10,41,196,1057$</a:t>
                </a:r>
                <a:r>
                  <a:rPr sz="2400" b="0">
                    <a:solidFill>
                      <a:srgbClr val="111827"/>
                    </a:solidFill>
                    <a:latin typeface="Arial"/>
                  </a:rPr>
                  <a:t>).</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14:m>
                  <m:oMath xmlns:m="http://schemas.openxmlformats.org/officeDocument/2006/math">
                    <m:r>
                      <a:rPr lang="en-IN" sz="2800" i="1">
                        <a:solidFill>
                          <a:srgbClr val="15803D"/>
                        </a:solidFill>
                        <a:latin typeface="Cambria Math" panose="02040503050406030204" pitchFamily="18" charset="0"/>
                      </a:rPr>
                      <m:t>540</m:t>
                    </m:r>
                  </m:oMath>
                </a14:m>
                <a:r>
                  <a:rPr sz="2800" b="1">
                    <a:solidFill>
                      <a:srgbClr val="15803D"/>
                    </a:solidFill>
                    <a:latin typeface="Arial"/>
                  </a:rPr>
                  <a:t>, (b) </a:t>
                </a:r>
                <a14:m>
                  <m:oMath xmlns:m="http://schemas.openxmlformats.org/officeDocument/2006/math">
                    <m:r>
                      <a:rPr lang="en-IN" sz="2800" i="1">
                        <a:solidFill>
                          <a:srgbClr val="15803D"/>
                        </a:solidFill>
                        <a:latin typeface="Cambria Math" panose="02040503050406030204" pitchFamily="18" charset="0"/>
                      </a:rPr>
                      <m:t>1057</m:t>
                    </m:r>
                  </m:oMath>
                </a14:m>
                <a:endParaRPr sz="2800">
                  <a:solidFill>
                    <a:srgbClr val="15803D"/>
                  </a:solidFill>
                </a:endParaRPr>
              </a:p>
            </p:txBody>
          </p:sp>
        </mc:Choice>
        <mc:Fallback>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(a) </a:t>
                </a:r>
                <a:r>
                  <a:rPr lang="en-IN" sz="2800">
                    <a:solidFill>
                      <a:srgbClr val="15803D"/>
                    </a:solidFill>
                    <a:latin typeface="Cambria Math" panose="02040503050406030204" pitchFamily="18" charset="0"/>
                  </a:rPr>
                  <a:t>$540$</a:t>
                </a:r>
                <a:r>
                  <a:rPr sz="2800" b="1">
                    <a:solidFill>
                      <a:srgbClr val="15803D"/>
                    </a:solidFill>
                    <a:latin typeface="Arial"/>
                  </a:rPr>
                  <a:t>, (b) </a:t>
                </a:r>
                <a:r>
                  <a:rPr lang="en-IN" sz="2800">
                    <a:solidFill>
                      <a:srgbClr val="15803D"/>
                    </a:solidFill>
                    <a:latin typeface="Cambria Math" panose="02040503050406030204" pitchFamily="18" charset="0"/>
                  </a:rPr>
                  <a:t>$1057$</a:t>
                </a:r>
                <a:endParaRPr sz="2800">
                  <a:solidFill>
                    <a:srgbClr val="15803D"/>
                  </a:solidFill>
                </a:endParaRPr>
              </a:p>
            </p:txBody>
          </p:sp>
        </mc:Fallback>
      </mc:AlternateContent>
    </p:spTree>
  </p:cSld>
  <p:clrMapOvr>
    <a:masterClrMapping/>
  </p:clrMapOvr>
</p:sld>
</file>

<file path=ppt/slides/slide6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103</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E88080"/>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4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𝑓</m:t>
                    </m:r>
                  </m:oMath>
                </a14:m>
                <a:r>
                  <a:rPr sz="2400" b="0">
                    <a:solidFill>
                      <a:srgbClr val="111827"/>
                    </a:solidFill>
                    <a:latin typeface="Arial"/>
                  </a:rPr>
                  <a:t> (idempotent) </a:t>
                </a:r>
                <a14:m>
                  <m:oMath xmlns:m="http://schemas.openxmlformats.org/officeDocument/2006/math">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𝑓</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𝑦</m:t>
                    </m:r>
                  </m:oMath>
                </a14:m>
                <a:r>
                  <a:rPr sz="2400" b="0">
                    <a:solidFill>
                      <a:srgbClr val="111827"/>
                    </a:solidFill>
                    <a:latin typeface="Arial"/>
                  </a:rPr>
                  <a:t> for every </a:t>
                </a:r>
                <a14:m>
                  <m:oMath xmlns:m="http://schemas.openxmlformats.org/officeDocument/2006/math">
                    <m:r>
                      <a:rPr lang="en-IN" sz="2400" i="1">
                        <a:solidFill>
                          <a:srgbClr val="111827"/>
                        </a:solidFill>
                        <a:latin typeface="Cambria Math" panose="02040503050406030204" pitchFamily="18" charset="0"/>
                      </a:rPr>
                      <m:t>𝑦</m:t>
                    </m:r>
                  </m:oMath>
                </a14:m>
                <a:r>
                  <a:rPr sz="2400" b="0">
                    <a:solidFill>
                      <a:srgbClr val="111827"/>
                    </a:solidFill>
                    <a:latin typeface="Arial"/>
                  </a:rPr>
                  <a:t> in the range of </a:t>
                </a:r>
                <a14:m>
                  <m:oMath xmlns:m="http://schemas.openxmlformats.org/officeDocument/2006/math">
                    <m:r>
                      <a:rPr lang="en-IN" sz="2400" i="1">
                        <a:solidFill>
                          <a:srgbClr val="111827"/>
                        </a:solidFill>
                        <a:latin typeface="Cambria Math" panose="02040503050406030204" pitchFamily="18" charset="0"/>
                      </a:rPr>
                      <m:t>𝑓</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idempotent maps on an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-set: </a:t>
                </a: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𝑘</m:t>
                                </m:r>
                              </m:den>
                            </m:f>
                          </m:e>
                        </m:d>
                      </m:e>
                    </m:nary>
                    <m:sSup>
                      <m:e>
                        <m:r>
                          <a:rPr lang="en-IN" sz="2400" i="1">
                            <a:solidFill>
                              <a:srgbClr val="111827"/>
                            </a:solidFill>
                            <a:latin typeface="Cambria Math" panose="02040503050406030204" pitchFamily="18" charset="0"/>
                          </a:rPr>
                          <m:t>𝑘</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sup>
                    </m:sSup>
                  </m:oMath>
                </a14:m>
                <a:r>
                  <a:rPr sz="2400" b="0">
                    <a:solidFill>
                      <a:srgbClr val="111827"/>
                    </a:solidFill>
                    <a:latin typeface="Arial"/>
                  </a:rPr>
                  <a:t> (1, 3, 10, 41, 196, 1057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one-one idempotent map on a finite set must be the identity.</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$f\circ f=f$</a:t>
                </a:r>
                <a:r>
                  <a:rPr sz="2400" b="0">
                    <a:solidFill>
                      <a:srgbClr val="111827"/>
                    </a:solidFill>
                    <a:latin typeface="Arial"/>
                  </a:rPr>
                  <a:t> (idempotent) </a:t>
                </a:r>
                <a:r>
                  <a:rPr lang="en-IN" sz="2400">
                    <a:solidFill>
                      <a:srgbClr val="111827"/>
                    </a:solidFill>
                    <a:latin typeface="Cambria Math" panose="02040503050406030204" pitchFamily="18" charset="0"/>
                  </a:rPr>
                  <a:t>$\iff$</a:t>
                </a:r>
                <a:r>
                  <a:rPr sz="2400" b="0">
                    <a:solidFill>
                      <a:srgbClr val="111827"/>
                    </a:solidFill>
                    <a:latin typeface="Arial"/>
                  </a:rPr>
                  <a:t> </a:t>
                </a:r>
                <a:r>
                  <a:rPr lang="en-IN" sz="2400">
                    <a:solidFill>
                      <a:srgbClr val="111827"/>
                    </a:solidFill>
                    <a:latin typeface="Cambria Math" panose="02040503050406030204" pitchFamily="18" charset="0"/>
                  </a:rPr>
                  <a:t>$f(y)=y$</a:t>
                </a:r>
                <a:r>
                  <a:rPr sz="2400" b="0">
                    <a:solidFill>
                      <a:srgbClr val="111827"/>
                    </a:solidFill>
                    <a:latin typeface="Arial"/>
                  </a:rPr>
                  <a:t> for every </a:t>
                </a:r>
                <a:r>
                  <a:rPr lang="en-IN" sz="2400">
                    <a:solidFill>
                      <a:srgbClr val="111827"/>
                    </a:solidFill>
                    <a:latin typeface="Cambria Math" panose="02040503050406030204" pitchFamily="18" charset="0"/>
                  </a:rPr>
                  <a:t>$y$</a:t>
                </a:r>
                <a:r>
                  <a:rPr sz="2400" b="0">
                    <a:solidFill>
                      <a:srgbClr val="111827"/>
                    </a:solidFill>
                    <a:latin typeface="Arial"/>
                  </a:rPr>
                  <a:t> in the range of </a:t>
                </a:r>
                <a:r>
                  <a:rPr lang="en-IN" sz="2400">
                    <a:solidFill>
                      <a:srgbClr val="111827"/>
                    </a:solidFill>
                    <a:latin typeface="Cambria Math" panose="02040503050406030204" pitchFamily="18" charset="0"/>
                  </a:rPr>
                  <a:t>$f$</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Number of idempotent maps on an </a:t>
                </a:r>
                <a:r>
                  <a:rPr lang="en-IN" sz="2400">
                    <a:solidFill>
                      <a:srgbClr val="111827"/>
                    </a:solidFill>
                    <a:latin typeface="Cambria Math" panose="02040503050406030204" pitchFamily="18" charset="0"/>
                  </a:rPr>
                  <a:t>$n$</a:t>
                </a:r>
                <a:r>
                  <a:rPr sz="2400" b="0">
                    <a:solidFill>
                      <a:srgbClr val="111827"/>
                    </a:solidFill>
                    <a:latin typeface="Arial"/>
                  </a:rPr>
                  <a:t>-set: </a:t>
                </a:r>
                <a:r>
                  <a:rPr lang="en-IN" sz="2400">
                    <a:solidFill>
                      <a:srgbClr val="111827"/>
                    </a:solidFill>
                    <a:latin typeface="Cambria Math" panose="02040503050406030204" pitchFamily="18" charset="0"/>
                  </a:rPr>
                  <a:t>$\sum_{k=0}^{n}\binom nk k^{n-k}$</a:t>
                </a:r>
                <a:r>
                  <a:rPr sz="2400" b="0">
                    <a:solidFill>
                      <a:srgbClr val="111827"/>
                    </a:solidFill>
                    <a:latin typeface="Arial"/>
                  </a:rPr>
                  <a:t> (1, 3, 10, 41, 196, 1057 for </a:t>
                </a:r>
                <a:r>
                  <a:rPr lang="en-IN" sz="2400">
                    <a:solidFill>
                      <a:srgbClr val="111827"/>
                    </a:solidFill>
                    <a:latin typeface="Cambria Math" panose="02040503050406030204" pitchFamily="18" charset="0"/>
                  </a:rPr>
                  <a:t>$n=1..6$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 one-one idempotent map on a finite set must be the identity.</a:t>
                </a:r>
                <a:endParaRPr sz="2400">
                  <a:solidFill>
                    <a:srgbClr val="111827"/>
                  </a:solidFill>
                </a:endParaRPr>
              </a:p>
            </p:txBody>
          </p:sp>
        </mc:Fallback>
      </mc:AlternateContent>
    </p:spTree>
  </p:cSld>
  <p:clrMapOvr>
    <a:masterClrMapping/>
  </p:clrMapOvr>
</p:sld>
</file>

<file path=ppt/slides/slide6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10</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Integer Type(0 to 9)</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Q104</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6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360527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area bounded by a curve, the axis of co-ordinates and the ordinate of some point of the curve is equal to the length of the corresponding arc of the curve. If the curve passes through the point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the equation of this curve will be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𝑒</m:t>
                            </m:r>
                          </m:e>
                          <m:sup>
                            <m:r>
                              <a:rPr lang="en-IN" sz="2400" i="1">
                                <a:solidFill>
                                  <a:srgbClr val="111827"/>
                                </a:solidFill>
                                <a:latin typeface="Cambria Math" panose="02040503050406030204" pitchFamily="18" charset="0"/>
                              </a:rPr>
                              <m:t>𝑥</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𝑒</m:t>
                            </m:r>
                          </m:e>
                          <m: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sup>
                        </m:sSup>
                      </m:e>
                    </m:d>
                  </m:oMath>
                </a14:m>
                <a:r>
                  <a:rPr sz="2400" b="0">
                    <a:solidFill>
                      <a:srgbClr val="111827"/>
                    </a:solidFill>
                    <a:latin typeface="Arial"/>
                  </a:rPr>
                  <a:t>. Let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where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cr m:val="double-struck"/>
                        <m:sty m:val="p"/>
                      </m:rPr>
                      <a:rPr lang="en-IN" sz="2400">
                        <a:solidFill>
                          <a:srgbClr val="111827"/>
                        </a:solidFill>
                        <a:latin typeface="Cambria Math" panose="02040503050406030204" pitchFamily="18" charset="0"/>
                      </a:rPr>
                      <m:t>R</m:t>
                    </m:r>
                  </m:oMath>
                </a14:m>
                <a:r>
                  <a:rPr sz="2400" b="0">
                    <a:solidFill>
                      <a:srgbClr val="111827"/>
                    </a:solidFill>
                    <a:latin typeface="Arial"/>
                  </a:rPr>
                  <a:t>; there exists a complex number </a:t>
                </a:r>
                <a14:m>
                  <m:oMath xmlns:m="http://schemas.openxmlformats.org/officeDocument/2006/math">
                    <m:r>
                      <a:rPr lang="en-IN" sz="2400" i="1">
                        <a:solidFill>
                          <a:srgbClr val="111827"/>
                        </a:solidFill>
                        <a:latin typeface="Cambria Math" panose="02040503050406030204" pitchFamily="18" charset="0"/>
                      </a:rPr>
                      <m:t>𝑤</m:t>
                    </m:r>
                  </m:oMath>
                </a14:m>
                <a:r>
                  <a:rPr sz="2400" b="0">
                    <a:solidFill>
                      <a:srgbClr val="111827"/>
                    </a:solidFill>
                    <a:latin typeface="Arial"/>
                  </a:rPr>
                  <a:t> such that the three roots of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are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where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Find the unit digit of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4" name="Rounded Rectangle 3"/>
              <p:cNvSpPr/>
              <p:nvPr/>
            </p:nvSpPr>
            <p:spPr>
              <a:xfrm>
                <a:off x="731520" y="1280160"/>
                <a:ext cx="10725912" cy="3605276"/>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The area bounded by a curve, the axis of co-ordinates and the ordinate of some point of the curve is equal to the length of the corresponding arc of the curve. If the curve passes through the point </a:t>
                </a:r>
                <a:r>
                  <a:rPr lang="en-IN" sz="2400">
                    <a:solidFill>
                      <a:srgbClr val="111827"/>
                    </a:solidFill>
                    <a:latin typeface="Cambria Math" panose="02040503050406030204" pitchFamily="18" charset="0"/>
                  </a:rPr>
                  <a:t>$P(0,1)$</a:t>
                </a:r>
                <a:r>
                  <a:rPr sz="2400" b="0">
                    <a:solidFill>
                      <a:srgbClr val="111827"/>
                    </a:solidFill>
                    <a:latin typeface="Arial"/>
                  </a:rPr>
                  <a:t> then the equation of this curve will be </a:t>
                </a:r>
                <a:r>
                  <a:rPr lang="en-IN" sz="2400">
                    <a:solidFill>
                      <a:srgbClr val="111827"/>
                    </a:solidFill>
                    <a:latin typeface="Cambria Math" panose="02040503050406030204" pitchFamily="18" charset="0"/>
                  </a:rPr>
                  <a:t>$y=\frac1k\left(e^{x}+e^{-x}\right)$</a:t>
                </a:r>
                <a:r>
                  <a:rPr sz="2400" b="0">
                    <a:solidFill>
                      <a:srgbClr val="111827"/>
                    </a:solidFill>
                    <a:latin typeface="Arial"/>
                  </a:rPr>
                  <a:t>. Let </a:t>
                </a:r>
                <a:r>
                  <a:rPr lang="en-IN" sz="2400">
                    <a:solidFill>
                      <a:srgbClr val="111827"/>
                    </a:solidFill>
                    <a:latin typeface="Cambria Math" panose="02040503050406030204" pitchFamily="18" charset="0"/>
                  </a:rPr>
                  <a:t>$P(z)=z^3+az^2+bz+c$</a:t>
                </a:r>
                <a:r>
                  <a:rPr sz="2400" b="0">
                    <a:solidFill>
                      <a:srgbClr val="111827"/>
                    </a:solidFill>
                    <a:latin typeface="Arial"/>
                  </a:rPr>
                  <a:t> where </a:t>
                </a:r>
                <a:r>
                  <a:rPr lang="en-IN" sz="2400">
                    <a:solidFill>
                      <a:srgbClr val="111827"/>
                    </a:solidFill>
                    <a:latin typeface="Cambria Math" panose="02040503050406030204" pitchFamily="18" charset="0"/>
                  </a:rPr>
                  <a:t>$a,b,c\in\mathbb R$</a:t>
                </a:r>
                <a:r>
                  <a:rPr sz="2400" b="0">
                    <a:solidFill>
                      <a:srgbClr val="111827"/>
                    </a:solidFill>
                    <a:latin typeface="Arial"/>
                  </a:rPr>
                  <a:t>; there exists a complex number </a:t>
                </a:r>
                <a:r>
                  <a:rPr lang="en-IN" sz="2400">
                    <a:solidFill>
                      <a:srgbClr val="111827"/>
                    </a:solidFill>
                    <a:latin typeface="Cambria Math" panose="02040503050406030204" pitchFamily="18" charset="0"/>
                  </a:rPr>
                  <a:t>$w$</a:t>
                </a:r>
                <a:r>
                  <a:rPr sz="2400" b="0">
                    <a:solidFill>
                      <a:srgbClr val="111827"/>
                    </a:solidFill>
                    <a:latin typeface="Arial"/>
                  </a:rPr>
                  <a:t> such that the three roots of </a:t>
                </a:r>
                <a:r>
                  <a:rPr lang="en-IN" sz="2400">
                    <a:solidFill>
                      <a:srgbClr val="111827"/>
                    </a:solidFill>
                    <a:latin typeface="Cambria Math" panose="02040503050406030204" pitchFamily="18" charset="0"/>
                  </a:rPr>
                  <a:t>$P(z)=0$</a:t>
                </a:r>
                <a:r>
                  <a:rPr sz="2400" b="0">
                    <a:solidFill>
                      <a:srgbClr val="111827"/>
                    </a:solidFill>
                    <a:latin typeface="Arial"/>
                  </a:rPr>
                  <a:t> are </a:t>
                </a:r>
                <a:r>
                  <a:rPr lang="en-IN" sz="2400">
                    <a:solidFill>
                      <a:srgbClr val="111827"/>
                    </a:solidFill>
                    <a:latin typeface="Cambria Math" panose="02040503050406030204" pitchFamily="18" charset="0"/>
                  </a:rPr>
                  <a:t>$w+3i$</a:t>
                </a:r>
                <a:r>
                  <a:rPr sz="2400" b="0">
                    <a:solidFill>
                      <a:srgbClr val="111827"/>
                    </a:solidFill>
                    <a:latin typeface="Arial"/>
                  </a:rPr>
                  <a:t>, </a:t>
                </a:r>
                <a:r>
                  <a:rPr lang="en-IN" sz="2400">
                    <a:solidFill>
                      <a:srgbClr val="111827"/>
                    </a:solidFill>
                    <a:latin typeface="Cambria Math" panose="02040503050406030204" pitchFamily="18" charset="0"/>
                  </a:rPr>
                  <a:t>$w+9i$</a:t>
                </a:r>
                <a:r>
                  <a:rPr sz="2400" b="0">
                    <a:solidFill>
                      <a:srgbClr val="111827"/>
                    </a:solidFill>
                    <a:latin typeface="Arial"/>
                  </a:rPr>
                  <a:t> and </a:t>
                </a:r>
                <a:r>
                  <a:rPr lang="en-IN" sz="2400">
                    <a:solidFill>
                      <a:srgbClr val="111827"/>
                    </a:solidFill>
                    <a:latin typeface="Cambria Math" panose="02040503050406030204" pitchFamily="18" charset="0"/>
                  </a:rPr>
                  <a:t>$2w-4$</a:t>
                </a:r>
                <a:r>
                  <a:rPr sz="2400" b="0">
                    <a:solidFill>
                      <a:srgbClr val="111827"/>
                    </a:solidFill>
                    <a:latin typeface="Arial"/>
                  </a:rPr>
                  <a:t>, where </a:t>
                </a:r>
                <a:r>
                  <a:rPr lang="en-IN" sz="2400">
                    <a:solidFill>
                      <a:srgbClr val="111827"/>
                    </a:solidFill>
                    <a:latin typeface="Cambria Math" panose="02040503050406030204" pitchFamily="18" charset="0"/>
                  </a:rPr>
                  <a:t>$i^2=-1$</a:t>
                </a:r>
                <a:r>
                  <a:rPr sz="2400" b="0">
                    <a:solidFill>
                      <a:srgbClr val="111827"/>
                    </a:solidFill>
                    <a:latin typeface="Arial"/>
                  </a:rPr>
                  <a:t>. Find the unit digit of </a:t>
                </a:r>
                <a:r>
                  <a:rPr lang="en-IN" sz="2400">
                    <a:solidFill>
                      <a:srgbClr val="111827"/>
                    </a:solidFill>
                    <a:latin typeface="Cambria Math" panose="02040503050406030204" pitchFamily="18" charset="0"/>
                  </a:rPr>
                  <a:t>$|a+b+c+k|$</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Integer Type(0 to 9)(4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Area and arc length under a curve, Polynomial with real coefficients and complex roots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real cubic has non-real roots in conjugate pairs; match the roots in pairs to pin down </a:t>
                </a:r>
                <a14:m>
                  <m:oMath xmlns:m="http://schemas.openxmlformats.org/officeDocument/2006/math">
                    <m:r>
                      <a:rPr lang="en-IN" sz="2400" i="1">
                        <a:solidFill>
                          <a:srgbClr val="78350F"/>
                        </a:solidFill>
                        <a:latin typeface="Cambria Math" panose="02040503050406030204" pitchFamily="18" charset="0"/>
                      </a:rPr>
                      <m:t>𝑤</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real cubic has non-real roots in conjugate pairs; match the roots in pairs to pin down </a:t>
                </a:r>
                <a:r>
                  <a:rPr lang="en-IN" sz="2400">
                    <a:solidFill>
                      <a:srgbClr val="78350F"/>
                    </a:solidFill>
                    <a:latin typeface="Cambria Math" panose="02040503050406030204" pitchFamily="18" charset="0"/>
                  </a:rPr>
                  <a:t>$w$</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curve passes through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and the curve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cosh</m:t>
                    </m:r>
                    <m:r>
                      <a:rPr lang="en-IN" sz="2400" i="1">
                        <a:solidFill>
                          <a:srgbClr val="111827"/>
                        </a:solidFill>
                        <a:latin typeface="Cambria Math" panose="02040503050406030204" pitchFamily="18" charset="0"/>
                      </a:rPr>
                      <m:t>𝑥</m:t>
                    </m:r>
                  </m:oMath>
                </a14:m>
                <a:r>
                  <a:rPr sz="2400" b="0">
                    <a:solidFill>
                      <a:srgbClr val="111827"/>
                    </a:solidFill>
                    <a:latin typeface="Arial"/>
                  </a:rPr>
                  <a:t> (indeed </a:t>
                </a:r>
                <a14:m>
                  <m:oMath xmlns:m="http://schemas.openxmlformats.org/officeDocument/2006/math">
                    <m:nary>
                      <m:naryPr>
                        <m:chr m:val="∫"/>
                        <m:limLoc m:val="subSup"/>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𝑥</m:t>
                        </m:r>
                      </m:sup>
                      <m:e>
                        <m:r>
                          <m:rPr>
                            <m:sty m:val="p"/>
                          </m:rPr>
                          <a:rPr lang="en-IN" sz="2400">
                            <a:solidFill>
                              <a:srgbClr val="111827"/>
                            </a:solidFill>
                            <a:latin typeface="Cambria Math" panose="02040503050406030204" pitchFamily="18" charset="0"/>
                          </a:rPr>
                          <m:t>cosh</m:t>
                        </m:r>
                      </m:e>
                    </m:nary>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𝑑</m:t>
                    </m:r>
                    <m:r>
                      <a:rPr lang="en-IN" sz="2400" i="1">
                        <a:solidFill>
                          <a:srgbClr val="111827"/>
                        </a:solidFill>
                        <a:latin typeface="Cambria Math" panose="02040503050406030204" pitchFamily="18" charset="0"/>
                      </a:rPr>
                      <m:t>𝑡</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sinh</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arc length).</a:t>
                </a:r>
                <a:endParaRPr sz="2400">
                  <a:solidFill>
                    <a:srgbClr val="111827"/>
                  </a:solidFill>
                </a:endParaRPr>
              </a:p>
            </p:txBody>
          </p:sp>
        </mc:Choice>
        <mc:Fallback>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curve passes through </a:t>
                </a:r>
                <a:r>
                  <a:rPr lang="en-IN" sz="2400">
                    <a:solidFill>
                      <a:srgbClr val="111827"/>
                    </a:solidFill>
                    <a:latin typeface="Cambria Math" panose="02040503050406030204" pitchFamily="18" charset="0"/>
                  </a:rPr>
                  <a:t>$(0,1)$</a:t>
                </a:r>
                <a:r>
                  <a:rPr sz="2400" b="0">
                    <a:solidFill>
                      <a:srgbClr val="111827"/>
                    </a:solidFill>
                    <a:latin typeface="Arial"/>
                  </a:rPr>
                  <a:t>: </a:t>
                </a:r>
                <a:r>
                  <a:rPr lang="en-IN" sz="2400">
                    <a:solidFill>
                      <a:srgbClr val="111827"/>
                    </a:solidFill>
                    <a:latin typeface="Cambria Math" panose="02040503050406030204" pitchFamily="18" charset="0"/>
                  </a:rPr>
                  <a:t>$1=\frac1k(1+1)$</a:t>
                </a:r>
                <a:r>
                  <a:rPr sz="2400" b="0">
                    <a:solidFill>
                      <a:srgbClr val="111827"/>
                    </a:solidFill>
                    <a:latin typeface="Arial"/>
                  </a:rPr>
                  <a:t>, so </a:t>
                </a:r>
                <a:r>
                  <a:rPr lang="en-IN" sz="2400">
                    <a:solidFill>
                      <a:srgbClr val="111827"/>
                    </a:solidFill>
                    <a:latin typeface="Cambria Math" panose="02040503050406030204" pitchFamily="18" charset="0"/>
                  </a:rPr>
                  <a:t>$k=2$</a:t>
                </a:r>
                <a:r>
                  <a:rPr sz="2400" b="0">
                    <a:solidFill>
                      <a:srgbClr val="111827"/>
                    </a:solidFill>
                    <a:latin typeface="Arial"/>
                  </a:rPr>
                  <a:t> and the curve is </a:t>
                </a:r>
                <a:r>
                  <a:rPr lang="en-IN" sz="2400">
                    <a:solidFill>
                      <a:srgbClr val="111827"/>
                    </a:solidFill>
                    <a:latin typeface="Cambria Math" panose="02040503050406030204" pitchFamily="18" charset="0"/>
                  </a:rPr>
                  <a:t>$y=\cosh x$</a:t>
                </a:r>
                <a:r>
                  <a:rPr sz="2400" b="0">
                    <a:solidFill>
                      <a:srgbClr val="111827"/>
                    </a:solidFill>
                    <a:latin typeface="Arial"/>
                  </a:rPr>
                  <a:t> (indeed </a:t>
                </a:r>
                <a:r>
                  <a:rPr lang="en-IN" sz="2400">
                    <a:solidFill>
                      <a:srgbClr val="111827"/>
                    </a:solidFill>
                    <a:latin typeface="Cambria Math" panose="02040503050406030204" pitchFamily="18" charset="0"/>
                  </a:rPr>
                  <a:t>$\int_0^x\cosh t\,dt=\sinh x=$</a:t>
                </a:r>
                <a:r>
                  <a:rPr sz="2400" b="0">
                    <a:solidFill>
                      <a:srgbClr val="111827"/>
                    </a:solidFill>
                    <a:latin typeface="Arial"/>
                  </a:rPr>
                  <a:t> arc length).</a:t>
                </a:r>
                <a:endParaRPr sz="2400">
                  <a:solidFill>
                    <a:srgbClr val="111827"/>
                  </a:solidFill>
                </a:endParaRPr>
              </a:p>
            </p:txBody>
          </p:sp>
        </mc:Fallback>
      </mc:AlternateContent>
    </p:spTree>
  </p:cSld>
  <p:clrMapOvr>
    <a:masterClrMapping/>
  </p:clrMapOvr>
</p:sld>
</file>

<file path=ppt/slides/slide6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𝑖</m:t>
                    </m:r>
                  </m:oMath>
                </a14:m>
                <a:r>
                  <a:rPr sz="2400" b="0">
                    <a:solidFill>
                      <a:srgbClr val="111827"/>
                    </a:solidFill>
                    <a:latin typeface="Arial"/>
                  </a:rPr>
                  <a:t>. The roots are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are real, non-real roots occur in conjugate pairs, and a cubic has at least one real root.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Suppose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are conjugates: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has imaginary part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and cannot be real. Rejected.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Suppose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conjugates: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𝑖</m:t>
                    </m:r>
                  </m:oMath>
                </a14:m>
                <a:r>
                  <a:rPr sz="2400" b="0">
                    <a:solidFill>
                      <a:srgbClr val="111827"/>
                    </a:solidFill>
                    <a:latin typeface="Arial"/>
                  </a:rPr>
                  <a:t> is not real. Rejected.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Suppose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conjugates: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Then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is real. Accepted.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roots are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3</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Write </a:t>
                </a:r>
                <a:r>
                  <a:rPr lang="en-IN" sz="2400">
                    <a:solidFill>
                      <a:srgbClr val="111827"/>
                    </a:solidFill>
                    <a:latin typeface="Cambria Math" panose="02040503050406030204" pitchFamily="18" charset="0"/>
                  </a:rPr>
                  <a:t>$w=p+qi$</a:t>
                </a:r>
                <a:r>
                  <a:rPr sz="2400" b="0">
                    <a:solidFill>
                      <a:srgbClr val="111827"/>
                    </a:solidFill>
                    <a:latin typeface="Arial"/>
                  </a:rPr>
                  <a:t>. The roots are </a:t>
                </a:r>
                <a:r>
                  <a:rPr lang="en-IN" sz="2400">
                    <a:solidFill>
                      <a:srgbClr val="111827"/>
                    </a:solidFill>
                    <a:latin typeface="Cambria Math" panose="02040503050406030204" pitchFamily="18" charset="0"/>
                  </a:rPr>
                  <a:t>$r_1=p+(q+3)i$</a:t>
                </a:r>
                <a:r>
                  <a:rPr sz="2400" b="0">
                    <a:solidFill>
                      <a:srgbClr val="111827"/>
                    </a:solidFill>
                    <a:latin typeface="Arial"/>
                  </a:rPr>
                  <a:t>, </a:t>
                </a:r>
                <a:r>
                  <a:rPr lang="en-IN" sz="2400">
                    <a:solidFill>
                      <a:srgbClr val="111827"/>
                    </a:solidFill>
                    <a:latin typeface="Cambria Math" panose="02040503050406030204" pitchFamily="18" charset="0"/>
                  </a:rPr>
                  <a:t>$r_2=p+(q+9)i$</a:t>
                </a:r>
                <a:r>
                  <a:rPr sz="2400" b="0">
                    <a:solidFill>
                      <a:srgbClr val="111827"/>
                    </a:solidFill>
                    <a:latin typeface="Arial"/>
                  </a:rPr>
                  <a:t>, </a:t>
                </a:r>
                <a:r>
                  <a:rPr lang="en-IN" sz="2400">
                    <a:solidFill>
                      <a:srgbClr val="111827"/>
                    </a:solidFill>
                    <a:latin typeface="Cambria Math" panose="02040503050406030204" pitchFamily="18" charset="0"/>
                  </a:rPr>
                  <a:t>$r_3=(2p-4)+2qi$</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Since </a:t>
                </a:r>
                <a:r>
                  <a:rPr lang="en-IN" sz="2400">
                    <a:solidFill>
                      <a:srgbClr val="111827"/>
                    </a:solidFill>
                    <a:latin typeface="Cambria Math" panose="02040503050406030204" pitchFamily="18" charset="0"/>
                  </a:rPr>
                  <a:t>$a,b,c$</a:t>
                </a:r>
                <a:r>
                  <a:rPr sz="2400" b="0">
                    <a:solidFill>
                      <a:srgbClr val="111827"/>
                    </a:solidFill>
                    <a:latin typeface="Arial"/>
                  </a:rPr>
                  <a:t> are real, non-real roots occur in conjugate pairs, and a cubic has at least one real root.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Suppose </a:t>
                </a:r>
                <a:r>
                  <a:rPr lang="en-IN" sz="2400">
                    <a:solidFill>
                      <a:srgbClr val="111827"/>
                    </a:solidFill>
                    <a:latin typeface="Cambria Math" panose="02040503050406030204" pitchFamily="18" charset="0"/>
                  </a:rPr>
                  <a:t>$r_1,r_2$</a:t>
                </a:r>
                <a:r>
                  <a:rPr sz="2400" b="0">
                    <a:solidFill>
                      <a:srgbClr val="111827"/>
                    </a:solidFill>
                    <a:latin typeface="Arial"/>
                  </a:rPr>
                  <a:t> are conjugates: </a:t>
                </a:r>
                <a:r>
                  <a:rPr lang="en-IN" sz="2400">
                    <a:solidFill>
                      <a:srgbClr val="111827"/>
                    </a:solidFill>
                    <a:latin typeface="Cambria Math" panose="02040503050406030204" pitchFamily="18" charset="0"/>
                  </a:rPr>
                  <a:t>$q+3=-(q+9)\Rightarrow q=-6$</a:t>
                </a:r>
                <a:r>
                  <a:rPr sz="2400" b="0">
                    <a:solidFill>
                      <a:srgbClr val="111827"/>
                    </a:solidFill>
                    <a:latin typeface="Arial"/>
                  </a:rPr>
                  <a:t>, then </a:t>
                </a:r>
                <a:r>
                  <a:rPr lang="en-IN" sz="2400">
                    <a:solidFill>
                      <a:srgbClr val="111827"/>
                    </a:solidFill>
                    <a:latin typeface="Cambria Math" panose="02040503050406030204" pitchFamily="18" charset="0"/>
                  </a:rPr>
                  <a:t>$r_3$</a:t>
                </a:r>
                <a:r>
                  <a:rPr sz="2400" b="0">
                    <a:solidFill>
                      <a:srgbClr val="111827"/>
                    </a:solidFill>
                    <a:latin typeface="Arial"/>
                  </a:rPr>
                  <a:t> has imaginary part </a:t>
                </a:r>
                <a:r>
                  <a:rPr lang="en-IN" sz="2400">
                    <a:solidFill>
                      <a:srgbClr val="111827"/>
                    </a:solidFill>
                    <a:latin typeface="Cambria Math" panose="02040503050406030204" pitchFamily="18" charset="0"/>
                  </a:rPr>
                  <a:t>$-12\ne0$</a:t>
                </a:r>
                <a:r>
                  <a:rPr sz="2400" b="0">
                    <a:solidFill>
                      <a:srgbClr val="111827"/>
                    </a:solidFill>
                    <a:latin typeface="Arial"/>
                  </a:rPr>
                  <a:t> and cannot be real. Rejected.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Suppose </a:t>
                </a:r>
                <a:r>
                  <a:rPr lang="en-IN" sz="2400">
                    <a:solidFill>
                      <a:srgbClr val="111827"/>
                    </a:solidFill>
                    <a:latin typeface="Cambria Math" panose="02040503050406030204" pitchFamily="18" charset="0"/>
                  </a:rPr>
                  <a:t>$r_1,r_3$</a:t>
                </a:r>
                <a:r>
                  <a:rPr sz="2400" b="0">
                    <a:solidFill>
                      <a:srgbClr val="111827"/>
                    </a:solidFill>
                    <a:latin typeface="Arial"/>
                  </a:rPr>
                  <a:t> are conjugates: </a:t>
                </a:r>
                <a:r>
                  <a:rPr lang="en-IN" sz="2400">
                    <a:solidFill>
                      <a:srgbClr val="111827"/>
                    </a:solidFill>
                    <a:latin typeface="Cambria Math" panose="02040503050406030204" pitchFamily="18" charset="0"/>
                  </a:rPr>
                  <a:t>$p=2p-4\Rightarrow p=4$</a:t>
                </a:r>
                <a:r>
                  <a:rPr sz="2400" b="0">
                    <a:solidFill>
                      <a:srgbClr val="111827"/>
                    </a:solidFill>
                    <a:latin typeface="Arial"/>
                  </a:rPr>
                  <a:t> and </a:t>
                </a:r>
                <a:r>
                  <a:rPr lang="en-IN" sz="2400">
                    <a:solidFill>
                      <a:srgbClr val="111827"/>
                    </a:solidFill>
                    <a:latin typeface="Cambria Math" panose="02040503050406030204" pitchFamily="18" charset="0"/>
                  </a:rPr>
                  <a:t>$q+3=-2q\Rightarrow q=-1$</a:t>
                </a:r>
                <a:r>
                  <a:rPr sz="2400" b="0">
                    <a:solidFill>
                      <a:srgbClr val="111827"/>
                    </a:solidFill>
                    <a:latin typeface="Arial"/>
                  </a:rPr>
                  <a:t>; then </a:t>
                </a:r>
                <a:r>
                  <a:rPr lang="en-IN" sz="2400">
                    <a:solidFill>
                      <a:srgbClr val="111827"/>
                    </a:solidFill>
                    <a:latin typeface="Cambria Math" panose="02040503050406030204" pitchFamily="18" charset="0"/>
                  </a:rPr>
                  <a:t>$r_2=4+8i$</a:t>
                </a:r>
                <a:r>
                  <a:rPr sz="2400" b="0">
                    <a:solidFill>
                      <a:srgbClr val="111827"/>
                    </a:solidFill>
                    <a:latin typeface="Arial"/>
                  </a:rPr>
                  <a:t> is not real. Rejected.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Suppose </a:t>
                </a:r>
                <a:r>
                  <a:rPr lang="en-IN" sz="2400">
                    <a:solidFill>
                      <a:srgbClr val="111827"/>
                    </a:solidFill>
                    <a:latin typeface="Cambria Math" panose="02040503050406030204" pitchFamily="18" charset="0"/>
                  </a:rPr>
                  <a:t>$r_2,r_3$</a:t>
                </a:r>
                <a:r>
                  <a:rPr sz="2400" b="0">
                    <a:solidFill>
                      <a:srgbClr val="111827"/>
                    </a:solidFill>
                    <a:latin typeface="Arial"/>
                  </a:rPr>
                  <a:t> are conjugates: </a:t>
                </a:r>
                <a:r>
                  <a:rPr lang="en-IN" sz="2400">
                    <a:solidFill>
                      <a:srgbClr val="111827"/>
                    </a:solidFill>
                    <a:latin typeface="Cambria Math" panose="02040503050406030204" pitchFamily="18" charset="0"/>
                  </a:rPr>
                  <a:t>$p=2p-4\Rightarrow p=4$</a:t>
                </a:r>
                <a:r>
                  <a:rPr sz="2400" b="0">
                    <a:solidFill>
                      <a:srgbClr val="111827"/>
                    </a:solidFill>
                    <a:latin typeface="Arial"/>
                  </a:rPr>
                  <a:t> and </a:t>
                </a:r>
                <a:r>
                  <a:rPr lang="en-IN" sz="2400">
                    <a:solidFill>
                      <a:srgbClr val="111827"/>
                    </a:solidFill>
                    <a:latin typeface="Cambria Math" panose="02040503050406030204" pitchFamily="18" charset="0"/>
                  </a:rPr>
                  <a:t>$q+9=-2q\Rightarrow q=-3$</a:t>
                </a:r>
                <a:r>
                  <a:rPr sz="2400" b="0">
                    <a:solidFill>
                      <a:srgbClr val="111827"/>
                    </a:solidFill>
                    <a:latin typeface="Arial"/>
                  </a:rPr>
                  <a:t>. Then </a:t>
                </a:r>
                <a:r>
                  <a:rPr lang="en-IN" sz="2400">
                    <a:solidFill>
                      <a:srgbClr val="111827"/>
                    </a:solidFill>
                    <a:latin typeface="Cambria Math" panose="02040503050406030204" pitchFamily="18" charset="0"/>
                  </a:rPr>
                  <a:t>$r_1=4$</a:t>
                </a:r>
                <a:r>
                  <a:rPr sz="2400" b="0">
                    <a:solidFill>
                      <a:srgbClr val="111827"/>
                    </a:solidFill>
                    <a:latin typeface="Arial"/>
                  </a:rPr>
                  <a:t> is real. Accepted.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roots are </a:t>
                </a:r>
                <a:r>
                  <a:rPr lang="en-IN" sz="2400">
                    <a:solidFill>
                      <a:srgbClr val="111827"/>
                    </a:solidFill>
                    <a:latin typeface="Cambria Math" panose="02040503050406030204" pitchFamily="18" charset="0"/>
                  </a:rPr>
                  <a:t>$4,\ 4+6i,\ 4-6i$</a:t>
                </a:r>
                <a:r>
                  <a:rPr sz="2400" b="0">
                    <a:solidFill>
                      <a:srgbClr val="111827"/>
                    </a:solidFill>
                    <a:latin typeface="Arial"/>
                  </a:rPr>
                  <a:t> and </a:t>
                </a:r>
                <a:r>
                  <a:rPr lang="en-IN" sz="2400">
                    <a:solidFill>
                      <a:srgbClr val="111827"/>
                    </a:solidFill>
                    <a:latin typeface="Cambria Math" panose="02040503050406030204" pitchFamily="18" charset="0"/>
                  </a:rPr>
                  <a:t>$P(z)=(z-4)(z^2-8z+52)=z^3-12z^2+84z-208$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134</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134</m:t>
                    </m:r>
                  </m:oMath>
                </a14:m>
                <a:r>
                  <a:rPr sz="2400" b="0">
                    <a:solidFill>
                      <a:srgbClr val="111827"/>
                    </a:solidFill>
                    <a:latin typeface="Arial"/>
                  </a:rPr>
                  <a:t> has unit digit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$a=-12$</a:t>
                </a:r>
                <a:r>
                  <a:rPr sz="2400" b="0">
                    <a:solidFill>
                      <a:srgbClr val="111827"/>
                    </a:solidFill>
                    <a:latin typeface="Arial"/>
                  </a:rPr>
                  <a:t>, </a:t>
                </a:r>
                <a:r>
                  <a:rPr lang="en-IN" sz="2400">
                    <a:solidFill>
                      <a:srgbClr val="111827"/>
                    </a:solidFill>
                    <a:latin typeface="Cambria Math" panose="02040503050406030204" pitchFamily="18" charset="0"/>
                  </a:rPr>
                  <a:t>$b=84$</a:t>
                </a:r>
                <a:r>
                  <a:rPr sz="2400" b="0">
                    <a:solidFill>
                      <a:srgbClr val="111827"/>
                    </a:solidFill>
                    <a:latin typeface="Arial"/>
                  </a:rPr>
                  <a:t>, </a:t>
                </a:r>
                <a:r>
                  <a:rPr lang="en-IN" sz="2400">
                    <a:solidFill>
                      <a:srgbClr val="111827"/>
                    </a:solidFill>
                    <a:latin typeface="Cambria Math" panose="02040503050406030204" pitchFamily="18" charset="0"/>
                  </a:rPr>
                  <a:t>$c=-208$</a:t>
                </a:r>
                <a:r>
                  <a:rPr sz="2400" b="0">
                    <a:solidFill>
                      <a:srgbClr val="111827"/>
                    </a:solidFill>
                    <a:latin typeface="Arial"/>
                  </a:rPr>
                  <a:t>, so </a:t>
                </a:r>
                <a:r>
                  <a:rPr lang="en-IN" sz="2400">
                    <a:solidFill>
                      <a:srgbClr val="111827"/>
                    </a:solidFill>
                    <a:latin typeface="Cambria Math" panose="02040503050406030204" pitchFamily="18" charset="0"/>
                  </a:rPr>
                  <a:t>$a+b+c=-136$</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$a+b+c+k=-136+2=-134$</a:t>
                </a:r>
                <a:r>
                  <a:rPr sz="2400" b="0">
                    <a:solidFill>
                      <a:srgbClr val="111827"/>
                    </a:solidFill>
                    <a:latin typeface="Arial"/>
                  </a:rPr>
                  <a:t>, and </a:t>
                </a:r>
                <a:r>
                  <a:rPr lang="en-IN" sz="2400">
                    <a:solidFill>
                      <a:srgbClr val="111827"/>
                    </a:solidFill>
                    <a:latin typeface="Cambria Math" panose="02040503050406030204" pitchFamily="18" charset="0"/>
                  </a:rPr>
                  <a:t>$|{-134}|=134$</a:t>
                </a:r>
                <a:r>
                  <a:rPr sz="2400" b="0">
                    <a:solidFill>
                      <a:srgbClr val="111827"/>
                    </a:solidFill>
                    <a:latin typeface="Arial"/>
                  </a:rPr>
                  <a:t> has unit digit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4</a:t>
            </a:r>
            <a:endParaRPr sz="2800">
              <a:solidFill>
                <a:srgbClr val="15803D"/>
              </a:solidFill>
            </a:endParaRPr>
          </a:p>
        </p:txBody>
      </p:sp>
    </p:spTree>
  </p:cSld>
  <p:clrMapOvr>
    <a:masterClrMapping/>
  </p:clrMapOvr>
</p:sld>
</file>

<file path=ppt/slides/slide6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sum of the roots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oMath>
                </a14:m>
                <a:r>
                  <a:rPr sz="2400" b="0">
                    <a:solidFill>
                      <a:srgbClr val="78350F"/>
                    </a:solidFill>
                    <a:latin typeface="Arial"/>
                  </a:rPr>
                  <a:t>, which is real, so the imaginary parts must cancel; this fixes </a:t>
                </a:r>
                <a14:m>
                  <m:oMath xmlns:m="http://schemas.openxmlformats.org/officeDocument/2006/math">
                    <m:r>
                      <a:rPr lang="en-IN" sz="2400" i="1">
                        <a:solidFill>
                          <a:srgbClr val="78350F"/>
                        </a:solidFill>
                        <a:latin typeface="Cambria Math" panose="02040503050406030204" pitchFamily="18" charset="0"/>
                      </a:rPr>
                      <m:t>𝑞</m:t>
                    </m:r>
                  </m:oMath>
                </a14:m>
                <a:r>
                  <a:rPr sz="2400" b="0">
                    <a:solidFill>
                      <a:srgbClr val="78350F"/>
                    </a:solidFill>
                    <a:latin typeface="Arial"/>
                  </a:rPr>
                  <a:t> at once.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The sum of the roots is </a:t>
                </a:r>
                <a:r>
                  <a:rPr lang="en-IN" sz="2400">
                    <a:solidFill>
                      <a:srgbClr val="78350F"/>
                    </a:solidFill>
                    <a:latin typeface="Cambria Math" panose="02040503050406030204" pitchFamily="18" charset="0"/>
                  </a:rPr>
                  <a:t>$-a$</a:t>
                </a:r>
                <a:r>
                  <a:rPr sz="2400" b="0">
                    <a:solidFill>
                      <a:srgbClr val="78350F"/>
                    </a:solidFill>
                    <a:latin typeface="Arial"/>
                  </a:rPr>
                  <a:t>, which is real, so the imaginary parts must cancel; this fixes </a:t>
                </a:r>
                <a:r>
                  <a:rPr lang="en-IN" sz="2400">
                    <a:solidFill>
                      <a:srgbClr val="78350F"/>
                    </a:solidFill>
                    <a:latin typeface="Cambria Math" panose="02040503050406030204" pitchFamily="18" charset="0"/>
                  </a:rPr>
                  <a:t>$q$</a:t>
                </a:r>
                <a:r>
                  <a:rPr sz="2400" b="0">
                    <a:solidFill>
                      <a:srgbClr val="78350F"/>
                    </a:solidFill>
                    <a:latin typeface="Arial"/>
                  </a:rPr>
                  <a:t> at once.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𝑞</m:t>
                    </m:r>
                    <m:r>
                      <a:rPr lang="en-IN" sz="2400" i="1">
                        <a:solidFill>
                          <a:srgbClr val="111827"/>
                        </a:solidFill>
                        <a:latin typeface="Cambria Math" panose="02040503050406030204" pitchFamily="18" charset="0"/>
                      </a:rPr>
                      <m:t>𝑖</m:t>
                    </m:r>
                  </m:oMath>
                </a14:m>
                <a:r>
                  <a:rPr sz="2400" b="0">
                    <a:solidFill>
                      <a:srgbClr val="111827"/>
                    </a:solidFill>
                    <a:latin typeface="Arial"/>
                  </a:rPr>
                  <a:t>, sum of roots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(from </a:t>
                </a:r>
                <a14:m>
                  <m:oMath xmlns:m="http://schemas.openxmlformats.org/officeDocument/2006/math">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a:rPr lang="en-IN" sz="2400" i="1">
                        <a:solidFill>
                          <a:srgbClr val="111827"/>
                        </a:solidFill>
                        <a:latin typeface="Cambria Math" panose="02040503050406030204" pitchFamily="18" charset="0"/>
                      </a:rPr>
                      <m:t>𝑖</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𝑤</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whose imaginary part is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of the roots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oMath>
                </a14:m>
                <a:r>
                  <a:rPr sz="2400" b="0">
                    <a:solidFill>
                      <a:srgbClr val="111827"/>
                    </a:solidFill>
                    <a:latin typeface="Arial"/>
                  </a:rPr>
                  <a:t> (real), so </a:t>
                </a:r>
                <a14:m>
                  <m:oMath xmlns:m="http://schemas.openxmlformats.org/officeDocument/2006/math">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𝑞</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the roots are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The only real root is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𝑟</m:t>
                        </m:r>
                      </m:e>
                      <m:sub>
                        <m:r>
                          <a:rPr lang="en-IN" sz="2400" i="1">
                            <a:solidFill>
                              <a:srgbClr val="111827"/>
                            </a:solidFill>
                            <a:latin typeface="Cambria Math" panose="02040503050406030204" pitchFamily="18" charset="0"/>
                          </a:rPr>
                          <m:t>3</m:t>
                        </m:r>
                      </m:sub>
                    </m:sSub>
                  </m:oMath>
                </a14:m>
                <a:r>
                  <a:rPr sz="2400" b="0">
                    <a:solidFill>
                      <a:srgbClr val="111827"/>
                    </a:solidFill>
                    <a:latin typeface="Arial"/>
                  </a:rPr>
                  <a:t> are conjugates: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𝑝</m:t>
                    </m:r>
                  </m:oMath>
                </a14:m>
                <a:r>
                  <a:rPr sz="2400" b="0">
                    <a:solidFill>
                      <a:srgbClr val="111827"/>
                    </a:solidFill>
                    <a:latin typeface="Arial"/>
                  </a:rPr>
                  <a:t>, giving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With </a:t>
                </a:r>
                <a:r>
                  <a:rPr lang="en-IN" sz="2400">
                    <a:solidFill>
                      <a:srgbClr val="111827"/>
                    </a:solidFill>
                    <a:latin typeface="Cambria Math" panose="02040503050406030204" pitchFamily="18" charset="0"/>
                  </a:rPr>
                  <a:t>$w=p+qi$</a:t>
                </a:r>
                <a:r>
                  <a:rPr sz="2400" b="0">
                    <a:solidFill>
                      <a:srgbClr val="111827"/>
                    </a:solidFill>
                    <a:latin typeface="Arial"/>
                  </a:rPr>
                  <a:t>, sum of roots </a:t>
                </a:r>
                <a:r>
                  <a:rPr lang="en-IN" sz="2400">
                    <a:solidFill>
                      <a:srgbClr val="111827"/>
                    </a:solidFill>
                    <a:latin typeface="Cambria Math" panose="02040503050406030204" pitchFamily="18" charset="0"/>
                  </a:rPr>
                  <a:t>$=3w+12i-4$</a:t>
                </a:r>
                <a:r>
                  <a:rPr sz="2400" b="0">
                    <a:solidFill>
                      <a:srgbClr val="111827"/>
                    </a:solidFill>
                    <a:latin typeface="Arial"/>
                  </a:rPr>
                  <a:t> (from </a:t>
                </a:r>
                <a:r>
                  <a:rPr lang="en-IN" sz="2400">
                    <a:solidFill>
                      <a:srgbClr val="111827"/>
                    </a:solidFill>
                    <a:latin typeface="Cambria Math" panose="02040503050406030204" pitchFamily="18" charset="0"/>
                  </a:rPr>
                  <a:t>$w+3i+w+9i+2w-4$</a:t>
                </a:r>
                <a:r>
                  <a:rPr sz="2400" b="0">
                    <a:solidFill>
                      <a:srgbClr val="111827"/>
                    </a:solidFill>
                    <a:latin typeface="Arial"/>
                  </a:rPr>
                  <a:t>), whose imaginary part is </a:t>
                </a:r>
                <a:r>
                  <a:rPr lang="en-IN" sz="2400">
                    <a:solidFill>
                      <a:srgbClr val="111827"/>
                    </a:solidFill>
                    <a:latin typeface="Cambria Math" panose="02040503050406030204" pitchFamily="18" charset="0"/>
                  </a:rPr>
                  <a:t>$4q+12$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of the roots is </a:t>
                </a:r>
                <a:r>
                  <a:rPr lang="en-IN" sz="2400">
                    <a:solidFill>
                      <a:srgbClr val="111827"/>
                    </a:solidFill>
                    <a:latin typeface="Cambria Math" panose="02040503050406030204" pitchFamily="18" charset="0"/>
                  </a:rPr>
                  <a:t>$-a$</a:t>
                </a:r>
                <a:r>
                  <a:rPr sz="2400" b="0">
                    <a:solidFill>
                      <a:srgbClr val="111827"/>
                    </a:solidFill>
                    <a:latin typeface="Arial"/>
                  </a:rPr>
                  <a:t> (real), so </a:t>
                </a:r>
                <a:r>
                  <a:rPr lang="en-IN" sz="2400">
                    <a:solidFill>
                      <a:srgbClr val="111827"/>
                    </a:solidFill>
                    <a:latin typeface="Cambria Math" panose="02040503050406030204" pitchFamily="18" charset="0"/>
                  </a:rPr>
                  <a:t>$4q+12=0$</a:t>
                </a:r>
                <a:r>
                  <a:rPr sz="2400" b="0">
                    <a:solidFill>
                      <a:srgbClr val="111827"/>
                    </a:solidFill>
                    <a:latin typeface="Arial"/>
                  </a:rPr>
                  <a:t>, i.e. </a:t>
                </a:r>
                <a:r>
                  <a:rPr lang="en-IN" sz="2400">
                    <a:solidFill>
                      <a:srgbClr val="111827"/>
                    </a:solidFill>
                    <a:latin typeface="Cambria Math" panose="02040503050406030204" pitchFamily="18" charset="0"/>
                  </a:rPr>
                  <a:t>$q=-3$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the roots are </a:t>
                </a:r>
                <a:r>
                  <a:rPr lang="en-IN" sz="2400">
                    <a:solidFill>
                      <a:srgbClr val="111827"/>
                    </a:solidFill>
                    <a:latin typeface="Cambria Math" panose="02040503050406030204" pitchFamily="18" charset="0"/>
                  </a:rPr>
                  <a:t>$r_1=p$</a:t>
                </a:r>
                <a:r>
                  <a:rPr sz="2400" b="0">
                    <a:solidFill>
                      <a:srgbClr val="111827"/>
                    </a:solidFill>
                    <a:latin typeface="Arial"/>
                  </a:rPr>
                  <a:t>, </a:t>
                </a:r>
                <a:r>
                  <a:rPr lang="en-IN" sz="2400">
                    <a:solidFill>
                      <a:srgbClr val="111827"/>
                    </a:solidFill>
                    <a:latin typeface="Cambria Math" panose="02040503050406030204" pitchFamily="18" charset="0"/>
                  </a:rPr>
                  <a:t>$r_2=p+6i$</a:t>
                </a:r>
                <a:r>
                  <a:rPr sz="2400" b="0">
                    <a:solidFill>
                      <a:srgbClr val="111827"/>
                    </a:solidFill>
                    <a:latin typeface="Arial"/>
                  </a:rPr>
                  <a:t>, </a:t>
                </a:r>
                <a:r>
                  <a:rPr lang="en-IN" sz="2400">
                    <a:solidFill>
                      <a:srgbClr val="111827"/>
                    </a:solidFill>
                    <a:latin typeface="Cambria Math" panose="02040503050406030204" pitchFamily="18" charset="0"/>
                  </a:rPr>
                  <a:t>$r_3=(2p-4)-6i$</a:t>
                </a:r>
                <a:r>
                  <a:rPr sz="2400" b="0">
                    <a:solidFill>
                      <a:srgbClr val="111827"/>
                    </a:solidFill>
                    <a:latin typeface="Arial"/>
                  </a:rPr>
                  <a:t>. The only real root is </a:t>
                </a:r>
                <a:r>
                  <a:rPr lang="en-IN" sz="2400">
                    <a:solidFill>
                      <a:srgbClr val="111827"/>
                    </a:solidFill>
                    <a:latin typeface="Cambria Math" panose="02040503050406030204" pitchFamily="18" charset="0"/>
                  </a:rPr>
                  <a:t>$r_1$</a:t>
                </a:r>
                <a:r>
                  <a:rPr sz="2400" b="0">
                    <a:solidFill>
                      <a:srgbClr val="111827"/>
                    </a:solidFill>
                    <a:latin typeface="Arial"/>
                  </a:rPr>
                  <a:t>, so </a:t>
                </a:r>
                <a:r>
                  <a:rPr lang="en-IN" sz="2400">
                    <a:solidFill>
                      <a:srgbClr val="111827"/>
                    </a:solidFill>
                    <a:latin typeface="Cambria Math" panose="02040503050406030204" pitchFamily="18" charset="0"/>
                  </a:rPr>
                  <a:t>$r_2,r_3$</a:t>
                </a:r>
                <a:r>
                  <a:rPr sz="2400" b="0">
                    <a:solidFill>
                      <a:srgbClr val="111827"/>
                    </a:solidFill>
                    <a:latin typeface="Arial"/>
                  </a:rPr>
                  <a:t> are conjugates: </a:t>
                </a:r>
                <a:r>
                  <a:rPr lang="en-IN" sz="2400">
                    <a:solidFill>
                      <a:srgbClr val="111827"/>
                    </a:solidFill>
                    <a:latin typeface="Cambria Math" panose="02040503050406030204" pitchFamily="18" charset="0"/>
                  </a:rPr>
                  <a:t>$2p-4=p$</a:t>
                </a:r>
                <a:r>
                  <a:rPr sz="2400" b="0">
                    <a:solidFill>
                      <a:srgbClr val="111827"/>
                    </a:solidFill>
                    <a:latin typeface="Arial"/>
                  </a:rPr>
                  <a:t>, giving </a:t>
                </a:r>
                <a:r>
                  <a:rPr lang="en-IN" sz="2400">
                    <a:solidFill>
                      <a:srgbClr val="111827"/>
                    </a:solidFill>
                    <a:latin typeface="Cambria Math" panose="02040503050406030204" pitchFamily="18" charset="0"/>
                  </a:rPr>
                  <a:t>$p=4$</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Roots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a:rPr lang="en-IN" sz="2400" i="1">
                        <a:solidFill>
                          <a:srgbClr val="111827"/>
                        </a:solidFill>
                        <a:latin typeface="Cambria Math" panose="02040503050406030204" pitchFamily="18" charset="0"/>
                      </a:rPr>
                      <m:t>𝑖</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134</m:t>
                    </m:r>
                  </m:oMath>
                </a14:m>
                <a:r>
                  <a:rPr sz="2400" b="0">
                    <a:solidFill>
                      <a:srgbClr val="111827"/>
                    </a:solidFill>
                    <a:latin typeface="Arial"/>
                  </a:rPr>
                  <a:t>, unit digit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Roots </a:t>
                </a:r>
                <a:r>
                  <a:rPr lang="en-IN" sz="2400">
                    <a:solidFill>
                      <a:srgbClr val="111827"/>
                    </a:solidFill>
                    <a:latin typeface="Cambria Math" panose="02040503050406030204" pitchFamily="18" charset="0"/>
                  </a:rPr>
                  <a:t>$4,\ 4\pm6i$</a:t>
                </a:r>
                <a:r>
                  <a:rPr sz="2400" b="0">
                    <a:solidFill>
                      <a:srgbClr val="111827"/>
                    </a:solidFill>
                    <a:latin typeface="Arial"/>
                  </a:rPr>
                  <a:t>: </a:t>
                </a:r>
                <a:r>
                  <a:rPr lang="en-IN" sz="2400">
                    <a:solidFill>
                      <a:srgbClr val="111827"/>
                    </a:solidFill>
                    <a:latin typeface="Cambria Math" panose="02040503050406030204" pitchFamily="18" charset="0"/>
                  </a:rPr>
                  <a:t>$a=-12$</a:t>
                </a:r>
                <a:r>
                  <a:rPr sz="2400" b="0">
                    <a:solidFill>
                      <a:srgbClr val="111827"/>
                    </a:solidFill>
                    <a:latin typeface="Arial"/>
                  </a:rPr>
                  <a:t>, </a:t>
                </a:r>
                <a:r>
                  <a:rPr lang="en-IN" sz="2400">
                    <a:solidFill>
                      <a:srgbClr val="111827"/>
                    </a:solidFill>
                    <a:latin typeface="Cambria Math" panose="02040503050406030204" pitchFamily="18" charset="0"/>
                  </a:rPr>
                  <a:t>$b=4\cdot8+52=84$</a:t>
                </a:r>
                <a:r>
                  <a:rPr sz="2400" b="0">
                    <a:solidFill>
                      <a:srgbClr val="111827"/>
                    </a:solidFill>
                    <a:latin typeface="Arial"/>
                  </a:rPr>
                  <a:t>, </a:t>
                </a:r>
                <a:r>
                  <a:rPr lang="en-IN" sz="2400">
                    <a:solidFill>
                      <a:srgbClr val="111827"/>
                    </a:solidFill>
                    <a:latin typeface="Cambria Math" panose="02040503050406030204" pitchFamily="18" charset="0"/>
                  </a:rPr>
                  <a:t>$c=-4\cdot52=-208$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$|a+b+c+k|=|-136+2|=134$</a:t>
                </a:r>
                <a:r>
                  <a:rPr sz="2400" b="0">
                    <a:solidFill>
                      <a:srgbClr val="111827"/>
                    </a:solidFill>
                    <a:latin typeface="Arial"/>
                  </a:rPr>
                  <a:t>, unit digit </a:t>
                </a:r>
                <a:r>
                  <a:rPr lang="en-IN" sz="2400">
                    <a:solidFill>
                      <a:srgbClr val="111827"/>
                    </a:solidFill>
                    <a:latin typeface="Cambria Math" panose="02040503050406030204" pitchFamily="18" charset="0"/>
                  </a:rPr>
                  <a:t>$4$</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4</a:t>
            </a:r>
            <a:endParaRPr sz="2800">
              <a:solidFill>
                <a:srgbClr val="15803D"/>
              </a:solidFill>
            </a:endParaRPr>
          </a:p>
        </p:txBody>
      </p:sp>
    </p:spTree>
  </p:cSld>
  <p:clrMapOvr>
    <a:masterClrMapping/>
  </p:clrMapOvr>
</p:sld>
</file>

<file path=ppt/slides/slide6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104</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polynomial with real coefficients, the imaginary parts of the roots sum to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(sum of roots is real).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 whose area under it up to </a:t>
                </a:r>
                <a14:m>
                  <m:oMath xmlns:m="http://schemas.openxmlformats.org/officeDocument/2006/math">
                    <m:r>
                      <a:rPr lang="en-IN" sz="2400" i="1">
                        <a:solidFill>
                          <a:srgbClr val="111827"/>
                        </a:solidFill>
                        <a:latin typeface="Cambria Math" panose="02040503050406030204" pitchFamily="18" charset="0"/>
                      </a:rPr>
                      <m:t>𝑥</m:t>
                    </m:r>
                  </m:oMath>
                </a14:m>
                <a:r>
                  <a:rPr sz="2400" b="0">
                    <a:solidFill>
                      <a:srgbClr val="111827"/>
                    </a:solidFill>
                    <a:latin typeface="Arial"/>
                  </a:rPr>
                  <a:t> equals its arc length satisfies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𝑦</m:t>
                            </m:r>
                          </m:e>
                          <m:sup>
                            <m:r>
                              <m:rPr>
                                <m:sty m:val="p"/>
                              </m:rPr>
                              <a:rPr lang="en-IN" sz="2400">
                                <a:solidFill>
                                  <a:srgbClr val="111827"/>
                                </a:solidFill>
                                <a:latin typeface="Cambria Math" panose="02040503050406030204" pitchFamily="18" charset="0"/>
                              </a:rPr>
                              <m:t>′</m:t>
                            </m:r>
                          </m:sup>
                        </m:sSup>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e>
                    </m:rad>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cosh</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this is </a:t>
                </a:r>
                <a14:m>
                  <m:oMath xmlns:m="http://schemas.openxmlformats.org/officeDocument/2006/math">
                    <m:r>
                      <a:rPr lang="en-IN" sz="2400" i="1">
                        <a:solidFill>
                          <a:srgbClr val="111827"/>
                        </a:solidFill>
                        <a:latin typeface="Cambria Math" panose="02040503050406030204" pitchFamily="18" charset="0"/>
                      </a:rPr>
                      <m:t>𝑦</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cosh</m:t>
                    </m:r>
                    <m:r>
                      <a:rPr lang="en-IN" sz="2400" i="1">
                        <a:solidFill>
                          <a:srgbClr val="111827"/>
                        </a:solidFill>
                        <a:latin typeface="Cambria Math" panose="02040503050406030204" pitchFamily="18" charset="0"/>
                      </a:rPr>
                      <m:t>𝑥</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oMath>
                </a14:m>
                <a:r>
                  <a:rPr sz="2400" b="0">
                    <a:solidFill>
                      <a:srgbClr val="111827"/>
                    </a:solidFill>
                    <a:latin typeface="Arial"/>
                  </a:rPr>
                  <a:t> for a monic cubic, so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135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a polynomial with real coefficients, the imaginary parts of the roots sum to </a:t>
                </a:r>
                <a:r>
                  <a:rPr lang="en-IN" sz="2400">
                    <a:solidFill>
                      <a:srgbClr val="111827"/>
                    </a:solidFill>
                    <a:latin typeface="Cambria Math" panose="02040503050406030204" pitchFamily="18" charset="0"/>
                  </a:rPr>
                  <a:t>$0$</a:t>
                </a:r>
                <a:r>
                  <a:rPr sz="2400" b="0">
                    <a:solidFill>
                      <a:srgbClr val="111827"/>
                    </a:solidFill>
                    <a:latin typeface="Arial"/>
                  </a:rPr>
                  <a:t> (sum of roots is real).</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curve whose area under it up to </a:t>
                </a:r>
                <a:r>
                  <a:rPr lang="en-IN" sz="2400">
                    <a:solidFill>
                      <a:srgbClr val="111827"/>
                    </a:solidFill>
                    <a:latin typeface="Cambria Math" panose="02040503050406030204" pitchFamily="18" charset="0"/>
                  </a:rPr>
                  <a:t>$x$</a:t>
                </a:r>
                <a:r>
                  <a:rPr sz="2400" b="0">
                    <a:solidFill>
                      <a:srgbClr val="111827"/>
                    </a:solidFill>
                    <a:latin typeface="Arial"/>
                  </a:rPr>
                  <a:t> equals its arc length satisfies </a:t>
                </a:r>
                <a:r>
                  <a:rPr lang="en-IN" sz="2400">
                    <a:solidFill>
                      <a:srgbClr val="111827"/>
                    </a:solidFill>
                    <a:latin typeface="Cambria Math" panose="02040503050406030204" pitchFamily="18" charset="0"/>
                  </a:rPr>
                  <a:t>$y=\sqrt{1+y'^2}$</a:t>
                </a:r>
                <a:r>
                  <a:rPr sz="2400" b="0">
                    <a:solidFill>
                      <a:srgbClr val="111827"/>
                    </a:solidFill>
                    <a:latin typeface="Arial"/>
                  </a:rPr>
                  <a:t>, i.e. </a:t>
                </a:r>
                <a:r>
                  <a:rPr lang="en-IN" sz="2400">
                    <a:solidFill>
                      <a:srgbClr val="111827"/>
                    </a:solidFill>
                    <a:latin typeface="Cambria Math" panose="02040503050406030204" pitchFamily="18" charset="0"/>
                  </a:rPr>
                  <a:t>$y=\cosh(x+c)$</a:t>
                </a:r>
                <a:r>
                  <a:rPr sz="2400" b="0">
                    <a:solidFill>
                      <a:srgbClr val="111827"/>
                    </a:solidFill>
                    <a:latin typeface="Arial"/>
                  </a:rPr>
                  <a:t>; with </a:t>
                </a:r>
                <a:r>
                  <a:rPr lang="en-IN" sz="2400">
                    <a:solidFill>
                      <a:srgbClr val="111827"/>
                    </a:solidFill>
                    <a:latin typeface="Cambria Math" panose="02040503050406030204" pitchFamily="18" charset="0"/>
                  </a:rPr>
                  <a:t>$y(0)=1$</a:t>
                </a:r>
                <a:r>
                  <a:rPr sz="2400" b="0">
                    <a:solidFill>
                      <a:srgbClr val="111827"/>
                    </a:solidFill>
                    <a:latin typeface="Arial"/>
                  </a:rPr>
                  <a:t> this is </a:t>
                </a:r>
                <a:r>
                  <a:rPr lang="en-IN" sz="2400">
                    <a:solidFill>
                      <a:srgbClr val="111827"/>
                    </a:solidFill>
                    <a:latin typeface="Cambria Math" panose="02040503050406030204" pitchFamily="18" charset="0"/>
                  </a:rPr>
                  <a:t>$y=\cosh x$</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$P(1)=1+a+b+c$</a:t>
                </a:r>
                <a:r>
                  <a:rPr sz="2400" b="0">
                    <a:solidFill>
                      <a:srgbClr val="111827"/>
                    </a:solidFill>
                    <a:latin typeface="Arial"/>
                  </a:rPr>
                  <a:t> for a monic cubic, so </a:t>
                </a:r>
                <a:r>
                  <a:rPr lang="en-IN" sz="2400">
                    <a:solidFill>
                      <a:srgbClr val="111827"/>
                    </a:solidFill>
                    <a:latin typeface="Cambria Math" panose="02040503050406030204" pitchFamily="18" charset="0"/>
                  </a:rPr>
                  <a:t>$a+b+c=P(1)-1$</a:t>
                </a:r>
                <a:r>
                  <a:rPr sz="2400" b="0">
                    <a:solidFill>
                      <a:srgbClr val="111827"/>
                    </a:solidFill>
                    <a:latin typeface="Arial"/>
                  </a:rPr>
                  <a:t>: here </a:t>
                </a:r>
                <a:r>
                  <a:rPr lang="en-IN" sz="2400">
                    <a:solidFill>
                      <a:srgbClr val="111827"/>
                    </a:solidFill>
                    <a:latin typeface="Cambria Math" panose="02040503050406030204" pitchFamily="18" charset="0"/>
                  </a:rPr>
                  <a:t>$P(1)=(1-4)(1-8+52)=-135$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11</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Numerical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Q105</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4 marks each</a:t>
            </a:r>
            <a:endParaRPr sz="2800">
              <a:solidFill>
                <a:srgbClr val="FFFFFF"/>
              </a:solidFill>
            </a:endParaRPr>
          </a:p>
        </p:txBody>
      </p:sp>
    </p:spTree>
  </p:cSld>
  <p:clrMapOvr>
    <a:masterClrMapping/>
  </p:clrMapOvr>
</p:sld>
</file>

<file path=ppt/slides/slide6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sum of all the odd divisors of </a:t>
                </a: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which are of the form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and which are of the form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then the remainder obtained on dividing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by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oMath>
                </a14:m>
                <a:r>
                  <a:rPr sz="2400" b="0">
                    <a:solidFill>
                      <a:srgbClr val="111827"/>
                    </a:solidFill>
                    <a:latin typeface="Arial"/>
                  </a:rPr>
                  <a:t> is ______.</a:t>
                </a:r>
                <a:endParaRPr sz="2400">
                  <a:solidFill>
                    <a:srgbClr val="111827"/>
                  </a:solidFill>
                </a:endParaRPr>
              </a:p>
            </p:txBody>
          </p:sp>
        </mc:Choice>
        <mc:Fallback>
          <p:sp>
            <p:nvSpPr>
              <p:cNvPr id="4" name="Rounded Rectangle 3"/>
              <p:cNvSpPr/>
              <p:nvPr/>
            </p:nvSpPr>
            <p:spPr>
              <a:xfrm>
                <a:off x="731520" y="1280160"/>
                <a:ext cx="10725912" cy="17373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500"/>
                  </a:spcAft>
                  <a:defRPr sz="2400">
                    <a:solidFill>
                      <a:srgbClr val="111827"/>
                    </a:solidFill>
                  </a:defRPr>
                </a:pPr>
                <a:r>
                  <a:rPr sz="2400" b="0">
                    <a:solidFill>
                      <a:srgbClr val="111827"/>
                    </a:solidFill>
                    <a:latin typeface="Arial"/>
                  </a:rPr>
                  <a:t>If the sum of all the odd divisors of </a:t>
                </a:r>
                <a:r>
                  <a:rPr lang="en-IN" sz="2400">
                    <a:solidFill>
                      <a:srgbClr val="111827"/>
                    </a:solidFill>
                    <a:latin typeface="Cambria Math" panose="02040503050406030204" pitchFamily="18" charset="0"/>
                  </a:rPr>
                  <a:t>$10!$</a:t>
                </a:r>
                <a:r>
                  <a:rPr sz="2400" b="0">
                    <a:solidFill>
                      <a:srgbClr val="111827"/>
                    </a:solidFill>
                    <a:latin typeface="Arial"/>
                  </a:rPr>
                  <a:t> which are of the form </a:t>
                </a:r>
                <a:r>
                  <a:rPr lang="en-IN" sz="2400">
                    <a:solidFill>
                      <a:srgbClr val="111827"/>
                    </a:solidFill>
                    <a:latin typeface="Cambria Math" panose="02040503050406030204" pitchFamily="18" charset="0"/>
                  </a:rPr>
                  <a:t>$3n+1$</a:t>
                </a:r>
                <a:r>
                  <a:rPr sz="2400" b="0">
                    <a:solidFill>
                      <a:srgbClr val="111827"/>
                    </a:solidFill>
                    <a:latin typeface="Arial"/>
                  </a:rPr>
                  <a:t> is </a:t>
                </a:r>
                <a:r>
                  <a:rPr lang="en-IN" sz="2400">
                    <a:solidFill>
                      <a:srgbClr val="111827"/>
                    </a:solidFill>
                    <a:latin typeface="Cambria Math" panose="02040503050406030204" pitchFamily="18" charset="0"/>
                  </a:rPr>
                  <a:t>$S_1$</a:t>
                </a:r>
                <a:r>
                  <a:rPr sz="2400" b="0">
                    <a:solidFill>
                      <a:srgbClr val="111827"/>
                    </a:solidFill>
                    <a:latin typeface="Arial"/>
                  </a:rPr>
                  <a:t>, and which are of the form </a:t>
                </a:r>
                <a:r>
                  <a:rPr lang="en-IN" sz="2400">
                    <a:solidFill>
                      <a:srgbClr val="111827"/>
                    </a:solidFill>
                    <a:latin typeface="Cambria Math" panose="02040503050406030204" pitchFamily="18" charset="0"/>
                  </a:rPr>
                  <a:t>$3n-1$</a:t>
                </a:r>
                <a:r>
                  <a:rPr sz="2400" b="0">
                    <a:solidFill>
                      <a:srgbClr val="111827"/>
                    </a:solidFill>
                    <a:latin typeface="Arial"/>
                  </a:rPr>
                  <a:t> is </a:t>
                </a:r>
                <a:r>
                  <a:rPr lang="en-IN" sz="2400">
                    <a:solidFill>
                      <a:srgbClr val="111827"/>
                    </a:solidFill>
                    <a:latin typeface="Cambria Math" panose="02040503050406030204" pitchFamily="18" charset="0"/>
                  </a:rPr>
                  <a:t>$S_2$</a:t>
                </a:r>
                <a:r>
                  <a:rPr sz="2400" b="0">
                    <a:solidFill>
                      <a:srgbClr val="111827"/>
                    </a:solidFill>
                    <a:latin typeface="Arial"/>
                  </a:rPr>
                  <a:t>, then the remainder obtained on dividing </a:t>
                </a:r>
                <a:r>
                  <a:rPr lang="en-IN" sz="2400">
                    <a:solidFill>
                      <a:srgbClr val="111827"/>
                    </a:solidFill>
                    <a:latin typeface="Cambria Math" panose="02040503050406030204" pitchFamily="18" charset="0"/>
                  </a:rPr>
                  <a:t>$S_1$</a:t>
                </a:r>
                <a:r>
                  <a:rPr sz="2400" b="0">
                    <a:solidFill>
                      <a:srgbClr val="111827"/>
                    </a:solidFill>
                    <a:latin typeface="Arial"/>
                  </a:rPr>
                  <a:t> by </a:t>
                </a:r>
                <a:r>
                  <a:rPr lang="en-IN" sz="2400">
                    <a:solidFill>
                      <a:srgbClr val="111827"/>
                    </a:solidFill>
                    <a:latin typeface="Cambria Math" panose="02040503050406030204" pitchFamily="18" charset="0"/>
                  </a:rPr>
                  <a:t>$S_2$</a:t>
                </a:r>
                <a:r>
                  <a:rPr sz="2400" b="0">
                    <a:solidFill>
                      <a:srgbClr val="111827"/>
                    </a:solidFill>
                    <a:latin typeface="Arial"/>
                  </a:rPr>
                  <a:t> is ______.</a:t>
                </a:r>
                <a:endParaRPr sz="2400">
                  <a:solidFill>
                    <a:srgbClr val="111827"/>
                  </a:solidFill>
                </a:endParaRPr>
              </a:p>
            </p:txBody>
          </p:sp>
        </mc:Fallback>
      </mc:AlternateContent>
      <p:sp>
        <p:nvSpPr>
          <p:cNvPr id="5" name="Rectangle 4"/>
          <p:cNvSpPr/>
          <p:nvPr/>
        </p:nvSpPr>
        <p:spPr>
          <a:xfrm>
            <a:off x="731520" y="3246120"/>
            <a:ext cx="10725912" cy="160324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Numerical Type (4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Divisors of a number and their sums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3(Average JEE Advanced Level)</a:t>
            </a:r>
            <a:endParaRPr sz="2400">
              <a:solidFill>
                <a:srgbClr val="111827"/>
              </a:solidFill>
            </a:endParaRPr>
          </a:p>
        </p:txBody>
      </p:sp>
    </p:spTree>
  </p:cSld>
  <p:clrMapOvr>
    <a:masterClrMapping/>
  </p:clrMapOvr>
</p:sld>
</file>

<file path=ppt/slides/slide6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divisor divisible by 3 is neither </a:t>
                </a:r>
                <a14:m>
                  <m:oMath xmlns:m="http://schemas.openxmlformats.org/officeDocument/2006/math">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nor </a:t>
                </a:r>
                <a14:m>
                  <m:oMath xmlns:m="http://schemas.openxmlformats.org/officeDocument/2006/math">
                    <m:r>
                      <a:rPr lang="en-IN" sz="2400" i="1">
                        <a:solidFill>
                          <a:srgbClr val="78350F"/>
                        </a:solidFill>
                        <a:latin typeface="Cambria Math" panose="02040503050406030204" pitchFamily="18" charset="0"/>
                      </a:rPr>
                      <m:t>3</m:t>
                    </m:r>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oMath>
                </a14:m>
                <a:r>
                  <a:rPr sz="2400" b="0">
                    <a:solidFill>
                      <a:srgbClr val="78350F"/>
                    </a:solidFill>
                    <a:latin typeface="Arial"/>
                  </a:rPr>
                  <a:t>, so only </a:t>
                </a:r>
                <a14:m>
                  <m:oMath xmlns:m="http://schemas.openxmlformats.org/officeDocument/2006/math">
                    <m:sSup>
                      <m:e>
                        <m:r>
                          <a:rPr lang="en-IN" sz="2400" i="1">
                            <a:solidFill>
                              <a:srgbClr val="78350F"/>
                            </a:solidFill>
                            <a:latin typeface="Cambria Math" panose="02040503050406030204" pitchFamily="18" charset="0"/>
                          </a:rPr>
                          <m:t>5</m:t>
                        </m:r>
                      </m:e>
                      <m:sup>
                        <m:r>
                          <a:rPr lang="en-IN" sz="2400" i="1">
                            <a:solidFill>
                              <a:srgbClr val="78350F"/>
                            </a:solidFill>
                            <a:latin typeface="Cambria Math" panose="02040503050406030204" pitchFamily="18" charset="0"/>
                          </a:rPr>
                          <m:t>𝑏</m:t>
                        </m:r>
                      </m:sup>
                    </m:sSup>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𝑐</m:t>
                        </m:r>
                      </m:sup>
                    </m:sSup>
                  </m:oMath>
                </a14:m>
                <a:r>
                  <a:rPr sz="2400" b="0">
                    <a:solidFill>
                      <a:srgbClr val="78350F"/>
                    </a:solidFill>
                    <a:latin typeface="Arial"/>
                  </a:rPr>
                  <a:t> matter, and </a:t>
                </a:r>
                <a14:m>
                  <m:oMath xmlns:m="http://schemas.openxmlformats.org/officeDocument/2006/math">
                    <m:r>
                      <a:rPr lang="en-IN" sz="2400" i="1">
                        <a:solidFill>
                          <a:srgbClr val="78350F"/>
                        </a:solidFill>
                        <a:latin typeface="Cambria Math" panose="02040503050406030204" pitchFamily="18" charset="0"/>
                      </a:rPr>
                      <m:t>5</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7</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mod</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4" name="Rounded Rectangle 3"/>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A divisor divisible by 3 is neither </a:t>
                </a:r>
                <a:r>
                  <a:rPr lang="en-IN" sz="2400">
                    <a:solidFill>
                      <a:srgbClr val="78350F"/>
                    </a:solidFill>
                    <a:latin typeface="Cambria Math" panose="02040503050406030204" pitchFamily="18" charset="0"/>
                  </a:rPr>
                  <a:t>$3n+1$</a:t>
                </a:r>
                <a:r>
                  <a:rPr sz="2400" b="0">
                    <a:solidFill>
                      <a:srgbClr val="78350F"/>
                    </a:solidFill>
                    <a:latin typeface="Arial"/>
                  </a:rPr>
                  <a:t> nor </a:t>
                </a:r>
                <a:r>
                  <a:rPr lang="en-IN" sz="2400">
                    <a:solidFill>
                      <a:srgbClr val="78350F"/>
                    </a:solidFill>
                    <a:latin typeface="Cambria Math" panose="02040503050406030204" pitchFamily="18" charset="0"/>
                  </a:rPr>
                  <a:t>$3n-1$</a:t>
                </a:r>
                <a:r>
                  <a:rPr sz="2400" b="0">
                    <a:solidFill>
                      <a:srgbClr val="78350F"/>
                    </a:solidFill>
                    <a:latin typeface="Arial"/>
                  </a:rPr>
                  <a:t>, so only </a:t>
                </a:r>
                <a:r>
                  <a:rPr lang="en-IN" sz="2400">
                    <a:solidFill>
                      <a:srgbClr val="78350F"/>
                    </a:solidFill>
                    <a:latin typeface="Cambria Math" panose="02040503050406030204" pitchFamily="18" charset="0"/>
                  </a:rPr>
                  <a:t>$5^b7^c$</a:t>
                </a:r>
                <a:r>
                  <a:rPr sz="2400" b="0">
                    <a:solidFill>
                      <a:srgbClr val="78350F"/>
                    </a:solidFill>
                    <a:latin typeface="Arial"/>
                  </a:rPr>
                  <a:t> matter, and </a:t>
                </a:r>
                <a:r>
                  <a:rPr lang="en-IN" sz="2400">
                    <a:solidFill>
                      <a:srgbClr val="78350F"/>
                    </a:solidFill>
                    <a:latin typeface="Cambria Math" panose="02040503050406030204" pitchFamily="18" charset="0"/>
                  </a:rPr>
                  <a:t>$5\equiv-1,\ 7\equiv1\pmod 3$</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8</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so the odd divisors are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𝑎</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𝑐</m:t>
                        </m:r>
                      </m:sup>
                    </m:sSup>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divisor is a multiple of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so it is neither of the form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nor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Hence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Modulo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𝑏</m:t>
                        </m:r>
                      </m:sup>
                    </m:sSup>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Form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even,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divisors are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175</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$10!=2^8\cdot3^4\cdot5^2\cdot7$</a:t>
                </a:r>
                <a:r>
                  <a:rPr sz="2400" b="0">
                    <a:solidFill>
                      <a:srgbClr val="111827"/>
                    </a:solidFill>
                    <a:latin typeface="Arial"/>
                  </a:rPr>
                  <a:t>, so the odd divisors are </a:t>
                </a:r>
                <a:r>
                  <a:rPr lang="en-IN" sz="2400">
                    <a:solidFill>
                      <a:srgbClr val="111827"/>
                    </a:solidFill>
                    <a:latin typeface="Cambria Math" panose="02040503050406030204" pitchFamily="18" charset="0"/>
                  </a:rPr>
                  <a:t>$3^a5^b7^c$</a:t>
                </a:r>
                <a:r>
                  <a:rPr sz="2400" b="0">
                    <a:solidFill>
                      <a:srgbClr val="111827"/>
                    </a:solidFill>
                    <a:latin typeface="Arial"/>
                  </a:rPr>
                  <a:t> with </a:t>
                </a:r>
                <a:r>
                  <a:rPr lang="en-IN" sz="2400">
                    <a:solidFill>
                      <a:srgbClr val="111827"/>
                    </a:solidFill>
                    <a:latin typeface="Cambria Math" panose="02040503050406030204" pitchFamily="18" charset="0"/>
                  </a:rPr>
                  <a:t>$0\le a\le4$</a:t>
                </a:r>
                <a:r>
                  <a:rPr sz="2400" b="0">
                    <a:solidFill>
                      <a:srgbClr val="111827"/>
                    </a:solidFill>
                    <a:latin typeface="Arial"/>
                  </a:rPr>
                  <a:t>, </a:t>
                </a:r>
                <a:r>
                  <a:rPr lang="en-IN" sz="2400">
                    <a:solidFill>
                      <a:srgbClr val="111827"/>
                    </a:solidFill>
                    <a:latin typeface="Cambria Math" panose="02040503050406030204" pitchFamily="18" charset="0"/>
                  </a:rPr>
                  <a:t>$0\le b\le2$</a:t>
                </a:r>
                <a:r>
                  <a:rPr sz="2400" b="0">
                    <a:solidFill>
                      <a:srgbClr val="111827"/>
                    </a:solidFill>
                    <a:latin typeface="Arial"/>
                  </a:rPr>
                  <a:t>, </a:t>
                </a:r>
                <a:r>
                  <a:rPr lang="en-IN" sz="2400">
                    <a:solidFill>
                      <a:srgbClr val="111827"/>
                    </a:solidFill>
                    <a:latin typeface="Cambria Math" panose="02040503050406030204" pitchFamily="18" charset="0"/>
                  </a:rPr>
                  <a:t>$0\le c\le1$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$a\ge1$</a:t>
                </a:r>
                <a:r>
                  <a:rPr sz="2400" b="0">
                    <a:solidFill>
                      <a:srgbClr val="111827"/>
                    </a:solidFill>
                    <a:latin typeface="Arial"/>
                  </a:rPr>
                  <a:t> the divisor is a multiple of </a:t>
                </a:r>
                <a:r>
                  <a:rPr lang="en-IN" sz="2400">
                    <a:solidFill>
                      <a:srgbClr val="111827"/>
                    </a:solidFill>
                    <a:latin typeface="Cambria Math" panose="02040503050406030204" pitchFamily="18" charset="0"/>
                  </a:rPr>
                  <a:t>$3$</a:t>
                </a:r>
                <a:r>
                  <a:rPr sz="2400" b="0">
                    <a:solidFill>
                      <a:srgbClr val="111827"/>
                    </a:solidFill>
                    <a:latin typeface="Arial"/>
                  </a:rPr>
                  <a:t>, so it is neither of the form </a:t>
                </a:r>
                <a:r>
                  <a:rPr lang="en-IN" sz="2400">
                    <a:solidFill>
                      <a:srgbClr val="111827"/>
                    </a:solidFill>
                    <a:latin typeface="Cambria Math" panose="02040503050406030204" pitchFamily="18" charset="0"/>
                  </a:rPr>
                  <a:t>$3n+1$</a:t>
                </a:r>
                <a:r>
                  <a:rPr sz="2400" b="0">
                    <a:solidFill>
                      <a:srgbClr val="111827"/>
                    </a:solidFill>
                    <a:latin typeface="Arial"/>
                  </a:rPr>
                  <a:t> nor </a:t>
                </a:r>
                <a:r>
                  <a:rPr lang="en-IN" sz="2400">
                    <a:solidFill>
                      <a:srgbClr val="111827"/>
                    </a:solidFill>
                    <a:latin typeface="Cambria Math" panose="02040503050406030204" pitchFamily="18" charset="0"/>
                  </a:rPr>
                  <a:t>$3n-1$</a:t>
                </a:r>
                <a:r>
                  <a:rPr sz="2400" b="0">
                    <a:solidFill>
                      <a:srgbClr val="111827"/>
                    </a:solidFill>
                    <a:latin typeface="Arial"/>
                  </a:rPr>
                  <a:t>. Hence </a:t>
                </a:r>
                <a:r>
                  <a:rPr lang="en-IN" sz="2400">
                    <a:solidFill>
                      <a:srgbClr val="111827"/>
                    </a:solidFill>
                    <a:latin typeface="Cambria Math" panose="02040503050406030204" pitchFamily="18" charset="0"/>
                  </a:rPr>
                  <a:t>$a=0$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Modulo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$5\equiv-1$</a:t>
                </a:r>
                <a:r>
                  <a:rPr sz="2400" b="0">
                    <a:solidFill>
                      <a:srgbClr val="111827"/>
                    </a:solidFill>
                    <a:latin typeface="Arial"/>
                  </a:rPr>
                  <a:t> and </a:t>
                </a:r>
                <a:r>
                  <a:rPr lang="en-IN" sz="2400">
                    <a:solidFill>
                      <a:srgbClr val="111827"/>
                    </a:solidFill>
                    <a:latin typeface="Cambria Math" panose="02040503050406030204" pitchFamily="18" charset="0"/>
                  </a:rPr>
                  <a:t>$7\equiv1$</a:t>
                </a:r>
                <a:r>
                  <a:rPr sz="2400" b="0">
                    <a:solidFill>
                      <a:srgbClr val="111827"/>
                    </a:solidFill>
                    <a:latin typeface="Arial"/>
                  </a:rPr>
                  <a:t>, so </a:t>
                </a:r>
                <a:r>
                  <a:rPr lang="en-IN" sz="2400">
                    <a:solidFill>
                      <a:srgbClr val="111827"/>
                    </a:solidFill>
                    <a:latin typeface="Cambria Math" panose="02040503050406030204" pitchFamily="18" charset="0"/>
                  </a:rPr>
                  <a:t>$5^b7^c\equiv(-1)^b\pmod 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Form </a:t>
                </a:r>
                <a:r>
                  <a:rPr lang="en-IN" sz="2400">
                    <a:solidFill>
                      <a:srgbClr val="111827"/>
                    </a:solidFill>
                    <a:latin typeface="Cambria Math" panose="02040503050406030204" pitchFamily="18" charset="0"/>
                  </a:rPr>
                  <a:t>$3n+1$</a:t>
                </a:r>
                <a:r>
                  <a:rPr sz="2400" b="0">
                    <a:solidFill>
                      <a:srgbClr val="111827"/>
                    </a:solidFill>
                    <a:latin typeface="Arial"/>
                  </a:rPr>
                  <a:t> (</a:t>
                </a:r>
                <a:r>
                  <a:rPr lang="en-IN" sz="2400">
                    <a:solidFill>
                      <a:srgbClr val="111827"/>
                    </a:solidFill>
                    <a:latin typeface="Cambria Math" panose="02040503050406030204" pitchFamily="18" charset="0"/>
                  </a:rPr>
                  <a:t>$\equiv1$</a:t>
                </a:r>
                <a:r>
                  <a:rPr sz="2400" b="0">
                    <a:solidFill>
                      <a:srgbClr val="111827"/>
                    </a:solidFill>
                    <a:latin typeface="Arial"/>
                  </a:rPr>
                  <a:t>): </a:t>
                </a:r>
                <a:r>
                  <a:rPr lang="en-IN" sz="2400">
                    <a:solidFill>
                      <a:srgbClr val="111827"/>
                    </a:solidFill>
                    <a:latin typeface="Cambria Math" panose="02040503050406030204" pitchFamily="18" charset="0"/>
                  </a:rPr>
                  <a:t>$b$</a:t>
                </a:r>
                <a:r>
                  <a:rPr sz="2400" b="0">
                    <a:solidFill>
                      <a:srgbClr val="111827"/>
                    </a:solidFill>
                    <a:latin typeface="Arial"/>
                  </a:rPr>
                  <a:t> even, </a:t>
                </a:r>
                <a:r>
                  <a:rPr lang="en-IN" sz="2400">
                    <a:solidFill>
                      <a:srgbClr val="111827"/>
                    </a:solidFill>
                    <a:latin typeface="Cambria Math" panose="02040503050406030204" pitchFamily="18" charset="0"/>
                  </a:rPr>
                  <a:t>$b\in\{0,2\}$</a:t>
                </a:r>
                <a:r>
                  <a:rPr sz="2400" b="0">
                    <a:solidFill>
                      <a:srgbClr val="111827"/>
                    </a:solidFill>
                    <a:latin typeface="Arial"/>
                  </a:rPr>
                  <a:t>, </a:t>
                </a:r>
                <a:r>
                  <a:rPr lang="en-IN" sz="2400">
                    <a:solidFill>
                      <a:srgbClr val="111827"/>
                    </a:solidFill>
                    <a:latin typeface="Cambria Math" panose="02040503050406030204" pitchFamily="18" charset="0"/>
                  </a:rPr>
                  <a:t>$c\in\{0,1\}$</a:t>
                </a:r>
                <a:r>
                  <a:rPr sz="2400" b="0">
                    <a:solidFill>
                      <a:srgbClr val="111827"/>
                    </a:solidFill>
                    <a:latin typeface="Arial"/>
                  </a:rPr>
                  <a:t>: the divisors are </a:t>
                </a:r>
                <a:r>
                  <a:rPr lang="en-IN" sz="2400">
                    <a:solidFill>
                      <a:srgbClr val="111827"/>
                    </a:solidFill>
                    <a:latin typeface="Cambria Math" panose="02040503050406030204" pitchFamily="18" charset="0"/>
                  </a:rPr>
                  <a:t>$1,7,25,175$</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175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Form </a:t>
                </a:r>
                <a14:m>
                  <m:oMath xmlns:m="http://schemas.openxmlformats.org/officeDocument/2006/math">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divisors are </a:t>
                </a:r>
                <a14:m>
                  <m:oMath xmlns:m="http://schemas.openxmlformats.org/officeDocument/2006/math">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35</m:t>
                    </m:r>
                  </m:oMath>
                </a14:m>
                <a:r>
                  <a:rPr sz="2400" b="0">
                    <a:solidFill>
                      <a:srgbClr val="111827"/>
                    </a:solidFill>
                    <a:latin typeface="Arial"/>
                  </a:rPr>
                  <a:t>, so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208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the remainder is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$S_1=1+7+25+175=208=(1+25)(1+7)$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Form </a:t>
                </a:r>
                <a:r>
                  <a:rPr lang="en-IN" sz="2400">
                    <a:solidFill>
                      <a:srgbClr val="111827"/>
                    </a:solidFill>
                    <a:latin typeface="Cambria Math" panose="02040503050406030204" pitchFamily="18" charset="0"/>
                  </a:rPr>
                  <a:t>$3n-1$</a:t>
                </a:r>
                <a:r>
                  <a:rPr sz="2400" b="0">
                    <a:solidFill>
                      <a:srgbClr val="111827"/>
                    </a:solidFill>
                    <a:latin typeface="Arial"/>
                  </a:rPr>
                  <a:t> (</a:t>
                </a:r>
                <a:r>
                  <a:rPr lang="en-IN" sz="2400">
                    <a:solidFill>
                      <a:srgbClr val="111827"/>
                    </a:solidFill>
                    <a:latin typeface="Cambria Math" panose="02040503050406030204" pitchFamily="18" charset="0"/>
                  </a:rPr>
                  <a:t>$\equiv2$</a:t>
                </a:r>
                <a:r>
                  <a:rPr sz="2400" b="0">
                    <a:solidFill>
                      <a:srgbClr val="111827"/>
                    </a:solidFill>
                    <a:latin typeface="Arial"/>
                  </a:rPr>
                  <a:t>): </a:t>
                </a:r>
                <a:r>
                  <a:rPr lang="en-IN" sz="2400">
                    <a:solidFill>
                      <a:srgbClr val="111827"/>
                    </a:solidFill>
                    <a:latin typeface="Cambria Math" panose="02040503050406030204" pitchFamily="18" charset="0"/>
                  </a:rPr>
                  <a:t>$b=1$</a:t>
                </a:r>
                <a:r>
                  <a:rPr sz="2400" b="0">
                    <a:solidFill>
                      <a:srgbClr val="111827"/>
                    </a:solidFill>
                    <a:latin typeface="Arial"/>
                  </a:rPr>
                  <a:t>, </a:t>
                </a:r>
                <a:r>
                  <a:rPr lang="en-IN" sz="2400">
                    <a:solidFill>
                      <a:srgbClr val="111827"/>
                    </a:solidFill>
                    <a:latin typeface="Cambria Math" panose="02040503050406030204" pitchFamily="18" charset="0"/>
                  </a:rPr>
                  <a:t>$c\in\{0,1\}$</a:t>
                </a:r>
                <a:r>
                  <a:rPr sz="2400" b="0">
                    <a:solidFill>
                      <a:srgbClr val="111827"/>
                    </a:solidFill>
                    <a:latin typeface="Arial"/>
                  </a:rPr>
                  <a:t>: the divisors are </a:t>
                </a:r>
                <a:r>
                  <a:rPr lang="en-IN" sz="2400">
                    <a:solidFill>
                      <a:srgbClr val="111827"/>
                    </a:solidFill>
                    <a:latin typeface="Cambria Math" panose="02040503050406030204" pitchFamily="18" charset="0"/>
                  </a:rPr>
                  <a:t>$5,35$</a:t>
                </a:r>
                <a:r>
                  <a:rPr sz="2400" b="0">
                    <a:solidFill>
                      <a:srgbClr val="111827"/>
                    </a:solidFill>
                    <a:latin typeface="Arial"/>
                  </a:rPr>
                  <a:t>, so </a:t>
                </a:r>
                <a:r>
                  <a:rPr lang="en-IN" sz="2400">
                    <a:solidFill>
                      <a:srgbClr val="111827"/>
                    </a:solidFill>
                    <a:latin typeface="Cambria Math" panose="02040503050406030204" pitchFamily="18" charset="0"/>
                  </a:rPr>
                  <a:t>$S_2=40=5(1+7)$</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$208=5\times40+8$</a:t>
                </a:r>
                <a:r>
                  <a:rPr sz="2400" b="0">
                    <a:solidFill>
                      <a:srgbClr val="111827"/>
                    </a:solidFill>
                    <a:latin typeface="Arial"/>
                  </a:rPr>
                  <a:t>, so the remainder is </a:t>
                </a:r>
                <a:r>
                  <a:rPr lang="en-IN" sz="2400">
                    <a:solidFill>
                      <a:srgbClr val="111827"/>
                    </a:solidFill>
                    <a:latin typeface="Cambria Math" panose="02040503050406030204" pitchFamily="18" charset="0"/>
                  </a:rPr>
                  <a:t>$8$</a:t>
                </a:r>
                <a:r>
                  <a:rPr sz="2400" b="0">
                    <a:solidFill>
                      <a:srgbClr val="111827"/>
                    </a:solidFill>
                    <a:latin typeface="Arial"/>
                  </a:rPr>
                  <a:t>.</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8</a:t>
            </a:r>
            <a:endParaRPr sz="2800">
              <a:solidFill>
                <a:srgbClr val="15803D"/>
              </a:solidFill>
            </a:endParaRPr>
          </a:p>
        </p:txBody>
      </p:sp>
    </p:spTree>
  </p:cSld>
  <p:clrMapOvr>
    <a:masterClrMapping/>
  </p:clrMapOvr>
</p:sld>
</file>

<file path=ppt/slides/slide6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 multiplicative sign </a:t>
                </a:r>
                <a14:m>
                  <m:oMath xmlns:m="http://schemas.openxmlformats.org/officeDocument/2006/math">
                    <m:r>
                      <a:rPr lang="en-IN" sz="2400" i="1">
                        <a:solidFill>
                          <a:srgbClr val="78350F"/>
                        </a:solidFill>
                        <a:latin typeface="Cambria Math" panose="02040503050406030204" pitchFamily="18" charset="0"/>
                      </a:rPr>
                      <m:t>χ</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𝑑</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𝑏</m:t>
                        </m:r>
                      </m:sup>
                    </m:sSup>
                  </m:oMath>
                </a14:m>
                <a:r>
                  <a:rPr sz="2400" b="0">
                    <a:solidFill>
                      <a:srgbClr val="78350F"/>
                    </a:solidFill>
                    <a:latin typeface="Arial"/>
                  </a:rPr>
                  <a:t> on divisors </a:t>
                </a:r>
                <a14:m>
                  <m:oMath xmlns:m="http://schemas.openxmlformats.org/officeDocument/2006/math">
                    <m:sSup>
                      <m:e>
                        <m:r>
                          <a:rPr lang="en-IN" sz="2400" i="1">
                            <a:solidFill>
                              <a:srgbClr val="78350F"/>
                            </a:solidFill>
                            <a:latin typeface="Cambria Math" panose="02040503050406030204" pitchFamily="18" charset="0"/>
                          </a:rPr>
                          <m:t>5</m:t>
                        </m:r>
                      </m:e>
                      <m:sup>
                        <m:r>
                          <a:rPr lang="en-IN" sz="2400" i="1">
                            <a:solidFill>
                              <a:srgbClr val="78350F"/>
                            </a:solidFill>
                            <a:latin typeface="Cambria Math" panose="02040503050406030204" pitchFamily="18" charset="0"/>
                          </a:rPr>
                          <m:t>𝑏</m:t>
                        </m:r>
                      </m:sup>
                    </m:sSup>
                    <m:sSup>
                      <m:e>
                        <m:r>
                          <a:rPr lang="en-IN" sz="2400" i="1">
                            <a:solidFill>
                              <a:srgbClr val="78350F"/>
                            </a:solidFill>
                            <a:latin typeface="Cambria Math" panose="02040503050406030204" pitchFamily="18" charset="0"/>
                          </a:rPr>
                          <m:t>7</m:t>
                        </m:r>
                      </m:e>
                      <m:sup>
                        <m:r>
                          <a:rPr lang="en-IN" sz="2400" i="1">
                            <a:solidFill>
                              <a:srgbClr val="78350F"/>
                            </a:solidFill>
                            <a:latin typeface="Cambria Math" panose="02040503050406030204" pitchFamily="18" charset="0"/>
                          </a:rPr>
                          <m:t>𝑐</m:t>
                        </m:r>
                      </m:sup>
                    </m:sSup>
                  </m:oMath>
                </a14:m>
                <a:r>
                  <a:rPr sz="2400" b="0">
                    <a:solidFill>
                      <a:srgbClr val="78350F"/>
                    </a:solidFill>
                    <a:latin typeface="Arial"/>
                  </a:rPr>
                  <a:t>: both </a:t>
                </a:r>
                <a14:m>
                  <m:oMath xmlns:m="http://schemas.openxmlformats.org/officeDocument/2006/math">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and </a:t>
                </a:r>
                <a14:m>
                  <m:oMath xmlns:m="http://schemas.openxmlformats.org/officeDocument/2006/math">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1</m:t>
                        </m:r>
                      </m:sub>
                    </m:sSub>
                    <m:r>
                      <m:rPr>
                        <m:sty m:val="p"/>
                      </m:rPr>
                      <a:rPr lang="en-IN" sz="2400">
                        <a:solidFill>
                          <a:srgbClr val="78350F"/>
                        </a:solidFill>
                        <a:latin typeface="Cambria Math" panose="02040503050406030204" pitchFamily="18" charset="0"/>
                      </a:rPr>
                      <m:t>−</m:t>
                    </m:r>
                    <m:sSub>
                      <m:e>
                        <m:r>
                          <a:rPr lang="en-IN" sz="2400" i="1">
                            <a:solidFill>
                              <a:srgbClr val="78350F"/>
                            </a:solidFill>
                            <a:latin typeface="Cambria Math" panose="02040503050406030204" pitchFamily="18" charset="0"/>
                          </a:rPr>
                          <m:t>𝑆</m:t>
                        </m:r>
                      </m:e>
                      <m:sub>
                        <m:r>
                          <a:rPr lang="en-IN" sz="2400" i="1">
                            <a:solidFill>
                              <a:srgbClr val="78350F"/>
                            </a:solidFill>
                            <a:latin typeface="Cambria Math" panose="02040503050406030204" pitchFamily="18" charset="0"/>
                          </a:rPr>
                          <m:t>2</m:t>
                        </m:r>
                      </m:sub>
                    </m:sSub>
                  </m:oMath>
                </a14:m>
                <a:r>
                  <a:rPr sz="2400" b="0">
                    <a:solidFill>
                      <a:srgbClr val="78350F"/>
                    </a:solidFill>
                    <a:latin typeface="Arial"/>
                  </a:rPr>
                  <a:t> factorise.</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a multiplicative sign </a:t>
                </a:r>
                <a:r>
                  <a:rPr lang="en-IN" sz="2400">
                    <a:solidFill>
                      <a:srgbClr val="78350F"/>
                    </a:solidFill>
                    <a:latin typeface="Cambria Math" panose="02040503050406030204" pitchFamily="18" charset="0"/>
                  </a:rPr>
                  <a:t>$\chi(d)=(-1)^b$</a:t>
                </a:r>
                <a:r>
                  <a:rPr sz="2400" b="0">
                    <a:solidFill>
                      <a:srgbClr val="78350F"/>
                    </a:solidFill>
                    <a:latin typeface="Arial"/>
                  </a:rPr>
                  <a:t> on divisors </a:t>
                </a:r>
                <a:r>
                  <a:rPr lang="en-IN" sz="2400">
                    <a:solidFill>
                      <a:srgbClr val="78350F"/>
                    </a:solidFill>
                    <a:latin typeface="Cambria Math" panose="02040503050406030204" pitchFamily="18" charset="0"/>
                  </a:rPr>
                  <a:t>$5^b7^c$</a:t>
                </a:r>
                <a:r>
                  <a:rPr sz="2400" b="0">
                    <a:solidFill>
                      <a:srgbClr val="78350F"/>
                    </a:solidFill>
                    <a:latin typeface="Arial"/>
                  </a:rPr>
                  <a:t>: both </a:t>
                </a:r>
                <a:r>
                  <a:rPr lang="en-IN" sz="2400">
                    <a:solidFill>
                      <a:srgbClr val="78350F"/>
                    </a:solidFill>
                    <a:latin typeface="Cambria Math" panose="02040503050406030204" pitchFamily="18" charset="0"/>
                  </a:rPr>
                  <a:t>$S_1+S_2$</a:t>
                </a:r>
                <a:r>
                  <a:rPr sz="2400" b="0">
                    <a:solidFill>
                      <a:srgbClr val="78350F"/>
                    </a:solidFill>
                    <a:latin typeface="Arial"/>
                  </a:rPr>
                  <a:t> and </a:t>
                </a:r>
                <a:r>
                  <a:rPr lang="en-IN" sz="2400">
                    <a:solidFill>
                      <a:srgbClr val="78350F"/>
                    </a:solidFill>
                    <a:latin typeface="Cambria Math" panose="02040503050406030204" pitchFamily="18" charset="0"/>
                  </a:rPr>
                  <a:t>$S_1-S_2$</a:t>
                </a:r>
                <a:r>
                  <a:rPr sz="2400" b="0">
                    <a:solidFill>
                      <a:srgbClr val="78350F"/>
                    </a:solidFill>
                    <a:latin typeface="Arial"/>
                  </a:rPr>
                  <a:t> factorise.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Only divisors </a:t>
                </a:r>
                <a14:m>
                  <m:oMath xmlns:m="http://schemas.openxmlformats.org/officeDocument/2006/math">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𝑐</m:t>
                        </m:r>
                      </m:sup>
                    </m:sSup>
                  </m:oMath>
                </a14:m>
                <a:r>
                  <a:rPr sz="2400" b="0">
                    <a:solidFill>
                      <a:srgbClr val="111827"/>
                    </a:solidFill>
                    <a:latin typeface="Arial"/>
                  </a:rPr>
                  <a:t> matter (a factor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kills both forms). Mod </a:t>
                </a:r>
                <a14:m>
                  <m:oMath xmlns:m="http://schemas.openxmlformats.org/officeDocument/2006/math">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𝑏</m:t>
                        </m:r>
                      </m:sup>
                    </m:sSup>
                  </m:oMath>
                </a14:m>
                <a:r>
                  <a:rPr sz="2400" b="0">
                    <a:solidFill>
                      <a:srgbClr val="111827"/>
                    </a:solidFill>
                    <a:latin typeface="Arial"/>
                  </a:rPr>
                  <a:t>, so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even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𝑏</m:t>
                    </m:r>
                  </m:oMath>
                </a14:m>
                <a:r>
                  <a:rPr sz="2400" b="0">
                    <a:solidFill>
                      <a:srgbClr val="111827"/>
                    </a:solidFill>
                    <a:latin typeface="Arial"/>
                  </a:rPr>
                  <a:t> odd.</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ub>
                      <m:sup>
                        <m:r>
                          <a:rPr lang="en-IN" sz="2400" i="1">
                            <a:solidFill>
                              <a:srgbClr val="111827"/>
                            </a:solidFill>
                            <a:latin typeface="Cambria Math" panose="02040503050406030204" pitchFamily="18" charset="0"/>
                          </a:rPr>
                          <m:t>​</m:t>
                        </m:r>
                      </m:sup>
                      <m:e>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𝑏</m:t>
                            </m:r>
                          </m:sup>
                        </m:sSup>
                      </m:e>
                    </m:nary>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248</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sub>
                      <m:sup>
                        <m:r>
                          <a:rPr lang="en-IN" sz="2400" i="1">
                            <a:solidFill>
                              <a:srgbClr val="111827"/>
                            </a:solidFill>
                            <a:latin typeface="Cambria Math" panose="02040503050406030204" pitchFamily="18" charset="0"/>
                          </a:rPr>
                          <m:t>​</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5</m:t>
                        </m:r>
                      </m:e>
                      <m:sup>
                        <m:r>
                          <a:rPr lang="en-IN" sz="2400" i="1">
                            <a:solidFill>
                              <a:srgbClr val="111827"/>
                            </a:solidFill>
                            <a:latin typeface="Cambria Math" panose="02040503050406030204" pitchFamily="18" charset="0"/>
                          </a:rPr>
                          <m:t>𝑏</m:t>
                        </m:r>
                      </m:sup>
                    </m:sSup>
                    <m:sSup>
                      <m:e>
                        <m:r>
                          <a:rPr lang="en-IN" sz="2400" i="1">
                            <a:solidFill>
                              <a:srgbClr val="111827"/>
                            </a:solidFill>
                            <a:latin typeface="Cambria Math" panose="02040503050406030204" pitchFamily="18" charset="0"/>
                          </a:rPr>
                          <m:t>7</m:t>
                        </m:r>
                      </m:e>
                      <m:sup>
                        <m:r>
                          <a:rPr lang="en-IN" sz="2400" i="1">
                            <a:solidFill>
                              <a:srgbClr val="111827"/>
                            </a:solidFill>
                            <a:latin typeface="Cambria Math" panose="02040503050406030204" pitchFamily="18" charset="0"/>
                          </a:rPr>
                          <m:t>𝑐</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168</m:t>
                    </m:r>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Only divisors </a:t>
                </a:r>
                <a:r>
                  <a:rPr lang="en-IN" sz="2400">
                    <a:solidFill>
                      <a:srgbClr val="111827"/>
                    </a:solidFill>
                    <a:latin typeface="Cambria Math" panose="02040503050406030204" pitchFamily="18" charset="0"/>
                  </a:rPr>
                  <a:t>$5^b7^c$</a:t>
                </a:r>
                <a:r>
                  <a:rPr sz="2400" b="0">
                    <a:solidFill>
                      <a:srgbClr val="111827"/>
                    </a:solidFill>
                    <a:latin typeface="Arial"/>
                  </a:rPr>
                  <a:t> matter (a factor </a:t>
                </a:r>
                <a:r>
                  <a:rPr lang="en-IN" sz="2400">
                    <a:solidFill>
                      <a:srgbClr val="111827"/>
                    </a:solidFill>
                    <a:latin typeface="Cambria Math" panose="02040503050406030204" pitchFamily="18" charset="0"/>
                  </a:rPr>
                  <a:t>$3$</a:t>
                </a:r>
                <a:r>
                  <a:rPr sz="2400" b="0">
                    <a:solidFill>
                      <a:srgbClr val="111827"/>
                    </a:solidFill>
                    <a:latin typeface="Arial"/>
                  </a:rPr>
                  <a:t> kills both forms). Mod </a:t>
                </a:r>
                <a:r>
                  <a:rPr lang="en-IN" sz="2400">
                    <a:solidFill>
                      <a:srgbClr val="111827"/>
                    </a:solidFill>
                    <a:latin typeface="Cambria Math" panose="02040503050406030204" pitchFamily="18" charset="0"/>
                  </a:rPr>
                  <a:t>$3$</a:t>
                </a:r>
                <a:r>
                  <a:rPr sz="2400" b="0">
                    <a:solidFill>
                      <a:srgbClr val="111827"/>
                    </a:solidFill>
                    <a:latin typeface="Arial"/>
                  </a:rPr>
                  <a:t>, </a:t>
                </a:r>
                <a:r>
                  <a:rPr lang="en-IN" sz="2400">
                    <a:solidFill>
                      <a:srgbClr val="111827"/>
                    </a:solidFill>
                    <a:latin typeface="Cambria Math" panose="02040503050406030204" pitchFamily="18" charset="0"/>
                  </a:rPr>
                  <a:t>$5^b7^c\equiv(-1)^b$</a:t>
                </a:r>
                <a:r>
                  <a:rPr sz="2400" b="0">
                    <a:solidFill>
                      <a:srgbClr val="111827"/>
                    </a:solidFill>
                    <a:latin typeface="Arial"/>
                  </a:rPr>
                  <a:t>, so </a:t>
                </a:r>
                <a:r>
                  <a:rPr lang="en-IN" sz="2400">
                    <a:solidFill>
                      <a:srgbClr val="111827"/>
                    </a:solidFill>
                    <a:latin typeface="Cambria Math" panose="02040503050406030204" pitchFamily="18" charset="0"/>
                  </a:rPr>
                  <a:t>$+1$</a:t>
                </a:r>
                <a:r>
                  <a:rPr sz="2400" b="0">
                    <a:solidFill>
                      <a:srgbClr val="111827"/>
                    </a:solidFill>
                    <a:latin typeface="Arial"/>
                  </a:rPr>
                  <a:t> for </a:t>
                </a:r>
                <a:r>
                  <a:rPr lang="en-IN" sz="2400">
                    <a:solidFill>
                      <a:srgbClr val="111827"/>
                    </a:solidFill>
                    <a:latin typeface="Cambria Math" panose="02040503050406030204" pitchFamily="18" charset="0"/>
                  </a:rPr>
                  <a:t>$b$</a:t>
                </a:r>
                <a:r>
                  <a:rPr sz="2400" b="0">
                    <a:solidFill>
                      <a:srgbClr val="111827"/>
                    </a:solidFill>
                    <a:latin typeface="Arial"/>
                  </a:rPr>
                  <a:t> even and </a:t>
                </a:r>
                <a:r>
                  <a:rPr lang="en-IN" sz="2400">
                    <a:solidFill>
                      <a:srgbClr val="111827"/>
                    </a:solidFill>
                    <a:latin typeface="Cambria Math" panose="02040503050406030204" pitchFamily="18" charset="0"/>
                  </a:rPr>
                  <a:t>$-1$</a:t>
                </a:r>
                <a:r>
                  <a:rPr sz="2400" b="0">
                    <a:solidFill>
                      <a:srgbClr val="111827"/>
                    </a:solidFill>
                    <a:latin typeface="Arial"/>
                  </a:rPr>
                  <a:t> for </a:t>
                </a:r>
                <a:r>
                  <a:rPr lang="en-IN" sz="2400">
                    <a:solidFill>
                      <a:srgbClr val="111827"/>
                    </a:solidFill>
                    <a:latin typeface="Cambria Math" panose="02040503050406030204" pitchFamily="18" charset="0"/>
                  </a:rPr>
                  <a:t>$b$</a:t>
                </a:r>
                <a:r>
                  <a:rPr sz="2400" b="0">
                    <a:solidFill>
                      <a:srgbClr val="111827"/>
                    </a:solidFill>
                    <a:latin typeface="Arial"/>
                  </a:rPr>
                  <a:t> odd.</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$S_1+S_2=\sum_{b,c}5^b7^c=(1+5+25)(1+7)=31\cdot8=248$</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$S_1-S_2=\sum_{b,c}(-1)^b5^b7^c=(1-5+25)(1+7)=21\cdot8=168$</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Adding and subtracting: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168</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208</m:t>
                    </m:r>
                  </m:oMath>
                </a14:m>
                <a:r>
                  <a:rPr sz="2400" b="0">
                    <a:solidFill>
                      <a:srgbClr val="111827"/>
                    </a:solidFill>
                    <a:latin typeface="Arial"/>
                  </a:rPr>
                  <a:t> and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248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168</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208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the remainder is </a:t>
                </a:r>
                <a14:m>
                  <m:oMath xmlns:m="http://schemas.openxmlformats.org/officeDocument/2006/math">
                    <m:r>
                      <a:rPr lang="en-IN" sz="2400" i="1">
                        <a:solidFill>
                          <a:srgbClr val="111827"/>
                        </a:solidFill>
                        <a:latin typeface="Cambria Math" panose="02040503050406030204" pitchFamily="18" charset="0"/>
                      </a:rPr>
                      <m:t>8</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Adding and subtracting: </a:t>
                </a:r>
                <a:r>
                  <a:rPr lang="en-IN" sz="2400">
                    <a:solidFill>
                      <a:srgbClr val="111827"/>
                    </a:solidFill>
                    <a:latin typeface="Cambria Math" panose="02040503050406030204" pitchFamily="18" charset="0"/>
                  </a:rPr>
                  <a:t>$S_1=\frac{248+168}{2}=208$</a:t>
                </a:r>
                <a:r>
                  <a:rPr sz="2400" b="0">
                    <a:solidFill>
                      <a:srgbClr val="111827"/>
                    </a:solidFill>
                    <a:latin typeface="Arial"/>
                  </a:rPr>
                  <a:t> and </a:t>
                </a:r>
                <a:r>
                  <a:rPr lang="en-IN" sz="2400">
                    <a:solidFill>
                      <a:srgbClr val="111827"/>
                    </a:solidFill>
                    <a:latin typeface="Cambria Math" panose="02040503050406030204" pitchFamily="18" charset="0"/>
                  </a:rPr>
                  <a:t>$S_2=\frac{248-168}{2}=40$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$208=5\cdot40+8$</a:t>
                </a:r>
                <a:r>
                  <a:rPr sz="2400" b="0">
                    <a:solidFill>
                      <a:srgbClr val="111827"/>
                    </a:solidFill>
                    <a:latin typeface="Arial"/>
                  </a:rPr>
                  <a:t>, so the remainder is </a:t>
                </a:r>
                <a:r>
                  <a:rPr lang="en-IN" sz="2400">
                    <a:solidFill>
                      <a:srgbClr val="111827"/>
                    </a:solidFill>
                    <a:latin typeface="Cambria Math" panose="02040503050406030204" pitchFamily="18" charset="0"/>
                  </a:rPr>
                  <a:t>$8$</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8</a:t>
            </a:r>
            <a:endParaRPr sz="2800">
              <a:solidFill>
                <a:srgbClr val="15803D"/>
              </a:solidFill>
            </a:endParaRPr>
          </a:p>
        </p:txBody>
      </p:sp>
    </p:spTree>
  </p:cSld>
  <p:clrMapOvr>
    <a:masterClrMapping/>
  </p:clrMapOvr>
</p:sld>
</file>

<file path=ppt/slides/slide6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105</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6B26B"/>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3  ·  4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of divisors of </a:t>
                </a:r>
                <a14:m>
                  <m:oMath xmlns:m="http://schemas.openxmlformats.org/officeDocument/2006/math">
                    <m:r>
                      <m:rPr>
                        <m:sty m:val="p"/>
                      </m:rPr>
                      <a:rPr lang="en-IN" sz="2400">
                        <a:solidFill>
                          <a:srgbClr val="111827"/>
                        </a:solidFill>
                        <a:latin typeface="Cambria Math" panose="02040503050406030204" pitchFamily="18" charset="0"/>
                      </a:rPr>
                      <m:t>∏</m:t>
                    </m:r>
                    <m:sSubSup>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𝑖</m:t>
                        </m:r>
                      </m:sub>
                      <m:sup>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sup>
                    </m:sSubSup>
                  </m:oMath>
                </a14:m>
                <a:r>
                  <a:rPr sz="2400" b="0">
                    <a:solidFill>
                      <a:srgbClr val="111827"/>
                    </a:solidFill>
                    <a:latin typeface="Arial"/>
                  </a:rPr>
                  <a:t> is </a:t>
                </a:r>
                <a14:m>
                  <m:oMath xmlns:m="http://schemas.openxmlformats.org/officeDocument/2006/math">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bSup>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𝑖</m:t>
                            </m:r>
                          </m:sub>
                          <m:sup>
                            <m:sSub>
                              <m:e>
                                <m:r>
                                  <a:rPr lang="en-IN" sz="2400" i="1">
                                    <a:solidFill>
                                      <a:srgbClr val="111827"/>
                                    </a:solidFill>
                                    <a:latin typeface="Cambria Math" panose="02040503050406030204" pitchFamily="18" charset="0"/>
                                  </a:rPr>
                                  <m:t>𝑎</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b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restricting exponents (as here) gives a product of partial geometric sums.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Residues mod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multiply, so a divisor's class mod 3 is determined by the exponents of the primes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counts from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is included in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oMath>
                </a14:m>
                <a:r>
                  <a:rPr sz="2400" b="0">
                    <a:solidFill>
                      <a:srgbClr val="111827"/>
                    </a:solidFill>
                    <a:latin typeface="Arial"/>
                  </a:rPr>
                  <a:t>; if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were required, </a:t>
                </a:r>
                <a14:m>
                  <m:oMath xmlns:m="http://schemas.openxmlformats.org/officeDocument/2006/math">
                    <m:sSub>
                      <m:e>
                        <m:r>
                          <a:rPr lang="en-IN" sz="2400" i="1">
                            <a:solidFill>
                              <a:srgbClr val="111827"/>
                            </a:solidFill>
                            <a:latin typeface="Cambria Math" panose="02040503050406030204" pitchFamily="18" charset="0"/>
                          </a:rPr>
                          <m:t>𝑆</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207</m:t>
                    </m:r>
                  </m:oMath>
                </a14:m>
                <a:r>
                  <a:rPr sz="2400" b="0">
                    <a:solidFill>
                      <a:srgbClr val="111827"/>
                    </a:solidFill>
                    <a:latin typeface="Arial"/>
                  </a:rPr>
                  <a:t> and the remainder would be </a:t>
                </a:r>
                <a14:m>
                  <m:oMath xmlns:m="http://schemas.openxmlformats.org/officeDocument/2006/math">
                    <m:r>
                      <a:rPr lang="en-IN" sz="2400" i="1">
                        <a:solidFill>
                          <a:srgbClr val="111827"/>
                        </a:solidFill>
                        <a:latin typeface="Cambria Math" panose="02040503050406030204" pitchFamily="18" charset="0"/>
                      </a:rPr>
                      <m:t>7</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The sum of divisors of </a:t>
                </a:r>
                <a:r>
                  <a:rPr lang="en-IN" sz="2400">
                    <a:solidFill>
                      <a:srgbClr val="111827"/>
                    </a:solidFill>
                    <a:latin typeface="Cambria Math" panose="02040503050406030204" pitchFamily="18" charset="0"/>
                  </a:rPr>
                  <a:t>$\prod p_i^{a_i}$</a:t>
                </a:r>
                <a:r>
                  <a:rPr sz="2400" b="0">
                    <a:solidFill>
                      <a:srgbClr val="111827"/>
                    </a:solidFill>
                    <a:latin typeface="Arial"/>
                  </a:rPr>
                  <a:t> is </a:t>
                </a:r>
                <a:r>
                  <a:rPr lang="en-IN" sz="2400">
                    <a:solidFill>
                      <a:srgbClr val="111827"/>
                    </a:solidFill>
                    <a:latin typeface="Cambria Math" panose="02040503050406030204" pitchFamily="18" charset="0"/>
                  </a:rPr>
                  <a:t>$\prod\frac{p_i^{a_i+1}-1}{p_i-1}$</a:t>
                </a:r>
                <a:r>
                  <a:rPr sz="2400" b="0">
                    <a:solidFill>
                      <a:srgbClr val="111827"/>
                    </a:solidFill>
                    <a:latin typeface="Arial"/>
                  </a:rPr>
                  <a:t>; restricting exponents (as here) gives a product of partial geometric sums.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Residues mod </a:t>
                </a:r>
                <a:r>
                  <a:rPr lang="en-IN" sz="2400">
                    <a:solidFill>
                      <a:srgbClr val="111827"/>
                    </a:solidFill>
                    <a:latin typeface="Cambria Math" panose="02040503050406030204" pitchFamily="18" charset="0"/>
                  </a:rPr>
                  <a:t>$m$</a:t>
                </a:r>
                <a:r>
                  <a:rPr sz="2400" b="0">
                    <a:solidFill>
                      <a:srgbClr val="111827"/>
                    </a:solidFill>
                    <a:latin typeface="Arial"/>
                  </a:rPr>
                  <a:t> multiply, so a divisor's class mod 3 is determined by the exponents of the primes </a:t>
                </a:r>
                <a:r>
                  <a:rPr lang="en-IN" sz="2400">
                    <a:solidFill>
                      <a:srgbClr val="111827"/>
                    </a:solidFill>
                    <a:latin typeface="Cambria Math" panose="02040503050406030204" pitchFamily="18" charset="0"/>
                  </a:rPr>
                  <a:t>$\ne3$</a:t>
                </a:r>
                <a:r>
                  <a:rPr sz="2400" b="0">
                    <a:solidFill>
                      <a:srgbClr val="111827"/>
                    </a:solidFill>
                    <a:latin typeface="Arial"/>
                  </a:rPr>
                  <a:t>: </a:t>
                </a:r>
                <a:r>
                  <a:rPr lang="en-IN" sz="2400">
                    <a:solidFill>
                      <a:srgbClr val="111827"/>
                    </a:solidFill>
                    <a:latin typeface="Cambria Math" panose="02040503050406030204" pitchFamily="18" charset="0"/>
                  </a:rPr>
                  <a:t>$p\equiv\pm1\pmod 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$n$</a:t>
                </a:r>
                <a:r>
                  <a:rPr sz="2400" b="0">
                    <a:solidFill>
                      <a:srgbClr val="111827"/>
                    </a:solidFill>
                    <a:latin typeface="Arial"/>
                  </a:rPr>
                  <a:t> counts from </a:t>
                </a:r>
                <a:r>
                  <a:rPr lang="en-IN" sz="2400">
                    <a:solidFill>
                      <a:srgbClr val="111827"/>
                    </a:solidFill>
                    <a:latin typeface="Cambria Math" panose="02040503050406030204" pitchFamily="18" charset="0"/>
                  </a:rPr>
                  <a:t>$0$</a:t>
                </a:r>
                <a:r>
                  <a:rPr sz="2400" b="0">
                    <a:solidFill>
                      <a:srgbClr val="111827"/>
                    </a:solidFill>
                    <a:latin typeface="Arial"/>
                  </a:rPr>
                  <a:t>, </a:t>
                </a:r>
                <a:r>
                  <a:rPr lang="en-IN" sz="2400">
                    <a:solidFill>
                      <a:srgbClr val="111827"/>
                    </a:solidFill>
                    <a:latin typeface="Cambria Math" panose="02040503050406030204" pitchFamily="18" charset="0"/>
                  </a:rPr>
                  <a:t>$1=3\cdot0+1$</a:t>
                </a:r>
                <a:r>
                  <a:rPr sz="2400" b="0">
                    <a:solidFill>
                      <a:srgbClr val="111827"/>
                    </a:solidFill>
                    <a:latin typeface="Arial"/>
                  </a:rPr>
                  <a:t> is included in </a:t>
                </a:r>
                <a:r>
                  <a:rPr lang="en-IN" sz="2400">
                    <a:solidFill>
                      <a:srgbClr val="111827"/>
                    </a:solidFill>
                    <a:latin typeface="Cambria Math" panose="02040503050406030204" pitchFamily="18" charset="0"/>
                  </a:rPr>
                  <a:t>$S_1$</a:t>
                </a:r>
                <a:r>
                  <a:rPr sz="2400" b="0">
                    <a:solidFill>
                      <a:srgbClr val="111827"/>
                    </a:solidFill>
                    <a:latin typeface="Arial"/>
                  </a:rPr>
                  <a:t>; if </a:t>
                </a:r>
                <a:r>
                  <a:rPr lang="en-IN" sz="2400">
                    <a:solidFill>
                      <a:srgbClr val="111827"/>
                    </a:solidFill>
                    <a:latin typeface="Cambria Math" panose="02040503050406030204" pitchFamily="18" charset="0"/>
                  </a:rPr>
                  <a:t>$n\ge1$</a:t>
                </a:r>
                <a:r>
                  <a:rPr sz="2400" b="0">
                    <a:solidFill>
                      <a:srgbClr val="111827"/>
                    </a:solidFill>
                    <a:latin typeface="Arial"/>
                  </a:rPr>
                  <a:t> were required, </a:t>
                </a:r>
                <a:r>
                  <a:rPr lang="en-IN" sz="2400">
                    <a:solidFill>
                      <a:srgbClr val="111827"/>
                    </a:solidFill>
                    <a:latin typeface="Cambria Math" panose="02040503050406030204" pitchFamily="18" charset="0"/>
                  </a:rPr>
                  <a:t>$S_1=207$</a:t>
                </a:r>
                <a:r>
                  <a:rPr sz="2400" b="0">
                    <a:solidFill>
                      <a:srgbClr val="111827"/>
                    </a:solidFill>
                    <a:latin typeface="Arial"/>
                  </a:rPr>
                  <a:t> and the remainder would be </a:t>
                </a:r>
                <a:r>
                  <a:rPr lang="en-IN" sz="2400">
                    <a:solidFill>
                      <a:srgbClr val="111827"/>
                    </a:solidFill>
                    <a:latin typeface="Cambria Math" panose="02040503050406030204" pitchFamily="18" charset="0"/>
                  </a:rPr>
                  <a:t>$7$</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685800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914400" y="1463040"/>
            <a:ext cx="10362895" cy="4114800"/>
          </a:xfrm>
          <a:prstGeom prst="rect">
            <a:avLst/>
          </a:prstGeom>
          <a:noFill/>
        </p:spPr>
        <p:txBody>
          <a:bodyPr wrap="square">
            <a:spAutoFit/>
          </a:bodyPr>
          <a:lstStyle>
            <a:lvl1pPr>
              <a:defRPr sz="2800">
                <a:solidFill>
                  <a:srgbClr val="FFFFFF"/>
                </a:solidFill>
              </a:defRPr>
            </a:lvl1pPr>
          </a:lstStyle>
          <a:p>
            <a:pPr algn="ctr">
              <a:spcAft>
                <a:spcPts val="1000"/>
              </a:spcAft>
              <a:defRPr sz="2800">
                <a:solidFill>
                  <a:srgbClr val="FFFFFF"/>
                </a:solidFill>
              </a:defRPr>
            </a:pPr>
            <a:r>
              <a:rPr sz="2800" b="0">
                <a:solidFill>
                  <a:srgbClr val="93C5FD"/>
                </a:solidFill>
                <a:latin typeface="Arial"/>
              </a:rPr>
              <a:t>Section 12</a:t>
            </a:r>
            <a:endParaRPr sz="2800">
              <a:solidFill>
                <a:srgbClr val="FFFFFF"/>
              </a:solidFill>
            </a:endParaRPr>
          </a:p>
          <a:p>
            <a:pPr algn="ctr">
              <a:spcAft>
                <a:spcPts val="1000"/>
              </a:spcAft>
              <a:defRPr sz="2800">
                <a:solidFill>
                  <a:srgbClr val="FFFFFF"/>
                </a:solidFill>
              </a:defRPr>
            </a:pPr>
            <a:r>
              <a:rPr sz="4400" b="1">
                <a:solidFill>
                  <a:srgbClr val="FFFFFF"/>
                </a:solidFill>
                <a:latin typeface="Arial"/>
              </a:rPr>
              <a:t>Matching List Type</a:t>
            </a:r>
            <a:endParaRPr sz="2800">
              <a:solidFill>
                <a:srgbClr val="FFFFFF"/>
              </a:solidFill>
            </a:endParaRPr>
          </a:p>
          <a:p>
            <a:pPr algn="ctr">
              <a:spcAft>
                <a:spcPts val="1000"/>
              </a:spcAft>
              <a:defRPr sz="2800">
                <a:solidFill>
                  <a:srgbClr val="FFFFFF"/>
                </a:solidFill>
              </a:defRPr>
            </a:pPr>
            <a:r>
              <a:rPr sz="3200" b="1">
                <a:solidFill>
                  <a:srgbClr val="FFFFFF"/>
                </a:solidFill>
                <a:latin typeface="Arial"/>
              </a:rPr>
              <a:t>Q106 – Q109</a:t>
            </a:r>
            <a:endParaRPr sz="2800">
              <a:solidFill>
                <a:srgbClr val="FFFFFF"/>
              </a:solidFill>
            </a:endParaRPr>
          </a:p>
          <a:p>
            <a:pPr algn="ctr">
              <a:spcAft>
                <a:spcPts val="1000"/>
              </a:spcAft>
              <a:defRPr sz="2800">
                <a:solidFill>
                  <a:srgbClr val="FFFFFF"/>
                </a:solidFill>
              </a:defRPr>
            </a:pPr>
            <a:r>
              <a:rPr sz="2800" b="0">
                <a:solidFill>
                  <a:srgbClr val="FFFFFF"/>
                </a:solidFill>
                <a:latin typeface="Arial"/>
              </a:rPr>
              <a:t>3 marks each</a:t>
            </a:r>
            <a:endParaRPr sz="2800">
              <a:solidFill>
                <a:srgbClr val="FFFFFF"/>
              </a:solidFill>
            </a:endParaRPr>
          </a:p>
        </p:txBody>
      </p:sp>
    </p:spTree>
  </p:cSld>
  <p:clrMapOvr>
    <a:masterClrMapping/>
  </p:clrMapOvr>
</p:sld>
</file>

<file path=ppt/slides/slide6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Let </a:t>
                </a:r>
                <a14:m>
                  <m:oMath xmlns:m="http://schemas.openxmlformats.org/officeDocument/2006/math">
                    <m:f>
                      <m:fPr>
                        <m:type m:val="bar"/>
                        <m:ctrlPr>
                          <a:rPr lang="en-IN" sz="2000" i="1">
                            <a:solidFill>
                              <a:srgbClr val="111827"/>
                            </a:solidFill>
                            <a:latin typeface="Cambria Math" panose="02040503050406030204" pitchFamily="18" charset="0"/>
                          </a:rPr>
                        </m:ctrlPr>
                      </m:fPr>
                      <m:num>
                        <m:sSup>
                          <m:e>
                            <m:r>
                              <a:rPr lang="en-IN" sz="2000" i="1">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𝑛</m:t>
                            </m:r>
                          </m:sup>
                        </m:sSup>
                        <m:sSub>
                          <m:e>
                            <m:r>
                              <a:rPr lang="en-IN" sz="2000" i="1">
                                <a:solidFill>
                                  <a:srgbClr val="111827"/>
                                </a:solidFill>
                                <a:latin typeface="Cambria Math" panose="02040503050406030204" pitchFamily="18" charset="0"/>
                              </a:rPr>
                              <m:t>𝐶</m:t>
                            </m:r>
                          </m:e>
                          <m:sub>
                            <m:r>
                              <a:rPr lang="en-IN" sz="2000" i="1">
                                <a:solidFill>
                                  <a:srgbClr val="111827"/>
                                </a:solidFill>
                                <a:latin typeface="Cambria Math" panose="02040503050406030204" pitchFamily="18" charset="0"/>
                              </a:rPr>
                              <m:t>𝑟</m:t>
                            </m:r>
                          </m:sub>
                        </m:sSub>
                      </m:num>
                      <m:den>
                        <m:sSup>
                          <m:e>
                            <m:r>
                              <a:rPr lang="en-IN" sz="2000" i="1">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𝑛</m:t>
                            </m:r>
                          </m:sup>
                        </m:sSup>
                        <m:sSub>
                          <m:e>
                            <m:r>
                              <a:rPr lang="en-IN" sz="2000" i="1">
                                <a:solidFill>
                                  <a:srgbClr val="111827"/>
                                </a:solidFill>
                                <a:latin typeface="Cambria Math" panose="02040503050406030204" pitchFamily="18" charset="0"/>
                              </a:rPr>
                              <m:t>𝐶</m:t>
                            </m:r>
                          </m:e>
                          <m:sub>
                            <m:r>
                              <a:rPr lang="en-IN" sz="2000" i="1">
                                <a:solidFill>
                                  <a:srgbClr val="111827"/>
                                </a:solidFill>
                                <a:latin typeface="Cambria Math" panose="02040503050406030204" pitchFamily="18" charset="0"/>
                              </a:rPr>
                              <m:t>𝑟</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ub>
                        </m:sSub>
                      </m:den>
                    </m:f>
                    <m:r>
                      <m:rPr>
                        <m:sty m:val="p"/>
                      </m:rPr>
                      <a:rPr lang="en-IN" sz="2000">
                        <a:solidFill>
                          <a:srgbClr val="111827"/>
                        </a:solidFill>
                        <a:latin typeface="Cambria Math" panose="02040503050406030204" pitchFamily="18" charset="0"/>
                      </a:rPr>
                      <m:t>=</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5</m:t>
                        </m:r>
                      </m:num>
                      <m:den>
                        <m:r>
                          <a:rPr lang="en-IN" sz="2000" i="1">
                            <a:solidFill>
                              <a:srgbClr val="111827"/>
                            </a:solidFill>
                            <a:latin typeface="Cambria Math" panose="02040503050406030204" pitchFamily="18" charset="0"/>
                          </a:rPr>
                          <m:t>2</m:t>
                        </m:r>
                      </m:den>
                    </m:f>
                  </m:oMath>
                </a14:m>
                <a:r>
                  <a:rPr sz="2000" b="0">
                    <a:solidFill>
                      <a:srgbClr val="111827"/>
                    </a:solidFill>
                    <a:latin typeface="Arial"/>
                  </a:rPr>
                  <a:t> and </a:t>
                </a:r>
                <a14:m>
                  <m:oMath xmlns:m="http://schemas.openxmlformats.org/officeDocument/2006/math">
                    <m:sSup>
                      <m:e>
                        <m:r>
                          <a:rPr lang="en-IN" sz="2000" i="1">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𝑛</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up>
                    </m:sSup>
                    <m:sSub>
                      <m:e>
                        <m:r>
                          <a:rPr lang="en-IN" sz="2000" i="1">
                            <a:solidFill>
                              <a:srgbClr val="111827"/>
                            </a:solidFill>
                            <a:latin typeface="Cambria Math" panose="02040503050406030204" pitchFamily="18" charset="0"/>
                          </a:rPr>
                          <m:t>𝐶</m:t>
                        </m:r>
                      </m:e>
                      <m:sub>
                        <m:r>
                          <a:rPr lang="en-IN" sz="2000" i="1">
                            <a:solidFill>
                              <a:srgbClr val="111827"/>
                            </a:solidFill>
                            <a:latin typeface="Cambria Math" panose="02040503050406030204" pitchFamily="18" charset="0"/>
                          </a:rPr>
                          <m:t>𝑟</m:t>
                        </m:r>
                      </m:sub>
                    </m:sSub>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21</m:t>
                    </m:r>
                  </m:oMath>
                </a14:m>
                <a:r>
                  <a:rPr sz="2000" b="0">
                    <a:solidFill>
                      <a:srgbClr val="111827"/>
                    </a:solidFill>
                    <a:latin typeface="Arial"/>
                  </a:rPr>
                  <a:t>, then </a:t>
                </a:r>
                <a14:m>
                  <m:oMath xmlns:m="http://schemas.openxmlformats.org/officeDocument/2006/math">
                    <m:sSup>
                      <m:e>
                        <m:r>
                          <a:rPr lang="en-IN" sz="2000" i="1">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𝑛</m:t>
                        </m:r>
                      </m:sup>
                    </m:sSup>
                    <m:sSub>
                      <m:e>
                        <m:r>
                          <a:rPr lang="en-IN" sz="2000" i="1">
                            <a:solidFill>
                              <a:srgbClr val="111827"/>
                            </a:solidFill>
                            <a:latin typeface="Cambria Math" panose="02040503050406030204" pitchFamily="18" charset="0"/>
                          </a:rPr>
                          <m:t>𝐶</m:t>
                        </m:r>
                      </m:e>
                      <m:sub>
                        <m:r>
                          <a:rPr lang="en-IN" sz="2000" i="1">
                            <a:solidFill>
                              <a:srgbClr val="111827"/>
                            </a:solidFill>
                            <a:latin typeface="Cambria Math" panose="02040503050406030204" pitchFamily="18" charset="0"/>
                          </a:rPr>
                          <m:t>𝑟</m:t>
                        </m:r>
                      </m:sub>
                    </m:sSub>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𝑛</m:t>
                        </m:r>
                      </m:sup>
                    </m:sSup>
                    <m:sSub>
                      <m:e>
                        <m:r>
                          <a:rPr lang="en-IN" sz="2000" i="1">
                            <a:solidFill>
                              <a:srgbClr val="111827"/>
                            </a:solidFill>
                            <a:latin typeface="Cambria Math" panose="02040503050406030204" pitchFamily="18" charset="0"/>
                          </a:rPr>
                          <m:t>𝐶</m:t>
                        </m:r>
                      </m:e>
                      <m:sub>
                        <m:r>
                          <a:rPr lang="en-IN" sz="2000" i="1">
                            <a:solidFill>
                              <a:srgbClr val="111827"/>
                            </a:solidFill>
                            <a:latin typeface="Cambria Math" panose="02040503050406030204" pitchFamily="18" charset="0"/>
                          </a:rPr>
                          <m:t>𝑟</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ub>
                    </m:sSub>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In a triangle ABC with usual notations, if </a:t>
                </a:r>
                <a14:m>
                  <m:oMath xmlns:m="http://schemas.openxmlformats.org/officeDocument/2006/math">
                    <m:r>
                      <a:rPr lang="en-IN" sz="2000" i="1">
                        <a:solidFill>
                          <a:srgbClr val="111827"/>
                        </a:solidFill>
                        <a:latin typeface="Cambria Math" panose="02040503050406030204" pitchFamily="18" charset="0"/>
                      </a:rPr>
                      <m:t>𝑎</m:t>
                    </m:r>
                    <m:r>
                      <a:rPr lang="en-IN" sz="2000" i="1">
                        <a:solidFill>
                          <a:srgbClr val="111827"/>
                        </a:solidFill>
                        <a:latin typeface="Cambria Math" panose="02040503050406030204" pitchFamily="18" charset="0"/>
                      </a:rPr>
                      <m:t>𝑏</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then </a:t>
                </a:r>
                <a14:m>
                  <m:oMath xmlns:m="http://schemas.openxmlformats.org/officeDocument/2006/math">
                    <m:f>
                      <m:fPr>
                        <m:type m:val="bar"/>
                        <m:ctrlPr>
                          <a:rPr lang="en-IN" sz="2000" i="1">
                            <a:solidFill>
                              <a:srgbClr val="111827"/>
                            </a:solidFill>
                            <a:latin typeface="Cambria Math" panose="02040503050406030204" pitchFamily="18" charset="0"/>
                          </a:rPr>
                        </m:ctrlPr>
                      </m:fPr>
                      <m:num>
                        <m:r>
                          <m:rPr>
                            <m:sty m:val="p"/>
                          </m:rPr>
                          <a:rPr lang="en-IN" sz="2000">
                            <a:solidFill>
                              <a:srgbClr val="111827"/>
                            </a:solidFill>
                            <a:latin typeface="Cambria Math" panose="02040503050406030204" pitchFamily="18" charset="0"/>
                          </a:rPr>
                          <m:t>sin</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𝐴</m:t>
                            </m:r>
                          </m:num>
                          <m:den>
                            <m:r>
                              <a:rPr lang="en-IN" sz="2000" i="1">
                                <a:solidFill>
                                  <a:srgbClr val="111827"/>
                                </a:solidFill>
                                <a:latin typeface="Cambria Math" panose="02040503050406030204" pitchFamily="18" charset="0"/>
                              </a:rPr>
                              <m:t>2</m:t>
                            </m:r>
                          </m:den>
                        </m:f>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sin</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𝐵</m:t>
                            </m:r>
                          </m:num>
                          <m:den>
                            <m:r>
                              <a:rPr lang="en-IN" sz="2000" i="1">
                                <a:solidFill>
                                  <a:srgbClr val="111827"/>
                                </a:solidFill>
                                <a:latin typeface="Cambria Math" panose="02040503050406030204" pitchFamily="18" charset="0"/>
                              </a:rPr>
                              <m:t>2</m:t>
                            </m:r>
                          </m:den>
                        </m:f>
                      </m:num>
                      <m:den>
                        <m:r>
                          <m:rPr>
                            <m:sty m:val="p"/>
                          </m:rPr>
                          <a:rPr lang="en-IN" sz="2000">
                            <a:solidFill>
                              <a:srgbClr val="111827"/>
                            </a:solidFill>
                            <a:latin typeface="Cambria Math" panose="02040503050406030204" pitchFamily="18" charset="0"/>
                          </a:rPr>
                          <m:t>sin</m:t>
                        </m:r>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𝐶</m:t>
                            </m:r>
                          </m:num>
                          <m:den>
                            <m:r>
                              <a:rPr lang="en-IN" sz="2000" i="1">
                                <a:solidFill>
                                  <a:srgbClr val="111827"/>
                                </a:solidFill>
                                <a:latin typeface="Cambria Math" panose="02040503050406030204" pitchFamily="18" charset="0"/>
                              </a:rPr>
                              <m:t>2</m:t>
                            </m:r>
                          </m:den>
                        </m:f>
                      </m:den>
                    </m:f>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In an isosceles triangle, whose one angle is </a:t>
                </a:r>
                <a14:m>
                  <m:oMath xmlns:m="http://schemas.openxmlformats.org/officeDocument/2006/math">
                    <m:sSup>
                      <m:e>
                        <m:r>
                          <a:rPr lang="en-IN" sz="2000" i="1">
                            <a:solidFill>
                              <a:srgbClr val="111827"/>
                            </a:solidFill>
                            <a:latin typeface="Cambria Math" panose="02040503050406030204" pitchFamily="18" charset="0"/>
                          </a:rPr>
                          <m:t>150</m:t>
                        </m:r>
                      </m:e>
                      <m:sup>
                        <m:r>
                          <m:rPr>
                            <m:sty m:val="p"/>
                          </m:rPr>
                          <a:rPr lang="en-IN" sz="2000">
                            <a:solidFill>
                              <a:srgbClr val="111827"/>
                            </a:solidFill>
                            <a:latin typeface="Cambria Math" panose="02040503050406030204" pitchFamily="18" charset="0"/>
                          </a:rPr>
                          <m:t>∘</m:t>
                        </m:r>
                      </m:sup>
                    </m:sSup>
                  </m:oMath>
                </a14:m>
                <a:r>
                  <a:rPr sz="2000" b="0">
                    <a:solidFill>
                      <a:srgbClr val="111827"/>
                    </a:solidFill>
                    <a:latin typeface="Arial"/>
                  </a:rPr>
                  <a:t> and radius of its incircle is </a:t>
                </a:r>
                <a14:m>
                  <m:oMath xmlns:m="http://schemas.openxmlformats.org/officeDocument/2006/math">
                    <m:rad>
                      <m:radPr>
                        <m:degHide m:val="on"/>
                        <m:ctrlPr>
                          <a:rPr lang="en-IN" sz="2000" i="1">
                            <a:solidFill>
                              <a:srgbClr val="111827"/>
                            </a:solidFill>
                            <a:latin typeface="Cambria Math" panose="02040503050406030204" pitchFamily="18" charset="0"/>
                          </a:rPr>
                        </m:ctrlPr>
                      </m:radPr>
                      <m:deg/>
                      <m:e>
                        <m:r>
                          <a:rPr lang="en-IN" sz="2000" i="1">
                            <a:solidFill>
                              <a:srgbClr val="111827"/>
                            </a:solidFill>
                            <a:latin typeface="Cambria Math" panose="02040503050406030204" pitchFamily="18" charset="0"/>
                          </a:rPr>
                          <m:t>3</m:t>
                        </m:r>
                      </m:e>
                    </m:rad>
                  </m:oMath>
                </a14:m>
                <a:r>
                  <a:rPr sz="2000" b="0">
                    <a:solidFill>
                      <a:srgbClr val="111827"/>
                    </a:solidFill>
                    <a:latin typeface="Arial"/>
                  </a:rPr>
                  <a:t> and its area is </a:t>
                </a:r>
                <a14:m>
                  <m:oMath xmlns:m="http://schemas.openxmlformats.org/officeDocument/2006/math">
                    <m:r>
                      <m:rPr>
                        <m:sty m:val="p"/>
                      </m:rPr>
                      <a:rPr lang="en-IN" sz="2000">
                        <a:solidFill>
                          <a:srgbClr val="111827"/>
                        </a:solidFill>
                        <a:latin typeface="Cambria Math" panose="02040503050406030204" pitchFamily="18" charset="0"/>
                      </a:rPr>
                      <m:t>Δ</m:t>
                    </m:r>
                  </m:oMath>
                </a14:m>
                <a:r>
                  <a:rPr sz="2000" b="0">
                    <a:solidFill>
                      <a:srgbClr val="111827"/>
                    </a:solidFill>
                    <a:latin typeface="Arial"/>
                  </a:rPr>
                  <a:t>, then </a:t>
                </a:r>
                <a14:m>
                  <m:oMath xmlns:m="http://schemas.openxmlformats.org/officeDocument/2006/math">
                    <m:r>
                      <m:rPr>
                        <m:sty m:val="p"/>
                      </m:rPr>
                      <a:rPr lang="en-IN" sz="2000">
                        <a:solidFill>
                          <a:srgbClr val="111827"/>
                        </a:solidFill>
                        <a:latin typeface="Cambria Math" panose="02040503050406030204" pitchFamily="18" charset="0"/>
                      </a:rPr>
                      <m:t>Δ</m:t>
                    </m:r>
                    <m:sSup>
                      <m:e>
                        <m:r>
                          <m:rPr>
                            <m:sty m:val="p"/>
                          </m:rPr>
                          <a:rPr lang="en-IN" sz="2000">
                            <a:solidFill>
                              <a:srgbClr val="111827"/>
                            </a:solidFill>
                            <a:latin typeface="Cambria Math" panose="02040503050406030204" pitchFamily="18" charset="0"/>
                          </a:rPr>
                          <m:t>tan</m:t>
                        </m:r>
                      </m:e>
                      <m:sup>
                        <m:r>
                          <a:rPr lang="en-IN" sz="2000" i="1">
                            <a:solidFill>
                              <a:srgbClr val="111827"/>
                            </a:solidFill>
                            <a:latin typeface="Cambria Math" panose="02040503050406030204" pitchFamily="18" charset="0"/>
                          </a:rPr>
                          <m:t>2</m:t>
                        </m:r>
                      </m:sup>
                    </m:sSup>
                    <m:r>
                      <a:rPr lang="en-IN" sz="2000" i="1">
                        <a:solidFill>
                          <a:srgbClr val="111827"/>
                        </a:solidFill>
                        <a:latin typeface="Cambria Math" panose="02040503050406030204" pitchFamily="18" charset="0"/>
                      </a:rPr>
                      <m:t>7</m:t>
                    </m:r>
                    <m:sSup>
                      <m:e>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2</m:t>
                            </m:r>
                          </m:den>
                        </m:f>
                      </m:e>
                      <m:sup>
                        <m:r>
                          <m:rPr>
                            <m:sty m:val="p"/>
                          </m:rPr>
                          <a:rPr lang="en-IN" sz="2000">
                            <a:solidFill>
                              <a:srgbClr val="111827"/>
                            </a:solidFill>
                            <a:latin typeface="Cambria Math" panose="02040503050406030204" pitchFamily="18" charset="0"/>
                          </a:rPr>
                          <m:t>∘</m:t>
                        </m:r>
                      </m:sup>
                    </m:sSup>
                    <m:r>
                      <m:rPr>
                        <m:sty m:val="p"/>
                      </m:rPr>
                      <a:rPr lang="en-IN" sz="2000">
                        <a:solidFill>
                          <a:srgbClr val="111827"/>
                        </a:solidFill>
                        <a:latin typeface="Cambria Math" panose="02040503050406030204" pitchFamily="18" charset="0"/>
                      </a:rPr>
                      <m:t>cot</m:t>
                    </m:r>
                    <m:sSup>
                      <m:e>
                        <m:r>
                          <a:rPr lang="en-IN" sz="2000" i="1">
                            <a:solidFill>
                              <a:srgbClr val="111827"/>
                            </a:solidFill>
                            <a:latin typeface="Cambria Math" panose="02040503050406030204" pitchFamily="18" charset="0"/>
                          </a:rPr>
                          <m:t>15</m:t>
                        </m:r>
                      </m:e>
                      <m:sup>
                        <m:r>
                          <m:rPr>
                            <m:sty m:val="p"/>
                          </m:rPr>
                          <a:rPr lang="en-IN" sz="2000">
                            <a:solidFill>
                              <a:srgbClr val="111827"/>
                            </a:solidFill>
                            <a:latin typeface="Cambria Math" panose="02040503050406030204" pitchFamily="18" charset="0"/>
                          </a:rPr>
                          <m:t>∘</m:t>
                        </m:r>
                      </m:sup>
                    </m:sSup>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a:t>
                </a:r>
                <a14:m>
                  <m:oMath xmlns:m="http://schemas.openxmlformats.org/officeDocument/2006/math">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𝑏</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𝑑</m:t>
                    </m:r>
                  </m:oMath>
                </a14:m>
                <a:r>
                  <a:rPr sz="2000" b="0">
                    <a:solidFill>
                      <a:srgbClr val="111827"/>
                    </a:solidFill>
                    <a:latin typeface="Arial"/>
                  </a:rPr>
                  <a:t> are in H.P. and </a:t>
                </a:r>
                <a14:m>
                  <m:oMath xmlns:m="http://schemas.openxmlformats.org/officeDocument/2006/math">
                    <m:r>
                      <a:rPr lang="en-IN" sz="2000" i="1">
                        <a:solidFill>
                          <a:srgbClr val="111827"/>
                        </a:solidFill>
                        <a:latin typeface="Cambria Math" panose="02040503050406030204" pitchFamily="18" charset="0"/>
                      </a:rPr>
                      <m:t>𝑎</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𝑐</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𝑑</m:t>
                    </m:r>
                  </m:oMath>
                </a14:m>
                <a:r>
                  <a:rPr sz="2000" b="0">
                    <a:solidFill>
                      <a:srgbClr val="111827"/>
                    </a:solidFill>
                    <a:latin typeface="Arial"/>
                  </a:rPr>
                  <a:t> are in G.P. then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𝑐</m:t>
                        </m:r>
                        <m:r>
                          <a:rPr lang="en-IN" sz="2000" i="1">
                            <a:solidFill>
                              <a:srgbClr val="111827"/>
                            </a:solidFill>
                            <a:latin typeface="Cambria Math" panose="02040503050406030204" pitchFamily="18" charset="0"/>
                          </a:rPr>
                          <m:t>𝑑</m:t>
                        </m:r>
                      </m:num>
                      <m:den>
                        <m:r>
                          <a:rPr lang="en-IN" sz="2000" i="1">
                            <a:solidFill>
                              <a:srgbClr val="111827"/>
                            </a:solidFill>
                            <a:latin typeface="Cambria Math" panose="02040503050406030204" pitchFamily="18" charset="0"/>
                          </a:rPr>
                          <m:t>𝑎</m:t>
                        </m:r>
                        <m:r>
                          <a:rPr lang="en-IN" sz="2000" i="1">
                            <a:solidFill>
                              <a:srgbClr val="111827"/>
                            </a:solidFill>
                            <a:latin typeface="Cambria Math" panose="02040503050406030204" pitchFamily="18" charset="0"/>
                          </a:rPr>
                          <m:t>𝑏</m:t>
                        </m:r>
                      </m:den>
                    </m:f>
                  </m:oMath>
                </a14:m>
                <a:r>
                  <a:rPr sz="2000" b="0">
                    <a:solidFill>
                      <a:srgbClr val="111827"/>
                    </a:solidFill>
                    <a:latin typeface="Arial"/>
                  </a:rPr>
                  <a:t> can be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r>
                      <a:rPr lang="en-IN" sz="2000" i="1">
                        <a:solidFill>
                          <a:srgbClr val="111827"/>
                        </a:solidFill>
                        <a:latin typeface="Cambria Math" panose="02040503050406030204" pitchFamily="18" charset="0"/>
                      </a:rPr>
                      <m:t>1</m:t>
                    </m:r>
                  </m:oMath>
                </a14:m>
                <a:r>
                  <a:rPr sz="2000" b="0">
                    <a:solidFill>
                      <a:srgbClr val="111827"/>
                    </a:solidFill>
                    <a:latin typeface="Arial"/>
                  </a:rPr>
                  <a:t>, (q) </a:t>
                </a:r>
                <a14:m>
                  <m:oMath xmlns:m="http://schemas.openxmlformats.org/officeDocument/2006/math">
                    <m:r>
                      <a:rPr lang="en-IN" sz="2000" i="1">
                        <a:solidFill>
                          <a:srgbClr val="111827"/>
                        </a:solidFill>
                        <a:latin typeface="Cambria Math" panose="02040503050406030204" pitchFamily="18" charset="0"/>
                      </a:rPr>
                      <m:t>2</m:t>
                    </m:r>
                  </m:oMath>
                </a14:m>
                <a:r>
                  <a:rPr sz="2000" b="0">
                    <a:solidFill>
                      <a:srgbClr val="111827"/>
                    </a:solidFill>
                    <a:latin typeface="Arial"/>
                  </a:rPr>
                  <a:t>, (r) </a:t>
                </a:r>
                <a14:m>
                  <m:oMath xmlns:m="http://schemas.openxmlformats.org/officeDocument/2006/math">
                    <m:r>
                      <a:rPr lang="en-IN" sz="2000" i="1">
                        <a:solidFill>
                          <a:srgbClr val="111827"/>
                        </a:solidFill>
                        <a:latin typeface="Cambria Math" panose="02040503050406030204" pitchFamily="18" charset="0"/>
                      </a:rPr>
                      <m:t>6</m:t>
                    </m:r>
                  </m:oMath>
                </a14:m>
                <a:r>
                  <a:rPr sz="2000" b="0">
                    <a:solidFill>
                      <a:srgbClr val="111827"/>
                    </a:solidFill>
                    <a:latin typeface="Arial"/>
                  </a:rPr>
                  <a:t>, (s) </a:t>
                </a:r>
                <a14:m>
                  <m:oMath xmlns:m="http://schemas.openxmlformats.org/officeDocument/2006/math">
                    <m:r>
                      <a:rPr lang="en-IN" sz="2000" i="1">
                        <a:solidFill>
                          <a:srgbClr val="111827"/>
                        </a:solidFill>
                        <a:latin typeface="Cambria Math" panose="02040503050406030204" pitchFamily="18" charset="0"/>
                      </a:rPr>
                      <m:t>9</m:t>
                    </m:r>
                  </m:oMath>
                </a14:m>
                <a:r>
                  <a:rPr sz="2000" b="0">
                    <a:solidFill>
                      <a:srgbClr val="111827"/>
                    </a:solidFill>
                    <a:latin typeface="Arial"/>
                  </a:rPr>
                  <a:t>, (t) Odd natural number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q; b - s,t; c - t; d - p,r,t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q; b - t; c - s,t; d - p,r,t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s,t; b - q; c - t; d - p,r,t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q; b - t; c - p,r,t; d - s,t</a:t>
                </a:r>
                <a:endParaRPr sz="2000">
                  <a:solidFill>
                    <a:srgbClr val="111827"/>
                  </a:solidFill>
                </a:endParaRPr>
              </a:p>
            </p:txBody>
          </p:sp>
        </mc:Choice>
        <mc:Fallback>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Let </a:t>
                </a:r>
                <a:r>
                  <a:rPr lang="en-IN" sz="2000">
                    <a:solidFill>
                      <a:srgbClr val="111827"/>
                    </a:solidFill>
                    <a:latin typeface="Cambria Math" panose="02040503050406030204" pitchFamily="18" charset="0"/>
                  </a:rPr>
                  <a:t>$\frac{{}^nC_r}{{}^nC_{r-1}}=\frac52$</a:t>
                </a:r>
                <a:r>
                  <a:rPr sz="2000" b="0">
                    <a:solidFill>
                      <a:srgbClr val="111827"/>
                    </a:solidFill>
                    <a:latin typeface="Arial"/>
                  </a:rPr>
                  <a:t> and </a:t>
                </a:r>
                <a:r>
                  <a:rPr lang="en-IN" sz="2000">
                    <a:solidFill>
                      <a:srgbClr val="111827"/>
                    </a:solidFill>
                    <a:latin typeface="Cambria Math" panose="02040503050406030204" pitchFamily="18" charset="0"/>
                  </a:rPr>
                  <a:t>${}^{n+1}C_r=21$</a:t>
                </a:r>
                <a:r>
                  <a:rPr sz="2000" b="0">
                    <a:solidFill>
                      <a:srgbClr val="111827"/>
                    </a:solidFill>
                    <a:latin typeface="Arial"/>
                  </a:rPr>
                  <a:t>, then </a:t>
                </a:r>
                <a:r>
                  <a:rPr lang="en-IN" sz="2000">
                    <a:solidFill>
                      <a:srgbClr val="111827"/>
                    </a:solidFill>
                    <a:latin typeface="Cambria Math" panose="02040503050406030204" pitchFamily="18" charset="0"/>
                  </a:rPr>
                  <a:t>${}^nC_r-{}^nC_{r-1}$</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In a triangle ABC with usual notations, if </a:t>
                </a:r>
                <a:r>
                  <a:rPr lang="en-IN" sz="2000">
                    <a:solidFill>
                      <a:srgbClr val="111827"/>
                    </a:solidFill>
                    <a:latin typeface="Cambria Math" panose="02040503050406030204" pitchFamily="18" charset="0"/>
                  </a:rPr>
                  <a:t>$abc=(b+c-a)(c+a-b)(a+b-c)$</a:t>
                </a:r>
                <a:r>
                  <a:rPr sz="2000" b="0">
                    <a:solidFill>
                      <a:srgbClr val="111827"/>
                    </a:solidFill>
                    <a:latin typeface="Arial"/>
                  </a:rPr>
                  <a:t> then </a:t>
                </a:r>
                <a:r>
                  <a:rPr lang="en-IN" sz="2000">
                    <a:solidFill>
                      <a:srgbClr val="111827"/>
                    </a:solidFill>
                    <a:latin typeface="Cambria Math" panose="02040503050406030204" pitchFamily="18" charset="0"/>
                  </a:rPr>
                  <a:t>$\frac{\sin\frac A2+\sin\frac B2}{\sin\frac C2}$</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In an isosceles triangle, whose one angle is </a:t>
                </a:r>
                <a:r>
                  <a:rPr lang="en-IN" sz="2000">
                    <a:solidFill>
                      <a:srgbClr val="111827"/>
                    </a:solidFill>
                    <a:latin typeface="Cambria Math" panose="02040503050406030204" pitchFamily="18" charset="0"/>
                  </a:rPr>
                  <a:t>$150^\circ$</a:t>
                </a:r>
                <a:r>
                  <a:rPr sz="2000" b="0">
                    <a:solidFill>
                      <a:srgbClr val="111827"/>
                    </a:solidFill>
                    <a:latin typeface="Arial"/>
                  </a:rPr>
                  <a:t> and radius of its incircle is </a:t>
                </a:r>
                <a:r>
                  <a:rPr lang="en-IN" sz="2000">
                    <a:solidFill>
                      <a:srgbClr val="111827"/>
                    </a:solidFill>
                    <a:latin typeface="Cambria Math" panose="02040503050406030204" pitchFamily="18" charset="0"/>
                  </a:rPr>
                  <a:t>$\sqrt3$</a:t>
                </a:r>
                <a:r>
                  <a:rPr sz="2000" b="0">
                    <a:solidFill>
                      <a:srgbClr val="111827"/>
                    </a:solidFill>
                    <a:latin typeface="Arial"/>
                  </a:rPr>
                  <a:t> and its area is </a:t>
                </a:r>
                <a:r>
                  <a:rPr lang="en-IN" sz="2000">
                    <a:solidFill>
                      <a:srgbClr val="111827"/>
                    </a:solidFill>
                    <a:latin typeface="Cambria Math" panose="02040503050406030204" pitchFamily="18" charset="0"/>
                  </a:rPr>
                  <a:t>$\Delta$</a:t>
                </a:r>
                <a:r>
                  <a:rPr sz="2000" b="0">
                    <a:solidFill>
                      <a:srgbClr val="111827"/>
                    </a:solidFill>
                    <a:latin typeface="Arial"/>
                  </a:rPr>
                  <a:t>, then </a:t>
                </a:r>
                <a:r>
                  <a:rPr lang="en-IN" sz="2000">
                    <a:solidFill>
                      <a:srgbClr val="111827"/>
                    </a:solidFill>
                    <a:latin typeface="Cambria Math" panose="02040503050406030204" pitchFamily="18" charset="0"/>
                  </a:rPr>
                  <a:t>$\Delta\tan^2 7\frac12^\circ\cot15^\circ$</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a:t>
                </a:r>
                <a:r>
                  <a:rPr lang="en-IN" sz="2000">
                    <a:solidFill>
                      <a:srgbClr val="111827"/>
                    </a:solidFill>
                    <a:latin typeface="Cambria Math" panose="02040503050406030204" pitchFamily="18" charset="0"/>
                  </a:rPr>
                  <a:t>$a,b,c,d$</a:t>
                </a:r>
                <a:r>
                  <a:rPr sz="2000" b="0">
                    <a:solidFill>
                      <a:srgbClr val="111827"/>
                    </a:solidFill>
                    <a:latin typeface="Arial"/>
                  </a:rPr>
                  <a:t> are in H.P. and </a:t>
                </a:r>
                <a:r>
                  <a:rPr lang="en-IN" sz="2000">
                    <a:solidFill>
                      <a:srgbClr val="111827"/>
                    </a:solidFill>
                    <a:latin typeface="Cambria Math" panose="02040503050406030204" pitchFamily="18" charset="0"/>
                  </a:rPr>
                  <a:t>$a,c,d$</a:t>
                </a:r>
                <a:r>
                  <a:rPr sz="2000" b="0">
                    <a:solidFill>
                      <a:srgbClr val="111827"/>
                    </a:solidFill>
                    <a:latin typeface="Arial"/>
                  </a:rPr>
                  <a:t> are in G.P. then </a:t>
                </a:r>
                <a:r>
                  <a:rPr lang="en-IN" sz="2000">
                    <a:solidFill>
                      <a:srgbClr val="111827"/>
                    </a:solidFill>
                    <a:latin typeface="Cambria Math" panose="02040503050406030204" pitchFamily="18" charset="0"/>
                  </a:rPr>
                  <a:t>$\frac{cd}{ab}$</a:t>
                </a:r>
                <a:r>
                  <a:rPr sz="2000" b="0">
                    <a:solidFill>
                      <a:srgbClr val="111827"/>
                    </a:solidFill>
                    <a:latin typeface="Arial"/>
                  </a:rPr>
                  <a:t> can be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$1$</a:t>
                </a:r>
                <a:r>
                  <a:rPr sz="2000" b="0">
                    <a:solidFill>
                      <a:srgbClr val="111827"/>
                    </a:solidFill>
                    <a:latin typeface="Arial"/>
                  </a:rPr>
                  <a:t>, (q) </a:t>
                </a:r>
                <a:r>
                  <a:rPr lang="en-IN" sz="2000">
                    <a:solidFill>
                      <a:srgbClr val="111827"/>
                    </a:solidFill>
                    <a:latin typeface="Cambria Math" panose="02040503050406030204" pitchFamily="18" charset="0"/>
                  </a:rPr>
                  <a:t>$2$</a:t>
                </a:r>
                <a:r>
                  <a:rPr sz="2000" b="0">
                    <a:solidFill>
                      <a:srgbClr val="111827"/>
                    </a:solidFill>
                    <a:latin typeface="Arial"/>
                  </a:rPr>
                  <a:t>, (r) </a:t>
                </a:r>
                <a:r>
                  <a:rPr lang="en-IN" sz="2000">
                    <a:solidFill>
                      <a:srgbClr val="111827"/>
                    </a:solidFill>
                    <a:latin typeface="Cambria Math" panose="02040503050406030204" pitchFamily="18" charset="0"/>
                  </a:rPr>
                  <a:t>$6$</a:t>
                </a:r>
                <a:r>
                  <a:rPr sz="2000" b="0">
                    <a:solidFill>
                      <a:srgbClr val="111827"/>
                    </a:solidFill>
                    <a:latin typeface="Arial"/>
                  </a:rPr>
                  <a:t>, (s) </a:t>
                </a:r>
                <a:r>
                  <a:rPr lang="en-IN" sz="2000">
                    <a:solidFill>
                      <a:srgbClr val="111827"/>
                    </a:solidFill>
                    <a:latin typeface="Cambria Math" panose="02040503050406030204" pitchFamily="18" charset="0"/>
                  </a:rPr>
                  <a:t>$9$</a:t>
                </a:r>
                <a:r>
                  <a:rPr sz="2000" b="0">
                    <a:solidFill>
                      <a:srgbClr val="111827"/>
                    </a:solidFill>
                    <a:latin typeface="Arial"/>
                  </a:rPr>
                  <a:t>, (t) Odd natural number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q; b - s,t; c - t; d - p,r,t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q; b - t; c - s,t; d - p,r,t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s,t; b - q; c - t; d - p,r,t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q; b - t; c - p,r,t; d - s,t</a:t>
                </a:r>
                <a:endParaRPr sz="2000">
                  <a:solidFill>
                    <a:srgbClr val="111827"/>
                  </a:solidFill>
                </a:endParaRPr>
              </a:p>
            </p:txBody>
          </p:sp>
        </mc:Fallback>
      </mc:AlternateContent>
    </p:spTree>
  </p:cSld>
  <p:clrMapOvr>
    <a:masterClrMapping/>
  </p:clrMapOvr>
</p:sld>
</file>

<file path=ppt/slides/slide6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Properties of triangles: equilateral triangle, incircle and area, Binomial coefficients and HP/GP relations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a:rPr lang="en-IN" sz="2400" i="1">
                        <a:solidFill>
                          <a:srgbClr val="78350F"/>
                        </a:solidFill>
                        <a:latin typeface="Cambria Math" panose="02040503050406030204" pitchFamily="18" charset="0"/>
                      </a:rPr>
                      <m:t>𝑎</m:t>
                    </m:r>
                    <m:r>
                      <a:rPr lang="en-IN" sz="2400" i="1">
                        <a:solidFill>
                          <a:srgbClr val="78350F"/>
                        </a:solidFill>
                        <a:latin typeface="Cambria Math" panose="02040503050406030204" pitchFamily="18" charset="0"/>
                      </a:rPr>
                      <m:t>𝑏</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𝑎</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𝑏</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𝑐</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 reduces to </a:t>
                </a:r>
                <a14:m>
                  <m:oMath xmlns:m="http://schemas.openxmlformats.org/officeDocument/2006/math">
                    <m:r>
                      <a:rPr lang="en-IN" sz="2400" i="1">
                        <a:solidFill>
                          <a:srgbClr val="78350F"/>
                        </a:solidFill>
                        <a:latin typeface="Cambria Math" panose="02040503050406030204" pitchFamily="18" charset="0"/>
                      </a:rPr>
                      <m:t>𝑅</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m:t>
                    </m:r>
                    <m:r>
                      <a:rPr lang="en-IN" sz="2400" i="1">
                        <a:solidFill>
                          <a:srgbClr val="78350F"/>
                        </a:solidFill>
                        <a:latin typeface="Cambria Math" panose="02040503050406030204" pitchFamily="18" charset="0"/>
                      </a:rPr>
                      <m:t>𝑟</m:t>
                    </m:r>
                  </m:oMath>
                </a14:m>
                <a:r>
                  <a:rPr sz="2400" b="0">
                    <a:solidFill>
                      <a:srgbClr val="78350F"/>
                    </a:solidFill>
                    <a:latin typeface="Arial"/>
                  </a:rPr>
                  <a:t>, which holds only for the equilateral triangle.</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$abc=(b+c-a)(c+a-b)(a+b-c)$</a:t>
                </a:r>
                <a:r>
                  <a:rPr sz="2400" b="0">
                    <a:solidFill>
                      <a:srgbClr val="78350F"/>
                    </a:solidFill>
                    <a:latin typeface="Arial"/>
                  </a:rPr>
                  <a:t> reduces to </a:t>
                </a:r>
                <a:r>
                  <a:rPr lang="en-IN" sz="2400">
                    <a:solidFill>
                      <a:srgbClr val="78350F"/>
                    </a:solidFill>
                    <a:latin typeface="Cambria Math" panose="02040503050406030204" pitchFamily="18" charset="0"/>
                  </a:rPr>
                  <a:t>$R=2r$</a:t>
                </a:r>
                <a:r>
                  <a:rPr sz="2400" b="0">
                    <a:solidFill>
                      <a:srgbClr val="78350F"/>
                    </a:solidFill>
                    <a:latin typeface="Arial"/>
                  </a:rPr>
                  <a:t>, which holds only for the equilateral triangle.</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Let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𝑥</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 which is in (s) and, being odd, in (t).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Let </a:t>
                </a:r>
                <a:r>
                  <a:rPr lang="en-IN" sz="2400">
                    <a:solidFill>
                      <a:srgbClr val="111827"/>
                    </a:solidFill>
                    <a:latin typeface="Cambria Math" panose="02040503050406030204" pitchFamily="18" charset="0"/>
                  </a:rPr>
                  <a:t>${}^nC_r=5x$</a:t>
                </a:r>
                <a:r>
                  <a:rPr sz="2400" b="0">
                    <a:solidFill>
                      <a:srgbClr val="111827"/>
                    </a:solidFill>
                    <a:latin typeface="Arial"/>
                  </a:rPr>
                  <a:t>, so </a:t>
                </a:r>
                <a:r>
                  <a:rPr lang="en-IN" sz="2400">
                    <a:solidFill>
                      <a:srgbClr val="111827"/>
                    </a:solidFill>
                    <a:latin typeface="Cambria Math" panose="02040503050406030204" pitchFamily="18" charset="0"/>
                  </a:rPr>
                  <a:t>${}^nC_{r-1}=2x$</a:t>
                </a:r>
                <a:r>
                  <a:rPr sz="2400" b="0">
                    <a:solidFill>
                      <a:srgbClr val="111827"/>
                    </a:solidFill>
                    <a:latin typeface="Arial"/>
                  </a:rPr>
                  <a:t>. Then </a:t>
                </a:r>
                <a:r>
                  <a:rPr lang="en-IN" sz="2400">
                    <a:solidFill>
                      <a:srgbClr val="111827"/>
                    </a:solidFill>
                    <a:latin typeface="Cambria Math" panose="02040503050406030204" pitchFamily="18" charset="0"/>
                  </a:rPr>
                  <a:t>${}^nC_r+{}^nC_{r-1}={}^{n+1}C_r=21\Rightarrow7x=21\Rightarrow x=3$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${}^nC_r-{}^nC_{r-1}=3x=9$</a:t>
                </a:r>
                <a:r>
                  <a:rPr sz="2400" b="0">
                    <a:solidFill>
                      <a:srgbClr val="111827"/>
                    </a:solidFill>
                    <a:latin typeface="Arial"/>
                  </a:rPr>
                  <a:t>, which is in (s) and, being odd, in (t).</a:t>
                </a:r>
                <a:endParaRPr sz="2400">
                  <a:solidFill>
                    <a:srgbClr val="111827"/>
                  </a:solidFill>
                </a:endParaRPr>
              </a:p>
            </p:txBody>
          </p:sp>
        </mc:Fallback>
      </mc:AlternateContent>
    </p:spTree>
  </p:cSld>
  <p:clrMapOvr>
    <a:masterClrMapping/>
  </p:clrMapOvr>
</p:sld>
</file>

<file path=ppt/slides/slide6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Δ</m:t>
                    </m:r>
                    <m:r>
                      <a:rPr lang="en-IN" sz="2400" i="1">
                        <a:solidFill>
                          <a:srgbClr val="111827"/>
                        </a:solidFill>
                        <a:latin typeface="Cambria Math" panose="02040503050406030204" pitchFamily="18" charset="0"/>
                      </a:rPr>
                      <m:t>𝑅</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Δ</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8</m:t>
                        </m:r>
                        <m:sSup>
                          <m:e>
                            <m:r>
                              <m:rPr>
                                <m:sty m:val="p"/>
                              </m:rPr>
                              <a:rPr lang="en-IN" sz="2400">
                                <a:solidFill>
                                  <a:srgbClr val="111827"/>
                                </a:solidFill>
                                <a:latin typeface="Cambria Math" panose="02040503050406030204" pitchFamily="18" charset="0"/>
                              </a:rPr>
                              <m:t>Δ</m:t>
                            </m:r>
                          </m:e>
                          <m:sup>
                            <m:r>
                              <a:rPr lang="en-IN" sz="2400" i="1">
                                <a:solidFill>
                                  <a:srgbClr val="111827"/>
                                </a:solidFill>
                                <a:latin typeface="Cambria Math" panose="02040503050406030204" pitchFamily="18" charset="0"/>
                              </a:rPr>
                              <m:t>2</m:t>
                            </m:r>
                          </m:sup>
                        </m:sSup>
                      </m:num>
                      <m:den>
                        <m:r>
                          <a:rPr lang="en-IN" sz="2400" i="1">
                            <a:solidFill>
                              <a:srgbClr val="111827"/>
                            </a:solidFill>
                            <a:latin typeface="Cambria Math" panose="02040503050406030204" pitchFamily="18" charset="0"/>
                          </a:rPr>
                          <m:t>𝑠</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r>
                      <a:rPr lang="en-IN" sz="2400" i="1">
                        <a:solidFill>
                          <a:srgbClr val="111827"/>
                        </a:solidFill>
                        <a:latin typeface="Cambria Math" panose="02040503050406030204" pitchFamily="18" charset="0"/>
                      </a:rPr>
                      <m:t>𝑠</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oMath>
                </a14:m>
                <a:r>
                  <a:rPr sz="2400" b="0">
                    <a:solidFill>
                      <a:srgbClr val="111827"/>
                    </a:solidFill>
                    <a:latin typeface="Arial"/>
                  </a:rPr>
                  <a:t>, which holds only for an equilateral triangle: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𝐵</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𝐶</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60</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30</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30</m:t>
                            </m:r>
                          </m:e>
                          <m:sup>
                            <m:r>
                              <m:rPr>
                                <m:sty m:val="p"/>
                              </m:rPr>
                              <a:rPr lang="en-IN" sz="2400">
                                <a:solidFill>
                                  <a:srgbClr val="111827"/>
                                </a:solidFill>
                                <a:latin typeface="Cambria Math" panose="02040503050406030204" pitchFamily="18" charset="0"/>
                              </a:rPr>
                              <m:t>∘</m:t>
                            </m:r>
                          </m:sup>
                        </m:sSup>
                      </m:num>
                      <m:den>
                        <m:r>
                          <m:rPr>
                            <m:sty m:val="p"/>
                          </m:rPr>
                          <a:rPr lang="en-IN" sz="2400">
                            <a:solidFill>
                              <a:srgbClr val="111827"/>
                            </a:solidFill>
                            <a:latin typeface="Cambria Math" panose="02040503050406030204" pitchFamily="18" charset="0"/>
                          </a:rPr>
                          <m:t>sin</m:t>
                        </m:r>
                        <m:sSup>
                          <m:e>
                            <m:r>
                              <a:rPr lang="en-IN" sz="2400" i="1">
                                <a:solidFill>
                                  <a:srgbClr val="111827"/>
                                </a:solidFill>
                                <a:latin typeface="Cambria Math" panose="02040503050406030204" pitchFamily="18" charset="0"/>
                              </a:rPr>
                              <m:t>30</m:t>
                            </m:r>
                          </m:e>
                          <m:sup>
                            <m:r>
                              <m:rPr>
                                <m:sty m:val="p"/>
                              </m:rPr>
                              <a:rPr lang="en-IN" sz="2400">
                                <a:solidFill>
                                  <a:srgbClr val="111827"/>
                                </a:solidFill>
                                <a:latin typeface="Cambria Math" panose="02040503050406030204" pitchFamily="18" charset="0"/>
                              </a:rPr>
                              <m:t>∘</m:t>
                            </m:r>
                          </m:sup>
                        </m:sSup>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so (b) matches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base angles are </a:t>
                </a:r>
                <a14:m>
                  <m:oMath xmlns:m="http://schemas.openxmlformats.org/officeDocument/2006/math">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 The incentre lies on the bisector of a base angle, so </a:t>
                </a:r>
                <a14:m>
                  <m:oMath xmlns:m="http://schemas.openxmlformats.org/officeDocument/2006/math">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num>
                      <m:den>
                        <m:r>
                          <a:rPr lang="en-IN" sz="2400" i="1">
                            <a:solidFill>
                              <a:srgbClr val="111827"/>
                            </a:solidFill>
                            <a:latin typeface="Cambria Math" panose="02040503050406030204" pitchFamily="18" charset="0"/>
                          </a:rPr>
                          <m:t>𝑥</m:t>
                        </m:r>
                      </m:den>
                    </m:f>
                  </m:oMath>
                </a14:m>
                <a:r>
                  <a:rPr sz="2400" b="0">
                    <a:solidFill>
                      <a:srgbClr val="111827"/>
                    </a:solidFill>
                    <a:latin typeface="Arial"/>
                  </a:rPr>
                  <a:t>, giving half-base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cot</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Height </a:t>
                </a:r>
                <a14:m>
                  <m:oMath xmlns:m="http://schemas.openxmlformats.org/officeDocument/2006/math">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r>
                      <m:rPr>
                        <m:sty m:val="p"/>
                      </m:rPr>
                      <a:rPr lang="en-IN" sz="2400">
                        <a:solidFill>
                          <a:srgbClr val="111827"/>
                        </a:solidFill>
                        <a:latin typeface="Cambria Math" panose="02040503050406030204" pitchFamily="18" charset="0"/>
                      </a:rPr>
                      <m:t>cot</m:t>
                    </m:r>
                    <m:sSup>
                      <m:e>
                        <m:r>
                          <a:rPr lang="en-IN" sz="2400" i="1">
                            <a:solidFill>
                              <a:srgbClr val="111827"/>
                            </a:solidFill>
                            <a:latin typeface="Cambria Math" panose="02040503050406030204" pitchFamily="18" charset="0"/>
                          </a:rPr>
                          <m:t>7.5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Δ</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ℎ</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sSup>
                      <m:e>
                        <m:r>
                          <m:rPr>
                            <m:sty m:val="p"/>
                          </m:rPr>
                          <a:rPr lang="en-IN" sz="2400">
                            <a:solidFill>
                              <a:srgbClr val="111827"/>
                            </a:solidFill>
                            <a:latin typeface="Cambria Math" panose="02040503050406030204" pitchFamily="18" charset="0"/>
                          </a:rPr>
                          <m:t>cot</m:t>
                        </m:r>
                      </m:e>
                      <m:sup>
                        <m:sSup>
                          <m:e>
                            <m:r>
                              <a:rPr lang="en-IN" sz="2400" i="1">
                                <a:solidFill>
                                  <a:srgbClr val="111827"/>
                                </a:solidFill>
                                <a:latin typeface="Cambria Math" panose="02040503050406030204" pitchFamily="18" charset="0"/>
                              </a:rPr>
                              <m:t>27.5</m:t>
                            </m:r>
                          </m:e>
                          <m:sup>
                            <m:r>
                              <m:rPr>
                                <m:sty m:val="p"/>
                              </m:rPr>
                              <a:rPr lang="en-IN" sz="2400">
                                <a:solidFill>
                                  <a:srgbClr val="111827"/>
                                </a:solidFill>
                                <a:latin typeface="Cambria Math" panose="02040503050406030204" pitchFamily="18" charset="0"/>
                              </a:rPr>
                              <m:t>∘</m:t>
                            </m:r>
                          </m:sup>
                        </m:sSup>
                      </m:sup>
                    </m:sSup>
                    <m:r>
                      <m:rPr>
                        <m:sty m:val="p"/>
                      </m:rPr>
                      <a:rPr lang="en-IN" sz="2400">
                        <a:solidFill>
                          <a:srgbClr val="111827"/>
                        </a:solidFill>
                        <a:latin typeface="Cambria Math" panose="02040503050406030204" pitchFamily="18" charset="0"/>
                      </a:rPr>
                      <m:t>tan</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$abc=(b+c-a)(c+a-b)(a+b-c)=(2s-2a)(2s-2b)(2s-2c)=8(s-a)(s-b)(s-c)$</a:t>
                </a:r>
                <a:r>
                  <a:rPr sz="2400" b="0">
                    <a:solidFill>
                      <a:srgbClr val="111827"/>
                    </a:solidFill>
                    <a:latin typeface="Arial"/>
                  </a:rPr>
                  <a:t> with </a:t>
                </a:r>
                <a:r>
                  <a:rPr lang="en-IN" sz="2400">
                    <a:solidFill>
                      <a:srgbClr val="111827"/>
                    </a:solidFill>
                    <a:latin typeface="Cambria Math" panose="02040503050406030204" pitchFamily="18" charset="0"/>
                  </a:rPr>
                  <a:t>$abc=4\Delta 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$4\Delta R=\frac{8\Delta^2}{s}\Rightarrow Rs=2\Delta=2rs\Rightarrow R=2r$</a:t>
                </a:r>
                <a:r>
                  <a:rPr sz="2400" b="0">
                    <a:solidFill>
                      <a:srgbClr val="111827"/>
                    </a:solidFill>
                    <a:latin typeface="Arial"/>
                  </a:rPr>
                  <a:t>, which holds only for an equilateral triangle: </a:t>
                </a:r>
                <a:r>
                  <a:rPr lang="en-IN" sz="2400">
                    <a:solidFill>
                      <a:srgbClr val="111827"/>
                    </a:solidFill>
                    <a:latin typeface="Cambria Math" panose="02040503050406030204" pitchFamily="18" charset="0"/>
                  </a:rPr>
                  <a:t>$A=B=C=60^\circ$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Then </a:t>
                </a:r>
                <a:r>
                  <a:rPr lang="en-IN" sz="2400">
                    <a:solidFill>
                      <a:srgbClr val="111827"/>
                    </a:solidFill>
                    <a:latin typeface="Cambria Math" panose="02040503050406030204" pitchFamily="18" charset="0"/>
                  </a:rPr>
                  <a:t>$\frac{\sin30^\circ+\sin30^\circ}{\sin30^\circ}=2$</a:t>
                </a:r>
                <a:r>
                  <a:rPr sz="2400" b="0">
                    <a:solidFill>
                      <a:srgbClr val="111827"/>
                    </a:solidFill>
                    <a:latin typeface="Arial"/>
                  </a:rPr>
                  <a:t>, so (b) matches (q).</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base angles are </a:t>
                </a:r>
                <a:r>
                  <a:rPr lang="en-IN" sz="2400">
                    <a:solidFill>
                      <a:srgbClr val="111827"/>
                    </a:solidFill>
                    <a:latin typeface="Cambria Math" panose="02040503050406030204" pitchFamily="18" charset="0"/>
                  </a:rPr>
                  <a:t>$15^\circ$</a:t>
                </a:r>
                <a:r>
                  <a:rPr sz="2400" b="0">
                    <a:solidFill>
                      <a:srgbClr val="111827"/>
                    </a:solidFill>
                    <a:latin typeface="Arial"/>
                  </a:rPr>
                  <a:t>. The incentre lies on the bisector of a base angle, so </a:t>
                </a:r>
                <a:r>
                  <a:rPr lang="en-IN" sz="2400">
                    <a:solidFill>
                      <a:srgbClr val="111827"/>
                    </a:solidFill>
                    <a:latin typeface="Cambria Math" panose="02040503050406030204" pitchFamily="18" charset="0"/>
                  </a:rPr>
                  <a:t>$\tan7.5^\circ=\frac{\sqrt3}{x}$</a:t>
                </a:r>
                <a:r>
                  <a:rPr sz="2400" b="0">
                    <a:solidFill>
                      <a:srgbClr val="111827"/>
                    </a:solidFill>
                    <a:latin typeface="Arial"/>
                  </a:rPr>
                  <a:t>, giving half-base </a:t>
                </a:r>
                <a:r>
                  <a:rPr lang="en-IN" sz="2400">
                    <a:solidFill>
                      <a:srgbClr val="111827"/>
                    </a:solidFill>
                    <a:latin typeface="Cambria Math" panose="02040503050406030204" pitchFamily="18" charset="0"/>
                  </a:rPr>
                  <a:t>$x=\sqrt3\cot7.5^\circ$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Height </a:t>
                </a:r>
                <a:r>
                  <a:rPr lang="en-IN" sz="2400">
                    <a:solidFill>
                      <a:srgbClr val="111827"/>
                    </a:solidFill>
                    <a:latin typeface="Cambria Math" panose="02040503050406030204" pitchFamily="18" charset="0"/>
                  </a:rPr>
                  <a:t>$h=x\tan15^\circ=\sqrt3\cot7.5^\circ\tan15^\circ$</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$\Delta=\frac12\cdot2x\cdot h=x^2\tan15^\circ=3\cot^27.5^\circ\tan15^\circ$</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Δ</m:t>
                    </m:r>
                    <m:sSup>
                      <m:e>
                        <m:r>
                          <m:rPr>
                            <m:sty m:val="p"/>
                          </m:rPr>
                          <a:rPr lang="en-IN" sz="2400">
                            <a:solidFill>
                              <a:srgbClr val="111827"/>
                            </a:solidFill>
                            <a:latin typeface="Cambria Math" panose="02040503050406030204" pitchFamily="18" charset="0"/>
                          </a:rPr>
                          <m:t>tan</m:t>
                        </m:r>
                      </m:e>
                      <m:sup>
                        <m:sSup>
                          <m:e>
                            <m:r>
                              <a:rPr lang="en-IN" sz="2400" i="1">
                                <a:solidFill>
                                  <a:srgbClr val="111827"/>
                                </a:solidFill>
                                <a:latin typeface="Cambria Math" panose="02040503050406030204" pitchFamily="18" charset="0"/>
                              </a:rPr>
                              <m:t>27.5</m:t>
                            </m:r>
                          </m:e>
                          <m:sup>
                            <m:r>
                              <m:rPr>
                                <m:sty m:val="p"/>
                              </m:rPr>
                              <a:rPr lang="en-IN" sz="2400">
                                <a:solidFill>
                                  <a:srgbClr val="111827"/>
                                </a:solidFill>
                                <a:latin typeface="Cambria Math" panose="02040503050406030204" pitchFamily="18" charset="0"/>
                              </a:rPr>
                              <m:t>∘</m:t>
                            </m:r>
                          </m:sup>
                        </m:sSup>
                      </m:sup>
                    </m:sSup>
                    <m:r>
                      <m:rPr>
                        <m:sty m:val="p"/>
                      </m:rPr>
                      <a:rPr lang="en-IN" sz="2400">
                        <a:solidFill>
                          <a:srgbClr val="111827"/>
                        </a:solidFill>
                        <a:latin typeface="Cambria Math" panose="02040503050406030204" pitchFamily="18" charset="0"/>
                      </a:rPr>
                      <m:t>cot</m:t>
                    </m:r>
                    <m:sSup>
                      <m:e>
                        <m:r>
                          <a:rPr lang="en-IN" sz="2400" i="1">
                            <a:solidFill>
                              <a:srgbClr val="111827"/>
                            </a:solidFill>
                            <a:latin typeface="Cambria Math" panose="02040503050406030204" pitchFamily="18" charset="0"/>
                          </a:rPr>
                          <m:t>15</m:t>
                        </m:r>
                      </m:e>
                      <m:sup>
                        <m:r>
                          <m:rPr>
                            <m:sty m:val="p"/>
                          </m:rPr>
                          <a:rPr lang="en-IN" sz="2400">
                            <a:solidFill>
                              <a:srgbClr val="111827"/>
                            </a:solidFill>
                            <a:latin typeface="Cambria Math" panose="02040503050406030204" pitchFamily="18" charset="0"/>
                          </a:rPr>
                          <m:t>∘</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 odd natural number: (c) matches (t) only.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Let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𝑑</m:t>
                        </m:r>
                      </m:den>
                    </m:f>
                  </m:oMath>
                </a14:m>
                <a:r>
                  <a:rPr sz="2400" b="0">
                    <a:solidFill>
                      <a:srgbClr val="111827"/>
                    </a:solidFill>
                    <a:latin typeface="Arial"/>
                  </a:rPr>
                  <a:t> be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oMath>
                </a14:m>
                <a:r>
                  <a:rPr sz="2400" b="0">
                    <a:solidFill>
                      <a:srgbClr val="111827"/>
                    </a:solidFill>
                    <a:latin typeface="Arial"/>
                  </a:rPr>
                  <a:t> in G.P. means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𝑎</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𝑐</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𝑑</m:t>
                        </m:r>
                      </m:den>
                    </m:f>
                  </m:oMath>
                </a14:m>
                <a:r>
                  <a:rPr sz="2400" b="0">
                    <a:solidFill>
                      <a:srgbClr val="111827"/>
                    </a:solidFill>
                    <a:latin typeface="Arial"/>
                  </a:rPr>
                  <a:t> in G.P.: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𝐴</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sSup>
                      <m:e>
                        <m:r>
                          <a:rPr lang="en-IN" sz="2400" i="1">
                            <a:solidFill>
                              <a:srgbClr val="111827"/>
                            </a:solidFill>
                            <a:latin typeface="Cambria Math" panose="02040503050406030204" pitchFamily="18" charset="0"/>
                          </a:rPr>
                          <m:t>𝐷</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𝐷</m:t>
                    </m:r>
                  </m:oMath>
                </a14:m>
                <a:r>
                  <a:rPr sz="2400" b="0">
                    <a:solidFill>
                      <a:srgbClr val="111827"/>
                    </a:solidFill>
                    <a:latin typeface="Arial"/>
                  </a:rPr>
                  <a:t>.</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$\Delta\tan^27.5^\circ\cot15^\circ=3$</a:t>
                </a:r>
                <a:r>
                  <a:rPr sz="2400" b="0">
                    <a:solidFill>
                      <a:srgbClr val="111827"/>
                    </a:solidFill>
                    <a:latin typeface="Arial"/>
                  </a:rPr>
                  <a:t>, an odd natural number: (c) matches (t) only.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Let </a:t>
                </a:r>
                <a:r>
                  <a:rPr lang="en-IN" sz="2400">
                    <a:solidFill>
                      <a:srgbClr val="111827"/>
                    </a:solidFill>
                    <a:latin typeface="Cambria Math" panose="02040503050406030204" pitchFamily="18" charset="0"/>
                  </a:rPr>
                  <a:t>$\frac1a,\frac1b,\frac1c,\frac1d$</a:t>
                </a:r>
                <a:r>
                  <a:rPr sz="2400" b="0">
                    <a:solidFill>
                      <a:srgbClr val="111827"/>
                    </a:solidFill>
                    <a:latin typeface="Arial"/>
                  </a:rPr>
                  <a:t> be </a:t>
                </a:r>
                <a:r>
                  <a:rPr lang="en-IN" sz="2400">
                    <a:solidFill>
                      <a:srgbClr val="111827"/>
                    </a:solidFill>
                    <a:latin typeface="Cambria Math" panose="02040503050406030204" pitchFamily="18" charset="0"/>
                  </a:rPr>
                  <a:t>$A-3D,A-D,A+D,A+3D$</a:t>
                </a:r>
                <a:r>
                  <a:rPr sz="2400" b="0">
                    <a:solidFill>
                      <a:srgbClr val="111827"/>
                    </a:solidFill>
                    <a:latin typeface="Arial"/>
                  </a:rPr>
                  <a:t>. Then </a:t>
                </a:r>
                <a:r>
                  <a:rPr lang="en-IN" sz="2400">
                    <a:solidFill>
                      <a:srgbClr val="111827"/>
                    </a:solidFill>
                    <a:latin typeface="Cambria Math" panose="02040503050406030204" pitchFamily="18" charset="0"/>
                  </a:rPr>
                  <a:t>$\frac{cd}{ab}=\frac{(A-3D)(A-D)}{(A+D)(A+3D)}$</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$a,c,d$</a:t>
                </a:r>
                <a:r>
                  <a:rPr sz="2400" b="0">
                    <a:solidFill>
                      <a:srgbClr val="111827"/>
                    </a:solidFill>
                    <a:latin typeface="Arial"/>
                  </a:rPr>
                  <a:t> in G.P. means </a:t>
                </a:r>
                <a:r>
                  <a:rPr lang="en-IN" sz="2400">
                    <a:solidFill>
                      <a:srgbClr val="111827"/>
                    </a:solidFill>
                    <a:latin typeface="Cambria Math" panose="02040503050406030204" pitchFamily="18" charset="0"/>
                  </a:rPr>
                  <a:t>$\frac1a,\frac1c,\frac1d$</a:t>
                </a:r>
                <a:r>
                  <a:rPr sz="2400" b="0">
                    <a:solidFill>
                      <a:srgbClr val="111827"/>
                    </a:solidFill>
                    <a:latin typeface="Arial"/>
                  </a:rPr>
                  <a:t> in G.P.: </a:t>
                </a:r>
                <a:r>
                  <a:rPr lang="en-IN" sz="2400">
                    <a:solidFill>
                      <a:srgbClr val="111827"/>
                    </a:solidFill>
                    <a:latin typeface="Cambria Math" panose="02040503050406030204" pitchFamily="18" charset="0"/>
                  </a:rPr>
                  <a:t>$(A+D)^2=(A-3D)(A+3D)\Rightarrow2AD+10D^2=0\Rightarrow D=0$</a:t>
                </a:r>
                <a:r>
                  <a:rPr sz="2400" b="0">
                    <a:solidFill>
                      <a:srgbClr val="111827"/>
                    </a:solidFill>
                    <a:latin typeface="Arial"/>
                  </a:rPr>
                  <a:t> or </a:t>
                </a:r>
                <a:r>
                  <a:rPr lang="en-IN" sz="2400">
                    <a:solidFill>
                      <a:srgbClr val="111827"/>
                    </a:solidFill>
                    <a:latin typeface="Cambria Math" panose="02040503050406030204" pitchFamily="18" charset="0"/>
                  </a:rPr>
                  <a:t>$A=-5D$</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a:rPr lang="en-IN" sz="2400" i="1">
                        <a:solidFill>
                          <a:srgbClr val="111827"/>
                        </a:solidFill>
                        <a:latin typeface="Cambria Math" panose="02040503050406030204" pitchFamily="18" charset="0"/>
                      </a:rPr>
                      <m:t>𝐷</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(d) matches (p), (r) and (t) (since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is odd).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a-s,t; b-q; c-t; d-p,r,t: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$D=0$</a:t>
                </a:r>
                <a:r>
                  <a:rPr sz="2400" b="0">
                    <a:solidFill>
                      <a:srgbClr val="111827"/>
                    </a:solidFill>
                    <a:latin typeface="Arial"/>
                  </a:rPr>
                  <a:t> gives </a:t>
                </a:r>
                <a:r>
                  <a:rPr lang="en-IN" sz="2400">
                    <a:solidFill>
                      <a:srgbClr val="111827"/>
                    </a:solidFill>
                    <a:latin typeface="Cambria Math" panose="02040503050406030204" pitchFamily="18" charset="0"/>
                  </a:rPr>
                  <a:t>$\frac{cd}{ab}=1$</a:t>
                </a:r>
                <a:r>
                  <a:rPr sz="2400" b="0">
                    <a:solidFill>
                      <a:srgbClr val="111827"/>
                    </a:solidFill>
                    <a:latin typeface="Arial"/>
                  </a:rPr>
                  <a:t>; </a:t>
                </a:r>
                <a:r>
                  <a:rPr lang="en-IN" sz="2400">
                    <a:solidFill>
                      <a:srgbClr val="111827"/>
                    </a:solidFill>
                    <a:latin typeface="Cambria Math" panose="02040503050406030204" pitchFamily="18" charset="0"/>
                  </a:rPr>
                  <a:t>$A=-5D$</a:t>
                </a:r>
                <a:r>
                  <a:rPr sz="2400" b="0">
                    <a:solidFill>
                      <a:srgbClr val="111827"/>
                    </a:solidFill>
                    <a:latin typeface="Arial"/>
                  </a:rPr>
                  <a:t> gives </a:t>
                </a:r>
                <a:r>
                  <a:rPr lang="en-IN" sz="2400">
                    <a:solidFill>
                      <a:srgbClr val="111827"/>
                    </a:solidFill>
                    <a:latin typeface="Cambria Math" panose="02040503050406030204" pitchFamily="18" charset="0"/>
                  </a:rPr>
                  <a:t>$\frac{(-8)(-6)}{(-4)(-2)}=6$</a:t>
                </a:r>
                <a:r>
                  <a:rPr sz="2400" b="0">
                    <a:solidFill>
                      <a:srgbClr val="111827"/>
                    </a:solidFill>
                    <a:latin typeface="Arial"/>
                  </a:rPr>
                  <a:t>. So (d) matches (p), (r) and (t) (since </a:t>
                </a:r>
                <a:r>
                  <a:rPr lang="en-IN" sz="2400">
                    <a:solidFill>
                      <a:srgbClr val="111827"/>
                    </a:solidFill>
                    <a:latin typeface="Cambria Math" panose="02040503050406030204" pitchFamily="18" charset="0"/>
                  </a:rPr>
                  <a:t>$1$</a:t>
                </a:r>
                <a:r>
                  <a:rPr sz="2400" b="0">
                    <a:solidFill>
                      <a:srgbClr val="111827"/>
                    </a:solidFill>
                    <a:latin typeface="Arial"/>
                  </a:rPr>
                  <a:t> is odd).</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a-s,t; b-q; c-t; d-p,r,t: option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 - s,t; b - q; c - t; d - p,r,t</a:t>
            </a:r>
            <a:endParaRPr sz="2800">
              <a:solidFill>
                <a:srgbClr val="15803D"/>
              </a:solidFill>
            </a:endParaRPr>
          </a:p>
        </p:txBody>
      </p:sp>
    </p:spTree>
  </p:cSld>
  <p:clrMapOvr>
    <a:masterClrMapping/>
  </p:clrMapOvr>
</p:sld>
</file>

<file path=ppt/slides/slide6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Option elimination: part (a) alone is enough, since only one option has a - s,t (and (b) = 2 confirms it).</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oMath>
                </a14:m>
                <a:r>
                  <a:rPr sz="2400" b="0">
                    <a:solidFill>
                      <a:srgbClr val="111827"/>
                    </a:solidFill>
                    <a:latin typeface="Arial"/>
                  </a:rPr>
                  <a:t> give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6</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7</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m:t>
                    </m:r>
                  </m:oMath>
                </a14:m>
                <a:r>
                  <a:rPr sz="2400" b="0">
                    <a:solidFill>
                      <a:srgbClr val="111827"/>
                    </a:solidFill>
                    <a:latin typeface="Arial"/>
                  </a:rPr>
                  <a:t>. So the difference is </a:t>
                </a:r>
                <a14:m>
                  <m:oMath xmlns:m="http://schemas.openxmlformats.org/officeDocument/2006/math">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is in (s) and, being odd, in (t): so (a) matches s, 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the options only (C) has a - s,t; (A), (B) give a - q and (D) gives a - p. So the answer is (C).</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a:t>
                </a:r>
                <a:r>
                  <a:rPr lang="en-IN" sz="2400">
                    <a:solidFill>
                      <a:srgbClr val="111827"/>
                    </a:solidFill>
                    <a:latin typeface="Cambria Math" panose="02040503050406030204" pitchFamily="18" charset="0"/>
                  </a:rPr>
                  <a:t>$\frac{n-r+1}{r}=\frac52$</a:t>
                </a:r>
                <a:r>
                  <a:rPr sz="2400" b="0">
                    <a:solidFill>
                      <a:srgbClr val="111827"/>
                    </a:solidFill>
                    <a:latin typeface="Arial"/>
                  </a:rPr>
                  <a:t> and </a:t>
                </a:r>
                <a:r>
                  <a:rPr lang="en-IN" sz="2400">
                    <a:solidFill>
                      <a:srgbClr val="111827"/>
                    </a:solidFill>
                    <a:latin typeface="Cambria Math" panose="02040503050406030204" pitchFamily="18" charset="0"/>
                  </a:rPr>
                  <a:t>${}^{n+1}C_r=21$</a:t>
                </a:r>
                <a:r>
                  <a:rPr sz="2400" b="0">
                    <a:solidFill>
                      <a:srgbClr val="111827"/>
                    </a:solidFill>
                    <a:latin typeface="Arial"/>
                  </a:rPr>
                  <a:t> give </a:t>
                </a:r>
                <a:r>
                  <a:rPr lang="en-IN" sz="2400">
                    <a:solidFill>
                      <a:srgbClr val="111827"/>
                    </a:solidFill>
                    <a:latin typeface="Cambria Math" panose="02040503050406030204" pitchFamily="18" charset="0"/>
                  </a:rPr>
                  <a:t>$n=6$</a:t>
                </a:r>
                <a:r>
                  <a:rPr sz="2400" b="0">
                    <a:solidFill>
                      <a:srgbClr val="111827"/>
                    </a:solidFill>
                    <a:latin typeface="Arial"/>
                  </a:rPr>
                  <a:t>, </a:t>
                </a:r>
                <a:r>
                  <a:rPr lang="en-IN" sz="2400">
                    <a:solidFill>
                      <a:srgbClr val="111827"/>
                    </a:solidFill>
                    <a:latin typeface="Cambria Math" panose="02040503050406030204" pitchFamily="18" charset="0"/>
                  </a:rPr>
                  <a:t>$r=2$</a:t>
                </a:r>
                <a:r>
                  <a:rPr sz="2400" b="0">
                    <a:solidFill>
                      <a:srgbClr val="111827"/>
                    </a:solidFill>
                    <a:latin typeface="Arial"/>
                  </a:rPr>
                  <a:t>: </a:t>
                </a:r>
                <a:r>
                  <a:rPr lang="en-IN" sz="2400">
                    <a:solidFill>
                      <a:srgbClr val="111827"/>
                    </a:solidFill>
                    <a:latin typeface="Cambria Math" panose="02040503050406030204" pitchFamily="18" charset="0"/>
                  </a:rPr>
                  <a:t>${}^6C_2=15$</a:t>
                </a:r>
                <a:r>
                  <a:rPr sz="2400" b="0">
                    <a:solidFill>
                      <a:srgbClr val="111827"/>
                    </a:solidFill>
                    <a:latin typeface="Arial"/>
                  </a:rPr>
                  <a:t>, </a:t>
                </a:r>
                <a:r>
                  <a:rPr lang="en-IN" sz="2400">
                    <a:solidFill>
                      <a:srgbClr val="111827"/>
                    </a:solidFill>
                    <a:latin typeface="Cambria Math" panose="02040503050406030204" pitchFamily="18" charset="0"/>
                  </a:rPr>
                  <a:t>${}^6C_1=6$</a:t>
                </a:r>
                <a:r>
                  <a:rPr sz="2400" b="0">
                    <a:solidFill>
                      <a:srgbClr val="111827"/>
                    </a:solidFill>
                    <a:latin typeface="Arial"/>
                  </a:rPr>
                  <a:t>, </a:t>
                </a:r>
                <a:r>
                  <a:rPr lang="en-IN" sz="2400">
                    <a:solidFill>
                      <a:srgbClr val="111827"/>
                    </a:solidFill>
                    <a:latin typeface="Cambria Math" panose="02040503050406030204" pitchFamily="18" charset="0"/>
                  </a:rPr>
                  <a:t>${}^7C_2=21$</a:t>
                </a:r>
                <a:r>
                  <a:rPr sz="2400" b="0">
                    <a:solidFill>
                      <a:srgbClr val="111827"/>
                    </a:solidFill>
                    <a:latin typeface="Arial"/>
                  </a:rPr>
                  <a:t>. So the difference is </a:t>
                </a:r>
                <a:r>
                  <a:rPr lang="en-IN" sz="2400">
                    <a:solidFill>
                      <a:srgbClr val="111827"/>
                    </a:solidFill>
                    <a:latin typeface="Cambria Math" panose="02040503050406030204" pitchFamily="18" charset="0"/>
                  </a:rPr>
                  <a:t>$15-6=9$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$9$</a:t>
                </a:r>
                <a:r>
                  <a:rPr sz="2400" b="0">
                    <a:solidFill>
                      <a:srgbClr val="111827"/>
                    </a:solidFill>
                    <a:latin typeface="Arial"/>
                  </a:rPr>
                  <a:t> is in (s) and, being odd, in (t): so (a) matches s, 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Among the options only (C) has a - s,t; (A), (B) give a - q and (D) gives a - p. So the answer is (C).</a:t>
                </a:r>
                <a:endParaRPr sz="2400">
                  <a:solidFill>
                    <a:srgbClr val="111827"/>
                  </a:solidFill>
                </a:endParaRPr>
              </a:p>
            </p:txBody>
          </p:sp>
        </mc:Fallback>
      </mc:AlternateContent>
    </p:spTree>
  </p:cSld>
  <p:clrMapOvr>
    <a:masterClrMapping/>
  </p:clrMapOvr>
</p:sld>
</file>

<file path=ppt/slides/slide6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with (b):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forces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oMath>
                </a14:m>
                <a:r>
                  <a:rPr sz="2400" b="0">
                    <a:solidFill>
                      <a:srgbClr val="111827"/>
                    </a:solidFill>
                    <a:latin typeface="Arial"/>
                  </a:rPr>
                  <a:t>, an equilateral triangle, so the ratio is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(b) matches q, as in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also avoids the badly posed part (c).</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Check with (b): </a:t>
                </a:r>
                <a:r>
                  <a:rPr lang="en-IN" sz="2400">
                    <a:solidFill>
                      <a:srgbClr val="111827"/>
                    </a:solidFill>
                    <a:latin typeface="Cambria Math" panose="02040503050406030204" pitchFamily="18" charset="0"/>
                  </a:rPr>
                  <a:t>$abc=\prod(b+c-a)$</a:t>
                </a:r>
                <a:r>
                  <a:rPr sz="2400" b="0">
                    <a:solidFill>
                      <a:srgbClr val="111827"/>
                    </a:solidFill>
                    <a:latin typeface="Arial"/>
                  </a:rPr>
                  <a:t> forces </a:t>
                </a:r>
                <a:r>
                  <a:rPr lang="en-IN" sz="2400">
                    <a:solidFill>
                      <a:srgbClr val="111827"/>
                    </a:solidFill>
                    <a:latin typeface="Cambria Math" panose="02040503050406030204" pitchFamily="18" charset="0"/>
                  </a:rPr>
                  <a:t>$R=2r$</a:t>
                </a:r>
                <a:r>
                  <a:rPr sz="2400" b="0">
                    <a:solidFill>
                      <a:srgbClr val="111827"/>
                    </a:solidFill>
                    <a:latin typeface="Arial"/>
                  </a:rPr>
                  <a:t>, an equilateral triangle, so the ratio is </a:t>
                </a:r>
                <a:r>
                  <a:rPr lang="en-IN" sz="2400">
                    <a:solidFill>
                      <a:srgbClr val="111827"/>
                    </a:solidFill>
                    <a:latin typeface="Cambria Math" panose="02040503050406030204" pitchFamily="18" charset="0"/>
                  </a:rPr>
                  <a:t>$2$</a:t>
                </a:r>
                <a:r>
                  <a:rPr sz="2400" b="0">
                    <a:solidFill>
                      <a:srgbClr val="111827"/>
                    </a:solidFill>
                    <a:latin typeface="Arial"/>
                  </a:rPr>
                  <a:t>: (b) matches q, as in (C).</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This also avoids the badly posed part (c).</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 - s,t; b - q; c - t; d - p,r,t</a:t>
            </a:r>
            <a:endParaRPr sz="2800">
              <a:solidFill>
                <a:srgbClr val="15803D"/>
              </a:solidFill>
            </a:endParaRPr>
          </a:p>
        </p:txBody>
      </p:sp>
    </p:spTree>
  </p:cSld>
  <p:clrMapOvr>
    <a:masterClrMapping/>
  </p:clrMapOvr>
</p:sld>
</file>

<file path=ppt/slides/slide6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106</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any triangle </a:t>
                </a:r>
                <a14:m>
                  <m:oMath xmlns:m="http://schemas.openxmlformats.org/officeDocument/2006/math">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Δ</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sSup>
                      <m:e>
                        <m:r>
                          <m:rPr>
                            <m:sty m:val="p"/>
                          </m:rPr>
                          <a:rPr lang="en-IN" sz="2400">
                            <a:solidFill>
                              <a:srgbClr val="111827"/>
                            </a:solidFill>
                            <a:latin typeface="Cambria Math" panose="02040503050406030204" pitchFamily="18" charset="0"/>
                          </a:rPr>
                          <m:t>Δ</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oMath>
                </a14:m>
                <a:r>
                  <a:rPr sz="2400" b="0">
                    <a:solidFill>
                      <a:srgbClr val="111827"/>
                    </a:solidFill>
                    <a:latin typeface="Arial"/>
                  </a:rPr>
                  <a:t>; equality gives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oMath>
                </a14:m>
                <a:r>
                  <a:rPr sz="2400" b="0">
                    <a:solidFill>
                      <a:srgbClr val="111827"/>
                    </a:solidFill>
                    <a:latin typeface="Arial"/>
                  </a:rPr>
                  <a:t>, the equilateral case (Euler: </a:t>
                </a:r>
                <a14:m>
                  <m:oMath xmlns:m="http://schemas.openxmlformats.org/officeDocument/2006/math">
                    <m:r>
                      <a:rPr lang="en-IN" sz="2400" i="1">
                        <a:solidFill>
                          <a:srgbClr val="111827"/>
                        </a:solidFill>
                        <a:latin typeface="Cambria Math" panose="02040503050406030204" pitchFamily="18" charset="0"/>
                      </a:rPr>
                      <m:t>𝑅</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𝑟</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Isosceles triangle with base angles </a:t>
                </a:r>
                <a14:m>
                  <m:oMath xmlns:m="http://schemas.openxmlformats.org/officeDocument/2006/math">
                    <m:r>
                      <a:rPr lang="en-IN" sz="2400" i="1">
                        <a:solidFill>
                          <a:srgbClr val="111827"/>
                        </a:solidFill>
                        <a:latin typeface="Cambria Math" panose="02040503050406030204" pitchFamily="18" charset="0"/>
                      </a:rPr>
                      <m:t>θ</m:t>
                    </m:r>
                  </m:oMath>
                </a14:m>
                <a:r>
                  <a:rPr sz="2400" b="0">
                    <a:solidFill>
                      <a:srgbClr val="111827"/>
                    </a:solidFill>
                    <a:latin typeface="Arial"/>
                  </a:rPr>
                  <a:t> and inradius </a:t>
                </a:r>
                <a14:m>
                  <m:oMath xmlns:m="http://schemas.openxmlformats.org/officeDocument/2006/math">
                    <m:r>
                      <a:rPr lang="en-IN" sz="2400" i="1">
                        <a:solidFill>
                          <a:srgbClr val="111827"/>
                        </a:solidFill>
                        <a:latin typeface="Cambria Math" panose="02040503050406030204" pitchFamily="18" charset="0"/>
                      </a:rPr>
                      <m:t>𝑟</m:t>
                    </m:r>
                  </m:oMath>
                </a14:m>
                <a:r>
                  <a:rPr sz="2400" b="0">
                    <a:solidFill>
                      <a:srgbClr val="111827"/>
                    </a:solidFill>
                    <a:latin typeface="Arial"/>
                  </a:rPr>
                  <a:t>: half-base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cot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and area </a:t>
                </a:r>
                <a14:m>
                  <m:oMath xmlns:m="http://schemas.openxmlformats.org/officeDocument/2006/math">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sSup>
                      <m:e>
                        <m:r>
                          <m:rPr>
                            <m:sty m:val="p"/>
                          </m:rPr>
                          <a:rPr lang="en-IN" sz="2400">
                            <a:solidFill>
                              <a:srgbClr val="111827"/>
                            </a:solidFill>
                            <a:latin typeface="Cambria Math" panose="02040503050406030204" pitchFamily="18" charset="0"/>
                          </a:rPr>
                          <m:t>cot</m:t>
                        </m:r>
                      </m:e>
                      <m:sup>
                        <m:r>
                          <a:rPr lang="en-IN" sz="2400" i="1">
                            <a:solidFill>
                              <a:srgbClr val="111827"/>
                            </a:solidFill>
                            <a:latin typeface="Cambria Math" panose="02040503050406030204" pitchFamily="18" charset="0"/>
                          </a:rPr>
                          <m:t>2</m:t>
                        </m:r>
                      </m:sup>
                    </m:sSup>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θ</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tan</m:t>
                    </m:r>
                    <m:r>
                      <a:rPr lang="en-IN" sz="2400" i="1">
                        <a:solidFill>
                          <a:srgbClr val="111827"/>
                        </a:solidFill>
                        <a:latin typeface="Cambria Math" panose="02040503050406030204" pitchFamily="18" charset="0"/>
                      </a:rPr>
                      <m:t>θ</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oMath>
                </a14:m>
                <a:r>
                  <a:rPr sz="2400" b="0">
                    <a:solidFill>
                      <a:srgbClr val="111827"/>
                    </a:solidFill>
                    <a:latin typeface="Arial"/>
                  </a:rPr>
                  <a:t> are in H.P. and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𝑐</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𝑑</m:t>
                    </m:r>
                  </m:oMath>
                </a14:m>
                <a:r>
                  <a:rPr sz="2400" b="0">
                    <a:solidFill>
                      <a:srgbClr val="111827"/>
                    </a:solidFill>
                    <a:latin typeface="Arial"/>
                  </a:rPr>
                  <a:t> are in G.P., work with reciprocals (</a:t>
                </a:r>
                <a14:m>
                  <m:oMath xmlns:m="http://schemas.openxmlformats.org/officeDocument/2006/math">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𝐷</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𝐴</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𝐷</m:t>
                    </m:r>
                  </m:oMath>
                </a14:m>
                <a:r>
                  <a:rPr sz="2400" b="0">
                    <a:solidFill>
                      <a:srgbClr val="111827"/>
                    </a:solidFill>
                    <a:latin typeface="Arial"/>
                  </a:rPr>
                  <a:t>): then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𝑐</m:t>
                        </m:r>
                        <m:r>
                          <a:rPr lang="en-IN" sz="2400" i="1">
                            <a:solidFill>
                              <a:srgbClr val="111827"/>
                            </a:solidFill>
                            <a:latin typeface="Cambria Math" panose="02040503050406030204" pitchFamily="18" charset="0"/>
                          </a:rPr>
                          <m:t>𝑑</m:t>
                        </m:r>
                      </m:num>
                      <m:den>
                        <m:r>
                          <a:rPr lang="en-IN" sz="2400" i="1">
                            <a:solidFill>
                              <a:srgbClr val="111827"/>
                            </a:solidFill>
                            <a:latin typeface="Cambria Math" panose="02040503050406030204" pitchFamily="18" charset="0"/>
                          </a:rPr>
                          <m:t>𝑎</m:t>
                        </m:r>
                        <m:r>
                          <a:rPr lang="en-IN" sz="2400" i="1">
                            <a:solidFill>
                              <a:srgbClr val="111827"/>
                            </a:solidFill>
                            <a:latin typeface="Cambria Math" panose="02040503050406030204" pitchFamily="18" charset="0"/>
                          </a:rPr>
                          <m:t>𝑏</m:t>
                        </m:r>
                      </m:den>
                    </m:f>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1</m:t>
                    </m:r>
                  </m:oMath>
                </a14:m>
                <a:r>
                  <a:rPr sz="2400" b="0">
                    <a:solidFill>
                      <a:srgbClr val="111827"/>
                    </a:solidFill>
                    <a:latin typeface="Arial"/>
                  </a:rPr>
                  <a:t> occurs only when all four are equal.</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𝑟</m:t>
                        </m:r>
                      </m:den>
                    </m:f>
                  </m:oMath>
                </a14:m>
                <a:r>
                  <a:rPr sz="2400" b="0">
                    <a:solidFill>
                      <a:srgbClr val="111827"/>
                    </a:solidFill>
                    <a:latin typeface="Arial"/>
                  </a:rPr>
                  <a:t>, and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(Pascal).</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In any triangle </a:t>
                </a:r>
                <a:r>
                  <a:rPr lang="en-IN" sz="2400">
                    <a:solidFill>
                      <a:srgbClr val="111827"/>
                    </a:solidFill>
                    <a:latin typeface="Cambria Math" panose="02040503050406030204" pitchFamily="18" charset="0"/>
                  </a:rPr>
                  <a:t>$abc=4R\Delta$</a:t>
                </a:r>
                <a:r>
                  <a:rPr sz="2400" b="0">
                    <a:solidFill>
                      <a:srgbClr val="111827"/>
                    </a:solidFill>
                    <a:latin typeface="Arial"/>
                  </a:rPr>
                  <a:t> and </a:t>
                </a:r>
                <a:r>
                  <a:rPr lang="en-IN" sz="2400">
                    <a:solidFill>
                      <a:srgbClr val="111827"/>
                    </a:solidFill>
                    <a:latin typeface="Cambria Math" panose="02040503050406030204" pitchFamily="18" charset="0"/>
                  </a:rPr>
                  <a:t>$(b+c-a)(c+a-b)(a+b-c)=8\Delta^2/s$</a:t>
                </a:r>
                <a:r>
                  <a:rPr sz="2400" b="0">
                    <a:solidFill>
                      <a:srgbClr val="111827"/>
                    </a:solidFill>
                    <a:latin typeface="Arial"/>
                  </a:rPr>
                  <a:t>; equality gives </a:t>
                </a:r>
                <a:r>
                  <a:rPr lang="en-IN" sz="2400">
                    <a:solidFill>
                      <a:srgbClr val="111827"/>
                    </a:solidFill>
                    <a:latin typeface="Cambria Math" panose="02040503050406030204" pitchFamily="18" charset="0"/>
                  </a:rPr>
                  <a:t>$R=2r$</a:t>
                </a:r>
                <a:r>
                  <a:rPr sz="2400" b="0">
                    <a:solidFill>
                      <a:srgbClr val="111827"/>
                    </a:solidFill>
                    <a:latin typeface="Arial"/>
                  </a:rPr>
                  <a:t>, the equilateral case (Euler: </a:t>
                </a:r>
                <a:r>
                  <a:rPr lang="en-IN" sz="2400">
                    <a:solidFill>
                      <a:srgbClr val="111827"/>
                    </a:solidFill>
                    <a:latin typeface="Cambria Math" panose="02040503050406030204" pitchFamily="18" charset="0"/>
                  </a:rPr>
                  <a:t>$R\ge2r$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Isosceles triangle with base angles </a:t>
                </a:r>
                <a:r>
                  <a:rPr lang="en-IN" sz="2400">
                    <a:solidFill>
                      <a:srgbClr val="111827"/>
                    </a:solidFill>
                    <a:latin typeface="Cambria Math" panose="02040503050406030204" pitchFamily="18" charset="0"/>
                  </a:rPr>
                  <a:t>$\theta$</a:t>
                </a:r>
                <a:r>
                  <a:rPr sz="2400" b="0">
                    <a:solidFill>
                      <a:srgbClr val="111827"/>
                    </a:solidFill>
                    <a:latin typeface="Arial"/>
                  </a:rPr>
                  <a:t> and inradius </a:t>
                </a:r>
                <a:r>
                  <a:rPr lang="en-IN" sz="2400">
                    <a:solidFill>
                      <a:srgbClr val="111827"/>
                    </a:solidFill>
                    <a:latin typeface="Cambria Math" panose="02040503050406030204" pitchFamily="18" charset="0"/>
                  </a:rPr>
                  <a:t>$r$</a:t>
                </a:r>
                <a:r>
                  <a:rPr sz="2400" b="0">
                    <a:solidFill>
                      <a:srgbClr val="111827"/>
                    </a:solidFill>
                    <a:latin typeface="Arial"/>
                  </a:rPr>
                  <a:t>: half-base </a:t>
                </a:r>
                <a:r>
                  <a:rPr lang="en-IN" sz="2400">
                    <a:solidFill>
                      <a:srgbClr val="111827"/>
                    </a:solidFill>
                    <a:latin typeface="Cambria Math" panose="02040503050406030204" pitchFamily="18" charset="0"/>
                  </a:rPr>
                  <a:t>$=r\cot\frac\theta2$</a:t>
                </a:r>
                <a:r>
                  <a:rPr sz="2400" b="0">
                    <a:solidFill>
                      <a:srgbClr val="111827"/>
                    </a:solidFill>
                    <a:latin typeface="Arial"/>
                  </a:rPr>
                  <a:t> and area </a:t>
                </a:r>
                <a:r>
                  <a:rPr lang="en-IN" sz="2400">
                    <a:solidFill>
                      <a:srgbClr val="111827"/>
                    </a:solidFill>
                    <a:latin typeface="Cambria Math" panose="02040503050406030204" pitchFamily="18" charset="0"/>
                  </a:rPr>
                  <a:t>$=r^2\cot^2\frac\theta2\tan\theta$</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$a,b,c,d$</a:t>
                </a:r>
                <a:r>
                  <a:rPr sz="2400" b="0">
                    <a:solidFill>
                      <a:srgbClr val="111827"/>
                    </a:solidFill>
                    <a:latin typeface="Arial"/>
                  </a:rPr>
                  <a:t> are in H.P. and </a:t>
                </a:r>
                <a:r>
                  <a:rPr lang="en-IN" sz="2400">
                    <a:solidFill>
                      <a:srgbClr val="111827"/>
                    </a:solidFill>
                    <a:latin typeface="Cambria Math" panose="02040503050406030204" pitchFamily="18" charset="0"/>
                  </a:rPr>
                  <a:t>$a,c,d$</a:t>
                </a:r>
                <a:r>
                  <a:rPr sz="2400" b="0">
                    <a:solidFill>
                      <a:srgbClr val="111827"/>
                    </a:solidFill>
                    <a:latin typeface="Arial"/>
                  </a:rPr>
                  <a:t> are in G.P., work with reciprocals (</a:t>
                </a:r>
                <a:r>
                  <a:rPr lang="en-IN" sz="2400">
                    <a:solidFill>
                      <a:srgbClr val="111827"/>
                    </a:solidFill>
                    <a:latin typeface="Cambria Math" panose="02040503050406030204" pitchFamily="18" charset="0"/>
                  </a:rPr>
                  <a:t>$A-3D,A-D,A+D,A+3D$</a:t>
                </a:r>
                <a:r>
                  <a:rPr sz="2400" b="0">
                    <a:solidFill>
                      <a:srgbClr val="111827"/>
                    </a:solidFill>
                    <a:latin typeface="Arial"/>
                  </a:rPr>
                  <a:t>): then </a:t>
                </a:r>
                <a:r>
                  <a:rPr lang="en-IN" sz="2400">
                    <a:solidFill>
                      <a:srgbClr val="111827"/>
                    </a:solidFill>
                    <a:latin typeface="Cambria Math" panose="02040503050406030204" pitchFamily="18" charset="0"/>
                  </a:rPr>
                  <a:t>$\frac{cd}{ab}\in\{1,6\}$</a:t>
                </a:r>
                <a:r>
                  <a:rPr sz="2400" b="0">
                    <a:solidFill>
                      <a:srgbClr val="111827"/>
                    </a:solidFill>
                    <a:latin typeface="Arial"/>
                  </a:rPr>
                  <a:t>, and </a:t>
                </a:r>
                <a:r>
                  <a:rPr lang="en-IN" sz="2400">
                    <a:solidFill>
                      <a:srgbClr val="111827"/>
                    </a:solidFill>
                    <a:latin typeface="Cambria Math" panose="02040503050406030204" pitchFamily="18" charset="0"/>
                  </a:rPr>
                  <a:t>$1$</a:t>
                </a:r>
                <a:r>
                  <a:rPr sz="2400" b="0">
                    <a:solidFill>
                      <a:srgbClr val="111827"/>
                    </a:solidFill>
                    <a:latin typeface="Arial"/>
                  </a:rPr>
                  <a:t> occurs only when all four are equal.</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${}^nC_r:{}^nC_{r-1}=\frac{n-r+1}{r}$</a:t>
                </a:r>
                <a:r>
                  <a:rPr sz="2400" b="0">
                    <a:solidFill>
                      <a:srgbClr val="111827"/>
                    </a:solidFill>
                    <a:latin typeface="Arial"/>
                  </a:rPr>
                  <a:t>, and </a:t>
                </a:r>
                <a:r>
                  <a:rPr lang="en-IN" sz="2400">
                    <a:solidFill>
                      <a:srgbClr val="111827"/>
                    </a:solidFill>
                    <a:latin typeface="Cambria Math" panose="02040503050406030204" pitchFamily="18" charset="0"/>
                  </a:rPr>
                  <a:t>${}^nC_r+{}^nC_{r-1}={}^{n+1}C_r$</a:t>
                </a:r>
                <a:r>
                  <a:rPr sz="2400" b="0">
                    <a:solidFill>
                      <a:srgbClr val="111827"/>
                    </a:solidFill>
                    <a:latin typeface="Arial"/>
                  </a:rPr>
                  <a:t> (Pascal).</a:t>
                </a:r>
                <a:endParaRPr sz="2400">
                  <a:solidFill>
                    <a:srgbClr val="111827"/>
                  </a:solidFill>
                </a:endParaRPr>
              </a:p>
            </p:txBody>
          </p:sp>
        </mc:Fallback>
      </mc:AlternateContent>
    </p:spTree>
  </p:cSld>
  <p:clrMapOvr>
    <a:masterClrMapping/>
  </p:clrMapOvr>
</p:sld>
</file>

<file path=ppt/slides/slide6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Out of four machines, exactly two are faulty; they are tested one by one in a random order till both faulty machines are identified. The probability that only two tests are needed.</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die with 6 faces marked 1, 1, 4, 3, 3, 3 is tossed twice. The probability of getting sum 4.</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t>
                </a:r>
                <a14:m>
                  <m:oMath xmlns:m="http://schemas.openxmlformats.org/officeDocument/2006/math">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𝑎</m:t>
                        </m:r>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𝑏</m:t>
                        </m:r>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𝑐</m:t>
                        </m:r>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𝑎</m:t>
                        </m:r>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𝑏</m:t>
                        </m:r>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𝑐</m:t>
                        </m:r>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oMath>
                </a14:m>
                <a:r>
                  <a:rPr sz="2000" b="0">
                    <a:solidFill>
                      <a:srgbClr val="111827"/>
                    </a:solidFill>
                    <a:latin typeface="Arial"/>
                  </a:rPr>
                  <a:t> and </a:t>
                </a:r>
                <a14:m>
                  <m:oMath xmlns:m="http://schemas.openxmlformats.org/officeDocument/2006/math">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𝑎</m:t>
                        </m:r>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𝑏</m:t>
                        </m:r>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𝑐</m:t>
                        </m:r>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oMath>
                </a14:m>
                <a:r>
                  <a:rPr sz="2000" b="0">
                    <a:solidFill>
                      <a:srgbClr val="111827"/>
                    </a:solidFill>
                    <a:latin typeface="Arial"/>
                  </a:rPr>
                  <a:t> are direction ratios of three perpendicular lines and the direction ratios of the line equally inclined to them are </a:t>
                </a:r>
                <a14:m>
                  <m:oMath xmlns:m="http://schemas.openxmlformats.org/officeDocument/2006/math">
                    <m:r>
                      <a:rPr lang="en-IN" sz="2000" i="1">
                        <a:solidFill>
                          <a:srgbClr val="111827"/>
                        </a:solidFill>
                        <a:latin typeface="Cambria Math" panose="02040503050406030204" pitchFamily="18" charset="0"/>
                      </a:rPr>
                      <m:t>𝑘</m:t>
                    </m:r>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𝑎</m:t>
                        </m:r>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𝑎</m:t>
                        </m:r>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𝑎</m:t>
                        </m:r>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𝑘</m:t>
                    </m:r>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𝑏</m:t>
                        </m:r>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𝑏</m:t>
                        </m:r>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𝑏</m:t>
                        </m:r>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𝑘</m:t>
                    </m:r>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𝑐</m:t>
                        </m:r>
                      </m:e>
                      <m:sub>
                        <m:r>
                          <a:rPr lang="en-IN" sz="2000" i="1">
                            <a:solidFill>
                              <a:srgbClr val="111827"/>
                            </a:solidFill>
                            <a:latin typeface="Cambria Math" panose="02040503050406030204" pitchFamily="18" charset="0"/>
                          </a:rPr>
                          <m:t>1</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𝑐</m:t>
                        </m:r>
                      </m:e>
                      <m:sub>
                        <m:r>
                          <a:rPr lang="en-IN" sz="2000" i="1">
                            <a:solidFill>
                              <a:srgbClr val="111827"/>
                            </a:solidFill>
                            <a:latin typeface="Cambria Math" panose="02040503050406030204" pitchFamily="18" charset="0"/>
                          </a:rPr>
                          <m:t>2</m:t>
                        </m:r>
                      </m:sub>
                    </m:sSub>
                    <m:r>
                      <m:rPr>
                        <m:sty m:val="p"/>
                      </m:rPr>
                      <a:rPr lang="en-IN" sz="2000">
                        <a:solidFill>
                          <a:srgbClr val="111827"/>
                        </a:solidFill>
                        <a:latin typeface="Cambria Math" panose="02040503050406030204" pitchFamily="18" charset="0"/>
                      </a:rPr>
                      <m:t>+</m:t>
                    </m:r>
                    <m:sSub>
                      <m:e>
                        <m:r>
                          <a:rPr lang="en-IN" sz="2000" i="1">
                            <a:solidFill>
                              <a:srgbClr val="111827"/>
                            </a:solidFill>
                            <a:latin typeface="Cambria Math" panose="02040503050406030204" pitchFamily="18" charset="0"/>
                          </a:rPr>
                          <m:t>𝑐</m:t>
                        </m:r>
                      </m:e>
                      <m:sub>
                        <m:r>
                          <a:rPr lang="en-IN" sz="2000" i="1">
                            <a:solidFill>
                              <a:srgbClr val="111827"/>
                            </a:solidFill>
                            <a:latin typeface="Cambria Math" panose="02040503050406030204" pitchFamily="18" charset="0"/>
                          </a:rPr>
                          <m:t>3</m:t>
                        </m:r>
                      </m:sub>
                    </m:sSub>
                    <m:r>
                      <m:rPr>
                        <m:sty m:val="p"/>
                      </m:rPr>
                      <a:rPr lang="en-IN" sz="2000">
                        <a:solidFill>
                          <a:srgbClr val="111827"/>
                        </a:solidFill>
                        <a:latin typeface="Cambria Math" panose="02040503050406030204" pitchFamily="18" charset="0"/>
                      </a:rPr>
                      <m:t>)</m:t>
                    </m:r>
                  </m:oMath>
                </a14:m>
                <a:r>
                  <a:rPr sz="2000" b="0">
                    <a:solidFill>
                      <a:srgbClr val="111827"/>
                    </a:solidFill>
                    <a:latin typeface="Arial"/>
                  </a:rPr>
                  <a:t>. Then </a:t>
                </a:r>
                <a14:m>
                  <m:oMath xmlns:m="http://schemas.openxmlformats.org/officeDocument/2006/math">
                    <m:r>
                      <a:rPr lang="en-IN" sz="2000" i="1">
                        <a:solidFill>
                          <a:srgbClr val="111827"/>
                        </a:solidFill>
                        <a:latin typeface="Cambria Math" panose="02040503050406030204" pitchFamily="18" charset="0"/>
                      </a:rPr>
                      <m:t>𝑘</m:t>
                    </m:r>
                  </m:oMath>
                </a14:m>
                <a:r>
                  <a:rPr sz="2000" b="0">
                    <a:solidFill>
                      <a:srgbClr val="111827"/>
                    </a:solidFill>
                    <a:latin typeface="Arial"/>
                  </a:rPr>
                  <a:t> is given by</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three points are lying in a plane, what is the probability that a triangle will be formed by joining them.</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2</m:t>
                        </m:r>
                      </m:den>
                    </m:f>
                  </m:oMath>
                </a14:m>
                <a:r>
                  <a:rPr sz="2000" b="0">
                    <a:solidFill>
                      <a:srgbClr val="111827"/>
                    </a:solidFill>
                    <a:latin typeface="Arial"/>
                  </a:rPr>
                  <a:t>, (q)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4</m:t>
                        </m:r>
                      </m:den>
                    </m:f>
                  </m:oMath>
                </a14:m>
                <a:r>
                  <a:rPr sz="2000" b="0">
                    <a:solidFill>
                      <a:srgbClr val="111827"/>
                    </a:solidFill>
                    <a:latin typeface="Arial"/>
                  </a:rPr>
                  <a:t>, (r)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3</m:t>
                        </m:r>
                      </m:den>
                    </m:f>
                  </m:oMath>
                </a14:m>
                <a:r>
                  <a:rPr sz="2000" b="0">
                    <a:solidFill>
                      <a:srgbClr val="111827"/>
                    </a:solidFill>
                    <a:latin typeface="Arial"/>
                  </a:rPr>
                  <a:t>, (s) </a:t>
                </a:r>
                <a14:m>
                  <m:oMath xmlns:m="http://schemas.openxmlformats.org/officeDocument/2006/math">
                    <m:f>
                      <m:fPr>
                        <m:type m:val="bar"/>
                        <m:ctrlPr>
                          <a:rPr lang="en-IN" sz="2000" i="1">
                            <a:solidFill>
                              <a:srgbClr val="111827"/>
                            </a:solidFill>
                            <a:latin typeface="Cambria Math" panose="02040503050406030204" pitchFamily="18" charset="0"/>
                          </a:rPr>
                        </m:ctrlPr>
                      </m:fPr>
                      <m:num>
                        <m:r>
                          <a:rPr lang="en-IN" sz="2000" i="1">
                            <a:solidFill>
                              <a:srgbClr val="111827"/>
                            </a:solidFill>
                            <a:latin typeface="Cambria Math" panose="02040503050406030204" pitchFamily="18" charset="0"/>
                          </a:rPr>
                          <m:t>1</m:t>
                        </m:r>
                      </m:num>
                      <m:den>
                        <m:r>
                          <a:rPr lang="en-IN" sz="2000" i="1">
                            <a:solidFill>
                              <a:srgbClr val="111827"/>
                            </a:solidFill>
                            <a:latin typeface="Cambria Math" panose="02040503050406030204" pitchFamily="18" charset="0"/>
                          </a:rPr>
                          <m:t>6</m:t>
                        </m:r>
                      </m:den>
                    </m:f>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r; b - s; c - p; d - 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q; b - r; c - s; d - 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r; b - r; c - q; d - 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p; b - q; c - r; d - s</a:t>
                </a:r>
                <a:endParaRPr sz="2000">
                  <a:solidFill>
                    <a:srgbClr val="111827"/>
                  </a:solidFill>
                </a:endParaRPr>
              </a:p>
            </p:txBody>
          </p:sp>
        </mc:Choice>
        <mc:Fallback>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Out of four machines, exactly two are faulty; they are tested one by one in a random order till both faulty machines are identified. The probability that only two tests are needed.</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die with 6 faces marked 1, 1, 4, 3, 3, 3 is tossed twice. The probability of getting sum 4.</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t>
                </a:r>
                <a:r>
                  <a:rPr lang="en-IN" sz="2000">
                    <a:solidFill>
                      <a:srgbClr val="111827"/>
                    </a:solidFill>
                    <a:latin typeface="Cambria Math" panose="02040503050406030204" pitchFamily="18" charset="0"/>
                  </a:rPr>
                  <a:t>$(a_1,b_1,c_1),(a_2,b_2,c_2)$</a:t>
                </a:r>
                <a:r>
                  <a:rPr sz="2000" b="0">
                    <a:solidFill>
                      <a:srgbClr val="111827"/>
                    </a:solidFill>
                    <a:latin typeface="Arial"/>
                  </a:rPr>
                  <a:t> and </a:t>
                </a:r>
                <a:r>
                  <a:rPr lang="en-IN" sz="2000">
                    <a:solidFill>
                      <a:srgbClr val="111827"/>
                    </a:solidFill>
                    <a:latin typeface="Cambria Math" panose="02040503050406030204" pitchFamily="18" charset="0"/>
                  </a:rPr>
                  <a:t>$(a_3,b_3,c_3)$</a:t>
                </a:r>
                <a:r>
                  <a:rPr sz="2000" b="0">
                    <a:solidFill>
                      <a:srgbClr val="111827"/>
                    </a:solidFill>
                    <a:latin typeface="Arial"/>
                  </a:rPr>
                  <a:t> are direction ratios of three perpendicular lines and the direction ratios of the line equally inclined to them are </a:t>
                </a:r>
                <a:r>
                  <a:rPr lang="en-IN" sz="2000">
                    <a:solidFill>
                      <a:srgbClr val="111827"/>
                    </a:solidFill>
                    <a:latin typeface="Cambria Math" panose="02040503050406030204" pitchFamily="18" charset="0"/>
                  </a:rPr>
                  <a:t>$k(a_1+a_2+a_3),k(b_1+b_2+b_3),k(c_1+c_2+c_3)$</a:t>
                </a:r>
                <a:r>
                  <a:rPr sz="2000" b="0">
                    <a:solidFill>
                      <a:srgbClr val="111827"/>
                    </a:solidFill>
                    <a:latin typeface="Arial"/>
                  </a:rPr>
                  <a:t>. Then </a:t>
                </a:r>
                <a:r>
                  <a:rPr lang="en-IN" sz="2000">
                    <a:solidFill>
                      <a:srgbClr val="111827"/>
                    </a:solidFill>
                    <a:latin typeface="Cambria Math" panose="02040503050406030204" pitchFamily="18" charset="0"/>
                  </a:rPr>
                  <a:t>$k$</a:t>
                </a:r>
                <a:r>
                  <a:rPr sz="2000" b="0">
                    <a:solidFill>
                      <a:srgbClr val="111827"/>
                    </a:solidFill>
                    <a:latin typeface="Arial"/>
                  </a:rPr>
                  <a:t> is given by</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three points are lying in a plane, what is the probability that a triangle will be formed by joining them.</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$\frac12$</a:t>
                </a:r>
                <a:r>
                  <a:rPr sz="2000" b="0">
                    <a:solidFill>
                      <a:srgbClr val="111827"/>
                    </a:solidFill>
                    <a:latin typeface="Arial"/>
                  </a:rPr>
                  <a:t>, (q) </a:t>
                </a:r>
                <a:r>
                  <a:rPr lang="en-IN" sz="2000">
                    <a:solidFill>
                      <a:srgbClr val="111827"/>
                    </a:solidFill>
                    <a:latin typeface="Cambria Math" panose="02040503050406030204" pitchFamily="18" charset="0"/>
                  </a:rPr>
                  <a:t>$\frac14$</a:t>
                </a:r>
                <a:r>
                  <a:rPr sz="2000" b="0">
                    <a:solidFill>
                      <a:srgbClr val="111827"/>
                    </a:solidFill>
                    <a:latin typeface="Arial"/>
                  </a:rPr>
                  <a:t>, (r) </a:t>
                </a:r>
                <a:r>
                  <a:rPr lang="en-IN" sz="2000">
                    <a:solidFill>
                      <a:srgbClr val="111827"/>
                    </a:solidFill>
                    <a:latin typeface="Cambria Math" panose="02040503050406030204" pitchFamily="18" charset="0"/>
                  </a:rPr>
                  <a:t>$\frac13$</a:t>
                </a:r>
                <a:r>
                  <a:rPr sz="2000" b="0">
                    <a:solidFill>
                      <a:srgbClr val="111827"/>
                    </a:solidFill>
                    <a:latin typeface="Arial"/>
                  </a:rPr>
                  <a:t>, (s) </a:t>
                </a:r>
                <a:r>
                  <a:rPr lang="en-IN" sz="2000">
                    <a:solidFill>
                      <a:srgbClr val="111827"/>
                    </a:solidFill>
                    <a:latin typeface="Cambria Math" panose="02040503050406030204" pitchFamily="18" charset="0"/>
                  </a:rPr>
                  <a:t>$\frac16$</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r; b - s; c - p; d - 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q; b - r; c - s; d - 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r; b - r; c - q; d - 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p; b - q; c - r; d - s</a:t>
                </a:r>
                <a:endParaRPr sz="2000">
                  <a:solidFill>
                    <a:srgbClr val="111827"/>
                  </a:solidFill>
                </a:endParaRPr>
              </a:p>
            </p:txBody>
          </p:sp>
        </mc:Fallback>
      </mc:AlternateContent>
    </p:spTree>
  </p:cSld>
  <p:clrMapOvr>
    <a:masterClrMapping/>
  </p:clrMapOvr>
</p:sld>
</file>

<file path=ppt/slides/slide6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1975103"/>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Probability, Direction ratios of lines in 3D</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
        <p:nvSpPr>
          <p:cNvPr id="5" name="Rounded Rectangle 4"/>
          <p:cNvSpPr/>
          <p:nvPr/>
        </p:nvSpPr>
        <p:spPr>
          <a:xfrm>
            <a:off x="731520" y="3438144"/>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Only two tests suffice exactly when the first two tested machines are both faulty or both good.</a:t>
            </a:r>
            <a:endParaRPr sz="2400">
              <a:solidFill>
                <a:srgbClr val="78350F"/>
              </a:solidFill>
            </a:endParaRPr>
          </a:p>
        </p:txBody>
      </p:sp>
      <p:sp>
        <p:nvSpPr>
          <p:cNvPr id="6" name="Rectangle 5"/>
          <p:cNvSpPr/>
          <p:nvPr/>
        </p:nvSpPr>
        <p:spPr>
          <a:xfrm>
            <a:off x="731520" y="4684776"/>
            <a:ext cx="10725912" cy="1990344"/>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Two tests identify both faulty machines if the first two tested are both faulty or both good (then the other two are the faulty ones).</a:t>
            </a:r>
            <a:endParaRPr sz="2400">
              <a:solidFill>
                <a:srgbClr val="111827"/>
              </a:solidFill>
            </a:endParaRPr>
          </a:p>
        </p:txBody>
      </p:sp>
    </p:spTree>
  </p:cSld>
  <p:clrMapOvr>
    <a:masterClrMapping/>
  </p:clrMapOvr>
</p:sld>
</file>

<file path=ppt/slides/slide6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num>
                      <m:den>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12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(a)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Two tosses: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36</m:t>
                    </m:r>
                  </m:oMath>
                </a14:m>
                <a:r>
                  <a:rPr sz="2400" b="0">
                    <a:solidFill>
                      <a:srgbClr val="111827"/>
                    </a:solidFill>
                    <a:latin typeface="Arial"/>
                  </a:rPr>
                  <a:t>. Sum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needs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ways each, so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12</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12</m:t>
                        </m:r>
                      </m:num>
                      <m:den>
                        <m:r>
                          <a:rPr lang="en-IN" sz="2400" i="1">
                            <a:solidFill>
                              <a:srgbClr val="111827"/>
                            </a:solidFill>
                            <a:latin typeface="Cambria Math" panose="02040503050406030204" pitchFamily="18" charset="0"/>
                          </a:rPr>
                          <m:t>36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(b)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PDF says only that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may be any real constant: for direction ratios any non-zero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gives the same line, so no value in column II is singled out (see correction note).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PDF takes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𝐸</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 (a triangle is formed or it is not), giving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so (d) matches (p).</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$P=2\cdot\frac{{}^2C_2}{{}^4C_2}=2\cdot\frac{1\cdot2}{4\cdot3}=2\cdot\frac{2}{12}=\frac13$</a:t>
                </a:r>
                <a:r>
                  <a:rPr sz="2400" b="0">
                    <a:solidFill>
                      <a:srgbClr val="111827"/>
                    </a:solidFill>
                    <a:latin typeface="Arial"/>
                  </a:rPr>
                  <a:t>, so (a)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Two tosses: </a:t>
                </a:r>
                <a:r>
                  <a:rPr lang="en-IN" sz="2400">
                    <a:solidFill>
                      <a:srgbClr val="111827"/>
                    </a:solidFill>
                    <a:latin typeface="Cambria Math" panose="02040503050406030204" pitchFamily="18" charset="0"/>
                  </a:rPr>
                  <a:t>$n(S)=6\times6=36$</a:t>
                </a:r>
                <a:r>
                  <a:rPr sz="2400" b="0">
                    <a:solidFill>
                      <a:srgbClr val="111827"/>
                    </a:solidFill>
                    <a:latin typeface="Arial"/>
                  </a:rPr>
                  <a:t>. Sum </a:t>
                </a:r>
                <a:r>
                  <a:rPr lang="en-IN" sz="2400">
                    <a:solidFill>
                      <a:srgbClr val="111827"/>
                    </a:solidFill>
                    <a:latin typeface="Cambria Math" panose="02040503050406030204" pitchFamily="18" charset="0"/>
                  </a:rPr>
                  <a:t>$4$</a:t>
                </a:r>
                <a:r>
                  <a:rPr sz="2400" b="0">
                    <a:solidFill>
                      <a:srgbClr val="111827"/>
                    </a:solidFill>
                    <a:latin typeface="Arial"/>
                  </a:rPr>
                  <a:t> needs </a:t>
                </a:r>
                <a:r>
                  <a:rPr lang="en-IN" sz="2400">
                    <a:solidFill>
                      <a:srgbClr val="111827"/>
                    </a:solidFill>
                    <a:latin typeface="Cambria Math" panose="02040503050406030204" pitchFamily="18" charset="0"/>
                  </a:rPr>
                  <a:t>$(1,3)$</a:t>
                </a:r>
                <a:r>
                  <a:rPr sz="2400" b="0">
                    <a:solidFill>
                      <a:srgbClr val="111827"/>
                    </a:solidFill>
                    <a:latin typeface="Arial"/>
                  </a:rPr>
                  <a:t> or </a:t>
                </a:r>
                <a:r>
                  <a:rPr lang="en-IN" sz="2400">
                    <a:solidFill>
                      <a:srgbClr val="111827"/>
                    </a:solidFill>
                    <a:latin typeface="Cambria Math" panose="02040503050406030204" pitchFamily="18" charset="0"/>
                  </a:rPr>
                  <a:t>$(3,1)$</a:t>
                </a:r>
                <a:r>
                  <a:rPr sz="2400" b="0">
                    <a:solidFill>
                      <a:srgbClr val="111827"/>
                    </a:solidFill>
                    <a:latin typeface="Arial"/>
                  </a:rPr>
                  <a:t>: </a:t>
                </a:r>
                <a:r>
                  <a:rPr lang="en-IN" sz="2400">
                    <a:solidFill>
                      <a:srgbClr val="111827"/>
                    </a:solidFill>
                    <a:latin typeface="Cambria Math" panose="02040503050406030204" pitchFamily="18" charset="0"/>
                  </a:rPr>
                  <a:t>$2\cdot3$</a:t>
                </a:r>
                <a:r>
                  <a:rPr sz="2400" b="0">
                    <a:solidFill>
                      <a:srgbClr val="111827"/>
                    </a:solidFill>
                    <a:latin typeface="Arial"/>
                  </a:rPr>
                  <a:t> ways each, so </a:t>
                </a:r>
                <a:r>
                  <a:rPr lang="en-IN" sz="2400">
                    <a:solidFill>
                      <a:srgbClr val="111827"/>
                    </a:solidFill>
                    <a:latin typeface="Cambria Math" panose="02040503050406030204" pitchFamily="18" charset="0"/>
                  </a:rPr>
                  <a:t>$n(E)=2\cdot(2\cdot3)=12$</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$P=\frac{12}{36}=\frac13$</a:t>
                </a:r>
                <a:r>
                  <a:rPr sz="2400" b="0">
                    <a:solidFill>
                      <a:srgbClr val="111827"/>
                    </a:solidFill>
                    <a:latin typeface="Arial"/>
                  </a:rPr>
                  <a:t>, so (b)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The PDF says only that </a:t>
                </a:r>
                <a:r>
                  <a:rPr lang="en-IN" sz="2400">
                    <a:solidFill>
                      <a:srgbClr val="111827"/>
                    </a:solidFill>
                    <a:latin typeface="Cambria Math" panose="02040503050406030204" pitchFamily="18" charset="0"/>
                  </a:rPr>
                  <a:t>$k$</a:t>
                </a:r>
                <a:r>
                  <a:rPr sz="2400" b="0">
                    <a:solidFill>
                      <a:srgbClr val="111827"/>
                    </a:solidFill>
                    <a:latin typeface="Arial"/>
                  </a:rPr>
                  <a:t> may be any real constant: for direction ratios any non-zero </a:t>
                </a:r>
                <a:r>
                  <a:rPr lang="en-IN" sz="2400">
                    <a:solidFill>
                      <a:srgbClr val="111827"/>
                    </a:solidFill>
                    <a:latin typeface="Cambria Math" panose="02040503050406030204" pitchFamily="18" charset="0"/>
                  </a:rPr>
                  <a:t>$k$</a:t>
                </a:r>
                <a:r>
                  <a:rPr sz="2400" b="0">
                    <a:solidFill>
                      <a:srgbClr val="111827"/>
                    </a:solidFill>
                    <a:latin typeface="Arial"/>
                  </a:rPr>
                  <a:t> gives the same line, so no value in column II is singled out (see correction note).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The PDF takes </a:t>
                </a:r>
                <a:r>
                  <a:rPr lang="en-IN" sz="2400">
                    <a:solidFill>
                      <a:srgbClr val="111827"/>
                    </a:solidFill>
                    <a:latin typeface="Cambria Math" panose="02040503050406030204" pitchFamily="18" charset="0"/>
                  </a:rPr>
                  <a:t>$n(E)=1$</a:t>
                </a:r>
                <a:r>
                  <a:rPr sz="2400" b="0">
                    <a:solidFill>
                      <a:srgbClr val="111827"/>
                    </a:solidFill>
                    <a:latin typeface="Arial"/>
                  </a:rPr>
                  <a:t> and </a:t>
                </a:r>
                <a:r>
                  <a:rPr lang="en-IN" sz="2400">
                    <a:solidFill>
                      <a:srgbClr val="111827"/>
                    </a:solidFill>
                    <a:latin typeface="Cambria Math" panose="02040503050406030204" pitchFamily="18" charset="0"/>
                  </a:rPr>
                  <a:t>$n(S)=2$</a:t>
                </a:r>
                <a:r>
                  <a:rPr sz="2400" b="0">
                    <a:solidFill>
                      <a:srgbClr val="111827"/>
                    </a:solidFill>
                    <a:latin typeface="Arial"/>
                  </a:rPr>
                  <a:t> (a triangle is formed or it is not), giving </a:t>
                </a:r>
                <a:r>
                  <a:rPr lang="en-IN" sz="2400">
                    <a:solidFill>
                      <a:srgbClr val="111827"/>
                    </a:solidFill>
                    <a:latin typeface="Cambria Math" panose="02040503050406030204" pitchFamily="18" charset="0"/>
                  </a:rPr>
                  <a:t>$P=\frac12$</a:t>
                </a:r>
                <a:r>
                  <a:rPr sz="2400" b="0">
                    <a:solidFill>
                      <a:srgbClr val="111827"/>
                    </a:solidFill>
                    <a:latin typeface="Arial"/>
                  </a:rPr>
                  <a:t>, so (d) matches (p).</a:t>
                </a:r>
                <a:endParaRPr sz="2400">
                  <a:solidFill>
                    <a:srgbClr val="111827"/>
                  </a:solidFill>
                </a:endParaRPr>
              </a:p>
            </p:txBody>
          </p:sp>
        </mc:Fallback>
      </mc:AlternateContent>
    </p:spTree>
  </p:cSld>
  <p:clrMapOvr>
    <a:masterClrMapping/>
  </p:clrMapOvr>
</p:sld>
</file>

<file path=ppt/slides/slide6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Only option (C) has a-r, b-r and d-p, so the answer is (C) with c-q as printed.</a:t>
            </a:r>
            <a:endParaRPr sz="2400">
              <a:solidFill>
                <a:srgbClr val="111827"/>
              </a:solidFill>
            </a:endParaRPr>
          </a:p>
        </p:txBody>
      </p:sp>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 - r; b - r; c - q; d - p</a:t>
            </a:r>
            <a:endParaRPr sz="2800">
              <a:solidFill>
                <a:srgbClr val="15803D"/>
              </a:solidFill>
            </a:endParaRPr>
          </a:p>
        </p:txBody>
      </p:sp>
    </p:spTree>
  </p:cSld>
  <p:clrMapOvr>
    <a:masterClrMapping/>
  </p:clrMapOvr>
</p:sld>
</file>

<file path=ppt/slides/slide6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Option elimination: (a) and (b) both equal </a:t>
                </a:r>
                <a14:m>
                  <m:oMath xmlns:m="http://schemas.openxmlformats.org/officeDocument/2006/math">
                    <m:f>
                      <m:fPr>
                        <m:type m:val="bar"/>
                        <m:ctrlPr>
                          <a:rPr lang="en-IN" sz="2400" i="1">
                            <a:solidFill>
                              <a:srgbClr val="78350F"/>
                            </a:solidFill>
                            <a:latin typeface="Cambria Math" panose="02040503050406030204" pitchFamily="18" charset="0"/>
                          </a:rPr>
                        </m:ctrlPr>
                      </m:fPr>
                      <m:num>
                        <m:r>
                          <a:rPr lang="en-IN" sz="2400" i="1">
                            <a:solidFill>
                              <a:srgbClr val="78350F"/>
                            </a:solidFill>
                            <a:latin typeface="Cambria Math" panose="02040503050406030204" pitchFamily="18" charset="0"/>
                          </a:rPr>
                          <m:t>1</m:t>
                        </m:r>
                      </m:num>
                      <m:den>
                        <m:r>
                          <a:rPr lang="en-IN" sz="2400" i="1">
                            <a:solidFill>
                              <a:srgbClr val="78350F"/>
                            </a:solidFill>
                            <a:latin typeface="Cambria Math" panose="02040503050406030204" pitchFamily="18" charset="0"/>
                          </a:rPr>
                          <m:t>3</m:t>
                        </m:r>
                      </m:den>
                    </m:f>
                  </m:oMath>
                </a14:m>
                <a:r>
                  <a:rPr sz="2400" b="0">
                    <a:solidFill>
                      <a:srgbClr val="78350F"/>
                    </a:solidFill>
                    <a:latin typeface="Arial"/>
                  </a:rPr>
                  <a:t>, and only option (C) has a - r together with b - r.</a:t>
                </a:r>
                <a:endParaRPr sz="2400">
                  <a:solidFill>
                    <a:srgbClr val="78350F"/>
                  </a:solidFill>
                </a:endParaRPr>
              </a:p>
            </p:txBody>
          </p:sp>
        </mc:Choice>
        <mc:Fallback>
          <p:sp>
            <p:nvSpPr>
              <p:cNvPr id="5" name="Rounded Rectangle 4"/>
              <p:cNvSpPr/>
              <p:nvPr/>
            </p:nvSpPr>
            <p:spPr>
              <a:xfrm>
                <a:off x="731520" y="1280160"/>
                <a:ext cx="10725912" cy="1219200"/>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Option elimination: (a) and (b) both equal </a:t>
                </a:r>
                <a:r>
                  <a:rPr lang="en-IN" sz="2400">
                    <a:solidFill>
                      <a:srgbClr val="78350F"/>
                    </a:solidFill>
                    <a:latin typeface="Cambria Math" panose="02040503050406030204" pitchFamily="18" charset="0"/>
                  </a:rPr>
                  <a:t>$\frac13$</a:t>
                </a:r>
                <a:r>
                  <a:rPr sz="2400" b="0">
                    <a:solidFill>
                      <a:srgbClr val="78350F"/>
                    </a:solidFill>
                    <a:latin typeface="Arial"/>
                  </a:rPr>
                  <a:t>, and only option (C) has a - r together with b - r.</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Put the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machines in test order. Choose the positions of the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faulty ones: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4</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equally likely pairs.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two tests are needed iff the faulty pair is positions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2</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(a)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𝑃</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oMath>
                </a14:m>
                <a:r>
                  <a:rPr sz="2400" b="0">
                    <a:solidFill>
                      <a:srgbClr val="111827"/>
                    </a:solidFill>
                    <a:latin typeface="Arial"/>
                  </a:rPr>
                  <a:t>. Sum </a:t>
                </a:r>
                <a14:m>
                  <m:oMath xmlns:m="http://schemas.openxmlformats.org/officeDocument/2006/math">
                    <m:r>
                      <a:rPr lang="en-IN" sz="2400" i="1">
                        <a:solidFill>
                          <a:srgbClr val="111827"/>
                        </a:solidFill>
                        <a:latin typeface="Cambria Math" panose="02040503050406030204" pitchFamily="18" charset="0"/>
                      </a:rPr>
                      <m:t>4</m:t>
                    </m:r>
                  </m:oMath>
                </a14:m>
                <a:r>
                  <a:rPr sz="2400" b="0">
                    <a:solidFill>
                      <a:srgbClr val="111827"/>
                    </a:solidFill>
                    <a:latin typeface="Arial"/>
                  </a:rPr>
                  <a:t> is </a:t>
                </a:r>
                <a14:m>
                  <m:oMath xmlns:m="http://schemas.openxmlformats.org/officeDocument/2006/math">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 so (b) matches r.</a:t>
                </a:r>
                <a:endParaRPr sz="2400">
                  <a:solidFill>
                    <a:srgbClr val="111827"/>
                  </a:solidFill>
                </a:endParaRPr>
              </a:p>
            </p:txBody>
          </p:sp>
        </mc:Choice>
        <mc:Fallback>
          <p:sp>
            <p:nvSpPr>
              <p:cNvPr id="6" name="Rectangle 5"/>
              <p:cNvSpPr/>
              <p:nvPr/>
            </p:nvSpPr>
            <p:spPr>
              <a:xfrm>
                <a:off x="731520" y="2636520"/>
                <a:ext cx="10725912" cy="4038599"/>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Put the </a:t>
                </a:r>
                <a:r>
                  <a:rPr lang="en-IN" sz="2400">
                    <a:solidFill>
                      <a:srgbClr val="111827"/>
                    </a:solidFill>
                    <a:latin typeface="Cambria Math" panose="02040503050406030204" pitchFamily="18" charset="0"/>
                  </a:rPr>
                  <a:t>$4$</a:t>
                </a:r>
                <a:r>
                  <a:rPr sz="2400" b="0">
                    <a:solidFill>
                      <a:srgbClr val="111827"/>
                    </a:solidFill>
                    <a:latin typeface="Arial"/>
                  </a:rPr>
                  <a:t> machines in test order. Choose the positions of the </a:t>
                </a:r>
                <a:r>
                  <a:rPr lang="en-IN" sz="2400">
                    <a:solidFill>
                      <a:srgbClr val="111827"/>
                    </a:solidFill>
                    <a:latin typeface="Cambria Math" panose="02040503050406030204" pitchFamily="18" charset="0"/>
                  </a:rPr>
                  <a:t>$2$</a:t>
                </a:r>
                <a:r>
                  <a:rPr sz="2400" b="0">
                    <a:solidFill>
                      <a:srgbClr val="111827"/>
                    </a:solidFill>
                    <a:latin typeface="Arial"/>
                  </a:rPr>
                  <a:t> faulty ones: </a:t>
                </a:r>
                <a:r>
                  <a:rPr lang="en-IN" sz="2400">
                    <a:solidFill>
                      <a:srgbClr val="111827"/>
                    </a:solidFill>
                    <a:latin typeface="Cambria Math" panose="02040503050406030204" pitchFamily="18" charset="0"/>
                  </a:rPr>
                  <a:t>$\binom42=6$</a:t>
                </a:r>
                <a:r>
                  <a:rPr sz="2400" b="0">
                    <a:solidFill>
                      <a:srgbClr val="111827"/>
                    </a:solidFill>
                    <a:latin typeface="Arial"/>
                  </a:rPr>
                  <a:t> equally likely pairs.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Only two tests are needed iff the faulty pair is positions </a:t>
                </a:r>
                <a:r>
                  <a:rPr lang="en-IN" sz="2400">
                    <a:solidFill>
                      <a:srgbClr val="111827"/>
                    </a:solidFill>
                    <a:latin typeface="Cambria Math" panose="02040503050406030204" pitchFamily="18" charset="0"/>
                  </a:rPr>
                  <a:t>$\{1,2\}$</a:t>
                </a:r>
                <a:r>
                  <a:rPr sz="2400" b="0">
                    <a:solidFill>
                      <a:srgbClr val="111827"/>
                    </a:solidFill>
                    <a:latin typeface="Arial"/>
                  </a:rPr>
                  <a:t> or </a:t>
                </a:r>
                <a:r>
                  <a:rPr lang="en-IN" sz="2400">
                    <a:solidFill>
                      <a:srgbClr val="111827"/>
                    </a:solidFill>
                    <a:latin typeface="Cambria Math" panose="02040503050406030204" pitchFamily="18" charset="0"/>
                  </a:rPr>
                  <a:t>$\{3,4\}$</a:t>
                </a:r>
                <a:r>
                  <a:rPr sz="2400" b="0">
                    <a:solidFill>
                      <a:srgbClr val="111827"/>
                    </a:solidFill>
                    <a:latin typeface="Arial"/>
                  </a:rPr>
                  <a:t>: </a:t>
                </a:r>
                <a:r>
                  <a:rPr lang="en-IN" sz="2400">
                    <a:solidFill>
                      <a:srgbClr val="111827"/>
                    </a:solidFill>
                    <a:latin typeface="Cambria Math" panose="02040503050406030204" pitchFamily="18" charset="0"/>
                  </a:rPr>
                  <a:t>$\frac26=\frac13$</a:t>
                </a:r>
                <a:r>
                  <a:rPr sz="2400" b="0">
                    <a:solidFill>
                      <a:srgbClr val="111827"/>
                    </a:solidFill>
                    <a:latin typeface="Arial"/>
                  </a:rPr>
                  <a:t>, so (a)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$P(1)=\frac13$</a:t>
                </a:r>
                <a:r>
                  <a:rPr sz="2400" b="0">
                    <a:solidFill>
                      <a:srgbClr val="111827"/>
                    </a:solidFill>
                    <a:latin typeface="Arial"/>
                  </a:rPr>
                  <a:t> and </a:t>
                </a:r>
                <a:r>
                  <a:rPr lang="en-IN" sz="2400">
                    <a:solidFill>
                      <a:srgbClr val="111827"/>
                    </a:solidFill>
                    <a:latin typeface="Cambria Math" panose="02040503050406030204" pitchFamily="18" charset="0"/>
                  </a:rPr>
                  <a:t>$P(3)=\frac12$</a:t>
                </a:r>
                <a:r>
                  <a:rPr sz="2400" b="0">
                    <a:solidFill>
                      <a:srgbClr val="111827"/>
                    </a:solidFill>
                    <a:latin typeface="Arial"/>
                  </a:rPr>
                  <a:t>. Sum </a:t>
                </a:r>
                <a:r>
                  <a:rPr lang="en-IN" sz="2400">
                    <a:solidFill>
                      <a:srgbClr val="111827"/>
                    </a:solidFill>
                    <a:latin typeface="Cambria Math" panose="02040503050406030204" pitchFamily="18" charset="0"/>
                  </a:rPr>
                  <a:t>$4$</a:t>
                </a:r>
                <a:r>
                  <a:rPr sz="2400" b="0">
                    <a:solidFill>
                      <a:srgbClr val="111827"/>
                    </a:solidFill>
                    <a:latin typeface="Arial"/>
                  </a:rPr>
                  <a:t> is </a:t>
                </a:r>
                <a:r>
                  <a:rPr lang="en-IN" sz="2400">
                    <a:solidFill>
                      <a:srgbClr val="111827"/>
                    </a:solidFill>
                    <a:latin typeface="Cambria Math" panose="02040503050406030204" pitchFamily="18" charset="0"/>
                  </a:rPr>
                  <a:t>$1+3$</a:t>
                </a:r>
                <a:r>
                  <a:rPr sz="2400" b="0">
                    <a:solidFill>
                      <a:srgbClr val="111827"/>
                    </a:solidFill>
                    <a:latin typeface="Arial"/>
                  </a:rPr>
                  <a:t> or </a:t>
                </a:r>
                <a:r>
                  <a:rPr lang="en-IN" sz="2400">
                    <a:solidFill>
                      <a:srgbClr val="111827"/>
                    </a:solidFill>
                    <a:latin typeface="Cambria Math" panose="02040503050406030204" pitchFamily="18" charset="0"/>
                  </a:rPr>
                  <a:t>$3+1$</a:t>
                </a:r>
                <a:r>
                  <a:rPr sz="2400" b="0">
                    <a:solidFill>
                      <a:srgbClr val="111827"/>
                    </a:solidFill>
                    <a:latin typeface="Arial"/>
                  </a:rPr>
                  <a:t>: </a:t>
                </a:r>
                <a:r>
                  <a:rPr lang="en-IN" sz="2400">
                    <a:solidFill>
                      <a:srgbClr val="111827"/>
                    </a:solidFill>
                    <a:latin typeface="Cambria Math" panose="02040503050406030204" pitchFamily="18" charset="0"/>
                  </a:rPr>
                  <a:t>$2\cdot\frac13\cdot\frac12=\frac13$</a:t>
                </a:r>
                <a:r>
                  <a:rPr sz="2400" b="0">
                    <a:solidFill>
                      <a:srgbClr val="111827"/>
                    </a:solidFill>
                    <a:latin typeface="Arial"/>
                  </a:rPr>
                  <a:t>, so (b) matches r.</a:t>
                </a:r>
                <a:endParaRPr sz="2400">
                  <a:solidFill>
                    <a:srgbClr val="111827"/>
                  </a:solidFill>
                </a:endParaRPr>
              </a:p>
            </p:txBody>
          </p:sp>
        </mc:Fallback>
      </mc:AlternateContent>
    </p:spTree>
  </p:cSld>
  <p:clrMapOvr>
    <a:masterClrMapping/>
  </p:clrMapOvr>
</p:sld>
</file>

<file path=ppt/slides/slide6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Options (A), (B), (D) give a - r only with b - s, a - q, a - p respectively, so none matches both. Only (C) has a - r and b -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the answer is (C), without needing the ill-posed part (c).</a:t>
            </a:r>
            <a:endParaRPr sz="2400">
              <a:solidFill>
                <a:srgbClr val="111827"/>
              </a:solidFill>
            </a:endParaRPr>
          </a:p>
        </p:txBody>
      </p:sp>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 - r; b - r; c - q; d - p</a:t>
            </a:r>
            <a:endParaRPr sz="2800">
              <a:solidFill>
                <a:srgbClr val="15803D"/>
              </a:solidFill>
            </a:endParaRPr>
          </a:p>
        </p:txBody>
      </p:sp>
    </p:spTree>
  </p:cSld>
  <p:clrMapOvr>
    <a:masterClrMapping/>
  </p:clrMapOvr>
</p:sld>
</file>

<file path=ppt/slides/slide6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107</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Direction cosines of the line equally inclined to three mutually perpendicular directions with unit vectors </a:t>
                </a:r>
                <a14:m>
                  <m:oMath xmlns:m="http://schemas.openxmlformats.org/officeDocument/2006/math">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𝑖</m:t>
                        </m:r>
                      </m:sub>
                    </m:sSub>
                  </m:oMath>
                </a14:m>
                <a:r>
                  <a:rPr sz="2400" b="0">
                    <a:solidFill>
                      <a:srgbClr val="111827"/>
                    </a:solidFill>
                    <a:latin typeface="Arial"/>
                  </a:rPr>
                  <a:t>: </a:t>
                </a:r>
                <a14:m>
                  <m:oMath xmlns:m="http://schemas.openxmlformats.org/officeDocument/2006/math">
                    <m:f>
                      <m:fPr>
                        <m:type m:val="bar"/>
                        <m:ctrlPr>
                          <a:rPr lang="en-IN" sz="2400" i="1">
                            <a:solidFill>
                              <a:srgbClr val="111827"/>
                            </a:solidFill>
                            <a:latin typeface="Cambria Math" panose="02040503050406030204" pitchFamily="18" charset="0"/>
                          </a:rPr>
                        </m:ctrlPr>
                      </m:fPr>
                      <m:num>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acc>
                              <m:accPr>
                                <m:chr m:val="̂"/>
                                <m:ctrlPr>
                                  <a:rPr lang="en-IN" sz="2400" i="1">
                                    <a:solidFill>
                                      <a:srgbClr val="111827"/>
                                    </a:solidFill>
                                    <a:latin typeface="Cambria Math" panose="02040503050406030204" pitchFamily="18" charset="0"/>
                                  </a:rPr>
                                </m:ctrlPr>
                              </m:accPr>
                              <m:e>
                                <m:r>
                                  <a:rPr lang="en-IN" sz="2400" i="1">
                                    <a:solidFill>
                                      <a:srgbClr val="111827"/>
                                    </a:solidFill>
                                    <a:latin typeface="Cambria Math" panose="02040503050406030204" pitchFamily="18" charset="0"/>
                                  </a:rPr>
                                  <m:t>𝑒</m:t>
                                </m:r>
                              </m:e>
                            </m:acc>
                          </m:e>
                          <m:sub>
                            <m:r>
                              <a:rPr lang="en-IN" sz="2400" i="1">
                                <a:solidFill>
                                  <a:srgbClr val="111827"/>
                                </a:solidFill>
                                <a:latin typeface="Cambria Math" panose="02040503050406030204" pitchFamily="18" charset="0"/>
                              </a:rPr>
                              <m:t>3</m:t>
                            </m:r>
                          </m:sub>
                        </m:sSub>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ad>
                          <m:radPr>
                            <m:degHide m:val="on"/>
                            <m:ctrlPr>
                              <a:rPr lang="en-IN" sz="2400" i="1">
                                <a:solidFill>
                                  <a:srgbClr val="111827"/>
                                </a:solidFill>
                                <a:latin typeface="Cambria Math" panose="02040503050406030204" pitchFamily="18" charset="0"/>
                              </a:rPr>
                            </m:ctrlPr>
                          </m:radPr>
                          <m:deg/>
                          <m:e>
                            <m:r>
                              <a:rPr lang="en-IN" sz="2400" i="1">
                                <a:solidFill>
                                  <a:srgbClr val="111827"/>
                                </a:solidFill>
                                <a:latin typeface="Cambria Math" panose="02040503050406030204" pitchFamily="18" charset="0"/>
                              </a:rPr>
                              <m:t>3</m:t>
                            </m:r>
                          </m:e>
                        </m:rad>
                      </m:den>
                    </m:f>
                  </m:oMath>
                </a14:m>
                <a:r>
                  <a:rPr sz="2400" b="0">
                    <a:solidFill>
                      <a:srgbClr val="111827"/>
                    </a:solidFill>
                    <a:latin typeface="Arial"/>
                  </a:rPr>
                  <a:t> for direction cosines; for direction ratios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is arbitrary.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𝑚</m:t>
                    </m:r>
                  </m:oMath>
                </a14:m>
                <a:r>
                  <a:rPr sz="2400" b="0">
                    <a:solidFill>
                      <a:srgbClr val="111827"/>
                    </a:solidFill>
                    <a:latin typeface="Arial"/>
                  </a:rPr>
                  <a:t> items are good and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faulty, the probability that the first two tested are both of the same kind is </a:t>
                </a:r>
                <a14:m>
                  <m:oMath xmlns:m="http://schemas.openxmlformats.org/officeDocument/2006/math">
                    <m:f>
                      <m:fPr>
                        <m:type m:val="bar"/>
                        <m:ctrlPr>
                          <a:rPr lang="en-IN" sz="2400" i="1">
                            <a:solidFill>
                              <a:srgbClr val="111827"/>
                            </a:solidFill>
                            <a:latin typeface="Cambria Math" panose="02040503050406030204" pitchFamily="18" charset="0"/>
                          </a:rPr>
                        </m:ctrlPr>
                      </m:fPr>
                      <m:num>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2</m:t>
                                </m:r>
                              </m:den>
                            </m:f>
                          </m:e>
                        </m:d>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e>
                        </m:d>
                      </m:num>
                      <m:den>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2</m:t>
                                </m:r>
                              </m:den>
                            </m:f>
                          </m:e>
                        </m:d>
                      </m:den>
                    </m:f>
                  </m:oMath>
                </a14:m>
                <a:r>
                  <a:rPr sz="2400" b="0">
                    <a:solidFill>
                      <a:srgbClr val="111827"/>
                    </a:solidFill>
                    <a:latin typeface="Arial"/>
                  </a:rPr>
                  <a:t> (here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6</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that the sum of two independent rolls equals </a:t>
                </a:r>
                <a14:m>
                  <m:oMath xmlns:m="http://schemas.openxmlformats.org/officeDocument/2006/math">
                    <m:r>
                      <a:rPr lang="en-IN" sz="2400" i="1">
                        <a:solidFill>
                          <a:srgbClr val="111827"/>
                        </a:solidFill>
                        <a:latin typeface="Cambria Math" panose="02040503050406030204" pitchFamily="18" charset="0"/>
                      </a:rPr>
                      <m:t>𝑠</m:t>
                    </m:r>
                  </m:oMath>
                </a14:m>
                <a:r>
                  <a:rPr sz="2400" b="0">
                    <a:solidFill>
                      <a:srgbClr val="111827"/>
                    </a:solidFill>
                    <a:latin typeface="Arial"/>
                  </a:rPr>
                  <a:t> is </a:t>
                </a: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𝑏</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𝑠</m:t>
                        </m:r>
                      </m:sub>
                      <m:sup>
                        <m:r>
                          <a:rPr lang="en-IN" sz="2400" i="1">
                            <a:solidFill>
                              <a:srgbClr val="111827"/>
                            </a:solidFill>
                            <a:latin typeface="Cambria Math" panose="02040503050406030204" pitchFamily="18" charset="0"/>
                          </a:rPr>
                          <m:t>​</m:t>
                        </m:r>
                      </m:sup>
                      <m:e>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𝑎</m:t>
                            </m:r>
                          </m:sub>
                        </m:sSub>
                      </m:e>
                    </m:nary>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𝑏</m:t>
                        </m:r>
                      </m:sub>
                    </m:sSub>
                  </m:oMath>
                </a14:m>
                <a:r>
                  <a:rPr sz="2400" b="0">
                    <a:solidFill>
                      <a:srgbClr val="111827"/>
                    </a:solidFill>
                    <a:latin typeface="Arial"/>
                  </a:rPr>
                  <a:t>; here </a:t>
                </a:r>
                <a14:m>
                  <m:oMath xmlns:m="http://schemas.openxmlformats.org/officeDocument/2006/math">
                    <m:r>
                      <a:rPr lang="en-IN" sz="2400" i="1">
                        <a:solidFill>
                          <a:srgbClr val="111827"/>
                        </a:solidFill>
                        <a:latin typeface="Cambria Math" panose="02040503050406030204" pitchFamily="18" charset="0"/>
                      </a:rPr>
                      <m:t>2</m:t>
                    </m:r>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1</m:t>
                        </m:r>
                      </m:sub>
                    </m:sSub>
                    <m:sSub>
                      <m:e>
                        <m:r>
                          <a:rPr lang="en-IN" sz="2400" i="1">
                            <a:solidFill>
                              <a:srgbClr val="111827"/>
                            </a:solidFill>
                            <a:latin typeface="Cambria Math" panose="02040503050406030204" pitchFamily="18" charset="0"/>
                          </a:rPr>
                          <m:t>𝑝</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3</m:t>
                        </m:r>
                      </m:den>
                    </m:f>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Direction cosines of the line equally inclined to three mutually perpendicular directions with unit vectors </a:t>
                </a:r>
                <a:r>
                  <a:rPr lang="en-IN" sz="2400">
                    <a:solidFill>
                      <a:srgbClr val="111827"/>
                    </a:solidFill>
                    <a:latin typeface="Cambria Math" panose="02040503050406030204" pitchFamily="18" charset="0"/>
                  </a:rPr>
                  <a:t>$\hat e_i$</a:t>
                </a:r>
                <a:r>
                  <a:rPr sz="2400" b="0">
                    <a:solidFill>
                      <a:srgbClr val="111827"/>
                    </a:solidFill>
                    <a:latin typeface="Arial"/>
                  </a:rPr>
                  <a:t>: </a:t>
                </a:r>
                <a:r>
                  <a:rPr lang="en-IN" sz="2400">
                    <a:solidFill>
                      <a:srgbClr val="111827"/>
                    </a:solidFill>
                    <a:latin typeface="Cambria Math" panose="02040503050406030204" pitchFamily="18" charset="0"/>
                  </a:rPr>
                  <a:t>$\frac{\hat e_1+\hat e_2+\hat e_3}{\sqrt3}$</a:t>
                </a:r>
                <a:r>
                  <a:rPr sz="2400" b="0">
                    <a:solidFill>
                      <a:srgbClr val="111827"/>
                    </a:solidFill>
                    <a:latin typeface="Arial"/>
                  </a:rPr>
                  <a:t>, i.e. </a:t>
                </a:r>
                <a:r>
                  <a:rPr lang="en-IN" sz="2400">
                    <a:solidFill>
                      <a:srgbClr val="111827"/>
                    </a:solidFill>
                    <a:latin typeface="Cambria Math" panose="02040503050406030204" pitchFamily="18" charset="0"/>
                  </a:rPr>
                  <a:t>$k=\frac1{\sqrt3}$</a:t>
                </a:r>
                <a:r>
                  <a:rPr sz="2400" b="0">
                    <a:solidFill>
                      <a:srgbClr val="111827"/>
                    </a:solidFill>
                    <a:latin typeface="Arial"/>
                  </a:rPr>
                  <a:t> for direction cosines; for direction ratios </a:t>
                </a:r>
                <a:r>
                  <a:rPr lang="en-IN" sz="2400">
                    <a:solidFill>
                      <a:srgbClr val="111827"/>
                    </a:solidFill>
                    <a:latin typeface="Cambria Math" panose="02040503050406030204" pitchFamily="18" charset="0"/>
                  </a:rPr>
                  <a:t>$k$</a:t>
                </a:r>
                <a:r>
                  <a:rPr sz="2400" b="0">
                    <a:solidFill>
                      <a:srgbClr val="111827"/>
                    </a:solidFill>
                    <a:latin typeface="Arial"/>
                  </a:rPr>
                  <a:t> is arbitrary.</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$m$</a:t>
                </a:r>
                <a:r>
                  <a:rPr sz="2400" b="0">
                    <a:solidFill>
                      <a:srgbClr val="111827"/>
                    </a:solidFill>
                    <a:latin typeface="Arial"/>
                  </a:rPr>
                  <a:t> items are good and </a:t>
                </a:r>
                <a:r>
                  <a:rPr lang="en-IN" sz="2400">
                    <a:solidFill>
                      <a:srgbClr val="111827"/>
                    </a:solidFill>
                    <a:latin typeface="Cambria Math" panose="02040503050406030204" pitchFamily="18" charset="0"/>
                  </a:rPr>
                  <a:t>$n$</a:t>
                </a:r>
                <a:r>
                  <a:rPr sz="2400" b="0">
                    <a:solidFill>
                      <a:srgbClr val="111827"/>
                    </a:solidFill>
                    <a:latin typeface="Arial"/>
                  </a:rPr>
                  <a:t> faulty, the probability that the first two tested are both of the same kind is </a:t>
                </a:r>
                <a:r>
                  <a:rPr lang="en-IN" sz="2400">
                    <a:solidFill>
                      <a:srgbClr val="111827"/>
                    </a:solidFill>
                    <a:latin typeface="Cambria Math" panose="02040503050406030204" pitchFamily="18" charset="0"/>
                  </a:rPr>
                  <a:t>$\frac{\binom m2+\binom n2}{\binom{m+n}2}$</a:t>
                </a:r>
                <a:r>
                  <a:rPr sz="2400" b="0">
                    <a:solidFill>
                      <a:srgbClr val="111827"/>
                    </a:solidFill>
                    <a:latin typeface="Arial"/>
                  </a:rPr>
                  <a:t> (here </a:t>
                </a:r>
                <a:r>
                  <a:rPr lang="en-IN" sz="2400">
                    <a:solidFill>
                      <a:srgbClr val="111827"/>
                    </a:solidFill>
                    <a:latin typeface="Cambria Math" panose="02040503050406030204" pitchFamily="18" charset="0"/>
                  </a:rPr>
                  <a:t>$\frac{1+1}{6}=\frac13$</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Probability that the sum of two independent rolls equals </a:t>
                </a:r>
                <a:r>
                  <a:rPr lang="en-IN" sz="2400">
                    <a:solidFill>
                      <a:srgbClr val="111827"/>
                    </a:solidFill>
                    <a:latin typeface="Cambria Math" panose="02040503050406030204" pitchFamily="18" charset="0"/>
                  </a:rPr>
                  <a:t>$s$</a:t>
                </a:r>
                <a:r>
                  <a:rPr sz="2400" b="0">
                    <a:solidFill>
                      <a:srgbClr val="111827"/>
                    </a:solidFill>
                    <a:latin typeface="Arial"/>
                  </a:rPr>
                  <a:t> is </a:t>
                </a:r>
                <a:r>
                  <a:rPr lang="en-IN" sz="2400">
                    <a:solidFill>
                      <a:srgbClr val="111827"/>
                    </a:solidFill>
                    <a:latin typeface="Cambria Math" panose="02040503050406030204" pitchFamily="18" charset="0"/>
                  </a:rPr>
                  <a:t>$\sum_{a+b=s}p_ap_b$</a:t>
                </a:r>
                <a:r>
                  <a:rPr sz="2400" b="0">
                    <a:solidFill>
                      <a:srgbClr val="111827"/>
                    </a:solidFill>
                    <a:latin typeface="Arial"/>
                  </a:rPr>
                  <a:t>; here </a:t>
                </a:r>
                <a:r>
                  <a:rPr lang="en-IN" sz="2400">
                    <a:solidFill>
                      <a:srgbClr val="111827"/>
                    </a:solidFill>
                    <a:latin typeface="Cambria Math" panose="02040503050406030204" pitchFamily="18" charset="0"/>
                  </a:rPr>
                  <a:t>$2p_1p_3=2\cdot\frac13\cdot\frac12=\frac13$</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If the binomial coefficients of the </a:t>
                </a:r>
                <a14:m>
                  <m:oMath xmlns:m="http://schemas.openxmlformats.org/officeDocument/2006/math">
                    <m:sSup>
                      <m:e>
                        <m:r>
                          <a:rPr lang="en-IN" sz="2000" i="1">
                            <a:solidFill>
                              <a:srgbClr val="111827"/>
                            </a:solidFill>
                            <a:latin typeface="Cambria Math" panose="02040503050406030204" pitchFamily="18" charset="0"/>
                          </a:rPr>
                          <m:t>𝑟</m:t>
                        </m:r>
                      </m:e>
                      <m:sup>
                        <m:r>
                          <a:rPr lang="en-IN" sz="2000" i="1">
                            <a:solidFill>
                              <a:srgbClr val="111827"/>
                            </a:solidFill>
                            <a:latin typeface="Cambria Math" panose="02040503050406030204" pitchFamily="18" charset="0"/>
                          </a:rPr>
                          <m:t>𝑡</m:t>
                        </m:r>
                        <m:r>
                          <a:rPr lang="en-IN" sz="2000" i="1">
                            <a:solidFill>
                              <a:srgbClr val="111827"/>
                            </a:solidFill>
                            <a:latin typeface="Cambria Math" panose="02040503050406030204" pitchFamily="18" charset="0"/>
                          </a:rPr>
                          <m:t>ℎ</m:t>
                        </m:r>
                      </m:sup>
                    </m:sSup>
                  </m:oMath>
                </a14:m>
                <a:r>
                  <a:rPr sz="2000" b="0">
                    <a:solidFill>
                      <a:srgbClr val="111827"/>
                    </a:solidFill>
                    <a:latin typeface="Arial"/>
                  </a:rPr>
                  <a:t>,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𝑟</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𝑡</m:t>
                        </m:r>
                        <m:r>
                          <a:rPr lang="en-IN" sz="2000" i="1">
                            <a:solidFill>
                              <a:srgbClr val="111827"/>
                            </a:solidFill>
                            <a:latin typeface="Cambria Math" panose="02040503050406030204" pitchFamily="18" charset="0"/>
                          </a:rPr>
                          <m:t>ℎ</m:t>
                        </m:r>
                      </m:sup>
                    </m:sSup>
                  </m:oMath>
                </a14:m>
                <a:r>
                  <a:rPr sz="2000" b="0">
                    <a:solidFill>
                      <a:srgbClr val="111827"/>
                    </a:solidFill>
                    <a:latin typeface="Arial"/>
                  </a:rPr>
                  <a:t> and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𝑟</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2</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𝑡</m:t>
                        </m:r>
                        <m:r>
                          <a:rPr lang="en-IN" sz="2000" i="1">
                            <a:solidFill>
                              <a:srgbClr val="111827"/>
                            </a:solidFill>
                            <a:latin typeface="Cambria Math" panose="02040503050406030204" pitchFamily="18" charset="0"/>
                          </a:rPr>
                          <m:t>ℎ</m:t>
                        </m:r>
                      </m:sup>
                    </m:sSup>
                  </m:oMath>
                </a14:m>
                <a:r>
                  <a:rPr sz="2000" b="0">
                    <a:solidFill>
                      <a:srgbClr val="111827"/>
                    </a:solidFill>
                    <a:latin typeface="Arial"/>
                  </a:rPr>
                  <a:t> terms in the expansion of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𝑥</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14</m:t>
                        </m:r>
                      </m:sup>
                    </m:sSup>
                  </m:oMath>
                </a14:m>
                <a:r>
                  <a:rPr sz="2000" b="0">
                    <a:solidFill>
                      <a:srgbClr val="111827"/>
                    </a:solidFill>
                    <a:latin typeface="Arial"/>
                  </a:rPr>
                  <a:t> are in A.P., then </a:t>
                </a:r>
                <a14:m>
                  <m:oMath xmlns:m="http://schemas.openxmlformats.org/officeDocument/2006/math">
                    <m:r>
                      <a:rPr lang="en-IN" sz="2000" i="1">
                        <a:solidFill>
                          <a:srgbClr val="111827"/>
                        </a:solidFill>
                        <a:latin typeface="Cambria Math" panose="02040503050406030204" pitchFamily="18" charset="0"/>
                      </a:rPr>
                      <m:t>𝑟</m:t>
                    </m:r>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The sum of the coefficients in the polynomial expansion of </a:t>
                </a:r>
                <a14:m>
                  <m:oMath xmlns:m="http://schemas.openxmlformats.org/officeDocument/2006/math">
                    <m:sSup>
                      <m:e>
                        <m:d>
                          <m:dPr>
                            <m:begChr m:val="["/>
                            <m:sepChr m:val=""/>
                            <m:endChr m:val="]"/>
                            <m:grow/>
                            <m:ctrlPr>
                              <a:rPr lang="en-IN" sz="2000" i="1">
                                <a:solidFill>
                                  <a:srgbClr val="111827"/>
                                </a:solidFill>
                                <a:latin typeface="Cambria Math" panose="02040503050406030204" pitchFamily="18" charset="0"/>
                              </a:rPr>
                            </m:ctrlPr>
                          </m:dPr>
                          <m:e>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2</m:t>
                                </m:r>
                              </m:sup>
                            </m:sSup>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𝑥</m:t>
                                </m:r>
                              </m:e>
                              <m:sup>
                                <m:r>
                                  <a:rPr lang="en-IN" sz="2000" i="1">
                                    <a:solidFill>
                                      <a:srgbClr val="111827"/>
                                    </a:solidFill>
                                    <a:latin typeface="Cambria Math" panose="02040503050406030204" pitchFamily="18" charset="0"/>
                                  </a:rPr>
                                  <m:t>𝑛</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up>
                            </m:sSup>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𝑥</m:t>
                            </m:r>
                            <m:r>
                              <m:rPr>
                                <m:sty m:val="p"/>
                              </m:rPr>
                              <a:rPr lang="en-IN" sz="2000">
                                <a:solidFill>
                                  <a:srgbClr val="111827"/>
                                </a:solidFill>
                                <a:latin typeface="Cambria Math" panose="02040503050406030204" pitchFamily="18" charset="0"/>
                              </a:rPr>
                              <m:t>)</m:t>
                            </m:r>
                          </m:e>
                        </m:d>
                      </m:e>
                      <m:sup>
                        <m:r>
                          <a:rPr lang="en-IN" sz="2000" i="1">
                            <a:solidFill>
                              <a:srgbClr val="111827"/>
                            </a:solidFill>
                            <a:latin typeface="Cambria Math" panose="02040503050406030204" pitchFamily="18" charset="0"/>
                          </a:rPr>
                          <m:t>𝑚</m:t>
                        </m:r>
                      </m:sup>
                    </m:sSup>
                  </m:oMath>
                </a14:m>
                <a:r>
                  <a:rPr sz="2000" b="0">
                    <a:solidFill>
                      <a:srgbClr val="111827"/>
                    </a:solidFill>
                    <a:latin typeface="Arial"/>
                  </a:rPr>
                  <a:t>, </a:t>
                </a:r>
                <a14:m>
                  <m:oMath xmlns:m="http://schemas.openxmlformats.org/officeDocument/2006/math">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𝑛</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𝑚</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𝑁</m:t>
                    </m:r>
                    <m:r>
                      <m:rPr>
                        <m:sty m:val="p"/>
                      </m:rPr>
                      <a:rPr lang="en-IN" sz="2000">
                        <a:solidFill>
                          <a:srgbClr val="111827"/>
                        </a:solidFill>
                        <a:latin typeface="Cambria Math" panose="02040503050406030204" pitchFamily="18" charset="0"/>
                      </a:rPr>
                      <m:t>)</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The sum of the series </a:t>
                </a:r>
                <a14:m>
                  <m:oMath xmlns:m="http://schemas.openxmlformats.org/officeDocument/2006/math">
                    <m:nary>
                      <m:naryPr>
                        <m:chr m:val="∑"/>
                        <m:limLoc m:val="undOvr"/>
                        <m:subHide m:val="off"/>
                        <m:supHide m:val="off"/>
                        <m:ctrlPr>
                          <a:rPr lang="en-IN" sz="2000" i="1">
                            <a:solidFill>
                              <a:srgbClr val="111827"/>
                            </a:solidFill>
                            <a:latin typeface="Cambria Math" panose="02040503050406030204" pitchFamily="18" charset="0"/>
                          </a:rPr>
                        </m:ctrlPr>
                      </m:naryPr>
                      <m:sub>
                        <m:r>
                          <a:rPr lang="en-IN" sz="2000" i="1">
                            <a:solidFill>
                              <a:srgbClr val="111827"/>
                            </a:solidFill>
                            <a:latin typeface="Cambria Math" panose="02040503050406030204" pitchFamily="18" charset="0"/>
                          </a:rPr>
                          <m:t>𝑟</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ub>
                      <m:sup>
                        <m:r>
                          <a:rPr lang="en-IN" sz="2000" i="1">
                            <a:solidFill>
                              <a:srgbClr val="111827"/>
                            </a:solidFill>
                            <a:latin typeface="Cambria Math" panose="02040503050406030204" pitchFamily="18" charset="0"/>
                          </a:rPr>
                          <m:t>𝑛</m:t>
                        </m:r>
                      </m:sup>
                      <m:e>
                        <m:r>
                          <m:rPr>
                            <m:sty m:val="p"/>
                          </m:rPr>
                          <a:rPr lang="en-IN" sz="2000">
                            <a:solidFill>
                              <a:srgbClr val="111827"/>
                            </a:solidFill>
                            <a:latin typeface="Cambria Math" panose="02040503050406030204" pitchFamily="18" charset="0"/>
                          </a:rPr>
                          <m:t>(</m:t>
                        </m:r>
                      </m:e>
                    </m:nary>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sSup>
                      <m:e>
                        <m:r>
                          <m:rPr>
                            <m:sty m:val="p"/>
                          </m:rPr>
                          <a:rPr lang="en-IN" sz="2000">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𝑟</m:t>
                        </m:r>
                      </m:sup>
                    </m:sSup>
                    <m:r>
                      <a:rPr lang="en-IN" sz="2000" i="1">
                        <a:solidFill>
                          <a:srgbClr val="111827"/>
                        </a:solidFill>
                        <a:latin typeface="Cambria Math" panose="02040503050406030204" pitchFamily="18" charset="0"/>
                      </a:rPr>
                      <m:t> </m:t>
                    </m:r>
                    <m:sSup>
                      <m:e>
                        <m:r>
                          <a:rPr lang="en-IN" sz="2000" i="1">
                            <a:solidFill>
                              <a:srgbClr val="111827"/>
                            </a:solidFill>
                            <a:latin typeface="Cambria Math" panose="02040503050406030204" pitchFamily="18" charset="0"/>
                          </a:rPr>
                          <m:t>​</m:t>
                        </m:r>
                      </m:e>
                      <m:sup>
                        <m:r>
                          <a:rPr lang="en-IN" sz="2000" i="1">
                            <a:solidFill>
                              <a:srgbClr val="111827"/>
                            </a:solidFill>
                            <a:latin typeface="Cambria Math" panose="02040503050406030204" pitchFamily="18" charset="0"/>
                          </a:rPr>
                          <m:t>𝑛</m:t>
                        </m:r>
                      </m:sup>
                    </m:sSup>
                    <m:sSub>
                      <m:e>
                        <m:r>
                          <a:rPr lang="en-IN" sz="2000" i="1">
                            <a:solidFill>
                              <a:srgbClr val="111827"/>
                            </a:solidFill>
                            <a:latin typeface="Cambria Math" panose="02040503050406030204" pitchFamily="18" charset="0"/>
                          </a:rPr>
                          <m:t>𝐶</m:t>
                        </m:r>
                      </m:e>
                      <m:sub>
                        <m:r>
                          <a:rPr lang="en-IN" sz="2000" i="1">
                            <a:solidFill>
                              <a:srgbClr val="111827"/>
                            </a:solidFill>
                            <a:latin typeface="Cambria Math" panose="02040503050406030204" pitchFamily="18" charset="0"/>
                          </a:rPr>
                          <m:t>𝑟</m:t>
                        </m:r>
                      </m:sub>
                    </m:sSub>
                    <m:d>
                      <m:dPr>
                        <m:begChr m:val="["/>
                        <m:sepChr m:val=""/>
                        <m:endChr m:val="]"/>
                        <m:grow/>
                        <m:ctrlPr>
                          <a:rPr lang="en-IN" sz="2000" i="1">
                            <a:solidFill>
                              <a:srgbClr val="111827"/>
                            </a:solidFill>
                            <a:latin typeface="Cambria Math" panose="02040503050406030204" pitchFamily="18" charset="0"/>
                          </a:rPr>
                        </m:ctrlPr>
                      </m:dPr>
                      <m:e>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𝑖</m:t>
                            </m:r>
                          </m:e>
                          <m:sup>
                            <m:r>
                              <a:rPr lang="en-IN" sz="2000" i="1">
                                <a:solidFill>
                                  <a:srgbClr val="111827"/>
                                </a:solidFill>
                                <a:latin typeface="Cambria Math" panose="02040503050406030204" pitchFamily="18" charset="0"/>
                              </a:rPr>
                              <m:t>𝑟</m:t>
                            </m:r>
                          </m:sup>
                        </m:sSup>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𝑖</m:t>
                            </m:r>
                          </m:e>
                          <m:sup>
                            <m:r>
                              <a:rPr lang="en-IN" sz="2000" i="1">
                                <a:solidFill>
                                  <a:srgbClr val="111827"/>
                                </a:solidFill>
                                <a:latin typeface="Cambria Math" panose="02040503050406030204" pitchFamily="18" charset="0"/>
                              </a:rPr>
                              <m:t>2</m:t>
                            </m:r>
                            <m:r>
                              <a:rPr lang="en-IN" sz="2000" i="1">
                                <a:solidFill>
                                  <a:srgbClr val="111827"/>
                                </a:solidFill>
                                <a:latin typeface="Cambria Math" panose="02040503050406030204" pitchFamily="18" charset="0"/>
                              </a:rPr>
                              <m:t>𝑟</m:t>
                            </m:r>
                          </m:sup>
                        </m:sSup>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r>
                          <m:rPr>
                            <m:sty m:val="p"/>
                          </m:rPr>
                          <a:rPr lang="en-IN" sz="2000">
                            <a:solidFill>
                              <a:srgbClr val="111827"/>
                            </a:solidFill>
                            <a:latin typeface="Cambria Math" panose="02040503050406030204" pitchFamily="18" charset="0"/>
                          </a:rPr>
                          <m:t>+</m:t>
                        </m:r>
                        <m:sSup>
                          <m:e>
                            <m:r>
                              <a:rPr lang="en-IN" sz="2000" i="1">
                                <a:solidFill>
                                  <a:srgbClr val="111827"/>
                                </a:solidFill>
                                <a:latin typeface="Cambria Math" panose="02040503050406030204" pitchFamily="18" charset="0"/>
                              </a:rPr>
                              <m:t>𝑖</m:t>
                            </m:r>
                          </m:e>
                          <m: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𝑛</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𝑟</m:t>
                            </m:r>
                          </m:sup>
                        </m:sSup>
                      </m:e>
                    </m:d>
                  </m:oMath>
                </a14:m>
                <a:r>
                  <a:rPr sz="2000" b="0">
                    <a:solidFill>
                      <a:srgbClr val="111827"/>
                    </a:solidFill>
                    <a:latin typeface="Arial"/>
                  </a:rPr>
                  <a:t> where </a:t>
                </a:r>
                <a14:m>
                  <m:oMath xmlns:m="http://schemas.openxmlformats.org/officeDocument/2006/math">
                    <m:r>
                      <a:rPr lang="en-IN" sz="2000" i="1">
                        <a:solidFill>
                          <a:srgbClr val="111827"/>
                        </a:solidFill>
                        <a:latin typeface="Cambria Math" panose="02040503050406030204" pitchFamily="18" charset="0"/>
                      </a:rPr>
                      <m:t>𝑛</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4</m:t>
                    </m:r>
                    <m:r>
                      <a:rPr lang="en-IN" sz="2000" i="1">
                        <a:solidFill>
                          <a:srgbClr val="111827"/>
                        </a:solidFill>
                        <a:latin typeface="Cambria Math" panose="02040503050406030204" pitchFamily="18" charset="0"/>
                      </a:rPr>
                      <m:t>𝑘</m:t>
                    </m:r>
                  </m:oMath>
                </a14:m>
                <a:r>
                  <a:rPr sz="2000" b="0">
                    <a:solidFill>
                      <a:srgbClr val="111827"/>
                    </a:solidFill>
                    <a:latin typeface="Arial"/>
                  </a:rPr>
                  <a:t>, </a:t>
                </a:r>
                <a14:m>
                  <m:oMath xmlns:m="http://schemas.openxmlformats.org/officeDocument/2006/math">
                    <m:r>
                      <a:rPr lang="en-IN" sz="2000" i="1">
                        <a:solidFill>
                          <a:srgbClr val="111827"/>
                        </a:solidFill>
                        <a:latin typeface="Cambria Math" panose="02040503050406030204" pitchFamily="18" charset="0"/>
                      </a:rPr>
                      <m:t>𝑘</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𝐼</m:t>
                    </m:r>
                  </m:oMath>
                </a14:m>
                <a:r>
                  <a:rPr sz="2000" b="0">
                    <a:solidFill>
                      <a:srgbClr val="111827"/>
                    </a:solidFill>
                    <a:latin typeface="Arial"/>
                  </a:rPr>
                  <a:t> and </a:t>
                </a:r>
                <a14:m>
                  <m:oMath xmlns:m="http://schemas.openxmlformats.org/officeDocument/2006/math">
                    <m:r>
                      <a:rPr lang="en-IN" sz="2000" i="1">
                        <a:solidFill>
                          <a:srgbClr val="111827"/>
                        </a:solidFill>
                        <a:latin typeface="Cambria Math" panose="02040503050406030204" pitchFamily="18" charset="0"/>
                      </a:rPr>
                      <m:t>𝑖</m:t>
                    </m:r>
                    <m:r>
                      <m:rPr>
                        <m:sty m:val="p"/>
                      </m:rPr>
                      <a:rPr lang="en-IN" sz="2000">
                        <a:solidFill>
                          <a:srgbClr val="111827"/>
                        </a:solidFill>
                        <a:latin typeface="Cambria Math" panose="02040503050406030204" pitchFamily="18" charset="0"/>
                      </a:rPr>
                      <m:t>=</m:t>
                    </m:r>
                    <m:rad>
                      <m:radPr>
                        <m:degHide m:val="on"/>
                        <m:ctrlPr>
                          <a:rPr lang="en-IN" sz="2000" i="1">
                            <a:solidFill>
                              <a:srgbClr val="111827"/>
                            </a:solidFill>
                            <a:latin typeface="Cambria Math" panose="02040503050406030204" pitchFamily="18" charset="0"/>
                          </a:rPr>
                        </m:ctrlPr>
                      </m:radPr>
                      <m:deg/>
                      <m:e>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1</m:t>
                        </m:r>
                      </m:e>
                    </m:rad>
                  </m:oMath>
                </a14:m>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a:t>
                </a:r>
                <a14:m>
                  <m:oMath xmlns:m="http://schemas.openxmlformats.org/officeDocument/2006/math">
                    <m:sSup>
                      <m:e>
                        <m:r>
                          <a:rPr lang="en-IN" sz="2000" i="1">
                            <a:solidFill>
                              <a:srgbClr val="111827"/>
                            </a:solidFill>
                            <a:latin typeface="Cambria Math" panose="02040503050406030204" pitchFamily="18" charset="0"/>
                          </a:rPr>
                          <m:t>3</m:t>
                        </m:r>
                      </m:e>
                      <m:sup>
                        <m:r>
                          <a:rPr lang="en-IN" sz="2000" i="1">
                            <a:solidFill>
                              <a:srgbClr val="111827"/>
                            </a:solidFill>
                            <a:latin typeface="Cambria Math" panose="02040503050406030204" pitchFamily="18" charset="0"/>
                          </a:rPr>
                          <m:t>37</m:t>
                        </m:r>
                      </m:sup>
                    </m:sSup>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80</m:t>
                    </m:r>
                    <m:r>
                      <a:rPr lang="en-IN" sz="2000" i="1">
                        <a:solidFill>
                          <a:srgbClr val="111827"/>
                        </a:solidFill>
                        <a:latin typeface="Cambria Math" panose="02040503050406030204" pitchFamily="18" charset="0"/>
                      </a:rPr>
                      <m:t>λ</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𝑘</m:t>
                    </m:r>
                  </m:oMath>
                </a14:m>
                <a:r>
                  <a:rPr sz="2000" b="0">
                    <a:solidFill>
                      <a:srgbClr val="111827"/>
                    </a:solidFill>
                    <a:latin typeface="Arial"/>
                  </a:rPr>
                  <a:t>, where </a:t>
                </a:r>
                <a14:m>
                  <m:oMath xmlns:m="http://schemas.openxmlformats.org/officeDocument/2006/math">
                    <m:r>
                      <a:rPr lang="en-IN" sz="2000" i="1">
                        <a:solidFill>
                          <a:srgbClr val="111827"/>
                        </a:solidFill>
                        <a:latin typeface="Cambria Math" panose="02040503050406030204" pitchFamily="18" charset="0"/>
                      </a:rPr>
                      <m:t>λ</m:t>
                    </m:r>
                    <m:r>
                      <m:rPr>
                        <m:sty m:val="p"/>
                      </m:rPr>
                      <a:rPr lang="en-IN" sz="2000">
                        <a:solidFill>
                          <a:srgbClr val="111827"/>
                        </a:solidFill>
                        <a:latin typeface="Cambria Math" panose="02040503050406030204" pitchFamily="18" charset="0"/>
                      </a:rPr>
                      <m:t>∈</m:t>
                    </m:r>
                    <m:r>
                      <a:rPr lang="en-IN" sz="2000" i="1">
                        <a:solidFill>
                          <a:srgbClr val="111827"/>
                        </a:solidFill>
                        <a:latin typeface="Cambria Math" panose="02040503050406030204" pitchFamily="18" charset="0"/>
                      </a:rPr>
                      <m:t>𝑁</m:t>
                    </m:r>
                  </m:oMath>
                </a14:m>
                <a:r>
                  <a:rPr sz="2000" b="0">
                    <a:solidFill>
                      <a:srgbClr val="111827"/>
                    </a:solidFill>
                    <a:latin typeface="Arial"/>
                  </a:rPr>
                  <a:t>, then </a:t>
                </a:r>
                <a14:m>
                  <m:oMath xmlns:m="http://schemas.openxmlformats.org/officeDocument/2006/math">
                    <m:r>
                      <a:rPr lang="en-IN" sz="2000" i="1">
                        <a:solidFill>
                          <a:srgbClr val="111827"/>
                        </a:solidFill>
                        <a:latin typeface="Cambria Math" panose="02040503050406030204" pitchFamily="18" charset="0"/>
                      </a:rPr>
                      <m:t>𝑘</m:t>
                    </m:r>
                  </m:oMath>
                </a14:m>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r>
                      <a:rPr lang="en-IN" sz="2000" i="1">
                        <a:solidFill>
                          <a:srgbClr val="111827"/>
                        </a:solidFill>
                        <a:latin typeface="Cambria Math" panose="02040503050406030204" pitchFamily="18" charset="0"/>
                      </a:rPr>
                      <m:t>5</m:t>
                    </m:r>
                  </m:oMath>
                </a14:m>
                <a:r>
                  <a:rPr sz="2000" b="0">
                    <a:solidFill>
                      <a:srgbClr val="111827"/>
                    </a:solidFill>
                    <a:latin typeface="Arial"/>
                  </a:rPr>
                  <a:t>, (q) </a:t>
                </a:r>
                <a14:m>
                  <m:oMath xmlns:m="http://schemas.openxmlformats.org/officeDocument/2006/math">
                    <m:r>
                      <a:rPr lang="en-IN" sz="2000" i="1">
                        <a:solidFill>
                          <a:srgbClr val="111827"/>
                        </a:solidFill>
                        <a:latin typeface="Cambria Math" panose="02040503050406030204" pitchFamily="18" charset="0"/>
                      </a:rPr>
                      <m:t>4</m:t>
                    </m:r>
                  </m:oMath>
                </a14:m>
                <a:r>
                  <a:rPr sz="2000" b="0">
                    <a:solidFill>
                      <a:srgbClr val="111827"/>
                    </a:solidFill>
                    <a:latin typeface="Arial"/>
                  </a:rPr>
                  <a:t>, (r) </a:t>
                </a:r>
                <a14:m>
                  <m:oMath xmlns:m="http://schemas.openxmlformats.org/officeDocument/2006/math">
                    <m:r>
                      <a:rPr lang="en-IN" sz="2000" i="1">
                        <a:solidFill>
                          <a:srgbClr val="111827"/>
                        </a:solidFill>
                        <a:latin typeface="Cambria Math" panose="02040503050406030204" pitchFamily="18" charset="0"/>
                      </a:rPr>
                      <m:t>0</m:t>
                    </m:r>
                  </m:oMath>
                </a14:m>
                <a:r>
                  <a:rPr sz="2000" b="0">
                    <a:solidFill>
                      <a:srgbClr val="111827"/>
                    </a:solidFill>
                    <a:latin typeface="Arial"/>
                  </a:rPr>
                  <a:t>, (s) </a:t>
                </a:r>
                <a14:m>
                  <m:oMath xmlns:m="http://schemas.openxmlformats.org/officeDocument/2006/math">
                    <m:r>
                      <a:rPr lang="en-IN" sz="2000" i="1">
                        <a:solidFill>
                          <a:srgbClr val="111827"/>
                        </a:solidFill>
                        <a:latin typeface="Cambria Math" panose="02040503050406030204" pitchFamily="18" charset="0"/>
                      </a:rPr>
                      <m:t>3</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p; b - q; c - r; d - 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r; b - p; c - q; d - 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p; b - q; c - s; d - 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p; b - r; c - r; d - s</a:t>
                </a:r>
                <a:endParaRPr sz="2000">
                  <a:solidFill>
                    <a:srgbClr val="111827"/>
                  </a:solidFill>
                </a:endParaRPr>
              </a:p>
            </p:txBody>
          </p:sp>
        </mc:Choice>
        <mc:Fallback>
          <p:sp>
            <p:nvSpPr>
              <p:cNvPr id="4" name="Rounded Rectangle 3"/>
              <p:cNvSpPr/>
              <p:nvPr/>
            </p:nvSpPr>
            <p:spPr>
              <a:xfrm>
                <a:off x="731520" y="1280160"/>
                <a:ext cx="10725912" cy="539496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If the binomial coefficients of the </a:t>
                </a:r>
                <a:r>
                  <a:rPr lang="en-IN" sz="2000">
                    <a:solidFill>
                      <a:srgbClr val="111827"/>
                    </a:solidFill>
                    <a:latin typeface="Cambria Math" panose="02040503050406030204" pitchFamily="18" charset="0"/>
                  </a:rPr>
                  <a:t>$r^{th}$</a:t>
                </a:r>
                <a:r>
                  <a:rPr sz="2000" b="0">
                    <a:solidFill>
                      <a:srgbClr val="111827"/>
                    </a:solidFill>
                    <a:latin typeface="Arial"/>
                  </a:rPr>
                  <a:t>, </a:t>
                </a:r>
                <a:r>
                  <a:rPr lang="en-IN" sz="2000">
                    <a:solidFill>
                      <a:srgbClr val="111827"/>
                    </a:solidFill>
                    <a:latin typeface="Cambria Math" panose="02040503050406030204" pitchFamily="18" charset="0"/>
                  </a:rPr>
                  <a:t>$(r+1)^{th}$</a:t>
                </a:r>
                <a:r>
                  <a:rPr sz="2000" b="0">
                    <a:solidFill>
                      <a:srgbClr val="111827"/>
                    </a:solidFill>
                    <a:latin typeface="Arial"/>
                  </a:rPr>
                  <a:t> and </a:t>
                </a:r>
                <a:r>
                  <a:rPr lang="en-IN" sz="2000">
                    <a:solidFill>
                      <a:srgbClr val="111827"/>
                    </a:solidFill>
                    <a:latin typeface="Cambria Math" panose="02040503050406030204" pitchFamily="18" charset="0"/>
                  </a:rPr>
                  <a:t>$(r+2)^{th}$</a:t>
                </a:r>
                <a:r>
                  <a:rPr sz="2000" b="0">
                    <a:solidFill>
                      <a:srgbClr val="111827"/>
                    </a:solidFill>
                    <a:latin typeface="Arial"/>
                  </a:rPr>
                  <a:t> terms in the expansion of </a:t>
                </a:r>
                <a:r>
                  <a:rPr lang="en-IN" sz="2000">
                    <a:solidFill>
                      <a:srgbClr val="111827"/>
                    </a:solidFill>
                    <a:latin typeface="Cambria Math" panose="02040503050406030204" pitchFamily="18" charset="0"/>
                  </a:rPr>
                  <a:t>$(1+x)^{14}$</a:t>
                </a:r>
                <a:r>
                  <a:rPr sz="2000" b="0">
                    <a:solidFill>
                      <a:srgbClr val="111827"/>
                    </a:solidFill>
                    <a:latin typeface="Arial"/>
                  </a:rPr>
                  <a:t> are in A.P., then </a:t>
                </a:r>
                <a:r>
                  <a:rPr lang="en-IN" sz="2000">
                    <a:solidFill>
                      <a:srgbClr val="111827"/>
                    </a:solidFill>
                    <a:latin typeface="Cambria Math" panose="02040503050406030204" pitchFamily="18" charset="0"/>
                  </a:rPr>
                  <a:t>$r$</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The sum of the coefficients in the polynomial expansion of </a:t>
                </a:r>
                <a:r>
                  <a:rPr lang="en-IN" sz="2000">
                    <a:solidFill>
                      <a:srgbClr val="111827"/>
                    </a:solidFill>
                    <a:latin typeface="Cambria Math" panose="02040503050406030204" pitchFamily="18" charset="0"/>
                  </a:rPr>
                  <a:t>$\left[\{1+x+x^2+\cdots+x^{n-1}\}(1-x)\right]^m$</a:t>
                </a:r>
                <a:r>
                  <a:rPr sz="2000" b="0">
                    <a:solidFill>
                      <a:srgbClr val="111827"/>
                    </a:solidFill>
                    <a:latin typeface="Arial"/>
                  </a:rPr>
                  <a:t>, </a:t>
                </a:r>
                <a:r>
                  <a:rPr lang="en-IN" sz="2000">
                    <a:solidFill>
                      <a:srgbClr val="111827"/>
                    </a:solidFill>
                    <a:latin typeface="Cambria Math" panose="02040503050406030204" pitchFamily="18" charset="0"/>
                  </a:rPr>
                  <a:t>$(n,m\in N)$</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The sum of the series </a:t>
                </a:r>
                <a:r>
                  <a:rPr lang="en-IN" sz="2000">
                    <a:solidFill>
                      <a:srgbClr val="111827"/>
                    </a:solidFill>
                    <a:latin typeface="Cambria Math" panose="02040503050406030204" pitchFamily="18" charset="0"/>
                  </a:rPr>
                  <a:t>$\sum_{r=1}^{n}(-1)^r\,{}^nC_r\left[1+i^r+i^{2r}+\cdots+i^{(n-1)r}\right]$</a:t>
                </a:r>
                <a:r>
                  <a:rPr sz="2000" b="0">
                    <a:solidFill>
                      <a:srgbClr val="111827"/>
                    </a:solidFill>
                    <a:latin typeface="Arial"/>
                  </a:rPr>
                  <a:t> where </a:t>
                </a:r>
                <a:r>
                  <a:rPr lang="en-IN" sz="2000">
                    <a:solidFill>
                      <a:srgbClr val="111827"/>
                    </a:solidFill>
                    <a:latin typeface="Cambria Math" panose="02040503050406030204" pitchFamily="18" charset="0"/>
                  </a:rPr>
                  <a:t>$n=4k$</a:t>
                </a:r>
                <a:r>
                  <a:rPr sz="2000" b="0">
                    <a:solidFill>
                      <a:srgbClr val="111827"/>
                    </a:solidFill>
                    <a:latin typeface="Arial"/>
                  </a:rPr>
                  <a:t>, </a:t>
                </a:r>
                <a:r>
                  <a:rPr lang="en-IN" sz="2000">
                    <a:solidFill>
                      <a:srgbClr val="111827"/>
                    </a:solidFill>
                    <a:latin typeface="Cambria Math" panose="02040503050406030204" pitchFamily="18" charset="0"/>
                  </a:rPr>
                  <a:t>$k\in I$</a:t>
                </a:r>
                <a:r>
                  <a:rPr sz="2000" b="0">
                    <a:solidFill>
                      <a:srgbClr val="111827"/>
                    </a:solidFill>
                    <a:latin typeface="Arial"/>
                  </a:rPr>
                  <a:t> and </a:t>
                </a:r>
                <a:r>
                  <a:rPr lang="en-IN" sz="2000">
                    <a:solidFill>
                      <a:srgbClr val="111827"/>
                    </a:solidFill>
                    <a:latin typeface="Cambria Math" panose="02040503050406030204" pitchFamily="18" charset="0"/>
                  </a:rPr>
                  <a:t>$i=\sqrt{-1}$</a:t>
                </a:r>
                <a:r>
                  <a:rPr sz="2000" b="0">
                    <a:solidFill>
                      <a:srgbClr val="111827"/>
                    </a:solidFill>
                    <a:latin typeface="Arial"/>
                  </a:rPr>
                  <a:t>, is equal to</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If </a:t>
                </a:r>
                <a:r>
                  <a:rPr lang="en-IN" sz="2000">
                    <a:solidFill>
                      <a:srgbClr val="111827"/>
                    </a:solidFill>
                    <a:latin typeface="Cambria Math" panose="02040503050406030204" pitchFamily="18" charset="0"/>
                  </a:rPr>
                  <a:t>$3^{37}=80\lambda+k$</a:t>
                </a:r>
                <a:r>
                  <a:rPr sz="2000" b="0">
                    <a:solidFill>
                      <a:srgbClr val="111827"/>
                    </a:solidFill>
                    <a:latin typeface="Arial"/>
                  </a:rPr>
                  <a:t>, where </a:t>
                </a:r>
                <a:r>
                  <a:rPr lang="en-IN" sz="2000">
                    <a:solidFill>
                      <a:srgbClr val="111827"/>
                    </a:solidFill>
                    <a:latin typeface="Cambria Math" panose="02040503050406030204" pitchFamily="18" charset="0"/>
                  </a:rPr>
                  <a:t>$\lambda\in N$</a:t>
                </a:r>
                <a:r>
                  <a:rPr sz="2000" b="0">
                    <a:solidFill>
                      <a:srgbClr val="111827"/>
                    </a:solidFill>
                    <a:latin typeface="Arial"/>
                  </a:rPr>
                  <a:t>, then </a:t>
                </a:r>
                <a:r>
                  <a:rPr lang="en-IN" sz="2000">
                    <a:solidFill>
                      <a:srgbClr val="111827"/>
                    </a:solidFill>
                    <a:latin typeface="Cambria Math" panose="02040503050406030204" pitchFamily="18" charset="0"/>
                  </a:rPr>
                  <a:t>$k$</a:t>
                </a:r>
                <a:r>
                  <a:rPr sz="2000" b="0">
                    <a:solidFill>
                      <a:srgbClr val="111827"/>
                    </a:solidFill>
                    <a:latin typeface="Arial"/>
                  </a:rPr>
                  <a:t> is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$5$</a:t>
                </a:r>
                <a:r>
                  <a:rPr sz="2000" b="0">
                    <a:solidFill>
                      <a:srgbClr val="111827"/>
                    </a:solidFill>
                    <a:latin typeface="Arial"/>
                  </a:rPr>
                  <a:t>, (q) </a:t>
                </a:r>
                <a:r>
                  <a:rPr lang="en-IN" sz="2000">
                    <a:solidFill>
                      <a:srgbClr val="111827"/>
                    </a:solidFill>
                    <a:latin typeface="Cambria Math" panose="02040503050406030204" pitchFamily="18" charset="0"/>
                  </a:rPr>
                  <a:t>$4$</a:t>
                </a:r>
                <a:r>
                  <a:rPr sz="2000" b="0">
                    <a:solidFill>
                      <a:srgbClr val="111827"/>
                    </a:solidFill>
                    <a:latin typeface="Arial"/>
                  </a:rPr>
                  <a:t>, (r) </a:t>
                </a:r>
                <a:r>
                  <a:rPr lang="en-IN" sz="2000">
                    <a:solidFill>
                      <a:srgbClr val="111827"/>
                    </a:solidFill>
                    <a:latin typeface="Cambria Math" panose="02040503050406030204" pitchFamily="18" charset="0"/>
                  </a:rPr>
                  <a:t>$0$</a:t>
                </a:r>
                <a:r>
                  <a:rPr sz="2000" b="0">
                    <a:solidFill>
                      <a:srgbClr val="111827"/>
                    </a:solidFill>
                    <a:latin typeface="Arial"/>
                  </a:rPr>
                  <a:t>, (s) </a:t>
                </a:r>
                <a:r>
                  <a:rPr lang="en-IN" sz="2000">
                    <a:solidFill>
                      <a:srgbClr val="111827"/>
                    </a:solidFill>
                    <a:latin typeface="Cambria Math" panose="02040503050406030204" pitchFamily="18" charset="0"/>
                  </a:rPr>
                  <a:t>$3$</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p; b - q; c - r; d - 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r; b - p; c - q; d - 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p; b - q; c - s; d - r</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p; b - r; c - r; d - s</a:t>
                </a:r>
                <a:endParaRPr sz="2000">
                  <a:solidFill>
                    <a:srgbClr val="111827"/>
                  </a:solidFill>
                </a:endParaRPr>
              </a:p>
            </p:txBody>
          </p:sp>
        </mc:Fallback>
      </mc:AlternateContent>
    </p:spTree>
  </p:cSld>
  <p:clrMapOvr>
    <a:masterClrMapping/>
  </p:clrMapOvr>
</p:sld>
</file>

<file path=ppt/slides/slide6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coefficients, sums and remainders, Roots of unity (powers of </a:t>
                </a:r>
                <a14:m>
                  <m:oMath xmlns:m="http://schemas.openxmlformats.org/officeDocument/2006/math">
                    <m:r>
                      <a:rPr lang="en-IN" sz="2400" i="1">
                        <a:solidFill>
                          <a:srgbClr val="111827"/>
                        </a:solidFill>
                        <a:latin typeface="Cambria Math" panose="02040503050406030204" pitchFamily="18" charset="0"/>
                      </a:rPr>
                      <m:t>𝑖</m:t>
                    </m:r>
                  </m:oMath>
                </a14:m>
                <a:r>
                  <a:rPr sz="2400" b="0">
                    <a:solidFill>
                      <a:srgbClr val="111827"/>
                    </a:solidFill>
                    <a:latin typeface="Arial"/>
                  </a:rPr>
                  <a: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Choice>
        <mc:Fallback>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Binomial theorem: coefficients, sums and remainders, Roots of unity (powers of </a:t>
                </a:r>
                <a:r>
                  <a:rPr lang="en-IN" sz="2400">
                    <a:solidFill>
                      <a:srgbClr val="111827"/>
                    </a:solidFill>
                    <a:latin typeface="Cambria Math" panose="02040503050406030204" pitchFamily="18" charset="0"/>
                  </a:rPr>
                  <a:t>$i$</a:t>
                </a:r>
                <a:r>
                  <a:rPr sz="2400" b="0">
                    <a:solidFill>
                      <a:srgbClr val="111827"/>
                    </a:solidFill>
                    <a:latin typeface="Arial"/>
                  </a:rPr>
                  <a:t>)</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mc:Fallback>
      </mc:AlternateContent>
      <mc:AlternateContent xmlns:mc="http://schemas.openxmlformats.org/markup-compatibility/2006" xmlns:a14="http://schemas.microsoft.com/office/drawing/2010/main">
        <mc:Choice Requires="a14">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𝑛</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up>
                    </m:sSup>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𝑥</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sSup>
                      <m:e>
                        <m:r>
                          <a:rPr lang="en-IN" sz="2400" i="1">
                            <a:solidFill>
                              <a:srgbClr val="78350F"/>
                            </a:solidFill>
                            <a:latin typeface="Cambria Math" panose="02040503050406030204" pitchFamily="18" charset="0"/>
                          </a:rPr>
                          <m:t>𝑥</m:t>
                        </m:r>
                      </m:e>
                      <m:sup>
                        <m:r>
                          <a:rPr lang="en-IN" sz="2400" i="1">
                            <a:solidFill>
                              <a:srgbClr val="78350F"/>
                            </a:solidFill>
                            <a:latin typeface="Cambria Math" panose="02040503050406030204" pitchFamily="18" charset="0"/>
                          </a:rPr>
                          <m:t>𝑛</m:t>
                        </m:r>
                      </m:sup>
                    </m:sSup>
                  </m:oMath>
                </a14:m>
                <a:r>
                  <a:rPr sz="2400" b="0">
                    <a:solidFill>
                      <a:srgbClr val="78350F"/>
                    </a:solidFill>
                    <a:latin typeface="Arial"/>
                  </a:rPr>
                  <a:t>, so the sum of coefficients is </a:t>
                </a:r>
                <a14:m>
                  <m:oMath xmlns:m="http://schemas.openxmlformats.org/officeDocument/2006/math">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sSup>
                      <m:e>
                        <m:r>
                          <m:rPr>
                            <m:sty m:val="p"/>
                          </m:rPr>
                          <a:rPr lang="en-IN" sz="2400">
                            <a:solidFill>
                              <a:srgbClr val="78350F"/>
                            </a:solidFill>
                            <a:latin typeface="Cambria Math" panose="02040503050406030204" pitchFamily="18" charset="0"/>
                          </a:rPr>
                          <m:t>)</m:t>
                        </m:r>
                      </m:e>
                      <m:sup>
                        <m:r>
                          <a:rPr lang="en-IN" sz="2400" i="1">
                            <a:solidFill>
                              <a:srgbClr val="78350F"/>
                            </a:solidFill>
                            <a:latin typeface="Cambria Math" panose="02040503050406030204" pitchFamily="18" charset="0"/>
                          </a:rPr>
                          <m:t>𝑚</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0</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lang="en-IN" sz="2400">
                    <a:solidFill>
                      <a:srgbClr val="78350F"/>
                    </a:solidFill>
                    <a:latin typeface="Cambria Math" panose="02040503050406030204" pitchFamily="18" charset="0"/>
                  </a:rPr>
                  <a:t>$\{1+x+\cdots+x^{n-1}\}(1-x)=1-x^n$</a:t>
                </a:r>
                <a:r>
                  <a:rPr sz="2400" b="0">
                    <a:solidFill>
                      <a:srgbClr val="78350F"/>
                    </a:solidFill>
                    <a:latin typeface="Arial"/>
                  </a:rPr>
                  <a:t>, so the sum of coefficients is </a:t>
                </a:r>
                <a:r>
                  <a:rPr lang="en-IN" sz="2400">
                    <a:solidFill>
                      <a:srgbClr val="78350F"/>
                    </a:solidFill>
                    <a:latin typeface="Cambria Math" panose="02040503050406030204" pitchFamily="18" charset="0"/>
                  </a:rPr>
                  <a:t>$(1-1)^m=0$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coefficients of the </a:t>
                </a:r>
                <a14:m>
                  <m:oMath xmlns:m="http://schemas.openxmlformats.org/officeDocument/2006/math">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ℎ</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ℎ</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𝑡</m:t>
                        </m:r>
                        <m:r>
                          <a:rPr lang="en-IN" sz="2400" i="1">
                            <a:solidFill>
                              <a:srgbClr val="111827"/>
                            </a:solidFill>
                            <a:latin typeface="Cambria Math" panose="02040503050406030204" pitchFamily="18" charset="0"/>
                          </a:rPr>
                          <m:t>ℎ</m:t>
                        </m:r>
                      </m:sup>
                    </m:sSup>
                  </m:oMath>
                </a14:m>
                <a:r>
                  <a:rPr sz="2400" b="0">
                    <a:solidFill>
                      <a:srgbClr val="111827"/>
                    </a:solidFill>
                    <a:latin typeface="Arial"/>
                  </a:rPr>
                  <a:t> terms are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A.P. means </a:t>
                </a:r>
                <a14:m>
                  <m:oMath xmlns:m="http://schemas.openxmlformats.org/officeDocument/2006/math">
                    <m:r>
                      <a:rPr lang="en-IN" sz="2400" i="1">
                        <a:solidFill>
                          <a:srgbClr val="111827"/>
                        </a:solidFill>
                        <a:latin typeface="Cambria Math" panose="02040503050406030204" pitchFamily="18" charset="0"/>
                      </a:rPr>
                      <m:t>2</m:t>
                    </m:r>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The coefficients of the </a:t>
                </a:r>
                <a:r>
                  <a:rPr lang="en-IN" sz="2400">
                    <a:solidFill>
                      <a:srgbClr val="111827"/>
                    </a:solidFill>
                    <a:latin typeface="Cambria Math" panose="02040503050406030204" pitchFamily="18" charset="0"/>
                  </a:rPr>
                  <a:t>$r^{th},(r+1)^{th},(r+2)^{th}$</a:t>
                </a:r>
                <a:r>
                  <a:rPr sz="2400" b="0">
                    <a:solidFill>
                      <a:srgbClr val="111827"/>
                    </a:solidFill>
                    <a:latin typeface="Arial"/>
                  </a:rPr>
                  <a:t> terms are </a:t>
                </a:r>
                <a:r>
                  <a:rPr lang="en-IN" sz="2400">
                    <a:solidFill>
                      <a:srgbClr val="111827"/>
                    </a:solidFill>
                    <a:latin typeface="Cambria Math" panose="02040503050406030204" pitchFamily="18" charset="0"/>
                  </a:rPr>
                  <a:t>${}^{14}C_{r-1},{}^{14}C_r,{}^{14}C_{r+1}$</a:t>
                </a:r>
                <a:r>
                  <a:rPr sz="2400" b="0">
                    <a:solidFill>
                      <a:srgbClr val="111827"/>
                    </a:solidFill>
                    <a:latin typeface="Arial"/>
                  </a:rPr>
                  <a:t>. A.P. means </a:t>
                </a:r>
                <a:r>
                  <a:rPr lang="en-IN" sz="2400">
                    <a:solidFill>
                      <a:srgbClr val="111827"/>
                    </a:solidFill>
                    <a:latin typeface="Cambria Math" panose="02040503050406030204" pitchFamily="18" charset="0"/>
                  </a:rPr>
                  <a:t>$2\,{}^{14}C_r={}^{14}C_{r-1}+{}^{14}C_{r+1}$</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Dividing by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14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num>
                      <m:den>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30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28</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29</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or </a:t>
                </a:r>
                <a14:m>
                  <m:oMath xmlns:m="http://schemas.openxmlformats.org/officeDocument/2006/math">
                    <m:r>
                      <a:rPr lang="en-IN" sz="2400" i="1">
                        <a:solidFill>
                          <a:srgbClr val="111827"/>
                        </a:solidFill>
                        <a:latin typeface="Cambria Math" panose="02040503050406030204" pitchFamily="18" charset="0"/>
                      </a:rPr>
                      <m:t>9</m:t>
                    </m:r>
                  </m:oMath>
                </a14:m>
                <a:r>
                  <a:rPr sz="2400" b="0">
                    <a:solidFill>
                      <a:srgbClr val="111827"/>
                    </a:solidFill>
                    <a:latin typeface="Arial"/>
                  </a:rPr>
                  <a:t>; only </a:t>
                </a:r>
                <a14:m>
                  <m:oMath xmlns:m="http://schemas.openxmlformats.org/officeDocument/2006/math">
                    <m:r>
                      <a:rPr lang="en-IN" sz="2400" i="1">
                        <a:solidFill>
                          <a:srgbClr val="111827"/>
                        </a:solidFill>
                        <a:latin typeface="Cambria Math" panose="02040503050406030204" pitchFamily="18" charset="0"/>
                      </a:rPr>
                      <m:t>5</m:t>
                    </m:r>
                  </m:oMath>
                </a14:m>
                <a:r>
                  <a:rPr sz="2400" b="0">
                    <a:solidFill>
                      <a:srgbClr val="111827"/>
                    </a:solidFill>
                    <a:latin typeface="Arial"/>
                  </a:rPr>
                  <a:t> is in column II: (a)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so the expression is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𝑚</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𝑚</m:t>
                                </m:r>
                              </m:num>
                              <m:den>
                                <m:r>
                                  <a:rPr lang="en-IN" sz="2400" i="1">
                                    <a:solidFill>
                                      <a:srgbClr val="111827"/>
                                    </a:solidFill>
                                    <a:latin typeface="Cambria Math" panose="02040503050406030204" pitchFamily="18" charset="0"/>
                                  </a:rPr>
                                  <m:t>𝑗</m:t>
                                </m:r>
                              </m:den>
                            </m:f>
                          </m:e>
                        </m:d>
                      </m:e>
                    </m:nary>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𝑥</m:t>
                        </m:r>
                      </m:e>
                      <m:sup>
                        <m:r>
                          <a:rPr lang="en-IN" sz="2400" i="1">
                            <a:solidFill>
                              <a:srgbClr val="111827"/>
                            </a:solidFill>
                            <a:latin typeface="Cambria Math" panose="02040503050406030204" pitchFamily="18" charset="0"/>
                          </a:rPr>
                          <m:t>𝑛</m:t>
                        </m:r>
                      </m:sup>
                    </m:sSup>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𝑗</m:t>
                        </m:r>
                      </m:sup>
                    </m:sSup>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of coefficients is its value at </a:t>
                </a:r>
                <a14:m>
                  <m:oMath xmlns:m="http://schemas.openxmlformats.org/officeDocument/2006/math">
                    <m:r>
                      <a:rPr lang="en-IN" sz="2400" i="1">
                        <a:solidFill>
                          <a:srgbClr val="111827"/>
                        </a:solidFill>
                        <a:latin typeface="Cambria Math" panose="02040503050406030204" pitchFamily="18" charset="0"/>
                      </a:rPr>
                      <m:t>𝑥</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𝑚</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so (b)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For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bracket is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𝑟</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𝑟</m:t>
                            </m:r>
                          </m:sup>
                        </m:sSup>
                      </m:den>
                    </m:f>
                  </m:oMath>
                </a14:m>
                <a:r>
                  <a:rPr sz="2400" b="0">
                    <a:solidFill>
                      <a:srgbClr val="111827"/>
                    </a:solidFill>
                    <a:latin typeface="Arial"/>
                  </a:rPr>
                  <a:t>; with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𝑘</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𝑛</m:t>
                        </m:r>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so the bracket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and the printed solution concludes that the sum is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matching (r).</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Dividing by </a:t>
                </a:r>
                <a:r>
                  <a:rPr lang="en-IN" sz="2400">
                    <a:solidFill>
                      <a:srgbClr val="111827"/>
                    </a:solidFill>
                    <a:latin typeface="Cambria Math" panose="02040503050406030204" pitchFamily="18" charset="0"/>
                  </a:rPr>
                  <a:t>${}^{14}C_r$</a:t>
                </a:r>
                <a:r>
                  <a:rPr sz="2400" b="0">
                    <a:solidFill>
                      <a:srgbClr val="111827"/>
                    </a:solidFill>
                    <a:latin typeface="Arial"/>
                  </a:rPr>
                  <a:t>: </a:t>
                </a:r>
                <a:r>
                  <a:rPr lang="en-IN" sz="2400">
                    <a:solidFill>
                      <a:srgbClr val="111827"/>
                    </a:solidFill>
                    <a:latin typeface="Cambria Math" panose="02040503050406030204" pitchFamily="18" charset="0"/>
                  </a:rPr>
                  <a:t>$2=\frac{r}{15-r}+\frac{14-r}{r+1}$</a:t>
                </a:r>
                <a:r>
                  <a:rPr sz="2400" b="0">
                    <a:solidFill>
                      <a:srgbClr val="111827"/>
                    </a:solidFill>
                    <a:latin typeface="Arial"/>
                  </a:rPr>
                  <a:t>, i.e. </a:t>
                </a:r>
                <a:r>
                  <a:rPr lang="en-IN" sz="2400">
                    <a:solidFill>
                      <a:srgbClr val="111827"/>
                    </a:solidFill>
                    <a:latin typeface="Cambria Math" panose="02040503050406030204" pitchFamily="18" charset="0"/>
                  </a:rPr>
                  <a:t>$2(r+1)(15-r)=r(r+1)+(15-r)(14-r)$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$30+28r-2r^2=r^2+r+210-29r+r^2\Rightarrow r^2-14r+45=0\Rightarrow(r-5)(r-9)=0$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$r=5$</a:t>
                </a:r>
                <a:r>
                  <a:rPr sz="2400" b="0">
                    <a:solidFill>
                      <a:srgbClr val="111827"/>
                    </a:solidFill>
                    <a:latin typeface="Arial"/>
                  </a:rPr>
                  <a:t> or </a:t>
                </a:r>
                <a:r>
                  <a:rPr lang="en-IN" sz="2400">
                    <a:solidFill>
                      <a:srgbClr val="111827"/>
                    </a:solidFill>
                    <a:latin typeface="Cambria Math" panose="02040503050406030204" pitchFamily="18" charset="0"/>
                  </a:rPr>
                  <a:t>$9$</a:t>
                </a:r>
                <a:r>
                  <a:rPr sz="2400" b="0">
                    <a:solidFill>
                      <a:srgbClr val="111827"/>
                    </a:solidFill>
                    <a:latin typeface="Arial"/>
                  </a:rPr>
                  <a:t>; only </a:t>
                </a:r>
                <a:r>
                  <a:rPr lang="en-IN" sz="2400">
                    <a:solidFill>
                      <a:srgbClr val="111827"/>
                    </a:solidFill>
                    <a:latin typeface="Cambria Math" panose="02040503050406030204" pitchFamily="18" charset="0"/>
                  </a:rPr>
                  <a:t>$5$</a:t>
                </a:r>
                <a:r>
                  <a:rPr sz="2400" b="0">
                    <a:solidFill>
                      <a:srgbClr val="111827"/>
                    </a:solidFill>
                    <a:latin typeface="Arial"/>
                  </a:rPr>
                  <a:t> is in column II: (a)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a:t>
                </a:r>
                <a:r>
                  <a:rPr lang="en-IN" sz="2400">
                    <a:solidFill>
                      <a:srgbClr val="111827"/>
                    </a:solidFill>
                    <a:latin typeface="Cambria Math" panose="02040503050406030204" pitchFamily="18" charset="0"/>
                  </a:rPr>
                  <a:t>$\{1+x+\cdots+x^{n-1}\}(1-x)=1-x^n$</a:t>
                </a:r>
                <a:r>
                  <a:rPr sz="2400" b="0">
                    <a:solidFill>
                      <a:srgbClr val="111827"/>
                    </a:solidFill>
                    <a:latin typeface="Arial"/>
                  </a:rPr>
                  <a:t>, so the expression is </a:t>
                </a:r>
                <a:r>
                  <a:rPr lang="en-IN" sz="2400">
                    <a:solidFill>
                      <a:srgbClr val="111827"/>
                    </a:solidFill>
                    <a:latin typeface="Cambria Math" panose="02040503050406030204" pitchFamily="18" charset="0"/>
                  </a:rPr>
                  <a:t>$(1-x^n)^m=\sum_{j=0}^{m}\binom mj(-x^n)^j$</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sum of coefficients is its value at </a:t>
                </a:r>
                <a:r>
                  <a:rPr lang="en-IN" sz="2400">
                    <a:solidFill>
                      <a:srgbClr val="111827"/>
                    </a:solidFill>
                    <a:latin typeface="Cambria Math" panose="02040503050406030204" pitchFamily="18" charset="0"/>
                  </a:rPr>
                  <a:t>$x=1$</a:t>
                </a:r>
                <a:r>
                  <a:rPr sz="2400" b="0">
                    <a:solidFill>
                      <a:srgbClr val="111827"/>
                    </a:solidFill>
                    <a:latin typeface="Arial"/>
                  </a:rPr>
                  <a:t>: </a:t>
                </a:r>
                <a:r>
                  <a:rPr lang="en-IN" sz="2400">
                    <a:solidFill>
                      <a:srgbClr val="111827"/>
                    </a:solidFill>
                    <a:latin typeface="Cambria Math" panose="02040503050406030204" pitchFamily="18" charset="0"/>
                  </a:rPr>
                  <a:t>$(1-1)^m=0$</a:t>
                </a:r>
                <a:r>
                  <a:rPr sz="2400" b="0">
                    <a:solidFill>
                      <a:srgbClr val="111827"/>
                    </a:solidFill>
                    <a:latin typeface="Arial"/>
                  </a:rPr>
                  <a:t>, so (b)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For </a:t>
                </a:r>
                <a:r>
                  <a:rPr lang="en-IN" sz="2400">
                    <a:solidFill>
                      <a:srgbClr val="111827"/>
                    </a:solidFill>
                    <a:latin typeface="Cambria Math" panose="02040503050406030204" pitchFamily="18" charset="0"/>
                  </a:rPr>
                  <a:t>$i^r\ne1$</a:t>
                </a:r>
                <a:r>
                  <a:rPr sz="2400" b="0">
                    <a:solidFill>
                      <a:srgbClr val="111827"/>
                    </a:solidFill>
                    <a:latin typeface="Arial"/>
                  </a:rPr>
                  <a:t> the bracket is </a:t>
                </a:r>
                <a:r>
                  <a:rPr lang="en-IN" sz="2400">
                    <a:solidFill>
                      <a:srgbClr val="111827"/>
                    </a:solidFill>
                    <a:latin typeface="Cambria Math" panose="02040503050406030204" pitchFamily="18" charset="0"/>
                  </a:rPr>
                  <a:t>$\frac{1-i^{nr}}{1-i^r}$</a:t>
                </a:r>
                <a:r>
                  <a:rPr sz="2400" b="0">
                    <a:solidFill>
                      <a:srgbClr val="111827"/>
                    </a:solidFill>
                    <a:latin typeface="Arial"/>
                  </a:rPr>
                  <a:t>; with </a:t>
                </a:r>
                <a:r>
                  <a:rPr lang="en-IN" sz="2400">
                    <a:solidFill>
                      <a:srgbClr val="111827"/>
                    </a:solidFill>
                    <a:latin typeface="Cambria Math" panose="02040503050406030204" pitchFamily="18" charset="0"/>
                  </a:rPr>
                  <a:t>$n=4k$</a:t>
                </a:r>
                <a:r>
                  <a:rPr sz="2400" b="0">
                    <a:solidFill>
                      <a:srgbClr val="111827"/>
                    </a:solidFill>
                    <a:latin typeface="Arial"/>
                  </a:rPr>
                  <a:t>, </a:t>
                </a:r>
                <a:r>
                  <a:rPr lang="en-IN" sz="2400">
                    <a:solidFill>
                      <a:srgbClr val="111827"/>
                    </a:solidFill>
                    <a:latin typeface="Cambria Math" panose="02040503050406030204" pitchFamily="18" charset="0"/>
                  </a:rPr>
                  <a:t>$i^{nr}=1$</a:t>
                </a:r>
                <a:r>
                  <a:rPr sz="2400" b="0">
                    <a:solidFill>
                      <a:srgbClr val="111827"/>
                    </a:solidFill>
                    <a:latin typeface="Arial"/>
                  </a:rPr>
                  <a:t>, so the bracket is </a:t>
                </a:r>
                <a:r>
                  <a:rPr lang="en-IN" sz="2400">
                    <a:solidFill>
                      <a:srgbClr val="111827"/>
                    </a:solidFill>
                    <a:latin typeface="Cambria Math" panose="02040503050406030204" pitchFamily="18" charset="0"/>
                  </a:rPr>
                  <a:t>$0$</a:t>
                </a:r>
                <a:r>
                  <a:rPr sz="2400" b="0">
                    <a:solidFill>
                      <a:srgbClr val="111827"/>
                    </a:solidFill>
                    <a:latin typeface="Arial"/>
                  </a:rPr>
                  <a:t> and the printed solution concludes that the sum is </a:t>
                </a:r>
                <a:r>
                  <a:rPr lang="en-IN" sz="2400">
                    <a:solidFill>
                      <a:srgbClr val="111827"/>
                    </a:solidFill>
                    <a:latin typeface="Cambria Math" panose="02040503050406030204" pitchFamily="18" charset="0"/>
                  </a:rPr>
                  <a:t>$0$</a:t>
                </a:r>
                <a:r>
                  <a:rPr sz="2400" b="0">
                    <a:solidFill>
                      <a:srgbClr val="111827"/>
                    </a:solidFill>
                    <a:latin typeface="Arial"/>
                  </a:rPr>
                  <a:t>, matching (r).</a:t>
                </a:r>
                <a:endParaRPr sz="2400">
                  <a:solidFill>
                    <a:srgbClr val="111827"/>
                  </a:solidFill>
                </a:endParaRPr>
              </a:p>
            </p:txBody>
          </p:sp>
        </mc:Fallback>
      </mc:AlternateContent>
    </p:spTree>
  </p:cSld>
  <p:clrMapOvr>
    <a:masterClrMapping/>
  </p:clrMapOvr>
</p:sld>
</file>

<file path=ppt/slides/slide6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Caution: when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and the bracket equals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not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The sum is really </a:t>
                </a:r>
                <a14:m>
                  <m:oMath xmlns:m="http://schemas.openxmlformats.org/officeDocument/2006/math">
                    <m:r>
                      <a:rPr lang="en-IN" sz="2400" i="1">
                        <a:solidFill>
                          <a:srgbClr val="111827"/>
                        </a:solidFill>
                        <a:latin typeface="Cambria Math" panose="02040503050406030204" pitchFamily="18" charset="0"/>
                      </a:rPr>
                      <m:t>𝑛</m:t>
                    </m:r>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𝑗</m:t>
                                </m:r>
                              </m:den>
                            </m:f>
                          </m:e>
                        </m:d>
                      </m:e>
                    </m:nary>
                  </m:oMath>
                </a14:m>
                <a:r>
                  <a:rPr sz="2400" b="0">
                    <a:solidFill>
                      <a:srgbClr val="111827"/>
                    </a:solidFill>
                    <a:latin typeface="Arial"/>
                  </a:rPr>
                  <a:t>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568</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m:t>
                    </m:r>
                  </m:oMath>
                </a14:m>
                <a:r>
                  <a:rPr sz="2400" b="0">
                    <a:solidFill>
                      <a:srgbClr val="111827"/>
                    </a:solidFill>
                    <a:latin typeface="Arial"/>
                  </a:rPr>
                  <a:t>), so (c) has no fixed value (see correction note).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37</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36</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0</m:t>
                            </m:r>
                          </m:sub>
                        </m:sSub>
                        <m:sSup>
                          <m:e>
                            <m:r>
                              <a:rPr lang="en-IN" sz="2400" i="1">
                                <a:solidFill>
                                  <a:srgbClr val="111827"/>
                                </a:solidFill>
                                <a:latin typeface="Cambria Math" panose="02040503050406030204" pitchFamily="18" charset="0"/>
                              </a:rPr>
                              <m:t>80</m:t>
                            </m:r>
                          </m:e>
                          <m:sup>
                            <m:r>
                              <a:rPr lang="en-IN" sz="2400" i="1">
                                <a:solidFill>
                                  <a:srgbClr val="111827"/>
                                </a:solidFill>
                                <a:latin typeface="Cambria Math" panose="02040503050406030204" pitchFamily="18" charset="0"/>
                              </a:rPr>
                              <m:t>0</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9</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9</m:t>
                            </m:r>
                          </m:sub>
                        </m:sSub>
                        <m:sSup>
                          <m:e>
                            <m:r>
                              <a:rPr lang="en-IN" sz="2400" i="1">
                                <a:solidFill>
                                  <a:srgbClr val="111827"/>
                                </a:solidFill>
                                <a:latin typeface="Cambria Math" panose="02040503050406030204" pitchFamily="18" charset="0"/>
                              </a:rPr>
                              <m:t>80</m:t>
                            </m:r>
                          </m:e>
                          <m:sup>
                            <m:r>
                              <a:rPr lang="en-IN" sz="2400" i="1">
                                <a:solidFill>
                                  <a:srgbClr val="111827"/>
                                </a:solidFill>
                                <a:latin typeface="Cambria Math" panose="02040503050406030204" pitchFamily="18" charset="0"/>
                              </a:rPr>
                              <m:t>9</m:t>
                            </m:r>
                          </m:sup>
                        </m:sSup>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term except the first is a multiple of </a:t>
                </a:r>
                <a14:m>
                  <m:oMath xmlns:m="http://schemas.openxmlformats.org/officeDocument/2006/math">
                    <m:r>
                      <a:rPr lang="en-IN" sz="2400" i="1">
                        <a:solidFill>
                          <a:srgbClr val="111827"/>
                        </a:solidFill>
                        <a:latin typeface="Cambria Math" panose="02040503050406030204" pitchFamily="18" charset="0"/>
                      </a:rPr>
                      <m:t>80</m:t>
                    </m:r>
                  </m:oMath>
                </a14:m>
                <a:r>
                  <a:rPr sz="2400" b="0">
                    <a:solidFill>
                      <a:srgbClr val="111827"/>
                    </a:solidFill>
                    <a:latin typeface="Arial"/>
                  </a:rPr>
                  <a:t>, so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37</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and (d) matches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only option with a-p, b-r, d-s is (D).</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Caution: when </a:t>
                </a:r>
                <a:r>
                  <a:rPr lang="en-IN" sz="2400">
                    <a:solidFill>
                      <a:srgbClr val="111827"/>
                    </a:solidFill>
                    <a:latin typeface="Cambria Math" panose="02040503050406030204" pitchFamily="18" charset="0"/>
                  </a:rPr>
                  <a:t>$4\mid r$</a:t>
                </a:r>
                <a:r>
                  <a:rPr sz="2400" b="0">
                    <a:solidFill>
                      <a:srgbClr val="111827"/>
                    </a:solidFill>
                    <a:latin typeface="Arial"/>
                  </a:rPr>
                  <a:t>, </a:t>
                </a:r>
                <a:r>
                  <a:rPr lang="en-IN" sz="2400">
                    <a:solidFill>
                      <a:srgbClr val="111827"/>
                    </a:solidFill>
                    <a:latin typeface="Cambria Math" panose="02040503050406030204" pitchFamily="18" charset="0"/>
                  </a:rPr>
                  <a:t>$i^r=1$</a:t>
                </a:r>
                <a:r>
                  <a:rPr sz="2400" b="0">
                    <a:solidFill>
                      <a:srgbClr val="111827"/>
                    </a:solidFill>
                    <a:latin typeface="Arial"/>
                  </a:rPr>
                  <a:t> and the bracket equals </a:t>
                </a:r>
                <a:r>
                  <a:rPr lang="en-IN" sz="2400">
                    <a:solidFill>
                      <a:srgbClr val="111827"/>
                    </a:solidFill>
                    <a:latin typeface="Cambria Math" panose="02040503050406030204" pitchFamily="18" charset="0"/>
                  </a:rPr>
                  <a:t>$n$</a:t>
                </a:r>
                <a:r>
                  <a:rPr sz="2400" b="0">
                    <a:solidFill>
                      <a:srgbClr val="111827"/>
                    </a:solidFill>
                    <a:latin typeface="Arial"/>
                  </a:rPr>
                  <a:t>, not </a:t>
                </a:r>
                <a:r>
                  <a:rPr lang="en-IN" sz="2400">
                    <a:solidFill>
                      <a:srgbClr val="111827"/>
                    </a:solidFill>
                    <a:latin typeface="Cambria Math" panose="02040503050406030204" pitchFamily="18" charset="0"/>
                  </a:rPr>
                  <a:t>$0$</a:t>
                </a:r>
                <a:r>
                  <a:rPr sz="2400" b="0">
                    <a:solidFill>
                      <a:srgbClr val="111827"/>
                    </a:solidFill>
                    <a:latin typeface="Arial"/>
                  </a:rPr>
                  <a:t>. The sum is really </a:t>
                </a:r>
                <a:r>
                  <a:rPr lang="en-IN" sz="2400">
                    <a:solidFill>
                      <a:srgbClr val="111827"/>
                    </a:solidFill>
                    <a:latin typeface="Cambria Math" panose="02040503050406030204" pitchFamily="18" charset="0"/>
                  </a:rPr>
                  <a:t>$n\sum_{j\ge1}\binom{n}{4j}$</a:t>
                </a:r>
                <a:r>
                  <a:rPr sz="2400" b="0">
                    <a:solidFill>
                      <a:srgbClr val="111827"/>
                    </a:solidFill>
                    <a:latin typeface="Arial"/>
                  </a:rPr>
                  <a:t> (</a:t>
                </a:r>
                <a:r>
                  <a:rPr lang="en-IN" sz="2400">
                    <a:solidFill>
                      <a:srgbClr val="111827"/>
                    </a:solidFill>
                    <a:latin typeface="Cambria Math" panose="02040503050406030204" pitchFamily="18" charset="0"/>
                  </a:rPr>
                  <a:t>$=4$</a:t>
                </a:r>
                <a:r>
                  <a:rPr sz="2400" b="0">
                    <a:solidFill>
                      <a:srgbClr val="111827"/>
                    </a:solidFill>
                    <a:latin typeface="Arial"/>
                  </a:rPr>
                  <a:t> for </a:t>
                </a:r>
                <a:r>
                  <a:rPr lang="en-IN" sz="2400">
                    <a:solidFill>
                      <a:srgbClr val="111827"/>
                    </a:solidFill>
                    <a:latin typeface="Cambria Math" panose="02040503050406030204" pitchFamily="18" charset="0"/>
                  </a:rPr>
                  <a:t>$n=4$</a:t>
                </a:r>
                <a:r>
                  <a:rPr sz="2400" b="0">
                    <a:solidFill>
                      <a:srgbClr val="111827"/>
                    </a:solidFill>
                    <a:latin typeface="Arial"/>
                  </a:rPr>
                  <a:t>, </a:t>
                </a:r>
                <a:r>
                  <a:rPr lang="en-IN" sz="2400">
                    <a:solidFill>
                      <a:srgbClr val="111827"/>
                    </a:solidFill>
                    <a:latin typeface="Cambria Math" panose="02040503050406030204" pitchFamily="18" charset="0"/>
                  </a:rPr>
                  <a:t>$568$</a:t>
                </a:r>
                <a:r>
                  <a:rPr sz="2400" b="0">
                    <a:solidFill>
                      <a:srgbClr val="111827"/>
                    </a:solidFill>
                    <a:latin typeface="Arial"/>
                  </a:rPr>
                  <a:t> for </a:t>
                </a:r>
                <a:r>
                  <a:rPr lang="en-IN" sz="2400">
                    <a:solidFill>
                      <a:srgbClr val="111827"/>
                    </a:solidFill>
                    <a:latin typeface="Cambria Math" panose="02040503050406030204" pitchFamily="18" charset="0"/>
                  </a:rPr>
                  <a:t>$n=8$</a:t>
                </a:r>
                <a:r>
                  <a:rPr sz="2400" b="0">
                    <a:solidFill>
                      <a:srgbClr val="111827"/>
                    </a:solidFill>
                    <a:latin typeface="Arial"/>
                  </a:rPr>
                  <a:t>), so (c) has no fixed value (see correction note).</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(d) </a:t>
                </a:r>
                <a:r>
                  <a:rPr lang="en-IN" sz="2400">
                    <a:solidFill>
                      <a:srgbClr val="111827"/>
                    </a:solidFill>
                    <a:latin typeface="Cambria Math" panose="02040503050406030204" pitchFamily="18" charset="0"/>
                  </a:rPr>
                  <a:t>$3^{37}=3^{36}\cdot3=3\,(81)^9=3\,(80+1)^9=3\left({}^9C_0 80^0+{}^9C_1 80+\cdots+{}^9C_9 80^9\right)$</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Every term except the first is a multiple of </a:t>
                </a:r>
                <a:r>
                  <a:rPr lang="en-IN" sz="2400">
                    <a:solidFill>
                      <a:srgbClr val="111827"/>
                    </a:solidFill>
                    <a:latin typeface="Cambria Math" panose="02040503050406030204" pitchFamily="18" charset="0"/>
                  </a:rPr>
                  <a:t>$80$</a:t>
                </a:r>
                <a:r>
                  <a:rPr sz="2400" b="0">
                    <a:solidFill>
                      <a:srgbClr val="111827"/>
                    </a:solidFill>
                    <a:latin typeface="Arial"/>
                  </a:rPr>
                  <a:t>, so </a:t>
                </a:r>
                <a:r>
                  <a:rPr lang="en-IN" sz="2400">
                    <a:solidFill>
                      <a:srgbClr val="111827"/>
                    </a:solidFill>
                    <a:latin typeface="Cambria Math" panose="02040503050406030204" pitchFamily="18" charset="0"/>
                  </a:rPr>
                  <a:t>$3^{37}\equiv3\pmod{80}$</a:t>
                </a:r>
                <a:r>
                  <a:rPr sz="2400" b="0">
                    <a:solidFill>
                      <a:srgbClr val="111827"/>
                    </a:solidFill>
                    <a:latin typeface="Arial"/>
                  </a:rPr>
                  <a:t>: </a:t>
                </a:r>
                <a:r>
                  <a:rPr lang="en-IN" sz="2400">
                    <a:solidFill>
                      <a:srgbClr val="111827"/>
                    </a:solidFill>
                    <a:latin typeface="Cambria Math" panose="02040503050406030204" pitchFamily="18" charset="0"/>
                  </a:rPr>
                  <a:t>$k=3$</a:t>
                </a:r>
                <a:r>
                  <a:rPr sz="2400" b="0">
                    <a:solidFill>
                      <a:srgbClr val="111827"/>
                    </a:solidFill>
                    <a:latin typeface="Arial"/>
                  </a:rPr>
                  <a:t>, and (d) matches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only option with a-p, b-r, d-s is (D).</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(D) a - p; b - r; c - r; d - s</a:t>
            </a:r>
            <a:endParaRPr sz="2800">
              <a:solidFill>
                <a:srgbClr val="15803D"/>
              </a:solidFill>
            </a:endParaRPr>
          </a:p>
        </p:txBody>
      </p:sp>
    </p:spTree>
  </p:cSld>
  <p:clrMapOvr>
    <a:masterClrMapping/>
  </p:clrMapOvr>
</p:sld>
</file>

<file path=ppt/slides/slide6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(d), use the cycle of powers of </a:t>
                </a:r>
                <a14:m>
                  <m:oMath xmlns:m="http://schemas.openxmlformats.org/officeDocument/2006/math">
                    <m:r>
                      <a:rPr lang="en-IN" sz="2400" i="1">
                        <a:solidFill>
                          <a:srgbClr val="78350F"/>
                        </a:solidFill>
                        <a:latin typeface="Cambria Math" panose="02040503050406030204" pitchFamily="18" charset="0"/>
                      </a:rPr>
                      <m:t>3</m:t>
                    </m:r>
                  </m:oMath>
                </a14:m>
                <a:r>
                  <a:rPr sz="2400" b="0">
                    <a:solidFill>
                      <a:srgbClr val="78350F"/>
                    </a:solidFill>
                    <a:latin typeface="Arial"/>
                  </a:rPr>
                  <a:t> modulo </a:t>
                </a:r>
                <a14:m>
                  <m:oMath xmlns:m="http://schemas.openxmlformats.org/officeDocument/2006/math">
                    <m:r>
                      <a:rPr lang="en-IN" sz="2400" i="1">
                        <a:solidFill>
                          <a:srgbClr val="78350F"/>
                        </a:solidFill>
                        <a:latin typeface="Cambria Math" panose="02040503050406030204" pitchFamily="18" charset="0"/>
                      </a:rPr>
                      <m:t>80</m:t>
                    </m:r>
                  </m:oMath>
                </a14:m>
                <a:r>
                  <a:rPr sz="2400" b="0">
                    <a:solidFill>
                      <a:srgbClr val="78350F"/>
                    </a:solidFill>
                    <a:latin typeface="Arial"/>
                  </a:rPr>
                  <a:t>: </a:t>
                </a:r>
                <a14:m>
                  <m:oMath xmlns:m="http://schemas.openxmlformats.org/officeDocument/2006/math">
                    <m:sSup>
                      <m:e>
                        <m:r>
                          <a:rPr lang="en-IN" sz="2400" i="1">
                            <a:solidFill>
                              <a:srgbClr val="78350F"/>
                            </a:solidFill>
                            <a:latin typeface="Cambria Math" panose="02040503050406030204" pitchFamily="18" charset="0"/>
                          </a:rPr>
                          <m:t>3</m:t>
                        </m:r>
                      </m:e>
                      <m:sup>
                        <m:r>
                          <a:rPr lang="en-IN" sz="2400" i="1">
                            <a:solidFill>
                              <a:srgbClr val="78350F"/>
                            </a:solidFill>
                            <a:latin typeface="Cambria Math" panose="02040503050406030204" pitchFamily="18" charset="0"/>
                          </a:rPr>
                          <m:t>4</m:t>
                        </m:r>
                      </m:sup>
                    </m:sSup>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81</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1</m:t>
                    </m:r>
                    <m:r>
                      <a:rPr lang="en-IN" sz="2400" i="1">
                        <a:solidFill>
                          <a:srgbClr val="78350F"/>
                        </a:solidFill>
                        <a:latin typeface="Cambria Math" panose="02040503050406030204" pitchFamily="18" charset="0"/>
                      </a:rPr>
                      <m:t> </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mod</m:t>
                    </m:r>
                    <m:r>
                      <a:rPr lang="en-IN" sz="2400" i="1">
                        <a:solidFill>
                          <a:srgbClr val="78350F"/>
                        </a:solidFill>
                        <a:latin typeface="Cambria Math" panose="02040503050406030204" pitchFamily="18" charset="0"/>
                      </a:rPr>
                      <m:t> </m:t>
                    </m:r>
                    <m:r>
                      <a:rPr lang="en-IN" sz="2400" i="1">
                        <a:solidFill>
                          <a:srgbClr val="78350F"/>
                        </a:solidFill>
                        <a:latin typeface="Cambria Math" panose="02040503050406030204" pitchFamily="18" charset="0"/>
                      </a:rPr>
                      <m:t>80</m:t>
                    </m:r>
                    <m:r>
                      <m:rPr>
                        <m:sty m:val="p"/>
                      </m:rPr>
                      <a:rPr lang="en-IN" sz="2400">
                        <a:solidFill>
                          <a:srgbClr val="78350F"/>
                        </a:solidFill>
                        <a:latin typeface="Cambria Math" panose="02040503050406030204" pitchFamily="18" charset="0"/>
                      </a:rPr>
                      <m:t>)</m:t>
                    </m:r>
                  </m:oMath>
                </a14:m>
                <a:r>
                  <a:rPr sz="2400" b="0">
                    <a:solidFill>
                      <a:srgbClr val="78350F"/>
                    </a:solidFill>
                    <a:latin typeface="Arial"/>
                  </a:rPr>
                  <a:t>.</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For (d), use the cycle of powers of </a:t>
                </a:r>
                <a:r>
                  <a:rPr lang="en-IN" sz="2400">
                    <a:solidFill>
                      <a:srgbClr val="78350F"/>
                    </a:solidFill>
                    <a:latin typeface="Cambria Math" panose="02040503050406030204" pitchFamily="18" charset="0"/>
                  </a:rPr>
                  <a:t>$3$</a:t>
                </a:r>
                <a:r>
                  <a:rPr sz="2400" b="0">
                    <a:solidFill>
                      <a:srgbClr val="78350F"/>
                    </a:solidFill>
                    <a:latin typeface="Arial"/>
                  </a:rPr>
                  <a:t> modulo </a:t>
                </a:r>
                <a:r>
                  <a:rPr lang="en-IN" sz="2400">
                    <a:solidFill>
                      <a:srgbClr val="78350F"/>
                    </a:solidFill>
                    <a:latin typeface="Cambria Math" panose="02040503050406030204" pitchFamily="18" charset="0"/>
                  </a:rPr>
                  <a:t>$80$</a:t>
                </a:r>
                <a:r>
                  <a:rPr sz="2400" b="0">
                    <a:solidFill>
                      <a:srgbClr val="78350F"/>
                    </a:solidFill>
                    <a:latin typeface="Arial"/>
                  </a:rPr>
                  <a:t>: </a:t>
                </a:r>
                <a:r>
                  <a:rPr lang="en-IN" sz="2400">
                    <a:solidFill>
                      <a:srgbClr val="78350F"/>
                    </a:solidFill>
                    <a:latin typeface="Cambria Math" panose="02040503050406030204" pitchFamily="18" charset="0"/>
                  </a:rPr>
                  <a:t>$3^4=81\equiv1\pmod{80}$</a:t>
                </a:r>
                <a:r>
                  <a:rPr sz="2400" b="0">
                    <a:solidFill>
                      <a:srgbClr val="78350F"/>
                    </a:solidFill>
                    <a:latin typeface="Arial"/>
                  </a:rPr>
                  <a:t>.</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37</m:t>
                        </m:r>
                      </m:sup>
                    </m:sSup>
                    <m:r>
                      <m:rPr>
                        <m:sty m:val="p"/>
                      </m:rPr>
                      <a:rPr lang="en-IN" sz="2400">
                        <a:solidFill>
                          <a:srgbClr val="111827"/>
                        </a:solidFill>
                        <a:latin typeface="Cambria Math" panose="02040503050406030204" pitchFamily="18" charset="0"/>
                      </a:rPr>
                      <m:t>=</m:t>
                    </m:r>
                    <m:sSup>
                      <m:e>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sup>
                            </m:sSup>
                          </m:e>
                        </m:d>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9</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remainder is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matching (s).</a:t>
                </a:r>
                <a:endParaRPr sz="2400">
                  <a:solidFill>
                    <a:srgbClr val="111827"/>
                  </a:solidFill>
                </a:endParaRPr>
              </a:p>
            </p:txBody>
          </p:sp>
        </mc:Choice>
        <mc:Fallback>
          <p:sp>
            <p:nvSpPr>
              <p:cNvPr id="6" name="Rectangle 5"/>
              <p:cNvSpPr/>
              <p:nvPr/>
            </p:nvSpPr>
            <p:spPr>
              <a:xfrm>
                <a:off x="731520" y="2526792"/>
                <a:ext cx="10725912" cy="32613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$3^4=81=80+1\equiv1\pmod{80}$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So </a:t>
                </a:r>
                <a:r>
                  <a:rPr lang="en-IN" sz="2400">
                    <a:solidFill>
                      <a:srgbClr val="111827"/>
                    </a:solidFill>
                    <a:latin typeface="Cambria Math" panose="02040503050406030204" pitchFamily="18" charset="0"/>
                  </a:rPr>
                  <a:t>$3^{37}=\left(3^4\right)^9\cdot3\equiv1^9\cdot3=3\pmod{80}$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the remainder is </a:t>
                </a:r>
                <a:r>
                  <a:rPr lang="en-IN" sz="2400">
                    <a:solidFill>
                      <a:srgbClr val="111827"/>
                    </a:solidFill>
                    <a:latin typeface="Cambria Math" panose="02040503050406030204" pitchFamily="18" charset="0"/>
                  </a:rPr>
                  <a:t>$k=3$</a:t>
                </a:r>
                <a:r>
                  <a:rPr sz="2400" b="0">
                    <a:solidFill>
                      <a:srgbClr val="111827"/>
                    </a:solidFill>
                    <a:latin typeface="Arial"/>
                  </a:rPr>
                  <a:t>, matching (s).</a:t>
                </a:r>
                <a:endParaRPr sz="2400">
                  <a:solidFill>
                    <a:srgbClr val="111827"/>
                  </a:solidFill>
                </a:endParaRPr>
              </a:p>
            </p:txBody>
          </p:sp>
        </mc:Fallback>
      </mc:AlternateContent>
      <p:sp>
        <p:nvSpPr>
          <p:cNvPr id="7" name="Rounded Rectangle 6"/>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(D) a - p; b - r; c - r; d - s</a:t>
            </a:r>
            <a:endParaRPr sz="2800">
              <a:solidFill>
                <a:srgbClr val="15803D"/>
              </a:solidFill>
            </a:endParaRPr>
          </a:p>
        </p:txBody>
      </p:sp>
    </p:spTree>
  </p:cSld>
  <p:clrMapOvr>
    <a:masterClrMapping/>
  </p:clrMapOvr>
</p:sld>
</file>

<file path=ppt/slides/slide6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108</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Three consecutive coefficients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oMath>
                </a14:m>
                <a:r>
                  <a:rPr sz="2400" b="0">
                    <a:solidFill>
                      <a:srgbClr val="111827"/>
                    </a:solidFill>
                    <a:latin typeface="Arial"/>
                  </a:rPr>
                  <a:t> are in A.P. iff </a:t>
                </a:r>
                <a14:m>
                  <m:oMath xmlns:m="http://schemas.openxmlformats.org/officeDocument/2006/math">
                    <m:sSup>
                      <m:e>
                        <m:r>
                          <a:rPr lang="en-IN" sz="2400" i="1">
                            <a:solidFill>
                              <a:srgbClr val="111827"/>
                            </a:solidFill>
                            <a:latin typeface="Cambria Math" panose="02040503050406030204" pitchFamily="18" charset="0"/>
                          </a:rPr>
                          <m:t>𝑛</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sSup>
                      <m:e>
                        <m:r>
                          <a:rPr lang="en-IN" sz="2400" i="1">
                            <a:solidFill>
                              <a:srgbClr val="111827"/>
                            </a:solidFill>
                            <a:latin typeface="Cambria Math" panose="02040503050406030204" pitchFamily="18" charset="0"/>
                          </a:rPr>
                          <m:t>𝑟</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14</m:t>
                    </m:r>
                  </m:oMath>
                </a14:m>
                <a:r>
                  <a:rPr sz="2400" b="0">
                    <a:solidFill>
                      <a:srgbClr val="111827"/>
                    </a:solidFill>
                    <a:latin typeface="Arial"/>
                  </a:rPr>
                  <a:t> this gives </a:t>
                </a:r>
                <a14:m>
                  <m:oMath xmlns:m="http://schemas.openxmlformats.org/officeDocument/2006/math">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𝑟</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e>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𝑟</m:t>
                            </m:r>
                          </m:sup>
                        </m:sSup>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𝑧</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𝑧</m:t>
                        </m:r>
                      </m:den>
                    </m:f>
                  </m:oMath>
                </a14:m>
                <a:r>
                  <a:rPr sz="2400" b="0">
                    <a:solidFill>
                      <a:srgbClr val="111827"/>
                    </a:solidFill>
                    <a:latin typeface="Arial"/>
                  </a:rPr>
                  <a:t> only 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𝑧</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the sum is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(watch for </a:t>
                </a:r>
                <a14:m>
                  <m:oMath xmlns:m="http://schemas.openxmlformats.org/officeDocument/2006/math">
                    <m:sSup>
                      <m:e>
                        <m:r>
                          <a:rPr lang="en-IN" sz="2400" i="1">
                            <a:solidFill>
                              <a:srgbClr val="111827"/>
                            </a:solidFill>
                            <a:latin typeface="Cambria Math" panose="02040503050406030204" pitchFamily="18" charset="0"/>
                          </a:rPr>
                          <m:t>𝑖</m:t>
                        </m:r>
                      </m:e>
                      <m:sup>
                        <m:r>
                          <a:rPr lang="en-IN" sz="2400" i="1">
                            <a:solidFill>
                              <a:srgbClr val="111827"/>
                            </a:solidFill>
                            <a:latin typeface="Cambria Math" panose="02040503050406030204" pitchFamily="18" charset="0"/>
                          </a:rPr>
                          <m:t>𝑟</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 when </a:t>
                </a:r>
                <a14:m>
                  <m:oMath xmlns:m="http://schemas.openxmlformats.org/officeDocument/2006/math">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nary>
                      <m:naryPr>
                        <m:chr m:val="∑"/>
                        <m:limLoc m:val="undOvr"/>
                        <m:subHide m:val="off"/>
                        <m:supHide m:val="on"/>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𝑟</m:t>
                        </m:r>
                      </m:sub>
                      <m:sup>
                        <m:r>
                          <a:rPr lang="en-IN" sz="2400" i="1">
                            <a:solidFill>
                              <a:srgbClr val="111827"/>
                            </a:solidFill>
                            <a:latin typeface="Cambria Math" panose="02040503050406030204" pitchFamily="18" charset="0"/>
                          </a:rPr>
                          <m:t>​</m:t>
                        </m:r>
                      </m:sup>
                      <m:e>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num>
                              <m:den>
                                <m:r>
                                  <a:rPr lang="en-IN" sz="2400" i="1">
                                    <a:solidFill>
                                      <a:srgbClr val="111827"/>
                                    </a:solidFill>
                                    <a:latin typeface="Cambria Math" panose="02040503050406030204" pitchFamily="18" charset="0"/>
                                  </a:rPr>
                                  <m:t>𝑟</m:t>
                                </m:r>
                              </m:den>
                            </m:f>
                          </m:e>
                        </m:d>
                      </m:e>
                    </m:nary>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𝑖</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num>
                      <m:den>
                        <m:r>
                          <a:rPr lang="en-IN" sz="2400" i="1">
                            <a:solidFill>
                              <a:srgbClr val="111827"/>
                            </a:solidFill>
                            <a:latin typeface="Cambria Math" panose="02040503050406030204" pitchFamily="18" charset="0"/>
                          </a:rPr>
                          <m:t>4</m:t>
                        </m:r>
                      </m:den>
                    </m:f>
                  </m:oMath>
                </a14:m>
                <a:r>
                  <a:rPr sz="2400" b="0">
                    <a:solidFill>
                      <a:srgbClr val="111827"/>
                    </a:solidFill>
                    <a:latin typeface="Arial"/>
                  </a:rPr>
                  <a:t> (roots-of-unity filter with </a:t>
                </a:r>
                <a14:m>
                  <m:oMath xmlns:m="http://schemas.openxmlformats.org/officeDocument/2006/math">
                    <m:r>
                      <a:rPr lang="en-IN" sz="2400" i="1">
                        <a:solidFill>
                          <a:srgbClr val="111827"/>
                        </a:solidFill>
                        <a:latin typeface="Cambria Math" panose="02040503050406030204" pitchFamily="18" charset="0"/>
                      </a:rPr>
                      <m:t>0</m:t>
                    </m:r>
                  </m:oMath>
                </a14:m>
                <a:r>
                  <a:rPr sz="2400" b="0">
                    <a:solidFill>
                      <a:srgbClr val="111827"/>
                    </a:solidFill>
                    <a:latin typeface="Arial"/>
                  </a:rPr>
                  <a:t> from the other root terms).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14:m>
                  <m:oMath xmlns:m="http://schemas.openxmlformats.org/officeDocument/2006/math">
                    <m:r>
                      <a:rPr lang="en-IN" sz="2400" i="1">
                        <a:solidFill>
                          <a:srgbClr val="111827"/>
                        </a:solidFill>
                        <a:latin typeface="Cambria Math" panose="02040503050406030204" pitchFamily="18" charset="0"/>
                      </a:rPr>
                      <m:t>𝑎</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then </a:t>
                </a:r>
                <a14:m>
                  <m:oMath xmlns:m="http://schemas.openxmlformats.org/officeDocument/2006/math">
                    <m:sSup>
                      <m:e>
                        <m:r>
                          <a:rPr lang="en-IN" sz="2400" i="1">
                            <a:solidFill>
                              <a:srgbClr val="111827"/>
                            </a:solidFill>
                            <a:latin typeface="Cambria Math" panose="02040503050406030204" pitchFamily="18" charset="0"/>
                          </a:rPr>
                          <m:t>𝑎</m:t>
                        </m:r>
                      </m:e>
                      <m:sup>
                        <m:r>
                          <a:rPr lang="en-IN" sz="2400" i="1">
                            <a:solidFill>
                              <a:srgbClr val="111827"/>
                            </a:solidFill>
                            <a:latin typeface="Cambria Math" panose="02040503050406030204" pitchFamily="18" charset="0"/>
                          </a:rPr>
                          <m:t>𝑁</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𝑚</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here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4</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a:rPr lang="en-IN" sz="2400" i="1">
                        <a:solidFill>
                          <a:srgbClr val="111827"/>
                        </a:solidFill>
                        <a:latin typeface="Cambria Math" panose="02040503050406030204" pitchFamily="18" charset="0"/>
                      </a:rPr>
                      <m:t> </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mod</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80</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Three consecutive coefficients </a:t>
                </a:r>
                <a:r>
                  <a:rPr lang="en-IN" sz="2400">
                    <a:solidFill>
                      <a:srgbClr val="111827"/>
                    </a:solidFill>
                    <a:latin typeface="Cambria Math" panose="02040503050406030204" pitchFamily="18" charset="0"/>
                  </a:rPr>
                  <a:t>${}^nC_{r-1},{}^nC_r,{}^nC_{r+1}$</a:t>
                </a:r>
                <a:r>
                  <a:rPr sz="2400" b="0">
                    <a:solidFill>
                      <a:srgbClr val="111827"/>
                    </a:solidFill>
                    <a:latin typeface="Arial"/>
                  </a:rPr>
                  <a:t> are in A.P. iff </a:t>
                </a:r>
                <a:r>
                  <a:rPr lang="en-IN" sz="2400">
                    <a:solidFill>
                      <a:srgbClr val="111827"/>
                    </a:solidFill>
                    <a:latin typeface="Cambria Math" panose="02040503050406030204" pitchFamily="18" charset="0"/>
                  </a:rPr>
                  <a:t>$n^2-n(4r+1)+4r^2-2=0$</a:t>
                </a:r>
                <a:r>
                  <a:rPr sz="2400" b="0">
                    <a:solidFill>
                      <a:srgbClr val="111827"/>
                    </a:solidFill>
                    <a:latin typeface="Arial"/>
                  </a:rPr>
                  <a:t>; for </a:t>
                </a:r>
                <a:r>
                  <a:rPr lang="en-IN" sz="2400">
                    <a:solidFill>
                      <a:srgbClr val="111827"/>
                    </a:solidFill>
                    <a:latin typeface="Cambria Math" panose="02040503050406030204" pitchFamily="18" charset="0"/>
                  </a:rPr>
                  <a:t>$n=14$</a:t>
                </a:r>
                <a:r>
                  <a:rPr sz="2400" b="0">
                    <a:solidFill>
                      <a:srgbClr val="111827"/>
                    </a:solidFill>
                    <a:latin typeface="Arial"/>
                  </a:rPr>
                  <a:t> this gives </a:t>
                </a:r>
                <a:r>
                  <a:rPr lang="en-IN" sz="2400">
                    <a:solidFill>
                      <a:srgbClr val="111827"/>
                    </a:solidFill>
                    <a:latin typeface="Cambria Math" panose="02040503050406030204" pitchFamily="18" charset="0"/>
                  </a:rPr>
                  <a:t>$r=5,9$</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$\sum_{r=0}^{n-1}z^r=\frac{1-z^n}{1-z}$</a:t>
                </a:r>
                <a:r>
                  <a:rPr sz="2400" b="0">
                    <a:solidFill>
                      <a:srgbClr val="111827"/>
                    </a:solidFill>
                    <a:latin typeface="Arial"/>
                  </a:rPr>
                  <a:t> only for </a:t>
                </a:r>
                <a:r>
                  <a:rPr lang="en-IN" sz="2400">
                    <a:solidFill>
                      <a:srgbClr val="111827"/>
                    </a:solidFill>
                    <a:latin typeface="Cambria Math" panose="02040503050406030204" pitchFamily="18" charset="0"/>
                  </a:rPr>
                  <a:t>$z\ne1$</a:t>
                </a:r>
                <a:r>
                  <a:rPr sz="2400" b="0">
                    <a:solidFill>
                      <a:srgbClr val="111827"/>
                    </a:solidFill>
                    <a:latin typeface="Arial"/>
                  </a:rPr>
                  <a:t>; for </a:t>
                </a:r>
                <a:r>
                  <a:rPr lang="en-IN" sz="2400">
                    <a:solidFill>
                      <a:srgbClr val="111827"/>
                    </a:solidFill>
                    <a:latin typeface="Cambria Math" panose="02040503050406030204" pitchFamily="18" charset="0"/>
                  </a:rPr>
                  <a:t>$z=1$</a:t>
                </a:r>
                <a:r>
                  <a:rPr sz="2400" b="0">
                    <a:solidFill>
                      <a:srgbClr val="111827"/>
                    </a:solidFill>
                    <a:latin typeface="Arial"/>
                  </a:rPr>
                  <a:t> the sum is </a:t>
                </a:r>
                <a:r>
                  <a:rPr lang="en-IN" sz="2400">
                    <a:solidFill>
                      <a:srgbClr val="111827"/>
                    </a:solidFill>
                    <a:latin typeface="Cambria Math" panose="02040503050406030204" pitchFamily="18" charset="0"/>
                  </a:rPr>
                  <a:t>$n$</a:t>
                </a:r>
                <a:r>
                  <a:rPr sz="2400" b="0">
                    <a:solidFill>
                      <a:srgbClr val="111827"/>
                    </a:solidFill>
                    <a:latin typeface="Arial"/>
                  </a:rPr>
                  <a:t> (watch for </a:t>
                </a:r>
                <a:r>
                  <a:rPr lang="en-IN" sz="2400">
                    <a:solidFill>
                      <a:srgbClr val="111827"/>
                    </a:solidFill>
                    <a:latin typeface="Cambria Math" panose="02040503050406030204" pitchFamily="18" charset="0"/>
                  </a:rPr>
                  <a:t>$i^r=1$</a:t>
                </a:r>
                <a:r>
                  <a:rPr sz="2400" b="0">
                    <a:solidFill>
                      <a:srgbClr val="111827"/>
                    </a:solidFill>
                    <a:latin typeface="Arial"/>
                  </a:rPr>
                  <a:t> when </a:t>
                </a:r>
                <a:r>
                  <a:rPr lang="en-IN" sz="2400">
                    <a:solidFill>
                      <a:srgbClr val="111827"/>
                    </a:solidFill>
                    <a:latin typeface="Cambria Math" panose="02040503050406030204" pitchFamily="18" charset="0"/>
                  </a:rPr>
                  <a:t>$4\mid r$</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$\sum_{4\mid r}\binom nr=\frac{2^n+(1+i)^n+(1-i)^n}{4}$</a:t>
                </a:r>
                <a:r>
                  <a:rPr sz="2400" b="0">
                    <a:solidFill>
                      <a:srgbClr val="111827"/>
                    </a:solidFill>
                    <a:latin typeface="Arial"/>
                  </a:rPr>
                  <a:t> (roots-of-unity filter with </a:t>
                </a:r>
                <a:r>
                  <a:rPr lang="en-IN" sz="2400">
                    <a:solidFill>
                      <a:srgbClr val="111827"/>
                    </a:solidFill>
                    <a:latin typeface="Cambria Math" panose="02040503050406030204" pitchFamily="18" charset="0"/>
                  </a:rPr>
                  <a:t>$0$</a:t>
                </a:r>
                <a:r>
                  <a:rPr sz="2400" b="0">
                    <a:solidFill>
                      <a:srgbClr val="111827"/>
                    </a:solidFill>
                    <a:latin typeface="Arial"/>
                  </a:rPr>
                  <a:t> from the other root terms).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If </a:t>
                </a:r>
                <a:r>
                  <a:rPr lang="en-IN" sz="2400">
                    <a:solidFill>
                      <a:srgbClr val="111827"/>
                    </a:solidFill>
                    <a:latin typeface="Cambria Math" panose="02040503050406030204" pitchFamily="18" charset="0"/>
                  </a:rPr>
                  <a:t>$a\equiv1\pmod m$</a:t>
                </a:r>
                <a:r>
                  <a:rPr sz="2400" b="0">
                    <a:solidFill>
                      <a:srgbClr val="111827"/>
                    </a:solidFill>
                    <a:latin typeface="Arial"/>
                  </a:rPr>
                  <a:t> then </a:t>
                </a:r>
                <a:r>
                  <a:rPr lang="en-IN" sz="2400">
                    <a:solidFill>
                      <a:srgbClr val="111827"/>
                    </a:solidFill>
                    <a:latin typeface="Cambria Math" panose="02040503050406030204" pitchFamily="18" charset="0"/>
                  </a:rPr>
                  <a:t>$a^N\equiv1\pmod m$</a:t>
                </a:r>
                <a:r>
                  <a:rPr sz="2400" b="0">
                    <a:solidFill>
                      <a:srgbClr val="111827"/>
                    </a:solidFill>
                    <a:latin typeface="Arial"/>
                  </a:rPr>
                  <a:t>: here </a:t>
                </a:r>
                <a:r>
                  <a:rPr lang="en-IN" sz="2400">
                    <a:solidFill>
                      <a:srgbClr val="111827"/>
                    </a:solidFill>
                    <a:latin typeface="Cambria Math" panose="02040503050406030204" pitchFamily="18" charset="0"/>
                  </a:rPr>
                  <a:t>$3^4\equiv1\pmod{80}$</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ounded Rectangle 3"/>
              <p:cNvSpPr/>
              <p:nvPr/>
            </p:nvSpPr>
            <p:spPr>
              <a:xfrm>
                <a:off x="731520" y="1280160"/>
                <a:ext cx="10725912" cy="518413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Five balls are to be placed in three boxes. Each can hold all the five balls. In how many different ways can we place the balls so that no box remains empty, if the following hold? 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Balls and boxes are all different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Balls are identical but boxes are different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Balls are different but boxes are identical</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Balls and boxes are identical</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14:m>
                  <m:oMath xmlns:m="http://schemas.openxmlformats.org/officeDocument/2006/math">
                    <m:r>
                      <a:rPr lang="en-IN" sz="2000" i="1">
                        <a:solidFill>
                          <a:srgbClr val="111827"/>
                        </a:solidFill>
                        <a:latin typeface="Cambria Math" panose="02040503050406030204" pitchFamily="18" charset="0"/>
                      </a:rPr>
                      <m:t>2</m:t>
                    </m:r>
                  </m:oMath>
                </a14:m>
                <a:r>
                  <a:rPr sz="2000" b="0">
                    <a:solidFill>
                      <a:srgbClr val="111827"/>
                    </a:solidFill>
                    <a:latin typeface="Arial"/>
                  </a:rPr>
                  <a:t>, (q) </a:t>
                </a:r>
                <a14:m>
                  <m:oMath xmlns:m="http://schemas.openxmlformats.org/officeDocument/2006/math">
                    <m:r>
                      <a:rPr lang="en-IN" sz="2000" i="1">
                        <a:solidFill>
                          <a:srgbClr val="111827"/>
                        </a:solidFill>
                        <a:latin typeface="Cambria Math" panose="02040503050406030204" pitchFamily="18" charset="0"/>
                      </a:rPr>
                      <m:t>25</m:t>
                    </m:r>
                  </m:oMath>
                </a14:m>
                <a:r>
                  <a:rPr sz="2000" b="0">
                    <a:solidFill>
                      <a:srgbClr val="111827"/>
                    </a:solidFill>
                    <a:latin typeface="Arial"/>
                  </a:rPr>
                  <a:t>, (r) </a:t>
                </a:r>
                <a14:m>
                  <m:oMath xmlns:m="http://schemas.openxmlformats.org/officeDocument/2006/math">
                    <m:r>
                      <a:rPr lang="en-IN" sz="2000" i="1">
                        <a:solidFill>
                          <a:srgbClr val="111827"/>
                        </a:solidFill>
                        <a:latin typeface="Cambria Math" panose="02040503050406030204" pitchFamily="18" charset="0"/>
                      </a:rPr>
                      <m:t>150</m:t>
                    </m:r>
                  </m:oMath>
                </a14:m>
                <a:r>
                  <a:rPr sz="2000" b="0">
                    <a:solidFill>
                      <a:srgbClr val="111827"/>
                    </a:solidFill>
                    <a:latin typeface="Arial"/>
                  </a:rPr>
                  <a:t>, (s) </a:t>
                </a:r>
                <a14:m>
                  <m:oMath xmlns:m="http://schemas.openxmlformats.org/officeDocument/2006/math">
                    <m:r>
                      <a:rPr lang="en-IN" sz="2000" i="1">
                        <a:solidFill>
                          <a:srgbClr val="111827"/>
                        </a:solidFill>
                        <a:latin typeface="Cambria Math" panose="02040503050406030204" pitchFamily="18" charset="0"/>
                      </a:rPr>
                      <m:t>6</m:t>
                    </m:r>
                  </m:oMath>
                </a14:m>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r; b - s; c - p; d - 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r; b - p; c - s; d - 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r; b - s; c - q; d - 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p; b - r; c - s; d - q</a:t>
                </a:r>
                <a:endParaRPr sz="2000">
                  <a:solidFill>
                    <a:srgbClr val="111827"/>
                  </a:solidFill>
                </a:endParaRPr>
              </a:p>
            </p:txBody>
          </p:sp>
        </mc:Choice>
        <mc:Fallback>
          <p:sp>
            <p:nvSpPr>
              <p:cNvPr id="4" name="Rounded Rectangle 3"/>
              <p:cNvSpPr/>
              <p:nvPr/>
            </p:nvSpPr>
            <p:spPr>
              <a:xfrm>
                <a:off x="731520" y="1280160"/>
                <a:ext cx="10725912" cy="5184139"/>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000">
                    <a:solidFill>
                      <a:srgbClr val="111827"/>
                    </a:solidFill>
                  </a:defRPr>
                </a:lvl1pPr>
              </a:lstStyle>
              <a:p>
                <a:pPr algn="l">
                  <a:spcAft>
                    <a:spcPts val="500"/>
                  </a:spcAft>
                  <a:defRPr sz="2000">
                    <a:solidFill>
                      <a:srgbClr val="111827"/>
                    </a:solidFill>
                  </a:defRPr>
                </a:pPr>
                <a:r>
                  <a:rPr sz="2000" b="0">
                    <a:solidFill>
                      <a:srgbClr val="111827"/>
                    </a:solidFill>
                    <a:latin typeface="Arial"/>
                  </a:rPr>
                  <a:t>Five balls are to be placed in three boxes. Each can hold all the five balls. In how many different ways can we place the balls so that no box remains empty, if the following hold? Match the following columns.</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Balls and boxes are all different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Balls are identical but boxes are different</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Balls are different but boxes are identical</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Balls and boxes are identical</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Column-II: (p) </a:t>
                </a:r>
                <a:r>
                  <a:rPr lang="en-IN" sz="2000">
                    <a:solidFill>
                      <a:srgbClr val="111827"/>
                    </a:solidFill>
                    <a:latin typeface="Cambria Math" panose="02040503050406030204" pitchFamily="18" charset="0"/>
                  </a:rPr>
                  <a:t>$2$</a:t>
                </a:r>
                <a:r>
                  <a:rPr sz="2000" b="0">
                    <a:solidFill>
                      <a:srgbClr val="111827"/>
                    </a:solidFill>
                    <a:latin typeface="Arial"/>
                  </a:rPr>
                  <a:t>, (q) </a:t>
                </a:r>
                <a:r>
                  <a:rPr lang="en-IN" sz="2000">
                    <a:solidFill>
                      <a:srgbClr val="111827"/>
                    </a:solidFill>
                    <a:latin typeface="Cambria Math" panose="02040503050406030204" pitchFamily="18" charset="0"/>
                  </a:rPr>
                  <a:t>$25$</a:t>
                </a:r>
                <a:r>
                  <a:rPr sz="2000" b="0">
                    <a:solidFill>
                      <a:srgbClr val="111827"/>
                    </a:solidFill>
                    <a:latin typeface="Arial"/>
                  </a:rPr>
                  <a:t>, (r) </a:t>
                </a:r>
                <a:r>
                  <a:rPr lang="en-IN" sz="2000">
                    <a:solidFill>
                      <a:srgbClr val="111827"/>
                    </a:solidFill>
                    <a:latin typeface="Cambria Math" panose="02040503050406030204" pitchFamily="18" charset="0"/>
                  </a:rPr>
                  <a:t>$150$</a:t>
                </a:r>
                <a:r>
                  <a:rPr sz="2000" b="0">
                    <a:solidFill>
                      <a:srgbClr val="111827"/>
                    </a:solidFill>
                    <a:latin typeface="Arial"/>
                  </a:rPr>
                  <a:t>, (s) </a:t>
                </a:r>
                <a:r>
                  <a:rPr lang="en-IN" sz="2000">
                    <a:solidFill>
                      <a:srgbClr val="111827"/>
                    </a:solidFill>
                    <a:latin typeface="Cambria Math" panose="02040503050406030204" pitchFamily="18" charset="0"/>
                  </a:rPr>
                  <a:t>$6$</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(A) a - r; b - s; c - p; d - 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(B) a - r; b - p; c - s; d - q</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(C) a - r; b - s; c - q; d - p</a:t>
                </a:r>
                <a:endParaRPr sz="2000">
                  <a:solidFill>
                    <a:srgbClr val="111827"/>
                  </a:solidFill>
                </a:endParaRPr>
              </a:p>
              <a:p>
                <a:pPr algn="l">
                  <a:spcAft>
                    <a:spcPts val="500"/>
                  </a:spcAft>
                  <a:defRPr sz="2000">
                    <a:solidFill>
                      <a:srgbClr val="111827"/>
                    </a:solidFill>
                  </a:defRPr>
                </a:pPr>
                <a:r>
                  <a:rPr sz="2000" b="0">
                    <a:solidFill>
                      <a:srgbClr val="111827"/>
                    </a:solidFill>
                    <a:latin typeface="Arial"/>
                  </a:rPr>
                  <a:t>(D) a - p; b - r; c - s; d - q</a:t>
                </a:r>
                <a:endParaRPr sz="2000">
                  <a:solidFill>
                    <a:srgbClr val="111827"/>
                  </a:solidFill>
                </a:endParaRPr>
              </a:p>
            </p:txBody>
          </p:sp>
        </mc:Fallback>
      </mc:AlternateContent>
    </p:spTree>
  </p:cSld>
  <p:clrMapOvr>
    <a:masterClrMapping/>
  </p:clrMapOvr>
</p:sld>
</file>

<file path=ppt/slides/slide6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ectangle 3"/>
          <p:cNvSpPr/>
          <p:nvPr/>
        </p:nvSpPr>
        <p:spPr>
          <a:xfrm>
            <a:off x="731520" y="1280160"/>
            <a:ext cx="10725912" cy="219456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a:spcAft>
                <a:spcPts val="200"/>
              </a:spcAft>
              <a:defRPr sz="2400">
                <a:solidFill>
                  <a:srgbClr val="111827"/>
                </a:solidFill>
              </a:defRPr>
            </a:pPr>
            <a:r>
              <a:rPr sz="2400" b="0">
                <a:solidFill>
                  <a:srgbClr val="111827"/>
                </a:solidFill>
                <a:latin typeface="Arial"/>
              </a:rPr>
              <a:t>Matching List Type(3 Marks)</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Concept(s) : Distribution of objects into groups (Stirling-type counting)</a:t>
            </a:r>
            <a:endParaRPr sz="2400">
              <a:solidFill>
                <a:srgbClr val="111827"/>
              </a:solidFill>
            </a:endParaRPr>
          </a:p>
          <a:p>
            <a:pPr algn="l">
              <a:spcAft>
                <a:spcPts val="200"/>
              </a:spcAft>
              <a:defRPr sz="2400">
                <a:solidFill>
                  <a:srgbClr val="111827"/>
                </a:solidFill>
              </a:defRPr>
            </a:pPr>
            <a:r>
              <a:rPr sz="2400" b="0">
                <a:solidFill>
                  <a:srgbClr val="111827"/>
                </a:solidFill>
                <a:latin typeface="Arial"/>
              </a:rPr>
              <a:t>Difficulty Level: Level 2(A level below Average JEE Advanced Level)</a:t>
            </a:r>
            <a:endParaRPr sz="2400">
              <a:solidFill>
                <a:srgbClr val="111827"/>
              </a:solidFill>
            </a:endParaRPr>
          </a:p>
        </p:txBody>
      </p:sp>
      <p:sp>
        <p:nvSpPr>
          <p:cNvPr id="5" name="Rounded Rectangle 4"/>
          <p:cNvSpPr/>
          <p:nvPr/>
        </p:nvSpPr>
        <p:spPr>
          <a:xfrm>
            <a:off x="731520" y="365760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Key idea:  </a:t>
            </a:r>
            <a:r>
              <a:rPr sz="2400" b="0">
                <a:solidFill>
                  <a:srgbClr val="78350F"/>
                </a:solidFill>
                <a:latin typeface="Arial"/>
              </a:rPr>
              <a:t>Identify which objects are distinguishable: onto maps, compositions, set partitions, or integer partitions.</a:t>
            </a:r>
            <a:endParaRPr sz="2400">
              <a:solidFill>
                <a:srgbClr val="78350F"/>
              </a:solidFill>
            </a:endParaRPr>
          </a:p>
        </p:txBody>
      </p:sp>
      <mc:AlternateContent xmlns:mc="http://schemas.openxmlformats.org/markup-compatibility/2006" xmlns:a14="http://schemas.microsoft.com/office/drawing/2010/main">
        <mc:Choice Requires="a14">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Balls and boxes all different: onto functions from 5 balls to 3 boxes. By inclusion-exclusion the count is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d>
                      <m:dPr>
                        <m:begChr m:val="("/>
                        <m:sepChr m:val=""/>
                        <m:endChr m:val=")"/>
                        <m:grow/>
                        <m:ctrlPr>
                          <a:rPr lang="en-IN" sz="2400" i="1">
                            <a:solidFill>
                              <a:srgbClr val="111827"/>
                            </a:solidFill>
                            <a:latin typeface="Cambria Math" panose="02040503050406030204" pitchFamily="18" charset="0"/>
                          </a:rPr>
                        </m:ctrlPr>
                      </m:dPr>
                      <m:e>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2</m:t>
                            </m:r>
                          </m:e>
                          <m:sup>
                            <m:r>
                              <a:rPr lang="en-IN" sz="2400" i="1">
                                <a:solidFill>
                                  <a:srgbClr val="111827"/>
                                </a:solidFill>
                                <a:latin typeface="Cambria Math" panose="02040503050406030204" pitchFamily="18" charset="0"/>
                              </a:rPr>
                              <m:t>5</m:t>
                            </m:r>
                          </m:sup>
                        </m:sSup>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3</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1</m:t>
                            </m:r>
                          </m:sub>
                        </m:sSub>
                        <m:r>
                          <a:rPr lang="en-IN" sz="2400" i="1">
                            <a:solidFill>
                              <a:srgbClr val="111827"/>
                            </a:solidFill>
                            <a:latin typeface="Cambria Math" panose="02040503050406030204" pitchFamily="18" charset="0"/>
                          </a:rPr>
                          <m:t> </m:t>
                        </m:r>
                        <m:sSup>
                          <m:e>
                            <m:r>
                              <a:rPr lang="en-IN" sz="2400" i="1">
                                <a:solidFill>
                                  <a:srgbClr val="111827"/>
                                </a:solidFill>
                                <a:latin typeface="Cambria Math" panose="02040503050406030204" pitchFamily="18" charset="0"/>
                              </a:rPr>
                              <m:t>1</m:t>
                            </m:r>
                          </m:e>
                          <m:sup>
                            <m:r>
                              <a:rPr lang="en-IN" sz="2400" i="1">
                                <a:solidFill>
                                  <a:srgbClr val="111827"/>
                                </a:solidFill>
                                <a:latin typeface="Cambria Math" panose="02040503050406030204" pitchFamily="18" charset="0"/>
                              </a:rPr>
                              <m:t>5</m:t>
                            </m:r>
                          </m:sup>
                        </m:sSup>
                      </m:e>
                    </m:d>
                  </m:oMath>
                </a14:m>
                <a:r>
                  <a:rPr sz="2400" b="0">
                    <a:solidFill>
                      <a:srgbClr val="111827"/>
                    </a:solidFill>
                    <a:latin typeface="Arial"/>
                  </a:rPr>
                  <a:t> (the PDF prints </a:t>
                </a:r>
                <a14:m>
                  <m:oMath xmlns:m="http://schemas.openxmlformats.org/officeDocument/2006/math">
                    <m:sSup>
                      <m:e>
                        <m:r>
                          <a:rPr lang="en-IN" sz="2400" i="1">
                            <a:solidFill>
                              <a:srgbClr val="111827"/>
                            </a:solidFill>
                            <a:latin typeface="Cambria Math" panose="02040503050406030204" pitchFamily="18" charset="0"/>
                          </a:rPr>
                          <m:t>3</m:t>
                        </m:r>
                      </m:e>
                      <m:sup>
                        <m:r>
                          <a:rPr lang="en-IN" sz="2400" i="1">
                            <a:solidFill>
                              <a:srgbClr val="111827"/>
                            </a:solidFill>
                            <a:latin typeface="Cambria Math" panose="02040503050406030204" pitchFamily="18" charset="0"/>
                          </a:rPr>
                          <m:t>5</m:t>
                        </m:r>
                      </m:sup>
                    </m:sSup>
                  </m:oMath>
                </a14:m>
                <a:r>
                  <a:rPr sz="2400" b="0">
                    <a:solidFill>
                      <a:srgbClr val="111827"/>
                    </a:solidFill>
                    <a:latin typeface="Arial"/>
                  </a:rPr>
                  <a:t> as 35).</a:t>
                </a:r>
                <a:endParaRPr sz="2400">
                  <a:solidFill>
                    <a:srgbClr val="111827"/>
                  </a:solidFill>
                </a:endParaRPr>
              </a:p>
            </p:txBody>
          </p:sp>
        </mc:Choice>
        <mc:Fallback>
          <p:sp>
            <p:nvSpPr>
              <p:cNvPr id="6" name="Rectangle 5"/>
              <p:cNvSpPr/>
              <p:nvPr/>
            </p:nvSpPr>
            <p:spPr>
              <a:xfrm>
                <a:off x="731520" y="4904232"/>
                <a:ext cx="10725912" cy="1770887"/>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(a) Balls and boxes all different: onto functions from 5 balls to 3 boxes. By inclusion-exclusion the count is </a:t>
                </a:r>
                <a:r>
                  <a:rPr lang="en-IN" sz="2400">
                    <a:solidFill>
                      <a:srgbClr val="111827"/>
                    </a:solidFill>
                    <a:latin typeface="Cambria Math" panose="02040503050406030204" pitchFamily="18" charset="0"/>
                  </a:rPr>
                  <a:t>$3^5-\left({}^3C_2\,2^5-{}^3C_1\,1^5\right)$</a:t>
                </a:r>
                <a:r>
                  <a:rPr sz="2400" b="0">
                    <a:solidFill>
                      <a:srgbClr val="111827"/>
                    </a:solidFill>
                    <a:latin typeface="Arial"/>
                  </a:rPr>
                  <a:t> (the PDF prints </a:t>
                </a:r>
                <a:r>
                  <a:rPr lang="en-IN" sz="2400">
                    <a:solidFill>
                      <a:srgbClr val="111827"/>
                    </a:solidFill>
                    <a:latin typeface="Cambria Math" panose="02040503050406030204" pitchFamily="18" charset="0"/>
                  </a:rPr>
                  <a:t>$3^5$</a:t>
                </a:r>
                <a:r>
                  <a:rPr sz="2400" b="0">
                    <a:solidFill>
                      <a:srgbClr val="111827"/>
                    </a:solidFill>
                    <a:latin typeface="Arial"/>
                  </a:rPr>
                  <a:t> as 35).</a:t>
                </a:r>
                <a:endParaRPr sz="2400">
                  <a:solidFill>
                    <a:srgbClr val="111827"/>
                  </a:solidFill>
                </a:endParaRPr>
              </a:p>
            </p:txBody>
          </p:sp>
        </mc:Fallback>
      </mc:AlternateContent>
    </p:spTree>
  </p:cSld>
  <p:clrMapOvr>
    <a:masterClrMapping/>
  </p:clrMapOvr>
</p:sld>
</file>

<file path=ppt/slides/slide6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243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93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150</m:t>
                    </m:r>
                  </m:oMath>
                </a14:m>
                <a:r>
                  <a:rPr sz="2400" b="0">
                    <a:solidFill>
                      <a:srgbClr val="111827"/>
                    </a:solidFill>
                    <a:latin typeface="Arial"/>
                  </a:rPr>
                  <a:t>, so (a)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Identical balls, different boxes: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3</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oMath>
                </a14:m>
                <a:r>
                  <a:rPr sz="2400" b="0">
                    <a:solidFill>
                      <a:srgbClr val="111827"/>
                    </a:solidFill>
                    <a:latin typeface="Arial"/>
                  </a:rPr>
                  <a:t> with each </a:t>
                </a:r>
                <a14:m>
                  <m:oMath xmlns:m="http://schemas.openxmlformats.org/officeDocument/2006/math">
                    <m:sSub>
                      <m:e>
                        <m:r>
                          <a:rPr lang="en-IN" sz="2400" i="1">
                            <a:solidFill>
                              <a:srgbClr val="111827"/>
                            </a:solidFill>
                            <a:latin typeface="Cambria Math" panose="02040503050406030204" pitchFamily="18" charset="0"/>
                          </a:rPr>
                          <m:t>𝑥</m:t>
                        </m:r>
                      </m:e>
                      <m:sub>
                        <m:r>
                          <a:rPr lang="en-IN" sz="2400" i="1">
                            <a:solidFill>
                              <a:srgbClr val="111827"/>
                            </a:solidFill>
                            <a:latin typeface="Cambria Math" panose="02040503050406030204" pitchFamily="18" charset="0"/>
                          </a:rPr>
                          <m:t>𝑖</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solutions is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ub>
                    </m:sSub>
                    <m:r>
                      <m:rPr>
                        <m:sty m:val="p"/>
                      </m:rPr>
                      <a:rPr lang="en-IN" sz="2400">
                        <a:solidFill>
                          <a:srgbClr val="111827"/>
                        </a:solidFill>
                        <a:latin typeface="Cambria Math" panose="02040503050406030204" pitchFamily="18" charset="0"/>
                      </a:rPr>
                      <m:t>=</m:t>
                    </m:r>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(b) matches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Different balls, identical boxes: the group sizes are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or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identical boxes mean we divide by the symmetry of equal groups.</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2</m:t>
                            </m:r>
                          </m:sup>
                        </m:sSup>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so (c) matches (q).</a:t>
                </a:r>
                <a:endParaRPr sz="2400">
                  <a:solidFill>
                    <a:srgbClr val="111827"/>
                  </a:solidFill>
                </a:endParaRPr>
              </a:p>
            </p:txBody>
          </p:sp>
        </mc:Choice>
        <mc:Fallback>
          <p:sp>
            <p:nvSpPr>
              <p:cNvPr id="4" name="Rectangle 3"/>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$=243-(96-3)=243-93=150$</a:t>
                </a:r>
                <a:r>
                  <a:rPr sz="2400" b="0">
                    <a:solidFill>
                      <a:srgbClr val="111827"/>
                    </a:solidFill>
                    <a:latin typeface="Arial"/>
                  </a:rPr>
                  <a:t>, so (a) matches (r).</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(b) Identical balls, different boxes: </a:t>
                </a:r>
                <a:r>
                  <a:rPr lang="en-IN" sz="2400">
                    <a:solidFill>
                      <a:srgbClr val="111827"/>
                    </a:solidFill>
                    <a:latin typeface="Cambria Math" panose="02040503050406030204" pitchFamily="18" charset="0"/>
                  </a:rPr>
                  <a:t>$x_1+x_2+x_3=5$</a:t>
                </a:r>
                <a:r>
                  <a:rPr sz="2400" b="0">
                    <a:solidFill>
                      <a:srgbClr val="111827"/>
                    </a:solidFill>
                    <a:latin typeface="Arial"/>
                  </a:rPr>
                  <a:t> with each </a:t>
                </a:r>
                <a:r>
                  <a:rPr lang="en-IN" sz="2400">
                    <a:solidFill>
                      <a:srgbClr val="111827"/>
                    </a:solidFill>
                    <a:latin typeface="Cambria Math" panose="02040503050406030204" pitchFamily="18" charset="0"/>
                  </a:rPr>
                  <a:t>$x_i\ge1$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The number of solutions is </a:t>
                </a:r>
                <a:r>
                  <a:rPr lang="en-IN" sz="2400">
                    <a:solidFill>
                      <a:srgbClr val="111827"/>
                    </a:solidFill>
                    <a:latin typeface="Cambria Math" panose="02040503050406030204" pitchFamily="18" charset="0"/>
                  </a:rPr>
                  <a:t>${}^{5-1}C_{3-1}={}^4C_2=6$</a:t>
                </a:r>
                <a:r>
                  <a:rPr sz="2400" b="0">
                    <a:solidFill>
                      <a:srgbClr val="111827"/>
                    </a:solidFill>
                    <a:latin typeface="Arial"/>
                  </a:rPr>
                  <a:t>, so (b) matches (s).</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(c) Different balls, identical boxes: the group sizes are </a:t>
                </a:r>
                <a:r>
                  <a:rPr lang="en-IN" sz="2400">
                    <a:solidFill>
                      <a:srgbClr val="111827"/>
                    </a:solidFill>
                    <a:latin typeface="Cambria Math" panose="02040503050406030204" pitchFamily="18" charset="0"/>
                  </a:rPr>
                  <a:t>$(3,1,1)$</a:t>
                </a:r>
                <a:r>
                  <a:rPr sz="2400" b="0">
                    <a:solidFill>
                      <a:srgbClr val="111827"/>
                    </a:solidFill>
                    <a:latin typeface="Arial"/>
                  </a:rPr>
                  <a:t> or </a:t>
                </a:r>
                <a:r>
                  <a:rPr lang="en-IN" sz="2400">
                    <a:solidFill>
                      <a:srgbClr val="111827"/>
                    </a:solidFill>
                    <a:latin typeface="Cambria Math" panose="02040503050406030204" pitchFamily="18" charset="0"/>
                  </a:rPr>
                  <a:t>$(2,2,1)$</a:t>
                </a:r>
                <a:r>
                  <a:rPr sz="2400" b="0">
                    <a:solidFill>
                      <a:srgbClr val="111827"/>
                    </a:solidFill>
                    <a:latin typeface="Arial"/>
                  </a:rPr>
                  <a:t>, and identical boxes mean we divide by the symmetry of equal groups.</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$\frac{5!}{3!(1!)^2}\cdot\frac1{2!}+\frac{5!}{(2!)^2(1!)}\cdot\frac1{2!}=10+15=25$</a:t>
                </a:r>
                <a:r>
                  <a:rPr sz="2400" b="0">
                    <a:solidFill>
                      <a:srgbClr val="111827"/>
                    </a:solidFill>
                    <a:latin typeface="Arial"/>
                  </a:rPr>
                  <a:t>, so (c) matches (q).</a:t>
                </a:r>
                <a:endParaRPr sz="2400">
                  <a:solidFill>
                    <a:srgbClr val="111827"/>
                  </a:solidFill>
                </a:endParaRPr>
              </a:p>
            </p:txBody>
          </p:sp>
        </mc:Fallback>
      </mc:AlternateContent>
    </p:spTree>
  </p:cSld>
  <p:clrMapOvr>
    <a:masterClrMapping/>
  </p:clrMapOvr>
</p:sld>
</file>

<file path=ppt/slides/slide6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mc:AlternateContent xmlns:mc="http://schemas.openxmlformats.org/markup-compatibility/2006" xmlns:a14="http://schemas.microsoft.com/office/drawing/2010/main">
        <mc:Choice Requires="a14">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 Identical balls and boxes: only partitions of 5 into 3 positive parts: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and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 ways: (d)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a-r; b-s; c-q; d-p: option (C).</a:t>
                </a:r>
                <a:endParaRPr sz="2400">
                  <a:solidFill>
                    <a:srgbClr val="111827"/>
                  </a:solidFill>
                </a:endParaRPr>
              </a:p>
            </p:txBody>
          </p:sp>
        </mc:Choice>
        <mc:Fallback>
          <p:sp>
            <p:nvSpPr>
              <p:cNvPr id="4" name="Rectangle 3"/>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(d) Identical balls and boxes: only partitions of 5 into 3 positive parts: </a:t>
                </a:r>
                <a:r>
                  <a:rPr lang="en-IN" sz="2400">
                    <a:solidFill>
                      <a:srgbClr val="111827"/>
                    </a:solidFill>
                    <a:latin typeface="Cambria Math" panose="02040503050406030204" pitchFamily="18" charset="0"/>
                  </a:rPr>
                  <a:t>$(3,1,1)$</a:t>
                </a:r>
                <a:r>
                  <a:rPr sz="2400" b="0">
                    <a:solidFill>
                      <a:srgbClr val="111827"/>
                    </a:solidFill>
                    <a:latin typeface="Arial"/>
                  </a:rPr>
                  <a:t> and </a:t>
                </a:r>
                <a:r>
                  <a:rPr lang="en-IN" sz="2400">
                    <a:solidFill>
                      <a:srgbClr val="111827"/>
                    </a:solidFill>
                    <a:latin typeface="Cambria Math" panose="02040503050406030204" pitchFamily="18" charset="0"/>
                  </a:rPr>
                  <a:t>$(2,2,1)$</a:t>
                </a:r>
                <a:r>
                  <a:rPr sz="2400" b="0">
                    <a:solidFill>
                      <a:srgbClr val="111827"/>
                    </a:solidFill>
                    <a:latin typeface="Arial"/>
                  </a:rPr>
                  <a:t>, so </a:t>
                </a:r>
                <a:r>
                  <a:rPr lang="en-IN" sz="2400">
                    <a:solidFill>
                      <a:srgbClr val="111827"/>
                    </a:solidFill>
                    <a:latin typeface="Cambria Math" panose="02040503050406030204" pitchFamily="18" charset="0"/>
                  </a:rPr>
                  <a:t>$2$</a:t>
                </a:r>
                <a:r>
                  <a:rPr sz="2400" b="0">
                    <a:solidFill>
                      <a:srgbClr val="111827"/>
                    </a:solidFill>
                    <a:latin typeface="Arial"/>
                  </a:rPr>
                  <a:t> ways: (d) matches (p).</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Hence a-r; b-s; c-q; d-p: option (C).</a:t>
                </a:r>
                <a:endParaRPr sz="2400">
                  <a:solidFill>
                    <a:srgbClr val="111827"/>
                  </a:solidFill>
                </a:endParaRPr>
              </a:p>
            </p:txBody>
          </p:sp>
        </mc:Fallback>
      </mc:AlternateContent>
      <p:sp>
        <p:nvSpPr>
          <p:cNvPr id="5" name="Rounded Rectangle 4"/>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Correct Answer: (C) a - r; b - s; c - q; d - p</a:t>
            </a:r>
            <a:endParaRPr sz="2800">
              <a:solidFill>
                <a:srgbClr val="15803D"/>
              </a:solidFill>
            </a:endParaRPr>
          </a:p>
        </p:txBody>
      </p:sp>
    </p:spTree>
  </p:cSld>
  <p:clrMapOvr>
    <a:masterClrMapping/>
  </p:clrMapOvr>
</p:sld>
</file>

<file path=ppt/slides/slide6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Stirling numbers of the second kind: </a:t>
                </a:r>
                <a14:m>
                  <m:oMath xmlns:m="http://schemas.openxmlformats.org/officeDocument/2006/math">
                    <m:r>
                      <a:rPr lang="en-IN" sz="2400" i="1">
                        <a:solidFill>
                          <a:srgbClr val="78350F"/>
                        </a:solidFill>
                        <a:latin typeface="Cambria Math" panose="02040503050406030204" pitchFamily="18" charset="0"/>
                      </a:rPr>
                      <m:t>𝑆</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5</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3</m:t>
                    </m:r>
                    <m:r>
                      <m:rPr>
                        <m:sty m:val="p"/>
                      </m:rPr>
                      <a:rPr lang="en-IN" sz="2400">
                        <a:solidFill>
                          <a:srgbClr val="78350F"/>
                        </a:solidFill>
                        <a:latin typeface="Cambria Math" panose="02040503050406030204" pitchFamily="18" charset="0"/>
                      </a:rPr>
                      <m:t>)</m:t>
                    </m:r>
                    <m:r>
                      <m:rPr>
                        <m:sty m:val="p"/>
                      </m:rPr>
                      <a:rPr lang="en-IN" sz="2400">
                        <a:solidFill>
                          <a:srgbClr val="78350F"/>
                        </a:solidFill>
                        <a:latin typeface="Cambria Math" panose="02040503050406030204" pitchFamily="18" charset="0"/>
                      </a:rPr>
                      <m:t>=</m:t>
                    </m:r>
                    <m:r>
                      <a:rPr lang="en-IN" sz="2400" i="1">
                        <a:solidFill>
                          <a:srgbClr val="78350F"/>
                        </a:solidFill>
                        <a:latin typeface="Cambria Math" panose="02040503050406030204" pitchFamily="18" charset="0"/>
                      </a:rPr>
                      <m:t>25</m:t>
                    </m:r>
                  </m:oMath>
                </a14:m>
                <a:r>
                  <a:rPr sz="2400" b="0">
                    <a:solidFill>
                      <a:srgbClr val="78350F"/>
                    </a:solidFill>
                    <a:latin typeface="Arial"/>
                  </a:rPr>
                  <a:t> counts partitions of 5 labelled balls into 3 non-empty groups.</a:t>
                </a:r>
                <a:endParaRPr sz="2400">
                  <a:solidFill>
                    <a:srgbClr val="78350F"/>
                  </a:solidFill>
                </a:endParaRPr>
              </a:p>
            </p:txBody>
          </p:sp>
        </mc:Choice>
        <mc:Fallback>
          <p:sp>
            <p:nvSpPr>
              <p:cNvPr id="5" name="Rounded Rectangle 4"/>
              <p:cNvSpPr/>
              <p:nvPr/>
            </p:nvSpPr>
            <p:spPr>
              <a:xfrm>
                <a:off x="731520" y="1280160"/>
                <a:ext cx="10725912" cy="1109472"/>
              </a:xfrm>
              <a:prstGeom prst="roundRect">
                <a:avLst>
                  <a:gd name="adj" fmla="val 8000"/>
                </a:avLst>
              </a:prstGeom>
              <a:solidFill>
                <a:srgbClr val="FDE68A"/>
              </a:solidFill>
              <a:ln w="3175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54864" bIns="73152"/>
              <a:lstStyle>
                <a:lvl1pPr>
                  <a:defRPr sz="2400">
                    <a:solidFill>
                      <a:srgbClr val="78350F"/>
                    </a:solidFill>
                  </a:defRPr>
                </a:lvl1pPr>
              </a:lstStyle>
              <a:p>
                <a:pPr algn="l">
                  <a:defRPr sz="2400">
                    <a:solidFill>
                      <a:srgbClr val="78350F"/>
                    </a:solidFill>
                  </a:defRPr>
                </a:pPr>
                <a:r>
                  <a:rPr sz="2400" b="1">
                    <a:solidFill>
                      <a:srgbClr val="78350F"/>
                    </a:solidFill>
                    <a:latin typeface="Arial"/>
                  </a:rPr>
                  <a:t>Idea:  </a:t>
                </a:r>
                <a:r>
                  <a:rPr sz="2400" b="0">
                    <a:solidFill>
                      <a:srgbClr val="78350F"/>
                    </a:solidFill>
                    <a:latin typeface="Arial"/>
                  </a:rPr>
                  <a:t>Use Stirling numbers of the second kind: </a:t>
                </a:r>
                <a:r>
                  <a:rPr lang="en-IN" sz="2400">
                    <a:solidFill>
                      <a:srgbClr val="78350F"/>
                    </a:solidFill>
                    <a:latin typeface="Cambria Math" panose="02040503050406030204" pitchFamily="18" charset="0"/>
                  </a:rPr>
                  <a:t>$S(5,3)=25$</a:t>
                </a:r>
                <a:r>
                  <a:rPr sz="2400" b="0">
                    <a:solidFill>
                      <a:srgbClr val="78350F"/>
                    </a:solidFill>
                    <a:latin typeface="Arial"/>
                  </a:rPr>
                  <a:t> counts partitions of 5 labelled balls into 3 non-empty groups.</a:t>
                </a:r>
                <a:endParaRPr sz="2400">
                  <a:solidFill>
                    <a:srgbClr val="78350F"/>
                  </a:solidFill>
                </a:endParaRP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(the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th ball joins an existing group or starts a new one).</a:t>
                </a:r>
                <a:endParaRPr sz="2400">
                  <a:solidFill>
                    <a:srgbClr val="111827"/>
                  </a:solidFill>
                </a:endParaRPr>
              </a:p>
              <a:p>
                <a:pPr algn="l" marL="274320" indent="-274320">
                  <a:spcAft>
                    <a:spcPts val="600"/>
                  </a:spcAft>
                  <a:buFont typeface="Arial"/>
                  <a:buChar char="•"/>
                  <a:defRPr sz="2400">
                    <a:solidFill>
                      <a:srgbClr val="111827"/>
                    </a:solidFill>
                  </a:defRPr>
                </a:pP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oMath>
                </a14:m>
                <a:r>
                  <a:rPr sz="2400" b="0">
                    <a:solidFill>
                      <a:srgbClr val="111827"/>
                    </a:solidFill>
                    <a:latin typeface="Arial"/>
                  </a:rPr>
                  <a:t> and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4</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so </a:t>
                </a:r>
                <a14:m>
                  <m:oMath xmlns:m="http://schemas.openxmlformats.org/officeDocument/2006/math">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7</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oMath>
                </a14:m>
                <a:r>
                  <a:rPr sz="2400" b="0">
                    <a:solidFill>
                      <a:srgbClr val="111827"/>
                    </a:solidFill>
                    <a:latin typeface="Arial"/>
                  </a:rPr>
                  <a:t>: (c) is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 (identical boxes, different balls).</a:t>
                </a:r>
                <a:endParaRPr sz="2400">
                  <a:solidFill>
                    <a:srgbClr val="111827"/>
                  </a:solidFill>
                </a:endParaRPr>
              </a:p>
            </p:txBody>
          </p:sp>
        </mc:Choice>
        <mc:Fallback>
          <p:sp>
            <p:nvSpPr>
              <p:cNvPr id="6" name="Rectangle 5"/>
              <p:cNvSpPr/>
              <p:nvPr/>
            </p:nvSpPr>
            <p:spPr>
              <a:xfrm>
                <a:off x="731520" y="2526792"/>
                <a:ext cx="10725912" cy="414832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$S(n,k)=k\,S(n-1,k)+S(n-1,k-1)$</a:t>
                </a:r>
                <a:r>
                  <a:rPr sz="2400" b="0">
                    <a:solidFill>
                      <a:srgbClr val="111827"/>
                    </a:solidFill>
                    <a:latin typeface="Arial"/>
                  </a:rPr>
                  <a:t> (the </a:t>
                </a:r>
                <a:r>
                  <a:rPr lang="en-IN" sz="2400">
                    <a:solidFill>
                      <a:srgbClr val="111827"/>
                    </a:solidFill>
                    <a:latin typeface="Cambria Math" panose="02040503050406030204" pitchFamily="18" charset="0"/>
                  </a:rPr>
                  <a:t>$n$</a:t>
                </a:r>
                <a:r>
                  <a:rPr sz="2400" b="0">
                    <a:solidFill>
                      <a:srgbClr val="111827"/>
                    </a:solidFill>
                    <a:latin typeface="Arial"/>
                  </a:rPr>
                  <a:t>th ball joins an existing group or starts a new one).</a:t>
                </a:r>
                <a:endParaRPr sz="2400">
                  <a:solidFill>
                    <a:srgbClr val="111827"/>
                  </a:solidFill>
                </a:endParaRPr>
              </a:p>
              <a:p>
                <a:pPr algn="l" marL="274320" indent="-274320">
                  <a:spcAft>
                    <a:spcPts val="600"/>
                  </a:spcAft>
                  <a:buFont typeface="Arial"/>
                  <a:buChar char="•"/>
                  <a:defRPr sz="2400">
                    <a:solidFill>
                      <a:srgbClr val="111827"/>
                    </a:solidFill>
                  </a:defRPr>
                </a:pPr>
                <a:r>
                  <a:rPr lang="en-IN" sz="2400">
                    <a:solidFill>
                      <a:srgbClr val="111827"/>
                    </a:solidFill>
                    <a:latin typeface="Cambria Math" panose="02040503050406030204" pitchFamily="18" charset="0"/>
                  </a:rPr>
                  <a:t>$S(4,2)=7$</a:t>
                </a:r>
                <a:r>
                  <a:rPr sz="2400" b="0">
                    <a:solidFill>
                      <a:srgbClr val="111827"/>
                    </a:solidFill>
                    <a:latin typeface="Arial"/>
                  </a:rPr>
                  <a:t> and </a:t>
                </a:r>
                <a:r>
                  <a:rPr lang="en-IN" sz="2400">
                    <a:solidFill>
                      <a:srgbClr val="111827"/>
                    </a:solidFill>
                    <a:latin typeface="Cambria Math" panose="02040503050406030204" pitchFamily="18" charset="0"/>
                  </a:rPr>
                  <a:t>$S(4,3)=6$</a:t>
                </a:r>
                <a:r>
                  <a:rPr sz="2400" b="0">
                    <a:solidFill>
                      <a:srgbClr val="111827"/>
                    </a:solidFill>
                    <a:latin typeface="Arial"/>
                  </a:rPr>
                  <a:t>, so </a:t>
                </a:r>
                <a:r>
                  <a:rPr lang="en-IN" sz="2400">
                    <a:solidFill>
                      <a:srgbClr val="111827"/>
                    </a:solidFill>
                    <a:latin typeface="Cambria Math" panose="02040503050406030204" pitchFamily="18" charset="0"/>
                  </a:rPr>
                  <a:t>$S(5,3)=3\cdot6+7=25$</a:t>
                </a:r>
                <a:r>
                  <a:rPr sz="2400" b="0">
                    <a:solidFill>
                      <a:srgbClr val="111827"/>
                    </a:solidFill>
                    <a:latin typeface="Arial"/>
                  </a:rPr>
                  <a:t>: (c) is </a:t>
                </a:r>
                <a:r>
                  <a:rPr lang="en-IN" sz="2400">
                    <a:solidFill>
                      <a:srgbClr val="111827"/>
                    </a:solidFill>
                    <a:latin typeface="Cambria Math" panose="02040503050406030204" pitchFamily="18" charset="0"/>
                  </a:rPr>
                  <a:t>$25$</a:t>
                </a:r>
                <a:r>
                  <a:rPr sz="2400" b="0">
                    <a:solidFill>
                      <a:srgbClr val="111827"/>
                    </a:solidFill>
                    <a:latin typeface="Arial"/>
                  </a:rPr>
                  <a:t> (identical boxes, different balls).</a:t>
                </a:r>
                <a:endParaRPr sz="2400">
                  <a:solidFill>
                    <a:srgbClr val="111827"/>
                  </a:solidFill>
                </a:endParaRPr>
              </a:p>
            </p:txBody>
          </p:sp>
        </mc:Fallback>
      </mc:AlternateContent>
    </p:spTree>
  </p:cSld>
  <p:clrMapOvr>
    <a:masterClrMapping/>
  </p:clrMapOvr>
</p:sld>
</file>

<file path=ppt/slides/slide6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FDE68A"/>
          </a:solidFill>
          <a:ln w="25400">
            <a:solidFill>
              <a:srgbClr val="D97706"/>
            </a:solidFill>
          </a:ln>
          <a:effectLst/>
        </p:spPr>
        <p:style>
          <a:lnRef idx="1">
            <a:schemeClr val="accent1"/>
          </a:lnRef>
          <a:fillRef idx="3">
            <a:schemeClr val="accent1"/>
          </a:fillRef>
          <a:effectRef idx="2">
            <a:schemeClr val="accent1"/>
          </a:effectRef>
          <a:fontRef idx="minor">
            <a:srgbClr val="78350F"/>
          </a:fontRef>
        </p:style>
        <p:txBody>
          <a:bodyPr rtlCol="0" anchor="ctr" wrap="square" lIns="228600" rIns="228600" tIns="18288" bIns="18288"/>
          <a:lstStyle>
            <a:lvl1pPr>
              <a:defRPr sz="2200">
                <a:solidFill>
                  <a:srgbClr val="78350F"/>
                </a:solidFill>
              </a:defRPr>
            </a:lvl1pPr>
          </a:lstStyle>
          <a:p>
            <a:pPr algn="ctr">
              <a:defRPr sz="2200">
                <a:solidFill>
                  <a:srgbClr val="78350F"/>
                </a:solidFill>
              </a:defRPr>
            </a:pPr>
            <a:r>
              <a:rPr sz="2200" b="1">
                <a:solidFill>
                  <a:srgbClr val="78350F"/>
                </a:solidFill>
                <a:latin typeface="Arial"/>
              </a:rPr>
              <a:t>Alternate Solution</a:t>
            </a:r>
            <a:endParaRPr sz="2200">
              <a:solidFill>
                <a:srgbClr val="78350F"/>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different boxes, label the 3 groups: </a:t>
                </a:r>
                <a14:m>
                  <m:oMath xmlns:m="http://schemas.openxmlformats.org/officeDocument/2006/math">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150</m:t>
                    </m:r>
                  </m:oMath>
                </a14:m>
                <a:r>
                  <a:rPr sz="2400" b="0">
                    <a:solidFill>
                      <a:srgbClr val="111827"/>
                    </a:solidFill>
                    <a:latin typeface="Arial"/>
                  </a:rPr>
                  <a:t>: (a) is </a:t>
                </a:r>
                <a14:m>
                  <m:oMath xmlns:m="http://schemas.openxmlformats.org/officeDocument/2006/math">
                    <m:r>
                      <a:rPr lang="en-IN" sz="2400" i="1">
                        <a:solidFill>
                          <a:srgbClr val="111827"/>
                        </a:solidFill>
                        <a:latin typeface="Cambria Math" panose="02040503050406030204" pitchFamily="18" charset="0"/>
                      </a:rPr>
                      <m:t>150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Identical balls: boxes different gives compositions of 5 into 3 parts, </a:t>
                </a:r>
                <a14:m>
                  <m:oMath xmlns:m="http://schemas.openxmlformats.org/officeDocument/2006/math">
                    <m:sSup>
                      <m:e>
                        <m:r>
                          <a:rPr lang="en-IN" sz="2400" i="1">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4</m:t>
                        </m:r>
                      </m:sup>
                    </m:sSup>
                    <m:sSub>
                      <m:e>
                        <m:r>
                          <a:rPr lang="en-IN" sz="2400" i="1">
                            <a:solidFill>
                              <a:srgbClr val="111827"/>
                            </a:solidFill>
                            <a:latin typeface="Cambria Math" panose="02040503050406030204" pitchFamily="18" charset="0"/>
                          </a:rPr>
                          <m:t>𝐶</m:t>
                        </m:r>
                      </m:e>
                      <m:sub>
                        <m:r>
                          <a:rPr lang="en-IN" sz="2400" i="1">
                            <a:solidFill>
                              <a:srgbClr val="111827"/>
                            </a:solidFill>
                            <a:latin typeface="Cambria Math" panose="02040503050406030204" pitchFamily="18" charset="0"/>
                          </a:rPr>
                          <m:t>2</m:t>
                        </m:r>
                      </m:sub>
                    </m:sSub>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6</m:t>
                    </m:r>
                  </m:oMath>
                </a14:m>
                <a:r>
                  <a:rPr sz="2400" b="0">
                    <a:solidFill>
                      <a:srgbClr val="111827"/>
                    </a:solidFill>
                    <a:latin typeface="Arial"/>
                  </a:rPr>
                  <a:t>; boxes identical gives partitions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i.e. </a:t>
                </a:r>
                <a14:m>
                  <m:oMath xmlns:m="http://schemas.openxmlformats.org/officeDocument/2006/math">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4434840"/>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For different boxes, label the 3 groups: </a:t>
                </a:r>
                <a:r>
                  <a:rPr lang="en-IN" sz="2400">
                    <a:solidFill>
                      <a:srgbClr val="111827"/>
                    </a:solidFill>
                    <a:latin typeface="Cambria Math" panose="02040503050406030204" pitchFamily="18" charset="0"/>
                  </a:rPr>
                  <a:t>$3!\,S(5,3)=6\cdot25=150$</a:t>
                </a:r>
                <a:r>
                  <a:rPr sz="2400" b="0">
                    <a:solidFill>
                      <a:srgbClr val="111827"/>
                    </a:solidFill>
                    <a:latin typeface="Arial"/>
                  </a:rPr>
                  <a:t>: (a) is </a:t>
                </a:r>
                <a:r>
                  <a:rPr lang="en-IN" sz="2400">
                    <a:solidFill>
                      <a:srgbClr val="111827"/>
                    </a:solidFill>
                    <a:latin typeface="Cambria Math" panose="02040503050406030204" pitchFamily="18" charset="0"/>
                  </a:rPr>
                  <a:t>$150$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Identical balls: boxes different gives compositions of 5 into 3 parts, </a:t>
                </a:r>
                <a:r>
                  <a:rPr lang="en-IN" sz="2400">
                    <a:solidFill>
                      <a:srgbClr val="111827"/>
                    </a:solidFill>
                    <a:latin typeface="Cambria Math" panose="02040503050406030204" pitchFamily="18" charset="0"/>
                  </a:rPr>
                  <a:t>${}^4C_2=6$</a:t>
                </a:r>
                <a:r>
                  <a:rPr sz="2400" b="0">
                    <a:solidFill>
                      <a:srgbClr val="111827"/>
                    </a:solidFill>
                    <a:latin typeface="Arial"/>
                  </a:rPr>
                  <a:t>; boxes identical gives partitions </a:t>
                </a:r>
                <a:r>
                  <a:rPr lang="en-IN" sz="2400">
                    <a:solidFill>
                      <a:srgbClr val="111827"/>
                    </a:solidFill>
                    <a:latin typeface="Cambria Math" panose="02040503050406030204" pitchFamily="18" charset="0"/>
                  </a:rPr>
                  <a:t>$(3,1,1),(2,2,1)$</a:t>
                </a:r>
                <a:r>
                  <a:rPr sz="2400" b="0">
                    <a:solidFill>
                      <a:srgbClr val="111827"/>
                    </a:solidFill>
                    <a:latin typeface="Arial"/>
                  </a:rPr>
                  <a:t>, i.e. </a:t>
                </a:r>
                <a:r>
                  <a:rPr lang="en-IN" sz="2400">
                    <a:solidFill>
                      <a:srgbClr val="111827"/>
                    </a:solidFill>
                    <a:latin typeface="Cambria Math" panose="02040503050406030204" pitchFamily="18" charset="0"/>
                  </a:rPr>
                  <a:t>$2$</a:t>
                </a:r>
                <a:r>
                  <a:rPr sz="2400" b="0">
                    <a:solidFill>
                      <a:srgbClr val="111827"/>
                    </a:solidFill>
                    <a:latin typeface="Arial"/>
                  </a:rPr>
                  <a:t>.</a:t>
                </a:r>
                <a:endParaRPr sz="2400">
                  <a:solidFill>
                    <a:srgbClr val="111827"/>
                  </a:solidFill>
                </a:endParaRPr>
              </a:p>
            </p:txBody>
          </p:sp>
        </mc:Fallback>
      </mc:AlternateContent>
      <p:sp>
        <p:nvSpPr>
          <p:cNvPr id="6" name="Rounded Rectangle 5"/>
          <p:cNvSpPr/>
          <p:nvPr/>
        </p:nvSpPr>
        <p:spPr>
          <a:xfrm>
            <a:off x="731520" y="5897880"/>
            <a:ext cx="10725912" cy="777240"/>
          </a:xfrm>
          <a:prstGeom prst="roundRect">
            <a:avLst>
              <a:gd name="adj" fmla="val 8000"/>
            </a:avLst>
          </a:prstGeom>
          <a:solidFill>
            <a:srgbClr val="DCFCE7"/>
          </a:solidFill>
          <a:ln w="25400">
            <a:solidFill>
              <a:srgbClr val="15803D"/>
            </a:solidFill>
          </a:ln>
          <a:effectLst/>
        </p:spPr>
        <p:style>
          <a:lnRef idx="1">
            <a:schemeClr val="accent1"/>
          </a:lnRef>
          <a:fillRef idx="3">
            <a:schemeClr val="accent1"/>
          </a:fillRef>
          <a:effectRef idx="2">
            <a:schemeClr val="accent1"/>
          </a:effectRef>
          <a:fontRef idx="minor">
            <a:srgbClr val="15803D"/>
          </a:fontRef>
        </p:style>
        <p:txBody>
          <a:bodyPr rtlCol="0" anchor="ctr" wrap="square" lIns="228600" rIns="228600" tIns="18288" bIns="73152"/>
          <a:lstStyle>
            <a:lvl1pPr>
              <a:defRPr sz="2800">
                <a:solidFill>
                  <a:srgbClr val="15803D"/>
                </a:solidFill>
              </a:defRPr>
            </a:lvl1pPr>
          </a:lstStyle>
          <a:p>
            <a:pPr algn="ctr">
              <a:defRPr sz="2800">
                <a:solidFill>
                  <a:srgbClr val="15803D"/>
                </a:solidFill>
              </a:defRPr>
            </a:pPr>
            <a:r>
              <a:rPr sz="2800" b="1">
                <a:solidFill>
                  <a:srgbClr val="15803D"/>
                </a:solidFill>
                <a:latin typeface="Arial"/>
              </a:rPr>
              <a:t>Same answer: (C) a - r; b - s; c - q; d - p</a:t>
            </a:r>
            <a:endParaRPr sz="2800">
              <a:solidFill>
                <a:srgbClr val="15803D"/>
              </a:solidFill>
            </a:endParaRPr>
          </a:p>
        </p:txBody>
      </p:sp>
    </p:spTree>
  </p:cSld>
  <p:clrMapOvr>
    <a:masterClrMapping/>
  </p:clrMapOvr>
</p:sld>
</file>

<file path=ppt/slides/slide6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Question 109</a:t>
            </a:r>
            <a:endParaRPr sz="3200">
              <a:solidFill>
                <a:srgbClr val="FFFFFF"/>
              </a:solidFill>
            </a:endParaRPr>
          </a:p>
        </p:txBody>
      </p:sp>
      <p:sp>
        <p:nvSpPr>
          <p:cNvPr id="3" name="Rounded Rectangle 2"/>
          <p:cNvSpPr/>
          <p:nvPr/>
        </p:nvSpPr>
        <p:spPr>
          <a:xfrm>
            <a:off x="7894015" y="246887"/>
            <a:ext cx="3840480" cy="603504"/>
          </a:xfrm>
          <a:prstGeom prst="roundRect">
            <a:avLst>
              <a:gd name="adj" fmla="val 50000"/>
            </a:avLst>
          </a:prstGeom>
          <a:solidFill>
            <a:srgbClr val="FFD966"/>
          </a:solidFill>
          <a:ln w="19050">
            <a:solidFill>
              <a:srgbClr val="FFFFFF"/>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18288"/>
          <a:lstStyle>
            <a:lvl1pPr>
              <a:defRPr sz="2400">
                <a:solidFill>
                  <a:srgbClr val="111827"/>
                </a:solidFill>
              </a:defRPr>
            </a:lvl1pPr>
          </a:lstStyle>
          <a:p>
            <a:pPr algn="ctr">
              <a:defRPr sz="2400">
                <a:solidFill>
                  <a:srgbClr val="111827"/>
                </a:solidFill>
              </a:defRPr>
            </a:pPr>
            <a:r>
              <a:rPr sz="2400" b="1">
                <a:solidFill>
                  <a:srgbClr val="111827"/>
                </a:solidFill>
                <a:latin typeface="Arial"/>
              </a:rPr>
              <a:t>Level 2  ·  3 Marks</a:t>
            </a:r>
            <a:endParaRPr sz="2400">
              <a:solidFill>
                <a:srgbClr val="111827"/>
              </a:solidFill>
            </a:endParaRPr>
          </a:p>
        </p:txBody>
      </p:sp>
      <p:sp>
        <p:nvSpPr>
          <p:cNvPr id="4" name="Rounded Rectangle 3"/>
          <p:cNvSpPr/>
          <p:nvPr/>
        </p:nvSpPr>
        <p:spPr>
          <a:xfrm>
            <a:off x="3520440" y="265176"/>
            <a:ext cx="4206240" cy="566928"/>
          </a:xfrm>
          <a:prstGeom prst="roundRect">
            <a:avLst>
              <a:gd name="adj" fmla="val 50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8288" bIns="18288"/>
          <a:lstStyle>
            <a:lvl1pPr>
              <a:defRPr sz="2200">
                <a:solidFill>
                  <a:srgbClr val="0B1F3A"/>
                </a:solidFill>
              </a:defRPr>
            </a:lvl1pPr>
          </a:lstStyle>
          <a:p>
            <a:pPr algn="ctr">
              <a:defRPr sz="2200">
                <a:solidFill>
                  <a:srgbClr val="0B1F3A"/>
                </a:solidFill>
              </a:defRPr>
            </a:pPr>
            <a:r>
              <a:rPr sz="2200" b="1">
                <a:solidFill>
                  <a:srgbClr val="0B1F3A"/>
                </a:solidFill>
                <a:latin typeface="Arial"/>
              </a:rPr>
              <a:t>Useful Result / Pattern</a:t>
            </a:r>
            <a:endParaRPr sz="2200">
              <a:solidFill>
                <a:srgbClr val="0B1F3A"/>
              </a:solidFill>
            </a:endParaRPr>
          </a:p>
        </p:txBody>
      </p:sp>
      <mc:AlternateContent xmlns:mc="http://schemas.openxmlformats.org/markup-compatibility/2006" xmlns:a14="http://schemas.microsoft.com/office/drawing/2010/main">
        <mc:Choice Requires="a14">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Onto maps from an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-set to a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-set: </a:t>
                </a:r>
                <a14:m>
                  <m:oMath xmlns:m="http://schemas.openxmlformats.org/officeDocument/2006/math">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𝑆</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nary>
                      <m:naryPr>
                        <m:chr m:val="∑"/>
                        <m:limLoc m:val="undOvr"/>
                        <m:subHide m:val="off"/>
                        <m:supHide m:val="off"/>
                        <m:ctrlPr>
                          <a:rPr lang="en-IN" sz="2400" i="1">
                            <a:solidFill>
                              <a:srgbClr val="111827"/>
                            </a:solidFill>
                            <a:latin typeface="Cambria Math" panose="02040503050406030204" pitchFamily="18" charset="0"/>
                          </a:rPr>
                        </m:ctrlPr>
                      </m:naryPr>
                      <m:sub>
                        <m:r>
                          <a:rPr lang="en-IN" sz="2400" i="1">
                            <a:solidFill>
                              <a:srgbClr val="111827"/>
                            </a:solidFill>
                            <a:latin typeface="Cambria Math" panose="02040503050406030204" pitchFamily="18" charset="0"/>
                          </a:rPr>
                          <m:t>𝑗</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0</m:t>
                        </m:r>
                      </m:sub>
                      <m:sup>
                        <m:r>
                          <a:rPr lang="en-IN" sz="2400" i="1">
                            <a:solidFill>
                              <a:srgbClr val="111827"/>
                            </a:solidFill>
                            <a:latin typeface="Cambria Math" panose="02040503050406030204" pitchFamily="18" charset="0"/>
                          </a:rPr>
                          <m:t>𝑘</m:t>
                        </m:r>
                      </m:sup>
                      <m:e>
                        <m:r>
                          <m:rPr>
                            <m:sty m:val="p"/>
                          </m:rPr>
                          <a:rPr lang="en-IN" sz="2400">
                            <a:solidFill>
                              <a:srgbClr val="111827"/>
                            </a:solidFill>
                            <a:latin typeface="Cambria Math" panose="02040503050406030204" pitchFamily="18" charset="0"/>
                          </a:rPr>
                          <m:t>(</m:t>
                        </m:r>
                      </m:e>
                    </m:nary>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𝑗</m:t>
                        </m:r>
                      </m:sup>
                    </m:sSup>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𝑘</m:t>
                            </m:r>
                          </m:num>
                          <m:den>
                            <m:r>
                              <a:rPr lang="en-IN" sz="2400" i="1">
                                <a:solidFill>
                                  <a:srgbClr val="111827"/>
                                </a:solidFill>
                                <a:latin typeface="Cambria Math" panose="02040503050406030204" pitchFamily="18" charset="0"/>
                              </a:rPr>
                              <m:t>𝑗</m:t>
                            </m:r>
                          </m:den>
                        </m:f>
                      </m:e>
                    </m:d>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𝑗</m:t>
                    </m:r>
                    <m:sSup>
                      <m:e>
                        <m:r>
                          <m:rPr>
                            <m:sty m:val="p"/>
                          </m:rPr>
                          <a:rPr lang="en-IN" sz="2400">
                            <a:solidFill>
                              <a:srgbClr val="111827"/>
                            </a:solidFill>
                            <a:latin typeface="Cambria Math" panose="02040503050406030204" pitchFamily="18" charset="0"/>
                          </a:rPr>
                          <m:t>)</m:t>
                        </m:r>
                      </m:e>
                      <m:sup>
                        <m:r>
                          <a:rPr lang="en-IN" sz="2400" i="1">
                            <a:solidFill>
                              <a:srgbClr val="111827"/>
                            </a:solidFill>
                            <a:latin typeface="Cambria Math" panose="02040503050406030204" pitchFamily="18" charset="0"/>
                          </a:rPr>
                          <m:t>𝑛</m:t>
                        </m:r>
                      </m:sup>
                    </m:sSup>
                  </m:oMath>
                </a14:m>
                <a:r>
                  <a:rPr sz="2400" b="0">
                    <a:solidFill>
                      <a:srgbClr val="111827"/>
                    </a:solidFill>
                    <a:latin typeface="Arial"/>
                  </a:rPr>
                  <a:t>; for </a:t>
                </a:r>
                <a14:m>
                  <m:oMath xmlns:m="http://schemas.openxmlformats.org/officeDocument/2006/math">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oMath>
                </a14:m>
                <a:r>
                  <a:rPr sz="2400" b="0">
                    <a:solidFill>
                      <a:srgbClr val="111827"/>
                    </a:solidFill>
                    <a:latin typeface="Arial"/>
                  </a:rPr>
                  <a:t>: </a:t>
                </a:r>
                <a14:m>
                  <m:oMath xmlns:m="http://schemas.openxmlformats.org/officeDocument/2006/math">
                    <m:r>
                      <a:rPr lang="en-IN" sz="2400" i="1">
                        <a:solidFill>
                          <a:srgbClr val="111827"/>
                        </a:solidFill>
                        <a:latin typeface="Cambria Math" panose="02040503050406030204" pitchFamily="18" charset="0"/>
                      </a:rPr>
                      <m:t>150</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Identical objects into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different boxes, none empty: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 boxes allowed empty: </a:t>
                </a:r>
                <a14:m>
                  <m:oMath xmlns:m="http://schemas.openxmlformats.org/officeDocument/2006/math">
                    <m:d>
                      <m:dPr>
                        <m:begChr m:val="("/>
                        <m:sepChr m:val=""/>
                        <m:endChr m:val=")"/>
                        <m:grow/>
                        <m:ctrlPr>
                          <a:rPr lang="en-IN" sz="2400" i="1">
                            <a:solidFill>
                              <a:srgbClr val="111827"/>
                            </a:solidFill>
                            <a:latin typeface="Cambria Math" panose="02040503050406030204" pitchFamily="18" charset="0"/>
                          </a:rPr>
                        </m:ctrlPr>
                      </m:dPr>
                      <m:e>
                        <m:f>
                          <m:fPr>
                            <m:type m:val="no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𝑛</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num>
                          <m:den>
                            <m:r>
                              <a:rPr lang="en-IN" sz="2400" i="1">
                                <a:solidFill>
                                  <a:srgbClr val="111827"/>
                                </a:solidFill>
                                <a:latin typeface="Cambria Math" panose="02040503050406030204" pitchFamily="18" charset="0"/>
                              </a:rPr>
                              <m:t>𝑘</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den>
                        </m:f>
                      </m:e>
                    </m:d>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Partitions of 5 labelled objects into 3 non-empty unlabelled groups: sizes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10</m:t>
                    </m:r>
                  </m:oMath>
                </a14:m>
                <a:r>
                  <a:rPr sz="2400" b="0">
                    <a:solidFill>
                      <a:srgbClr val="111827"/>
                    </a:solidFill>
                    <a:latin typeface="Arial"/>
                  </a:rPr>
                  <a:t>, sizes </a:t>
                </a:r>
                <a14:m>
                  <m:oMath xmlns:m="http://schemas.openxmlformats.org/officeDocument/2006/math">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m:t>
                    </m:r>
                    <m:r>
                      <m:rPr>
                        <m:sty m:val="p"/>
                      </m:rPr>
                      <a:rPr lang="en-IN" sz="2400">
                        <a:solidFill>
                          <a:srgbClr val="111827"/>
                        </a:solidFill>
                        <a:latin typeface="Cambria Math" panose="02040503050406030204" pitchFamily="18" charset="0"/>
                      </a:rPr>
                      <m:t>)</m:t>
                    </m:r>
                  </m:oMath>
                </a14:m>
                <a:r>
                  <a:rPr sz="2400" b="0">
                    <a:solidFill>
                      <a:srgbClr val="111827"/>
                    </a:solidFill>
                    <a:latin typeface="Arial"/>
                  </a:rPr>
                  <a:t> gives </a:t>
                </a:r>
                <a14:m>
                  <m:oMath xmlns:m="http://schemas.openxmlformats.org/officeDocument/2006/math">
                    <m:f>
                      <m:fPr>
                        <m:type m:val="bar"/>
                        <m:ctrlPr>
                          <a:rPr lang="en-IN" sz="2400" i="1">
                            <a:solidFill>
                              <a:srgbClr val="111827"/>
                            </a:solidFill>
                            <a:latin typeface="Cambria Math" panose="02040503050406030204" pitchFamily="18" charset="0"/>
                          </a:rPr>
                        </m:ctrlPr>
                      </m:fPr>
                      <m:num>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num>
                      <m:den>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 </m:t>
                        </m:r>
                        <m:r>
                          <a:rPr lang="en-IN" sz="2400" i="1">
                            <a:solidFill>
                              <a:srgbClr val="111827"/>
                            </a:solidFill>
                            <a:latin typeface="Cambria Math" panose="02040503050406030204" pitchFamily="18" charset="0"/>
                          </a:rPr>
                          <m:t>2</m:t>
                        </m:r>
                        <m:r>
                          <m:rPr>
                            <m:sty m:val="p"/>
                          </m:rPr>
                          <a:rPr lang="en-IN" sz="2400">
                            <a:solidFill>
                              <a:srgbClr val="111827"/>
                            </a:solidFill>
                            <a:latin typeface="Cambria Math" panose="02040503050406030204" pitchFamily="18" charset="0"/>
                          </a:rPr>
                          <m:t>!</m:t>
                        </m:r>
                      </m:den>
                    </m:f>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15</m:t>
                    </m:r>
                  </m:oMath>
                </a14:m>
                <a:r>
                  <a:rPr sz="2400" b="0">
                    <a:solidFill>
                      <a:srgbClr val="111827"/>
                    </a:solidFill>
                    <a:latin typeface="Arial"/>
                  </a:rPr>
                  <a:t>; total </a:t>
                </a:r>
                <a14:m>
                  <m:oMath xmlns:m="http://schemas.openxmlformats.org/officeDocument/2006/math">
                    <m:r>
                      <a:rPr lang="en-IN" sz="2400" i="1">
                        <a:solidFill>
                          <a:srgbClr val="111827"/>
                        </a:solidFill>
                        <a:latin typeface="Cambria Math" panose="02040503050406030204" pitchFamily="18" charset="0"/>
                      </a:rPr>
                      <m:t>25</m:t>
                    </m:r>
                  </m:oMath>
                </a14:m>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Identical objects, identical boxes, none empty: the number of partitions of </a:t>
                </a:r>
                <a14:m>
                  <m:oMath xmlns:m="http://schemas.openxmlformats.org/officeDocument/2006/math">
                    <m:r>
                      <a:rPr lang="en-IN" sz="2400" i="1">
                        <a:solidFill>
                          <a:srgbClr val="111827"/>
                        </a:solidFill>
                        <a:latin typeface="Cambria Math" panose="02040503050406030204" pitchFamily="18" charset="0"/>
                      </a:rPr>
                      <m:t>𝑛</m:t>
                    </m:r>
                  </m:oMath>
                </a14:m>
                <a:r>
                  <a:rPr sz="2400" b="0">
                    <a:solidFill>
                      <a:srgbClr val="111827"/>
                    </a:solidFill>
                    <a:latin typeface="Arial"/>
                  </a:rPr>
                  <a:t> into exactly </a:t>
                </a:r>
                <a14:m>
                  <m:oMath xmlns:m="http://schemas.openxmlformats.org/officeDocument/2006/math">
                    <m:r>
                      <a:rPr lang="en-IN" sz="2400" i="1">
                        <a:solidFill>
                          <a:srgbClr val="111827"/>
                        </a:solidFill>
                        <a:latin typeface="Cambria Math" panose="02040503050406030204" pitchFamily="18" charset="0"/>
                      </a:rPr>
                      <m:t>𝑘</m:t>
                    </m:r>
                  </m:oMath>
                </a14:m>
                <a:r>
                  <a:rPr sz="2400" b="0">
                    <a:solidFill>
                      <a:srgbClr val="111827"/>
                    </a:solidFill>
                    <a:latin typeface="Arial"/>
                  </a:rPr>
                  <a:t> parts (</a:t>
                </a:r>
                <a14:m>
                  <m:oMath xmlns:m="http://schemas.openxmlformats.org/officeDocument/2006/math">
                    <m:r>
                      <a:rPr lang="en-IN" sz="2400" i="1">
                        <a:solidFill>
                          <a:srgbClr val="111827"/>
                        </a:solidFill>
                        <a:latin typeface="Cambria Math" panose="02040503050406030204" pitchFamily="18" charset="0"/>
                      </a:rPr>
                      <m:t>𝑝</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5</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3</m:t>
                    </m:r>
                    <m:r>
                      <m:rPr>
                        <m:sty m:val="p"/>
                      </m:rPr>
                      <a:rPr lang="en-IN" sz="2400">
                        <a:solidFill>
                          <a:srgbClr val="111827"/>
                        </a:solidFill>
                        <a:latin typeface="Cambria Math" panose="02040503050406030204" pitchFamily="18" charset="0"/>
                      </a:rPr>
                      <m:t>)</m:t>
                    </m:r>
                    <m:r>
                      <m:rPr>
                        <m:sty m:val="p"/>
                      </m:rPr>
                      <a:rPr lang="en-IN" sz="2400">
                        <a:solidFill>
                          <a:srgbClr val="111827"/>
                        </a:solidFill>
                        <a:latin typeface="Cambria Math" panose="02040503050406030204" pitchFamily="18" charset="0"/>
                      </a:rPr>
                      <m:t>=</m:t>
                    </m:r>
                    <m:r>
                      <a:rPr lang="en-IN" sz="2400" i="1">
                        <a:solidFill>
                          <a:srgbClr val="111827"/>
                        </a:solidFill>
                        <a:latin typeface="Cambria Math" panose="02040503050406030204" pitchFamily="18" charset="0"/>
                      </a:rPr>
                      <m:t>2</m:t>
                    </m:r>
                  </m:oMath>
                </a14:m>
                <a:r>
                  <a:rPr sz="2400" b="0">
                    <a:solidFill>
                      <a:srgbClr val="111827"/>
                    </a:solidFill>
                    <a:latin typeface="Arial"/>
                  </a:rPr>
                  <a:t>).</a:t>
                </a:r>
                <a:endParaRPr sz="2400">
                  <a:solidFill>
                    <a:srgbClr val="111827"/>
                  </a:solidFill>
                </a:endParaRPr>
              </a:p>
            </p:txBody>
          </p:sp>
        </mc:Choice>
        <mc:Fallback>
          <p:sp>
            <p:nvSpPr>
              <p:cNvPr id="5" name="Rectangle 4"/>
              <p:cNvSpPr/>
              <p:nvPr/>
            </p:nvSpPr>
            <p:spPr>
              <a:xfrm>
                <a:off x="731520" y="1353312"/>
                <a:ext cx="10725912" cy="5321808"/>
              </a:xfrm>
              <a:prstGeom prst="rect">
                <a:avLst/>
              </a:prstGeom>
              <a:solidFill>
                <a:srgbClr val="FFFFFF"/>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l" marL="274320" indent="-274320">
                  <a:spcAft>
                    <a:spcPts val="600"/>
                  </a:spcAft>
                  <a:buFont typeface="Arial"/>
                  <a:buChar char="•"/>
                  <a:defRPr sz="2400">
                    <a:solidFill>
                      <a:srgbClr val="111827"/>
                    </a:solidFill>
                  </a:defRPr>
                </a:pPr>
                <a:r>
                  <a:rPr sz="2400" b="0">
                    <a:solidFill>
                      <a:srgbClr val="111827"/>
                    </a:solidFill>
                    <a:latin typeface="Arial"/>
                  </a:rPr>
                  <a:t>Onto maps from an </a:t>
                </a:r>
                <a:r>
                  <a:rPr lang="en-IN" sz="2400">
                    <a:solidFill>
                      <a:srgbClr val="111827"/>
                    </a:solidFill>
                    <a:latin typeface="Cambria Math" panose="02040503050406030204" pitchFamily="18" charset="0"/>
                  </a:rPr>
                  <a:t>$n$</a:t>
                </a:r>
                <a:r>
                  <a:rPr sz="2400" b="0">
                    <a:solidFill>
                      <a:srgbClr val="111827"/>
                    </a:solidFill>
                    <a:latin typeface="Arial"/>
                  </a:rPr>
                  <a:t>-set to a </a:t>
                </a:r>
                <a:r>
                  <a:rPr lang="en-IN" sz="2400">
                    <a:solidFill>
                      <a:srgbClr val="111827"/>
                    </a:solidFill>
                    <a:latin typeface="Cambria Math" panose="02040503050406030204" pitchFamily="18" charset="0"/>
                  </a:rPr>
                  <a:t>$k$</a:t>
                </a:r>
                <a:r>
                  <a:rPr sz="2400" b="0">
                    <a:solidFill>
                      <a:srgbClr val="111827"/>
                    </a:solidFill>
                    <a:latin typeface="Arial"/>
                  </a:rPr>
                  <a:t>-set: </a:t>
                </a:r>
                <a:r>
                  <a:rPr lang="en-IN" sz="2400">
                    <a:solidFill>
                      <a:srgbClr val="111827"/>
                    </a:solidFill>
                    <a:latin typeface="Cambria Math" panose="02040503050406030204" pitchFamily="18" charset="0"/>
                  </a:rPr>
                  <a:t>$k!\,S(n,k)=\sum_{j=0}^{k}(-1)^j\binom kj(k-j)^n$</a:t>
                </a:r>
                <a:r>
                  <a:rPr sz="2400" b="0">
                    <a:solidFill>
                      <a:srgbClr val="111827"/>
                    </a:solidFill>
                    <a:latin typeface="Arial"/>
                  </a:rPr>
                  <a:t>; for </a:t>
                </a:r>
                <a:r>
                  <a:rPr lang="en-IN" sz="2400">
                    <a:solidFill>
                      <a:srgbClr val="111827"/>
                    </a:solidFill>
                    <a:latin typeface="Cambria Math" panose="02040503050406030204" pitchFamily="18" charset="0"/>
                  </a:rPr>
                  <a:t>$n=5,k=3$</a:t>
                </a:r>
                <a:r>
                  <a:rPr sz="2400" b="0">
                    <a:solidFill>
                      <a:srgbClr val="111827"/>
                    </a:solidFill>
                    <a:latin typeface="Arial"/>
                  </a:rPr>
                  <a:t>: </a:t>
                </a:r>
                <a:r>
                  <a:rPr lang="en-IN" sz="2400">
                    <a:solidFill>
                      <a:srgbClr val="111827"/>
                    </a:solidFill>
                    <a:latin typeface="Cambria Math" panose="02040503050406030204" pitchFamily="18" charset="0"/>
                  </a:rPr>
                  <a:t>$150$</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Identical objects into </a:t>
                </a:r>
                <a:r>
                  <a:rPr lang="en-IN" sz="2400">
                    <a:solidFill>
                      <a:srgbClr val="111827"/>
                    </a:solidFill>
                    <a:latin typeface="Cambria Math" panose="02040503050406030204" pitchFamily="18" charset="0"/>
                  </a:rPr>
                  <a:t>$k$</a:t>
                </a:r>
                <a:r>
                  <a:rPr sz="2400" b="0">
                    <a:solidFill>
                      <a:srgbClr val="111827"/>
                    </a:solidFill>
                    <a:latin typeface="Arial"/>
                  </a:rPr>
                  <a:t> different boxes, none empty: </a:t>
                </a:r>
                <a:r>
                  <a:rPr lang="en-IN" sz="2400">
                    <a:solidFill>
                      <a:srgbClr val="111827"/>
                    </a:solidFill>
                    <a:latin typeface="Cambria Math" panose="02040503050406030204" pitchFamily="18" charset="0"/>
                  </a:rPr>
                  <a:t>$\binom{n-1}{k-1}$</a:t>
                </a:r>
                <a:r>
                  <a:rPr sz="2400" b="0">
                    <a:solidFill>
                      <a:srgbClr val="111827"/>
                    </a:solidFill>
                    <a:latin typeface="Arial"/>
                  </a:rPr>
                  <a:t>; boxes allowed empty: </a:t>
                </a:r>
                <a:r>
                  <a:rPr lang="en-IN" sz="2400">
                    <a:solidFill>
                      <a:srgbClr val="111827"/>
                    </a:solidFill>
                    <a:latin typeface="Cambria Math" panose="02040503050406030204" pitchFamily="18" charset="0"/>
                  </a:rPr>
                  <a:t>$\binom{n+k-1}{k-1}$</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Partitions of 5 labelled objects into 3 non-empty unlabelled groups: sizes </a:t>
                </a:r>
                <a:r>
                  <a:rPr lang="en-IN" sz="2400">
                    <a:solidFill>
                      <a:srgbClr val="111827"/>
                    </a:solidFill>
                    <a:latin typeface="Cambria Math" panose="02040503050406030204" pitchFamily="18" charset="0"/>
                  </a:rPr>
                  <a:t>$(3,1,1)$</a:t>
                </a:r>
                <a:r>
                  <a:rPr sz="2400" b="0">
                    <a:solidFill>
                      <a:srgbClr val="111827"/>
                    </a:solidFill>
                    <a:latin typeface="Arial"/>
                  </a:rPr>
                  <a:t> gives </a:t>
                </a:r>
                <a:r>
                  <a:rPr lang="en-IN" sz="2400">
                    <a:solidFill>
                      <a:srgbClr val="111827"/>
                    </a:solidFill>
                    <a:latin typeface="Cambria Math" panose="02040503050406030204" pitchFamily="18" charset="0"/>
                  </a:rPr>
                  <a:t>$\frac{5!}{3!\,2!}=10$</a:t>
                </a:r>
                <a:r>
                  <a:rPr sz="2400" b="0">
                    <a:solidFill>
                      <a:srgbClr val="111827"/>
                    </a:solidFill>
                    <a:latin typeface="Arial"/>
                  </a:rPr>
                  <a:t>, sizes </a:t>
                </a:r>
                <a:r>
                  <a:rPr lang="en-IN" sz="2400">
                    <a:solidFill>
                      <a:srgbClr val="111827"/>
                    </a:solidFill>
                    <a:latin typeface="Cambria Math" panose="02040503050406030204" pitchFamily="18" charset="0"/>
                  </a:rPr>
                  <a:t>$(2,2,1)$</a:t>
                </a:r>
                <a:r>
                  <a:rPr sz="2400" b="0">
                    <a:solidFill>
                      <a:srgbClr val="111827"/>
                    </a:solidFill>
                    <a:latin typeface="Arial"/>
                  </a:rPr>
                  <a:t> gives </a:t>
                </a:r>
                <a:r>
                  <a:rPr lang="en-IN" sz="2400">
                    <a:solidFill>
                      <a:srgbClr val="111827"/>
                    </a:solidFill>
                    <a:latin typeface="Cambria Math" panose="02040503050406030204" pitchFamily="18" charset="0"/>
                  </a:rPr>
                  <a:t>$\frac{5!}{2!2!\,2!}=15$</a:t>
                </a:r>
                <a:r>
                  <a:rPr sz="2400" b="0">
                    <a:solidFill>
                      <a:srgbClr val="111827"/>
                    </a:solidFill>
                    <a:latin typeface="Arial"/>
                  </a:rPr>
                  <a:t>; total </a:t>
                </a:r>
                <a:r>
                  <a:rPr lang="en-IN" sz="2400">
                    <a:solidFill>
                      <a:srgbClr val="111827"/>
                    </a:solidFill>
                    <a:latin typeface="Cambria Math" panose="02040503050406030204" pitchFamily="18" charset="0"/>
                  </a:rPr>
                  <a:t>$25$</a:t>
                </a:r>
                <a:r>
                  <a:rPr sz="2400" b="0">
                    <a:solidFill>
                      <a:srgbClr val="111827"/>
                    </a:solidFill>
                    <a:latin typeface="Arial"/>
                  </a:rPr>
                  <a:t>.</a:t>
                </a:r>
                <a:endParaRPr sz="2400">
                  <a:solidFill>
                    <a:srgbClr val="111827"/>
                  </a:solidFill>
                </a:endParaRPr>
              </a:p>
              <a:p>
                <a:pPr algn="l" marL="274320" indent="-274320">
                  <a:spcAft>
                    <a:spcPts val="600"/>
                  </a:spcAft>
                  <a:buFont typeface="Arial"/>
                  <a:buChar char="•"/>
                  <a:defRPr sz="2400">
                    <a:solidFill>
                      <a:srgbClr val="111827"/>
                    </a:solidFill>
                  </a:defRPr>
                </a:pPr>
                <a:r>
                  <a:rPr sz="2400" b="0">
                    <a:solidFill>
                      <a:srgbClr val="111827"/>
                    </a:solidFill>
                    <a:latin typeface="Arial"/>
                  </a:rPr>
                  <a:t>Identical objects, identical boxes, none empty: the number of partitions of </a:t>
                </a:r>
                <a:r>
                  <a:rPr lang="en-IN" sz="2400">
                    <a:solidFill>
                      <a:srgbClr val="111827"/>
                    </a:solidFill>
                    <a:latin typeface="Cambria Math" panose="02040503050406030204" pitchFamily="18" charset="0"/>
                  </a:rPr>
                  <a:t>$n$</a:t>
                </a:r>
                <a:r>
                  <a:rPr sz="2400" b="0">
                    <a:solidFill>
                      <a:srgbClr val="111827"/>
                    </a:solidFill>
                    <a:latin typeface="Arial"/>
                  </a:rPr>
                  <a:t> into exactly </a:t>
                </a:r>
                <a:r>
                  <a:rPr lang="en-IN" sz="2400">
                    <a:solidFill>
                      <a:srgbClr val="111827"/>
                    </a:solidFill>
                    <a:latin typeface="Cambria Math" panose="02040503050406030204" pitchFamily="18" charset="0"/>
                  </a:rPr>
                  <a:t>$k$</a:t>
                </a:r>
                <a:r>
                  <a:rPr sz="2400" b="0">
                    <a:solidFill>
                      <a:srgbClr val="111827"/>
                    </a:solidFill>
                    <a:latin typeface="Arial"/>
                  </a:rPr>
                  <a:t> parts (</a:t>
                </a:r>
                <a:r>
                  <a:rPr lang="en-IN" sz="2400">
                    <a:solidFill>
                      <a:srgbClr val="111827"/>
                    </a:solidFill>
                    <a:latin typeface="Cambria Math" panose="02040503050406030204" pitchFamily="18" charset="0"/>
                  </a:rPr>
                  <a:t>$p(5,3)=2$</a:t>
                </a:r>
                <a:r>
                  <a:rPr sz="2400" b="0">
                    <a:solidFill>
                      <a:srgbClr val="111827"/>
                    </a:solidFill>
                    <a:latin typeface="Arial"/>
                  </a:rPr>
                  <a:t>).</a:t>
                </a:r>
                <a:endParaRPr sz="2400">
                  <a:solidFill>
                    <a:srgbClr val="111827"/>
                  </a:solidFill>
                </a:endParaRPr>
              </a:p>
            </p:txBody>
          </p:sp>
        </mc:Fallback>
      </mc:AlternateContent>
    </p:spTree>
  </p:cSld>
  <p:clrMapOvr>
    <a:masterClrMapping/>
  </p:clrMapOvr>
</p:sld>
</file>

<file path=ppt/slides/slide6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01</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02</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03</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04</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05</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bl>
          </a:graphicData>
        </a:graphic>
      </p:graphicFrame>
    </p:spTree>
  </p:cSld>
  <p:clrMapOvr>
    <a:masterClrMapping/>
  </p:clrMapOvr>
</p:sld>
</file>

<file path=ppt/slides/slide6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(2/22)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06</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07</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08</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09</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10</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(3/22)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11</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12</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13</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14</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15</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(4/22)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16</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17</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18</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19</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20</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bl>
          </a:graphicData>
        </a:graphic>
      </p:graphicFrame>
    </p:spTree>
  </p:cSld>
  <p:clrMapOvr>
    <a:masterClrMapping/>
  </p:clrMapOvr>
</p:sld>
</file>

<file path=ppt/slides/slide6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(5/22)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21</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22</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23</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24</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25</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(6/22)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26</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27</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28</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29</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2.5</a:t>
                      </a:r>
                    </a:p>
                  </a:txBody>
                  <a:tcPr anchor="ctr" marL="91440" marR="91440">
                    <a:solidFill>
                      <a:srgbClr val="FFD966"/>
                    </a:solidFill>
                  </a:tcPr>
                </a:tc>
                <a:tc>
                  <a:txBody>
                    <a:bodyPr/>
                    <a:lstStyle/>
                    <a:p>
                      <a:pPr algn="l"/>
                      <a:r>
                        <a:rPr sz="2400" b="0">
                          <a:solidFill>
                            <a:srgbClr val="111827"/>
                          </a:solidFill>
                          <a:latin typeface="Arial"/>
                        </a:rPr>
                        <a:t>A little easier than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30</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(7/22)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31</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32</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33</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34</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35</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(8/22)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36</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2.5</a:t>
                      </a:r>
                    </a:p>
                  </a:txBody>
                  <a:tcPr anchor="ctr" marL="91440" marR="91440">
                    <a:solidFill>
                      <a:srgbClr val="FFD966"/>
                    </a:solidFill>
                  </a:tcPr>
                </a:tc>
                <a:tc>
                  <a:txBody>
                    <a:bodyPr/>
                    <a:lstStyle/>
                    <a:p>
                      <a:pPr algn="l"/>
                      <a:r>
                        <a:rPr sz="2400" b="0">
                          <a:solidFill>
                            <a:srgbClr val="111827"/>
                          </a:solidFill>
                          <a:latin typeface="Arial"/>
                        </a:rPr>
                        <a:t>A little easier than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37</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2.5</a:t>
                      </a:r>
                    </a:p>
                  </a:txBody>
                  <a:tcPr anchor="ctr" marL="91440" marR="91440">
                    <a:solidFill>
                      <a:srgbClr val="FFD966"/>
                    </a:solidFill>
                  </a:tcPr>
                </a:tc>
                <a:tc>
                  <a:txBody>
                    <a:bodyPr/>
                    <a:lstStyle/>
                    <a:p>
                      <a:pPr algn="l"/>
                      <a:r>
                        <a:rPr sz="2400" b="0">
                          <a:solidFill>
                            <a:srgbClr val="111827"/>
                          </a:solidFill>
                          <a:latin typeface="Arial"/>
                        </a:rPr>
                        <a:t>A little easier than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38</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39</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40</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(9/22)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41</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42</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43</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44</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45</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(10/22)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46</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47</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48</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49</a:t>
                      </a:r>
                    </a:p>
                  </a:txBody>
                  <a:tcPr anchor="ctr" marL="91440" marR="91440">
                    <a:solidFill>
                      <a:srgbClr val="FFFFFF"/>
                    </a:solidFill>
                  </a:tcPr>
                </a:tc>
                <a:tc>
                  <a:txBody>
                    <a:bodyPr/>
                    <a:lstStyle/>
                    <a:p>
                      <a:pPr algn="l"/>
                      <a:r>
                        <a:rPr sz="2400" b="0">
                          <a:solidFill>
                            <a:srgbClr val="111827"/>
                          </a:solidFill>
                          <a:latin typeface="Arial"/>
                        </a:rPr>
                        <a:t>One or More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50</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(11/22)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51</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52</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53</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54</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55</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(12/22)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56</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57</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58</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59</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60</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(13/22)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61</a:t>
                      </a:r>
                    </a:p>
                  </a:txBody>
                  <a:tcPr anchor="ctr" marL="91440" marR="91440">
                    <a:solidFill>
                      <a:srgbClr val="FFFFFF"/>
                    </a:solidFill>
                  </a:tcPr>
                </a:tc>
                <a:tc>
                  <a:txBody>
                    <a:bodyPr/>
                    <a:lstStyle/>
                    <a:p>
                      <a:pPr algn="l"/>
                      <a:r>
                        <a:rPr sz="2400" b="0">
                          <a:solidFill>
                            <a:srgbClr val="111827"/>
                          </a:solidFill>
                          <a:latin typeface="Arial"/>
                        </a:rPr>
                        <a:t>Paragraph Single Correct</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63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64</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(14/22)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66</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68</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69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70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(15/22)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71</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74</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(16/22)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76</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77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78</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79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80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(17/22)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81</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82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83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84</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85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(18/22)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86</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87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88</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89</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90</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(19/22)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91</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92</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93</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r h="868680">
                <a:tc>
                  <a:txBody>
                    <a:bodyPr/>
                    <a:lstStyle/>
                    <a:p>
                      <a:pPr algn="ctr"/>
                      <a:r>
                        <a:rPr sz="2400" b="1">
                          <a:solidFill>
                            <a:srgbClr val="111827"/>
                          </a:solidFill>
                          <a:latin typeface="Arial"/>
                        </a:rPr>
                        <a:t>94</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95</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1</a:t>
                      </a:r>
                    </a:p>
                  </a:txBody>
                  <a:tcPr anchor="ctr" marL="91440" marR="91440">
                    <a:solidFill>
                      <a:srgbClr val="B6D7A8"/>
                    </a:solidFill>
                  </a:tcPr>
                </a:tc>
                <a:tc>
                  <a:txBody>
                    <a:bodyPr/>
                    <a:lstStyle/>
                    <a:p>
                      <a:pPr algn="l"/>
                      <a:r>
                        <a:rPr sz="2400" b="0">
                          <a:solidFill>
                            <a:srgbClr val="111827"/>
                          </a:solidFill>
                          <a:latin typeface="Arial"/>
                        </a:rPr>
                        <a:t>JEE Main Level</a:t>
                      </a:r>
                    </a:p>
                  </a:txBody>
                  <a:tcPr anchor="ctr" marL="91440" marR="91440">
                    <a:solidFill>
                      <a:srgbClr val="B6D7A8"/>
                    </a:solidFill>
                  </a:tcPr>
                </a:tc>
              </a:tr>
            </a:tbl>
          </a:graphicData>
        </a:graphic>
      </p:graphicFrame>
    </p:spTree>
  </p:cSld>
  <p:clrMapOvr>
    <a:masterClrMapping/>
  </p:clrMapOvr>
</p:sld>
</file>

<file path=ppt/slides/slide6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(20/22)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96</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97</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98</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99</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100</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(21/22)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502920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101</a:t>
                      </a:r>
                    </a:p>
                  </a:txBody>
                  <a:tcPr anchor="ctr" marL="91440" marR="91440">
                    <a:solidFill>
                      <a:srgbClr val="FFFFFF"/>
                    </a:solidFill>
                  </a:tcPr>
                </a:tc>
                <a:tc>
                  <a:txBody>
                    <a:bodyPr/>
                    <a:lstStyle/>
                    <a:p>
                      <a:pPr algn="l"/>
                      <a:r>
                        <a:rPr sz="2400" b="0">
                          <a:solidFill>
                            <a:srgbClr val="111827"/>
                          </a:solidFill>
                          <a:latin typeface="Arial"/>
                        </a:rPr>
                        <a:t>Single Correct</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102</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103</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4</a:t>
                      </a:r>
                    </a:p>
                  </a:txBody>
                  <a:tcPr anchor="ctr" marL="91440" marR="91440">
                    <a:solidFill>
                      <a:srgbClr val="E88080"/>
                    </a:solidFill>
                  </a:tcPr>
                </a:tc>
                <a:tc>
                  <a:txBody>
                    <a:bodyPr/>
                    <a:lstStyle/>
                    <a:p>
                      <a:pPr algn="l"/>
                      <a:r>
                        <a:rPr sz="2400" b="0">
                          <a:solidFill>
                            <a:srgbClr val="111827"/>
                          </a:solidFill>
                          <a:latin typeface="Arial"/>
                        </a:rPr>
                        <a:t>A level above Average JEE Advanced Level</a:t>
                      </a:r>
                    </a:p>
                  </a:txBody>
                  <a:tcPr anchor="ctr" marL="91440" marR="91440">
                    <a:solidFill>
                      <a:srgbClr val="E88080"/>
                    </a:solidFill>
                  </a:tcPr>
                </a:tc>
              </a:tr>
              <a:tr h="868680">
                <a:tc>
                  <a:txBody>
                    <a:bodyPr/>
                    <a:lstStyle/>
                    <a:p>
                      <a:pPr algn="ctr"/>
                      <a:r>
                        <a:rPr sz="2400" b="1">
                          <a:solidFill>
                            <a:srgbClr val="111827"/>
                          </a:solidFill>
                          <a:latin typeface="Arial"/>
                        </a:rPr>
                        <a:t>104</a:t>
                      </a:r>
                    </a:p>
                  </a:txBody>
                  <a:tcPr anchor="ctr" marL="91440" marR="91440">
                    <a:solidFill>
                      <a:srgbClr val="FFFFFF"/>
                    </a:solidFill>
                  </a:tcPr>
                </a:tc>
                <a:tc>
                  <a:txBody>
                    <a:bodyPr/>
                    <a:lstStyle/>
                    <a:p>
                      <a:pPr algn="l"/>
                      <a:r>
                        <a:rPr sz="2400" b="0">
                          <a:solidFill>
                            <a:srgbClr val="111827"/>
                          </a:solidFill>
                          <a:latin typeface="Arial"/>
                        </a:rPr>
                        <a:t>Integer (0-9)</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r h="868680">
                <a:tc>
                  <a:txBody>
                    <a:bodyPr/>
                    <a:lstStyle/>
                    <a:p>
                      <a:pPr algn="ctr"/>
                      <a:r>
                        <a:rPr sz="2400" b="1">
                          <a:solidFill>
                            <a:srgbClr val="111827"/>
                          </a:solidFill>
                          <a:latin typeface="Arial"/>
                        </a:rPr>
                        <a:t>105</a:t>
                      </a:r>
                    </a:p>
                  </a:txBody>
                  <a:tcPr anchor="ctr" marL="91440" marR="91440">
                    <a:solidFill>
                      <a:srgbClr val="FFFFFF"/>
                    </a:solidFill>
                  </a:tcPr>
                </a:tc>
                <a:tc>
                  <a:txBody>
                    <a:bodyPr/>
                    <a:lstStyle/>
                    <a:p>
                      <a:pPr algn="l"/>
                      <a:r>
                        <a:rPr sz="2400" b="0">
                          <a:solidFill>
                            <a:srgbClr val="111827"/>
                          </a:solidFill>
                          <a:latin typeface="Arial"/>
                        </a:rPr>
                        <a:t>Numerical</a:t>
                      </a:r>
                    </a:p>
                  </a:txBody>
                  <a:tcPr anchor="ctr" marL="91440" marR="91440">
                    <a:solidFill>
                      <a:srgbClr val="FFFFFF"/>
                    </a:solidFill>
                  </a:tcPr>
                </a:tc>
                <a:tc>
                  <a:txBody>
                    <a:bodyPr/>
                    <a:lstStyle/>
                    <a:p>
                      <a:pPr algn="ctr"/>
                      <a:r>
                        <a:rPr sz="2400" b="0">
                          <a:solidFill>
                            <a:srgbClr val="111827"/>
                          </a:solidFill>
                          <a:latin typeface="Arial"/>
                        </a:rPr>
                        <a:t>4</a:t>
                      </a:r>
                    </a:p>
                  </a:txBody>
                  <a:tcPr anchor="ctr" marL="91440" marR="91440">
                    <a:solidFill>
                      <a:srgbClr val="FFFFFF"/>
                    </a:solidFill>
                  </a:tcPr>
                </a:tc>
                <a:tc>
                  <a:txBody>
                    <a:bodyPr/>
                    <a:lstStyle/>
                    <a:p>
                      <a:pPr algn="ctr"/>
                      <a:r>
                        <a:rPr sz="2400" b="1">
                          <a:solidFill>
                            <a:srgbClr val="111827"/>
                          </a:solidFill>
                          <a:latin typeface="Arial"/>
                        </a:rPr>
                        <a:t>3</a:t>
                      </a:r>
                    </a:p>
                  </a:txBody>
                  <a:tcPr anchor="ctr" marL="91440" marR="91440">
                    <a:solidFill>
                      <a:srgbClr val="F6B26B"/>
                    </a:solidFill>
                  </a:tcPr>
                </a:tc>
                <a:tc>
                  <a:txBody>
                    <a:bodyPr/>
                    <a:lstStyle/>
                    <a:p>
                      <a:pPr algn="l"/>
                      <a:r>
                        <a:rPr sz="2400" b="0">
                          <a:solidFill>
                            <a:srgbClr val="111827"/>
                          </a:solidFill>
                          <a:latin typeface="Arial"/>
                        </a:rPr>
                        <a:t>Average JEE Advanced Level</a:t>
                      </a:r>
                    </a:p>
                  </a:txBody>
                  <a:tcPr anchor="ctr" marL="91440" marR="91440">
                    <a:solidFill>
                      <a:srgbClr val="F6B26B"/>
                    </a:solidFill>
                  </a:tcPr>
                </a:tc>
              </a:tr>
            </a:tbl>
          </a:graphicData>
        </a:graphic>
      </p:graphicFrame>
    </p:spTree>
  </p:cSld>
  <p:clrMapOvr>
    <a:masterClrMapping/>
  </p:clrMapOvr>
</p:sld>
</file>

<file path=ppt/slides/slide6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 (22/22)</a:t>
            </a:r>
            <a:endParaRPr sz="3200">
              <a:solidFill>
                <a:srgbClr val="FFFFFF"/>
              </a:solidFill>
            </a:endParaRPr>
          </a:p>
        </p:txBody>
      </p:sp>
      <p:graphicFrame>
        <p:nvGraphicFramePr>
          <p:cNvPr id="3" name="Table 2"/>
          <p:cNvGraphicFramePr>
            <a:graphicFrameLocks noGrp="1"/>
          </p:cNvGraphicFramePr>
          <p:nvPr/>
        </p:nvGraphicFramePr>
        <p:xfrm>
          <a:off x="457200" y="1325880"/>
          <a:ext cx="11274552" cy="4160520"/>
        </p:xfrm>
        <a:graphic>
          <a:graphicData uri="http://schemas.openxmlformats.org/drawingml/2006/table">
            <a:tbl>
              <a:tblPr firstRow="1" bandRow="1">
                <a:tableStyleId>{5C22544A-7EE6-4342-B048-85BDC9FD1C3A}</a:tableStyleId>
              </a:tblPr>
              <a:tblGrid>
                <a:gridCol w="1005840"/>
                <a:gridCol w="2926080"/>
                <a:gridCol w="1280160"/>
                <a:gridCol w="1188720"/>
                <a:gridCol w="4873752"/>
              </a:tblGrid>
              <a:tr h="685800">
                <a:tc>
                  <a:txBody>
                    <a:bodyPr/>
                    <a:lstStyle/>
                    <a:p>
                      <a:pPr algn="ctr"/>
                      <a:r>
                        <a:rPr sz="2400" b="1">
                          <a:solidFill>
                            <a:srgbClr val="FFFFFF"/>
                          </a:solidFill>
                          <a:latin typeface="Arial"/>
                        </a:rPr>
                        <a:t>Q No</a:t>
                      </a:r>
                    </a:p>
                  </a:txBody>
                  <a:tcPr anchor="ctr" marL="91440" marR="91440">
                    <a:solidFill>
                      <a:srgbClr val="0B1F3A"/>
                    </a:solidFill>
                  </a:tcPr>
                </a:tc>
                <a:tc>
                  <a:txBody>
                    <a:bodyPr/>
                    <a:lstStyle/>
                    <a:p>
                      <a:pPr algn="ctr"/>
                      <a:r>
                        <a:rPr sz="2400" b="1">
                          <a:solidFill>
                            <a:srgbClr val="FFFFFF"/>
                          </a:solidFill>
                          <a:latin typeface="Arial"/>
                        </a:rPr>
                        <a:t>Question Type</a:t>
                      </a:r>
                    </a:p>
                  </a:txBody>
                  <a:tcPr anchor="ctr" marL="91440" marR="91440">
                    <a:solidFill>
                      <a:srgbClr val="0B1F3A"/>
                    </a:solidFill>
                  </a:tcPr>
                </a:tc>
                <a:tc>
                  <a:txBody>
                    <a:bodyPr/>
                    <a:lstStyle/>
                    <a:p>
                      <a:pPr algn="ctr"/>
                      <a:r>
                        <a:rPr sz="2400" b="1">
                          <a:solidFill>
                            <a:srgbClr val="FFFFFF"/>
                          </a:solidFill>
                          <a:latin typeface="Arial"/>
                        </a:rPr>
                        <a:t>Marks</a:t>
                      </a:r>
                    </a:p>
                  </a:txBody>
                  <a:tcPr anchor="ctr" marL="91440" marR="91440">
                    <a:solidFill>
                      <a:srgbClr val="0B1F3A"/>
                    </a:solidFill>
                  </a:tcPr>
                </a:tc>
                <a:tc>
                  <a:txBody>
                    <a:bodyPr/>
                    <a:lstStyle/>
                    <a:p>
                      <a:pPr algn="ctr"/>
                      <a:r>
                        <a:rPr sz="2400" b="1">
                          <a:solidFill>
                            <a:srgbClr val="FFFFFF"/>
                          </a:solidFill>
                          <a:latin typeface="Arial"/>
                        </a:rPr>
                        <a:t>Level</a:t>
                      </a:r>
                    </a:p>
                  </a:txBody>
                  <a:tcPr anchor="ctr" marL="91440" marR="91440">
                    <a:solidFill>
                      <a:srgbClr val="0B1F3A"/>
                    </a:solidFill>
                  </a:tcPr>
                </a:tc>
                <a:tc>
                  <a:txBody>
                    <a:bodyPr/>
                    <a:lstStyle/>
                    <a:p>
                      <a:pPr algn="ctr"/>
                      <a:r>
                        <a:rPr sz="2400" b="1">
                          <a:solidFill>
                            <a:srgbClr val="FFFFFF"/>
                          </a:solidFill>
                          <a:latin typeface="Arial"/>
                        </a:rPr>
                        <a:t>Level Description</a:t>
                      </a:r>
                    </a:p>
                  </a:txBody>
                  <a:tcPr anchor="ctr" marL="91440" marR="91440">
                    <a:solidFill>
                      <a:srgbClr val="0B1F3A"/>
                    </a:solidFill>
                  </a:tcPr>
                </a:tc>
              </a:tr>
              <a:tr h="868680">
                <a:tc>
                  <a:txBody>
                    <a:bodyPr/>
                    <a:lstStyle/>
                    <a:p>
                      <a:pPr algn="ctr"/>
                      <a:r>
                        <a:rPr sz="2400" b="1">
                          <a:solidFill>
                            <a:srgbClr val="111827"/>
                          </a:solidFill>
                          <a:latin typeface="Arial"/>
                        </a:rPr>
                        <a:t>106</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107</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108</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r h="868680">
                <a:tc>
                  <a:txBody>
                    <a:bodyPr/>
                    <a:lstStyle/>
                    <a:p>
                      <a:pPr algn="ctr"/>
                      <a:r>
                        <a:rPr sz="2400" b="1">
                          <a:solidFill>
                            <a:srgbClr val="111827"/>
                          </a:solidFill>
                          <a:latin typeface="Arial"/>
                        </a:rPr>
                        <a:t>109</a:t>
                      </a:r>
                    </a:p>
                  </a:txBody>
                  <a:tcPr anchor="ctr" marL="91440" marR="91440">
                    <a:solidFill>
                      <a:srgbClr val="FFFFFF"/>
                    </a:solidFill>
                  </a:tcPr>
                </a:tc>
                <a:tc>
                  <a:txBody>
                    <a:bodyPr/>
                    <a:lstStyle/>
                    <a:p>
                      <a:pPr algn="l"/>
                      <a:r>
                        <a:rPr sz="2400" b="0">
                          <a:solidFill>
                            <a:srgbClr val="111827"/>
                          </a:solidFill>
                          <a:latin typeface="Arial"/>
                        </a:rPr>
                        <a:t>Matching</a:t>
                      </a:r>
                    </a:p>
                  </a:txBody>
                  <a:tcPr anchor="ctr" marL="91440" marR="91440">
                    <a:solidFill>
                      <a:srgbClr val="FFFFFF"/>
                    </a:solidFill>
                  </a:tcPr>
                </a:tc>
                <a:tc>
                  <a:txBody>
                    <a:bodyPr/>
                    <a:lstStyle/>
                    <a:p>
                      <a:pPr algn="ctr"/>
                      <a:r>
                        <a:rPr sz="2400" b="0">
                          <a:solidFill>
                            <a:srgbClr val="111827"/>
                          </a:solidFill>
                          <a:latin typeface="Arial"/>
                        </a:rPr>
                        <a:t>3</a:t>
                      </a:r>
                    </a:p>
                  </a:txBody>
                  <a:tcPr anchor="ctr" marL="91440" marR="91440">
                    <a:solidFill>
                      <a:srgbClr val="FFFFFF"/>
                    </a:solidFill>
                  </a:tcPr>
                </a:tc>
                <a:tc>
                  <a:txBody>
                    <a:bodyPr/>
                    <a:lstStyle/>
                    <a:p>
                      <a:pPr algn="ctr"/>
                      <a:r>
                        <a:rPr sz="2400" b="1">
                          <a:solidFill>
                            <a:srgbClr val="111827"/>
                          </a:solidFill>
                          <a:latin typeface="Arial"/>
                        </a:rPr>
                        <a:t>2</a:t>
                      </a:r>
                    </a:p>
                  </a:txBody>
                  <a:tcPr anchor="ctr" marL="91440" marR="91440">
                    <a:solidFill>
                      <a:srgbClr val="FFD966"/>
                    </a:solidFill>
                  </a:tcPr>
                </a:tc>
                <a:tc>
                  <a:txBody>
                    <a:bodyPr/>
                    <a:lstStyle/>
                    <a:p>
                      <a:pPr algn="l"/>
                      <a:r>
                        <a:rPr sz="2400" b="0">
                          <a:solidFill>
                            <a:srgbClr val="111827"/>
                          </a:solidFill>
                          <a:latin typeface="Arial"/>
                        </a:rPr>
                        <a:t>A level below Average JEE Advanced Level</a:t>
                      </a:r>
                    </a:p>
                  </a:txBody>
                  <a:tcPr anchor="ctr" marL="91440" marR="91440">
                    <a:solidFill>
                      <a:srgbClr val="FFD966"/>
                    </a:solidFill>
                  </a:tcPr>
                </a:tc>
              </a:tr>
            </a:tbl>
          </a:graphicData>
        </a:graphic>
      </p:graphicFrame>
    </p:spTree>
  </p:cSld>
  <p:clrMapOvr>
    <a:masterClrMapping/>
  </p:clrMapOvr>
</p:sld>
</file>

<file path=ppt/slides/slide6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Overall Difficulty Analysis</a:t>
            </a:r>
            <a:endParaRPr sz="3200">
              <a:solidFill>
                <a:srgbClr val="FFFFFF"/>
              </a:solidFill>
            </a:endParaRPr>
          </a:p>
        </p:txBody>
      </p:sp>
      <p:sp>
        <p:nvSpPr>
          <p:cNvPr id="3" name="Rounded Rectangle 2"/>
          <p:cNvSpPr/>
          <p:nvPr/>
        </p:nvSpPr>
        <p:spPr>
          <a:xfrm>
            <a:off x="731520" y="1417320"/>
            <a:ext cx="4754880" cy="3291840"/>
          </a:xfrm>
          <a:prstGeom prst="roundRect">
            <a:avLst>
              <a:gd name="adj" fmla="val 8000"/>
            </a:avLst>
          </a:prstGeom>
          <a:solidFill>
            <a:srgbClr val="E0ECFF"/>
          </a:solidFill>
          <a:ln w="25400">
            <a:solidFill>
              <a:srgbClr val="1D4ED8"/>
            </a:solidFill>
          </a:ln>
          <a:effectLst/>
        </p:spPr>
        <p:style>
          <a:lnRef idx="1">
            <a:schemeClr val="accent1"/>
          </a:lnRef>
          <a:fillRef idx="3">
            <a:schemeClr val="accent1"/>
          </a:fillRef>
          <a:effectRef idx="2">
            <a:schemeClr val="accent1"/>
          </a:effectRef>
          <a:fontRef idx="minor">
            <a:srgbClr val="0B1F3A"/>
          </a:fontRef>
        </p:style>
        <p:txBody>
          <a:bodyPr rtlCol="0" anchor="ctr" wrap="square" lIns="228600" rIns="228600" tIns="137160" bIns="73152"/>
          <a:lstStyle>
            <a:lvl1pPr>
              <a:defRPr sz="3000">
                <a:solidFill>
                  <a:srgbClr val="0B1F3A"/>
                </a:solidFill>
              </a:defRPr>
            </a:lvl1pPr>
          </a:lstStyle>
          <a:p>
            <a:pPr algn="ctr">
              <a:defRPr sz="3000">
                <a:solidFill>
                  <a:srgbClr val="0B1F3A"/>
                </a:solidFill>
              </a:defRPr>
            </a:pPr>
            <a:r>
              <a:rPr sz="3000" b="1">
                <a:solidFill>
                  <a:srgbClr val="0B1F3A"/>
                </a:solidFill>
                <a:latin typeface="Arial"/>
              </a:rPr>
              <a:t>Difficulty Index</a:t>
            </a:r>
            <a:endParaRPr sz="3000">
              <a:solidFill>
                <a:srgbClr val="0B1F3A"/>
              </a:solidFill>
            </a:endParaRPr>
          </a:p>
          <a:p>
            <a:pPr algn="ctr">
              <a:defRPr sz="3000">
                <a:solidFill>
                  <a:srgbClr val="0B1F3A"/>
                </a:solidFill>
              </a:defRPr>
            </a:pPr>
            <a:r>
              <a:rPr sz="8800" b="1">
                <a:solidFill>
                  <a:srgbClr val="0B1F3A"/>
                </a:solidFill>
                <a:latin typeface="Arial"/>
              </a:rPr>
              <a:t>2.29</a:t>
            </a:r>
            <a:endParaRPr sz="3000">
              <a:solidFill>
                <a:srgbClr val="0B1F3A"/>
              </a:solidFill>
            </a:endParaRPr>
          </a:p>
          <a:p>
            <a:pPr algn="ctr">
              <a:defRPr sz="3000">
                <a:solidFill>
                  <a:srgbClr val="0B1F3A"/>
                </a:solidFill>
              </a:defRPr>
            </a:pPr>
            <a:r>
              <a:rPr sz="2400" b="0">
                <a:solidFill>
                  <a:srgbClr val="0B1F3A"/>
                </a:solidFill>
                <a:latin typeface="Arial"/>
              </a:rPr>
              <a:t>out of 5</a:t>
            </a:r>
            <a:endParaRPr sz="3000">
              <a:solidFill>
                <a:srgbClr val="0B1F3A"/>
              </a:solidFill>
            </a:endParaRPr>
          </a:p>
        </p:txBody>
      </p:sp>
      <p:sp>
        <p:nvSpPr>
          <p:cNvPr id="4" name="Rectangle 3"/>
          <p:cNvSpPr/>
          <p:nvPr/>
        </p:nvSpPr>
        <p:spPr>
          <a:xfrm>
            <a:off x="5852160" y="1417320"/>
            <a:ext cx="5605272" cy="603504"/>
          </a:xfrm>
          <a:prstGeom prst="rect">
            <a:avLst/>
          </a:prstGeom>
          <a:solidFill>
            <a:srgbClr val="93C47D"/>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JEE Main or easier:  15 questions</a:t>
            </a:r>
            <a:endParaRPr sz="2400">
              <a:solidFill>
                <a:srgbClr val="111827"/>
              </a:solidFill>
            </a:endParaRPr>
          </a:p>
        </p:txBody>
      </p:sp>
      <p:sp>
        <p:nvSpPr>
          <p:cNvPr id="5" name="Rectangle 4"/>
          <p:cNvSpPr/>
          <p:nvPr/>
        </p:nvSpPr>
        <p:spPr>
          <a:xfrm>
            <a:off x="5852160" y="2093976"/>
            <a:ext cx="5605272" cy="603504"/>
          </a:xfrm>
          <a:prstGeom prst="rect">
            <a:avLst/>
          </a:prstGeom>
          <a:solidFill>
            <a:srgbClr val="FFD966"/>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Below average:  52 questions</a:t>
            </a:r>
            <a:endParaRPr sz="2400">
              <a:solidFill>
                <a:srgbClr val="111827"/>
              </a:solidFill>
            </a:endParaRPr>
          </a:p>
        </p:txBody>
      </p:sp>
      <p:sp>
        <p:nvSpPr>
          <p:cNvPr id="6" name="Rectangle 5"/>
          <p:cNvSpPr/>
          <p:nvPr/>
        </p:nvSpPr>
        <p:spPr>
          <a:xfrm>
            <a:off x="5852160" y="2770632"/>
            <a:ext cx="5605272" cy="603504"/>
          </a:xfrm>
          <a:prstGeom prst="rect">
            <a:avLst/>
          </a:prstGeom>
          <a:solidFill>
            <a:srgbClr val="F6B26B"/>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Average Advanced:  37 questions</a:t>
            </a:r>
            <a:endParaRPr sz="2400">
              <a:solidFill>
                <a:srgbClr val="111827"/>
              </a:solidFill>
            </a:endParaRPr>
          </a:p>
        </p:txBody>
      </p:sp>
      <p:sp>
        <p:nvSpPr>
          <p:cNvPr id="7" name="Rectangle 6"/>
          <p:cNvSpPr/>
          <p:nvPr/>
        </p:nvSpPr>
        <p:spPr>
          <a:xfrm>
            <a:off x="5852160" y="3447288"/>
            <a:ext cx="5605272" cy="603504"/>
          </a:xfrm>
          <a:prstGeom prst="rect">
            <a:avLst/>
          </a:prstGeom>
          <a:solidFill>
            <a:srgbClr val="E88080"/>
          </a:solidFill>
          <a:ln w="19050">
            <a:solidFill>
              <a:srgbClr val="6B7280"/>
            </a:solidFill>
          </a:ln>
          <a:effectLst/>
        </p:spPr>
        <p:style>
          <a:lnRef idx="1">
            <a:schemeClr val="accent1"/>
          </a:lnRef>
          <a:fillRef idx="3">
            <a:schemeClr val="accent1"/>
          </a:fillRef>
          <a:effectRef idx="2">
            <a:schemeClr val="accent1"/>
          </a:effectRef>
          <a:fontRef idx="minor">
            <a:srgbClr val="111827"/>
          </a:fontRef>
        </p:style>
        <p:txBody>
          <a:bodyPr rtlCol="0" anchor="ctr" wrap="square" lIns="228600" rIns="228600" tIns="18288" bIns="73152"/>
          <a:lstStyle>
            <a:lvl1pPr>
              <a:defRPr sz="2400">
                <a:solidFill>
                  <a:srgbClr val="111827"/>
                </a:solidFill>
              </a:defRPr>
            </a:lvl1pPr>
          </a:lstStyle>
          <a:p>
            <a:pPr algn="l">
              <a:defRPr sz="2400">
                <a:solidFill>
                  <a:srgbClr val="111827"/>
                </a:solidFill>
              </a:defRPr>
            </a:pPr>
            <a:r>
              <a:rPr sz="2400" b="1">
                <a:solidFill>
                  <a:srgbClr val="111827"/>
                </a:solidFill>
                <a:latin typeface="Arial"/>
              </a:rPr>
              <a:t>Above average:  5 questions</a:t>
            </a:r>
            <a:endParaRPr sz="2400">
              <a:solidFill>
                <a:srgbClr val="111827"/>
              </a:solidFill>
            </a:endParaRPr>
          </a:p>
        </p:txBody>
      </p:sp>
      <p:sp>
        <p:nvSpPr>
          <p:cNvPr id="8" name="Rectangle 7"/>
          <p:cNvSpPr/>
          <p:nvPr/>
        </p:nvSpPr>
        <p:spPr>
          <a:xfrm>
            <a:off x="5852160" y="4123944"/>
            <a:ext cx="5605272" cy="603504"/>
          </a:xfrm>
          <a:prstGeom prst="rect">
            <a:avLst/>
          </a:prstGeom>
          <a:solidFill>
            <a:srgbClr val="CC4125"/>
          </a:solidFill>
          <a:ln w="19050">
            <a:solidFill>
              <a:srgbClr val="6B7280"/>
            </a:solidFill>
          </a:ln>
          <a:effectLst/>
        </p:spPr>
        <p:style>
          <a:lnRef idx="1">
            <a:schemeClr val="accent1"/>
          </a:lnRef>
          <a:fillRef idx="3">
            <a:schemeClr val="accent1"/>
          </a:fillRef>
          <a:effectRef idx="2">
            <a:schemeClr val="accent1"/>
          </a:effectRef>
          <a:fontRef idx="minor">
            <a:srgbClr val="FFFFFF"/>
          </a:fontRef>
        </p:style>
        <p:txBody>
          <a:bodyPr rtlCol="0" anchor="ctr" wrap="square" lIns="228600" rIns="228600" tIns="18288" bIns="73152"/>
          <a:lstStyle>
            <a:lvl1pPr>
              <a:defRPr sz="2400">
                <a:solidFill>
                  <a:srgbClr val="FFFFFF"/>
                </a:solidFill>
              </a:defRPr>
            </a:lvl1pPr>
          </a:lstStyle>
          <a:p>
            <a:pPr algn="l">
              <a:defRPr sz="2400">
                <a:solidFill>
                  <a:srgbClr val="FFFFFF"/>
                </a:solidFill>
              </a:defRPr>
            </a:pPr>
            <a:r>
              <a:rPr sz="2400" b="1">
                <a:solidFill>
                  <a:srgbClr val="FFFFFF"/>
                </a:solidFill>
                <a:latin typeface="Arial"/>
              </a:rPr>
              <a:t>Very difficult:  0 questions</a:t>
            </a:r>
            <a:endParaRPr sz="2400">
              <a:solidFill>
                <a:srgbClr val="FFFFFF"/>
              </a:solidFill>
            </a:endParaRPr>
          </a:p>
        </p:txBody>
      </p:sp>
      <p:sp>
        <p:nvSpPr>
          <p:cNvPr id="9" name="Rectangle 8"/>
          <p:cNvSpPr/>
          <p:nvPr/>
        </p:nvSpPr>
        <p:spPr>
          <a:xfrm>
            <a:off x="731520" y="5029200"/>
            <a:ext cx="10725912" cy="1097280"/>
          </a:xfrm>
          <a:prstGeom prst="rect">
            <a:avLst/>
          </a:prstGeom>
          <a:solidFill>
            <a:srgbClr val="FFFFFF"/>
          </a:solidFill>
          <a:ln w="19050">
            <a:noFill/>
          </a:ln>
          <a:effectLst/>
        </p:spPr>
        <p:style>
          <a:lnRef idx="1">
            <a:schemeClr val="accent1"/>
          </a:lnRef>
          <a:fillRef idx="3">
            <a:schemeClr val="accent1"/>
          </a:fillRef>
          <a:effectRef idx="2">
            <a:schemeClr val="accent1"/>
          </a:effectRef>
          <a:fontRef idx="minor">
            <a:srgbClr val="111827"/>
          </a:fontRef>
        </p:style>
        <p:txBody>
          <a:bodyPr rtlCol="0" anchor="t" wrap="square" lIns="228600" rIns="228600" tIns="137160" bIns="73152"/>
          <a:lstStyle>
            <a:lvl1pPr>
              <a:defRPr sz="2400">
                <a:solidFill>
                  <a:srgbClr val="111827"/>
                </a:solidFill>
              </a:defRPr>
            </a:lvl1pPr>
          </a:lstStyle>
          <a:p>
            <a:pPr algn="ctr">
              <a:defRPr sz="2400">
                <a:solidFill>
                  <a:srgbClr val="111827"/>
                </a:solidFill>
              </a:defRPr>
            </a:pPr>
            <a:r>
              <a:rPr sz="2400" b="0">
                <a:solidFill>
                  <a:srgbClr val="111827"/>
                </a:solidFill>
                <a:latin typeface="Arial"/>
              </a:rPr>
              <a:t>Total: 109 questions, 420 marks.  Index = Σ(marks × level) ÷ Σ marks, on the 0-5 scale.</a:t>
            </a:r>
            <a:endParaRPr sz="2400">
              <a:solidFill>
                <a:srgbClr val="111827"/>
              </a:solidFill>
            </a:endParaRPr>
          </a:p>
        </p:txBody>
      </p:sp>
    </p:spTree>
  </p:cSld>
  <p:clrMapOvr>
    <a:masterClrMapping/>
  </p:clrMapOvr>
</p:sld>
</file>

<file path=ppt/slides/slide6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Difficulty Profile of the Paper</a:t>
            </a:r>
            <a:endParaRPr sz="3200">
              <a:solidFill>
                <a:srgbClr val="FFFFFF"/>
              </a:solidFill>
            </a:endParaRPr>
          </a:p>
        </p:txBody>
      </p:sp>
      <p:graphicFrame>
        <p:nvGraphicFramePr>
          <p:cNvPr id="3" name="Chart 2"/>
          <p:cNvGraphicFramePr>
            <a:graphicFrameLocks noGrp="1"/>
          </p:cNvGraphicFramePr>
          <p:nvPr/>
        </p:nvGraphicFramePr>
        <p:xfrm>
          <a:off x="457200" y="1280160"/>
          <a:ext cx="11274552" cy="5349240"/>
        </p:xfrm>
        <a:graphic>
          <a:graphicData uri="http://schemas.openxmlformats.org/drawingml/2006/chart">
            <c:chart xmlns:c="http://schemas.openxmlformats.org/drawingml/2006/chart" r:id="rId2"/>
          </a:graphicData>
        </a:graphic>
      </p:graphicFrame>
    </p:spTree>
  </p:cSld>
  <p:clrMapOvr>
    <a:masterClrMapping/>
  </p:clrMapOvr>
</p:sld>
</file>

<file path=ppt/slides/slide6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1695" cy="1097280"/>
          </a:xfrm>
          <a:prstGeom prst="rect">
            <a:avLst/>
          </a:prstGeom>
          <a:solidFill>
            <a:srgbClr val="0B1F3A"/>
          </a:solidFill>
          <a:ln>
            <a:noFill/>
          </a:ln>
          <a:effectLst/>
        </p:spPr>
        <p:style>
          <a:lnRef idx="1">
            <a:schemeClr val="accent1"/>
          </a:lnRef>
          <a:fillRef idx="3">
            <a:schemeClr val="accent1"/>
          </a:fillRef>
          <a:effectRef idx="2">
            <a:schemeClr val="accent1"/>
          </a:effectRef>
          <a:fontRef idx="minor">
            <a:srgbClr val="FFFFFF"/>
          </a:fontRef>
        </p:style>
        <p:txBody>
          <a:bodyPr rtlCol="0" anchor="ctr" lIns="731520"/>
          <a:lstStyle>
            <a:lvl1pPr>
              <a:defRPr sz="3200">
                <a:solidFill>
                  <a:srgbClr val="FFFFFF"/>
                </a:solidFill>
              </a:defRPr>
            </a:lvl1pPr>
          </a:lstStyle>
          <a:p>
            <a:pPr algn="l">
              <a:defRPr sz="3200">
                <a:solidFill>
                  <a:srgbClr val="FFFFFF"/>
                </a:solidFill>
              </a:defRPr>
            </a:pPr>
            <a:r>
              <a:rPr sz="3200" b="1">
                <a:solidFill>
                  <a:srgbClr val="FFFFFF"/>
                </a:solidFill>
                <a:latin typeface="Arial"/>
              </a:rPr>
              <a:t>Comparison with JEE Advanced Papers</a:t>
            </a:r>
            <a:endParaRPr sz="3200">
              <a:solidFill>
                <a:srgbClr val="FFFFFF"/>
              </a:solidFill>
            </a:endParaRPr>
          </a:p>
        </p:txBody>
      </p:sp>
      <p:graphicFrame>
        <p:nvGraphicFramePr>
          <p:cNvPr id="3" name="Table 2"/>
          <p:cNvGraphicFramePr>
            <a:graphicFrameLocks noGrp="1"/>
          </p:cNvGraphicFramePr>
          <p:nvPr/>
        </p:nvGraphicFramePr>
        <p:xfrm>
          <a:off x="1661007" y="1371600"/>
          <a:ext cx="8869680" cy="4526280"/>
        </p:xfrm>
        <a:graphic>
          <a:graphicData uri="http://schemas.openxmlformats.org/drawingml/2006/table">
            <a:tbl>
              <a:tblPr firstRow="1" bandRow="1">
                <a:tableStyleId>{5C22544A-7EE6-4342-B048-85BDC9FD1C3A}</a:tableStyleId>
              </a:tblPr>
              <a:tblGrid>
                <a:gridCol w="5760720"/>
                <a:gridCol w="3108960"/>
              </a:tblGrid>
              <a:tr h="685800">
                <a:tc>
                  <a:txBody>
                    <a:bodyPr/>
                    <a:lstStyle/>
                    <a:p>
                      <a:pPr algn="ctr"/>
                      <a:r>
                        <a:rPr sz="2600" b="1">
                          <a:solidFill>
                            <a:srgbClr val="FFFFFF"/>
                          </a:solidFill>
                          <a:latin typeface="Arial"/>
                        </a:rPr>
                        <a:t>Paper</a:t>
                      </a:r>
                    </a:p>
                  </a:txBody>
                  <a:tcPr anchor="ctr" marL="137160" marR="137160">
                    <a:solidFill>
                      <a:srgbClr val="0B1F3A"/>
                    </a:solidFill>
                  </a:tcPr>
                </a:tc>
                <a:tc>
                  <a:txBody>
                    <a:bodyPr/>
                    <a:lstStyle/>
                    <a:p>
                      <a:pPr algn="ctr"/>
                      <a:r>
                        <a:rPr sz="2600" b="1">
                          <a:solidFill>
                            <a:srgbClr val="FFFFFF"/>
                          </a:solidFill>
                          <a:latin typeface="Arial"/>
                        </a:rPr>
                        <a:t>Difficulty Index</a:t>
                      </a:r>
                    </a:p>
                  </a:txBody>
                  <a:tcPr anchor="ctr" marL="137160" marR="137160">
                    <a:solidFill>
                      <a:srgbClr val="0B1F3A"/>
                    </a:solidFill>
                  </a:tcPr>
                </a:tc>
              </a:tr>
              <a:tr h="640080">
                <a:tc>
                  <a:txBody>
                    <a:bodyPr/>
                    <a:lstStyle/>
                    <a:p>
                      <a:pPr algn="l"/>
                      <a:r>
                        <a:rPr sz="2600" b="0">
                          <a:solidFill>
                            <a:srgbClr val="111827"/>
                          </a:solidFill>
                          <a:latin typeface="Arial"/>
                        </a:rPr>
                        <a:t>JEE Advanced 2021</a:t>
                      </a:r>
                    </a:p>
                  </a:txBody>
                  <a:tcPr anchor="ctr" marL="137160" marR="137160">
                    <a:solidFill>
                      <a:srgbClr val="FFFFFF"/>
                    </a:solidFill>
                  </a:tcPr>
                </a:tc>
                <a:tc>
                  <a:txBody>
                    <a:bodyPr/>
                    <a:lstStyle/>
                    <a:p>
                      <a:pPr algn="ctr"/>
                      <a:r>
                        <a:rPr sz="2600" b="1">
                          <a:solidFill>
                            <a:srgbClr val="111827"/>
                          </a:solidFill>
                          <a:latin typeface="Arial"/>
                        </a:rPr>
                        <a:t>2.76</a:t>
                      </a:r>
                    </a:p>
                  </a:txBody>
                  <a:tcPr anchor="ctr" marL="137160" marR="137160">
                    <a:solidFill>
                      <a:srgbClr val="FFFFFF"/>
                    </a:solidFill>
                  </a:tcPr>
                </a:tc>
              </a:tr>
              <a:tr h="640080">
                <a:tc>
                  <a:txBody>
                    <a:bodyPr/>
                    <a:lstStyle/>
                    <a:p>
                      <a:pPr algn="l"/>
                      <a:r>
                        <a:rPr sz="2600" b="0">
                          <a:solidFill>
                            <a:srgbClr val="111827"/>
                          </a:solidFill>
                          <a:latin typeface="Arial"/>
                        </a:rPr>
                        <a:t>JEE Advanced 2023</a:t>
                      </a:r>
                    </a:p>
                  </a:txBody>
                  <a:tcPr anchor="ctr" marL="137160" marR="137160">
                    <a:solidFill>
                      <a:srgbClr val="FFFFFF"/>
                    </a:solidFill>
                  </a:tcPr>
                </a:tc>
                <a:tc>
                  <a:txBody>
                    <a:bodyPr/>
                    <a:lstStyle/>
                    <a:p>
                      <a:pPr algn="ctr"/>
                      <a:r>
                        <a:rPr sz="2600" b="1">
                          <a:solidFill>
                            <a:srgbClr val="111827"/>
                          </a:solidFill>
                          <a:latin typeface="Arial"/>
                        </a:rPr>
                        <a:t>3.19</a:t>
                      </a:r>
                    </a:p>
                  </a:txBody>
                  <a:tcPr anchor="ctr" marL="137160" marR="137160">
                    <a:solidFill>
                      <a:srgbClr val="FFFFFF"/>
                    </a:solidFill>
                  </a:tcPr>
                </a:tc>
              </a:tr>
              <a:tr h="640080">
                <a:tc>
                  <a:txBody>
                    <a:bodyPr/>
                    <a:lstStyle/>
                    <a:p>
                      <a:pPr algn="l"/>
                      <a:r>
                        <a:rPr sz="2600" b="0">
                          <a:solidFill>
                            <a:srgbClr val="111827"/>
                          </a:solidFill>
                          <a:latin typeface="Arial"/>
                        </a:rPr>
                        <a:t>JEE Advanced 2024</a:t>
                      </a:r>
                    </a:p>
                  </a:txBody>
                  <a:tcPr anchor="ctr" marL="137160" marR="137160">
                    <a:solidFill>
                      <a:srgbClr val="FFFFFF"/>
                    </a:solidFill>
                  </a:tcPr>
                </a:tc>
                <a:tc>
                  <a:txBody>
                    <a:bodyPr/>
                    <a:lstStyle/>
                    <a:p>
                      <a:pPr algn="ctr"/>
                      <a:r>
                        <a:rPr sz="2600" b="1">
                          <a:solidFill>
                            <a:srgbClr val="111827"/>
                          </a:solidFill>
                          <a:latin typeface="Arial"/>
                        </a:rPr>
                        <a:t>2.59</a:t>
                      </a:r>
                    </a:p>
                  </a:txBody>
                  <a:tcPr anchor="ctr" marL="137160" marR="137160">
                    <a:solidFill>
                      <a:srgbClr val="FFFFFF"/>
                    </a:solidFill>
                  </a:tcPr>
                </a:tc>
              </a:tr>
              <a:tr h="640080">
                <a:tc>
                  <a:txBody>
                    <a:bodyPr/>
                    <a:lstStyle/>
                    <a:p>
                      <a:pPr algn="l"/>
                      <a:r>
                        <a:rPr sz="2600" b="0">
                          <a:solidFill>
                            <a:srgbClr val="111827"/>
                          </a:solidFill>
                          <a:latin typeface="Arial"/>
                        </a:rPr>
                        <a:t>JEE Advanced 2025</a:t>
                      </a:r>
                    </a:p>
                  </a:txBody>
                  <a:tcPr anchor="ctr" marL="137160" marR="137160">
                    <a:solidFill>
                      <a:srgbClr val="FFFFFF"/>
                    </a:solidFill>
                  </a:tcPr>
                </a:tc>
                <a:tc>
                  <a:txBody>
                    <a:bodyPr/>
                    <a:lstStyle/>
                    <a:p>
                      <a:pPr algn="ctr"/>
                      <a:r>
                        <a:rPr sz="2600" b="1">
                          <a:solidFill>
                            <a:srgbClr val="111827"/>
                          </a:solidFill>
                          <a:latin typeface="Arial"/>
                        </a:rPr>
                        <a:t>3.21</a:t>
                      </a:r>
                    </a:p>
                  </a:txBody>
                  <a:tcPr anchor="ctr" marL="137160" marR="137160">
                    <a:solidFill>
                      <a:srgbClr val="FFFFFF"/>
                    </a:solidFill>
                  </a:tcPr>
                </a:tc>
              </a:tr>
              <a:tr h="640080">
                <a:tc>
                  <a:txBody>
                    <a:bodyPr/>
                    <a:lstStyle/>
                    <a:p>
                      <a:pPr algn="l"/>
                      <a:r>
                        <a:rPr sz="2600" b="0">
                          <a:solidFill>
                            <a:srgbClr val="111827"/>
                          </a:solidFill>
                          <a:latin typeface="Arial"/>
                        </a:rPr>
                        <a:t>JEE Advanced 2026</a:t>
                      </a:r>
                    </a:p>
                  </a:txBody>
                  <a:tcPr anchor="ctr" marL="137160" marR="137160">
                    <a:solidFill>
                      <a:srgbClr val="FFFFFF"/>
                    </a:solidFill>
                  </a:tcPr>
                </a:tc>
                <a:tc>
                  <a:txBody>
                    <a:bodyPr/>
                    <a:lstStyle/>
                    <a:p>
                      <a:pPr algn="ctr"/>
                      <a:r>
                        <a:rPr sz="2600" b="1">
                          <a:solidFill>
                            <a:srgbClr val="111827"/>
                          </a:solidFill>
                          <a:latin typeface="Arial"/>
                        </a:rPr>
                        <a:t>3.02</a:t>
                      </a:r>
                    </a:p>
                  </a:txBody>
                  <a:tcPr anchor="ctr" marL="137160" marR="137160">
                    <a:solidFill>
                      <a:srgbClr val="FFFFFF"/>
                    </a:solidFill>
                  </a:tcPr>
                </a:tc>
              </a:tr>
              <a:tr h="640080">
                <a:tc>
                  <a:txBody>
                    <a:bodyPr/>
                    <a:lstStyle/>
                    <a:p>
                      <a:pPr algn="l"/>
                      <a:r>
                        <a:rPr sz="2600" b="1">
                          <a:solidFill>
                            <a:srgbClr val="0B1F3A"/>
                          </a:solidFill>
                          <a:latin typeface="Arial"/>
                        </a:rPr>
                        <a:t>B1 Assignment Algebra 02 Detailed solutions</a:t>
                      </a:r>
                    </a:p>
                  </a:txBody>
                  <a:tcPr anchor="ctr" marL="137160" marR="137160">
                    <a:solidFill>
                      <a:srgbClr val="E0ECFF"/>
                    </a:solidFill>
                  </a:tcPr>
                </a:tc>
                <a:tc>
                  <a:txBody>
                    <a:bodyPr/>
                    <a:lstStyle/>
                    <a:p>
                      <a:pPr algn="ctr"/>
                      <a:r>
                        <a:rPr sz="2600" b="1">
                          <a:solidFill>
                            <a:srgbClr val="0B1F3A"/>
                          </a:solidFill>
                          <a:latin typeface="Arial"/>
                        </a:rPr>
                        <a:t>2.29</a:t>
                      </a:r>
                    </a:p>
                  </a:txBody>
                  <a:tcPr anchor="ctr" marL="137160" marR="137160">
                    <a:solidFill>
                      <a:srgbClr val="E0ECFF"/>
                    </a:solidFill>
                  </a:tcPr>
                </a:tc>
              </a:tr>
            </a:tbl>
          </a:graphicData>
        </a:graphic>
      </p:graphicFrame>
      <p:sp>
        <p:nvSpPr>
          <p:cNvPr id="4" name="TextBox 3"/>
          <p:cNvSpPr txBox="1"/>
          <p:nvPr/>
        </p:nvSpPr>
        <p:spPr>
          <a:xfrm>
            <a:off x="731520" y="6080759"/>
            <a:ext cx="10725912" cy="457200"/>
          </a:xfrm>
          <a:prstGeom prst="rect">
            <a:avLst/>
          </a:prstGeom>
          <a:noFill/>
        </p:spPr>
        <p:txBody>
          <a:bodyPr wrap="none">
            <a:spAutoFit/>
          </a:bodyPr>
          <a:lstStyle>
            <a:lvl1pPr>
              <a:defRPr sz="2000">
                <a:solidFill>
                  <a:srgbClr val="111827"/>
                </a:solidFill>
              </a:defRPr>
            </a:lvl1pPr>
          </a:lstStyle>
          <a:p>
            <a:pPr algn="ctr">
              <a:defRPr sz="2000">
                <a:solidFill>
                  <a:srgbClr val="111827"/>
                </a:solidFill>
              </a:defRPr>
            </a:pPr>
            <a:r>
              <a:rPr sz="2000" b="0">
                <a:solidFill>
                  <a:srgbClr val="111827"/>
                </a:solidFill>
                <a:latin typeface="Arial"/>
              </a:rPr>
              <a:t>Marks-weighted difficulty index on the 0-5 scale</a:t>
            </a:r>
            <a:endParaRPr sz="2000">
              <a:solidFill>
                <a:srgbClr val="111827"/>
              </a:solidFill>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